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6"/>
  </p:notesMasterIdLst>
  <p:handoutMasterIdLst>
    <p:handoutMasterId r:id="rId77"/>
  </p:handoutMasterIdLst>
  <p:sldIdLst>
    <p:sldId id="768" r:id="rId2"/>
    <p:sldId id="819" r:id="rId3"/>
    <p:sldId id="820" r:id="rId4"/>
    <p:sldId id="770" r:id="rId5"/>
    <p:sldId id="546" r:id="rId6"/>
    <p:sldId id="715" r:id="rId7"/>
    <p:sldId id="660" r:id="rId8"/>
    <p:sldId id="821" r:id="rId9"/>
    <p:sldId id="793" r:id="rId10"/>
    <p:sldId id="822" r:id="rId11"/>
    <p:sldId id="661" r:id="rId12"/>
    <p:sldId id="823" r:id="rId13"/>
    <p:sldId id="559" r:id="rId14"/>
    <p:sldId id="824" r:id="rId15"/>
    <p:sldId id="753" r:id="rId16"/>
    <p:sldId id="666" r:id="rId17"/>
    <p:sldId id="755" r:id="rId18"/>
    <p:sldId id="747" r:id="rId19"/>
    <p:sldId id="754" r:id="rId20"/>
    <p:sldId id="807" r:id="rId21"/>
    <p:sldId id="574" r:id="rId22"/>
    <p:sldId id="803" r:id="rId23"/>
    <p:sldId id="804" r:id="rId24"/>
    <p:sldId id="795" r:id="rId25"/>
    <p:sldId id="567" r:id="rId26"/>
    <p:sldId id="743" r:id="rId27"/>
    <p:sldId id="744" r:id="rId28"/>
    <p:sldId id="791" r:id="rId29"/>
    <p:sldId id="757" r:id="rId30"/>
    <p:sldId id="812" r:id="rId31"/>
    <p:sldId id="813" r:id="rId32"/>
    <p:sldId id="814" r:id="rId33"/>
    <p:sldId id="798" r:id="rId34"/>
    <p:sldId id="808" r:id="rId35"/>
    <p:sldId id="809" r:id="rId36"/>
    <p:sldId id="799" r:id="rId37"/>
    <p:sldId id="790" r:id="rId38"/>
    <p:sldId id="800" r:id="rId39"/>
    <p:sldId id="686" r:id="rId40"/>
    <p:sldId id="815" r:id="rId41"/>
    <p:sldId id="801" r:id="rId42"/>
    <p:sldId id="669" r:id="rId43"/>
    <p:sldId id="693" r:id="rId44"/>
    <p:sldId id="655" r:id="rId45"/>
    <p:sldId id="802" r:id="rId46"/>
    <p:sldId id="603" r:id="rId47"/>
    <p:sldId id="740" r:id="rId48"/>
    <p:sldId id="576" r:id="rId49"/>
    <p:sldId id="577" r:id="rId50"/>
    <p:sldId id="578" r:id="rId51"/>
    <p:sldId id="585" r:id="rId52"/>
    <p:sldId id="583" r:id="rId53"/>
    <p:sldId id="517" r:id="rId54"/>
    <p:sldId id="522" r:id="rId55"/>
    <p:sldId id="531" r:id="rId56"/>
    <p:sldId id="556" r:id="rId57"/>
    <p:sldId id="557" r:id="rId58"/>
    <p:sldId id="534" r:id="rId59"/>
    <p:sldId id="558" r:id="rId60"/>
    <p:sldId id="536" r:id="rId61"/>
    <p:sldId id="537" r:id="rId62"/>
    <p:sldId id="538" r:id="rId63"/>
    <p:sldId id="539" r:id="rId64"/>
    <p:sldId id="560" r:id="rId65"/>
    <p:sldId id="561" r:id="rId66"/>
    <p:sldId id="562" r:id="rId67"/>
    <p:sldId id="564" r:id="rId68"/>
    <p:sldId id="565" r:id="rId69"/>
    <p:sldId id="817" r:id="rId70"/>
    <p:sldId id="568" r:id="rId71"/>
    <p:sldId id="581" r:id="rId72"/>
    <p:sldId id="582" r:id="rId73"/>
    <p:sldId id="575" r:id="rId74"/>
    <p:sldId id="818" r:id="rId7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4" autoAdjust="0"/>
    <p:restoredTop sz="96327" autoAdjust="0"/>
  </p:normalViewPr>
  <p:slideViewPr>
    <p:cSldViewPr>
      <p:cViewPr varScale="1">
        <p:scale>
          <a:sx n="123" d="100"/>
          <a:sy n="123" d="100"/>
        </p:scale>
        <p:origin x="211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48.xml"/><Relationship Id="rId1" Type="http://schemas.openxmlformats.org/officeDocument/2006/relationships/slide" Target="slides/slide3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4" Type="http://schemas.openxmlformats.org/officeDocument/2006/relationships/image" Target="../media/image5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AAB893-EB8D-4061-AED9-367007C5396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D6E076D-9538-4868-BE43-D291CB48A0BC}">
      <dgm:prSet/>
      <dgm:spPr/>
      <dgm:t>
        <a:bodyPr/>
        <a:lstStyle/>
        <a:p>
          <a:pPr>
            <a:defRPr cap="all"/>
          </a:pPr>
          <a:r>
            <a:rPr lang="en-US"/>
            <a:t>Thanks</a:t>
          </a:r>
        </a:p>
      </dgm:t>
    </dgm:pt>
    <dgm:pt modelId="{8892D443-FD58-43B8-872E-EE8A228B586A}" type="parTrans" cxnId="{7DCDD84C-2AB3-40D4-954F-F191D14C81C4}">
      <dgm:prSet/>
      <dgm:spPr/>
      <dgm:t>
        <a:bodyPr/>
        <a:lstStyle/>
        <a:p>
          <a:endParaRPr lang="en-US"/>
        </a:p>
      </dgm:t>
    </dgm:pt>
    <dgm:pt modelId="{E5CCA096-5FC0-4C81-A2A4-3F6DE2D46ECF}" type="sibTrans" cxnId="{7DCDD84C-2AB3-40D4-954F-F191D14C81C4}">
      <dgm:prSet/>
      <dgm:spPr/>
      <dgm:t>
        <a:bodyPr/>
        <a:lstStyle/>
        <a:p>
          <a:endParaRPr lang="en-US"/>
        </a:p>
      </dgm:t>
    </dgm:pt>
    <dgm:pt modelId="{AD28AF0B-D95C-4D33-930B-C8047AB1690D}">
      <dgm:prSet/>
      <dgm:spPr/>
      <dgm:t>
        <a:bodyPr/>
        <a:lstStyle/>
        <a:p>
          <a:pPr>
            <a:defRPr cap="all"/>
          </a:pPr>
          <a:r>
            <a:rPr lang="en-US"/>
            <a:t>Any questions  </a:t>
          </a:r>
        </a:p>
      </dgm:t>
    </dgm:pt>
    <dgm:pt modelId="{B483E6A3-564F-4AA6-88F8-7454B87A04B5}" type="parTrans" cxnId="{9883C419-7BAB-4F72-B09D-A11B2D1AD2F4}">
      <dgm:prSet/>
      <dgm:spPr/>
      <dgm:t>
        <a:bodyPr/>
        <a:lstStyle/>
        <a:p>
          <a:endParaRPr lang="en-US"/>
        </a:p>
      </dgm:t>
    </dgm:pt>
    <dgm:pt modelId="{CAFA5EC0-DC47-40D4-9029-0A001F2878D6}" type="sibTrans" cxnId="{9883C419-7BAB-4F72-B09D-A11B2D1AD2F4}">
      <dgm:prSet/>
      <dgm:spPr/>
      <dgm:t>
        <a:bodyPr/>
        <a:lstStyle/>
        <a:p>
          <a:endParaRPr lang="en-US"/>
        </a:p>
      </dgm:t>
    </dgm:pt>
    <dgm:pt modelId="{93F29200-BE50-4AE9-92A4-B54EE5158C07}" type="pres">
      <dgm:prSet presAssocID="{6EAAB893-EB8D-4061-AED9-367007C53963}" presName="root" presStyleCnt="0">
        <dgm:presLayoutVars>
          <dgm:dir/>
          <dgm:resizeHandles val="exact"/>
        </dgm:presLayoutVars>
      </dgm:prSet>
      <dgm:spPr/>
    </dgm:pt>
    <dgm:pt modelId="{78235F86-4CBD-48CF-BEAB-0522FB5C0350}" type="pres">
      <dgm:prSet presAssocID="{AD6E076D-9538-4868-BE43-D291CB48A0BC}" presName="compNode" presStyleCnt="0"/>
      <dgm:spPr/>
    </dgm:pt>
    <dgm:pt modelId="{8FBBECAF-68FC-4ADF-80C9-F7CD76177218}" type="pres">
      <dgm:prSet presAssocID="{AD6E076D-9538-4868-BE43-D291CB48A0BC}" presName="iconBgRect" presStyleLbl="bgShp" presStyleIdx="0" presStyleCnt="2"/>
      <dgm:spPr/>
    </dgm:pt>
    <dgm:pt modelId="{BE91F787-007D-4875-9265-B463B30F04F2}" type="pres">
      <dgm:prSet presAssocID="{AD6E076D-9538-4868-BE43-D291CB48A0B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678B8E01-A749-4239-9531-C72416C3B2F7}" type="pres">
      <dgm:prSet presAssocID="{AD6E076D-9538-4868-BE43-D291CB48A0BC}" presName="spaceRect" presStyleCnt="0"/>
      <dgm:spPr/>
    </dgm:pt>
    <dgm:pt modelId="{113E7342-C1BE-4082-83D8-CB45151FF897}" type="pres">
      <dgm:prSet presAssocID="{AD6E076D-9538-4868-BE43-D291CB48A0BC}" presName="textRect" presStyleLbl="revTx" presStyleIdx="0" presStyleCnt="2">
        <dgm:presLayoutVars>
          <dgm:chMax val="1"/>
          <dgm:chPref val="1"/>
        </dgm:presLayoutVars>
      </dgm:prSet>
      <dgm:spPr/>
    </dgm:pt>
    <dgm:pt modelId="{277BCE34-3C2A-433B-9FCB-DA5FA82683B0}" type="pres">
      <dgm:prSet presAssocID="{E5CCA096-5FC0-4C81-A2A4-3F6DE2D46ECF}" presName="sibTrans" presStyleCnt="0"/>
      <dgm:spPr/>
    </dgm:pt>
    <dgm:pt modelId="{D4EBC145-ACBB-432C-A0EA-139448867BA4}" type="pres">
      <dgm:prSet presAssocID="{AD28AF0B-D95C-4D33-930B-C8047AB1690D}" presName="compNode" presStyleCnt="0"/>
      <dgm:spPr/>
    </dgm:pt>
    <dgm:pt modelId="{0D004F64-0949-4467-9FBF-80122C866C56}" type="pres">
      <dgm:prSet presAssocID="{AD28AF0B-D95C-4D33-930B-C8047AB1690D}" presName="iconBgRect" presStyleLbl="bgShp" presStyleIdx="1" presStyleCnt="2"/>
      <dgm:spPr/>
    </dgm:pt>
    <dgm:pt modelId="{4B5BD30B-78C9-4056-9A87-61BE777D379C}" type="pres">
      <dgm:prSet presAssocID="{AD28AF0B-D95C-4D33-930B-C8047AB169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B4344979-0B5E-4825-8225-480DF72705D8}" type="pres">
      <dgm:prSet presAssocID="{AD28AF0B-D95C-4D33-930B-C8047AB1690D}" presName="spaceRect" presStyleCnt="0"/>
      <dgm:spPr/>
    </dgm:pt>
    <dgm:pt modelId="{A8C4D960-D46C-4331-A831-AA43C704D4FE}" type="pres">
      <dgm:prSet presAssocID="{AD28AF0B-D95C-4D33-930B-C8047AB1690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883C419-7BAB-4F72-B09D-A11B2D1AD2F4}" srcId="{6EAAB893-EB8D-4061-AED9-367007C53963}" destId="{AD28AF0B-D95C-4D33-930B-C8047AB1690D}" srcOrd="1" destOrd="0" parTransId="{B483E6A3-564F-4AA6-88F8-7454B87A04B5}" sibTransId="{CAFA5EC0-DC47-40D4-9029-0A001F2878D6}"/>
    <dgm:cxn modelId="{7DCDD84C-2AB3-40D4-954F-F191D14C81C4}" srcId="{6EAAB893-EB8D-4061-AED9-367007C53963}" destId="{AD6E076D-9538-4868-BE43-D291CB48A0BC}" srcOrd="0" destOrd="0" parTransId="{8892D443-FD58-43B8-872E-EE8A228B586A}" sibTransId="{E5CCA096-5FC0-4C81-A2A4-3F6DE2D46ECF}"/>
    <dgm:cxn modelId="{2A589AAE-FCF1-46FB-9A22-4AD94D7FACC5}" type="presOf" srcId="{AD28AF0B-D95C-4D33-930B-C8047AB1690D}" destId="{A8C4D960-D46C-4331-A831-AA43C704D4FE}" srcOrd="0" destOrd="0" presId="urn:microsoft.com/office/officeart/2018/5/layout/IconCircleLabelList"/>
    <dgm:cxn modelId="{999361BB-4600-4C9F-8C0A-F1FD828F1B6A}" type="presOf" srcId="{6EAAB893-EB8D-4061-AED9-367007C53963}" destId="{93F29200-BE50-4AE9-92A4-B54EE5158C07}" srcOrd="0" destOrd="0" presId="urn:microsoft.com/office/officeart/2018/5/layout/IconCircleLabelList"/>
    <dgm:cxn modelId="{1BD94BE8-32E8-4A13-98A9-9F604A698022}" type="presOf" srcId="{AD6E076D-9538-4868-BE43-D291CB48A0BC}" destId="{113E7342-C1BE-4082-83D8-CB45151FF897}" srcOrd="0" destOrd="0" presId="urn:microsoft.com/office/officeart/2018/5/layout/IconCircleLabelList"/>
    <dgm:cxn modelId="{AD7B4545-75A1-429C-9458-6DE5FFE0CEA3}" type="presParOf" srcId="{93F29200-BE50-4AE9-92A4-B54EE5158C07}" destId="{78235F86-4CBD-48CF-BEAB-0522FB5C0350}" srcOrd="0" destOrd="0" presId="urn:microsoft.com/office/officeart/2018/5/layout/IconCircleLabelList"/>
    <dgm:cxn modelId="{2B7D86CF-27EB-4B2B-940B-FC7036EE7441}" type="presParOf" srcId="{78235F86-4CBD-48CF-BEAB-0522FB5C0350}" destId="{8FBBECAF-68FC-4ADF-80C9-F7CD76177218}" srcOrd="0" destOrd="0" presId="urn:microsoft.com/office/officeart/2018/5/layout/IconCircleLabelList"/>
    <dgm:cxn modelId="{D885C713-291A-4736-932F-F26A95DABC22}" type="presParOf" srcId="{78235F86-4CBD-48CF-BEAB-0522FB5C0350}" destId="{BE91F787-007D-4875-9265-B463B30F04F2}" srcOrd="1" destOrd="0" presId="urn:microsoft.com/office/officeart/2018/5/layout/IconCircleLabelList"/>
    <dgm:cxn modelId="{770F8902-2E39-4B8E-A418-674C511BD967}" type="presParOf" srcId="{78235F86-4CBD-48CF-BEAB-0522FB5C0350}" destId="{678B8E01-A749-4239-9531-C72416C3B2F7}" srcOrd="2" destOrd="0" presId="urn:microsoft.com/office/officeart/2018/5/layout/IconCircleLabelList"/>
    <dgm:cxn modelId="{D6B1942C-38C5-4570-8DC4-36ED07F22A0A}" type="presParOf" srcId="{78235F86-4CBD-48CF-BEAB-0522FB5C0350}" destId="{113E7342-C1BE-4082-83D8-CB45151FF897}" srcOrd="3" destOrd="0" presId="urn:microsoft.com/office/officeart/2018/5/layout/IconCircleLabelList"/>
    <dgm:cxn modelId="{64325FEE-140C-4BB7-8A61-92802A59639E}" type="presParOf" srcId="{93F29200-BE50-4AE9-92A4-B54EE5158C07}" destId="{277BCE34-3C2A-433B-9FCB-DA5FA82683B0}" srcOrd="1" destOrd="0" presId="urn:microsoft.com/office/officeart/2018/5/layout/IconCircleLabelList"/>
    <dgm:cxn modelId="{AC81A4AC-362D-4994-82BF-133578E00F36}" type="presParOf" srcId="{93F29200-BE50-4AE9-92A4-B54EE5158C07}" destId="{D4EBC145-ACBB-432C-A0EA-139448867BA4}" srcOrd="2" destOrd="0" presId="urn:microsoft.com/office/officeart/2018/5/layout/IconCircleLabelList"/>
    <dgm:cxn modelId="{49B6EC5D-9A22-4F7F-B99B-D24446B01007}" type="presParOf" srcId="{D4EBC145-ACBB-432C-A0EA-139448867BA4}" destId="{0D004F64-0949-4467-9FBF-80122C866C56}" srcOrd="0" destOrd="0" presId="urn:microsoft.com/office/officeart/2018/5/layout/IconCircleLabelList"/>
    <dgm:cxn modelId="{B3DEC208-1D8B-4334-9A49-EABA3A93AF1F}" type="presParOf" srcId="{D4EBC145-ACBB-432C-A0EA-139448867BA4}" destId="{4B5BD30B-78C9-4056-9A87-61BE777D379C}" srcOrd="1" destOrd="0" presId="urn:microsoft.com/office/officeart/2018/5/layout/IconCircleLabelList"/>
    <dgm:cxn modelId="{D5DF43DE-4B75-4A77-8F19-E48EBAC621AE}" type="presParOf" srcId="{D4EBC145-ACBB-432C-A0EA-139448867BA4}" destId="{B4344979-0B5E-4825-8225-480DF72705D8}" srcOrd="2" destOrd="0" presId="urn:microsoft.com/office/officeart/2018/5/layout/IconCircleLabelList"/>
    <dgm:cxn modelId="{2E926997-2DF6-4AD0-ABD7-A3635511D579}" type="presParOf" srcId="{D4EBC145-ACBB-432C-A0EA-139448867BA4}" destId="{A8C4D960-D46C-4331-A831-AA43C704D4F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BBECAF-68FC-4ADF-80C9-F7CD76177218}">
      <dsp:nvSpPr>
        <dsp:cNvPr id="0" name=""/>
        <dsp:cNvSpPr/>
      </dsp:nvSpPr>
      <dsp:spPr>
        <a:xfrm>
          <a:off x="1016099" y="752699"/>
          <a:ext cx="2196000" cy="2196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91F787-007D-4875-9265-B463B30F04F2}">
      <dsp:nvSpPr>
        <dsp:cNvPr id="0" name=""/>
        <dsp:cNvSpPr/>
      </dsp:nvSpPr>
      <dsp:spPr>
        <a:xfrm>
          <a:off x="1484099" y="1220700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E7342-C1BE-4082-83D8-CB45151FF897}">
      <dsp:nvSpPr>
        <dsp:cNvPr id="0" name=""/>
        <dsp:cNvSpPr/>
      </dsp:nvSpPr>
      <dsp:spPr>
        <a:xfrm>
          <a:off x="314099" y="3632700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Thanks</a:t>
          </a:r>
        </a:p>
      </dsp:txBody>
      <dsp:txXfrm>
        <a:off x="314099" y="3632700"/>
        <a:ext cx="3600000" cy="720000"/>
      </dsp:txXfrm>
    </dsp:sp>
    <dsp:sp modelId="{0D004F64-0949-4467-9FBF-80122C866C56}">
      <dsp:nvSpPr>
        <dsp:cNvPr id="0" name=""/>
        <dsp:cNvSpPr/>
      </dsp:nvSpPr>
      <dsp:spPr>
        <a:xfrm>
          <a:off x="5246100" y="752699"/>
          <a:ext cx="2196000" cy="219600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BD30B-78C9-4056-9A87-61BE777D379C}">
      <dsp:nvSpPr>
        <dsp:cNvPr id="0" name=""/>
        <dsp:cNvSpPr/>
      </dsp:nvSpPr>
      <dsp:spPr>
        <a:xfrm>
          <a:off x="5714100" y="1220700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4D960-D46C-4331-A831-AA43C704D4FE}">
      <dsp:nvSpPr>
        <dsp:cNvPr id="0" name=""/>
        <dsp:cNvSpPr/>
      </dsp:nvSpPr>
      <dsp:spPr>
        <a:xfrm>
          <a:off x="4544100" y="3632700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Any questions  </a:t>
          </a:r>
        </a:p>
      </dsp:txBody>
      <dsp:txXfrm>
        <a:off x="4544100" y="3632700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>
            <a:extLst>
              <a:ext uri="{FF2B5EF4-FFF2-40B4-BE49-F238E27FC236}">
                <a16:creationId xmlns:a16="http://schemas.microsoft.com/office/drawing/2014/main" id="{FC9D899F-9FD1-932A-301E-5D9B929F86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9588" cy="4667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t" anchorCtr="0" compatLnSpc="1">
            <a:prstTxWarp prst="textNoShape">
              <a:avLst/>
            </a:prstTxWarp>
          </a:bodyPr>
          <a:lstStyle>
            <a:lvl1pPr defTabSz="9350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77284622-C791-5A64-ECAA-858873E58CB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049588" cy="4667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t" anchorCtr="0" compatLnSpc="1">
            <a:prstTxWarp prst="textNoShape">
              <a:avLst/>
            </a:prstTxWarp>
          </a:bodyPr>
          <a:lstStyle>
            <a:lvl1pPr algn="r" defTabSz="9350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900" name="Rectangle 4">
            <a:extLst>
              <a:ext uri="{FF2B5EF4-FFF2-40B4-BE49-F238E27FC236}">
                <a16:creationId xmlns:a16="http://schemas.microsoft.com/office/drawing/2014/main" id="{252D42C0-53F2-756F-1EA4-B05FAC949C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8250"/>
            <a:ext cx="3049588" cy="465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b" anchorCtr="0" compatLnSpc="1">
            <a:prstTxWarp prst="textNoShape">
              <a:avLst/>
            </a:prstTxWarp>
          </a:bodyPr>
          <a:lstStyle>
            <a:lvl1pPr defTabSz="9350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4901" name="Rectangle 5">
            <a:extLst>
              <a:ext uri="{FF2B5EF4-FFF2-40B4-BE49-F238E27FC236}">
                <a16:creationId xmlns:a16="http://schemas.microsoft.com/office/drawing/2014/main" id="{B2E31647-CC49-F2BD-0905-44880E3FE48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8858250"/>
            <a:ext cx="3049588" cy="465138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3488" tIns="46744" rIns="93488" bIns="46744" numCol="1" anchor="b" anchorCtr="0" compatLnSpc="1">
            <a:prstTxWarp prst="textNoShape">
              <a:avLst/>
            </a:prstTxWarp>
          </a:bodyPr>
          <a:lstStyle>
            <a:lvl1pPr algn="r" defTabSz="935038">
              <a:defRPr sz="1200"/>
            </a:lvl1pPr>
          </a:lstStyle>
          <a:p>
            <a:fld id="{1AD9035A-4E92-7141-B0FA-FA935B2410F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93E33EC-0046-F780-612C-7C13338CE3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AA0E355-F6C7-5088-6080-9B474B2227B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3AD4B98C-C123-4D98-8462-268F2FF5438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E4F819CC-C76C-1F3E-A87E-0610FFD42B8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56917FCB-1793-B37C-A3EC-ED8006ED32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1DFB48FE-1494-FEB8-B3CC-6D158D911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890DB246-6065-DA4D-ABFA-21F4F23F931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AA5D088E-922D-90B9-9D90-62937DE953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55DB6A4-7B8D-BB47-AC3D-5C579367FC78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6083" name="Rectangle 7">
            <a:extLst>
              <a:ext uri="{FF2B5EF4-FFF2-40B4-BE49-F238E27FC236}">
                <a16:creationId xmlns:a16="http://schemas.microsoft.com/office/drawing/2014/main" id="{6ADBBA82-547C-E98C-361B-BF6D85104DB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fld id="{12D55ED9-1E18-934C-A64B-7681D8D2A30D}" type="slidenum">
              <a:rPr lang="zh-CN" altLang="en-US" sz="1200">
                <a:latin typeface="Times New Roman" panose="02020603050405020304" pitchFamily="18" charset="0"/>
              </a:rPr>
              <a:pPr algn="r"/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8BF834A4-501A-964B-8DA7-E9808B4B03F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10C55347-65D2-0CBD-409D-76656CBB9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B438347-069D-3D41-4309-0517397D36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0A72E5E-8AF8-9F40-A45E-C17C64A9EB61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D58AC62-2AA5-F054-8EFB-0C53D0E34C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C3877002-44D8-758F-7403-660D33823D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47802A0A-12D5-1B68-79F2-1211472E86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807F626-C466-624D-8E17-749604D049AB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68D08A2-90A1-8684-136B-BE867984585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1355CF9-84E6-5A74-7EF6-1EAA8F3E4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6AC52001-2FC0-B03A-0859-71F3B21A2E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4FB0AB8-4125-B047-B49F-9DC36ABC9B6F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F4132830-846F-A39B-DB72-1E2F68FF454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D9F01C17-C690-1C20-25C9-9DF88CEF8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EADE8FA0-3F23-4E5C-DD55-FAD1E9E84A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09D8556-7208-8F4D-BCAF-763FEACF899B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40D4858-DAC9-1990-9544-EB65655852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77B78F8-8F16-0718-DDF0-6D62831BD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r>
              <a:rPr lang="en-US" altLang="en-US"/>
              <a:t>Two slides should be added after this one</a:t>
            </a:r>
          </a:p>
          <a:p>
            <a:pPr marL="228600" indent="-228600" eaLnBrk="1" hangingPunct="1"/>
            <a:endParaRPr lang="en-US" altLang="en-US"/>
          </a:p>
          <a:p>
            <a:pPr marL="228600" indent="-228600" eaLnBrk="1" hangingPunct="1"/>
            <a:r>
              <a:rPr lang="en-US" altLang="en-US"/>
              <a:t>1.  Evolution of machine learning</a:t>
            </a:r>
          </a:p>
          <a:p>
            <a:pPr marL="228600" indent="-228600" eaLnBrk="1" hangingPunct="1"/>
            <a:r>
              <a:rPr lang="en-US" altLang="en-US"/>
              <a:t>2.  Evolution of statistics methods</a:t>
            </a:r>
          </a:p>
          <a:p>
            <a:pPr marL="228600" indent="-228600" eaLnBrk="1" hangingPunct="1"/>
            <a:endParaRPr lang="en-US" altLang="en-US"/>
          </a:p>
          <a:p>
            <a:pPr marL="228600" indent="-228600" eaLnBrk="1" hangingPunct="1"/>
            <a:endParaRPr lang="en-US" altLang="en-US"/>
          </a:p>
          <a:p>
            <a:pPr marL="228600" indent="-228600"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7B9E7E63-DA6E-EE05-E86B-E81EDA8B9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30B2507-87BF-7F41-8512-1541EE65B522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2C28EAB-C3CC-7E67-8938-446395F035C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481B73AF-30A4-FCE1-A9A6-843FDD1A1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E43B6112-D4DB-C08A-A576-C9358CC5AB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7AEA84A-E4E9-6F4B-9307-D34B51E45838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882D179-CFEB-C1B9-7D06-DF9C66A8E9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D82EB4C6-051C-1EEB-77C4-4349BFA72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838B4A57-0760-C786-89D0-32EB7702C9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D652CE4-4DA8-ED46-A4D6-4A66B54A1A93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5D98502-4147-BA6E-74AF-FF4DACC2FC1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3C850AF-2815-EE43-037A-8786367FB8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526EF95B-F2AF-724E-2200-386F3325C9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E5FACF1-2328-344E-B6FA-FF5A6073409B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2A2DDF6-7CAF-48C4-52EF-F0657A0EE52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33C77925-59C4-739A-4F31-F2F903AD1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65A911AF-5B56-C7F6-F20A-4189A6C62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E427DFF-E2CD-1445-A987-36A648010296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F1476F12-4869-52B7-4690-14AD614047F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2E2D1170-3FF9-76B9-5450-F919C2F66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4D5064C-3658-40D7-4859-159BA4CBDD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7C7B84C-69C1-8542-84AE-20E757F60799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CAE6D035-7BE9-4764-FAF2-156303A6D7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4404C9FF-46DA-296E-3364-93BC68DBC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0AE844F-72D5-3AC4-AF28-0657923815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AFC9EB6-F4B5-B34F-8E2E-AFA60E881416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0C3A959D-6346-DF93-DFB7-3263C931783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DE860239-0FA2-3F27-5CD2-37A51208B4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FD62929-A9E7-9CF9-7B05-A90B055F4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56442C1-A193-F14D-B9B1-3B68E8CE51F5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83AEA582-6804-67F6-311F-1B6F704CCFD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F62AD42-4C51-72A7-7D08-728517FB5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944CE9A2-59D1-938A-66D5-579BB74C89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D578795-223A-674A-8C5A-35B663B0357A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A985A460-49C4-3CCA-5BC0-32BCD550916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BEF57C18-65B1-C429-F189-B7F8B195C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96125A84-4A7A-52DA-6D6B-EFD1E2D7A9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0EAC97B-8534-E244-80C7-42AEB205D51F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750BE75A-4C1D-B484-7898-ED62AADB81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793BE28A-386F-B451-7C66-12E3B1DE0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0214EF6E-3D98-953D-65C4-3B94734213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02B9DDD-E9F5-C849-9338-206D78ECB10E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AE30FB11-2444-4A97-F5AD-4B4A5A85501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23E235EB-C38A-363E-89A5-86B7E08F6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AF2D65D0-EF66-2425-F95E-925DBE4EEB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50DCB3C-6CFB-B142-B1D6-93491E592A00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1199004-044D-A957-1142-6ECC11DCC25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ED5E0F29-CEDE-9DD4-2D3A-434C79AA0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3FB2966B-666C-1802-1AEC-68947EF484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DC08709-8E72-614E-B2EF-AE670104481C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9A70076-61E8-F86B-71DB-F40452C044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6BC8C711-693A-B397-F8E3-DDBDE93A5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DC27C052-9EBC-9E14-606F-8EDA8D0108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891B2B7-367C-FB4D-B384-A4C7040B8D39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98D5C78-71C2-077D-2BC0-B7D64B97358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14F9023-10FC-FB13-AF14-C93C2B268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I BELIEVE WE MAY NEED TO DO IT IN MORE IN-DEPTH INTRODUCTION, USING SOME EXAMPLES.  So it will take one slide for one function, i.e., one chapter we want to cover.  Do we need to cover chapter 2: preprocessing and 3. Statistical methods?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4A7ACBC9-CEB5-D469-906F-5DE139C7A0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7F57665-BA18-FC4E-9069-B1B377A1221E}" type="slidenum">
              <a:rPr lang="en-US" altLang="en-US" sz="1200"/>
              <a:pPr eaLnBrk="1" hangingPunct="1"/>
              <a:t>26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AE233829-7918-B139-B65C-6D4D45BD1A8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BB6998CC-21B2-BBC9-42D0-5E74FC4D4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FACEDC9F-6B53-382B-EC57-1A7A3B0DCD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739FBDF-B232-E74E-BD89-CF3B52D66A78}" type="slidenum">
              <a:rPr lang="en-US" altLang="en-US" sz="1200"/>
              <a:pPr eaLnBrk="1" hangingPunct="1"/>
              <a:t>27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C734D8C-FF7A-B8AE-61BD-D2BCE9F781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19CB3E1-C376-8771-8DD4-3BB1BC1C5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02F228B9-B0D7-83C1-8201-8412FB04F1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A18B983-E2AE-6B44-B6B9-B9DA7593E7A1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B1242963-D73B-F3A2-AB5D-588E87C8D6E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9B2D9702-5C19-2723-B6A4-147186818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219FB449-9B79-215C-3FF6-BF19A6A8DF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F6E8FE4-DB21-A849-AE89-E79E370B86C1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EFA0C3F0-D725-9042-410E-1B9F796000D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C4900E0-2042-B9C8-E98B-FCF47544E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36082510-9E25-35A4-5AD2-D9407683E4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C7EBD17-9C01-E245-B8EE-36F349EAF629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D46003CF-B0F6-D818-4465-EC941D4968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67C2F9B4-BBDA-577E-F4F6-92F10226A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451B0F8B-4192-76BD-B956-AE9CCFFD9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D72F4CD-6BCA-344C-8F67-C25E27C7FD2A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B4E90CAB-E34C-0809-C253-EA4BBF1F7A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EC2AD2D8-18F6-239A-8ECE-202AE894C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This chapter will not be in the new version, will it?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BUT SHOULD WESTILL  INTRODCE THEM SO THAT THEY WILL GET AN OVERALL PICTURE?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D8CB9408-FC63-5311-A892-8F2E36DDDF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6DA4232-E4BB-1C4B-A501-23EA3A1A09BF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AA81EF9-4710-6D6F-FB5E-295B1B6C86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B3CD94E9-7727-F5A7-3D6F-6DC74A606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81B91CFA-E3A1-5542-D1E4-CB7A113E89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5057610-A2D0-2E44-B0FC-86DBE877DAA5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04AAE67F-3084-9485-85C8-62E690C956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28B6E1BA-3646-626C-CC43-11FB5FD30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A67DE3A6-7254-301F-B2E5-7C15FCA063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A8EF2EF-0D2E-CF45-A410-43F5F8EF929F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2A5B8290-2995-9788-202F-A26376CF1A3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555573FD-AA27-F792-B2B2-8719DE525C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24D6D07A-F0C4-5B92-93DF-10AA91C188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CCF331A-E8E3-A74C-A8BC-8C575F6E92E7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C13F008A-E2AC-1779-CB71-ABA1932FEC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36B1B8E6-8E87-4018-D924-02D7325E7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Add a definition/description of “traditional data analysis”.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A0041D-F4DF-2FCE-893B-B0759F31D7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0ABFAB1-DA77-8D48-9D68-2575FF47BDE9}" type="slidenum">
              <a:rPr lang="en-US" altLang="en-US" sz="1200"/>
              <a:pPr eaLnBrk="1" hangingPunct="1"/>
              <a:t>36</a:t>
            </a:fld>
            <a:endParaRPr lang="en-US" altLang="en-US" sz="12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93FD5527-090F-E944-13B3-82E95D84073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D6805395-8F51-9DA9-68D3-162BD5949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A6215BAC-8DE2-930D-877B-C1C9698F52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3188D8A-5382-F24A-A15A-9C04EC2DECEE}" type="slidenum">
              <a:rPr lang="en-US" altLang="en-US" sz="1200"/>
              <a:pPr eaLnBrk="1" hangingPunct="1"/>
              <a:t>37</a:t>
            </a:fld>
            <a:endParaRPr lang="en-US" altLang="en-US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779B654F-DA7F-FE40-14DC-C4D75D17A50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02B8749-07CA-D0F2-CE13-25406BB1D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974DEB30-779A-DAEF-9FD8-8A252028DC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B592E75-1FF4-D341-A870-E15F02DD6894}" type="slidenum">
              <a:rPr lang="en-US" altLang="en-US" sz="1200"/>
              <a:pPr eaLnBrk="1" hangingPunct="1"/>
              <a:t>38</a:t>
            </a:fld>
            <a:endParaRPr lang="en-US" altLang="en-US" sz="12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98C4F4AB-E26E-A683-1110-BD54A69F688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90810EE-E901-CEB0-F0BA-6270ACCFE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EFEFB55-21B1-3776-F3B8-09F16C0E53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2EAC3E4-79DE-C044-A483-8811D05C0573}" type="slidenum">
              <a:rPr lang="en-US" altLang="en-US" sz="1200"/>
              <a:pPr eaLnBrk="1" hangingPunct="1"/>
              <a:t>39</a:t>
            </a:fld>
            <a:endParaRPr lang="en-US" altLang="en-US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979318E-DC38-6A98-E276-04CFA56E553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A1136B97-B871-3621-F96C-E29B00593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4163B407-8A4F-CA78-466A-4A541051FE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A1D1C48-CA54-954C-842A-25A6A743D2C6}" type="slidenum">
              <a:rPr lang="en-US" altLang="en-US" sz="1200"/>
              <a:pPr eaLnBrk="1" hangingPunct="1"/>
              <a:t>40</a:t>
            </a:fld>
            <a:endParaRPr lang="en-US" altLang="en-US" sz="12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D66E5891-0756-10F5-23C6-8D2EBC42E2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7F86879F-BA3A-7E59-592E-5715C586D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2D2BD5D-1BBE-8DA9-B774-0BC1C2152C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B618811-A0D6-F047-B6A6-3C03E35CFAF0}" type="slidenum">
              <a:rPr lang="en-US" altLang="en-US" sz="1200"/>
              <a:pPr eaLnBrk="1" hangingPunct="1"/>
              <a:t>41</a:t>
            </a:fld>
            <a:endParaRPr lang="en-US" altLang="en-US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F2525BC3-BDB0-5CEF-4477-7AA366AB6BA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84E87C8D-0C68-5AFC-F4ED-20F172CB4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44D3E966-8DF7-9149-AD18-BE82D8D25F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E9A49C1-80F4-DE40-AE16-2F0ABA8356D6}" type="slidenum">
              <a:rPr lang="en-US" altLang="en-US" sz="1200"/>
              <a:pPr eaLnBrk="1" hangingPunct="1"/>
              <a:t>42</a:t>
            </a:fld>
            <a:endParaRPr lang="en-US" altLang="en-US" sz="12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9EA95A3-CA6D-167B-28FA-178E61BB12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FDC5672E-B025-A4E6-95B1-93131B752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0B04D29-AE7B-0631-F4E1-63909DB0BF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E3A3CA7-3A06-3C4F-BB0A-3DAED3FDC35E}" type="slidenum">
              <a:rPr lang="en-US" altLang="en-US" sz="1200"/>
              <a:pPr eaLnBrk="1" hangingPunct="1"/>
              <a:t>43</a:t>
            </a:fld>
            <a:endParaRPr lang="en-US" altLang="en-US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2879E428-4888-97A6-82AC-10B8A48522C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060D9A0B-8B6F-A096-8DE2-63298F4ADA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F269641B-4868-861C-51F4-54561A29EE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1E0AB39-BA3F-7643-8B43-88D9A32F1388}" type="slidenum">
              <a:rPr lang="en-US" altLang="en-US" sz="1200"/>
              <a:pPr eaLnBrk="1" hangingPunct="1"/>
              <a:t>44</a:t>
            </a:fld>
            <a:endParaRPr lang="en-US" altLang="en-US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100F5276-ADCB-0DF4-6F54-7A9E8C113A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FC67E8E8-3C39-E263-DFAF-663205160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27688B9A-D63C-23FA-5F71-3D6CE71BFB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773FFC8-029D-3C4B-B4EB-8F4190E505C0}" type="slidenum">
              <a:rPr lang="en-US" altLang="en-US" sz="1200"/>
              <a:pPr eaLnBrk="1" hangingPunct="1"/>
              <a:t>45</a:t>
            </a:fld>
            <a:endParaRPr lang="en-US" altLang="en-US" sz="12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EC75297C-623E-A268-2230-73ED3D1EC1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F9F86A71-0B0A-18D1-0D46-2A0BE0D214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C160EFC-D78D-710F-A76B-141CB6FDB3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4BF1B4F-5D57-3548-8201-9687B6CD6F1B}" type="slidenum">
              <a:rPr lang="en-US" altLang="en-US" sz="1200"/>
              <a:pPr eaLnBrk="1" hangingPunct="1"/>
              <a:t>46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5EC040D0-BB87-95C0-60CF-B608799CC8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62AAEFE-4C53-0A4F-9AEC-A52EAFD52F2E}" type="slidenum">
              <a:rPr lang="en-US" altLang="en-US" sz="1200"/>
              <a:pPr eaLnBrk="1" hangingPunct="1"/>
              <a:t>47</a:t>
            </a:fld>
            <a:endParaRPr lang="en-US" altLang="en-US" sz="12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6E37DF61-B6F4-899A-88F5-28521789D29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82688" y="696913"/>
            <a:ext cx="4648200" cy="3486150"/>
          </a:xfrm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2298D95C-80A4-9884-CCAF-B1C21213BF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9A7A7B54-4DC5-4E80-A99C-AA029F137E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A7623346-6731-4450-99A5-0302BAD9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0104C0BD-4AE4-4E8A-9FA7-1EA23C6E2883}"/>
              </a:ext>
            </a:extLst>
          </p:cNvPr>
          <p:cNvSpPr txBox="1">
            <a:spLocks noGrp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3E86E9-1C2A-455D-ACAD-D24058B87AE0}" type="slidenum">
              <a:rPr lang="en-US" altLang="en-US" b="0">
                <a:cs typeface="Arial" panose="020B0604020202020204" pitchFamily="34" charset="0"/>
              </a:rPr>
              <a:pPr eaLnBrk="1" hangingPunct="1"/>
              <a:t>48</a:t>
            </a:fld>
            <a:endParaRPr lang="en-US" altLang="en-US" b="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8BF75C78-E4FE-42F9-B7D9-98CC2D2C0E3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82F0540-F73A-4865-9A62-C88D0F9C0394}" type="slidenum">
              <a:rPr lang="en-US" altLang="en-US" b="0">
                <a:cs typeface="Arial" panose="020B0604020202020204" pitchFamily="34" charset="0"/>
              </a:rPr>
              <a:pPr eaLnBrk="1" hangingPunct="1"/>
              <a:t>49</a:t>
            </a:fld>
            <a:endParaRPr lang="en-US" altLang="en-US" b="0">
              <a:cs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85F19D8-DA48-4D59-855D-063A769E0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1586C0C-C09A-41BB-A349-67EDACE8C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</p:spPr>
        <p:txBody>
          <a:bodyPr lIns="90792" tIns="45395" rIns="90792" bIns="4539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DA4A6553-F840-458F-9628-14505085B2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85" tIns="45393" rIns="90785" bIns="45393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5AEF58F-DA85-422B-B193-617AE47D2C10}" type="slidenum">
              <a:rPr lang="en-US" altLang="en-US" b="0">
                <a:cs typeface="Arial" panose="020B0604020202020204" pitchFamily="34" charset="0"/>
              </a:rPr>
              <a:pPr eaLnBrk="1" hangingPunct="1"/>
              <a:t>50</a:t>
            </a:fld>
            <a:endParaRPr lang="en-US" altLang="en-US" b="0">
              <a:cs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40FBF38-8881-435D-B101-A64FE314A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7CB16C3-5990-4D2F-9F78-93FFD08DD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</p:spPr>
        <p:txBody>
          <a:bodyPr lIns="90792" tIns="45395" rIns="90792" bIns="45395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44A0C1C-F394-48E1-BE2B-87E4E2F365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922BBE9D-3667-44CD-BA1D-48E6465E0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 lIns="95874" tIns="47939" rIns="95874" bIns="47939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C4862368-9591-42C8-BADD-47C207ED864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451B5434-DE5C-401C-A762-59A2BCEC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3A1CFB0-9753-4876-BFE0-1C7797FF45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solidFill>
            <a:srgbClr val="FFFFFF"/>
          </a:solidFill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9E16533-DEB5-46E0-A2C6-C0DF6FB5F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742" tIns="45370" rIns="90742" bIns="45370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0B4CB90-4521-422C-947B-865AD0DD9F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9B4B92B-8B73-42AE-8D46-58F5DAA0E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0742" tIns="45370" rIns="90742" bIns="45370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8DCEB33-68FC-4550-9885-59B78A57E9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E13C376-8525-4F4E-B261-0849046E8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0" tIns="45361" rIns="90730" bIns="45361"/>
          <a:lstStyle/>
          <a:p>
            <a:pPr defTabSz="908050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9C56E68-8DB4-4E07-9582-0090E126F6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C56C27C-E5A8-4463-A992-51C78E078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21" tIns="45360" rIns="90721" bIns="45360"/>
          <a:lstStyle/>
          <a:p>
            <a:pPr defTabSz="908050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C8F6DE3-B78C-4FDE-A943-C17870162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2778F17-29F2-4773-BE0C-B5B38A62E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4" tIns="45367" rIns="90734" bIns="4536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E0A0525-7443-4ED1-9F2A-9B97FF791B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7B656E9-41BC-4991-B8D4-9F180DAC7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2" tIns="45370" rIns="90742" bIns="45370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928B569-9AA5-4870-A77D-0D74CD4E1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6F321A0-B158-48CD-96AD-E75DDB46C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4" tIns="45367" rIns="90734" bIns="4536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FEDFAF2-D14D-4A3D-8D7E-16ADCF3C8A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1B99D64-463E-46D4-B4A2-1D7153DEAE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4" tIns="45367" rIns="90734" bIns="4536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3911C46E-F666-49F5-8EA6-C79A5502BE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8400" y="693738"/>
            <a:ext cx="4605338" cy="3455987"/>
          </a:xfrm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43D81A1-3957-44D8-836C-B0178FCBB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34" tIns="45367" rIns="90734" bIns="45367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55A0CA40-C54E-44F1-ADA0-9F5AA3C382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9E8CEEAB-BC24-4695-886D-5AB7E1700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ABCF39B-7BA2-4982-8814-BD125978A9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864" tIns="45432" rIns="90864" bIns="45432"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5063" indent="-227013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89088" indent="-227013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3113" indent="-227013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0313" indent="-227013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57513" indent="-227013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4713" indent="-227013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1913" indent="-227013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6F2516-73FE-4947-B8FC-09596D8EF2C9}" type="slidenum">
              <a:rPr lang="en-US" altLang="en-US"/>
              <a:pPr/>
              <a:t>71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2028746-4A9E-4D79-994D-A28294592B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3738"/>
            <a:ext cx="4605337" cy="3455987"/>
          </a:xfrm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7A6ABD0-833E-40A9-85AC-B38437D15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81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809" tIns="45404" rIns="90809" bIns="4540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1F544B-CCFD-A6A1-68B5-95CC262CF63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2DAEABDA-90DD-9FD1-7CA1-B97EC3A3F1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A0FC2385-7BE0-7742-4EAF-A7A5CB456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B5AF576-4FE0-A66E-DEF9-E2825E2C0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B06F731-3A0C-67C8-700D-9A53C1D13E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4275343-1CA8-35A2-D673-973604A70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A60DC03-D5CE-0A8C-F092-17BC6C812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36C59119-E425-D96C-5B8A-AD991F262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364A3F6C-BC77-D4D1-AEF3-AFA65C683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2FA66BC-FAD9-93B6-DC51-3FCD51201D3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2" name="Rectangle 17">
            <a:extLst>
              <a:ext uri="{FF2B5EF4-FFF2-40B4-BE49-F238E27FC236}">
                <a16:creationId xmlns:a16="http://schemas.microsoft.com/office/drawing/2014/main" id="{3AB00F07-B5BD-6C5A-D678-2356CF803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738" y="6553200"/>
            <a:ext cx="4492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4783AFA-02A1-A043-9E2E-AB6B5E9EFB46}" type="slidenum">
              <a:rPr lang="en-US" altLang="en-US" sz="1400">
                <a:solidFill>
                  <a:schemeClr val="bg2"/>
                </a:solidFill>
              </a:rPr>
              <a:pPr eaLnBrk="1" hangingPunct="1"/>
              <a:t>‹#›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FC29A7C-5818-81AD-EE41-17FB40EF16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A80A371-623E-344F-8961-94B485CD9957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2181C6A-6893-884A-7259-06EE5368D3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EA5315E-5176-CBA8-B431-C9E5A8E9F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7541AD-9E21-0C4A-BC64-2557077AB5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5174137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8E7330F-CC4D-8F64-D6CF-C4C49FE26B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A8A6A-2A26-754F-9B16-7299843A42D1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1B66CD5-B370-36C4-D169-DB088D0293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903CBD8-F7CF-CB79-F08F-06BDD9CAB6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67D3C1-6AF4-514D-A3D3-04917242AD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0772975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CC20F5E-D258-F91A-AEFA-69DA475B9F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35EBEF-8275-644D-9252-624351465387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08EEC73-7107-71C2-5500-7FFD793FE1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A4E33A2-0571-3763-1936-B2AD398176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0CEF29-F53B-3C4E-8365-5F76440833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800538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7F2D05F-74B7-7011-D3EF-94C750127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7F795-10F3-9046-8F2C-5937D4910341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ED0A107-83AA-D3E3-35BA-6303A73BA6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A63E76C-C50E-D50F-E42E-C8C9EBFA63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BF2540-43F2-904F-B233-4DC25AB6E6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266097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F622083-E2D2-B634-0D97-2AC5D883F5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BD23B5-2410-A441-AE6E-99A9051AA508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D46B703-273C-4E2C-4F0A-1E9CEDD0B5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302B0E9-496D-62AF-6916-0D0BCBADFC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088DDE-E487-B54D-B6A4-E04472A6D8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5670093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CACD87-3BC2-ECFA-86FD-8B03ABE5BB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00413-D1A7-0F49-9673-3F728ED77957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624B5BA-45C8-A375-A68B-D377F562E3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C41FAB9-F9BC-8995-52E2-2B3D61260E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BFEF15-4219-A04B-B7C5-7215E920A4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6139052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85DE7D6-4D19-EA49-CDDC-4136C047F7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E5D6E-B3B2-9A49-9808-7142BA71434D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4ABC9953-D301-4363-13F6-E15714C6F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9CE5C4FB-EA3A-468F-9AD1-C8E6B7BC6F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2C9E2E-2932-7A46-B12D-995F6E7E3F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049746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0D940B2-446E-14E1-14D5-A74EF782F6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49391-6DAE-6C4B-ACB3-4FFA32B7F183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35A9F7F-A31C-8AB6-2F27-746F31502B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26B05EB-C5B1-0E6F-63B8-1A9B014EC9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997CDB-2244-CE4C-8A21-4460BD30B3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6688355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F360BCE-AE0B-B19A-9550-02581275DA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01694-82E2-9A42-923D-D3D29613AF4D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445DD53-2537-60C2-0955-04E0221F62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6770438-76E2-13F3-EED6-A11A73FCFF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8C81F7-FC7F-1949-AFDF-896D168F9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1582208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6E7C651-19C1-8872-A8AE-C46FC3F849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1D6DC-12F4-CE45-8A59-260BA3DCF2A2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267B230-BC9A-29FF-2347-2708658546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884D02C-01FA-298E-52EC-14E562B1ED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825295-3881-314E-AC2C-785ECF9835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0075075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228600"/>
            <a:ext cx="21145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9125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2D2E456-FFD3-0005-5D54-3D32A7DF93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9A5F9-54E4-AC4F-B301-137048FBB0A5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ADEF62A-0C8E-2030-5217-AA899360D1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408D08C-B7A5-86BE-53DF-A0060A0B70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7DF416-2F6F-5E4B-B2FB-45CDD0A394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6100582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5EC695CA-D314-40D9-A89D-EB35F49A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5E038E-EEA5-B348-8584-9543046D39B5}" type="datetime4">
              <a:rPr lang="en-US" smtClean="0"/>
              <a:t>September 2, 2025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EDD70CF-0016-4814-B9EA-199B604CD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A0872A6-FCE4-442D-974F-9A0EF495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A7EB2A-6236-4A15-9E28-8DA517D22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6568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6">
            <a:extLst>
              <a:ext uri="{FF2B5EF4-FFF2-40B4-BE49-F238E27FC236}">
                <a16:creationId xmlns:a16="http://schemas.microsoft.com/office/drawing/2014/main" id="{502A3E25-37E2-4EBF-AA00-20427AD6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21273-F734-C749-89AC-92898A7E98D6}" type="datetime4">
              <a:rPr lang="en-US" smtClean="0"/>
              <a:t>September 2, 2025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D181E6C-6CD9-453F-9DFC-071F945A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  <a:endParaRPr lang="en-US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8EC058AC-8AA5-4208-8257-0025469E5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323DAB-C2B0-4648-82BD-93DD305D8B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3245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380CFD44-99B5-6A55-2B21-550588635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228600"/>
            <a:ext cx="77168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DF98C447-82B8-95EE-7C4A-E07F98511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1E4BC492-D8F0-6C23-A2EF-1ADA340FCD5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1C4AA92F-1B47-1848-87AF-0BD51FC328EE}" type="datetime4">
              <a:rPr lang="en-US" smtClean="0"/>
              <a:t>September 2, 2025</a:t>
            </a:fld>
            <a:endParaRPr lang="en-US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95A7C0B6-0779-B74A-31D8-A4ABB8F32F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8F0B5F31-A67E-7B2A-7EA6-CB06DADDA2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9B472DE-1E64-2649-A227-D1A6AA0489B3}" type="slidenum">
              <a:rPr lang="en-US" altLang="en-US"/>
              <a:pPr/>
              <a:t>‹#›</a:t>
            </a:fld>
            <a:endParaRPr lang="en-US" altLang="en-US"/>
          </a:p>
        </p:txBody>
      </p:sp>
      <p:graphicFrame>
        <p:nvGraphicFramePr>
          <p:cNvPr id="1031" name="Object 23">
            <a:extLst>
              <a:ext uri="{FF2B5EF4-FFF2-40B4-BE49-F238E27FC236}">
                <a16:creationId xmlns:a16="http://schemas.microsoft.com/office/drawing/2014/main" id="{9EA074C1-0D37-C271-23F5-DBD0A7A2486E}"/>
              </a:ext>
            </a:extLst>
          </p:cNvPr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5" imgW="3429000" imgH="25400" progId="MS_ClipArt_Gallery.5">
                  <p:embed/>
                </p:oleObj>
              </mc:Choice>
              <mc:Fallback>
                <p:oleObj name="Clip" r:id="rId15" imgW="3429000" imgH="25400" progId="MS_ClipArt_Gallery.5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1" r:id="rId12"/>
    <p:sldLayoutId id="2147483722" r:id="rId13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4.jpeg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1.gi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11" Type="http://schemas.openxmlformats.org/officeDocument/2006/relationships/image" Target="../media/image10.gif"/><Relationship Id="rId5" Type="http://schemas.openxmlformats.org/officeDocument/2006/relationships/image" Target="../media/image6.png"/><Relationship Id="rId10" Type="http://schemas.openxmlformats.org/officeDocument/2006/relationships/image" Target="../media/image9.wmf"/><Relationship Id="rId4" Type="http://schemas.openxmlformats.org/officeDocument/2006/relationships/image" Target="../media/image5.jpeg"/><Relationship Id="rId9" Type="http://schemas.openxmlformats.org/officeDocument/2006/relationships/oleObject" Target="../embeddings/oleObject5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/><Relationship Id="rId3" Type="http://schemas.openxmlformats.org/officeDocument/2006/relationships/oleObject" Target="../embeddings/oleObject6.bin"/><Relationship Id="rId7" Type="http://schemas.openxmlformats.org/officeDocument/2006/relationships/image" Target="../media/image18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6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31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9.wmf"/><Relationship Id="rId9" Type="http://schemas.openxmlformats.org/officeDocument/2006/relationships/image" Target="../media/image3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4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13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3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8.w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png"/><Relationship Id="rId4" Type="http://schemas.openxmlformats.org/officeDocument/2006/relationships/oleObject" Target="../embeddings/oleObject16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0.png"/><Relationship Id="rId2" Type="http://schemas.openxmlformats.org/officeDocument/2006/relationships/video" Target="file:////winfiles/savedocs/anuj/Downloads/lecture_1_slides_ppt/Global%20Animation%202-28-2011.wmv" TargetMode="External"/><Relationship Id="rId1" Type="http://schemas.openxmlformats.org/officeDocument/2006/relationships/video" Target="file:////winfiles/savedocs/anuj/Downloads/lecture_1_slides_ppt/modis_swath_640x480_jpg.wmv" TargetMode="External"/><Relationship Id="rId6" Type="http://schemas.openxmlformats.org/officeDocument/2006/relationships/image" Target="../media/image49.png"/><Relationship Id="rId5" Type="http://schemas.openxmlformats.org/officeDocument/2006/relationships/image" Target="../media/image33.png"/><Relationship Id="rId4" Type="http://schemas.openxmlformats.org/officeDocument/2006/relationships/notesSlide" Target="../notesSlides/notesSlide5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>
            <a:extLst>
              <a:ext uri="{FF2B5EF4-FFF2-40B4-BE49-F238E27FC236}">
                <a16:creationId xmlns:a16="http://schemas.microsoft.com/office/drawing/2014/main" id="{692A13D3-699F-6A0D-EACB-BBCA33306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8D669BE-B352-544E-8DFB-899AC145D26D}" type="slidenum">
              <a:rPr lang="en-US" altLang="en-US" sz="1400"/>
              <a:pPr eaLnBrk="1" hangingPunct="1"/>
              <a:t>1</a:t>
            </a:fld>
            <a:endParaRPr lang="en-US" altLang="en-US" sz="1400"/>
          </a:p>
        </p:txBody>
      </p:sp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C245B3BB-0021-0759-6B31-A6E9B477B74A}"/>
              </a:ext>
            </a:extLst>
          </p:cNvPr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 eaLnBrk="1" hangingPunct="1"/>
            <a:fld id="{90E04821-5AF8-7140-ABC4-6839DFF35603}" type="slidenum">
              <a:rPr lang="zh-CN" altLang="en-US" sz="1200">
                <a:ea typeface="SimSun" panose="02010600030101010101" pitchFamily="2" charset="-122"/>
              </a:rPr>
              <a:pPr algn="r" eaLnBrk="1" hangingPunct="1"/>
              <a:t>1</a:t>
            </a:fld>
            <a:endParaRPr lang="en-US" altLang="zh-CN" sz="1200">
              <a:ea typeface="SimSun" panose="02010600030101010101" pitchFamily="2" charset="-122"/>
            </a:endParaRPr>
          </a:p>
        </p:txBody>
      </p:sp>
      <p:sp>
        <p:nvSpPr>
          <p:cNvPr id="3076" name="Rectangle 2">
            <a:extLst>
              <a:ext uri="{FF2B5EF4-FFF2-40B4-BE49-F238E27FC236}">
                <a16:creationId xmlns:a16="http://schemas.microsoft.com/office/drawing/2014/main" id="{16259C5F-6AFD-3FC4-2284-7E64DA94E16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52400"/>
            <a:ext cx="8763000" cy="4724400"/>
          </a:xfrm>
        </p:spPr>
        <p:txBody>
          <a:bodyPr/>
          <a:lstStyle/>
          <a:p>
            <a:pPr eaLnBrk="1" hangingPunct="1"/>
            <a:r>
              <a:rPr lang="en-US" altLang="en-US" sz="6000" dirty="0"/>
              <a:t>Data Mining: </a:t>
            </a:r>
            <a:br>
              <a:rPr lang="en-US" altLang="en-US" sz="6000" dirty="0"/>
            </a:br>
            <a:br>
              <a:rPr lang="en-US" altLang="en-US" sz="6000" dirty="0"/>
            </a:br>
            <a:r>
              <a:rPr lang="en-US" altLang="en-US" sz="6000" dirty="0"/>
              <a:t> </a:t>
            </a:r>
            <a:r>
              <a:rPr lang="en-US" altLang="en-US" sz="4800" dirty="0"/>
              <a:t>Concepts and Techniques</a:t>
            </a:r>
            <a:br>
              <a:rPr lang="en-US" altLang="en-US" sz="4800" dirty="0"/>
            </a:br>
            <a:br>
              <a:rPr lang="en-US" altLang="en-US" sz="4800" dirty="0"/>
            </a:br>
            <a:r>
              <a:rPr lang="en-US" altLang="en-US" sz="4800" dirty="0"/>
              <a:t>Introduction </a:t>
            </a:r>
            <a:br>
              <a:rPr lang="en-US" altLang="en-US" sz="4800" dirty="0"/>
            </a:br>
            <a:r>
              <a:rPr lang="en-US" altLang="en-US" sz="3200" dirty="0"/>
              <a:t>Chapter 1</a:t>
            </a:r>
            <a:r>
              <a:rPr lang="en-US" altLang="en-US" sz="2800" dirty="0"/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DA6BAD-F3DE-284C-3488-28806EF5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9E2E-2932-7A46-B12D-995F6E7E3F39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D24AD-77DA-044F-BFD2-D6F38A6828F6}"/>
              </a:ext>
            </a:extLst>
          </p:cNvPr>
          <p:cNvSpPr txBox="1"/>
          <p:nvPr/>
        </p:nvSpPr>
        <p:spPr>
          <a:xfrm>
            <a:off x="304800" y="457200"/>
            <a:ext cx="632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Mining Tools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4C190-161C-720D-B61B-063A16EE74DF}"/>
              </a:ext>
            </a:extLst>
          </p:cNvPr>
          <p:cNvSpPr txBox="1"/>
          <p:nvPr/>
        </p:nvSpPr>
        <p:spPr>
          <a:xfrm>
            <a:off x="557645" y="1676400"/>
            <a:ext cx="6705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Programming</a:t>
            </a:r>
            <a:r>
              <a:rPr lang="en-US" dirty="0"/>
              <a:t>: </a:t>
            </a:r>
          </a:p>
          <a:p>
            <a:pPr marL="914400" lvl="1" indent="-457200">
              <a:buFontTx/>
              <a:buChar char="-"/>
            </a:pPr>
            <a:r>
              <a:rPr lang="en-US" dirty="0"/>
              <a:t>Python (scikit-learn, pandas, TensorFlow, </a:t>
            </a:r>
            <a:r>
              <a:rPr lang="en-US" dirty="0" err="1"/>
              <a:t>Pytorch</a:t>
            </a:r>
            <a:r>
              <a:rPr lang="en-US" dirty="0"/>
              <a:t>), </a:t>
            </a:r>
          </a:p>
          <a:p>
            <a:pPr marL="914400" lvl="1" indent="-457200">
              <a:buFontTx/>
              <a:buChar char="-"/>
            </a:pPr>
            <a:r>
              <a:rPr lang="en-US" dirty="0"/>
              <a:t>R, SQL.</a:t>
            </a:r>
          </a:p>
          <a:p>
            <a:pPr>
              <a:buNone/>
            </a:pPr>
            <a:r>
              <a:rPr lang="en-US" b="1" dirty="0"/>
              <a:t>- Big Data Platforms</a:t>
            </a:r>
            <a:r>
              <a:rPr lang="en-US" dirty="0"/>
              <a:t>: Hadoop, Spark.</a:t>
            </a:r>
          </a:p>
          <a:p>
            <a:r>
              <a:rPr lang="en-US" b="1" dirty="0"/>
              <a:t>- Visualization Tools</a:t>
            </a:r>
            <a:r>
              <a:rPr lang="en-US" dirty="0"/>
              <a:t>: Tableau, Power BI, matplotlib, seaborn, </a:t>
            </a:r>
            <a:r>
              <a:rPr lang="en-US" dirty="0" err="1"/>
              <a:t>Plotly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0945487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A7EFC-2401-9299-EDDE-F9466741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617591-3DF4-9E06-FE4D-978F11A6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C9E2E-2932-7A46-B12D-995F6E7E3F39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9C6A2-3943-1406-7F42-B5ED3598C230}"/>
              </a:ext>
            </a:extLst>
          </p:cNvPr>
          <p:cNvSpPr txBox="1"/>
          <p:nvPr/>
        </p:nvSpPr>
        <p:spPr>
          <a:xfrm>
            <a:off x="304800" y="457200"/>
            <a:ext cx="632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Mining Tools &amp;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0A0EF-D6B7-AD06-9008-1F7229DCE87D}"/>
              </a:ext>
            </a:extLst>
          </p:cNvPr>
          <p:cNvSpPr txBox="1"/>
          <p:nvPr/>
        </p:nvSpPr>
        <p:spPr>
          <a:xfrm>
            <a:off x="533400" y="1447800"/>
            <a:ext cx="8153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Dedicated Data Mining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Weka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Open-source Java-based tool.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Easy GUI with classification, clustering, association, and visualization.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Often used for teaching.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RapidMiner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Drag-and-drop GUI for workflows.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Supports classification, clustering, text mining, time-series.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Good for both academia &amp;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Orange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Visual programming + Python scripting.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Intuitive widgets for building pipelines.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Excellent for beginners.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KNIME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Similar to RapidMiner.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Strong at </a:t>
            </a:r>
            <a:r>
              <a:rPr lang="en-US" sz="1800" b="1" dirty="0"/>
              <a:t>ETL (Extract, Transform, Load)</a:t>
            </a:r>
            <a:r>
              <a:rPr lang="en-US" sz="1800" dirty="0"/>
              <a:t> and integration.</a:t>
            </a:r>
          </a:p>
        </p:txBody>
      </p:sp>
    </p:spTree>
    <p:extLst>
      <p:ext uri="{BB962C8B-B14F-4D97-AF65-F5344CB8AC3E}">
        <p14:creationId xmlns:p14="http://schemas.microsoft.com/office/powerpoint/2010/main" val="3305467086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4DA36D77-2676-A921-DA4A-54AA6056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C6DE7BD-389D-8343-8662-8045DDC2D5BA}" type="slidenum">
              <a:rPr lang="en-US" altLang="en-US" sz="1400"/>
              <a:pPr eaLnBrk="1" hangingPunct="1"/>
              <a:t>4</a:t>
            </a:fld>
            <a:endParaRPr lang="en-US" altLang="en-US" sz="14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3E65A60F-60A3-2583-4D97-97503CE23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A4CDE058-92CA-6F24-6478-8FEE29EDF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4101" name="AutoShape 4">
            <a:extLst>
              <a:ext uri="{FF2B5EF4-FFF2-40B4-BE49-F238E27FC236}">
                <a16:creationId xmlns:a16="http://schemas.microsoft.com/office/drawing/2014/main" id="{58B24657-1FD8-8DAB-8A66-7CA4762860A2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3314700" y="13462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CB82CF41-1A67-2734-77E3-DEBA7B4F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FAD05E5-A414-2044-B4CA-DA5F651847BE}" type="slidenum">
              <a:rPr lang="en-US" altLang="en-US" sz="1400"/>
              <a:pPr eaLnBrk="1" hangingPunct="1"/>
              <a:t>5</a:t>
            </a:fld>
            <a:endParaRPr lang="en-US" altLang="en-US" sz="14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F626F3F6-9F85-0CAC-DD18-EAE88934A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1534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Why Data Mining? 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82009A5-DA09-7A83-3F96-1CE1E62A8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6106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sz="2000"/>
              <a:t>The Explosive Growth of Data: from terabytes to petabytes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Data collection and data availability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sz="2000"/>
              <a:t>Automated data collection tools, database systems, Web, computerized society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2000"/>
              <a:t>Major sources of abundant data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sz="2000"/>
              <a:t>Business: Web, e-commerce, transactions, stocks, … 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sz="2000"/>
              <a:t>Science: Remote sensing, bioinformatics, scientific simulation, … 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en-US" sz="2000"/>
              <a:t>Society and everyone: news, digital cameras, YouTube  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 u="sng"/>
              <a:t>We are drowning in data, but starving for knowledge!</a:t>
            </a:r>
            <a:r>
              <a:rPr lang="en-US" altLang="en-US" sz="2000"/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2000"/>
              <a:t>“Necessity is the mother of invention”</a:t>
            </a:r>
            <a:r>
              <a:rPr lang="en-US" altLang="en-US" sz="2000">
                <a:cs typeface="Tahoma" panose="020B0604030504040204" pitchFamily="34" charset="0"/>
              </a:rPr>
              <a:t>—</a:t>
            </a:r>
            <a:r>
              <a:rPr lang="en-US" altLang="en-US" sz="2000"/>
              <a:t>Data mining</a:t>
            </a:r>
            <a:r>
              <a:rPr lang="en-US" altLang="en-US" sz="2000">
                <a:cs typeface="Tahoma" panose="020B0604030504040204" pitchFamily="34" charset="0"/>
              </a:rPr>
              <a:t>—</a:t>
            </a:r>
            <a:r>
              <a:rPr lang="en-US" altLang="en-US" sz="2000"/>
              <a:t>Automated analysis of massive data sets</a:t>
            </a: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6FD7A704-DE73-A564-7805-C95882B9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D8491D7-507E-8742-9995-8B07B0749B5B}" type="slidenum">
              <a:rPr lang="en-US" altLang="en-US" sz="1400"/>
              <a:pPr eaLnBrk="1" hangingPunct="1"/>
              <a:t>6</a:t>
            </a:fld>
            <a:endParaRPr lang="en-US" alt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BAE6055-80A8-CED9-EA77-BFDB4E16D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47663"/>
            <a:ext cx="7239000" cy="566737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Evolution of Sciences</a:t>
            </a:r>
            <a:endParaRPr lang="en-US" altLang="en-US" sz="1800" b="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36239576-E094-E251-1628-D4BD36E7B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5410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1600"/>
              <a:t>Before 1600, </a:t>
            </a:r>
            <a:r>
              <a:rPr lang="en-US" altLang="en-US" sz="1600" b="1"/>
              <a:t>empirical science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600"/>
              <a:t>1600-1950s, </a:t>
            </a:r>
            <a:r>
              <a:rPr lang="en-US" altLang="en-US" sz="1600" b="1"/>
              <a:t>theoretical science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600"/>
              <a:t>Each discipline has grown a </a:t>
            </a:r>
            <a:r>
              <a:rPr lang="en-US" altLang="en-US" sz="1600" i="1"/>
              <a:t>theoretical </a:t>
            </a:r>
            <a:r>
              <a:rPr lang="en-US" altLang="en-US" sz="1600"/>
              <a:t>component. Theoretical models often motivate experiments and generalize our understanding.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600"/>
              <a:t>1950s-1990s, </a:t>
            </a:r>
            <a:r>
              <a:rPr lang="en-US" altLang="en-US" sz="1600" b="1"/>
              <a:t>computational science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600"/>
              <a:t>Over the last 50 years, most disciplines have grown a third, </a:t>
            </a:r>
            <a:r>
              <a:rPr lang="en-US" altLang="en-US" sz="1600" i="1"/>
              <a:t>computational </a:t>
            </a:r>
            <a:r>
              <a:rPr lang="en-US" altLang="en-US" sz="1600"/>
              <a:t>branch (e.g. empirical, theoretical, and computational ecology, or physics, or linguistics.)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600"/>
              <a:t>Computational Science traditionally meant simulation. It grew out of our inability to find closed-form solutions for complex mathematical models.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600"/>
              <a:t>1990-now, </a:t>
            </a:r>
            <a:r>
              <a:rPr lang="en-US" altLang="en-US" sz="1600" b="1"/>
              <a:t>data science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600"/>
              <a:t>The flood of data from new scientific instruments and simulations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600"/>
              <a:t>The ability to economically store and manage petabytes of data online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600"/>
              <a:t>The Internet and computing Grid that makes all these archives universally accessible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600"/>
              <a:t>Scientific info. management, acquisition, organization, query, and visualization tasks scale almost linearly with data volumes.  </a:t>
            </a:r>
            <a:r>
              <a:rPr lang="en-US" altLang="en-US" sz="1600">
                <a:solidFill>
                  <a:schemeClr val="hlink"/>
                </a:solidFill>
              </a:rPr>
              <a:t>Data mining</a:t>
            </a:r>
            <a:r>
              <a:rPr lang="en-US" altLang="en-US" sz="1600"/>
              <a:t> is a major new challenge!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600"/>
              <a:t>Jim Gray and Alex Szalay, </a:t>
            </a:r>
            <a:r>
              <a:rPr lang="en-US" altLang="en-US" sz="1600" i="1"/>
              <a:t>The World Wide Telescope: An Archetype for Online Science</a:t>
            </a:r>
            <a:r>
              <a:rPr lang="en-US" altLang="en-US" sz="1600"/>
              <a:t>, Comm. ACM, 45(11): 50-54, Nov. 2002 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EACC3EB5-B21B-A0C9-D5F9-625D4DCC3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D47A6A1-FF8E-424A-88A7-4F3B5E995610}" type="slidenum">
              <a:rPr lang="en-US" altLang="en-US" sz="1400"/>
              <a:pPr eaLnBrk="1" hangingPunct="1"/>
              <a:t>7</a:t>
            </a:fld>
            <a:endParaRPr lang="en-US" altLang="en-US" sz="1400"/>
          </a:p>
        </p:txBody>
      </p:sp>
      <p:sp>
        <p:nvSpPr>
          <p:cNvPr id="7171" name="Rectangle 1026">
            <a:extLst>
              <a:ext uri="{FF2B5EF4-FFF2-40B4-BE49-F238E27FC236}">
                <a16:creationId xmlns:a16="http://schemas.microsoft.com/office/drawing/2014/main" id="{78AF27F1-020E-42BF-054F-C46DEEF57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47663"/>
            <a:ext cx="7239000" cy="566737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Evolution of Database Technology</a:t>
            </a:r>
            <a:endParaRPr lang="en-US" altLang="en-US" sz="1800" b="0"/>
          </a:p>
        </p:txBody>
      </p:sp>
      <p:sp>
        <p:nvSpPr>
          <p:cNvPr id="7172" name="Rectangle 1027">
            <a:extLst>
              <a:ext uri="{FF2B5EF4-FFF2-40B4-BE49-F238E27FC236}">
                <a16:creationId xmlns:a16="http://schemas.microsoft.com/office/drawing/2014/main" id="{98573A47-A076-7057-ABE6-A3C30C7F6F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1960s: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Data collection, database creation, IMS and network DBMS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1970s: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Relational data model, relational DBMS implementation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1980s: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RDBMS, advanced data models (extended-relational, OO, deductive, etc.)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Application-oriented DBMS (spatial, scientific, engineering, etc.)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1990s: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Data mining, data warehousing, multimedia databases, and Web databases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2000s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Stream data management and mining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Data mining and its applications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1800"/>
              <a:t>Web technology (XML, data integration) and global information systems</a:t>
            </a:r>
            <a:r>
              <a:rPr lang="en-US" altLang="en-US" sz="900"/>
              <a:t> 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E1F6F-0313-4CBD-46CF-59AA4A39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Mining?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DC7A0-E19C-939A-600B-D519921AD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today generate </a:t>
            </a:r>
            <a:r>
              <a:rPr lang="en-US" b="1" dirty="0"/>
              <a:t>huge amounts of 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Retail → customer purchase histories</a:t>
            </a:r>
          </a:p>
          <a:p>
            <a:pPr lvl="1"/>
            <a:r>
              <a:rPr lang="en-US" dirty="0"/>
              <a:t>Finance → credit card transactions</a:t>
            </a:r>
          </a:p>
          <a:p>
            <a:pPr lvl="1"/>
            <a:r>
              <a:rPr lang="en-US" dirty="0"/>
              <a:t>Healthcare → patient records &amp; medical imaging</a:t>
            </a:r>
          </a:p>
          <a:p>
            <a:pPr lvl="1"/>
            <a:r>
              <a:rPr lang="en-US" dirty="0"/>
              <a:t>Social media → likes, shares, comments</a:t>
            </a:r>
          </a:p>
          <a:p>
            <a:pPr lvl="1"/>
            <a:r>
              <a:rPr lang="en-US" dirty="0"/>
              <a:t>Science → genomic data, sensor data, astronomy</a:t>
            </a:r>
          </a:p>
          <a:p>
            <a:r>
              <a:rPr lang="en-US" b="1" dirty="0"/>
              <a:t>Problem</a:t>
            </a:r>
            <a:r>
              <a:rPr lang="en-US" dirty="0"/>
              <a:t>: Too much data, but little knowledge.</a:t>
            </a:r>
          </a:p>
          <a:p>
            <a:r>
              <a:rPr lang="en-US" b="1" dirty="0"/>
              <a:t>Solution</a:t>
            </a:r>
            <a:r>
              <a:rPr lang="en-US" dirty="0"/>
              <a:t>: Data mining helps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B31ED-F7F9-C753-B3BD-874B4DA3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D3C1-6AF4-514D-A3D3-04917242ADB8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34857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41D0D250-0703-B374-5778-B78C53D7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58FBA1A-899B-7C45-B1CE-004B88409D35}" type="slidenum">
              <a:rPr lang="en-US" altLang="en-US" sz="1400"/>
              <a:pPr eaLnBrk="1" hangingPunct="1"/>
              <a:t>9</a:t>
            </a:fld>
            <a:endParaRPr lang="en-US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F4A5A15-B359-A99D-094C-597283915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07FA928-9AAB-0C93-0BD8-86F011FAC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8197" name="AutoShape 4">
            <a:extLst>
              <a:ext uri="{FF2B5EF4-FFF2-40B4-BE49-F238E27FC236}">
                <a16:creationId xmlns:a16="http://schemas.microsoft.com/office/drawing/2014/main" id="{A09F109E-789D-1662-178B-574DEFB2AFAB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3467100" y="18796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D41AB-19FF-74F7-6810-0B743D61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Mining?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3631E-85CA-CB5F-A2D2-5C5127B34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mining is the process of discovering meaningful patterns, trends, correlations, and knowledge from large volumes of data.</a:t>
            </a:r>
            <a:br>
              <a:rPr lang="en-US" dirty="0"/>
            </a:br>
            <a:r>
              <a:rPr lang="en-US" dirty="0"/>
              <a:t>It goes beyond simple statistics by using techniques from </a:t>
            </a:r>
            <a:r>
              <a:rPr lang="en-US" b="1" dirty="0"/>
              <a:t>machine learning, artificial intelligence, and databases</a:t>
            </a:r>
            <a:r>
              <a:rPr lang="en-US" dirty="0"/>
              <a:t> to extract hidden insights.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29A38-4325-7F13-9B09-D84746204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D3C1-6AF4-514D-A3D3-04917242ADB8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215406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4C3189AB-1B2F-BFA6-575E-8C38EA8D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9387448-03C2-2B4C-8B07-C6B69945689E}" type="slidenum">
              <a:rPr lang="en-US" altLang="en-US" sz="1400"/>
              <a:pPr eaLnBrk="1" hangingPunct="1"/>
              <a:t>11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C884A3F6-47A1-8184-ED4A-992A1C27C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1700" y="300038"/>
            <a:ext cx="6794500" cy="619125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What Is Data Mining?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D93BF2F-5690-D1FF-55A2-09A5EC465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1534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Data mining (knowledge discovery from data)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Extraction of interesting </a:t>
            </a:r>
            <a:r>
              <a:rPr lang="en-US" altLang="en-US" sz="1600"/>
              <a:t>(</a:t>
            </a:r>
            <a:r>
              <a:rPr lang="en-GB" altLang="en-US" sz="2000" u="sng"/>
              <a:t>non-trivial,</a:t>
            </a:r>
            <a:r>
              <a:rPr lang="en-GB" altLang="en-US" sz="2000"/>
              <a:t> </a:t>
            </a:r>
            <a:r>
              <a:rPr lang="en-GB" altLang="en-US" sz="2000" u="sng"/>
              <a:t>implicit</a:t>
            </a:r>
            <a:r>
              <a:rPr lang="en-GB" altLang="en-US" sz="2000"/>
              <a:t>, </a:t>
            </a:r>
            <a:r>
              <a:rPr lang="en-GB" altLang="en-US" sz="2000" u="sng"/>
              <a:t>previously unknown</a:t>
            </a:r>
            <a:r>
              <a:rPr lang="en-GB" altLang="en-US" sz="2000"/>
              <a:t> and </a:t>
            </a:r>
            <a:r>
              <a:rPr lang="en-GB" altLang="en-US" sz="2000" u="sng"/>
              <a:t>potentially useful)</a:t>
            </a:r>
            <a:r>
              <a:rPr lang="en-GB" altLang="en-US" sz="2800"/>
              <a:t> </a:t>
            </a:r>
            <a:r>
              <a:rPr lang="en-GB" altLang="en-US" sz="2000"/>
              <a:t>patterns or knowledge from huge amount of data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Data mining: a misnomer?</a:t>
            </a:r>
            <a:endParaRPr lang="en-GB" altLang="en-US" sz="1600"/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Alternative names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Knowledge discovery (mining) in databases (KDD), knowledge extraction, data/pattern analysis, data archeology, data dredging, information harvesting, business intelligence, etc.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Watch out: Is everything “data mining”?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Simple search and query processing  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(Deductive) expert systems</a:t>
            </a:r>
          </a:p>
        </p:txBody>
      </p:sp>
      <p:graphicFrame>
        <p:nvGraphicFramePr>
          <p:cNvPr id="9221" name="Object 2048">
            <a:extLst>
              <a:ext uri="{FF2B5EF4-FFF2-40B4-BE49-F238E27FC236}">
                <a16:creationId xmlns:a16="http://schemas.microsoft.com/office/drawing/2014/main" id="{45676CB5-84BA-0BC1-9096-2DA30538AD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0"/>
          <a:ext cx="10874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0883900" imgH="11747500" progId="MS_ClipArt_Gallery.2">
                  <p:embed/>
                </p:oleObj>
              </mc:Choice>
              <mc:Fallback>
                <p:oleObj name="Clip" r:id="rId3" imgW="10883900" imgH="11747500" progId="MS_ClipArt_Gallery.2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0"/>
                        <a:ext cx="108743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2049">
            <a:extLst>
              <a:ext uri="{FF2B5EF4-FFF2-40B4-BE49-F238E27FC236}">
                <a16:creationId xmlns:a16="http://schemas.microsoft.com/office/drawing/2014/main" id="{8BD8E58E-6DB7-6312-80E2-3E362521C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5105400"/>
          <a:ext cx="1905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27762200" imgH="20358100" progId="MS_ClipArt_Gallery.2">
                  <p:embed/>
                </p:oleObj>
              </mc:Choice>
              <mc:Fallback>
                <p:oleObj name="Clip" r:id="rId5" imgW="27762200" imgH="20358100" progId="MS_ClipArt_Gallery.2">
                  <p:embed/>
                  <p:pic>
                    <p:nvPicPr>
                      <p:cNvPr id="0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105400"/>
                        <a:ext cx="19050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0C9A-E912-0B35-D6C6-EB52A058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Mining vs Related 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B1BD0-AD01-5933-7030-63315158C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Statistics</a:t>
            </a:r>
            <a:r>
              <a:rPr lang="en-US" sz="2400" dirty="0"/>
              <a:t> → Focuses on inference &amp; hypothesis testing.</a:t>
            </a:r>
          </a:p>
          <a:p>
            <a:r>
              <a:rPr lang="en-US" sz="2400" b="1" dirty="0"/>
              <a:t>Machine Learning</a:t>
            </a:r>
            <a:r>
              <a:rPr lang="en-US" sz="2400" dirty="0"/>
              <a:t> → Focuses on prediction and algorithms.</a:t>
            </a:r>
          </a:p>
          <a:p>
            <a:r>
              <a:rPr lang="en-US" sz="2400" b="1" dirty="0"/>
              <a:t>Databases</a:t>
            </a:r>
            <a:r>
              <a:rPr lang="en-US" sz="2400" dirty="0"/>
              <a:t> → Focuses on storing and retrieving large-scale data.</a:t>
            </a:r>
          </a:p>
          <a:p>
            <a:r>
              <a:rPr lang="en-US" sz="2400" b="1" dirty="0"/>
              <a:t>Data Mining</a:t>
            </a:r>
            <a:r>
              <a:rPr lang="en-US" sz="2400" dirty="0"/>
              <a:t> → Integrates all three to </a:t>
            </a:r>
            <a:r>
              <a:rPr lang="en-US" sz="2400" b="1" dirty="0"/>
              <a:t>extract actionable knowledge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CF566-88C5-59FA-A7A3-9EB810E3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D3C1-6AF4-514D-A3D3-04917242ADB8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925449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BAB7826C-706D-C6DA-7788-41BBCBCA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972CEEB-DB80-2049-A63B-2F2A4B13A0FD}" type="slidenum">
              <a:rPr lang="en-US" altLang="en-US" sz="1400"/>
              <a:pPr eaLnBrk="1" hangingPunct="1"/>
              <a:t>13</a:t>
            </a:fld>
            <a:endParaRPr lang="en-US" altLang="en-US" sz="1400"/>
          </a:p>
        </p:txBody>
      </p:sp>
      <p:sp>
        <p:nvSpPr>
          <p:cNvPr id="10243" name="Rectangle 2050">
            <a:extLst>
              <a:ext uri="{FF2B5EF4-FFF2-40B4-BE49-F238E27FC236}">
                <a16:creationId xmlns:a16="http://schemas.microsoft.com/office/drawing/2014/main" id="{5DA12AA0-3B05-E4D1-D284-7310AD5BA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Knowledge Discovery (KDD) Process</a:t>
            </a:r>
            <a:endParaRPr lang="en-US" altLang="en-US" sz="3200" b="0"/>
          </a:p>
        </p:txBody>
      </p:sp>
      <p:sp>
        <p:nvSpPr>
          <p:cNvPr id="10244" name="Rectangle 2051">
            <a:extLst>
              <a:ext uri="{FF2B5EF4-FFF2-40B4-BE49-F238E27FC236}">
                <a16:creationId xmlns:a16="http://schemas.microsoft.com/office/drawing/2014/main" id="{C08CAE84-8B86-0838-EFEB-C0276FB273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4419600" cy="1752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This is a view from typical database systems and data warehousing communities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Data mining plays an essential role in the knowledge discovery process</a:t>
            </a:r>
            <a:endParaRPr lang="en-US" altLang="en-US" sz="2000" b="1"/>
          </a:p>
        </p:txBody>
      </p:sp>
      <p:sp>
        <p:nvSpPr>
          <p:cNvPr id="10245" name="Line 2052">
            <a:extLst>
              <a:ext uri="{FF2B5EF4-FFF2-40B4-BE49-F238E27FC236}">
                <a16:creationId xmlns:a16="http://schemas.microsoft.com/office/drawing/2014/main" id="{3AC9E672-AF7A-0328-C8B1-9A2283351F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51054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Line 2053">
            <a:extLst>
              <a:ext uri="{FF2B5EF4-FFF2-40B4-BE49-F238E27FC236}">
                <a16:creationId xmlns:a16="http://schemas.microsoft.com/office/drawing/2014/main" id="{3C06699B-D299-C0FC-0A5D-7DA6114251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16002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Line 2054">
            <a:extLst>
              <a:ext uri="{FF2B5EF4-FFF2-40B4-BE49-F238E27FC236}">
                <a16:creationId xmlns:a16="http://schemas.microsoft.com/office/drawing/2014/main" id="{60C94286-48A3-129D-EF86-175CA81546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26670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2055">
            <a:extLst>
              <a:ext uri="{FF2B5EF4-FFF2-40B4-BE49-F238E27FC236}">
                <a16:creationId xmlns:a16="http://schemas.microsoft.com/office/drawing/2014/main" id="{667E47B6-C472-5B27-1C78-0AE2F4E4E3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7338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Oval 2056">
            <a:extLst>
              <a:ext uri="{FF2B5EF4-FFF2-40B4-BE49-F238E27FC236}">
                <a16:creationId xmlns:a16="http://schemas.microsoft.com/office/drawing/2014/main" id="{5D152CB8-B9D7-5A8C-7CC5-722188F18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562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0" name="Rectangle 2057">
            <a:extLst>
              <a:ext uri="{FF2B5EF4-FFF2-40B4-BE49-F238E27FC236}">
                <a16:creationId xmlns:a16="http://schemas.microsoft.com/office/drawing/2014/main" id="{26FF5E9A-536E-A4BD-7593-295C045C0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638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1" name="Oval 2058">
            <a:extLst>
              <a:ext uri="{FF2B5EF4-FFF2-40B4-BE49-F238E27FC236}">
                <a16:creationId xmlns:a16="http://schemas.microsoft.com/office/drawing/2014/main" id="{514268AE-92BC-1407-060C-4953F6ECB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2" name="Oval 2059">
            <a:extLst>
              <a:ext uri="{FF2B5EF4-FFF2-40B4-BE49-F238E27FC236}">
                <a16:creationId xmlns:a16="http://schemas.microsoft.com/office/drawing/2014/main" id="{1C04B05B-092C-4F8E-9D86-79C254423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3" name="Rectangle 2060">
            <a:extLst>
              <a:ext uri="{FF2B5EF4-FFF2-40B4-BE49-F238E27FC236}">
                <a16:creationId xmlns:a16="http://schemas.microsoft.com/office/drawing/2014/main" id="{E0644DA4-2E81-E350-7DDB-4D3AB3BCE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019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4" name="Oval 2061">
            <a:extLst>
              <a:ext uri="{FF2B5EF4-FFF2-40B4-BE49-F238E27FC236}">
                <a16:creationId xmlns:a16="http://schemas.microsoft.com/office/drawing/2014/main" id="{E2F621BD-0B12-ED05-EF1E-344FF02AF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324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5" name="Oval 2062">
            <a:extLst>
              <a:ext uri="{FF2B5EF4-FFF2-40B4-BE49-F238E27FC236}">
                <a16:creationId xmlns:a16="http://schemas.microsoft.com/office/drawing/2014/main" id="{90F6035B-614E-F8F2-5512-4CEF7B67F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715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6" name="Rectangle 2063">
            <a:extLst>
              <a:ext uri="{FF2B5EF4-FFF2-40B4-BE49-F238E27FC236}">
                <a16:creationId xmlns:a16="http://schemas.microsoft.com/office/drawing/2014/main" id="{E318B913-D04D-55B0-BAE9-B384B8C38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7912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7" name="Oval 2064">
            <a:extLst>
              <a:ext uri="{FF2B5EF4-FFF2-40B4-BE49-F238E27FC236}">
                <a16:creationId xmlns:a16="http://schemas.microsoft.com/office/drawing/2014/main" id="{13590625-8F7F-DDC4-2FD6-88FDD2735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6096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58" name="Text Box 2065">
            <a:extLst>
              <a:ext uri="{FF2B5EF4-FFF2-40B4-BE49-F238E27FC236}">
                <a16:creationId xmlns:a16="http://schemas.microsoft.com/office/drawing/2014/main" id="{25ACA081-A5EF-2AEF-E7E8-8357300A0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876800"/>
            <a:ext cx="1743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Data Cleaning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0259" name="Text Box 2066">
            <a:extLst>
              <a:ext uri="{FF2B5EF4-FFF2-40B4-BE49-F238E27FC236}">
                <a16:creationId xmlns:a16="http://schemas.microsoft.com/office/drawing/2014/main" id="{63676C74-5DA0-A121-50FD-FF9F732CA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410200"/>
            <a:ext cx="1995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Data Integration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0260" name="Text Box 2067">
            <a:extLst>
              <a:ext uri="{FF2B5EF4-FFF2-40B4-BE49-F238E27FC236}">
                <a16:creationId xmlns:a16="http://schemas.microsoft.com/office/drawing/2014/main" id="{03914007-1233-48BF-034D-0F84FCD2C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2484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Databases</a:t>
            </a:r>
          </a:p>
        </p:txBody>
      </p:sp>
      <p:sp>
        <p:nvSpPr>
          <p:cNvPr id="10261" name="Text Box 2068">
            <a:extLst>
              <a:ext uri="{FF2B5EF4-FFF2-40B4-BE49-F238E27FC236}">
                <a16:creationId xmlns:a16="http://schemas.microsoft.com/office/drawing/2014/main" id="{8EF588E0-798A-8D6E-9581-5FA92BB1A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114800"/>
            <a:ext cx="1997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Data Warehouse</a:t>
            </a:r>
          </a:p>
        </p:txBody>
      </p:sp>
      <p:sp>
        <p:nvSpPr>
          <p:cNvPr id="10262" name="Rectangle 2069">
            <a:extLst>
              <a:ext uri="{FF2B5EF4-FFF2-40B4-BE49-F238E27FC236}">
                <a16:creationId xmlns:a16="http://schemas.microsoft.com/office/drawing/2014/main" id="{6F9E6C6A-AE62-F0F3-57B4-871D2A402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572000"/>
            <a:ext cx="685800" cy="685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3" name="Rectangle 2070">
            <a:extLst>
              <a:ext uri="{FF2B5EF4-FFF2-40B4-BE49-F238E27FC236}">
                <a16:creationId xmlns:a16="http://schemas.microsoft.com/office/drawing/2014/main" id="{A087D919-BD16-A306-826F-FFD477DA4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29000"/>
            <a:ext cx="457200" cy="4572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4" name="Rectangle 2071">
            <a:extLst>
              <a:ext uri="{FF2B5EF4-FFF2-40B4-BE49-F238E27FC236}">
                <a16:creationId xmlns:a16="http://schemas.microsoft.com/office/drawing/2014/main" id="{9967D670-1175-3716-254E-787DE2712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1981200"/>
            <a:ext cx="76200" cy="609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5" name="Rectangle 2072">
            <a:extLst>
              <a:ext uri="{FF2B5EF4-FFF2-40B4-BE49-F238E27FC236}">
                <a16:creationId xmlns:a16="http://schemas.microsoft.com/office/drawing/2014/main" id="{54B4D3B9-94A0-CCC3-5D68-CEB918B21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209800"/>
            <a:ext cx="76200" cy="381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6" name="Rectangle 2073">
            <a:extLst>
              <a:ext uri="{FF2B5EF4-FFF2-40B4-BE49-F238E27FC236}">
                <a16:creationId xmlns:a16="http://schemas.microsoft.com/office/drawing/2014/main" id="{FF220C64-CE70-4376-CEB1-03DECFFF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133600"/>
            <a:ext cx="76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7" name="Rectangle 2074">
            <a:extLst>
              <a:ext uri="{FF2B5EF4-FFF2-40B4-BE49-F238E27FC236}">
                <a16:creationId xmlns:a16="http://schemas.microsoft.com/office/drawing/2014/main" id="{9C3FDB16-9904-F806-79B0-1EB5E7358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362200"/>
            <a:ext cx="76200" cy="228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8" name="Rectangle 2075">
            <a:extLst>
              <a:ext uri="{FF2B5EF4-FFF2-40B4-BE49-F238E27FC236}">
                <a16:creationId xmlns:a16="http://schemas.microsoft.com/office/drawing/2014/main" id="{35616693-974B-A249-A75F-1445C96C3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590800"/>
            <a:ext cx="6858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69" name="Rectangle 2076">
            <a:extLst>
              <a:ext uri="{FF2B5EF4-FFF2-40B4-BE49-F238E27FC236}">
                <a16:creationId xmlns:a16="http://schemas.microsoft.com/office/drawing/2014/main" id="{43D607FE-BF5F-18E5-77F8-0632EFF19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362200"/>
            <a:ext cx="152400" cy="22860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270" name="WordArt 2077">
            <a:extLst>
              <a:ext uri="{FF2B5EF4-FFF2-40B4-BE49-F238E27FC236}">
                <a16:creationId xmlns:a16="http://schemas.microsoft.com/office/drawing/2014/main" id="{545C6371-1A39-3CD7-F9AD-BFF05486F42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86600" y="990600"/>
            <a:ext cx="1743075" cy="612775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Knowledge</a:t>
            </a:r>
          </a:p>
        </p:txBody>
      </p:sp>
      <p:sp>
        <p:nvSpPr>
          <p:cNvPr id="10271" name="Text Box 2078">
            <a:extLst>
              <a:ext uri="{FF2B5EF4-FFF2-40B4-BE49-F238E27FC236}">
                <a16:creationId xmlns:a16="http://schemas.microsoft.com/office/drawing/2014/main" id="{6F5472D7-785A-D9FF-0DEE-591407F99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276600"/>
            <a:ext cx="2278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Task-relevant Data</a:t>
            </a:r>
          </a:p>
        </p:txBody>
      </p:sp>
      <p:sp>
        <p:nvSpPr>
          <p:cNvPr id="10272" name="Text Box 2079">
            <a:extLst>
              <a:ext uri="{FF2B5EF4-FFF2-40B4-BE49-F238E27FC236}">
                <a16:creationId xmlns:a16="http://schemas.microsoft.com/office/drawing/2014/main" id="{F4DB77DA-E3D2-190C-CFD6-D98D96D83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4052888"/>
            <a:ext cx="115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Selection</a:t>
            </a:r>
          </a:p>
        </p:txBody>
      </p:sp>
      <p:sp>
        <p:nvSpPr>
          <p:cNvPr id="10273" name="Text Box 2080">
            <a:extLst>
              <a:ext uri="{FF2B5EF4-FFF2-40B4-BE49-F238E27FC236}">
                <a16:creationId xmlns:a16="http://schemas.microsoft.com/office/drawing/2014/main" id="{3BC9E0F4-93B9-AFAD-3825-5B9771ADD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590800"/>
            <a:ext cx="1558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Data Mining</a:t>
            </a:r>
          </a:p>
        </p:txBody>
      </p:sp>
      <p:sp>
        <p:nvSpPr>
          <p:cNvPr id="10274" name="Text Box 2081">
            <a:extLst>
              <a:ext uri="{FF2B5EF4-FFF2-40B4-BE49-F238E27FC236}">
                <a16:creationId xmlns:a16="http://schemas.microsoft.com/office/drawing/2014/main" id="{2CCFB71D-DE4A-51CF-7DBD-FD2D536E8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676400"/>
            <a:ext cx="2249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Pattern Evaluation</a:t>
            </a:r>
          </a:p>
        </p:txBody>
      </p:sp>
      <p:sp>
        <p:nvSpPr>
          <p:cNvPr id="10275" name="Line 2082">
            <a:extLst>
              <a:ext uri="{FF2B5EF4-FFF2-40B4-BE49-F238E27FC236}">
                <a16:creationId xmlns:a16="http://schemas.microsoft.com/office/drawing/2014/main" id="{907B47C5-8C64-4B06-F20F-102F571DA1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1242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6" name="Line 2083">
            <a:extLst>
              <a:ext uri="{FF2B5EF4-FFF2-40B4-BE49-F238E27FC236}">
                <a16:creationId xmlns:a16="http://schemas.microsoft.com/office/drawing/2014/main" id="{25B5EA24-4409-6C84-E737-D114D4453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2057400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7" name="Line 2084">
            <a:extLst>
              <a:ext uri="{FF2B5EF4-FFF2-40B4-BE49-F238E27FC236}">
                <a16:creationId xmlns:a16="http://schemas.microsoft.com/office/drawing/2014/main" id="{4B5D46B6-8E1E-1074-BF90-C92283B805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52578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8" name="Line 2085">
            <a:extLst>
              <a:ext uri="{FF2B5EF4-FFF2-40B4-BE49-F238E27FC236}">
                <a16:creationId xmlns:a16="http://schemas.microsoft.com/office/drawing/2014/main" id="{271444EA-2F32-98B4-3F94-6B8217CB60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3434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9" name="Line 2086">
            <a:extLst>
              <a:ext uri="{FF2B5EF4-FFF2-40B4-BE49-F238E27FC236}">
                <a16:creationId xmlns:a16="http://schemas.microsoft.com/office/drawing/2014/main" id="{D163A057-8166-2F81-FC36-D181B4791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2578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0" name="Line 2087">
            <a:extLst>
              <a:ext uri="{FF2B5EF4-FFF2-40B4-BE49-F238E27FC236}">
                <a16:creationId xmlns:a16="http://schemas.microsoft.com/office/drawing/2014/main" id="{8082A7F0-5F73-CCAD-9FE4-1100396486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6096000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1" name="Line 2088">
            <a:extLst>
              <a:ext uri="{FF2B5EF4-FFF2-40B4-BE49-F238E27FC236}">
                <a16:creationId xmlns:a16="http://schemas.microsoft.com/office/drawing/2014/main" id="{6DFF6D8E-27A5-D535-88BB-DED66FF3B86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05000" y="54102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2" name="Line 2089">
            <a:extLst>
              <a:ext uri="{FF2B5EF4-FFF2-40B4-BE49-F238E27FC236}">
                <a16:creationId xmlns:a16="http://schemas.microsoft.com/office/drawing/2014/main" id="{0DA61CB6-EEDB-B553-CD7E-C2CF08542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54102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283" name="Line 2090">
            <a:extLst>
              <a:ext uri="{FF2B5EF4-FFF2-40B4-BE49-F238E27FC236}">
                <a16:creationId xmlns:a16="http://schemas.microsoft.com/office/drawing/2014/main" id="{8E8FBA4C-2F55-20B2-6895-ABBEB8C4D3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41910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E0DD-7321-5316-26A5-60F1330B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The Knowledge Discovery in Databases (KDD)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2EA06-DA6F-2286-B1E6-45FD690F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mining is part of a bigger cycle called </a:t>
            </a:r>
            <a:r>
              <a:rPr lang="en-US" b="1" dirty="0"/>
              <a:t>KDD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Data Cleaning</a:t>
            </a:r>
            <a:r>
              <a:rPr lang="en-US" dirty="0"/>
              <a:t> → remove noise, handle missing values.</a:t>
            </a:r>
          </a:p>
          <a:p>
            <a:pPr lvl="1"/>
            <a:r>
              <a:rPr lang="en-US" b="1" dirty="0"/>
              <a:t>Data Integration</a:t>
            </a:r>
            <a:r>
              <a:rPr lang="en-US" dirty="0"/>
              <a:t> → combine from multiple sources (databases, files, web).</a:t>
            </a:r>
          </a:p>
          <a:p>
            <a:pPr lvl="1"/>
            <a:r>
              <a:rPr lang="en-US" b="1" dirty="0"/>
              <a:t>Data Selection</a:t>
            </a:r>
            <a:r>
              <a:rPr lang="en-US" dirty="0"/>
              <a:t> → choose relevant data.</a:t>
            </a:r>
          </a:p>
          <a:p>
            <a:pPr lvl="1"/>
            <a:r>
              <a:rPr lang="en-US" b="1" dirty="0"/>
              <a:t>Data Transformation</a:t>
            </a:r>
            <a:r>
              <a:rPr lang="en-US" dirty="0"/>
              <a:t> → normalize, reduce dimensions, prepare for mining.</a:t>
            </a:r>
          </a:p>
          <a:p>
            <a:pPr lvl="1"/>
            <a:r>
              <a:rPr lang="en-US" b="1" dirty="0"/>
              <a:t>Data Mining</a:t>
            </a:r>
            <a:r>
              <a:rPr lang="en-US" dirty="0"/>
              <a:t> → apply algorithms (classification, clustering, association rules).</a:t>
            </a:r>
          </a:p>
          <a:p>
            <a:pPr lvl="1"/>
            <a:r>
              <a:rPr lang="en-US" b="1" dirty="0"/>
              <a:t>Pattern Evaluation</a:t>
            </a:r>
            <a:r>
              <a:rPr lang="en-US" dirty="0"/>
              <a:t> → identify truly interesting/novel patterns.</a:t>
            </a:r>
          </a:p>
          <a:p>
            <a:pPr lvl="1"/>
            <a:r>
              <a:rPr lang="en-US" b="1" dirty="0"/>
              <a:t>Knowledge Presentation</a:t>
            </a:r>
            <a:r>
              <a:rPr lang="en-US" dirty="0"/>
              <a:t> → visualize results, dashboards, reports.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EDA28-EAF6-533F-9AEE-7BC17E75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D3C1-6AF4-514D-A3D3-04917242ADB8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3683021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9E3C99D0-319F-C587-6D3B-37824236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37E34A1-1229-0E46-ABEE-D2837696D64B}" type="slidenum">
              <a:rPr lang="en-US" altLang="en-US" sz="1400"/>
              <a:pPr eaLnBrk="1" hangingPunct="1"/>
              <a:t>15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9E48452-31C6-6309-C932-AA7E60246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Example: A Web Mining Framework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BA168CF-3E46-ACAE-1E23-7BAD13609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/>
              <a:t>Web mining usually involves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Data cleaning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Data integration from multiple sources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Warehousing the data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Data cube construction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Data selection for data mining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Data mining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Presentation of the mining results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Patterns and knowledge to be used or stored into knowledge-base</a:t>
            </a:r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D3A9E8E4-3820-1DFA-463A-79141E5B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97B8E24-2C86-FE44-A7B4-FCF91B2BEB77}" type="slidenum">
              <a:rPr lang="en-US" altLang="en-US" sz="1400"/>
              <a:pPr eaLnBrk="1" hangingPunct="1"/>
              <a:t>16</a:t>
            </a:fld>
            <a:endParaRPr lang="en-US" altLang="en-US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A5FC080B-4EF6-626A-04D3-2C123A625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533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Data Mining in Business Intelligence</a:t>
            </a:r>
            <a:r>
              <a:rPr lang="en-US" altLang="en-US" sz="2800" b="0"/>
              <a:t> </a:t>
            </a:r>
          </a:p>
        </p:txBody>
      </p:sp>
      <p:sp>
        <p:nvSpPr>
          <p:cNvPr id="12292" name="AutoShape 3">
            <a:extLst>
              <a:ext uri="{FF2B5EF4-FFF2-40B4-BE49-F238E27FC236}">
                <a16:creationId xmlns:a16="http://schemas.microsoft.com/office/drawing/2014/main" id="{C4A36820-931E-C36C-FDB0-D2280B4ED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47800"/>
            <a:ext cx="7467600" cy="5029200"/>
          </a:xfrm>
          <a:prstGeom prst="flowChartExtra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2293" name="Line 4">
            <a:extLst>
              <a:ext uri="{FF2B5EF4-FFF2-40B4-BE49-F238E27FC236}">
                <a16:creationId xmlns:a16="http://schemas.microsoft.com/office/drawing/2014/main" id="{6836A0CF-6FDC-09D4-E651-071C02628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867400"/>
            <a:ext cx="655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4" name="Line 5">
            <a:extLst>
              <a:ext uri="{FF2B5EF4-FFF2-40B4-BE49-F238E27FC236}">
                <a16:creationId xmlns:a16="http://schemas.microsoft.com/office/drawing/2014/main" id="{68C2BCB2-FEFB-0C9B-E9B5-7E750C3AC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257800"/>
            <a:ext cx="563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6">
            <a:extLst>
              <a:ext uri="{FF2B5EF4-FFF2-40B4-BE49-F238E27FC236}">
                <a16:creationId xmlns:a16="http://schemas.microsoft.com/office/drawing/2014/main" id="{9A027B26-233C-63B3-A717-757DC682E4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4958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7">
            <a:extLst>
              <a:ext uri="{FF2B5EF4-FFF2-40B4-BE49-F238E27FC236}">
                <a16:creationId xmlns:a16="http://schemas.microsoft.com/office/drawing/2014/main" id="{4BAA996A-77E3-39DF-E75A-60BB4AA1A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7338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Line 8">
            <a:extLst>
              <a:ext uri="{FF2B5EF4-FFF2-40B4-BE49-F238E27FC236}">
                <a16:creationId xmlns:a16="http://schemas.microsoft.com/office/drawing/2014/main" id="{C576E1E8-2C1C-5F58-4074-2B0D96506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895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9">
            <a:extLst>
              <a:ext uri="{FF2B5EF4-FFF2-40B4-BE49-F238E27FC236}">
                <a16:creationId xmlns:a16="http://schemas.microsoft.com/office/drawing/2014/main" id="{808EA52A-085A-F2E1-2718-BBB2C0385F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" y="1447800"/>
            <a:ext cx="0" cy="502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0">
            <a:extLst>
              <a:ext uri="{FF2B5EF4-FFF2-40B4-BE49-F238E27FC236}">
                <a16:creationId xmlns:a16="http://schemas.microsoft.com/office/drawing/2014/main" id="{A3650CF0-FB9A-3EF6-5985-1812D5CC7B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9200" y="1447800"/>
            <a:ext cx="0" cy="502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Text Box 11">
            <a:extLst>
              <a:ext uri="{FF2B5EF4-FFF2-40B4-BE49-F238E27FC236}">
                <a16:creationId xmlns:a16="http://schemas.microsoft.com/office/drawing/2014/main" id="{FC043399-F0B1-476B-7549-939020DDD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1509713"/>
            <a:ext cx="19208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600" b="1">
                <a:latin typeface="Times New Roman" panose="02020603050405020304" pitchFamily="18" charset="0"/>
              </a:rPr>
              <a:t>Increasing potential</a:t>
            </a:r>
          </a:p>
          <a:p>
            <a:r>
              <a:rPr lang="en-US" altLang="en-US" sz="1600" b="1">
                <a:latin typeface="Times New Roman" panose="02020603050405020304" pitchFamily="18" charset="0"/>
              </a:rPr>
              <a:t>to support</a:t>
            </a:r>
          </a:p>
          <a:p>
            <a:r>
              <a:rPr lang="en-US" altLang="en-US" sz="1600" b="1">
                <a:latin typeface="Times New Roman" panose="02020603050405020304" pitchFamily="18" charset="0"/>
              </a:rPr>
              <a:t>business decisions</a:t>
            </a:r>
          </a:p>
        </p:txBody>
      </p:sp>
      <p:sp>
        <p:nvSpPr>
          <p:cNvPr id="12301" name="Text Box 12">
            <a:extLst>
              <a:ext uri="{FF2B5EF4-FFF2-40B4-BE49-F238E27FC236}">
                <a16:creationId xmlns:a16="http://schemas.microsoft.com/office/drawing/2014/main" id="{18B64066-905C-C0C6-D048-682C2CA0F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8588" y="1955800"/>
            <a:ext cx="1001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End User</a:t>
            </a:r>
            <a:endParaRPr lang="en-US" altLang="en-US" sz="1600">
              <a:latin typeface="Times New Roman" panose="02020603050405020304" pitchFamily="18" charset="0"/>
            </a:endParaRPr>
          </a:p>
        </p:txBody>
      </p:sp>
      <p:sp>
        <p:nvSpPr>
          <p:cNvPr id="12302" name="Text Box 13">
            <a:extLst>
              <a:ext uri="{FF2B5EF4-FFF2-40B4-BE49-F238E27FC236}">
                <a16:creationId xmlns:a16="http://schemas.microsoft.com/office/drawing/2014/main" id="{8914605A-CD0C-4C19-B22F-64504D831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2946400"/>
            <a:ext cx="9525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Business</a:t>
            </a:r>
          </a:p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  Analyst</a:t>
            </a:r>
          </a:p>
        </p:txBody>
      </p:sp>
      <p:sp>
        <p:nvSpPr>
          <p:cNvPr id="12303" name="Text Box 14">
            <a:extLst>
              <a:ext uri="{FF2B5EF4-FFF2-40B4-BE49-F238E27FC236}">
                <a16:creationId xmlns:a16="http://schemas.microsoft.com/office/drawing/2014/main" id="{14B7B89F-36F6-907E-EF64-C537FA685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0663" y="3784600"/>
            <a:ext cx="8556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     Data</a:t>
            </a:r>
          </a:p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Analyst</a:t>
            </a:r>
          </a:p>
        </p:txBody>
      </p:sp>
      <p:sp>
        <p:nvSpPr>
          <p:cNvPr id="12304" name="Text Box 15">
            <a:extLst>
              <a:ext uri="{FF2B5EF4-FFF2-40B4-BE49-F238E27FC236}">
                <a16:creationId xmlns:a16="http://schemas.microsoft.com/office/drawing/2014/main" id="{2008D448-B932-8222-2607-79D28C9F9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2600" y="5689600"/>
            <a:ext cx="611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/>
            <a:r>
              <a:rPr lang="en-US" altLang="en-US" sz="1600" b="1">
                <a:latin typeface="Times New Roman" panose="02020603050405020304" pitchFamily="18" charset="0"/>
              </a:rPr>
              <a:t>DBA</a:t>
            </a:r>
          </a:p>
        </p:txBody>
      </p:sp>
      <p:sp>
        <p:nvSpPr>
          <p:cNvPr id="12305" name="Text Box 16">
            <a:extLst>
              <a:ext uri="{FF2B5EF4-FFF2-40B4-BE49-F238E27FC236}">
                <a16:creationId xmlns:a16="http://schemas.microsoft.com/office/drawing/2014/main" id="{9E8EBB6F-C330-2972-9F05-9ED9D5F2D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178050"/>
            <a:ext cx="1219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1800" b="1"/>
              <a:t>Decision</a:t>
            </a:r>
            <a:r>
              <a:rPr lang="en-US" altLang="en-US" sz="1800"/>
              <a:t> </a:t>
            </a:r>
            <a:r>
              <a:rPr lang="en-US" altLang="en-US" sz="1800" b="1"/>
              <a:t>Making</a:t>
            </a:r>
          </a:p>
        </p:txBody>
      </p:sp>
      <p:sp>
        <p:nvSpPr>
          <p:cNvPr id="12306" name="Text Box 17">
            <a:extLst>
              <a:ext uri="{FF2B5EF4-FFF2-40B4-BE49-F238E27FC236}">
                <a16:creationId xmlns:a16="http://schemas.microsoft.com/office/drawing/2014/main" id="{F7A61740-D444-422A-C86F-BE8EA70A3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992438"/>
            <a:ext cx="226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/>
              <a:t>Data Presentation</a:t>
            </a:r>
          </a:p>
        </p:txBody>
      </p:sp>
      <p:sp>
        <p:nvSpPr>
          <p:cNvPr id="12307" name="Text Box 18">
            <a:extLst>
              <a:ext uri="{FF2B5EF4-FFF2-40B4-BE49-F238E27FC236}">
                <a16:creationId xmlns:a16="http://schemas.microsoft.com/office/drawing/2014/main" id="{AD69D45B-82C4-2133-B5F7-9FF66706C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352800"/>
            <a:ext cx="2578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Visualization Techniques</a:t>
            </a:r>
          </a:p>
        </p:txBody>
      </p:sp>
      <p:sp>
        <p:nvSpPr>
          <p:cNvPr id="12308" name="Text Box 19">
            <a:extLst>
              <a:ext uri="{FF2B5EF4-FFF2-40B4-BE49-F238E27FC236}">
                <a16:creationId xmlns:a16="http://schemas.microsoft.com/office/drawing/2014/main" id="{20054FA0-21FF-8DA6-88B2-788D46365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765550"/>
            <a:ext cx="1782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/>
              <a:t>Data Mining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sp>
        <p:nvSpPr>
          <p:cNvPr id="12309" name="Text Box 20">
            <a:extLst>
              <a:ext uri="{FF2B5EF4-FFF2-40B4-BE49-F238E27FC236}">
                <a16:creationId xmlns:a16="http://schemas.microsoft.com/office/drawing/2014/main" id="{166823AF-385E-5318-4AE1-87B257111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038600"/>
            <a:ext cx="2324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Information Discovery</a:t>
            </a:r>
          </a:p>
        </p:txBody>
      </p:sp>
      <p:sp>
        <p:nvSpPr>
          <p:cNvPr id="12310" name="Text Box 21">
            <a:extLst>
              <a:ext uri="{FF2B5EF4-FFF2-40B4-BE49-F238E27FC236}">
                <a16:creationId xmlns:a16="http://schemas.microsoft.com/office/drawing/2014/main" id="{8F6F90E8-57DD-73B2-FBF0-09723FEE6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8675" y="4572000"/>
            <a:ext cx="2346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en-US" sz="1800" b="1"/>
              <a:t>Data Exploration</a:t>
            </a:r>
          </a:p>
        </p:txBody>
      </p:sp>
      <p:sp>
        <p:nvSpPr>
          <p:cNvPr id="12311" name="Text Box 23">
            <a:extLst>
              <a:ext uri="{FF2B5EF4-FFF2-40B4-BE49-F238E27FC236}">
                <a16:creationId xmlns:a16="http://schemas.microsoft.com/office/drawing/2014/main" id="{AF8ECFD9-CB7D-91F0-60F5-4B97DC7DF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876800"/>
            <a:ext cx="457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Statistical Summary, Querying, and Reporting</a:t>
            </a:r>
            <a:endParaRPr lang="en-US" altLang="en-US" sz="1800" b="1" i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2" name="Text Box 24">
            <a:extLst>
              <a:ext uri="{FF2B5EF4-FFF2-40B4-BE49-F238E27FC236}">
                <a16:creationId xmlns:a16="http://schemas.microsoft.com/office/drawing/2014/main" id="{62870552-D040-8AAC-6A32-9FB449FFF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410200"/>
            <a:ext cx="6021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/>
              <a:t>Data Preprocessing/Integration, Data Warehouses</a:t>
            </a:r>
          </a:p>
        </p:txBody>
      </p:sp>
      <p:sp>
        <p:nvSpPr>
          <p:cNvPr id="12313" name="Text Box 25">
            <a:extLst>
              <a:ext uri="{FF2B5EF4-FFF2-40B4-BE49-F238E27FC236}">
                <a16:creationId xmlns:a16="http://schemas.microsoft.com/office/drawing/2014/main" id="{5983DFF0-3646-B7D1-B102-8AAFCD524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791200"/>
            <a:ext cx="1697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/>
              <a:t>Data Sources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sp>
        <p:nvSpPr>
          <p:cNvPr id="12314" name="Text Box 26">
            <a:extLst>
              <a:ext uri="{FF2B5EF4-FFF2-40B4-BE49-F238E27FC236}">
                <a16:creationId xmlns:a16="http://schemas.microsoft.com/office/drawing/2014/main" id="{9AE180A3-F3B8-1345-18E3-A0C03B0F7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096000"/>
            <a:ext cx="711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sz="1800" b="1" i="1">
                <a:latin typeface="Times New Roman" panose="02020603050405020304" pitchFamily="18" charset="0"/>
              </a:rPr>
              <a:t>Paper, Files, Web documents, Scientific experiments, Database Systems</a:t>
            </a:r>
          </a:p>
        </p:txBody>
      </p:sp>
      <p:sp>
        <p:nvSpPr>
          <p:cNvPr id="12315" name="Line 27">
            <a:extLst>
              <a:ext uri="{FF2B5EF4-FFF2-40B4-BE49-F238E27FC236}">
                <a16:creationId xmlns:a16="http://schemas.microsoft.com/office/drawing/2014/main" id="{C23151D5-B264-298B-082C-BFBEEF80A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477000"/>
            <a:ext cx="838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A64A4927-6904-89FD-2A1A-D66BA2C79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5032BE7-BD5F-A347-B95C-024FC6846CED}" type="slidenum">
              <a:rPr lang="en-US" altLang="en-US" sz="1400"/>
              <a:pPr eaLnBrk="1" hangingPunct="1"/>
              <a:t>17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354A49E-F151-E0D5-462F-9729122B6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Example: Mining vs. Data Exploration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D65C180E-43D7-8028-81F2-FC360B9B0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altLang="en-US"/>
              <a:t>Business intelligence view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/>
              <a:t>Warehouse, data cube, reporting but not much mining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/>
              <a:t>Business objects vs. data mining tools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/>
              <a:t>Supply chain example: tools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/>
              <a:t>Data presentation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/>
              <a:t>Exploration</a:t>
            </a: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D22ADCFE-6A4B-799B-C14F-D43CDE70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FD735CF-37F8-CF4F-9680-FFF84D544A3B}" type="slidenum">
              <a:rPr lang="en-US" altLang="en-US" sz="1400"/>
              <a:pPr eaLnBrk="1" hangingPunct="1"/>
              <a:t>18</a:t>
            </a:fld>
            <a:endParaRPr lang="en-US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688D56A-342C-845A-3CFC-75E5A15F5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KDD Process: A Typical View from ML and Statistics</a:t>
            </a:r>
            <a:endParaRPr lang="en-US" altLang="en-US" sz="3200" b="0"/>
          </a:p>
        </p:txBody>
      </p:sp>
      <p:sp>
        <p:nvSpPr>
          <p:cNvPr id="14340" name="Line 4">
            <a:extLst>
              <a:ext uri="{FF2B5EF4-FFF2-40B4-BE49-F238E27FC236}">
                <a16:creationId xmlns:a16="http://schemas.microsoft.com/office/drawing/2014/main" id="{836E8FC3-BC1B-4F29-CBA0-BEE641839E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335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Line 5">
            <a:extLst>
              <a:ext uri="{FF2B5EF4-FFF2-40B4-BE49-F238E27FC236}">
                <a16:creationId xmlns:a16="http://schemas.microsoft.com/office/drawing/2014/main" id="{7FDFAF14-5912-F96B-DBC9-6411EA72BF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2725" y="23622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Text Box 17">
            <a:extLst>
              <a:ext uri="{FF2B5EF4-FFF2-40B4-BE49-F238E27FC236}">
                <a16:creationId xmlns:a16="http://schemas.microsoft.com/office/drawing/2014/main" id="{ECA1DDD6-4DE5-74DE-D75A-79831ED51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2151063"/>
            <a:ext cx="1435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b="1"/>
              <a:t>Input Data</a:t>
            </a:r>
            <a:endParaRPr lang="en-US" altLang="en-US" sz="1600"/>
          </a:p>
        </p:txBody>
      </p:sp>
      <p:sp>
        <p:nvSpPr>
          <p:cNvPr id="14343" name="Rectangle 21">
            <a:extLst>
              <a:ext uri="{FF2B5EF4-FFF2-40B4-BE49-F238E27FC236}">
                <a16:creationId xmlns:a16="http://schemas.microsoft.com/office/drawing/2014/main" id="{6B11EE9A-F9B3-E272-FA8B-1BE2ECCF5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0725" y="1981200"/>
            <a:ext cx="914400" cy="1066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4" name="Rectangle 22">
            <a:extLst>
              <a:ext uri="{FF2B5EF4-FFF2-40B4-BE49-F238E27FC236}">
                <a16:creationId xmlns:a16="http://schemas.microsoft.com/office/drawing/2014/main" id="{5A61D2CD-A74E-8CC4-CDFF-63C4FEF64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1981200"/>
            <a:ext cx="914400" cy="1066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5" name="WordArt 29">
            <a:extLst>
              <a:ext uri="{FF2B5EF4-FFF2-40B4-BE49-F238E27FC236}">
                <a16:creationId xmlns:a16="http://schemas.microsoft.com/office/drawing/2014/main" id="{8DCEDE46-2FBF-A0BA-985C-CC2E64FA6D5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823813">
            <a:off x="7096125" y="1676400"/>
            <a:ext cx="1743075" cy="12954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 panose="020B0806030902050204" pitchFamily="34" charset="0"/>
              </a:rPr>
              <a:t>Pattern</a:t>
            </a:r>
          </a:p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 panose="020B0806030902050204" pitchFamily="34" charset="0"/>
              </a:rPr>
              <a:t>Information</a:t>
            </a:r>
          </a:p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1"/>
                </a:gradFill>
                <a:latin typeface="Impact" panose="020B0806030902050204" pitchFamily="34" charset="0"/>
              </a:rPr>
              <a:t>Knowledge</a:t>
            </a:r>
          </a:p>
        </p:txBody>
      </p:sp>
      <p:sp>
        <p:nvSpPr>
          <p:cNvPr id="14346" name="Text Box 32">
            <a:extLst>
              <a:ext uri="{FF2B5EF4-FFF2-40B4-BE49-F238E27FC236}">
                <a16:creationId xmlns:a16="http://schemas.microsoft.com/office/drawing/2014/main" id="{7239EBAA-56DC-CE00-0F8F-34F2EB4E1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725" y="2057400"/>
            <a:ext cx="1295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000" b="1">
                <a:solidFill>
                  <a:schemeClr val="hlink"/>
                </a:solidFill>
              </a:rPr>
              <a:t>Data Mining</a:t>
            </a:r>
          </a:p>
        </p:txBody>
      </p:sp>
      <p:sp>
        <p:nvSpPr>
          <p:cNvPr id="14347" name="Text Box 44">
            <a:extLst>
              <a:ext uri="{FF2B5EF4-FFF2-40B4-BE49-F238E27FC236}">
                <a16:creationId xmlns:a16="http://schemas.microsoft.com/office/drawing/2014/main" id="{8EAE312B-F0B0-24CF-1128-245DCF406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2149475"/>
            <a:ext cx="1447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1400" b="1"/>
              <a:t>Data Pre-Processing</a:t>
            </a:r>
          </a:p>
        </p:txBody>
      </p:sp>
      <p:sp>
        <p:nvSpPr>
          <p:cNvPr id="14348" name="Line 45">
            <a:extLst>
              <a:ext uri="{FF2B5EF4-FFF2-40B4-BE49-F238E27FC236}">
                <a16:creationId xmlns:a16="http://schemas.microsoft.com/office/drawing/2014/main" id="{704C08E1-4324-56A6-C631-7D5CD9A714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337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9" name="Line 46">
            <a:extLst>
              <a:ext uri="{FF2B5EF4-FFF2-40B4-BE49-F238E27FC236}">
                <a16:creationId xmlns:a16="http://schemas.microsoft.com/office/drawing/2014/main" id="{402FC5F7-ACAD-EC58-4ED2-2B2201A6D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86325" y="23622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50" name="Rectangle 47">
            <a:extLst>
              <a:ext uri="{FF2B5EF4-FFF2-40B4-BE49-F238E27FC236}">
                <a16:creationId xmlns:a16="http://schemas.microsoft.com/office/drawing/2014/main" id="{D78BF2FA-893A-F67F-E476-9B0323E30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9725" y="1981200"/>
            <a:ext cx="990600" cy="1066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51" name="Text Box 48">
            <a:extLst>
              <a:ext uri="{FF2B5EF4-FFF2-40B4-BE49-F238E27FC236}">
                <a16:creationId xmlns:a16="http://schemas.microsoft.com/office/drawing/2014/main" id="{7763D15A-5BDC-8152-9932-613647B5F5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2085975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600" b="1"/>
              <a:t>Post-Processing</a:t>
            </a:r>
          </a:p>
        </p:txBody>
      </p:sp>
      <p:sp>
        <p:nvSpPr>
          <p:cNvPr id="14352" name="Rectangle 49">
            <a:extLst>
              <a:ext uri="{FF2B5EF4-FFF2-40B4-BE49-F238E27FC236}">
                <a16:creationId xmlns:a16="http://schemas.microsoft.com/office/drawing/2014/main" id="{68D6637D-0248-9531-45FB-3E4B485EF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5791200"/>
            <a:ext cx="8153400" cy="457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sz="1800"/>
              <a:t>This is a view from typical machine learning and statistics communities</a:t>
            </a:r>
          </a:p>
        </p:txBody>
      </p:sp>
      <p:grpSp>
        <p:nvGrpSpPr>
          <p:cNvPr id="14353" name="Group 52">
            <a:extLst>
              <a:ext uri="{FF2B5EF4-FFF2-40B4-BE49-F238E27FC236}">
                <a16:creationId xmlns:a16="http://schemas.microsoft.com/office/drawing/2014/main" id="{94E2551F-538E-7F2A-E314-4E20FE3F0DC2}"/>
              </a:ext>
            </a:extLst>
          </p:cNvPr>
          <p:cNvGrpSpPr>
            <a:grpSpLocks/>
          </p:cNvGrpSpPr>
          <p:nvPr/>
        </p:nvGrpSpPr>
        <p:grpSpPr bwMode="auto">
          <a:xfrm>
            <a:off x="542925" y="3886200"/>
            <a:ext cx="2362200" cy="1143000"/>
            <a:chOff x="288" y="2880"/>
            <a:chExt cx="1488" cy="720"/>
          </a:xfrm>
        </p:grpSpPr>
        <p:sp>
          <p:nvSpPr>
            <p:cNvPr id="14362" name="Rectangle 50">
              <a:extLst>
                <a:ext uri="{FF2B5EF4-FFF2-40B4-BE49-F238E27FC236}">
                  <a16:creationId xmlns:a16="http://schemas.microsoft.com/office/drawing/2014/main" id="{A36E8B2F-DED1-37FE-A9B9-DE22B3169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880"/>
              <a:ext cx="1344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63" name="Text Box 51">
              <a:extLst>
                <a:ext uri="{FF2B5EF4-FFF2-40B4-BE49-F238E27FC236}">
                  <a16:creationId xmlns:a16="http://schemas.microsoft.com/office/drawing/2014/main" id="{88AEB9F8-BA6B-1505-11C1-030A9EF617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943"/>
              <a:ext cx="1488" cy="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/>
                <a:t>Data integration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/>
                <a:t>Normalization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/>
                <a:t>Feature selection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/>
                <a:t>Dimension reduction</a:t>
              </a:r>
            </a:p>
          </p:txBody>
        </p:sp>
      </p:grpSp>
      <p:sp>
        <p:nvSpPr>
          <p:cNvPr id="14354" name="Rectangle 54">
            <a:extLst>
              <a:ext uri="{FF2B5EF4-FFF2-40B4-BE49-F238E27FC236}">
                <a16:creationId xmlns:a16="http://schemas.microsoft.com/office/drawing/2014/main" id="{16130A23-EFC2-B741-ECF8-283700F3D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3886200"/>
            <a:ext cx="2362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55" name="Text Box 55">
            <a:extLst>
              <a:ext uri="{FF2B5EF4-FFF2-40B4-BE49-F238E27FC236}">
                <a16:creationId xmlns:a16="http://schemas.microsoft.com/office/drawing/2014/main" id="{EE747218-1BC8-DDFF-00D0-A0111C02C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525" y="3962400"/>
            <a:ext cx="2438400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/>
              <a:t>Pattern discovery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/>
              <a:t>Association &amp; correlation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/>
              <a:t>Classification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/>
              <a:t>Clustering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/>
              <a:t>Outlier analysis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en-US" sz="1600"/>
              <a:t>… … … …</a:t>
            </a:r>
          </a:p>
        </p:txBody>
      </p:sp>
      <p:grpSp>
        <p:nvGrpSpPr>
          <p:cNvPr id="14356" name="Group 56">
            <a:extLst>
              <a:ext uri="{FF2B5EF4-FFF2-40B4-BE49-F238E27FC236}">
                <a16:creationId xmlns:a16="http://schemas.microsoft.com/office/drawing/2014/main" id="{D180569A-71C4-08AC-576E-A0E2A8B854B5}"/>
              </a:ext>
            </a:extLst>
          </p:cNvPr>
          <p:cNvGrpSpPr>
            <a:grpSpLocks/>
          </p:cNvGrpSpPr>
          <p:nvPr/>
        </p:nvGrpSpPr>
        <p:grpSpPr bwMode="auto">
          <a:xfrm>
            <a:off x="5876925" y="3886200"/>
            <a:ext cx="2362200" cy="1143000"/>
            <a:chOff x="288" y="2880"/>
            <a:chExt cx="1488" cy="720"/>
          </a:xfrm>
        </p:grpSpPr>
        <p:sp>
          <p:nvSpPr>
            <p:cNvPr id="14360" name="Rectangle 57">
              <a:extLst>
                <a:ext uri="{FF2B5EF4-FFF2-40B4-BE49-F238E27FC236}">
                  <a16:creationId xmlns:a16="http://schemas.microsoft.com/office/drawing/2014/main" id="{0A06D25F-86EE-E667-D27D-078D6D6D8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880"/>
              <a:ext cx="1344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61" name="Text Box 58">
              <a:extLst>
                <a:ext uri="{FF2B5EF4-FFF2-40B4-BE49-F238E27FC236}">
                  <a16:creationId xmlns:a16="http://schemas.microsoft.com/office/drawing/2014/main" id="{6FA92263-7996-1E6A-EDC5-A4D64E945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943"/>
              <a:ext cx="1488" cy="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/>
                <a:t>Pattern evaluation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/>
                <a:t>Pattern selection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/>
                <a:t>Pattern interpretation</a:t>
              </a: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en-US" sz="1600"/>
                <a:t>Pattern visualization</a:t>
              </a:r>
            </a:p>
          </p:txBody>
        </p:sp>
      </p:grpSp>
      <p:sp>
        <p:nvSpPr>
          <p:cNvPr id="14357" name="AutoShape 62">
            <a:extLst>
              <a:ext uri="{FF2B5EF4-FFF2-40B4-BE49-F238E27FC236}">
                <a16:creationId xmlns:a16="http://schemas.microsoft.com/office/drawing/2014/main" id="{CC32E1E2-476E-FC1A-6F48-A7BA04713241}"/>
              </a:ext>
            </a:extLst>
          </p:cNvPr>
          <p:cNvSpPr>
            <a:spLocks noChangeArrowheads="1"/>
          </p:cNvSpPr>
          <p:nvPr/>
        </p:nvSpPr>
        <p:spPr bwMode="auto">
          <a:xfrm rot="-10256010">
            <a:off x="18383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58" name="AutoShape 63">
            <a:extLst>
              <a:ext uri="{FF2B5EF4-FFF2-40B4-BE49-F238E27FC236}">
                <a16:creationId xmlns:a16="http://schemas.microsoft.com/office/drawing/2014/main" id="{7435A537-485F-B40D-568E-F01E7D0ED311}"/>
              </a:ext>
            </a:extLst>
          </p:cNvPr>
          <p:cNvSpPr>
            <a:spLocks noChangeArrowheads="1"/>
          </p:cNvSpPr>
          <p:nvPr/>
        </p:nvSpPr>
        <p:spPr bwMode="auto">
          <a:xfrm rot="-10256010">
            <a:off x="36671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59" name="AutoShape 64">
            <a:extLst>
              <a:ext uri="{FF2B5EF4-FFF2-40B4-BE49-F238E27FC236}">
                <a16:creationId xmlns:a16="http://schemas.microsoft.com/office/drawing/2014/main" id="{20DDA072-32B5-79DD-B231-13E99365A033}"/>
              </a:ext>
            </a:extLst>
          </p:cNvPr>
          <p:cNvSpPr>
            <a:spLocks noChangeArrowheads="1"/>
          </p:cNvSpPr>
          <p:nvPr/>
        </p:nvSpPr>
        <p:spPr bwMode="auto">
          <a:xfrm rot="-10256010">
            <a:off x="5800725" y="2819400"/>
            <a:ext cx="304800" cy="990600"/>
          </a:xfrm>
          <a:prstGeom prst="curvedLeftArrow">
            <a:avLst>
              <a:gd name="adj1" fmla="val 65000"/>
              <a:gd name="adj2" fmla="val 13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C655393F-2297-A39F-68B1-C21BCAE0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57E9B28-AD02-324A-A13C-749A7AD58D7A}" type="slidenum">
              <a:rPr lang="en-US" altLang="en-US" sz="1400"/>
              <a:pPr eaLnBrk="1" hangingPunct="1"/>
              <a:t>19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534F105-191D-A1C9-2323-5623C5AEF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Medical Data Mining 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2800914-4D8A-8795-294E-E8FE9F9C8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/>
              <a:t>Health care &amp; medical data mining – often adopted such a view in statistics and machine learning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/>
              <a:t>Preprocessing of the data (including feature extraction and dimension reduction)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/>
              <a:t>Classification or/and clustering processes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/>
              <a:t>Post-processing for presentation</a:t>
            </a: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B2BD9F08-3780-5FAB-A03B-F6AD63F8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A1085C9-625F-374D-912B-36AEAAE309B6}" type="slidenum">
              <a:rPr lang="en-US" altLang="en-US" sz="1400"/>
              <a:pPr eaLnBrk="1" hangingPunct="1"/>
              <a:t>20</a:t>
            </a:fld>
            <a:endParaRPr lang="en-US" altLang="en-US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AD4F3D5-A39C-A38B-A07E-22FDA47C8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173C8E7-568F-90F2-49E6-3B972FD60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16389" name="AutoShape 4">
            <a:extLst>
              <a:ext uri="{FF2B5EF4-FFF2-40B4-BE49-F238E27FC236}">
                <a16:creationId xmlns:a16="http://schemas.microsoft.com/office/drawing/2014/main" id="{91DA21E2-10DD-F2DE-23F2-7595C2C12532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5753100" y="2287588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4114268D-6326-C4A0-17CA-67B896604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083F1A0-B8B6-2147-A228-77DA6E16F3B2}" type="slidenum">
              <a:rPr lang="en-US" altLang="en-US" sz="1400"/>
              <a:pPr eaLnBrk="1" hangingPunct="1"/>
              <a:t>21</a:t>
            </a:fld>
            <a:endParaRPr lang="en-US" altLang="en-US" sz="14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74EC4B9-4270-6324-0A43-175B2F39A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4582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Multi-Dimensional View of Data Mining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DC076EE-9F47-A188-5819-6908EF791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86800" cy="5486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00000"/>
              </a:lnSpc>
            </a:pPr>
            <a:r>
              <a:rPr lang="en-US" altLang="en-US" sz="2000" b="1" u="sng"/>
              <a:t>Data to be mined</a:t>
            </a:r>
            <a:endParaRPr lang="en-US" altLang="en-US" sz="2000"/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Database data (extended-relational, object-oriented, heterogeneous, legacy), data warehouse, transactional data, stream, spatiotemporal, time-series, sequence, text and web, multi-media, graphs &amp; social and information networks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000" b="1" u="sng"/>
              <a:t>Knowledge to be mined (or: Data mining functions)</a:t>
            </a:r>
            <a:endParaRPr lang="en-US" altLang="en-US" sz="2000"/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Characterization, discrimination, association, classification, clustering, trend/deviation, outlier analysis, etc.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Descriptive vs. predictive data mining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Multiple/integrated functions and mining at multiple levels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000" b="1" u="sng"/>
              <a:t>Techniques utilized</a:t>
            </a:r>
            <a:endParaRPr lang="en-US" altLang="en-US" sz="2000" b="1"/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Data-intensive, data warehouse (OLAP), machine learning, statistics, pattern recognition, visualization, high-performance, etc.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000" b="1" u="sng"/>
              <a:t>Applications adapted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Retail, telecommunication, banking, fraud analysis, bio-data mining, stock market analysis, text mining, Web mining, etc.</a:t>
            </a:r>
          </a:p>
        </p:txBody>
      </p:sp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75B5BD89-4C45-C902-6755-0F9BA707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15A3235-CE28-3745-B373-0413CD6DD70A}" type="slidenum">
              <a:rPr lang="en-US" altLang="en-US" sz="1400"/>
              <a:pPr eaLnBrk="1" hangingPunct="1"/>
              <a:t>22</a:t>
            </a:fld>
            <a:endParaRPr lang="en-US" altLang="en-US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08102193-4605-435E-4269-99BBCD6290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E4ABB7D-A135-C141-6364-8DF4297005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18437" name="AutoShape 4">
            <a:extLst>
              <a:ext uri="{FF2B5EF4-FFF2-40B4-BE49-F238E27FC236}">
                <a16:creationId xmlns:a16="http://schemas.microsoft.com/office/drawing/2014/main" id="{CE2D7BAB-F6F3-C3D2-D8A8-87F6CF405A77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4914900" y="28702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F2B17870-C7AF-E32B-3E9C-5612BC07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0CA3659-74F3-5640-8D6D-F0C4E4662EBD}" type="slidenum">
              <a:rPr lang="en-US" altLang="en-US" sz="1400"/>
              <a:pPr eaLnBrk="1" hangingPunct="1"/>
              <a:t>23</a:t>
            </a:fld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C339A2F-74BA-ECE0-E1C8-C16971F66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Data Mining: On What Kinds of Data?</a:t>
            </a:r>
            <a:endParaRPr lang="en-US" altLang="en-US" sz="3200" b="0" u="sng"/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B3AC988-FB24-CFA8-32BA-A4AE808BBF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6106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en-US" sz="1800"/>
              <a:t>Database-oriented data sets and applications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Relational database, data warehouse, transactional database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800"/>
              <a:t>Advanced data sets and advanced applications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Data streams and sensor data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Time-series data, temporal data, sequence data (incl. bio-sequences)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Structure data, graphs, social networks and multi-linked data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Object-relational databases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Heterogeneous databases and legacy databases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Spatial data and spatiotemporal data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Multimedia database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Text databases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en-US" sz="1800"/>
              <a:t>The World-Wide Web</a:t>
            </a:r>
          </a:p>
        </p:txBody>
      </p:sp>
    </p:spTree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B45E4F9B-F62A-D4A9-0744-488450FB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74E6815-4271-024E-9919-CA120DBC4294}" type="slidenum">
              <a:rPr lang="en-US" altLang="en-US" sz="1400"/>
              <a:pPr eaLnBrk="1" hangingPunct="1"/>
              <a:t>24</a:t>
            </a:fld>
            <a:endParaRPr lang="en-US" altLang="en-US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6004F0E-1BA2-9B8B-8592-797110094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D3A86FB-2008-C978-7C75-477790516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20485" name="AutoShape 4">
            <a:extLst>
              <a:ext uri="{FF2B5EF4-FFF2-40B4-BE49-F238E27FC236}">
                <a16:creationId xmlns:a16="http://schemas.microsoft.com/office/drawing/2014/main" id="{B6FDB992-3193-5673-C08C-8839CD566732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5372100" y="33274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C42CD0AF-50DF-4872-9D08-405D3072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9B8390B-F5E3-FF49-8800-59AB1F13A702}" type="slidenum">
              <a:rPr lang="en-US" altLang="en-US" sz="1400"/>
              <a:pPr eaLnBrk="1" hangingPunct="1"/>
              <a:t>25</a:t>
            </a:fld>
            <a:endParaRPr lang="en-US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776AC007-70BA-E2C5-F469-45C72CEDD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1975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Data Mining Function: (1) Generalization</a:t>
            </a:r>
            <a:endParaRPr lang="en-US" altLang="en-US" sz="2800" b="0"/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FAD8868-F852-ECE0-4BB9-0D33041824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58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Information integration and data warehouse construction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Data cleaning, transformation, integration, and multidimensional data model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Data cube technology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Scalable methods for computing (i.e., materializing) multidimensional aggregates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OLAP (online analytical processing)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Multidimensional concept description: Characterization and discrimination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Generalize, summarize, and contrast data characteristics, e.g., dry vs. wet region</a:t>
            </a:r>
          </a:p>
        </p:txBody>
      </p:sp>
    </p:spTree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52218F98-881B-0A3E-3AA0-773B394F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A469B39-F842-D147-A3A1-B4BDB9B496F2}" type="slidenum">
              <a:rPr lang="en-US" altLang="en-US" sz="1400"/>
              <a:pPr eaLnBrk="1" hangingPunct="1"/>
              <a:t>26</a:t>
            </a:fld>
            <a:endParaRPr lang="en-US" altLang="en-US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43C8C97-C2C0-0529-0D76-DBC883CF2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Data Mining Function: (2) Association and Correlation Analysis</a:t>
            </a:r>
            <a:endParaRPr lang="en-US" altLang="en-US" sz="2800" b="0"/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C4B5F3DD-80E1-1D8F-E14A-41C104BA2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58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Frequent patterns (or frequent itemsets)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What items are frequently purchased together in your Walmart?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Association, correlation vs. causality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A typical association rule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/>
              <a:t>Diaper </a:t>
            </a:r>
            <a:r>
              <a:rPr lang="en-US" altLang="en-US">
                <a:sym typeface="Wingdings" pitchFamily="2" charset="2"/>
              </a:rPr>
              <a:t></a:t>
            </a:r>
            <a:r>
              <a:rPr lang="en-US" altLang="en-US"/>
              <a:t> Beer [0.5%, 75%]  (support, confidence)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/>
              <a:t>Are strongly associated items also strongly correlated?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How to mine such patterns and rules efficiently in large datasets?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How to use such patterns for classification, clustering, and other applications?</a:t>
            </a:r>
          </a:p>
        </p:txBody>
      </p:sp>
    </p:spTree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F8C25FA1-9D38-9ED3-DA83-96D7F7425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6F04A75-F1BB-324B-A05B-88D4ED9D2ED7}" type="slidenum">
              <a:rPr lang="en-US" altLang="en-US" sz="1400"/>
              <a:pPr eaLnBrk="1" hangingPunct="1"/>
              <a:t>27</a:t>
            </a:fld>
            <a:endParaRPr lang="en-US" altLang="en-US" sz="14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2474443-A7F1-E46E-AC67-B8A4524BA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7630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Data Mining Function: (3) Classification</a:t>
            </a:r>
            <a:endParaRPr lang="en-US" altLang="en-US" sz="2800" b="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68D905C-BEAD-64FF-12D3-F82E1090DC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Classification and label prediction 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Construct models (functions) based on some training examples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Describe and distinguish classes or concepts for future prediction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000"/>
              <a:t>E.g., classify countries based on (climate), or classify cars based on (gas mileage)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Predict some unknown class labels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Typical methods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Decision trees, naïve Bayesian classification, support vector machines, neural networks, rule-based classification, pattern-based classification, logistic regression, …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000"/>
              <a:t>Typical applications: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Credit card fraud detection, direct marketing, classifying stars, diseases,  web-pages, …</a:t>
            </a:r>
          </a:p>
        </p:txBody>
      </p:sp>
    </p:spTree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697B377F-FB5A-33A2-C09F-99B75E16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D1B0FB5-0351-904D-A9EC-4608C6A76381}" type="slidenum">
              <a:rPr lang="en-US" altLang="en-US" sz="1400"/>
              <a:pPr eaLnBrk="1" hangingPunct="1"/>
              <a:t>28</a:t>
            </a:fld>
            <a:endParaRPr lang="en-US" altLang="en-US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A1E6672-C146-8C06-61F1-A8A6AA7EF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91600" cy="635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Data Mining Function: (4) Cluster Analysis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0814F5F-52A0-ADBA-48A0-CC922A9E2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Unsupervised learning (i.e., Class label is unknown)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Group data to form new categories (i.e., clusters), e.g., cluster houses to find distribution patterns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Principle: Maximizing intra-class similarity &amp; minimizing interclass similarity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Many methods and applications</a:t>
            </a:r>
          </a:p>
        </p:txBody>
      </p:sp>
    </p:spTree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49495087-CA3F-1E73-0017-951C4174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8E3CBB2-2F69-E448-A7C7-1ACB6108660D}" type="slidenum">
              <a:rPr lang="en-US" altLang="en-US" sz="1400"/>
              <a:pPr eaLnBrk="1" hangingPunct="1"/>
              <a:t>29</a:t>
            </a:fld>
            <a:endParaRPr lang="en-US" altLang="en-US" sz="14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566E1DF-5386-8B38-1EC5-A212140690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91600" cy="635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Data Mining Function: (5) Outlier Analysis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EDDED0BE-0E51-E309-9B54-C16F016E8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2000"/>
              <a:t>Outlier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Outlier: A data object that does not comply with the general behavior of the data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Noise or exception? </a:t>
            </a:r>
            <a:r>
              <a:rPr lang="en-US" altLang="en-US" sz="2000">
                <a:cs typeface="Tahoma" panose="020B0604030504040204" pitchFamily="34" charset="0"/>
              </a:rPr>
              <a:t>― One person’s garbage could be another person’s treasure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Methods: by product of clustering or regression analysis, …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000"/>
              <a:t>Useful in fraud detection, rare events analysis</a:t>
            </a: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FB34CFED-A8E4-D0C2-B99A-B195470A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D56B492-E4D3-FD41-B57F-ACA560EDB60F}" type="slidenum">
              <a:rPr lang="en-US" altLang="en-US" sz="1400"/>
              <a:pPr eaLnBrk="1" hangingPunct="1"/>
              <a:t>30</a:t>
            </a:fld>
            <a:endParaRPr lang="en-US" altLang="en-US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FAF5698-C3CE-743B-7141-711675BA6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916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Time and Ordering: Sequential Pattern, Trend and Evolution Analysis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4DCC131-6F6E-289F-934A-17DBCEF87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49530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00000"/>
              </a:lnSpc>
            </a:pPr>
            <a:r>
              <a:rPr lang="en-US" altLang="en-US" sz="2400"/>
              <a:t>Sequence, trend and evolution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/>
              <a:t>Trend, time-series, and deviation analysis: e.g., regression and value prediction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/>
              <a:t>Sequential pattern mining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/>
              <a:t>e.g., first buy digital camera, then buy </a:t>
            </a:r>
            <a:r>
              <a:rPr lang="en-US" altLang="en-US">
                <a:sym typeface="Wingdings" pitchFamily="2" charset="2"/>
              </a:rPr>
              <a:t>large SD memory cards</a:t>
            </a:r>
            <a:endParaRPr lang="en-US" altLang="en-US"/>
          </a:p>
          <a:p>
            <a:pPr lvl="1" eaLnBrk="1" hangingPunct="1">
              <a:lnSpc>
                <a:spcPct val="100000"/>
              </a:lnSpc>
            </a:pPr>
            <a:r>
              <a:rPr lang="en-US" altLang="en-US"/>
              <a:t>Periodicity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/>
              <a:t>Motifs and biological sequence analysis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/>
              <a:t>Approximate and consecutive motifs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/>
              <a:t>Similarity-based analysis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/>
              <a:t>Mining data streams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/>
              <a:t>Ordered, time-varying, potentially infinite, data streams</a:t>
            </a:r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E0905CDF-2630-880F-5CD8-507ED84C0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1194F63-A350-BB4C-B10C-5107D2A9703B}" type="slidenum">
              <a:rPr lang="en-US" altLang="en-US" sz="1400"/>
              <a:pPr eaLnBrk="1" hangingPunct="1"/>
              <a:t>31</a:t>
            </a:fld>
            <a:endParaRPr lang="en-US" altLang="en-US" sz="14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97863B7-5339-FDCC-2AF4-B2C94C512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916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Structure and Network Analysis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5FCCA8D6-B2CD-1338-2894-6BF7B615EF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00000"/>
              </a:lnSpc>
            </a:pPr>
            <a:r>
              <a:rPr lang="en-US" altLang="en-US" sz="2000"/>
              <a:t>Graph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Finding frequent subgraphs (e.g., chemical compounds), trees (XML), substructures (web fragments)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000"/>
              <a:t>Information network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Social networks: actors (objects, nodes) and relationships (edges)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000"/>
              <a:t>e.g., author networks in CS, terrorist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Multiple heterogeneous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000"/>
              <a:t>A person could be multiple information networks: friends, family, classmates, …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Links carry a lot of semantic information: Link mining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000"/>
              <a:t>Web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Web is a big information network: from PageRank to Google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Analysis of Web information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000"/>
              <a:t>Web community discovery, opinion mining, usage mining, …</a:t>
            </a: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357E2CA0-C4E0-AFA4-A3F3-8D9162A3E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D1604EE-F727-784B-B5C2-89049AB9EA8B}" type="slidenum">
              <a:rPr lang="en-US" altLang="en-US" sz="1400"/>
              <a:pPr eaLnBrk="1" hangingPunct="1"/>
              <a:t>32</a:t>
            </a:fld>
            <a:endParaRPr lang="en-US" altLang="en-US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B063496B-E6F1-E1D4-BA3B-9B949B059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Evaluation of Knowledge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D9428B5-1C6D-B211-81D7-E61A113557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5257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Are all mined knowledge interesting?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One can mine tremendous amount of “patterns” and knowledge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Some may fit only certain dimension space (time, location, …)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Some may not be representative, may be transient, …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Evaluation of mined knowledge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→ directly mine only interesting knowledge?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Descriptive vs. predictive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Coverage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Typicality vs. novelty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Accuracy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Timeliness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…</a:t>
            </a:r>
          </a:p>
        </p:txBody>
      </p:sp>
    </p:spTree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F9A29C20-A4DC-A60C-A516-A244AD3D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5687267-7824-4E46-AA2A-3A4D03265360}" type="slidenum">
              <a:rPr lang="en-US" altLang="en-US" sz="1400"/>
              <a:pPr eaLnBrk="1" hangingPunct="1"/>
              <a:t>33</a:t>
            </a:fld>
            <a:endParaRPr lang="en-US" altLang="en-US" sz="14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66E3881-5AAD-4B27-4902-7AE61AAAB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472DEFC-D9BE-48BF-5A06-E7D98FB95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29701" name="AutoShape 4">
            <a:extLst>
              <a:ext uri="{FF2B5EF4-FFF2-40B4-BE49-F238E27FC236}">
                <a16:creationId xmlns:a16="http://schemas.microsoft.com/office/drawing/2014/main" id="{A707F75B-9900-9B57-4619-404D12CD8DB7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4305300" y="39370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47836AD3-FDD8-3771-1F75-8F28943C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C5B7E4B-320A-C248-96B8-EB9A53966A1F}" type="slidenum">
              <a:rPr lang="en-US" altLang="en-US" sz="1400"/>
              <a:pPr eaLnBrk="1" hangingPunct="1"/>
              <a:t>34</a:t>
            </a:fld>
            <a:endParaRPr lang="en-US" altLang="en-US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AEEDEA1-5F38-26FA-D8F1-9E2A8F4B94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6106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Data Mining: Confluence of Multiple Disciplines</a:t>
            </a:r>
            <a:r>
              <a:rPr lang="en-US" altLang="en-US" sz="3200" b="0"/>
              <a:t> </a:t>
            </a:r>
          </a:p>
        </p:txBody>
      </p:sp>
      <p:sp>
        <p:nvSpPr>
          <p:cNvPr id="30724" name="Oval 19">
            <a:extLst>
              <a:ext uri="{FF2B5EF4-FFF2-40B4-BE49-F238E27FC236}">
                <a16:creationId xmlns:a16="http://schemas.microsoft.com/office/drawing/2014/main" id="{B44D5C05-4677-4E3C-834F-E80E71A86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200400"/>
            <a:ext cx="2286000" cy="10668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b="1"/>
              <a:t>Data Mining</a:t>
            </a:r>
          </a:p>
        </p:txBody>
      </p:sp>
      <p:sp>
        <p:nvSpPr>
          <p:cNvPr id="30725" name="Line 13">
            <a:extLst>
              <a:ext uri="{FF2B5EF4-FFF2-40B4-BE49-F238E27FC236}">
                <a16:creationId xmlns:a16="http://schemas.microsoft.com/office/drawing/2014/main" id="{9D26385C-A7BA-04A1-F373-9F09FD545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3657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26" name="Line 14">
            <a:extLst>
              <a:ext uri="{FF2B5EF4-FFF2-40B4-BE49-F238E27FC236}">
                <a16:creationId xmlns:a16="http://schemas.microsoft.com/office/drawing/2014/main" id="{0E776D14-6D7F-B0AD-3F8D-0091A773FF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438400"/>
            <a:ext cx="19050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27" name="Line 15">
            <a:extLst>
              <a:ext uri="{FF2B5EF4-FFF2-40B4-BE49-F238E27FC236}">
                <a16:creationId xmlns:a16="http://schemas.microsoft.com/office/drawing/2014/main" id="{A4A3A850-519B-3488-7A49-E17F27F995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362200"/>
            <a:ext cx="1905000" cy="838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28" name="Line 16">
            <a:extLst>
              <a:ext uri="{FF2B5EF4-FFF2-40B4-BE49-F238E27FC236}">
                <a16:creationId xmlns:a16="http://schemas.microsoft.com/office/drawing/2014/main" id="{8C1B45E3-9C24-0645-2386-ACEF37F152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3657600"/>
            <a:ext cx="1066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29" name="Line 17">
            <a:extLst>
              <a:ext uri="{FF2B5EF4-FFF2-40B4-BE49-F238E27FC236}">
                <a16:creationId xmlns:a16="http://schemas.microsoft.com/office/drawing/2014/main" id="{B8E3373E-F6F6-FBDF-DFC6-98FC83E57FA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29200" y="4191000"/>
            <a:ext cx="19812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30" name="Line 18">
            <a:extLst>
              <a:ext uri="{FF2B5EF4-FFF2-40B4-BE49-F238E27FC236}">
                <a16:creationId xmlns:a16="http://schemas.microsoft.com/office/drawing/2014/main" id="{1C21FA2B-4212-452F-51E9-4B95F03534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4191000"/>
            <a:ext cx="16002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31" name="Oval 21">
            <a:extLst>
              <a:ext uri="{FF2B5EF4-FFF2-40B4-BE49-F238E27FC236}">
                <a16:creationId xmlns:a16="http://schemas.microsoft.com/office/drawing/2014/main" id="{7D773E27-2B96-FF3A-E929-7D8F44D22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6002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Machine</a:t>
            </a:r>
          </a:p>
          <a:p>
            <a:pPr algn="ctr" eaLnBrk="1" hangingPunct="1"/>
            <a:r>
              <a:rPr lang="en-US" altLang="en-US" sz="2400"/>
              <a:t>Learning</a:t>
            </a:r>
          </a:p>
        </p:txBody>
      </p:sp>
      <p:sp>
        <p:nvSpPr>
          <p:cNvPr id="30732" name="Oval 22">
            <a:extLst>
              <a:ext uri="{FF2B5EF4-FFF2-40B4-BE49-F238E27FC236}">
                <a16:creationId xmlns:a16="http://schemas.microsoft.com/office/drawing/2014/main" id="{0B9CCBA2-9010-657B-A3EF-E3F02D36D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600200"/>
            <a:ext cx="20574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Statistics</a:t>
            </a:r>
          </a:p>
        </p:txBody>
      </p:sp>
      <p:sp>
        <p:nvSpPr>
          <p:cNvPr id="30733" name="Oval 23">
            <a:extLst>
              <a:ext uri="{FF2B5EF4-FFF2-40B4-BE49-F238E27FC236}">
                <a16:creationId xmlns:a16="http://schemas.microsoft.com/office/drawing/2014/main" id="{2AD2264F-D6E6-E27A-14A5-17564415D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766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Applications</a:t>
            </a:r>
          </a:p>
        </p:txBody>
      </p:sp>
      <p:sp>
        <p:nvSpPr>
          <p:cNvPr id="30734" name="Oval 24">
            <a:extLst>
              <a:ext uri="{FF2B5EF4-FFF2-40B4-BE49-F238E27FC236}">
                <a16:creationId xmlns:a16="http://schemas.microsoft.com/office/drawing/2014/main" id="{C78D4EEC-91D4-4CFE-875E-E53D7DF47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7244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Algorithm</a:t>
            </a:r>
          </a:p>
        </p:txBody>
      </p:sp>
      <p:sp>
        <p:nvSpPr>
          <p:cNvPr id="30735" name="Oval 25">
            <a:extLst>
              <a:ext uri="{FF2B5EF4-FFF2-40B4-BE49-F238E27FC236}">
                <a16:creationId xmlns:a16="http://schemas.microsoft.com/office/drawing/2014/main" id="{35086FB5-4011-DD7B-76BB-005D8A99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16002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Pattern</a:t>
            </a:r>
          </a:p>
          <a:p>
            <a:pPr algn="ctr" eaLnBrk="1" hangingPunct="1"/>
            <a:r>
              <a:rPr lang="en-US" altLang="en-US" sz="2400"/>
              <a:t>Recognition</a:t>
            </a:r>
          </a:p>
        </p:txBody>
      </p:sp>
      <p:sp>
        <p:nvSpPr>
          <p:cNvPr id="30736" name="Oval 26">
            <a:extLst>
              <a:ext uri="{FF2B5EF4-FFF2-40B4-BE49-F238E27FC236}">
                <a16:creationId xmlns:a16="http://schemas.microsoft.com/office/drawing/2014/main" id="{BED140EF-5EBF-8A2D-731F-673D421D3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8768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High-Performance</a:t>
            </a:r>
          </a:p>
          <a:p>
            <a:pPr algn="ctr" eaLnBrk="1" hangingPunct="1"/>
            <a:r>
              <a:rPr lang="en-US" altLang="en-US" sz="1800"/>
              <a:t>Computing</a:t>
            </a:r>
          </a:p>
        </p:txBody>
      </p:sp>
      <p:sp>
        <p:nvSpPr>
          <p:cNvPr id="30737" name="Oval 27">
            <a:extLst>
              <a:ext uri="{FF2B5EF4-FFF2-40B4-BE49-F238E27FC236}">
                <a16:creationId xmlns:a16="http://schemas.microsoft.com/office/drawing/2014/main" id="{EDB17994-6587-5F73-983D-8A4C634CB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04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2400"/>
              <a:t>Visualization</a:t>
            </a:r>
            <a:endParaRPr lang="en-US" altLang="en-US" sz="2000"/>
          </a:p>
        </p:txBody>
      </p:sp>
      <p:sp>
        <p:nvSpPr>
          <p:cNvPr id="30738" name="Line 28">
            <a:extLst>
              <a:ext uri="{FF2B5EF4-FFF2-40B4-BE49-F238E27FC236}">
                <a16:creationId xmlns:a16="http://schemas.microsoft.com/office/drawing/2014/main" id="{AAC1543B-E11E-7FC2-3873-11EA0EC2C9A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95800" y="426720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739" name="Oval 30">
            <a:extLst>
              <a:ext uri="{FF2B5EF4-FFF2-40B4-BE49-F238E27FC236}">
                <a16:creationId xmlns:a16="http://schemas.microsoft.com/office/drawing/2014/main" id="{9083AED7-C615-2F15-550D-F8B9EDC37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800600"/>
            <a:ext cx="2057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en-US" altLang="en-US" sz="2400"/>
              <a:t>Database </a:t>
            </a:r>
          </a:p>
          <a:p>
            <a:pPr algn="ctr" eaLnBrk="1" hangingPunct="1"/>
            <a:r>
              <a:rPr lang="en-US" altLang="en-US" sz="2400"/>
              <a:t>Technology</a:t>
            </a:r>
          </a:p>
        </p:txBody>
      </p:sp>
      <p:sp>
        <p:nvSpPr>
          <p:cNvPr id="30740" name="Line 31">
            <a:extLst>
              <a:ext uri="{FF2B5EF4-FFF2-40B4-BE49-F238E27FC236}">
                <a16:creationId xmlns:a16="http://schemas.microsoft.com/office/drawing/2014/main" id="{40DC6A4E-A7B6-A83C-ABF2-7DEE065E83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4384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6E6A24A1-7D37-C5E2-DDDB-6347E1E55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8CBE314-B9C0-7344-A337-27C3A54493F8}" type="slidenum">
              <a:rPr lang="en-US" altLang="en-US" sz="1400"/>
              <a:pPr eaLnBrk="1" hangingPunct="1"/>
              <a:t>35</a:t>
            </a:fld>
            <a:endParaRPr lang="en-US" altLang="en-US" sz="14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8534B52-E454-F9EC-6493-4E4A71361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Why Confluence of Multiple Disciplines?</a:t>
            </a:r>
            <a:endParaRPr lang="en-US" altLang="en-US" sz="3200" b="0" u="sng"/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294432E-BD26-E179-6CE3-B45880FE4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6106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00000"/>
              </a:lnSpc>
            </a:pPr>
            <a:r>
              <a:rPr lang="en-US" altLang="en-US" sz="2400"/>
              <a:t>Tremendous amount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Algorithms must be highly scalable to handle such as tera-bytes of data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/>
              <a:t>High-dimensionality of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Micro-array may have tens of thousands of dimensions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/>
              <a:t>High complexity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Data streams and sensor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Time-series data, temporal data, sequence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Structure data, graphs, social networks and multi-linked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Heterogeneous databases and legacy databases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Spatial, spatiotemporal, multimedia, text and Web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/>
              <a:t>Software programs, scientific simulations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/>
              <a:t>New and sophisticated applications</a:t>
            </a: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4E33AA1F-4DD6-CD64-75AF-E8D87DC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478EC77-C028-7348-B7C7-560666B6ACE4}" type="slidenum">
              <a:rPr lang="en-US" altLang="en-US" sz="1400"/>
              <a:pPr eaLnBrk="1" hangingPunct="1"/>
              <a:t>36</a:t>
            </a:fld>
            <a:endParaRPr lang="en-US" altLang="en-US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F7061E9-D4FA-8065-175A-C9457D1AF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800FFDE-B13F-0CBB-45CE-515451907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32773" name="AutoShape 4">
            <a:extLst>
              <a:ext uri="{FF2B5EF4-FFF2-40B4-BE49-F238E27FC236}">
                <a16:creationId xmlns:a16="http://schemas.microsoft.com/office/drawing/2014/main" id="{674363C9-F804-E2FD-2E27-E331D6FBA243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5600700" y="43942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7C735028-F977-3DF8-F469-921EA4A3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E74854C-35FD-DF44-AF5F-693B1582D8D9}" type="slidenum">
              <a:rPr lang="en-US" altLang="en-US" sz="1400"/>
              <a:pPr eaLnBrk="1" hangingPunct="1"/>
              <a:t>37</a:t>
            </a:fld>
            <a:endParaRPr lang="en-US" altLang="en-US" sz="14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FA98B452-F12B-D88B-9975-7E2074806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Applications of Data Mining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5DBCBA9-3EA3-DA96-1939-1B6AC29F8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Web page analysis: from web page classification, clustering to PageRank &amp; HITS algorithms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Collaborative analysis &amp; recommender systems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Basket data analysis to targeted marketing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Biological and medical data analysis: classification, cluster analysis (microarray data analysis),  biological sequence analysis, biological network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Data mining and software engineering (e.g., IEEE Computer, Aug. 2009 issue)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From major dedicated data mining systems/tools (e.g., SAS, MS SQL-Server Analysis Manager, Oracle Data Mining Tools) to invisible data mining</a:t>
            </a: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BD1A036A-1C20-1B19-5C7A-3D6E6985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6F0262A-F0B3-0947-8D66-730B4B8EB024}" type="slidenum">
              <a:rPr lang="en-US" altLang="en-US" sz="1400"/>
              <a:pPr eaLnBrk="1" hangingPunct="1"/>
              <a:t>38</a:t>
            </a:fld>
            <a:endParaRPr lang="en-US" altLang="en-US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E81F942-12DE-82F0-4BE2-819194D30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1238541-00E6-42E8-5A10-E347B5A66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34821" name="AutoShape 4">
            <a:extLst>
              <a:ext uri="{FF2B5EF4-FFF2-40B4-BE49-F238E27FC236}">
                <a16:creationId xmlns:a16="http://schemas.microsoft.com/office/drawing/2014/main" id="{A5C4238D-01A2-669F-AEB7-8ED07058C145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4305300" y="49276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94FC21B6-980A-B920-CE0F-FAEED37C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C2DC22F-D4EB-0847-B531-6E6347198BAF}" type="slidenum">
              <a:rPr lang="en-US" altLang="en-US" sz="1400"/>
              <a:pPr eaLnBrk="1" hangingPunct="1"/>
              <a:t>39</a:t>
            </a:fld>
            <a:endParaRPr lang="en-US" altLang="en-US" sz="14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135239A-3EEB-2769-0E17-53755EA1F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239000" cy="58578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Major Issues in Data Mining (1)</a:t>
            </a:r>
            <a:endParaRPr lang="en-US" altLang="en-US" sz="3200" b="0" u="sng"/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EBAB1AA-9303-2590-CD66-BADE89387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Mining Methodology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Mining various and new kinds of knowledge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Mining knowledge in multi-dimensional space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Data mining: An interdisciplinary effort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Boosting the power of discovery in a networked environment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Handling noise, uncertainty, and incompleteness of data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Pattern evaluation and pattern- or constraint-guided mining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User Interaction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Interactive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Incorporation of background knowledge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Presentation and visualization of data mining results</a:t>
            </a:r>
          </a:p>
        </p:txBody>
      </p:sp>
    </p:spTree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44C33985-20D6-6FBB-5D30-78446F99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035C172-5399-4447-B2B2-4BE9E8EBA8F4}" type="slidenum">
              <a:rPr lang="en-US" altLang="en-US" sz="1400"/>
              <a:pPr eaLnBrk="1" hangingPunct="1"/>
              <a:t>40</a:t>
            </a:fld>
            <a:endParaRPr lang="en-US" altLang="en-US" sz="14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FAB3A44D-8207-A66E-9692-E523A1405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239000" cy="58578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Major Issues in Data Mining (2)</a:t>
            </a:r>
            <a:endParaRPr lang="en-US" altLang="en-US" sz="3200" b="0" u="sng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6400DB2-0C56-DEC3-164A-5AB490D79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5720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Efficiency and Scalability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Efficiency and scalability of data mining algorithms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Parallel, distributed, stream, and incremental mining methods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Diversity of data types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Handling complex types of data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Mining dynamic, networked, and global data repositories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Data mining and society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Social impacts of data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Privacy-preserving data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/>
              <a:t>Invisible data mining</a:t>
            </a:r>
          </a:p>
        </p:txBody>
      </p:sp>
    </p:spTree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AFCBA5CA-0975-9CB5-CF58-9E2318F0A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180A49B-A2B3-004B-91C5-B326BAE7A2E9}" type="slidenum">
              <a:rPr lang="en-US" altLang="en-US" sz="1400"/>
              <a:pPr eaLnBrk="1" hangingPunct="1"/>
              <a:t>41</a:t>
            </a:fld>
            <a:endParaRPr lang="en-US" altLang="en-US" sz="14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0C276A9-3A47-3463-67D4-DAAD3154A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7C11AE0-590F-B370-E424-B25CB41A9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37893" name="AutoShape 4">
            <a:extLst>
              <a:ext uri="{FF2B5EF4-FFF2-40B4-BE49-F238E27FC236}">
                <a16:creationId xmlns:a16="http://schemas.microsoft.com/office/drawing/2014/main" id="{F4559213-4318-BA63-D8DC-A32253FCE016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7277100" y="54610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6653B514-EAF9-FC76-199C-7281C5C5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1357C9D-F515-7E45-968A-33CD6755E83C}" type="slidenum">
              <a:rPr lang="en-US" altLang="en-US" sz="1400"/>
              <a:pPr eaLnBrk="1" hangingPunct="1"/>
              <a:t>42</a:t>
            </a:fld>
            <a:endParaRPr lang="en-US" altLang="en-US" sz="14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FAEB8D79-E044-9A75-451D-2C9C32FCE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3152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A Brief History of Data Mining Society</a:t>
            </a:r>
            <a:endParaRPr lang="en-US" altLang="en-US" sz="2800" b="0"/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2332563-9E15-619C-4AD3-906EE4C28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582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1800"/>
              <a:t>1989 IJCAI Workshop on Knowledge Discovery in Databases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800"/>
              <a:t>Knowledge Discovery in Databases (G. Piatetsky-Shapiro and W. Frawley, 1991)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1991-1994 Workshops on Knowledge Discovery in Databases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800"/>
              <a:t>Advances in Knowledge Discovery and Data Mining (U. Fayyad, G. Piatetsky-Shapiro, P. Smyth, and R. Uthurusamy, 1996)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1995-1998 International Conferences on Knowledge Discovery in Databases and Data Mining (KDD’95-98)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800"/>
              <a:t>Journal of Data Mining and Knowledge Discovery (1997)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ACM SIGKDD conferences since 1998 and SIGKDD Explorations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More conferences on data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1800"/>
              <a:t>PAKDD (1997), PKDD (1997), SIAM-Data Mining (2001), (IEEE) ICDM (2001), etc.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800"/>
              <a:t>ACM Transactions on KDD starting in 2007</a:t>
            </a:r>
          </a:p>
        </p:txBody>
      </p:sp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6CF4C2C2-2048-C78C-9316-077F0AC1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2A01BC6-9F28-614B-B0F6-E195D4991C63}" type="slidenum">
              <a:rPr lang="en-US" altLang="en-US" sz="1400"/>
              <a:pPr eaLnBrk="1" hangingPunct="1"/>
              <a:t>43</a:t>
            </a:fld>
            <a:endParaRPr lang="en-US" altLang="en-US" sz="14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6F5F7000-471B-F4EE-7013-A221261D94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Conferences and Journals on Data Mining</a:t>
            </a:r>
            <a:endParaRPr lang="en-US" altLang="en-US" sz="2800" b="0"/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883B38E2-4300-CA77-0C59-CD9A360FA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295400"/>
            <a:ext cx="44196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00000"/>
              </a:lnSpc>
            </a:pPr>
            <a:r>
              <a:rPr lang="en-US" altLang="en-US" sz="1800"/>
              <a:t>KDD Conferences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800"/>
              <a:t>ACM SIGKDD Int. Conf. on Knowledge Discovery in Databases and Data Mining (</a:t>
            </a:r>
            <a:r>
              <a:rPr lang="en-US" altLang="en-US" sz="1800">
                <a:solidFill>
                  <a:schemeClr val="hlink"/>
                </a:solidFill>
              </a:rPr>
              <a:t>KDD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800"/>
              <a:t>SIAM Data Mining Conf. (</a:t>
            </a:r>
            <a:r>
              <a:rPr lang="en-US" altLang="en-US" sz="1800">
                <a:solidFill>
                  <a:schemeClr val="hlink"/>
                </a:solidFill>
              </a:rPr>
              <a:t>SDM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800"/>
              <a:t>(IEEE) Int. Conf. on Data Mining (</a:t>
            </a:r>
            <a:r>
              <a:rPr lang="en-US" altLang="en-US" sz="1800">
                <a:solidFill>
                  <a:schemeClr val="hlink"/>
                </a:solidFill>
              </a:rPr>
              <a:t>ICDM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800"/>
              <a:t>European Conf. on Machine Learning and Principles and practices of Knowledge Discovery and Data Mining (</a:t>
            </a:r>
            <a:r>
              <a:rPr lang="en-US" altLang="en-US" sz="1800">
                <a:solidFill>
                  <a:srgbClr val="FF0000"/>
                </a:solidFill>
              </a:rPr>
              <a:t>ECML</a:t>
            </a:r>
            <a:r>
              <a:rPr lang="en-US" altLang="en-US" sz="1800"/>
              <a:t>-</a:t>
            </a:r>
            <a:r>
              <a:rPr lang="en-US" altLang="en-US" sz="1800">
                <a:solidFill>
                  <a:schemeClr val="hlink"/>
                </a:solidFill>
              </a:rPr>
              <a:t>PKDD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800"/>
              <a:t>Pacific-Asia Conf. on Knowledge Discovery and Data Mining (</a:t>
            </a:r>
            <a:r>
              <a:rPr lang="en-US" altLang="en-US" sz="1800">
                <a:solidFill>
                  <a:schemeClr val="hlink"/>
                </a:solidFill>
              </a:rPr>
              <a:t>PAKDD</a:t>
            </a:r>
            <a:r>
              <a:rPr lang="en-US" altLang="en-US" sz="1800"/>
              <a:t>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800"/>
              <a:t>Int. Conf. on Web Search and Data Mining (</a:t>
            </a:r>
            <a:r>
              <a:rPr lang="en-US" altLang="en-US" sz="1800">
                <a:solidFill>
                  <a:srgbClr val="FF0000"/>
                </a:solidFill>
              </a:rPr>
              <a:t>WSDM</a:t>
            </a:r>
            <a:r>
              <a:rPr lang="en-US" altLang="en-US" sz="1800"/>
              <a:t>)</a:t>
            </a: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2BA944A1-288C-EC19-5C32-3F2511C67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371600"/>
            <a:ext cx="4343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1800"/>
              <a:t>Other related conferences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/>
              <a:t>DB conferences: ACM SIGMOD, VLDB, ICDE, EDBT, ICDT, …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/>
              <a:t>Web and IR conferences: WWW, SIGIR, WSDM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/>
              <a:t>ML conferences: ICML, NIPS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/>
              <a:t>PR conferences: CVPR,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1800"/>
              <a:t>Journals 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/>
              <a:t>Data Mining and Knowledge Discovery (DAMI or DMKD)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/>
              <a:t>IEEE Trans. On Knowledge and Data Eng. (TKDE)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/>
              <a:t>KDD Explorations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/>
              <a:t>ACM Trans. on KDD</a:t>
            </a:r>
          </a:p>
        </p:txBody>
      </p:sp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>
            <a:extLst>
              <a:ext uri="{FF2B5EF4-FFF2-40B4-BE49-F238E27FC236}">
                <a16:creationId xmlns:a16="http://schemas.microsoft.com/office/drawing/2014/main" id="{09588F29-98F5-168E-B914-F38F5314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9692C78-E7E8-8743-90D9-21EBDAC912A9}" type="slidenum">
              <a:rPr lang="en-US" altLang="en-US" sz="1400"/>
              <a:pPr eaLnBrk="1" hangingPunct="1"/>
              <a:t>44</a:t>
            </a:fld>
            <a:endParaRPr lang="en-US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F802347-62F4-D6BF-50D9-061E45389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228600" y="152400"/>
            <a:ext cx="95250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2800"/>
              <a:t>Where to Find References? DBLP, CiteSeer, Google</a:t>
            </a:r>
            <a:endParaRPr lang="en-US" altLang="en-US" sz="2800" b="0"/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93A4F77E-D396-D613-875A-A315337FFF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2296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00000"/>
              </a:lnSpc>
            </a:pPr>
            <a:r>
              <a:rPr lang="en-US" altLang="en-US" sz="1800" u="sng"/>
              <a:t>Data mining and KDD (SIGKDD: CDROM)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Conferences: ACM-SIGKDD, IEEE-ICDM, SIAM-DM, PKDD, PAKDD, etc.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Journal: Data Mining and Knowledge Discovery, KDD Explorations, ACM TKDD</a:t>
            </a:r>
            <a:endParaRPr lang="en-US" altLang="en-US" sz="1400" u="sng"/>
          </a:p>
          <a:p>
            <a:pPr eaLnBrk="1" hangingPunct="1">
              <a:lnSpc>
                <a:spcPct val="100000"/>
              </a:lnSpc>
            </a:pPr>
            <a:r>
              <a:rPr lang="en-US" altLang="en-US" sz="1800" u="sng"/>
              <a:t>Database systems (SIGMOD: ACM SIGMOD Anthology</a:t>
            </a:r>
            <a:r>
              <a:rPr lang="en-US" altLang="en-US" sz="1600" u="sng"/>
              <a:t>—</a:t>
            </a:r>
            <a:r>
              <a:rPr lang="en-US" altLang="en-US" sz="1800" u="sng"/>
              <a:t>CD ROM)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Conferences: ACM-SIGMOD, ACM-PODS, VLDB, IEEE-ICDE, EDBT, ICDT, DASFAA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Journals: IEEE-TKDE, ACM-TODS/TOIS, JIIS, J. ACM, VLDB J., Info. Sys., etc.</a:t>
            </a:r>
            <a:endParaRPr lang="en-US" altLang="en-US" sz="1400" u="sng"/>
          </a:p>
          <a:p>
            <a:pPr eaLnBrk="1" hangingPunct="1">
              <a:lnSpc>
                <a:spcPct val="100000"/>
              </a:lnSpc>
            </a:pPr>
            <a:r>
              <a:rPr lang="en-US" altLang="en-US" sz="1800" u="sng"/>
              <a:t>AI &amp; Machine Learning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Conferences: Machine learning (ML), AAAI, IJCAI, COLT (Learning Theory), CVPR, NIPS, etc.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Journals: Machine Learning, Artificial Intelligence, Knowledge and Information Systems, IEEE-PAMI, etc.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1800" u="sng"/>
              <a:t>Web and IR</a:t>
            </a:r>
            <a:r>
              <a:rPr lang="en-US" altLang="en-US" sz="1600" b="1" u="sng"/>
              <a:t>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Conferences: SIGIR, WWW, CIKM, etc.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Journals: WWW: Internet and Web Information Systems,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1800" u="sng"/>
              <a:t>Statistics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Conferences: Joint Stat. Meeting, etc.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Journals: Annals of statistics, etc.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1800" u="sng"/>
              <a:t>Visualization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Conference proceedings: CHI, ACM-SIGGraph, etc.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1400"/>
              <a:t>Journals: IEEE Trans. visualization and computer graphics, etc.</a:t>
            </a:r>
          </a:p>
        </p:txBody>
      </p:sp>
    </p:spTree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78136328-A8A7-F33B-D59A-5CA25E9B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504515F-FE1E-7E44-8DBC-785C8DE70A53}" type="slidenum">
              <a:rPr lang="en-US" altLang="en-US" sz="1400"/>
              <a:pPr eaLnBrk="1" hangingPunct="1"/>
              <a:t>45</a:t>
            </a:fld>
            <a:endParaRPr lang="en-US" altLang="en-US" sz="14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0F6DDCB-1161-6C8A-050C-053ECE888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/>
              <a:t>Chapter 1.  Introduction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E2142B0C-F144-E408-7437-E9802DDF0D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Why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Is Data Mining?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Multi-Dimensional View of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Data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Kinds of Patterns Can Be Mined?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Technology Are Used?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What Kind of Applications Are Targeted? 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Major Issues in Data Mining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A Brief History of Data Mining and Data Mining Society</a:t>
            </a:r>
          </a:p>
          <a:p>
            <a:pPr eaLnBrk="1" hangingPunct="1">
              <a:lnSpc>
                <a:spcPct val="150000"/>
              </a:lnSpc>
              <a:tabLst>
                <a:tab pos="6178550" algn="l"/>
              </a:tabLst>
            </a:pPr>
            <a:r>
              <a:rPr lang="en-US" altLang="en-US" sz="2000"/>
              <a:t>Summary</a:t>
            </a:r>
          </a:p>
        </p:txBody>
      </p:sp>
      <p:sp>
        <p:nvSpPr>
          <p:cNvPr id="41989" name="AutoShape 4">
            <a:extLst>
              <a:ext uri="{FF2B5EF4-FFF2-40B4-BE49-F238E27FC236}">
                <a16:creationId xmlns:a16="http://schemas.microsoft.com/office/drawing/2014/main" id="{D0A38970-DAE0-7751-5A91-99518BF56B8C}"/>
              </a:ext>
            </a:extLst>
          </p:cNvPr>
          <p:cNvSpPr>
            <a:spLocks noChangeArrowheads="1"/>
          </p:cNvSpPr>
          <p:nvPr/>
        </p:nvSpPr>
        <p:spPr bwMode="auto">
          <a:xfrm rot="9724325">
            <a:off x="2171700" y="5994400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F5CE935A-0583-4D3F-6307-41B50CFA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196CFE2-7729-F54D-B364-5ECCEDBF3556}" type="slidenum">
              <a:rPr lang="en-US" altLang="en-US" sz="1400"/>
              <a:pPr eaLnBrk="1" hangingPunct="1"/>
              <a:t>46</a:t>
            </a:fld>
            <a:endParaRPr lang="en-US" altLang="en-US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002F997-FFC8-74B9-0569-55886CE641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404813"/>
            <a:ext cx="7010400" cy="528637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/>
              <a:t>Summary</a:t>
            </a:r>
            <a:endParaRPr lang="en-US" altLang="en-US" sz="2800" b="0"/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96EF095F-B012-06BB-53F3-8AE14040E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18513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/>
              <a:t>Data mining: Discovering interesting patterns and knowledge from massive amount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A natural evolution of database technology, in great demand, with wide applications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A KDD process includes data cleaning, data integration, data selection, transformation, data mining, pattern evaluation, and knowledge presentation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Mining can be performed in a variety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Data mining functionalities: characterization, discrimination, association, classification, clustering, outlier and trend analysis, etc.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Data mining technologies and applications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/>
              <a:t>Major issues in data mining</a:t>
            </a:r>
          </a:p>
        </p:txBody>
      </p:sp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630F5353-4A4C-B187-C170-59F8E419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7287E0F-21DD-324C-9433-ECAA80EA52A1}" type="slidenum">
              <a:rPr lang="en-US" altLang="en-US" sz="1400"/>
              <a:pPr eaLnBrk="1" hangingPunct="1"/>
              <a:t>47</a:t>
            </a:fld>
            <a:endParaRPr lang="en-US" altLang="en-US" sz="14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DC4AB0C-ACB1-7F95-822A-C04EACDDCA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81000"/>
            <a:ext cx="7154863" cy="554038"/>
          </a:xfrm>
        </p:spPr>
        <p:txBody>
          <a:bodyPr/>
          <a:lstStyle/>
          <a:p>
            <a:pPr eaLnBrk="1" hangingPunct="1"/>
            <a:r>
              <a:rPr lang="en-US" altLang="en-US" sz="3200"/>
              <a:t>Recommended Reference Books</a:t>
            </a:r>
            <a:endParaRPr lang="en-US" altLang="en-US"/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2BD5797-291F-4DEC-7412-6F449F3F0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2578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S. Chakrabarti. Mining the Web: Statistical Analysis of Hypertex and Semi-Structured Data. Morgan Kaufmann, 2002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R. O. Duda, P. E. Hart, and D. G. Stork, Pattern Classification, 2ed., Wiley-Interscience, 2000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T. Dasu and T. Johnson.  Exploratory Data Mining and Data Cleaning. John Wiley &amp; Sons, 2003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U. M. Fayyad, G. Piatetsky-Shapiro, P. Smyth, and R. Uthurusamy. Advances in Knowledge Discovery and Data Mining. AAAI/MIT Press, 1996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U. Fayyad, G. Grinstein, and A. Wierse, Information Visualization in Data Mining and Knowledge Discovery, Morgan Kaufmann, 2001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>
                <a:solidFill>
                  <a:schemeClr val="hlink"/>
                </a:solidFill>
              </a:rPr>
              <a:t>J. Han and M. Kamber. Data Mining: Concepts and Techniques. Morgan Kaufmann, 3</a:t>
            </a:r>
            <a:r>
              <a:rPr lang="en-US" altLang="en-US" sz="1200" b="1" baseline="30000">
                <a:solidFill>
                  <a:schemeClr val="hlink"/>
                </a:solidFill>
              </a:rPr>
              <a:t>rd</a:t>
            </a:r>
            <a:r>
              <a:rPr lang="en-US" altLang="en-US" sz="1200" b="1">
                <a:solidFill>
                  <a:schemeClr val="hlink"/>
                </a:solidFill>
              </a:rPr>
              <a:t> ed., 2011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D. J. Hand, H. Mannila, and P. Smyth, Principles of Data Mining, MIT Press, 2001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>
                <a:solidFill>
                  <a:schemeClr val="hlink"/>
                </a:solidFill>
              </a:rPr>
              <a:t>T. Hastie, R. Tibshirani, and J. Friedman, The Elements of Statistical Learning: Data Mining, Inference, and Prediction, 2</a:t>
            </a:r>
            <a:r>
              <a:rPr lang="en-US" altLang="en-US" sz="1200" b="1" baseline="30000">
                <a:solidFill>
                  <a:schemeClr val="hlink"/>
                </a:solidFill>
              </a:rPr>
              <a:t>nd</a:t>
            </a:r>
            <a:r>
              <a:rPr lang="en-US" altLang="en-US" sz="1200" b="1">
                <a:solidFill>
                  <a:schemeClr val="hlink"/>
                </a:solidFill>
              </a:rPr>
              <a:t> ed., Springer-Verlag, 2009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>
                <a:solidFill>
                  <a:schemeClr val="hlink"/>
                </a:solidFill>
              </a:rPr>
              <a:t>B. Liu, Web Data Mining, Springer 2006.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T. M. Mitchell, Machine Learning, McGraw Hill, 1997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G. Piatetsky-Shapiro and W. J. Frawley. Knowledge Discovery in Databases. AAAI/MIT Press, 1991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>
                <a:solidFill>
                  <a:schemeClr val="hlink"/>
                </a:solidFill>
              </a:rPr>
              <a:t>P.-N. Tan, M. Steinbach and V. Kumar, Introduction to Data Mining, Wiley, 2005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/>
              <a:t>S. M. Weiss and N. Indurkhya, Predictive Data Mining, Morgan Kaufmann, 1998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en-US" sz="1200" b="1">
                <a:solidFill>
                  <a:schemeClr val="hlink"/>
                </a:solidFill>
              </a:rPr>
              <a:t>I. H. Witten and E. Frank,  Data Mining: Practical Machine Learning Tools and Techniques with Java Implementations, Morgan Kaufmann, 2</a:t>
            </a:r>
            <a:r>
              <a:rPr lang="en-US" altLang="en-US" sz="1200" b="1" baseline="30000">
                <a:solidFill>
                  <a:schemeClr val="hlink"/>
                </a:solidFill>
              </a:rPr>
              <a:t>nd</a:t>
            </a:r>
            <a:r>
              <a:rPr lang="en-US" altLang="en-US" sz="1200" b="1">
                <a:solidFill>
                  <a:schemeClr val="hlink"/>
                </a:solidFill>
              </a:rPr>
              <a:t> ed. 2005</a:t>
            </a:r>
          </a:p>
        </p:txBody>
      </p:sp>
    </p:spTree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5" descr="story-3dimensional-2">
            <a:extLst>
              <a:ext uri="{FF2B5EF4-FFF2-40B4-BE49-F238E27FC236}">
                <a16:creationId xmlns:a16="http://schemas.microsoft.com/office/drawing/2014/main" id="{EE4BD35F-8EA6-4E9D-81D1-D209E1669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195388"/>
            <a:ext cx="1676400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2">
            <a:extLst>
              <a:ext uri="{FF2B5EF4-FFF2-40B4-BE49-F238E27FC236}">
                <a16:creationId xmlns:a16="http://schemas.microsoft.com/office/drawing/2014/main" id="{621814AE-9A96-4D7C-88FB-FA98442BF5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en-US" sz="4000">
                <a:ea typeface="MS Mincho" panose="02020609040205080304" pitchFamily="49" charset="-128"/>
              </a:rPr>
              <a:t>Large-scale Data is Everywhere!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9660FF-264D-43C8-8FE9-348F38A08EC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11163" y="1524000"/>
            <a:ext cx="4084637" cy="4476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2000" dirty="0"/>
              <a:t>There has been enormous data growth in both commercial and scientific databases due to advances in data generation and collection technologies</a:t>
            </a:r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New mantra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Gather whatever data you can whenever and wherever possible.</a:t>
            </a:r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Expectations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Gathered data will have value either for the purpose collected or for a purpose not envisioned.</a:t>
            </a:r>
          </a:p>
          <a:p>
            <a:pPr eaLnBrk="1" hangingPunct="1">
              <a:lnSpc>
                <a:spcPct val="90000"/>
              </a:lnSpc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D4757DBE-D8FA-4A76-B812-2C699FBCB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0063" y="6019800"/>
            <a:ext cx="2293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Computational Simulations</a:t>
            </a:r>
            <a:endParaRPr lang="en-US" alt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26" name="Text Box 5">
            <a:extLst>
              <a:ext uri="{FF2B5EF4-FFF2-40B4-BE49-F238E27FC236}">
                <a16:creationId xmlns:a16="http://schemas.microsoft.com/office/drawing/2014/main" id="{24D14490-4BE0-46A1-A6B9-E8022DF44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25" y="4267200"/>
            <a:ext cx="2365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Social Networking: Twitter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27" name="Picture 6" descr="crop">
            <a:extLst>
              <a:ext uri="{FF2B5EF4-FFF2-40B4-BE49-F238E27FC236}">
                <a16:creationId xmlns:a16="http://schemas.microsoft.com/office/drawing/2014/main" id="{EF19A9BB-A114-4246-A7F1-779828FDE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876800"/>
            <a:ext cx="1905000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13">
            <a:extLst>
              <a:ext uri="{FF2B5EF4-FFF2-40B4-BE49-F238E27FC236}">
                <a16:creationId xmlns:a16="http://schemas.microsoft.com/office/drawing/2014/main" id="{D2F8590B-6387-4657-B588-659FE17C1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t="2650" r="946" b="2745"/>
          <a:stretch>
            <a:fillRect/>
          </a:stretch>
        </p:blipFill>
        <p:spPr bwMode="auto">
          <a:xfrm>
            <a:off x="4824413" y="4800600"/>
            <a:ext cx="1500187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9" name="Text Box 14">
            <a:extLst>
              <a:ext uri="{FF2B5EF4-FFF2-40B4-BE49-F238E27FC236}">
                <a16:creationId xmlns:a16="http://schemas.microsoft.com/office/drawing/2014/main" id="{7D7B641C-5365-499C-920A-45B0C7012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6019800"/>
            <a:ext cx="1577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Sensor Networks</a:t>
            </a: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30" name="Picture 20">
            <a:extLst>
              <a:ext uri="{FF2B5EF4-FFF2-40B4-BE49-F238E27FC236}">
                <a16:creationId xmlns:a16="http://schemas.microsoft.com/office/drawing/2014/main" id="{D78F6E39-69BA-4B0E-A988-927C910A1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9" t="1334" r="5765" b="969"/>
          <a:stretch>
            <a:fillRect/>
          </a:stretch>
        </p:blipFill>
        <p:spPr bwMode="auto">
          <a:xfrm>
            <a:off x="4876800" y="1219200"/>
            <a:ext cx="1778000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1" name="Text Box 21">
            <a:extLst>
              <a:ext uri="{FF2B5EF4-FFF2-40B4-BE49-F238E27FC236}">
                <a16:creationId xmlns:a16="http://schemas.microsoft.com/office/drawing/2014/main" id="{740CEEBE-BA4E-4595-A5AD-0AA4294DE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267200"/>
            <a:ext cx="2209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Traffic Patterns</a:t>
            </a:r>
            <a:endParaRPr lang="en-US" alt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32" name="Text Box 23">
            <a:extLst>
              <a:ext uri="{FF2B5EF4-FFF2-40B4-BE49-F238E27FC236}">
                <a16:creationId xmlns:a16="http://schemas.microsoft.com/office/drawing/2014/main" id="{3DAE2859-5381-428F-97FA-B826C3213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514600"/>
            <a:ext cx="236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Cyber Security</a:t>
            </a:r>
            <a:r>
              <a:rPr lang="en-US" altLang="en-US" sz="1200" i="1">
                <a:latin typeface="Helvetica" pitchFamily="34" charset="0"/>
                <a:cs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5133" name="Object 3">
            <a:extLst>
              <a:ext uri="{FF2B5EF4-FFF2-40B4-BE49-F238E27FC236}">
                <a16:creationId xmlns:a16="http://schemas.microsoft.com/office/drawing/2014/main" id="{E4E34085-9F77-442B-99B2-075EDA2860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4200" y="1681163"/>
          <a:ext cx="6477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617220" imgH="615696" progId="Visio.Drawing.11">
                  <p:embed/>
                </p:oleObj>
              </mc:Choice>
              <mc:Fallback>
                <p:oleObj name="VISIO" r:id="rId7" imgW="617220" imgH="615696" progId="Visio.Drawing.11">
                  <p:embed/>
                  <p:pic>
                    <p:nvPicPr>
                      <p:cNvPr id="5133" name="Object 3">
                        <a:extLst>
                          <a:ext uri="{FF2B5EF4-FFF2-40B4-BE49-F238E27FC236}">
                            <a16:creationId xmlns:a16="http://schemas.microsoft.com/office/drawing/2014/main" id="{E4E34085-9F77-442B-99B2-075EDA2860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681163"/>
                        <a:ext cx="6477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4">
            <a:extLst>
              <a:ext uri="{FF2B5EF4-FFF2-40B4-BE49-F238E27FC236}">
                <a16:creationId xmlns:a16="http://schemas.microsoft.com/office/drawing/2014/main" id="{95C8F9BA-D678-452D-8AE3-A30278942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1295400"/>
          <a:ext cx="6477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806196" imgH="662940" progId="Visio.Drawing.11">
                  <p:embed/>
                </p:oleObj>
              </mc:Choice>
              <mc:Fallback>
                <p:oleObj name="VISIO" r:id="rId9" imgW="806196" imgH="662940" progId="Visio.Drawing.11">
                  <p:embed/>
                  <p:pic>
                    <p:nvPicPr>
                      <p:cNvPr id="5134" name="Object 4">
                        <a:extLst>
                          <a:ext uri="{FF2B5EF4-FFF2-40B4-BE49-F238E27FC236}">
                            <a16:creationId xmlns:a16="http://schemas.microsoft.com/office/drawing/2014/main" id="{95C8F9BA-D678-452D-8AE3-A30278942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1295400"/>
                        <a:ext cx="6477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6" name="Slide Number Placeholder 3">
            <a:extLst>
              <a:ext uri="{FF2B5EF4-FFF2-40B4-BE49-F238E27FC236}">
                <a16:creationId xmlns:a16="http://schemas.microsoft.com/office/drawing/2014/main" id="{13AFF105-0AAF-4DE6-BA9C-B6F21524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A3B503-89C5-494F-9796-3C11885069F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138" name="Text Box 23">
            <a:extLst>
              <a:ext uri="{FF2B5EF4-FFF2-40B4-BE49-F238E27FC236}">
                <a16:creationId xmlns:a16="http://schemas.microsoft.com/office/drawing/2014/main" id="{6A30F451-F56F-42DC-B0E3-87DFF7F1B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6188" y="2355850"/>
            <a:ext cx="2365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Tx/>
              <a:buNone/>
            </a:pPr>
            <a:r>
              <a:rPr lang="en-US" altLang="en-US" sz="1400" i="1">
                <a:latin typeface="Helvetica" pitchFamily="34" charset="0"/>
                <a:cs typeface="Arial" panose="020B0604020202020204" pitchFamily="34" charset="0"/>
              </a:rPr>
              <a:t>E-Commerce</a:t>
            </a:r>
            <a:endParaRPr lang="en-US" altLang="en-US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139" name="Picture 20">
            <a:extLst>
              <a:ext uri="{FF2B5EF4-FFF2-40B4-BE49-F238E27FC236}">
                <a16:creationId xmlns:a16="http://schemas.microsoft.com/office/drawing/2014/main" id="{47C93BD9-A67C-4F8B-8EF9-0CA0C35646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663" y="2955925"/>
            <a:ext cx="2378075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0" name="Picture 18" descr="http://images.ezgif.com/tmp/gif_232x188_6af960.gif">
            <a:extLst>
              <a:ext uri="{FF2B5EF4-FFF2-40B4-BE49-F238E27FC236}">
                <a16:creationId xmlns:a16="http://schemas.microsoft.com/office/drawing/2014/main" id="{8CA1DD4C-BA2A-4DF5-8E36-076E1F5674E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2944813"/>
            <a:ext cx="1436688" cy="1163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2F86576-2D13-40B3-AC55-D0A85EE7B2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9850" y="342900"/>
            <a:ext cx="87630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Why Data Mining? Commercial Viewpoint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586BA17-039E-42B4-8D34-ABEB2D6482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92100" y="1524000"/>
            <a:ext cx="83185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Lots of data is being collected </a:t>
            </a:r>
            <a:br>
              <a:rPr lang="en-US" altLang="en-US" sz="2400"/>
            </a:br>
            <a:r>
              <a:rPr lang="en-US" altLang="en-US" sz="2400"/>
              <a:t>and warehoused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Web 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Google has Peta Bytes of web data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Facebook has billions of active users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purchases at department/</a:t>
            </a:r>
            <a:br>
              <a:rPr lang="en-US" altLang="en-US" sz="2000"/>
            </a:br>
            <a:r>
              <a:rPr lang="en-US" altLang="en-US" sz="2000"/>
              <a:t>grocery stores, e-commerce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 Amazon handles millions of visits/day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Bank/Credit Card transactions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Computers have become cheaper and more powerful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Competitive Pressure is Strong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Provide better, customized services for an edge (e.g. in Customer Relationship Management)</a:t>
            </a:r>
          </a:p>
        </p:txBody>
      </p:sp>
      <p:pic>
        <p:nvPicPr>
          <p:cNvPr id="7172" name="Picture 7">
            <a:extLst>
              <a:ext uri="{FF2B5EF4-FFF2-40B4-BE49-F238E27FC236}">
                <a16:creationId xmlns:a16="http://schemas.microsoft.com/office/drawing/2014/main" id="{DF67B5B6-C40F-4CB2-A711-825C0EE46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057400"/>
            <a:ext cx="12001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8">
            <a:extLst>
              <a:ext uri="{FF2B5EF4-FFF2-40B4-BE49-F238E27FC236}">
                <a16:creationId xmlns:a16="http://schemas.microsoft.com/office/drawing/2014/main" id="{FC6D9ED6-D5B1-4E42-BE1A-B9467A12C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209800"/>
            <a:ext cx="14287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9">
            <a:extLst>
              <a:ext uri="{FF2B5EF4-FFF2-40B4-BE49-F238E27FC236}">
                <a16:creationId xmlns:a16="http://schemas.microsoft.com/office/drawing/2014/main" id="{19DB2FE5-E737-4AAC-AD98-5C67EB894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997200"/>
            <a:ext cx="11430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10">
            <a:extLst>
              <a:ext uri="{FF2B5EF4-FFF2-40B4-BE49-F238E27FC236}">
                <a16:creationId xmlns:a16="http://schemas.microsoft.com/office/drawing/2014/main" id="{2D1AA9E5-31A9-497B-9227-19AEB3833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950" y="2906713"/>
            <a:ext cx="11430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Slide Number Placeholder 3">
            <a:extLst>
              <a:ext uri="{FF2B5EF4-FFF2-40B4-BE49-F238E27FC236}">
                <a16:creationId xmlns:a16="http://schemas.microsoft.com/office/drawing/2014/main" id="{DF4EEAD4-1532-4732-A436-B82FC09B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6D6AA49-5BDD-4CDA-BADB-D1622C2C843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2">
            <a:extLst>
              <a:ext uri="{FF2B5EF4-FFF2-40B4-BE49-F238E27FC236}">
                <a16:creationId xmlns:a16="http://schemas.microsoft.com/office/drawing/2014/main" id="{49EA67DF-C988-4239-9F4A-720B439CC1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228600"/>
            <a:ext cx="8915400" cy="609600"/>
          </a:xfrm>
        </p:spPr>
        <p:txBody>
          <a:bodyPr lIns="0" rIns="0"/>
          <a:lstStyle/>
          <a:p>
            <a:pPr eaLnBrk="1" hangingPunct="1"/>
            <a:r>
              <a:rPr lang="en-US" altLang="en-US"/>
              <a:t>Why Data Mining? Scientific Viewpoint</a:t>
            </a:r>
          </a:p>
        </p:txBody>
      </p:sp>
      <p:sp>
        <p:nvSpPr>
          <p:cNvPr id="9219" name="Rectangle 13">
            <a:extLst>
              <a:ext uri="{FF2B5EF4-FFF2-40B4-BE49-F238E27FC236}">
                <a16:creationId xmlns:a16="http://schemas.microsoft.com/office/drawing/2014/main" id="{FBB90E98-DC59-4675-AA1A-312ED67B89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371600"/>
            <a:ext cx="60198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Data collected and stored at </a:t>
            </a:r>
            <a:br>
              <a:rPr lang="en-US" altLang="en-US" sz="2000"/>
            </a:br>
            <a:r>
              <a:rPr lang="en-US" altLang="en-US" sz="2000"/>
              <a:t>enormous speeds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remote sensors on a satellite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600"/>
              <a:t> NASA EOSDIS archives over </a:t>
            </a:r>
            <a:br>
              <a:rPr lang="en-US" altLang="en-US" sz="1600"/>
            </a:br>
            <a:r>
              <a:rPr lang="en-US" altLang="en-US" sz="1600"/>
              <a:t>petabytes of earth science data / year 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telescopes scanning the skies</a:t>
            </a:r>
          </a:p>
          <a:p>
            <a:pPr lvl="2" eaLnBrk="1" hangingPunct="1">
              <a:lnSpc>
                <a:spcPct val="40000"/>
              </a:lnSpc>
              <a:spcBef>
                <a:spcPct val="40000"/>
              </a:spcBef>
            </a:pPr>
            <a:r>
              <a:rPr lang="en-US" altLang="en-US" sz="1600"/>
              <a:t> Sky survey data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High-throughput biological data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scientific simulations</a:t>
            </a:r>
            <a:r>
              <a:rPr lang="en-US" altLang="en-US" sz="230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 </a:t>
            </a:r>
            <a:r>
              <a:rPr lang="en-US" altLang="en-US" sz="1600"/>
              <a:t>terabytes of data generated in a few hours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Data mining helps scientists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in automated analysis of massive datasets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In hypothesis formation</a:t>
            </a:r>
          </a:p>
        </p:txBody>
      </p:sp>
      <p:graphicFrame>
        <p:nvGraphicFramePr>
          <p:cNvPr id="9220" name="Object 14">
            <a:extLst>
              <a:ext uri="{FF2B5EF4-FFF2-40B4-BE49-F238E27FC236}">
                <a16:creationId xmlns:a16="http://schemas.microsoft.com/office/drawing/2014/main" id="{A3352EEA-C074-42EC-A9D8-34930CE752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64350" y="1363663"/>
          <a:ext cx="1822450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557272" imgH="1991868" progId="Visio.Drawing.11">
                  <p:embed/>
                </p:oleObj>
              </mc:Choice>
              <mc:Fallback>
                <p:oleObj name="VISIO" r:id="rId3" imgW="2557272" imgH="1991868" progId="Visio.Drawing.11">
                  <p:embed/>
                  <p:pic>
                    <p:nvPicPr>
                      <p:cNvPr id="9220" name="Object 14">
                        <a:extLst>
                          <a:ext uri="{FF2B5EF4-FFF2-40B4-BE49-F238E27FC236}">
                            <a16:creationId xmlns:a16="http://schemas.microsoft.com/office/drawing/2014/main" id="{A3352EEA-C074-42EC-A9D8-34930CE752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1363663"/>
                        <a:ext cx="1822450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5">
            <a:extLst>
              <a:ext uri="{FF2B5EF4-FFF2-40B4-BE49-F238E27FC236}">
                <a16:creationId xmlns:a16="http://schemas.microsoft.com/office/drawing/2014/main" id="{10E0B7A1-9624-4148-A605-5108D426E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7688" y="3048000"/>
          <a:ext cx="2017712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2401824" imgH="1491996" progId="Visio.Drawing.11">
                  <p:embed/>
                </p:oleObj>
              </mc:Choice>
              <mc:Fallback>
                <p:oleObj name="VISIO" r:id="rId5" imgW="2401824" imgH="1491996" progId="Visio.Drawing.11">
                  <p:embed/>
                  <p:pic>
                    <p:nvPicPr>
                      <p:cNvPr id="9221" name="Object 15">
                        <a:extLst>
                          <a:ext uri="{FF2B5EF4-FFF2-40B4-BE49-F238E27FC236}">
                            <a16:creationId xmlns:a16="http://schemas.microsoft.com/office/drawing/2014/main" id="{10E0B7A1-9624-4148-A605-5108D426E0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3048000"/>
                        <a:ext cx="2017712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16">
            <a:extLst>
              <a:ext uri="{FF2B5EF4-FFF2-40B4-BE49-F238E27FC236}">
                <a16:creationId xmlns:a16="http://schemas.microsoft.com/office/drawing/2014/main" id="{B9F25A9F-71BF-42DA-8D6A-24EDE113C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733800"/>
            <a:ext cx="5334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endParaRPr lang="en-US" altLang="en-US" sz="1400" b="0">
              <a:cs typeface="Arial" panose="020B0604020202020204" pitchFamily="34" charset="0"/>
            </a:endParaRPr>
          </a:p>
        </p:txBody>
      </p:sp>
      <p:sp>
        <p:nvSpPr>
          <p:cNvPr id="9223" name="Rounded Rectangle 17">
            <a:extLst>
              <a:ext uri="{FF2B5EF4-FFF2-40B4-BE49-F238E27FC236}">
                <a16:creationId xmlns:a16="http://schemas.microsoft.com/office/drawing/2014/main" id="{E7C5F782-0613-4B83-91F4-C6780ED71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048000"/>
            <a:ext cx="5638800" cy="2971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endParaRPr lang="en-US" altLang="en-US" sz="1400" b="0">
              <a:cs typeface="Arial" panose="020B0604020202020204" pitchFamily="34" charset="0"/>
            </a:endParaRPr>
          </a:p>
        </p:txBody>
      </p:sp>
      <p:sp>
        <p:nvSpPr>
          <p:cNvPr id="9225" name="Slide Number Placeholder 3">
            <a:extLst>
              <a:ext uri="{FF2B5EF4-FFF2-40B4-BE49-F238E27FC236}">
                <a16:creationId xmlns:a16="http://schemas.microsoft.com/office/drawing/2014/main" id="{C8E0C3D8-BE86-4926-885E-E7FC3F197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F4C9FEC-5FBE-4EAC-9A43-0A8AE0AA6A1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9227" name="Picture 21">
            <a:extLst>
              <a:ext uri="{FF2B5EF4-FFF2-40B4-BE49-F238E27FC236}">
                <a16:creationId xmlns:a16="http://schemas.microsoft.com/office/drawing/2014/main" id="{BE9753B5-A4D2-4495-8AA6-FE8CF079ED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20574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8" name="Rectangle 1">
            <a:extLst>
              <a:ext uri="{FF2B5EF4-FFF2-40B4-BE49-F238E27FC236}">
                <a16:creationId xmlns:a16="http://schemas.microsoft.com/office/drawing/2014/main" id="{8D21B57B-F120-4FD0-B4B6-36BBD9B12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2743200"/>
            <a:ext cx="19685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fMRI Data from Brain</a:t>
            </a:r>
          </a:p>
        </p:txBody>
      </p:sp>
      <p:sp>
        <p:nvSpPr>
          <p:cNvPr id="9229" name="Rectangle 23">
            <a:extLst>
              <a:ext uri="{FF2B5EF4-FFF2-40B4-BE49-F238E27FC236}">
                <a16:creationId xmlns:a16="http://schemas.microsoft.com/office/drawing/2014/main" id="{BE841D5E-796B-4700-8A9E-EB5B4858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1825" y="2700338"/>
            <a:ext cx="1589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Sky Survey Data</a:t>
            </a:r>
          </a:p>
        </p:txBody>
      </p:sp>
      <p:sp>
        <p:nvSpPr>
          <p:cNvPr id="9230" name="Rectangle 24">
            <a:extLst>
              <a:ext uri="{FF2B5EF4-FFF2-40B4-BE49-F238E27FC236}">
                <a16:creationId xmlns:a16="http://schemas.microsoft.com/office/drawing/2014/main" id="{5B81F741-915D-46AB-B9FE-4B6562FF8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3088" y="4648200"/>
            <a:ext cx="20843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Gene Expression Data</a:t>
            </a:r>
          </a:p>
        </p:txBody>
      </p:sp>
      <p:sp>
        <p:nvSpPr>
          <p:cNvPr id="9231" name="Rectangle 25">
            <a:extLst>
              <a:ext uri="{FF2B5EF4-FFF2-40B4-BE49-F238E27FC236}">
                <a16:creationId xmlns:a16="http://schemas.microsoft.com/office/drawing/2014/main" id="{6989077B-E746-4137-A19A-F4193F9A4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775" y="6262688"/>
            <a:ext cx="2689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Surface Temperature of Earth</a:t>
            </a:r>
          </a:p>
        </p:txBody>
      </p:sp>
      <p:pic>
        <p:nvPicPr>
          <p:cNvPr id="9232" name="Picture 18" descr="http://im2.ezgif.com/tmp/ezgif-1403672989.gif">
            <a:extLst>
              <a:ext uri="{FF2B5EF4-FFF2-40B4-BE49-F238E27FC236}">
                <a16:creationId xmlns:a16="http://schemas.microsoft.com/office/drawing/2014/main" id="{1EBA2A2F-579A-4566-B62D-A2ED5D2281D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918075"/>
            <a:ext cx="24669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281A996-C624-43B6-83E7-70071D438B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8991600" cy="533400"/>
          </a:xfrm>
        </p:spPr>
        <p:txBody>
          <a:bodyPr/>
          <a:lstStyle/>
          <a:p>
            <a:r>
              <a:rPr lang="en-US" altLang="en-US" sz="2200"/>
              <a:t>Great opportunities to improve productivity in all walks of life</a:t>
            </a:r>
          </a:p>
        </p:txBody>
      </p:sp>
      <p:pic>
        <p:nvPicPr>
          <p:cNvPr id="11267" name="Picture 7">
            <a:extLst>
              <a:ext uri="{FF2B5EF4-FFF2-40B4-BE49-F238E27FC236}">
                <a16:creationId xmlns:a16="http://schemas.microsoft.com/office/drawing/2014/main" id="{4FB390E4-35B1-4C4C-856C-9E72A0337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1143000"/>
            <a:ext cx="5834062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Slide Number Placeholder 3">
            <a:extLst>
              <a:ext uri="{FF2B5EF4-FFF2-40B4-BE49-F238E27FC236}">
                <a16:creationId xmlns:a16="http://schemas.microsoft.com/office/drawing/2014/main" id="{91921E35-2084-462F-A5F9-F868EE83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67BC36F-03D6-4683-9A31-B0E786FC8D3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grpSp>
        <p:nvGrpSpPr>
          <p:cNvPr id="11271" name="Group 3">
            <a:extLst>
              <a:ext uri="{FF2B5EF4-FFF2-40B4-BE49-F238E27FC236}">
                <a16:creationId xmlns:a16="http://schemas.microsoft.com/office/drawing/2014/main" id="{87891BFF-A16E-49A3-BA5F-FAEB3CC59AEA}"/>
              </a:ext>
            </a:extLst>
          </p:cNvPr>
          <p:cNvGrpSpPr>
            <a:grpSpLocks/>
          </p:cNvGrpSpPr>
          <p:nvPr/>
        </p:nvGrpSpPr>
        <p:grpSpPr bwMode="auto">
          <a:xfrm>
            <a:off x="1481138" y="2743200"/>
            <a:ext cx="5834062" cy="3505200"/>
            <a:chOff x="338138" y="1143000"/>
            <a:chExt cx="8424862" cy="5410200"/>
          </a:xfrm>
        </p:grpSpPr>
        <p:pic>
          <p:nvPicPr>
            <p:cNvPr id="11272" name="Picture 4">
              <a:extLst>
                <a:ext uri="{FF2B5EF4-FFF2-40B4-BE49-F238E27FC236}">
                  <a16:creationId xmlns:a16="http://schemas.microsoft.com/office/drawing/2014/main" id="{946DBEEB-4D1F-4ED3-BD88-23D581B47E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38" y="1143000"/>
              <a:ext cx="4233862" cy="535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3" name="Picture 5">
              <a:extLst>
                <a:ext uri="{FF2B5EF4-FFF2-40B4-BE49-F238E27FC236}">
                  <a16:creationId xmlns:a16="http://schemas.microsoft.com/office/drawing/2014/main" id="{1F69B285-4D15-46DD-BF36-41403D91C0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81538" y="1143000"/>
              <a:ext cx="4081462" cy="541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96D05BC-B650-4840-99EE-B661ABC4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533400"/>
          </a:xfrm>
        </p:spPr>
        <p:txBody>
          <a:bodyPr/>
          <a:lstStyle/>
          <a:p>
            <a:r>
              <a:rPr lang="en-US" altLang="en-US" sz="2400"/>
              <a:t>Great Opportunities to Solve Society’s Major Problems</a:t>
            </a:r>
            <a:endParaRPr lang="en-US" altLang="en-US" sz="2800"/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AC0D4CFF-E499-42C5-9129-19EB22EA3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3200400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7" descr="http://countrylivingoffgrid.com/resources/aboutus_image.jpg">
            <a:extLst>
              <a:ext uri="{FF2B5EF4-FFF2-40B4-BE49-F238E27FC236}">
                <a16:creationId xmlns:a16="http://schemas.microsoft.com/office/drawing/2014/main" id="{76E91D3F-B938-428F-9F1E-C43805805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962400"/>
            <a:ext cx="3276600" cy="203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9">
            <a:extLst>
              <a:ext uri="{FF2B5EF4-FFF2-40B4-BE49-F238E27FC236}">
                <a16:creationId xmlns:a16="http://schemas.microsoft.com/office/drawing/2014/main" id="{2FB4E508-8105-4F5C-ABA7-DC2448DC3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283"/>
          <a:stretch>
            <a:fillRect/>
          </a:stretch>
        </p:blipFill>
        <p:spPr bwMode="auto">
          <a:xfrm>
            <a:off x="4800600" y="1676400"/>
            <a:ext cx="35052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Box 9">
            <a:extLst>
              <a:ext uri="{FF2B5EF4-FFF2-40B4-BE49-F238E27FC236}">
                <a16:creationId xmlns:a16="http://schemas.microsoft.com/office/drawing/2014/main" id="{6DF707D8-3EB7-4467-97D3-8CA515DE1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3581400"/>
            <a:ext cx="3240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Improving health care and reducing costs</a:t>
            </a:r>
          </a:p>
        </p:txBody>
      </p:sp>
      <p:sp>
        <p:nvSpPr>
          <p:cNvPr id="13319" name="TextBox 10">
            <a:extLst>
              <a:ext uri="{FF2B5EF4-FFF2-40B4-BE49-F238E27FC236}">
                <a16:creationId xmlns:a16="http://schemas.microsoft.com/office/drawing/2014/main" id="{2C35FDE7-DBD5-400E-B856-73396D1E9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275" y="6019800"/>
            <a:ext cx="3238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Finding alternative/ green energy sources</a:t>
            </a:r>
          </a:p>
        </p:txBody>
      </p:sp>
      <p:sp>
        <p:nvSpPr>
          <p:cNvPr id="13320" name="TextBox 11">
            <a:extLst>
              <a:ext uri="{FF2B5EF4-FFF2-40B4-BE49-F238E27FC236}">
                <a16:creationId xmlns:a16="http://schemas.microsoft.com/office/drawing/2014/main" id="{C614942A-684D-46B7-8AF3-312ABB38A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163" y="3533775"/>
            <a:ext cx="30940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Predicting the impact of climate change</a:t>
            </a:r>
          </a:p>
        </p:txBody>
      </p:sp>
      <p:pic>
        <p:nvPicPr>
          <p:cNvPr id="13321" name="Content Placeholder 13" descr="basf-949686-plant-biotechnology-lg.jpg">
            <a:extLst>
              <a:ext uri="{FF2B5EF4-FFF2-40B4-BE49-F238E27FC236}">
                <a16:creationId xmlns:a16="http://schemas.microsoft.com/office/drawing/2014/main" id="{8D5054E0-4305-4602-A958-4609A8D70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3962400"/>
            <a:ext cx="3505200" cy="1949450"/>
          </a:xfrm>
        </p:spPr>
      </p:pic>
      <p:sp>
        <p:nvSpPr>
          <p:cNvPr id="13322" name="TextBox 14">
            <a:extLst>
              <a:ext uri="{FF2B5EF4-FFF2-40B4-BE49-F238E27FC236}">
                <a16:creationId xmlns:a16="http://schemas.microsoft.com/office/drawing/2014/main" id="{32ED71CB-1903-44B7-A104-8E2CA621B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0" y="5943600"/>
            <a:ext cx="2641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Reducing hunger and poverty by </a:t>
            </a:r>
          </a:p>
          <a:p>
            <a:pPr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>
                <a:cs typeface="Arial" panose="020B0604020202020204" pitchFamily="34" charset="0"/>
              </a:rPr>
              <a:t>increasing agriculture production</a:t>
            </a:r>
          </a:p>
        </p:txBody>
      </p:sp>
      <p:sp>
        <p:nvSpPr>
          <p:cNvPr id="13325" name="Slide Number Placeholder 3">
            <a:extLst>
              <a:ext uri="{FF2B5EF4-FFF2-40B4-BE49-F238E27FC236}">
                <a16:creationId xmlns:a16="http://schemas.microsoft.com/office/drawing/2014/main" id="{45AEEBEB-38FF-47B5-B0C5-66D512F5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EC0D1C3-C34A-4B73-B961-D99B1C3BF7C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A1DEDB1C-84DC-488B-A581-422282A00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" y="228600"/>
            <a:ext cx="8280400" cy="533400"/>
          </a:xfrm>
        </p:spPr>
        <p:txBody>
          <a:bodyPr/>
          <a:lstStyle/>
          <a:p>
            <a:r>
              <a:rPr lang="en-US" altLang="en-US"/>
              <a:t>What is Data Mining?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826A16C9-8D91-4BD0-A32C-608442D90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050" y="1231107"/>
            <a:ext cx="8394700" cy="5029200"/>
          </a:xfrm>
        </p:spPr>
        <p:txBody>
          <a:bodyPr/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altLang="en-US" sz="3200" dirty="0"/>
              <a:t>Many Definitions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2400" dirty="0"/>
              <a:t>Non-trivial extraction of implicit, previously unknown and potentially useful information from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altLang="en-US" sz="2400" dirty="0"/>
              <a:t>Exploration &amp; analysis, by automatic or semi-automatic means, of large quantities of data in order to discover </a:t>
            </a:r>
            <a:br>
              <a:rPr lang="en-US" altLang="en-US" sz="2400" dirty="0"/>
            </a:br>
            <a:r>
              <a:rPr lang="en-US" altLang="en-US" sz="2400" dirty="0"/>
              <a:t>meaningful patterns</a:t>
            </a:r>
            <a:r>
              <a:rPr lang="en-US" altLang="en-US" sz="2400" b="1" dirty="0"/>
              <a:t> </a:t>
            </a:r>
            <a:br>
              <a:rPr lang="en-US" altLang="en-US" sz="2400" b="1" dirty="0"/>
            </a:br>
            <a:endParaRPr lang="en-US" altLang="en-US" sz="2400" b="1" dirty="0"/>
          </a:p>
        </p:txBody>
      </p:sp>
      <p:pic>
        <p:nvPicPr>
          <p:cNvPr id="15364" name="Picture 8">
            <a:extLst>
              <a:ext uri="{FF2B5EF4-FFF2-40B4-BE49-F238E27FC236}">
                <a16:creationId xmlns:a16="http://schemas.microsoft.com/office/drawing/2014/main" id="{A993B859-5AF4-4464-BEB1-380222F27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81400"/>
            <a:ext cx="8226425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Slide Number Placeholder 7">
            <a:extLst>
              <a:ext uri="{FF2B5EF4-FFF2-40B4-BE49-F238E27FC236}">
                <a16:creationId xmlns:a16="http://schemas.microsoft.com/office/drawing/2014/main" id="{1B010F30-B5F3-4B64-B790-BDE53D37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67D73FF-362E-4C0C-90A7-86AEF3422F1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4">
            <a:extLst>
              <a:ext uri="{FF2B5EF4-FFF2-40B4-BE49-F238E27FC236}">
                <a16:creationId xmlns:a16="http://schemas.microsoft.com/office/drawing/2014/main" id="{C9D23FC4-ABA5-4B5E-87B5-45AB7535D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2"/>
          <a:stretch>
            <a:fillRect/>
          </a:stretch>
        </p:blipFill>
        <p:spPr bwMode="auto">
          <a:xfrm>
            <a:off x="3124200" y="2743200"/>
            <a:ext cx="5942013" cy="268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>
            <a:extLst>
              <a:ext uri="{FF2B5EF4-FFF2-40B4-BE49-F238E27FC236}">
                <a16:creationId xmlns:a16="http://schemas.microsoft.com/office/drawing/2014/main" id="{27DF4C6E-AACC-4463-8C78-B9631FCC1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425574"/>
            <a:ext cx="7391400" cy="4822825"/>
          </a:xfrm>
        </p:spPr>
        <p:txBody>
          <a:bodyPr/>
          <a:lstStyle/>
          <a:p>
            <a:r>
              <a:rPr lang="en-US" altLang="en-US" sz="2400" dirty="0"/>
              <a:t>Draws ideas from machine learning/AI, pattern recognition, statistics, and database systems</a:t>
            </a:r>
          </a:p>
          <a:p>
            <a:endParaRPr lang="en-US" altLang="en-US" sz="2400" dirty="0"/>
          </a:p>
          <a:p>
            <a:r>
              <a:rPr lang="en-US" altLang="en-US" sz="2400" dirty="0"/>
              <a:t>Traditional techniques may be unsuitable due to data that is</a:t>
            </a:r>
          </a:p>
          <a:p>
            <a:pPr lvl="1"/>
            <a:r>
              <a:rPr lang="en-US" altLang="en-US" sz="2200" dirty="0"/>
              <a:t>Large-scale</a:t>
            </a:r>
          </a:p>
          <a:p>
            <a:pPr lvl="1"/>
            <a:r>
              <a:rPr lang="en-US" altLang="en-US" sz="2200" dirty="0"/>
              <a:t>High dimensional</a:t>
            </a:r>
          </a:p>
          <a:p>
            <a:pPr lvl="1"/>
            <a:r>
              <a:rPr lang="en-US" altLang="en-US" sz="2200" dirty="0"/>
              <a:t>Heterogeneous</a:t>
            </a:r>
          </a:p>
          <a:p>
            <a:pPr lvl="1"/>
            <a:r>
              <a:rPr lang="en-US" altLang="en-US" sz="2200" dirty="0"/>
              <a:t>Complex</a:t>
            </a:r>
          </a:p>
          <a:p>
            <a:pPr lvl="1"/>
            <a:r>
              <a:rPr lang="en-US" altLang="en-US" sz="2200" dirty="0"/>
              <a:t>Distributed</a:t>
            </a:r>
          </a:p>
          <a:p>
            <a:pPr lvl="1"/>
            <a:endParaRPr lang="en-US" altLang="en-US" sz="2200" dirty="0"/>
          </a:p>
          <a:p>
            <a:endParaRPr lang="en-US" altLang="en-US" sz="2200" dirty="0"/>
          </a:p>
          <a:p>
            <a:r>
              <a:rPr lang="en-US" altLang="en-US" sz="2200" dirty="0"/>
              <a:t>A key component of the emerging field of data science and data-driven discovery</a:t>
            </a:r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F0661D9F-92C7-4A09-9F9E-55614639C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80400" cy="533400"/>
          </a:xfrm>
        </p:spPr>
        <p:txBody>
          <a:bodyPr lIns="0" rIns="0"/>
          <a:lstStyle/>
          <a:p>
            <a:r>
              <a:rPr lang="en-US" altLang="en-US"/>
              <a:t>Origins of Data Mining</a:t>
            </a:r>
          </a:p>
        </p:txBody>
      </p:sp>
      <p:sp>
        <p:nvSpPr>
          <p:cNvPr id="17413" name="Slide Number Placeholder 7">
            <a:extLst>
              <a:ext uri="{FF2B5EF4-FFF2-40B4-BE49-F238E27FC236}">
                <a16:creationId xmlns:a16="http://schemas.microsoft.com/office/drawing/2014/main" id="{4EA73063-ADA6-4BA9-B007-BA4A34E6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E198E79-1332-4CB1-8D9F-0FA3E10EEF9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0B0DBDB-A1E7-4FDF-8FE9-404E057AA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Mining Tasks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E6C41CF-BE03-4BA4-A64A-5016EF581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78800" cy="4171950"/>
          </a:xfrm>
        </p:spPr>
        <p:txBody>
          <a:bodyPr/>
          <a:lstStyle/>
          <a:p>
            <a:r>
              <a:rPr lang="en-US" altLang="en-US"/>
              <a:t>Prediction Methods</a:t>
            </a:r>
          </a:p>
          <a:p>
            <a:pPr lvl="1"/>
            <a:r>
              <a:rPr lang="en-US" altLang="en-US"/>
              <a:t>Use some variables to predict unknown or future values of other variables.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Description Methods</a:t>
            </a:r>
          </a:p>
          <a:p>
            <a:pPr lvl="1"/>
            <a:r>
              <a:rPr lang="en-US" altLang="en-US"/>
              <a:t>Find human-interpretable patterns that describe the data.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B8EC8135-3EF8-40B5-96D7-252D027D0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973763"/>
            <a:ext cx="51355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>
                <a:latin typeface="Times New Roman" panose="02020603050405020304" pitchFamily="18" charset="0"/>
              </a:rPr>
              <a:t>From [Fayyad, et.al.] Advances in Knowledge Discovery and Data Mining, 1996</a:t>
            </a: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61" name="Slide Number Placeholder 7">
            <a:extLst>
              <a:ext uri="{FF2B5EF4-FFF2-40B4-BE49-F238E27FC236}">
                <a16:creationId xmlns:a16="http://schemas.microsoft.com/office/drawing/2014/main" id="{23E6CCB8-53A3-4ACA-B6DF-B5514C0F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8320D22-9F98-42E8-87A1-D1AB43BEB86B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3C67B48B-BDE0-493A-9234-2234400D78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1066800"/>
          <a:ext cx="3227388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939284" imgH="2802636" progId="Visio.Drawing.6">
                  <p:embed/>
                </p:oleObj>
              </mc:Choice>
              <mc:Fallback>
                <p:oleObj name="VISIO" r:id="rId3" imgW="4939284" imgH="2802636" progId="Visio.Drawing.6">
                  <p:embed/>
                  <p:pic>
                    <p:nvPicPr>
                      <p:cNvPr id="20482" name="Object 2">
                        <a:extLst>
                          <a:ext uri="{FF2B5EF4-FFF2-40B4-BE49-F238E27FC236}">
                            <a16:creationId xmlns:a16="http://schemas.microsoft.com/office/drawing/2014/main" id="{3C67B48B-BDE0-493A-9234-2234400D78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066800"/>
                        <a:ext cx="3227388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4">
            <a:extLst>
              <a:ext uri="{FF2B5EF4-FFF2-40B4-BE49-F238E27FC236}">
                <a16:creationId xmlns:a16="http://schemas.microsoft.com/office/drawing/2014/main" id="{73B33E09-2F7D-45C8-8A14-CED37B24F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0225" y="2667000"/>
          <a:ext cx="14732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5207508" imgH="8185404" progId="Word.Document.8">
                  <p:embed/>
                </p:oleObj>
              </mc:Choice>
              <mc:Fallback>
                <p:oleObj name="Document" r:id="rId5" imgW="5207508" imgH="8185404" progId="Word.Document.8">
                  <p:embed/>
                  <p:pic>
                    <p:nvPicPr>
                      <p:cNvPr id="20483" name="Object 4">
                        <a:extLst>
                          <a:ext uri="{FF2B5EF4-FFF2-40B4-BE49-F238E27FC236}">
                            <a16:creationId xmlns:a16="http://schemas.microsoft.com/office/drawing/2014/main" id="{73B33E09-2F7D-45C8-8A14-CED37B24F2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2667000"/>
                        <a:ext cx="14732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4" name="Group 5">
            <a:extLst>
              <a:ext uri="{FF2B5EF4-FFF2-40B4-BE49-F238E27FC236}">
                <a16:creationId xmlns:a16="http://schemas.microsoft.com/office/drawing/2014/main" id="{B45C1A8B-0D6F-4F83-AE64-6AC1607D9D3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143000"/>
            <a:ext cx="1600200" cy="1295400"/>
            <a:chOff x="2160" y="2544"/>
            <a:chExt cx="1920" cy="1687"/>
          </a:xfrm>
        </p:grpSpPr>
        <p:sp>
          <p:nvSpPr>
            <p:cNvPr id="20511" name="Line 6">
              <a:extLst>
                <a:ext uri="{FF2B5EF4-FFF2-40B4-BE49-F238E27FC236}">
                  <a16:creationId xmlns:a16="http://schemas.microsoft.com/office/drawing/2014/main" id="{95E82E67-86BF-4192-98F8-B61CEAB0C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2" name="Line 7">
              <a:extLst>
                <a:ext uri="{FF2B5EF4-FFF2-40B4-BE49-F238E27FC236}">
                  <a16:creationId xmlns:a16="http://schemas.microsoft.com/office/drawing/2014/main" id="{42E0EEE8-C704-4F90-997A-3474241F5B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3" name="Freeform 8">
              <a:extLst>
                <a:ext uri="{FF2B5EF4-FFF2-40B4-BE49-F238E27FC236}">
                  <a16:creationId xmlns:a16="http://schemas.microsoft.com/office/drawing/2014/main" id="{7C25A6A8-D163-4F4E-9A2A-F4D62D6FD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4" name="AutoShape 9">
              <a:extLst>
                <a:ext uri="{FF2B5EF4-FFF2-40B4-BE49-F238E27FC236}">
                  <a16:creationId xmlns:a16="http://schemas.microsoft.com/office/drawing/2014/main" id="{2D8E6BD0-BF7F-4A3B-A2E6-9B65C73F5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5" name="AutoShape 10">
              <a:extLst>
                <a:ext uri="{FF2B5EF4-FFF2-40B4-BE49-F238E27FC236}">
                  <a16:creationId xmlns:a16="http://schemas.microsoft.com/office/drawing/2014/main" id="{CAD82A16-4731-4437-8E0D-DF3707AFF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6" name="AutoShape 11">
              <a:extLst>
                <a:ext uri="{FF2B5EF4-FFF2-40B4-BE49-F238E27FC236}">
                  <a16:creationId xmlns:a16="http://schemas.microsoft.com/office/drawing/2014/main" id="{4460BDA1-10A4-4A33-AB51-29258158C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7" name="AutoShape 12">
              <a:extLst>
                <a:ext uri="{FF2B5EF4-FFF2-40B4-BE49-F238E27FC236}">
                  <a16:creationId xmlns:a16="http://schemas.microsoft.com/office/drawing/2014/main" id="{7B47AA91-531D-4DD5-AEE3-10BBA69DE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8" name="AutoShape 13">
              <a:extLst>
                <a:ext uri="{FF2B5EF4-FFF2-40B4-BE49-F238E27FC236}">
                  <a16:creationId xmlns:a16="http://schemas.microsoft.com/office/drawing/2014/main" id="{FD8A0D6F-0D64-4904-A38A-763150DB8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9" name="AutoShape 14">
              <a:extLst>
                <a:ext uri="{FF2B5EF4-FFF2-40B4-BE49-F238E27FC236}">
                  <a16:creationId xmlns:a16="http://schemas.microsoft.com/office/drawing/2014/main" id="{8E34DDD0-C945-457D-8D6E-87697EE04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0" name="AutoShape 15">
              <a:extLst>
                <a:ext uri="{FF2B5EF4-FFF2-40B4-BE49-F238E27FC236}">
                  <a16:creationId xmlns:a16="http://schemas.microsoft.com/office/drawing/2014/main" id="{A36E90E0-9CF9-4B03-A31B-91597D63C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1" name="AutoShape 16">
              <a:extLst>
                <a:ext uri="{FF2B5EF4-FFF2-40B4-BE49-F238E27FC236}">
                  <a16:creationId xmlns:a16="http://schemas.microsoft.com/office/drawing/2014/main" id="{766117DC-C801-482A-B24C-219D94DE1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2" name="AutoShape 17">
              <a:extLst>
                <a:ext uri="{FF2B5EF4-FFF2-40B4-BE49-F238E27FC236}">
                  <a16:creationId xmlns:a16="http://schemas.microsoft.com/office/drawing/2014/main" id="{5448ACC0-DA1B-4D80-8DA5-10A1703B0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3" name="AutoShape 18">
              <a:extLst>
                <a:ext uri="{FF2B5EF4-FFF2-40B4-BE49-F238E27FC236}">
                  <a16:creationId xmlns:a16="http://schemas.microsoft.com/office/drawing/2014/main" id="{631081F8-B781-44CE-A959-63A9F3BA6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4" name="AutoShape 19">
              <a:extLst>
                <a:ext uri="{FF2B5EF4-FFF2-40B4-BE49-F238E27FC236}">
                  <a16:creationId xmlns:a16="http://schemas.microsoft.com/office/drawing/2014/main" id="{8F8E8653-26BB-4B7F-82EE-DC83C638A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5" name="AutoShape 20">
              <a:extLst>
                <a:ext uri="{FF2B5EF4-FFF2-40B4-BE49-F238E27FC236}">
                  <a16:creationId xmlns:a16="http://schemas.microsoft.com/office/drawing/2014/main" id="{F9474974-DABF-49F7-AD21-C71FAC8F1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6" name="AutoShape 21">
              <a:extLst>
                <a:ext uri="{FF2B5EF4-FFF2-40B4-BE49-F238E27FC236}">
                  <a16:creationId xmlns:a16="http://schemas.microsoft.com/office/drawing/2014/main" id="{2EF0438F-54D7-431E-9D71-D34F70188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7" name="AutoShape 22">
              <a:extLst>
                <a:ext uri="{FF2B5EF4-FFF2-40B4-BE49-F238E27FC236}">
                  <a16:creationId xmlns:a16="http://schemas.microsoft.com/office/drawing/2014/main" id="{2CEB2C21-A5ED-4D58-9D29-69E8F147F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8" name="AutoShape 23">
              <a:extLst>
                <a:ext uri="{FF2B5EF4-FFF2-40B4-BE49-F238E27FC236}">
                  <a16:creationId xmlns:a16="http://schemas.microsoft.com/office/drawing/2014/main" id="{4F48C2B4-CDA8-45C2-A901-193FB36D1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29" name="AutoShape 24">
              <a:extLst>
                <a:ext uri="{FF2B5EF4-FFF2-40B4-BE49-F238E27FC236}">
                  <a16:creationId xmlns:a16="http://schemas.microsoft.com/office/drawing/2014/main" id="{927AD4DE-FD1A-45B6-9FD2-CA2291FC0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0" name="AutoShape 25">
              <a:extLst>
                <a:ext uri="{FF2B5EF4-FFF2-40B4-BE49-F238E27FC236}">
                  <a16:creationId xmlns:a16="http://schemas.microsoft.com/office/drawing/2014/main" id="{C7C0397A-7560-420C-811B-6BAF49777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1" name="AutoShape 26">
              <a:extLst>
                <a:ext uri="{FF2B5EF4-FFF2-40B4-BE49-F238E27FC236}">
                  <a16:creationId xmlns:a16="http://schemas.microsoft.com/office/drawing/2014/main" id="{C9F54086-B813-435C-BF90-B4A473A9A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2" name="AutoShape 27">
              <a:extLst>
                <a:ext uri="{FF2B5EF4-FFF2-40B4-BE49-F238E27FC236}">
                  <a16:creationId xmlns:a16="http://schemas.microsoft.com/office/drawing/2014/main" id="{3B95143E-DFB9-4105-9DE6-E65F07313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3" name="AutoShape 28">
              <a:extLst>
                <a:ext uri="{FF2B5EF4-FFF2-40B4-BE49-F238E27FC236}">
                  <a16:creationId xmlns:a16="http://schemas.microsoft.com/office/drawing/2014/main" id="{0252B2D8-3ADF-444E-A041-CBC2C7F2D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4" name="AutoShape 29">
              <a:extLst>
                <a:ext uri="{FF2B5EF4-FFF2-40B4-BE49-F238E27FC236}">
                  <a16:creationId xmlns:a16="http://schemas.microsoft.com/office/drawing/2014/main" id="{8D91F722-4E1B-4FA7-8284-2AC4A0613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5" name="AutoShape 30">
              <a:extLst>
                <a:ext uri="{FF2B5EF4-FFF2-40B4-BE49-F238E27FC236}">
                  <a16:creationId xmlns:a16="http://schemas.microsoft.com/office/drawing/2014/main" id="{2F24C198-20AE-474E-A8B9-2DA0E19FD81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36" name="AutoShape 31">
              <a:extLst>
                <a:ext uri="{FF2B5EF4-FFF2-40B4-BE49-F238E27FC236}">
                  <a16:creationId xmlns:a16="http://schemas.microsoft.com/office/drawing/2014/main" id="{BBD9B828-B0C4-4A91-8729-DF0676EE1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485" name="Line 32">
            <a:extLst>
              <a:ext uri="{FF2B5EF4-FFF2-40B4-BE49-F238E27FC236}">
                <a16:creationId xmlns:a16="http://schemas.microsoft.com/office/drawing/2014/main" id="{BFB5708F-04A7-4BD6-A1CF-CDC3733E1B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2362200"/>
            <a:ext cx="18288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33">
            <a:extLst>
              <a:ext uri="{FF2B5EF4-FFF2-40B4-BE49-F238E27FC236}">
                <a16:creationId xmlns:a16="http://schemas.microsoft.com/office/drawing/2014/main" id="{A604F2E2-400C-41E4-97D7-3D2AAB89F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209800"/>
            <a:ext cx="21336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34">
            <a:extLst>
              <a:ext uri="{FF2B5EF4-FFF2-40B4-BE49-F238E27FC236}">
                <a16:creationId xmlns:a16="http://schemas.microsoft.com/office/drawing/2014/main" id="{A10B6492-BD0C-45A5-B18C-586C09489C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4343400"/>
            <a:ext cx="1524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8" name="Line 35">
            <a:extLst>
              <a:ext uri="{FF2B5EF4-FFF2-40B4-BE49-F238E27FC236}">
                <a16:creationId xmlns:a16="http://schemas.microsoft.com/office/drawing/2014/main" id="{9326BF50-E492-47BE-9EE1-0E6FC1635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4191000"/>
            <a:ext cx="1600200" cy="990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9" name="Text Box 36">
            <a:extLst>
              <a:ext uri="{FF2B5EF4-FFF2-40B4-BE49-F238E27FC236}">
                <a16:creationId xmlns:a16="http://schemas.microsoft.com/office/drawing/2014/main" id="{C09D064E-F893-416A-9E37-A9915F93F6C9}"/>
              </a:ext>
            </a:extLst>
          </p:cNvPr>
          <p:cNvSpPr txBox="1">
            <a:spLocks noChangeArrowheads="1"/>
          </p:cNvSpPr>
          <p:nvPr/>
        </p:nvSpPr>
        <p:spPr bwMode="auto">
          <a:xfrm rot="-2160000">
            <a:off x="4352925" y="3013075"/>
            <a:ext cx="2105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Predictive Modeling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0" name="Text Box 37">
            <a:extLst>
              <a:ext uri="{FF2B5EF4-FFF2-40B4-BE49-F238E27FC236}">
                <a16:creationId xmlns:a16="http://schemas.microsoft.com/office/drawing/2014/main" id="{7D263E8E-2F4F-4CEB-B5E6-509C4A3097AA}"/>
              </a:ext>
            </a:extLst>
          </p:cNvPr>
          <p:cNvSpPr txBox="1">
            <a:spLocks noChangeArrowheads="1"/>
          </p:cNvSpPr>
          <p:nvPr/>
        </p:nvSpPr>
        <p:spPr bwMode="auto">
          <a:xfrm rot="1500000">
            <a:off x="1630363" y="2514600"/>
            <a:ext cx="11890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Clustering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1" name="Text Box 38">
            <a:extLst>
              <a:ext uri="{FF2B5EF4-FFF2-40B4-BE49-F238E27FC236}">
                <a16:creationId xmlns:a16="http://schemas.microsoft.com/office/drawing/2014/main" id="{ED282310-E1DA-445C-8A05-F97CF1D27E6B}"/>
              </a:ext>
            </a:extLst>
          </p:cNvPr>
          <p:cNvSpPr txBox="1">
            <a:spLocks noChangeArrowheads="1"/>
          </p:cNvSpPr>
          <p:nvPr/>
        </p:nvSpPr>
        <p:spPr bwMode="auto">
          <a:xfrm rot="-1560000">
            <a:off x="1608138" y="4349750"/>
            <a:ext cx="1363662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Association </a:t>
            </a:r>
            <a:br>
              <a:rPr lang="en-US" altLang="en-US" sz="1600">
                <a:solidFill>
                  <a:srgbClr val="006600"/>
                </a:solidFill>
              </a:rPr>
            </a:br>
            <a:r>
              <a:rPr lang="en-US" altLang="en-US" sz="1600">
                <a:solidFill>
                  <a:srgbClr val="006600"/>
                </a:solidFill>
              </a:rPr>
              <a:t>Rules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0492" name="Text Box 39">
            <a:extLst>
              <a:ext uri="{FF2B5EF4-FFF2-40B4-BE49-F238E27FC236}">
                <a16:creationId xmlns:a16="http://schemas.microsoft.com/office/drawing/2014/main" id="{12DA890C-2C0D-4FF6-BB16-1C362A5394B0}"/>
              </a:ext>
            </a:extLst>
          </p:cNvPr>
          <p:cNvSpPr txBox="1">
            <a:spLocks noChangeArrowheads="1"/>
          </p:cNvSpPr>
          <p:nvPr/>
        </p:nvSpPr>
        <p:spPr bwMode="auto">
          <a:xfrm rot="1920000">
            <a:off x="4641850" y="4267200"/>
            <a:ext cx="1109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Anomaly </a:t>
            </a:r>
            <a:br>
              <a:rPr lang="en-US" altLang="en-US" sz="1600">
                <a:solidFill>
                  <a:srgbClr val="006600"/>
                </a:solidFill>
              </a:rPr>
            </a:br>
            <a:r>
              <a:rPr lang="en-US" altLang="en-US" sz="1600">
                <a:solidFill>
                  <a:srgbClr val="006600"/>
                </a:solidFill>
              </a:rPr>
              <a:t>Detection</a:t>
            </a:r>
            <a:endParaRPr lang="en-US" altLang="en-US" sz="1600">
              <a:solidFill>
                <a:schemeClr val="bg2"/>
              </a:solidFill>
            </a:endParaRPr>
          </a:p>
        </p:txBody>
      </p:sp>
      <p:pic>
        <p:nvPicPr>
          <p:cNvPr id="20493" name="Picture 40" descr="fd01226_">
            <a:extLst>
              <a:ext uri="{FF2B5EF4-FFF2-40B4-BE49-F238E27FC236}">
                <a16:creationId xmlns:a16="http://schemas.microsoft.com/office/drawing/2014/main" id="{66983D32-387B-43B1-A1DC-0B3DBD402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438775"/>
            <a:ext cx="5699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4" name="Rectangle 41">
            <a:extLst>
              <a:ext uri="{FF2B5EF4-FFF2-40B4-BE49-F238E27FC236}">
                <a16:creationId xmlns:a16="http://schemas.microsoft.com/office/drawing/2014/main" id="{AA0A6528-A8F4-438D-B84E-57F9E2CBB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667375"/>
            <a:ext cx="479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Milk</a:t>
            </a:r>
          </a:p>
        </p:txBody>
      </p:sp>
      <p:sp>
        <p:nvSpPr>
          <p:cNvPr id="20495" name="Text Box 42">
            <a:extLst>
              <a:ext uri="{FF2B5EF4-FFF2-40B4-BE49-F238E27FC236}">
                <a16:creationId xmlns:a16="http://schemas.microsoft.com/office/drawing/2014/main" id="{7E824631-BC2E-480C-AA48-6F05217B5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286000"/>
            <a:ext cx="1143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0496" name="Text Box 43">
            <a:extLst>
              <a:ext uri="{FF2B5EF4-FFF2-40B4-BE49-F238E27FC236}">
                <a16:creationId xmlns:a16="http://schemas.microsoft.com/office/drawing/2014/main" id="{27B24A8B-903B-4A92-9AA2-2C83481C9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209800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/>
              <a:t>Data</a:t>
            </a:r>
          </a:p>
        </p:txBody>
      </p:sp>
      <p:pic>
        <p:nvPicPr>
          <p:cNvPr id="20497" name="Picture 44">
            <a:extLst>
              <a:ext uri="{FF2B5EF4-FFF2-40B4-BE49-F238E27FC236}">
                <a16:creationId xmlns:a16="http://schemas.microsoft.com/office/drawing/2014/main" id="{07938310-0907-4701-8152-ACAB24967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1" r="63640" b="34026"/>
          <a:stretch>
            <a:fillRect/>
          </a:stretch>
        </p:blipFill>
        <p:spPr bwMode="auto">
          <a:xfrm>
            <a:off x="1524000" y="5257800"/>
            <a:ext cx="1362075" cy="110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8" name="Line 45">
            <a:extLst>
              <a:ext uri="{FF2B5EF4-FFF2-40B4-BE49-F238E27FC236}">
                <a16:creationId xmlns:a16="http://schemas.microsoft.com/office/drawing/2014/main" id="{F9A7F677-F637-463B-A831-99D2F6DEB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58959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0499" name="Group 46">
            <a:extLst>
              <a:ext uri="{FF2B5EF4-FFF2-40B4-BE49-F238E27FC236}">
                <a16:creationId xmlns:a16="http://schemas.microsoft.com/office/drawing/2014/main" id="{75C674CB-7F41-4664-9B48-C6C101AD9762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429000"/>
            <a:ext cx="3352800" cy="2971800"/>
            <a:chOff x="3648" y="2448"/>
            <a:chExt cx="2112" cy="1872"/>
          </a:xfrm>
        </p:grpSpPr>
        <p:pic>
          <p:nvPicPr>
            <p:cNvPr id="20504" name="Picture 47">
              <a:extLst>
                <a:ext uri="{FF2B5EF4-FFF2-40B4-BE49-F238E27FC236}">
                  <a16:creationId xmlns:a16="http://schemas.microsoft.com/office/drawing/2014/main" id="{B5AB8B92-31DE-4928-BB2C-18FF7CC635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5" name="Oval 48">
              <a:extLst>
                <a:ext uri="{FF2B5EF4-FFF2-40B4-BE49-F238E27FC236}">
                  <a16:creationId xmlns:a16="http://schemas.microsoft.com/office/drawing/2014/main" id="{2DD64B72-B210-44CD-A51A-C820A151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6" name="Oval 49">
              <a:extLst>
                <a:ext uri="{FF2B5EF4-FFF2-40B4-BE49-F238E27FC236}">
                  <a16:creationId xmlns:a16="http://schemas.microsoft.com/office/drawing/2014/main" id="{EFA232D5-F6F7-4891-84B5-DA8B29F25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7" name="Oval 50">
              <a:extLst>
                <a:ext uri="{FF2B5EF4-FFF2-40B4-BE49-F238E27FC236}">
                  <a16:creationId xmlns:a16="http://schemas.microsoft.com/office/drawing/2014/main" id="{7A7EAEA8-BC5E-47A9-AA18-1B92935A9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8" name="Oval 51">
              <a:extLst>
                <a:ext uri="{FF2B5EF4-FFF2-40B4-BE49-F238E27FC236}">
                  <a16:creationId xmlns:a16="http://schemas.microsoft.com/office/drawing/2014/main" id="{58C0E524-3B22-4439-BBC5-5EDCA4FBF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09" name="Rectangle 52">
              <a:extLst>
                <a:ext uri="{FF2B5EF4-FFF2-40B4-BE49-F238E27FC236}">
                  <a16:creationId xmlns:a16="http://schemas.microsoft.com/office/drawing/2014/main" id="{B04238A5-5267-4767-9020-D7CF9F207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0510" name="Rectangle 53">
              <a:extLst>
                <a:ext uri="{FF2B5EF4-FFF2-40B4-BE49-F238E27FC236}">
                  <a16:creationId xmlns:a16="http://schemas.microsoft.com/office/drawing/2014/main" id="{357228D4-0225-48F1-8152-F9D7A48B6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20500" name="Rectangle 54">
            <a:extLst>
              <a:ext uri="{FF2B5EF4-FFF2-40B4-BE49-F238E27FC236}">
                <a16:creationId xmlns:a16="http://schemas.microsoft.com/office/drawing/2014/main" id="{26DB9D79-6041-4525-9864-4FC3F6456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200">
                <a:latin typeface="Tahoma" panose="020B0604030504040204" pitchFamily="34" charset="0"/>
              </a:rPr>
              <a:t>Data Mining Tasks …</a:t>
            </a:r>
          </a:p>
        </p:txBody>
      </p:sp>
      <p:sp>
        <p:nvSpPr>
          <p:cNvPr id="20501" name="Slide Number Placeholder 56">
            <a:extLst>
              <a:ext uri="{FF2B5EF4-FFF2-40B4-BE49-F238E27FC236}">
                <a16:creationId xmlns:a16="http://schemas.microsoft.com/office/drawing/2014/main" id="{1F9C0155-EAB8-4804-9A91-709B0F647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9DDF18C-5299-4C45-A7F0-3686537074CD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>
            <a:extLst>
              <a:ext uri="{FF2B5EF4-FFF2-40B4-BE49-F238E27FC236}">
                <a16:creationId xmlns:a16="http://schemas.microsoft.com/office/drawing/2014/main" id="{7F181FFC-C8C6-4BE8-84B6-A478C99DFA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318500" cy="533400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r>
              <a:rPr lang="en-US" altLang="en-US" dirty="0"/>
              <a:t>Find a model  for class attribute as a function of the values of other attributes</a:t>
            </a:r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  <a:p>
            <a:pPr marL="342900" indent="-342900"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id="{3B6794EA-F0C3-4447-9624-E201EF68CC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762250"/>
          <a:ext cx="44386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8203692" imgH="3634740" progId="Word.Document.8">
                  <p:embed/>
                </p:oleObj>
              </mc:Choice>
              <mc:Fallback>
                <p:oleObj name="Document" r:id="rId3" imgW="8203692" imgH="3634740" progId="Word.Document.8">
                  <p:embed/>
                  <p:pic>
                    <p:nvPicPr>
                      <p:cNvPr id="22531" name="Object 4">
                        <a:extLst>
                          <a:ext uri="{FF2B5EF4-FFF2-40B4-BE49-F238E27FC236}">
                            <a16:creationId xmlns:a16="http://schemas.microsoft.com/office/drawing/2014/main" id="{3B6794EA-F0C3-4447-9624-E201EF68CC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762250"/>
                        <a:ext cx="4438650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5">
            <a:extLst>
              <a:ext uri="{FF2B5EF4-FFF2-40B4-BE49-F238E27FC236}">
                <a16:creationId xmlns:a16="http://schemas.microsoft.com/office/drawing/2014/main" id="{7EA61E12-6C1A-4680-B093-55666A4C6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795" y="1908175"/>
            <a:ext cx="3048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Model for predicting credit worthiness</a:t>
            </a:r>
          </a:p>
        </p:txBody>
      </p:sp>
      <p:sp>
        <p:nvSpPr>
          <p:cNvPr id="22533" name="Text Box 6">
            <a:extLst>
              <a:ext uri="{FF2B5EF4-FFF2-40B4-BE49-F238E27FC236}">
                <a16:creationId xmlns:a16="http://schemas.microsoft.com/office/drawing/2014/main" id="{219E7121-71B5-41EB-B2EB-8B387E48A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38125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2A8487"/>
                </a:solidFill>
              </a:rPr>
              <a:t>Class</a:t>
            </a:r>
          </a:p>
        </p:txBody>
      </p:sp>
      <p:graphicFrame>
        <p:nvGraphicFramePr>
          <p:cNvPr id="22534" name="Object 7">
            <a:extLst>
              <a:ext uri="{FF2B5EF4-FFF2-40B4-BE49-F238E27FC236}">
                <a16:creationId xmlns:a16="http://schemas.microsoft.com/office/drawing/2014/main" id="{353B0B76-DAE1-4E03-9BB3-35F12B004A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2266950"/>
          <a:ext cx="4114800" cy="413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7088124" imgH="7124700" progId="Visio.Drawing.6">
                  <p:embed/>
                </p:oleObj>
              </mc:Choice>
              <mc:Fallback>
                <p:oleObj name="VISIO" r:id="rId5" imgW="7088124" imgH="7124700" progId="Visio.Drawing.6">
                  <p:embed/>
                  <p:pic>
                    <p:nvPicPr>
                      <p:cNvPr id="22534" name="Object 7">
                        <a:extLst>
                          <a:ext uri="{FF2B5EF4-FFF2-40B4-BE49-F238E27FC236}">
                            <a16:creationId xmlns:a16="http://schemas.microsoft.com/office/drawing/2014/main" id="{353B0B76-DAE1-4E03-9BB3-35F12B004A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66950"/>
                        <a:ext cx="4114800" cy="413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8">
            <a:extLst>
              <a:ext uri="{FF2B5EF4-FFF2-40B4-BE49-F238E27FC236}">
                <a16:creationId xmlns:a16="http://schemas.microsoft.com/office/drawing/2014/main" id="{F9D892F0-AD61-4634-A2CB-BCBE4B57D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200">
                <a:latin typeface="Tahoma" panose="020B0604030504040204" pitchFamily="34" charset="0"/>
              </a:rPr>
              <a:t>Predictive Modeling: Classification</a:t>
            </a:r>
          </a:p>
        </p:txBody>
      </p:sp>
      <p:sp>
        <p:nvSpPr>
          <p:cNvPr id="22536" name="Slide Number Placeholder 10">
            <a:extLst>
              <a:ext uri="{FF2B5EF4-FFF2-40B4-BE49-F238E27FC236}">
                <a16:creationId xmlns:a16="http://schemas.microsoft.com/office/drawing/2014/main" id="{E0B868CA-22D6-465B-80AE-6B3A57312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8DE48AD-7E6F-454C-A229-24C403CF40D8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32CD4A4-C1F1-49FE-A988-4043CC94E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 Example</a:t>
            </a:r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DDA83841-D102-40D9-85C9-3065EDEF6A67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838200" y="1690688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0" name="Text Box 5">
            <a:extLst>
              <a:ext uri="{FF2B5EF4-FFF2-40B4-BE49-F238E27FC236}">
                <a16:creationId xmlns:a16="http://schemas.microsoft.com/office/drawing/2014/main" id="{C1914E51-7AAC-45DA-9710-4C9DE561418C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1746250" y="1690688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1" name="Text Box 6">
            <a:extLst>
              <a:ext uri="{FF2B5EF4-FFF2-40B4-BE49-F238E27FC236}">
                <a16:creationId xmlns:a16="http://schemas.microsoft.com/office/drawing/2014/main" id="{3F10EB46-9E7B-431B-85BC-5AD90466C30B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2640013" y="1668463"/>
            <a:ext cx="13255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quantitative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24582" name="Text Box 7">
            <a:extLst>
              <a:ext uri="{FF2B5EF4-FFF2-40B4-BE49-F238E27FC236}">
                <a16:creationId xmlns:a16="http://schemas.microsoft.com/office/drawing/2014/main" id="{E0A935BD-1A4A-4950-B0C3-EC03EA1FD358}"/>
              </a:ext>
            </a:extLst>
          </p:cNvPr>
          <p:cNvSpPr txBox="1">
            <a:spLocks noChangeArrowheads="1"/>
          </p:cNvSpPr>
          <p:nvPr/>
        </p:nvSpPr>
        <p:spPr bwMode="auto">
          <a:xfrm rot="-2416809">
            <a:off x="3651250" y="1873250"/>
            <a:ext cx="692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grpSp>
        <p:nvGrpSpPr>
          <p:cNvPr id="24583" name="Group 9">
            <a:extLst>
              <a:ext uri="{FF2B5EF4-FFF2-40B4-BE49-F238E27FC236}">
                <a16:creationId xmlns:a16="http://schemas.microsoft.com/office/drawing/2014/main" id="{913A135E-B500-43B0-83C3-22FBCAF7E970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3948113"/>
            <a:ext cx="990600" cy="685800"/>
            <a:chOff x="4944" y="2736"/>
            <a:chExt cx="624" cy="432"/>
          </a:xfrm>
        </p:grpSpPr>
        <p:sp>
          <p:nvSpPr>
            <p:cNvPr id="24601" name="AutoShape 10">
              <a:extLst>
                <a:ext uri="{FF2B5EF4-FFF2-40B4-BE49-F238E27FC236}">
                  <a16:creationId xmlns:a16="http://schemas.microsoft.com/office/drawing/2014/main" id="{3ED90AB2-E4AF-4421-A440-9C8B1DD9D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736"/>
              <a:ext cx="624" cy="432"/>
            </a:xfrm>
            <a:prstGeom prst="can">
              <a:avLst>
                <a:gd name="adj" fmla="val 25000"/>
              </a:avLst>
            </a:prstGeom>
            <a:solidFill>
              <a:srgbClr val="CCCCFF"/>
            </a:solidFill>
            <a:ln w="12700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4602" name="Text Box 11">
              <a:extLst>
                <a:ext uri="{FF2B5EF4-FFF2-40B4-BE49-F238E27FC236}">
                  <a16:creationId xmlns:a16="http://schemas.microsoft.com/office/drawing/2014/main" id="{8B4C79E4-1564-41B9-BB83-FA0A2DED7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6" y="2856"/>
              <a:ext cx="345" cy="29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1400">
                  <a:solidFill>
                    <a:srgbClr val="0000CC"/>
                  </a:solidFill>
                </a:rPr>
                <a:t>Test</a:t>
              </a:r>
            </a:p>
            <a:p>
              <a:pPr algn="ctr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1400">
                  <a:solidFill>
                    <a:srgbClr val="0000CC"/>
                  </a:solidFill>
                </a:rPr>
                <a:t>Set</a:t>
              </a:r>
              <a:endParaRPr lang="en-US" altLang="en-US" sz="1400" b="0">
                <a:solidFill>
                  <a:schemeClr val="bg2"/>
                </a:solidFill>
              </a:endParaRPr>
            </a:p>
          </p:txBody>
        </p:sp>
      </p:grpSp>
      <p:sp>
        <p:nvSpPr>
          <p:cNvPr id="24584" name="AutoShape 12">
            <a:extLst>
              <a:ext uri="{FF2B5EF4-FFF2-40B4-BE49-F238E27FC236}">
                <a16:creationId xmlns:a16="http://schemas.microsoft.com/office/drawing/2014/main" id="{42D5030D-FACB-4212-90FF-978A099CD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091113"/>
            <a:ext cx="990600" cy="685800"/>
          </a:xfrm>
          <a:prstGeom prst="can">
            <a:avLst>
              <a:gd name="adj" fmla="val 25056"/>
            </a:avLst>
          </a:prstGeom>
          <a:solidFill>
            <a:schemeClr val="accent2"/>
          </a:solidFill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5" name="Text Box 13">
            <a:extLst>
              <a:ext uri="{FF2B5EF4-FFF2-40B4-BE49-F238E27FC236}">
                <a16:creationId xmlns:a16="http://schemas.microsoft.com/office/drawing/2014/main" id="{37958547-E32F-4326-976A-215CE9705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238750"/>
            <a:ext cx="1042988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Training </a:t>
            </a:r>
          </a:p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1600">
                <a:solidFill>
                  <a:schemeClr val="tx2"/>
                </a:solidFill>
              </a:rPr>
              <a:t>Set</a:t>
            </a:r>
            <a:endParaRPr lang="en-US" altLang="en-US" sz="1400" b="0">
              <a:solidFill>
                <a:schemeClr val="bg2"/>
              </a:solidFill>
            </a:endParaRPr>
          </a:p>
        </p:txBody>
      </p:sp>
      <p:grpSp>
        <p:nvGrpSpPr>
          <p:cNvPr id="24586" name="Group 14">
            <a:extLst>
              <a:ext uri="{FF2B5EF4-FFF2-40B4-BE49-F238E27FC236}">
                <a16:creationId xmlns:a16="http://schemas.microsoft.com/office/drawing/2014/main" id="{317EE363-8529-411C-9934-EF9F2FDA0174}"/>
              </a:ext>
            </a:extLst>
          </p:cNvPr>
          <p:cNvGrpSpPr>
            <a:grpSpLocks/>
          </p:cNvGrpSpPr>
          <p:nvPr/>
        </p:nvGrpSpPr>
        <p:grpSpPr bwMode="auto">
          <a:xfrm>
            <a:off x="7637463" y="5086350"/>
            <a:ext cx="1125537" cy="690563"/>
            <a:chOff x="3360" y="2880"/>
            <a:chExt cx="672" cy="415"/>
          </a:xfrm>
        </p:grpSpPr>
        <p:sp>
          <p:nvSpPr>
            <p:cNvPr id="24599" name="AutoShape 15">
              <a:extLst>
                <a:ext uri="{FF2B5EF4-FFF2-40B4-BE49-F238E27FC236}">
                  <a16:creationId xmlns:a16="http://schemas.microsoft.com/office/drawing/2014/main" id="{34531989-C943-4C84-B217-A9CF38587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880"/>
              <a:ext cx="672" cy="415"/>
            </a:xfrm>
            <a:prstGeom prst="flowChartMultidocument">
              <a:avLst/>
            </a:prstGeom>
            <a:solidFill>
              <a:srgbClr val="00E0CB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24600" name="Text Box 16">
              <a:extLst>
                <a:ext uri="{FF2B5EF4-FFF2-40B4-BE49-F238E27FC236}">
                  <a16:creationId xmlns:a16="http://schemas.microsoft.com/office/drawing/2014/main" id="{0BEC2129-013F-4E8E-8B57-7D6EBFB86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2" y="2978"/>
              <a:ext cx="54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2" charset="2"/>
                <a:buNone/>
              </a:pPr>
              <a:r>
                <a:rPr lang="en-US" altLang="en-US" sz="2000">
                  <a:solidFill>
                    <a:srgbClr val="CC0000"/>
                  </a:solidFill>
                </a:rPr>
                <a:t>Model</a:t>
              </a:r>
              <a:endParaRPr lang="en-US" altLang="en-US" sz="1400" b="0">
                <a:solidFill>
                  <a:schemeClr val="bg2"/>
                </a:solidFill>
              </a:endParaRPr>
            </a:p>
          </p:txBody>
        </p:sp>
      </p:grpSp>
      <p:sp>
        <p:nvSpPr>
          <p:cNvPr id="24587" name="AutoShape 17">
            <a:extLst>
              <a:ext uri="{FF2B5EF4-FFF2-40B4-BE49-F238E27FC236}">
                <a16:creationId xmlns:a16="http://schemas.microsoft.com/office/drawing/2014/main" id="{68ED2B3C-738E-4815-971C-4B674C715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938713"/>
            <a:ext cx="1447800" cy="995362"/>
          </a:xfrm>
          <a:prstGeom prst="bevel">
            <a:avLst>
              <a:gd name="adj" fmla="val 12500"/>
            </a:avLst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88" name="Text Box 18">
            <a:extLst>
              <a:ext uri="{FF2B5EF4-FFF2-40B4-BE49-F238E27FC236}">
                <a16:creationId xmlns:a16="http://schemas.microsoft.com/office/drawing/2014/main" id="{A4DBBD18-BE8B-4542-98B0-87AE4BCF0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014913"/>
            <a:ext cx="13255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Learn </a:t>
            </a:r>
          </a:p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2" charset="2"/>
              <a:buNone/>
            </a:pPr>
            <a:r>
              <a:rPr lang="en-US" altLang="en-US" sz="2000">
                <a:solidFill>
                  <a:srgbClr val="000000"/>
                </a:solidFill>
              </a:rPr>
              <a:t>Classifier</a:t>
            </a:r>
            <a:endParaRPr lang="en-US" altLang="en-US" sz="1400" b="0">
              <a:solidFill>
                <a:srgbClr val="00E0CB"/>
              </a:solidFill>
            </a:endParaRPr>
          </a:p>
        </p:txBody>
      </p:sp>
      <p:sp>
        <p:nvSpPr>
          <p:cNvPr id="24589" name="AutoShape 19">
            <a:extLst>
              <a:ext uri="{FF2B5EF4-FFF2-40B4-BE49-F238E27FC236}">
                <a16:creationId xmlns:a16="http://schemas.microsoft.com/office/drawing/2014/main" id="{0D5AD6C1-2424-4CBE-A656-5142A8997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925" y="5349875"/>
            <a:ext cx="484188" cy="141288"/>
          </a:xfrm>
          <a:prstGeom prst="rightArrow">
            <a:avLst>
              <a:gd name="adj1" fmla="val 50000"/>
              <a:gd name="adj2" fmla="val 85674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0" name="AutoShape 20">
            <a:extLst>
              <a:ext uri="{FF2B5EF4-FFF2-40B4-BE49-F238E27FC236}">
                <a16:creationId xmlns:a16="http://schemas.microsoft.com/office/drawing/2014/main" id="{7C2999BE-2062-4F16-BC17-45FB89F50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314950"/>
            <a:ext cx="484188" cy="141288"/>
          </a:xfrm>
          <a:prstGeom prst="rightArrow">
            <a:avLst>
              <a:gd name="adj1" fmla="val 50000"/>
              <a:gd name="adj2" fmla="val 85674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1" name="AutoShape 21">
            <a:extLst>
              <a:ext uri="{FF2B5EF4-FFF2-40B4-BE49-F238E27FC236}">
                <a16:creationId xmlns:a16="http://schemas.microsoft.com/office/drawing/2014/main" id="{13D020DA-5CC1-43FB-B88B-F29E7EA4713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073231" y="4790282"/>
            <a:ext cx="312737" cy="152400"/>
          </a:xfrm>
          <a:prstGeom prst="rightArrow">
            <a:avLst>
              <a:gd name="adj1" fmla="val 50000"/>
              <a:gd name="adj2" fmla="val 51302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4592" name="Line 22">
            <a:extLst>
              <a:ext uri="{FF2B5EF4-FFF2-40B4-BE49-F238E27FC236}">
                <a16:creationId xmlns:a16="http://schemas.microsoft.com/office/drawing/2014/main" id="{9830D323-D86B-41C2-8D41-8CA4C0C5C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481513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23">
            <a:extLst>
              <a:ext uri="{FF2B5EF4-FFF2-40B4-BE49-F238E27FC236}">
                <a16:creationId xmlns:a16="http://schemas.microsoft.com/office/drawing/2014/main" id="{327B4639-E732-4594-8062-8385B82C1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2766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94" name="Object 24">
            <a:extLst>
              <a:ext uri="{FF2B5EF4-FFF2-40B4-BE49-F238E27FC236}">
                <a16:creationId xmlns:a16="http://schemas.microsoft.com/office/drawing/2014/main" id="{CAB0CC65-697C-40C5-A64C-A18BB06DF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438400"/>
          <a:ext cx="443865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203692" imgH="3634740" progId="Word.Document.8">
                  <p:embed/>
                </p:oleObj>
              </mc:Choice>
              <mc:Fallback>
                <p:oleObj name="Document" r:id="rId2" imgW="8203692" imgH="3634740" progId="Word.Document.8">
                  <p:embed/>
                  <p:pic>
                    <p:nvPicPr>
                      <p:cNvPr id="24594" name="Object 24">
                        <a:extLst>
                          <a:ext uri="{FF2B5EF4-FFF2-40B4-BE49-F238E27FC236}">
                            <a16:creationId xmlns:a16="http://schemas.microsoft.com/office/drawing/2014/main" id="{CAB0CC65-697C-40C5-A64C-A18BB06DF9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438400"/>
                        <a:ext cx="4438650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5" name="Object 25">
            <a:extLst>
              <a:ext uri="{FF2B5EF4-FFF2-40B4-BE49-F238E27FC236}">
                <a16:creationId xmlns:a16="http://schemas.microsoft.com/office/drawing/2014/main" id="{DF666818-215E-482D-941F-CC3BC78F3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99000" y="1600200"/>
          <a:ext cx="43688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8207072" imgH="3629483" progId="Word.Document.8">
                  <p:embed/>
                </p:oleObj>
              </mc:Choice>
              <mc:Fallback>
                <p:oleObj name="Document" r:id="rId4" imgW="8207072" imgH="3629483" progId="Word.Document.8">
                  <p:embed/>
                  <p:pic>
                    <p:nvPicPr>
                      <p:cNvPr id="24595" name="Object 25">
                        <a:extLst>
                          <a:ext uri="{FF2B5EF4-FFF2-40B4-BE49-F238E27FC236}">
                            <a16:creationId xmlns:a16="http://schemas.microsoft.com/office/drawing/2014/main" id="{DF666818-215E-482D-941F-CC3BC78F3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1600200"/>
                        <a:ext cx="43688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Slide Number Placeholder 26">
            <a:extLst>
              <a:ext uri="{FF2B5EF4-FFF2-40B4-BE49-F238E27FC236}">
                <a16:creationId xmlns:a16="http://schemas.microsoft.com/office/drawing/2014/main" id="{1A9B0749-FD54-4817-A305-D77A2AA6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4EE9CA0-0B02-4D3A-9593-72475202723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58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B6E5263C-8CC4-4BAA-8CAA-3C4A43480C8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066800"/>
            <a:ext cx="6477000" cy="5410200"/>
          </a:xfrm>
        </p:spPr>
        <p:txBody>
          <a:bodyPr/>
          <a:lstStyle/>
          <a:p>
            <a:pPr marL="1828800" lvl="4" indent="0">
              <a:lnSpc>
                <a:spcPct val="80000"/>
              </a:lnSpc>
              <a:buFontTx/>
              <a:buNone/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Classifying credit card transactions </a:t>
            </a:r>
            <a:br>
              <a:rPr lang="en-US" altLang="en-US" sz="2000" dirty="0"/>
            </a:br>
            <a:r>
              <a:rPr lang="en-US" altLang="en-US" sz="2000" dirty="0"/>
              <a:t>as legitimate or fraudulent</a:t>
            </a:r>
          </a:p>
          <a:p>
            <a:pPr lvl="4">
              <a:lnSpc>
                <a:spcPct val="80000"/>
              </a:lnSpc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Classifying land covers (water bodies, urban areas, forests, etc.) using satellite data</a:t>
            </a:r>
          </a:p>
          <a:p>
            <a:pPr lvl="4">
              <a:lnSpc>
                <a:spcPct val="80000"/>
              </a:lnSpc>
              <a:defRPr/>
            </a:pPr>
            <a:endParaRPr lang="en-US" altLang="en-US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Categorizing news stories as finance, </a:t>
            </a:r>
            <a:br>
              <a:rPr lang="en-US" altLang="en-US" sz="2000" dirty="0"/>
            </a:br>
            <a:r>
              <a:rPr lang="en-US" altLang="en-US" sz="2000" dirty="0"/>
              <a:t>weather, entertainment, sports, etc</a:t>
            </a:r>
          </a:p>
          <a:p>
            <a:pPr marL="342900" indent="-342900">
              <a:lnSpc>
                <a:spcPct val="80000"/>
              </a:lnSpc>
              <a:buFont typeface="Monotype Sorts"/>
              <a:buNone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Identifying intruders in the cyberspace</a:t>
            </a:r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Predicting tumor cells as benign or malignant</a:t>
            </a:r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20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r>
              <a:rPr lang="en-US" altLang="en-US" sz="2000" dirty="0"/>
              <a:t>Classifying secondary structures of protein </a:t>
            </a:r>
            <a:br>
              <a:rPr lang="en-US" altLang="en-US" sz="2000" dirty="0"/>
            </a:br>
            <a:r>
              <a:rPr lang="en-US" altLang="en-US" sz="2000" dirty="0"/>
              <a:t>as alpha-helix, beta-sheet, or random  coil</a:t>
            </a:r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1800" dirty="0"/>
          </a:p>
          <a:p>
            <a:pPr marL="342900" indent="-342900">
              <a:lnSpc>
                <a:spcPct val="80000"/>
              </a:lnSpc>
              <a:buFont typeface="Monotype Sorts"/>
              <a:buChar char="l"/>
              <a:defRPr/>
            </a:pPr>
            <a:endParaRPr lang="en-US" altLang="en-US" sz="1800" dirty="0"/>
          </a:p>
        </p:txBody>
      </p:sp>
      <p:grpSp>
        <p:nvGrpSpPr>
          <p:cNvPr id="25603" name="Group 4">
            <a:extLst>
              <a:ext uri="{FF2B5EF4-FFF2-40B4-BE49-F238E27FC236}">
                <a16:creationId xmlns:a16="http://schemas.microsoft.com/office/drawing/2014/main" id="{F7CECC4B-FCE3-4E0C-AAFC-BFCBA63C1BB9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143000"/>
            <a:ext cx="2057400" cy="1417638"/>
            <a:chOff x="3360" y="768"/>
            <a:chExt cx="1296" cy="893"/>
          </a:xfrm>
        </p:grpSpPr>
        <p:pic>
          <p:nvPicPr>
            <p:cNvPr id="25610" name="Picture 5" descr="story-3dimensional-2">
              <a:extLst>
                <a:ext uri="{FF2B5EF4-FFF2-40B4-BE49-F238E27FC236}">
                  <a16:creationId xmlns:a16="http://schemas.microsoft.com/office/drawing/2014/main" id="{8E47B39C-1CE7-4D4B-8B7C-9AD2C29216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8" y="768"/>
              <a:ext cx="1238" cy="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5611" name="Object 6">
              <a:extLst>
                <a:ext uri="{FF2B5EF4-FFF2-40B4-BE49-F238E27FC236}">
                  <a16:creationId xmlns:a16="http://schemas.microsoft.com/office/drawing/2014/main" id="{B0392E80-20BA-4A95-A29A-2F2AB40DD8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0" y="1155"/>
            <a:ext cx="432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617220" imgH="615696" progId="Visio.Drawing.6">
                    <p:embed/>
                  </p:oleObj>
                </mc:Choice>
                <mc:Fallback>
                  <p:oleObj name="VISIO" r:id="rId3" imgW="617220" imgH="615696" progId="Visio.Drawing.6">
                    <p:embed/>
                    <p:pic>
                      <p:nvPicPr>
                        <p:cNvPr id="25611" name="Object 6">
                          <a:extLst>
                            <a:ext uri="{FF2B5EF4-FFF2-40B4-BE49-F238E27FC236}">
                              <a16:creationId xmlns:a16="http://schemas.microsoft.com/office/drawing/2014/main" id="{B0392E80-20BA-4A95-A29A-2F2AB40DD8E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0" y="1155"/>
                          <a:ext cx="432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2" name="Object 7">
              <a:extLst>
                <a:ext uri="{FF2B5EF4-FFF2-40B4-BE49-F238E27FC236}">
                  <a16:creationId xmlns:a16="http://schemas.microsoft.com/office/drawing/2014/main" id="{3F49EA0B-61D8-4AAE-A23B-AB65574CA7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912"/>
            <a:ext cx="432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806196" imgH="662940" progId="Visio.Drawing.6">
                    <p:embed/>
                  </p:oleObj>
                </mc:Choice>
                <mc:Fallback>
                  <p:oleObj name="VISIO" r:id="rId5" imgW="806196" imgH="662940" progId="Visio.Drawing.6">
                    <p:embed/>
                    <p:pic>
                      <p:nvPicPr>
                        <p:cNvPr id="25612" name="Object 7">
                          <a:extLst>
                            <a:ext uri="{FF2B5EF4-FFF2-40B4-BE49-F238E27FC236}">
                              <a16:creationId xmlns:a16="http://schemas.microsoft.com/office/drawing/2014/main" id="{3F49EA0B-61D8-4AAE-A23B-AB65574CA7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912"/>
                          <a:ext cx="432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4" name="Rectangle 9">
            <a:extLst>
              <a:ext uri="{FF2B5EF4-FFF2-40B4-BE49-F238E27FC236}">
                <a16:creationId xmlns:a16="http://schemas.microsoft.com/office/drawing/2014/main" id="{C9DAC8F8-7AB8-4883-B872-3FF2D72A0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Classification Task</a:t>
            </a:r>
          </a:p>
        </p:txBody>
      </p:sp>
      <p:sp>
        <p:nvSpPr>
          <p:cNvPr id="25605" name="Slide Number Placeholder 11">
            <a:extLst>
              <a:ext uri="{FF2B5EF4-FFF2-40B4-BE49-F238E27FC236}">
                <a16:creationId xmlns:a16="http://schemas.microsoft.com/office/drawing/2014/main" id="{BD0000CB-091F-4575-88F4-15118758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F372CC1-7CD7-49CD-9A09-57EDC69B49E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59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5607" name="Picture 8" descr="http://biomasshub.com/wp-content/uploads/2010/03/ILUC1.jpg">
            <a:extLst>
              <a:ext uri="{FF2B5EF4-FFF2-40B4-BE49-F238E27FC236}">
                <a16:creationId xmlns:a16="http://schemas.microsoft.com/office/drawing/2014/main" id="{C2C6F17D-1029-41CD-A093-31D7A8002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25" y="2963863"/>
            <a:ext cx="21748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Picture 8" descr="pro">
            <a:extLst>
              <a:ext uri="{FF2B5EF4-FFF2-40B4-BE49-F238E27FC236}">
                <a16:creationId xmlns:a16="http://schemas.microsoft.com/office/drawing/2014/main" id="{743DCF8F-16F6-4CE2-BED7-BBAFFB9666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78638" y="4648200"/>
            <a:ext cx="1490662" cy="1914525"/>
          </a:xfr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4F96EFD-ACEA-465D-AA99-8C3442D91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Classification: Application 1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BAC08B1-9A9E-4F0D-A8E6-79720AFAE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78800" cy="417195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en-US"/>
              <a:t>Fraud Detection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b="1"/>
              <a:t>Goal:</a:t>
            </a:r>
            <a:r>
              <a:rPr lang="en-US" altLang="en-US" sz="2400"/>
              <a:t> Predict fraudulent cases in credit card transactions.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b="1"/>
              <a:t>Approach:</a:t>
            </a:r>
          </a:p>
          <a:p>
            <a:pPr marL="1206500" lvl="2" indent="-292100">
              <a:lnSpc>
                <a:spcPct val="90000"/>
              </a:lnSpc>
            </a:pPr>
            <a:r>
              <a:rPr lang="en-US" altLang="en-US"/>
              <a:t>Use credit card transactions and the information on its account-holder as attributes.</a:t>
            </a:r>
          </a:p>
          <a:p>
            <a:pPr lvl="3">
              <a:lnSpc>
                <a:spcPct val="90000"/>
              </a:lnSpc>
            </a:pPr>
            <a:r>
              <a:rPr lang="en-US" altLang="en-US" sz="2400"/>
              <a:t>When does a customer buy, what does he buy, how often he pays on time, etc</a:t>
            </a:r>
          </a:p>
          <a:p>
            <a:pPr marL="1206500" lvl="2" indent="-292100">
              <a:lnSpc>
                <a:spcPct val="90000"/>
              </a:lnSpc>
            </a:pPr>
            <a:r>
              <a:rPr lang="en-US" altLang="en-US"/>
              <a:t>Label past transactions as fraud or fair transactions. This forms the class attribute.</a:t>
            </a:r>
          </a:p>
          <a:p>
            <a:pPr marL="1206500" lvl="2" indent="-292100">
              <a:lnSpc>
                <a:spcPct val="90000"/>
              </a:lnSpc>
            </a:pPr>
            <a:r>
              <a:rPr lang="en-US" altLang="en-US"/>
              <a:t>Learn a model for the class of the transactions.</a:t>
            </a:r>
          </a:p>
          <a:p>
            <a:pPr marL="1206500" lvl="2" indent="-292100">
              <a:lnSpc>
                <a:spcPct val="90000"/>
              </a:lnSpc>
            </a:pPr>
            <a:r>
              <a:rPr lang="en-US" altLang="en-US"/>
              <a:t>Use this model to detect fraud by observing credit card transactions on an account.</a:t>
            </a:r>
          </a:p>
        </p:txBody>
      </p:sp>
      <p:sp>
        <p:nvSpPr>
          <p:cNvPr id="26628" name="Slide Number Placeholder 6">
            <a:extLst>
              <a:ext uri="{FF2B5EF4-FFF2-40B4-BE49-F238E27FC236}">
                <a16:creationId xmlns:a16="http://schemas.microsoft.com/office/drawing/2014/main" id="{FF4E6C67-AB49-43EE-BF7D-2D6F6294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F4CA77F-E6E5-4241-918E-E739DFB6255E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EBA50D4-C1D5-48C7-B430-049B2E5BD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Classification: Application 2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C623D4F-C28B-47E1-AE9F-46EE9CC58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/>
              <a:t>Churn prediction for telephone customers</a:t>
            </a:r>
          </a:p>
          <a:p>
            <a:pPr marL="742950" lvl="1" indent="-285750"/>
            <a:r>
              <a:rPr lang="en-US" altLang="en-US" b="1"/>
              <a:t>Goal:</a:t>
            </a:r>
            <a:r>
              <a:rPr lang="en-US" altLang="en-US"/>
              <a:t> To predict whether a customer is likely to be lost to a competitor.</a:t>
            </a:r>
          </a:p>
          <a:p>
            <a:pPr marL="742950" lvl="1" indent="-285750"/>
            <a:r>
              <a:rPr lang="en-US" altLang="en-US" b="1"/>
              <a:t>Approach:</a:t>
            </a:r>
          </a:p>
          <a:p>
            <a:pPr marL="1143000" lvl="2" indent="-285750"/>
            <a:r>
              <a:rPr lang="en-US" altLang="en-US"/>
              <a:t>Use detailed record of transactions with each of the past and present customers, to find attributes.</a:t>
            </a:r>
          </a:p>
          <a:p>
            <a:pPr lvl="3" indent="-342900"/>
            <a:r>
              <a:rPr lang="en-US" altLang="en-US" sz="2200"/>
              <a:t>How often the customer calls, where he calls, what time-of-the day he calls most, his financial status, marital status, etc.</a:t>
            </a:r>
            <a:r>
              <a:rPr lang="en-US" altLang="en-US"/>
              <a:t> </a:t>
            </a:r>
          </a:p>
          <a:p>
            <a:pPr marL="1143000" lvl="2" indent="-285750"/>
            <a:r>
              <a:rPr lang="en-US" altLang="en-US"/>
              <a:t>Label the customers as loyal or disloyal.</a:t>
            </a:r>
          </a:p>
          <a:p>
            <a:pPr marL="1143000" lvl="2" indent="-285750"/>
            <a:r>
              <a:rPr lang="en-US" altLang="en-US"/>
              <a:t>Find a model for loyalty.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193D8C9B-29AC-4FB1-AC6F-82CF51D15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096000"/>
            <a:ext cx="352583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>
                <a:latin typeface="Times New Roman" panose="02020603050405020304" pitchFamily="18" charset="0"/>
              </a:rPr>
              <a:t>From [Berry &amp; Linoff] Data Mining Techniques, 1997</a:t>
            </a: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8677" name="Slide Number Placeholder 7">
            <a:extLst>
              <a:ext uri="{FF2B5EF4-FFF2-40B4-BE49-F238E27FC236}">
                <a16:creationId xmlns:a16="http://schemas.microsoft.com/office/drawing/2014/main" id="{95639060-B4B4-46F8-90FA-BDD31AF6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E2BE0BB-BACC-473A-BAEB-08E7200A4EF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C9E2B06-177F-449A-B17C-536B34AB1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Classification: Application 3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6A31FDE-7A04-4394-BFF1-B1CEC81B5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04237" cy="5181600"/>
          </a:xfrm>
        </p:spPr>
        <p:txBody>
          <a:bodyPr>
            <a:normAutofit/>
          </a:bodyPr>
          <a:lstStyle/>
          <a:p>
            <a:pPr marL="342900" indent="-342900">
              <a:defRPr/>
            </a:pPr>
            <a:endParaRPr lang="en-US" dirty="0"/>
          </a:p>
          <a:p>
            <a:pPr marL="342900" indent="-342900">
              <a:defRPr/>
            </a:pPr>
            <a:r>
              <a:rPr lang="en-US" dirty="0"/>
              <a:t>Sky Survey Cataloging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400" b="1" dirty="0"/>
              <a:t>Goal:</a:t>
            </a:r>
            <a:r>
              <a:rPr lang="en-US" sz="2400" dirty="0"/>
              <a:t> To predict class (star or galaxy) of sky objects, especially visually faint ones, based on the telescopic survey images (from Palomar Observatory).</a:t>
            </a:r>
          </a:p>
          <a:p>
            <a:pPr lvl="3">
              <a:defRPr/>
            </a:pPr>
            <a:r>
              <a:rPr lang="en-US" sz="2200" dirty="0"/>
              <a:t>3000 images with 23,040 x 23,040 pixels per image.</a:t>
            </a:r>
          </a:p>
          <a:p>
            <a:pPr marL="742950" lvl="1" indent="-285750">
              <a:buFont typeface="Arial" charset="0"/>
              <a:buChar char="–"/>
              <a:defRPr/>
            </a:pPr>
            <a:r>
              <a:rPr lang="en-US" sz="2400" b="1" dirty="0"/>
              <a:t>Approach:</a:t>
            </a:r>
          </a:p>
          <a:p>
            <a:pPr marL="1143000" lvl="2" indent="-28575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Segment the image. </a:t>
            </a:r>
          </a:p>
          <a:p>
            <a:pPr marL="1143000" lvl="2" indent="-28575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Measure image attributes (features) - 40 of them per object.</a:t>
            </a:r>
          </a:p>
          <a:p>
            <a:pPr marL="1143000" lvl="2" indent="-28575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Model the class based on these features.</a:t>
            </a:r>
          </a:p>
          <a:p>
            <a:pPr marL="1143000" lvl="2" indent="-28575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dirty="0"/>
              <a:t>Success Story: Could find 16 new high red-shift quasars, some of the farthest objects that are difficult to find!</a:t>
            </a: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C379F455-91B1-4A3A-8FD7-4E76429F8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715000"/>
            <a:ext cx="51355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b="0">
                <a:latin typeface="Times New Roman" panose="02020603050405020304" pitchFamily="18" charset="0"/>
              </a:rPr>
              <a:t>From [Fayyad, et.al.] Advances in Knowledge Discovery and Data Mining, 1996</a:t>
            </a: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9701" name="Slide Number Placeholder 7">
            <a:extLst>
              <a:ext uri="{FF2B5EF4-FFF2-40B4-BE49-F238E27FC236}">
                <a16:creationId xmlns:a16="http://schemas.microsoft.com/office/drawing/2014/main" id="{D93F975F-D67C-472D-8290-10C18001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E69D435-3110-48FA-8C31-BEF4133F8B5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62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EE6216C-EB2A-40B9-BBBF-31EBB7BCF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Classifying Galaxies</a:t>
            </a:r>
          </a:p>
        </p:txBody>
      </p:sp>
      <p:pic>
        <p:nvPicPr>
          <p:cNvPr id="30723" name="Picture 3" descr="early">
            <a:extLst>
              <a:ext uri="{FF2B5EF4-FFF2-40B4-BE49-F238E27FC236}">
                <a16:creationId xmlns:a16="http://schemas.microsoft.com/office/drawing/2014/main" id="{413194C2-0F34-499E-9B3F-B17C85B76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25908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4" descr="intermediate">
            <a:extLst>
              <a:ext uri="{FF2B5EF4-FFF2-40B4-BE49-F238E27FC236}">
                <a16:creationId xmlns:a16="http://schemas.microsoft.com/office/drawing/2014/main" id="{78ECCB42-15DC-4A5D-9314-14430B955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124200"/>
            <a:ext cx="25908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5" descr="late">
            <a:extLst>
              <a:ext uri="{FF2B5EF4-FFF2-40B4-BE49-F238E27FC236}">
                <a16:creationId xmlns:a16="http://schemas.microsoft.com/office/drawing/2014/main" id="{A8567D98-4BA7-47AF-8D51-093E9CCD7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098925"/>
            <a:ext cx="2643188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Text Box 6">
            <a:extLst>
              <a:ext uri="{FF2B5EF4-FFF2-40B4-BE49-F238E27FC236}">
                <a16:creationId xmlns:a16="http://schemas.microsoft.com/office/drawing/2014/main" id="{433232C9-B8DB-43A7-913F-C2A911850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676400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1"/>
              <a:t>Early</a:t>
            </a:r>
            <a:endParaRPr lang="en-US" altLang="en-US"/>
          </a:p>
        </p:txBody>
      </p:sp>
      <p:sp>
        <p:nvSpPr>
          <p:cNvPr id="30727" name="Text Box 7">
            <a:extLst>
              <a:ext uri="{FF2B5EF4-FFF2-40B4-BE49-F238E27FC236}">
                <a16:creationId xmlns:a16="http://schemas.microsoft.com/office/drawing/2014/main" id="{DA4D1D9D-9634-486E-849A-FB7E153D7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743200"/>
            <a:ext cx="1543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1"/>
              <a:t>Intermediate</a:t>
            </a:r>
            <a:endParaRPr lang="en-US" altLang="en-US" sz="2400" i="1"/>
          </a:p>
        </p:txBody>
      </p:sp>
      <p:sp>
        <p:nvSpPr>
          <p:cNvPr id="30728" name="Text Box 8">
            <a:extLst>
              <a:ext uri="{FF2B5EF4-FFF2-40B4-BE49-F238E27FC236}">
                <a16:creationId xmlns:a16="http://schemas.microsoft.com/office/drawing/2014/main" id="{7001A58D-0FC4-48DF-870D-A1FB36003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733800"/>
            <a:ext cx="654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i="1"/>
              <a:t>Late</a:t>
            </a:r>
            <a:endParaRPr lang="en-US" altLang="en-US"/>
          </a:p>
        </p:txBody>
      </p:sp>
      <p:sp>
        <p:nvSpPr>
          <p:cNvPr id="30729" name="Text Box 9">
            <a:extLst>
              <a:ext uri="{FF2B5EF4-FFF2-40B4-BE49-F238E27FC236}">
                <a16:creationId xmlns:a16="http://schemas.microsoft.com/office/drawing/2014/main" id="{30B7E856-7A29-4A20-AAD3-4B0AA36C7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029200"/>
            <a:ext cx="39862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marL="173038" indent="-173038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Data Size: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72 million stars, 20 million galaxies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Object Catalog: 9 GB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Image Database: 150 GB</a:t>
            </a:r>
            <a:r>
              <a:rPr lang="en-US" altLang="en-US" sz="1800">
                <a:latin typeface="Tahoma" panose="020B0604030504040204" pitchFamily="34" charset="0"/>
              </a:rPr>
              <a:t> 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0730" name="Text Box 10">
            <a:extLst>
              <a:ext uri="{FF2B5EF4-FFF2-40B4-BE49-F238E27FC236}">
                <a16:creationId xmlns:a16="http://schemas.microsoft.com/office/drawing/2014/main" id="{1B0E4D60-1406-42F5-8AFC-59FD86D97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676400"/>
            <a:ext cx="2516188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Class: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Stages of Formation</a:t>
            </a: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30731" name="Text Box 11">
            <a:extLst>
              <a:ext uri="{FF2B5EF4-FFF2-40B4-BE49-F238E27FC236}">
                <a16:creationId xmlns:a16="http://schemas.microsoft.com/office/drawing/2014/main" id="{DC0DF90B-6F07-403C-9EB1-C4FE84884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63" y="1671638"/>
            <a:ext cx="2890837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Attributes: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Image features, 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>
                <a:latin typeface="Tahoma" panose="020B0604030504040204" pitchFamily="34" charset="0"/>
              </a:rPr>
              <a:t>Characteristics of light waves received, etc.</a:t>
            </a:r>
          </a:p>
        </p:txBody>
      </p:sp>
      <p:sp>
        <p:nvSpPr>
          <p:cNvPr id="30732" name="Text Box 12">
            <a:extLst>
              <a:ext uri="{FF2B5EF4-FFF2-40B4-BE49-F238E27FC236}">
                <a16:creationId xmlns:a16="http://schemas.microsoft.com/office/drawing/2014/main" id="{81112340-EEE2-4BC5-8D49-CE8542D46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914400"/>
            <a:ext cx="27447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Courtesy: http://aps.umn.edu</a:t>
            </a:r>
          </a:p>
        </p:txBody>
      </p:sp>
      <p:sp>
        <p:nvSpPr>
          <p:cNvPr id="30733" name="Slide Number Placeholder 15">
            <a:extLst>
              <a:ext uri="{FF2B5EF4-FFF2-40B4-BE49-F238E27FC236}">
                <a16:creationId xmlns:a16="http://schemas.microsoft.com/office/drawing/2014/main" id="{2F1F3861-B258-4517-814D-8AF26538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B2533AF-B055-4DF0-A680-1B429A057E3A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7B1F235-9A10-46AD-88A5-AABDE8662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Regression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1563646-BAC5-4AD9-9A51-41DEA1EE2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229600" cy="4286250"/>
          </a:xfrm>
        </p:spPr>
        <p:txBody>
          <a:bodyPr/>
          <a:lstStyle/>
          <a:p>
            <a:pPr marL="342900" indent="-342900"/>
            <a:r>
              <a:rPr lang="en-US" altLang="en-US" sz="2400"/>
              <a:t>Predict a value of a given continuous valued variable based on the values of other variables, assuming a linear or nonlinear model of dependency.</a:t>
            </a:r>
          </a:p>
          <a:p>
            <a:pPr marL="342900" indent="-342900"/>
            <a:r>
              <a:rPr lang="en-US" altLang="en-US" sz="2400"/>
              <a:t>Extensively studied in statistics, neural network fields.</a:t>
            </a:r>
          </a:p>
          <a:p>
            <a:pPr marL="342900" indent="-342900"/>
            <a:r>
              <a:rPr lang="en-US" altLang="en-US" sz="2400"/>
              <a:t>Examples:</a:t>
            </a:r>
          </a:p>
          <a:p>
            <a:pPr marL="742950" lvl="1" indent="-285750"/>
            <a:r>
              <a:rPr lang="en-US" altLang="en-US" sz="2400"/>
              <a:t>Predicting sales amounts of new product based on advetising expenditure.</a:t>
            </a:r>
          </a:p>
          <a:p>
            <a:pPr marL="742950" lvl="1" indent="-285750"/>
            <a:r>
              <a:rPr lang="en-US" altLang="en-US" sz="2400"/>
              <a:t>Predicting wind velocities as a function of temperature, humidity, air pressure, etc.</a:t>
            </a:r>
          </a:p>
          <a:p>
            <a:pPr marL="742950" lvl="1" indent="-285750"/>
            <a:r>
              <a:rPr lang="en-US" altLang="en-US" sz="2400"/>
              <a:t>Time series prediction of stock market indices.</a:t>
            </a:r>
            <a:endParaRPr lang="en-US" altLang="en-US" sz="3200"/>
          </a:p>
        </p:txBody>
      </p:sp>
      <p:sp>
        <p:nvSpPr>
          <p:cNvPr id="31748" name="Slide Number Placeholder 6">
            <a:extLst>
              <a:ext uri="{FF2B5EF4-FFF2-40B4-BE49-F238E27FC236}">
                <a16:creationId xmlns:a16="http://schemas.microsoft.com/office/drawing/2014/main" id="{7BFBA043-6FB8-4C20-B89B-BF6067CB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E2197DB-211E-4863-B7C7-DC713368038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21D2E1BF-595A-4356-BFCD-C9DEC82529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2209800"/>
          </a:xfrm>
        </p:spPr>
        <p:txBody>
          <a:bodyPr/>
          <a:lstStyle/>
          <a:p>
            <a:pPr marL="342900" indent="-342900"/>
            <a:r>
              <a:rPr lang="en-US" altLang="en-US" sz="2400"/>
              <a:t>Finding groups of objects such that the objects in a group will be similar (or related) to one another and different from (or unrelated to) the objects in other groups</a:t>
            </a:r>
          </a:p>
          <a:p>
            <a:pPr marL="342900" indent="-342900"/>
            <a:endParaRPr lang="en-US" altLang="en-US" sz="2400"/>
          </a:p>
        </p:txBody>
      </p:sp>
      <p:grpSp>
        <p:nvGrpSpPr>
          <p:cNvPr id="33795" name="Group 4">
            <a:extLst>
              <a:ext uri="{FF2B5EF4-FFF2-40B4-BE49-F238E27FC236}">
                <a16:creationId xmlns:a16="http://schemas.microsoft.com/office/drawing/2014/main" id="{20990101-F45F-40FA-A168-9A42F12D743B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3570288"/>
            <a:ext cx="3048000" cy="2678112"/>
            <a:chOff x="2160" y="2544"/>
            <a:chExt cx="1920" cy="1687"/>
          </a:xfrm>
        </p:grpSpPr>
        <p:sp>
          <p:nvSpPr>
            <p:cNvPr id="33810" name="Line 5">
              <a:extLst>
                <a:ext uri="{FF2B5EF4-FFF2-40B4-BE49-F238E27FC236}">
                  <a16:creationId xmlns:a16="http://schemas.microsoft.com/office/drawing/2014/main" id="{75C58A0E-66A3-45C0-BE5A-D82C69B02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544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6">
              <a:extLst>
                <a:ext uri="{FF2B5EF4-FFF2-40B4-BE49-F238E27FC236}">
                  <a16:creationId xmlns:a16="http://schemas.microsoft.com/office/drawing/2014/main" id="{205278EC-EB1A-4E27-826F-68EBE023E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6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2" name="Freeform 7">
              <a:extLst>
                <a:ext uri="{FF2B5EF4-FFF2-40B4-BE49-F238E27FC236}">
                  <a16:creationId xmlns:a16="http://schemas.microsoft.com/office/drawing/2014/main" id="{526B1EA7-CE56-486E-9C50-55FEB7FD1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696"/>
              <a:ext cx="510" cy="535"/>
            </a:xfrm>
            <a:custGeom>
              <a:avLst/>
              <a:gdLst>
                <a:gd name="T0" fmla="*/ 510 w 510"/>
                <a:gd name="T1" fmla="*/ 0 h 535"/>
                <a:gd name="T2" fmla="*/ 0 w 510"/>
                <a:gd name="T3" fmla="*/ 535 h 535"/>
                <a:gd name="T4" fmla="*/ 0 60000 65536"/>
                <a:gd name="T5" fmla="*/ 0 60000 65536"/>
                <a:gd name="T6" fmla="*/ 0 w 510"/>
                <a:gd name="T7" fmla="*/ 0 h 535"/>
                <a:gd name="T8" fmla="*/ 510 w 510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0" h="535">
                  <a:moveTo>
                    <a:pt x="510" y="0"/>
                  </a:moveTo>
                  <a:lnTo>
                    <a:pt x="0" y="5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3" name="AutoShape 8">
              <a:extLst>
                <a:ext uri="{FF2B5EF4-FFF2-40B4-BE49-F238E27FC236}">
                  <a16:creationId xmlns:a16="http://schemas.microsoft.com/office/drawing/2014/main" id="{5ED11188-D70A-417B-B97A-7BCFB11DD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4" name="AutoShape 9">
              <a:extLst>
                <a:ext uri="{FF2B5EF4-FFF2-40B4-BE49-F238E27FC236}">
                  <a16:creationId xmlns:a16="http://schemas.microsoft.com/office/drawing/2014/main" id="{DFC6A445-F41D-449E-8B93-4B2727AEA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5" name="AutoShape 10">
              <a:extLst>
                <a:ext uri="{FF2B5EF4-FFF2-40B4-BE49-F238E27FC236}">
                  <a16:creationId xmlns:a16="http://schemas.microsoft.com/office/drawing/2014/main" id="{550B08FB-1E12-4719-813C-BE6F533C3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6" name="AutoShape 11">
              <a:extLst>
                <a:ext uri="{FF2B5EF4-FFF2-40B4-BE49-F238E27FC236}">
                  <a16:creationId xmlns:a16="http://schemas.microsoft.com/office/drawing/2014/main" id="{0DC9AE6B-8FDF-4585-9C8F-330DC68E8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2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7" name="AutoShape 12">
              <a:extLst>
                <a:ext uri="{FF2B5EF4-FFF2-40B4-BE49-F238E27FC236}">
                  <a16:creationId xmlns:a16="http://schemas.microsoft.com/office/drawing/2014/main" id="{AE33FD11-EBC1-4A93-B4AD-9CF7B7B0D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88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8" name="AutoShape 13">
              <a:extLst>
                <a:ext uri="{FF2B5EF4-FFF2-40B4-BE49-F238E27FC236}">
                  <a16:creationId xmlns:a16="http://schemas.microsoft.com/office/drawing/2014/main" id="{B41720B9-D165-4CB6-862D-2904102A6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78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19" name="AutoShape 14">
              <a:extLst>
                <a:ext uri="{FF2B5EF4-FFF2-40B4-BE49-F238E27FC236}">
                  <a16:creationId xmlns:a16="http://schemas.microsoft.com/office/drawing/2014/main" id="{41774A8F-DEF4-4AAC-9CBD-3089C4FB2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73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0" name="AutoShape 15">
              <a:extLst>
                <a:ext uri="{FF2B5EF4-FFF2-40B4-BE49-F238E27FC236}">
                  <a16:creationId xmlns:a16="http://schemas.microsoft.com/office/drawing/2014/main" id="{F3773440-5F75-4B83-AE2F-F805C67F7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1" name="AutoShape 16">
              <a:extLst>
                <a:ext uri="{FF2B5EF4-FFF2-40B4-BE49-F238E27FC236}">
                  <a16:creationId xmlns:a16="http://schemas.microsoft.com/office/drawing/2014/main" id="{A6CA5E8B-B1C2-4B40-B125-10D88E1E2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97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2" name="AutoShape 17">
              <a:extLst>
                <a:ext uri="{FF2B5EF4-FFF2-40B4-BE49-F238E27FC236}">
                  <a16:creationId xmlns:a16="http://schemas.microsoft.com/office/drawing/2014/main" id="{44EF255B-F15D-4EC0-92D3-5DFA5B965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264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3" name="AutoShape 18">
              <a:extLst>
                <a:ext uri="{FF2B5EF4-FFF2-40B4-BE49-F238E27FC236}">
                  <a16:creationId xmlns:a16="http://schemas.microsoft.com/office/drawing/2014/main" id="{F10E7BE8-AFA1-4268-820A-943177FAC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4" name="AutoShape 19">
              <a:extLst>
                <a:ext uri="{FF2B5EF4-FFF2-40B4-BE49-F238E27FC236}">
                  <a16:creationId xmlns:a16="http://schemas.microsoft.com/office/drawing/2014/main" id="{B6C180DE-E9A2-4FDA-B3F0-028F3290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5" name="AutoShape 20">
              <a:extLst>
                <a:ext uri="{FF2B5EF4-FFF2-40B4-BE49-F238E27FC236}">
                  <a16:creationId xmlns:a16="http://schemas.microsoft.com/office/drawing/2014/main" id="{D9531039-DE88-40EE-A421-6AB041E49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312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6" name="AutoShape 21">
              <a:extLst>
                <a:ext uri="{FF2B5EF4-FFF2-40B4-BE49-F238E27FC236}">
                  <a16:creationId xmlns:a16="http://schemas.microsoft.com/office/drawing/2014/main" id="{964811F3-8FFC-4213-A33C-A444D1CF3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16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7" name="AutoShape 22">
              <a:extLst>
                <a:ext uri="{FF2B5EF4-FFF2-40B4-BE49-F238E27FC236}">
                  <a16:creationId xmlns:a16="http://schemas.microsoft.com/office/drawing/2014/main" id="{3BFA5561-C625-4DED-A606-A48A73D50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456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8" name="AutoShape 23">
              <a:extLst>
                <a:ext uri="{FF2B5EF4-FFF2-40B4-BE49-F238E27FC236}">
                  <a16:creationId xmlns:a16="http://schemas.microsoft.com/office/drawing/2014/main" id="{5B9598F6-BBBD-4B49-8695-B081DF71B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408"/>
              <a:ext cx="96" cy="96"/>
            </a:xfrm>
            <a:prstGeom prst="octagon">
              <a:avLst>
                <a:gd name="adj" fmla="val 29287"/>
              </a:avLst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29" name="AutoShape 24">
              <a:extLst>
                <a:ext uri="{FF2B5EF4-FFF2-40B4-BE49-F238E27FC236}">
                  <a16:creationId xmlns:a16="http://schemas.microsoft.com/office/drawing/2014/main" id="{29440F43-EB8D-4C11-95A6-1CC9A1E7B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55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0" name="AutoShape 25">
              <a:extLst>
                <a:ext uri="{FF2B5EF4-FFF2-40B4-BE49-F238E27FC236}">
                  <a16:creationId xmlns:a16="http://schemas.microsoft.com/office/drawing/2014/main" id="{381B8F85-CC73-450D-9FA1-D4FF7E9A0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600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1" name="AutoShape 26">
              <a:extLst>
                <a:ext uri="{FF2B5EF4-FFF2-40B4-BE49-F238E27FC236}">
                  <a16:creationId xmlns:a16="http://schemas.microsoft.com/office/drawing/2014/main" id="{840C3CD1-0EC9-466D-90A7-51BA3C1E9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696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2" name="AutoShape 27">
              <a:extLst>
                <a:ext uri="{FF2B5EF4-FFF2-40B4-BE49-F238E27FC236}">
                  <a16:creationId xmlns:a16="http://schemas.microsoft.com/office/drawing/2014/main" id="{7F6AA434-9DCA-40D4-B236-31A7E1945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3" name="AutoShape 28">
              <a:extLst>
                <a:ext uri="{FF2B5EF4-FFF2-40B4-BE49-F238E27FC236}">
                  <a16:creationId xmlns:a16="http://schemas.microsoft.com/office/drawing/2014/main" id="{D35A68FA-D994-40B4-8912-F413E151B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792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4" name="AutoShape 29">
              <a:extLst>
                <a:ext uri="{FF2B5EF4-FFF2-40B4-BE49-F238E27FC236}">
                  <a16:creationId xmlns:a16="http://schemas.microsoft.com/office/drawing/2014/main" id="{B2D7B158-C0D8-4F85-9F6E-81F7D48941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04" y="3648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35" name="AutoShape 30">
              <a:extLst>
                <a:ext uri="{FF2B5EF4-FFF2-40B4-BE49-F238E27FC236}">
                  <a16:creationId xmlns:a16="http://schemas.microsoft.com/office/drawing/2014/main" id="{1495FE00-FA72-4A11-BD91-74963EAEF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504"/>
              <a:ext cx="96" cy="96"/>
            </a:xfrm>
            <a:prstGeom prst="octagon">
              <a:avLst>
                <a:gd name="adj" fmla="val 29287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1F5BFD5C-0012-4E46-B887-773BDA11275D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2667000"/>
            <a:ext cx="3048000" cy="2514600"/>
            <a:chOff x="3312" y="1584"/>
            <a:chExt cx="1920" cy="1584"/>
          </a:xfrm>
        </p:grpSpPr>
        <p:sp>
          <p:nvSpPr>
            <p:cNvPr id="33808" name="Line 32">
              <a:extLst>
                <a:ext uri="{FF2B5EF4-FFF2-40B4-BE49-F238E27FC236}">
                  <a16:creationId xmlns:a16="http://schemas.microsoft.com/office/drawing/2014/main" id="{C6B2AF4D-94A0-4E3F-A58A-DB5BF9364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12" y="2736"/>
              <a:ext cx="144" cy="432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AutoShape 33">
              <a:extLst>
                <a:ext uri="{FF2B5EF4-FFF2-40B4-BE49-F238E27FC236}">
                  <a16:creationId xmlns:a16="http://schemas.microsoft.com/office/drawing/2014/main" id="{93632CAB-9CD4-421F-AE17-5676C9A69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584"/>
              <a:ext cx="1248" cy="672"/>
            </a:xfrm>
            <a:prstGeom prst="wedgeRectCallout">
              <a:avLst>
                <a:gd name="adj1" fmla="val -93509"/>
                <a:gd name="adj2" fmla="val 150894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ahoma" panose="020B0604030504040204" pitchFamily="34" charset="0"/>
                </a:rPr>
                <a:t>Inter-cluster distances are maximized</a:t>
              </a:r>
            </a:p>
          </p:txBody>
        </p:sp>
      </p:grpSp>
      <p:grpSp>
        <p:nvGrpSpPr>
          <p:cNvPr id="4" name="Group 34">
            <a:extLst>
              <a:ext uri="{FF2B5EF4-FFF2-40B4-BE49-F238E27FC236}">
                <a16:creationId xmlns:a16="http://schemas.microsoft.com/office/drawing/2014/main" id="{429BD399-DCBB-4398-8EC5-94DDE74C6E4A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3657600"/>
            <a:ext cx="3276600" cy="2286000"/>
            <a:chOff x="1824" y="2208"/>
            <a:chExt cx="2064" cy="1440"/>
          </a:xfrm>
        </p:grpSpPr>
        <p:sp>
          <p:nvSpPr>
            <p:cNvPr id="33805" name="Oval 35">
              <a:extLst>
                <a:ext uri="{FF2B5EF4-FFF2-40B4-BE49-F238E27FC236}">
                  <a16:creationId xmlns:a16="http://schemas.microsoft.com/office/drawing/2014/main" id="{D7863109-223A-4D30-9A7B-E31709552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592"/>
              <a:ext cx="816" cy="720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06" name="Oval 36">
              <a:extLst>
                <a:ext uri="{FF2B5EF4-FFF2-40B4-BE49-F238E27FC236}">
                  <a16:creationId xmlns:a16="http://schemas.microsoft.com/office/drawing/2014/main" id="{A282DE0B-78AB-42A3-BDA4-6765A07E2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208"/>
              <a:ext cx="720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3807" name="Oval 37">
              <a:extLst>
                <a:ext uri="{FF2B5EF4-FFF2-40B4-BE49-F238E27FC236}">
                  <a16:creationId xmlns:a16="http://schemas.microsoft.com/office/drawing/2014/main" id="{B44B5803-B810-432A-89A1-DC9249A69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024"/>
              <a:ext cx="672" cy="624"/>
            </a:xfrm>
            <a:prstGeom prst="ellipse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5" name="Group 38">
            <a:extLst>
              <a:ext uri="{FF2B5EF4-FFF2-40B4-BE49-F238E27FC236}">
                <a16:creationId xmlns:a16="http://schemas.microsoft.com/office/drawing/2014/main" id="{1AE54792-52F0-4A72-8994-B0C9BA21C31C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2971800"/>
            <a:ext cx="2286000" cy="1676400"/>
            <a:chOff x="816" y="1776"/>
            <a:chExt cx="1440" cy="1056"/>
          </a:xfrm>
        </p:grpSpPr>
        <p:sp>
          <p:nvSpPr>
            <p:cNvPr id="33803" name="Line 39">
              <a:extLst>
                <a:ext uri="{FF2B5EF4-FFF2-40B4-BE49-F238E27FC236}">
                  <a16:creationId xmlns:a16="http://schemas.microsoft.com/office/drawing/2014/main" id="{D4EDAFB2-3A72-4435-982B-BF6F654CB3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736"/>
              <a:ext cx="192" cy="96"/>
            </a:xfrm>
            <a:prstGeom prst="line">
              <a:avLst/>
            </a:prstGeom>
            <a:noFill/>
            <a:ln w="25400">
              <a:solidFill>
                <a:srgbClr val="CC66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804" name="AutoShape 40">
              <a:extLst>
                <a:ext uri="{FF2B5EF4-FFF2-40B4-BE49-F238E27FC236}">
                  <a16:creationId xmlns:a16="http://schemas.microsoft.com/office/drawing/2014/main" id="{F41C457C-E794-4DC3-878D-A7F33D562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776"/>
              <a:ext cx="1248" cy="672"/>
            </a:xfrm>
            <a:prstGeom prst="wedgeRectCallout">
              <a:avLst>
                <a:gd name="adj1" fmla="val 56250"/>
                <a:gd name="adj2" fmla="val 92856"/>
              </a:avLst>
            </a:prstGeom>
            <a:solidFill>
              <a:srgbClr val="00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0">
                  <a:latin typeface="Tahoma" panose="020B0604030504040204" pitchFamily="34" charset="0"/>
                </a:rPr>
                <a:t>Intra-cluster distances are minimized</a:t>
              </a:r>
            </a:p>
          </p:txBody>
        </p:sp>
      </p:grpSp>
      <p:sp>
        <p:nvSpPr>
          <p:cNvPr id="33799" name="Rectangle 41">
            <a:extLst>
              <a:ext uri="{FF2B5EF4-FFF2-40B4-BE49-F238E27FC236}">
                <a16:creationId xmlns:a16="http://schemas.microsoft.com/office/drawing/2014/main" id="{14D13B94-1986-4C71-86E1-ADA3AFCD1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3200">
                <a:latin typeface="Tahoma" panose="020B0604030504040204" pitchFamily="34" charset="0"/>
              </a:rPr>
              <a:t>Clustering</a:t>
            </a:r>
          </a:p>
        </p:txBody>
      </p:sp>
      <p:sp>
        <p:nvSpPr>
          <p:cNvPr id="33800" name="Slide Number Placeholder 43">
            <a:extLst>
              <a:ext uri="{FF2B5EF4-FFF2-40B4-BE49-F238E27FC236}">
                <a16:creationId xmlns:a16="http://schemas.microsoft.com/office/drawing/2014/main" id="{EEC01952-3B30-4736-B2E2-1686A44F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2233CB6-32BB-4824-B74F-694721C26E96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65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>
            <a:extLst>
              <a:ext uri="{FF2B5EF4-FFF2-40B4-BE49-F238E27FC236}">
                <a16:creationId xmlns:a16="http://schemas.microsoft.com/office/drawing/2014/main" id="{6C3271E8-2BA0-40DF-A0A7-A5ED60E9AC7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914400"/>
            <a:ext cx="3810000" cy="4191000"/>
          </a:xfrm>
          <a:noFill/>
        </p:spPr>
        <p:txBody>
          <a:bodyPr lIns="91440" tIns="45720" rIns="91440" bIns="45720"/>
          <a:lstStyle/>
          <a:p>
            <a:pPr marL="342900" indent="-342900"/>
            <a:r>
              <a:rPr lang="en-US" altLang="en-US" sz="2000" b="1"/>
              <a:t>Understanding</a:t>
            </a:r>
          </a:p>
          <a:p>
            <a:pPr marL="742950" lvl="1" indent="-285750"/>
            <a:r>
              <a:rPr lang="en-US" altLang="en-US" sz="1600"/>
              <a:t>Custom profiling for targeted marketing </a:t>
            </a:r>
          </a:p>
          <a:p>
            <a:pPr marL="742950" lvl="1" indent="-285750"/>
            <a:r>
              <a:rPr lang="en-US" altLang="en-US" sz="1600"/>
              <a:t>Group related documents for browsing </a:t>
            </a:r>
          </a:p>
          <a:p>
            <a:pPr marL="742950" lvl="1" indent="-285750"/>
            <a:r>
              <a:rPr lang="en-US" altLang="en-US" sz="1600"/>
              <a:t>Group genes and proteins that have similar functionality</a:t>
            </a:r>
          </a:p>
          <a:p>
            <a:pPr marL="742950" lvl="1" indent="-285750"/>
            <a:r>
              <a:rPr lang="en-US" altLang="en-US" sz="1600"/>
              <a:t>Group stocks with similar price fluctuations</a:t>
            </a:r>
            <a:endParaRPr lang="en-US" altLang="en-US" sz="1800" b="1"/>
          </a:p>
          <a:p>
            <a:pPr marL="342900" indent="-342900"/>
            <a:r>
              <a:rPr lang="en-US" altLang="en-US" sz="2000" b="1"/>
              <a:t>Summarization</a:t>
            </a:r>
          </a:p>
          <a:p>
            <a:pPr marL="742950" lvl="1" indent="-285750"/>
            <a:r>
              <a:rPr lang="en-US" altLang="en-US" sz="1600"/>
              <a:t>Reduce the size of large data sets</a:t>
            </a:r>
          </a:p>
          <a:p>
            <a:pPr marL="342900" indent="-342900"/>
            <a:endParaRPr lang="en-US" altLang="en-US" sz="1800"/>
          </a:p>
          <a:p>
            <a:pPr marL="342900" indent="-342900">
              <a:spcBef>
                <a:spcPct val="50000"/>
              </a:spcBef>
              <a:buClr>
                <a:schemeClr val="bg1"/>
              </a:buClr>
              <a:buFontTx/>
              <a:buNone/>
            </a:pPr>
            <a:endParaRPr lang="en-US" altLang="en-US" sz="1800" b="1"/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8537FFC8-6293-4071-90A2-DFF9A0E40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80400" cy="533400"/>
          </a:xfrm>
        </p:spPr>
        <p:txBody>
          <a:bodyPr/>
          <a:lstStyle/>
          <a:p>
            <a:r>
              <a:rPr lang="en-US" altLang="en-US"/>
              <a:t>Applications of Cluster Analysis</a:t>
            </a:r>
          </a:p>
        </p:txBody>
      </p:sp>
      <p:grpSp>
        <p:nvGrpSpPr>
          <p:cNvPr id="34820" name="Group 12">
            <a:extLst>
              <a:ext uri="{FF2B5EF4-FFF2-40B4-BE49-F238E27FC236}">
                <a16:creationId xmlns:a16="http://schemas.microsoft.com/office/drawing/2014/main" id="{540C19E9-2911-4446-B1D0-5E80C65B4A2F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630238"/>
            <a:ext cx="8534400" cy="152400"/>
            <a:chOff x="264" y="788"/>
            <a:chExt cx="5232" cy="124"/>
          </a:xfrm>
        </p:grpSpPr>
        <p:sp>
          <p:nvSpPr>
            <p:cNvPr id="34833" name="Rectangle 13">
              <a:extLst>
                <a:ext uri="{FF2B5EF4-FFF2-40B4-BE49-F238E27FC236}">
                  <a16:creationId xmlns:a16="http://schemas.microsoft.com/office/drawing/2014/main" id="{2CDA7776-A876-4F4F-89C4-85FE52067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4834" name="Rectangle 14">
              <a:extLst>
                <a:ext uri="{FF2B5EF4-FFF2-40B4-BE49-F238E27FC236}">
                  <a16:creationId xmlns:a16="http://schemas.microsoft.com/office/drawing/2014/main" id="{8AA98696-C989-46FF-8791-E9BAA2435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grpSp>
        <p:nvGrpSpPr>
          <p:cNvPr id="34821" name="Group 16">
            <a:extLst>
              <a:ext uri="{FF2B5EF4-FFF2-40B4-BE49-F238E27FC236}">
                <a16:creationId xmlns:a16="http://schemas.microsoft.com/office/drawing/2014/main" id="{1319A0C6-0EDA-4B67-A6E6-1AC8A737A5E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76200" y="4724400"/>
            <a:ext cx="3549650" cy="2011363"/>
            <a:chOff x="2009" y="2256"/>
            <a:chExt cx="3559" cy="2017"/>
          </a:xfrm>
        </p:grpSpPr>
        <p:grpSp>
          <p:nvGrpSpPr>
            <p:cNvPr id="34829" name="Group 9">
              <a:extLst>
                <a:ext uri="{FF2B5EF4-FFF2-40B4-BE49-F238E27FC236}">
                  <a16:creationId xmlns:a16="http://schemas.microsoft.com/office/drawing/2014/main" id="{7950D71D-0001-41B9-A2FD-0620299677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09" y="2256"/>
              <a:ext cx="3222" cy="2017"/>
              <a:chOff x="-459" y="768"/>
              <a:chExt cx="5067" cy="3171"/>
            </a:xfrm>
          </p:grpSpPr>
          <p:pic>
            <p:nvPicPr>
              <p:cNvPr id="34831" name="Picture 10">
                <a:extLst>
                  <a:ext uri="{FF2B5EF4-FFF2-40B4-BE49-F238E27FC236}">
                    <a16:creationId xmlns:a16="http://schemas.microsoft.com/office/drawing/2014/main" id="{E839E9F6-34CB-4919-9F12-2C8FCD1039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59" y="768"/>
                <a:ext cx="4510" cy="31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832" name="Rectangle 11">
                <a:extLst>
                  <a:ext uri="{FF2B5EF4-FFF2-40B4-BE49-F238E27FC236}">
                    <a16:creationId xmlns:a16="http://schemas.microsoft.com/office/drawing/2014/main" id="{39EC22D9-A0EE-4F8F-B363-2454A32EB4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76" y="912"/>
                <a:ext cx="432" cy="5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5000"/>
                  <a:buFont typeface="Monotype Sorts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100000"/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spcAft>
                    <a:spcPts val="400"/>
                  </a:spcAft>
                  <a:buClr>
                    <a:srgbClr val="0C7B9C"/>
                  </a:buClr>
                  <a:buSzPct val="70000"/>
                  <a:buFont typeface="Wingdings" panose="05000000000000000000" pitchFamily="2" charset="2"/>
                  <a:buChar char="u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en-US" altLang="en-US" sz="1400"/>
              </a:p>
            </p:txBody>
          </p:sp>
        </p:grpSp>
        <p:sp>
          <p:nvSpPr>
            <p:cNvPr id="34830" name="Rectangle 15">
              <a:extLst>
                <a:ext uri="{FF2B5EF4-FFF2-40B4-BE49-F238E27FC236}">
                  <a16:creationId xmlns:a16="http://schemas.microsoft.com/office/drawing/2014/main" id="{FB384F7A-2CC5-40C7-9661-145F4A609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2592"/>
              <a:ext cx="624" cy="1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34822" name="Text Box 17">
            <a:extLst>
              <a:ext uri="{FF2B5EF4-FFF2-40B4-BE49-F238E27FC236}">
                <a16:creationId xmlns:a16="http://schemas.microsoft.com/office/drawing/2014/main" id="{EE831BF3-6052-4992-97A2-38D5B909B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876800"/>
            <a:ext cx="1905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/>
              <a:t>Use of K-means to partition Sea Surface Temperature (SST) and Net Primary Production (NPP) into clusters that reflect the Northern and Southern Hemispheres. </a:t>
            </a:r>
          </a:p>
        </p:txBody>
      </p:sp>
      <p:pic>
        <p:nvPicPr>
          <p:cNvPr id="34823" name="Picture 7" descr="D1">
            <a:extLst>
              <a:ext uri="{FF2B5EF4-FFF2-40B4-BE49-F238E27FC236}">
                <a16:creationId xmlns:a16="http://schemas.microsoft.com/office/drawing/2014/main" id="{39A7A63E-11DF-49C4-A60B-A06694D03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9" r="13461" b="18495"/>
          <a:stretch>
            <a:fillRect/>
          </a:stretch>
        </p:blipFill>
        <p:spPr bwMode="auto">
          <a:xfrm>
            <a:off x="5029200" y="914400"/>
            <a:ext cx="3810000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Text Box 10">
            <a:extLst>
              <a:ext uri="{FF2B5EF4-FFF2-40B4-BE49-F238E27FC236}">
                <a16:creationId xmlns:a16="http://schemas.microsoft.com/office/drawing/2014/main" id="{401FE8C7-4F89-48E9-9CF0-26554BA86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327525"/>
            <a:ext cx="2438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/>
              <a:t>Courtesy: Michael Eisen</a:t>
            </a:r>
          </a:p>
        </p:txBody>
      </p:sp>
      <p:graphicFrame>
        <p:nvGraphicFramePr>
          <p:cNvPr id="34825" name="Object 18">
            <a:extLst>
              <a:ext uri="{FF2B5EF4-FFF2-40B4-BE49-F238E27FC236}">
                <a16:creationId xmlns:a16="http://schemas.microsoft.com/office/drawing/2014/main" id="{396065DB-6ED9-471B-AB4A-D61950E1AF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721225"/>
          <a:ext cx="3429000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8580952" imgH="4963218" progId="Paint.Picture">
                  <p:embed/>
                </p:oleObj>
              </mc:Choice>
              <mc:Fallback>
                <p:oleObj name="Bitmap Image" r:id="rId4" imgW="8580952" imgH="4963218" progId="Paint.Picture">
                  <p:embed/>
                  <p:pic>
                    <p:nvPicPr>
                      <p:cNvPr id="34825" name="Object 18">
                        <a:extLst>
                          <a:ext uri="{FF2B5EF4-FFF2-40B4-BE49-F238E27FC236}">
                            <a16:creationId xmlns:a16="http://schemas.microsoft.com/office/drawing/2014/main" id="{396065DB-6ED9-471B-AB4A-D61950E1AF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721225"/>
                        <a:ext cx="3429000" cy="198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7" name="Slide Number Placeholder 3">
            <a:extLst>
              <a:ext uri="{FF2B5EF4-FFF2-40B4-BE49-F238E27FC236}">
                <a16:creationId xmlns:a16="http://schemas.microsoft.com/office/drawing/2014/main" id="{022C8B3D-43ED-4A65-9295-B5644EDC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B7C35C9-7CCD-4DA2-9452-AEE71F0CFE2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188AB90-3789-4CDC-8302-70D0644FD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Clustering: Application 1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2FE8BE2-3A70-4EE9-AE71-6A32F58DC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178800" cy="4171950"/>
          </a:xfrm>
        </p:spPr>
        <p:txBody>
          <a:bodyPr/>
          <a:lstStyle/>
          <a:p>
            <a:pPr marL="342900" indent="-342900">
              <a:lnSpc>
                <a:spcPct val="90000"/>
              </a:lnSpc>
            </a:pPr>
            <a:r>
              <a:rPr lang="en-US" altLang="en-US"/>
              <a:t>Market Segmentation:</a:t>
            </a:r>
          </a:p>
          <a:p>
            <a:pPr marL="342900" indent="-342900">
              <a:lnSpc>
                <a:spcPct val="90000"/>
              </a:lnSpc>
            </a:pPr>
            <a:endParaRPr lang="en-US" altLang="en-US" sz="800"/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b="1"/>
              <a:t>Goal:</a:t>
            </a:r>
            <a:r>
              <a:rPr lang="en-US" altLang="en-US" sz="2400"/>
              <a:t> subdivide a market into distinct subsets of customers where any subset may conceivably be selected as a market target to be reached with a distinct marketing mix.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US" sz="2400" b="1"/>
              <a:t>Approach:</a:t>
            </a:r>
            <a:r>
              <a:rPr lang="en-US" altLang="en-US" sz="2400"/>
              <a:t> </a:t>
            </a:r>
          </a:p>
          <a:p>
            <a:pPr marL="1143000" lvl="2" indent="-279400">
              <a:lnSpc>
                <a:spcPct val="90000"/>
              </a:lnSpc>
            </a:pPr>
            <a:r>
              <a:rPr lang="en-US" altLang="en-US"/>
              <a:t>Collect different attributes of customers based on their geographical and lifestyle related information.</a:t>
            </a:r>
          </a:p>
          <a:p>
            <a:pPr marL="1143000" lvl="2" indent="-279400">
              <a:lnSpc>
                <a:spcPct val="90000"/>
              </a:lnSpc>
            </a:pPr>
            <a:r>
              <a:rPr lang="en-US" altLang="en-US"/>
              <a:t>Find clusters of similar customers.</a:t>
            </a:r>
          </a:p>
          <a:p>
            <a:pPr marL="1143000" lvl="2" indent="-279400">
              <a:lnSpc>
                <a:spcPct val="90000"/>
              </a:lnSpc>
            </a:pPr>
            <a:r>
              <a:rPr lang="en-US" altLang="en-US"/>
              <a:t>Measure the clustering quality by observing buying patterns of customers in same cluster vs. those from different clusters. </a:t>
            </a:r>
          </a:p>
        </p:txBody>
      </p:sp>
      <p:sp>
        <p:nvSpPr>
          <p:cNvPr id="35844" name="Slide Number Placeholder 6">
            <a:extLst>
              <a:ext uri="{FF2B5EF4-FFF2-40B4-BE49-F238E27FC236}">
                <a16:creationId xmlns:a16="http://schemas.microsoft.com/office/drawing/2014/main" id="{9D9BF3F8-C02A-4AAD-97F7-63859671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16F6F8F-8BA8-4DB8-AE2B-05332847AAA7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67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27C41E6-2A83-4EFB-88F6-7C2C174D3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Clustering: Application 2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4F0B1B3-C431-4B91-8069-351A58F8A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/>
            <a:r>
              <a:rPr lang="en-US" altLang="en-US" sz="2400"/>
              <a:t>Document Clustering:</a:t>
            </a:r>
          </a:p>
          <a:p>
            <a:pPr marL="342900" indent="-342900"/>
            <a:endParaRPr lang="en-US" altLang="en-US" sz="700"/>
          </a:p>
          <a:p>
            <a:pPr marL="742950" lvl="1" indent="-285750"/>
            <a:r>
              <a:rPr lang="en-US" altLang="en-US" sz="2400" b="1"/>
              <a:t>Goal:</a:t>
            </a:r>
            <a:r>
              <a:rPr lang="en-US" altLang="en-US" sz="2400"/>
              <a:t> To find groups of documents that are similar to each other based on the important terms appearing in them.</a:t>
            </a:r>
          </a:p>
          <a:p>
            <a:pPr marL="742950" lvl="1" indent="-285750"/>
            <a:endParaRPr lang="en-US" altLang="en-US" sz="1100"/>
          </a:p>
          <a:p>
            <a:pPr marL="742950" lvl="1" indent="-285750"/>
            <a:r>
              <a:rPr lang="en-US" altLang="en-US" sz="2400" b="1"/>
              <a:t>Approach:</a:t>
            </a:r>
            <a:r>
              <a:rPr lang="en-US" altLang="en-US" sz="2400"/>
              <a:t> To identify frequently occurring terms in each document. Form a similarity measure based on the frequencies of different terms. Use it to cluster.</a:t>
            </a:r>
          </a:p>
        </p:txBody>
      </p:sp>
      <p:sp>
        <p:nvSpPr>
          <p:cNvPr id="37892" name="Slide Number Placeholder 6">
            <a:extLst>
              <a:ext uri="{FF2B5EF4-FFF2-40B4-BE49-F238E27FC236}">
                <a16:creationId xmlns:a16="http://schemas.microsoft.com/office/drawing/2014/main" id="{5F666A36-2684-4960-B51C-61BE7E9B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741B07E-1FE4-4F52-9800-137481BF6C02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68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7894" name="Picture 8">
            <a:extLst>
              <a:ext uri="{FF2B5EF4-FFF2-40B4-BE49-F238E27FC236}">
                <a16:creationId xmlns:a16="http://schemas.microsoft.com/office/drawing/2014/main" id="{F9E33FBD-C18B-4875-B1FD-A55ADA77C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4673600"/>
            <a:ext cx="2895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TextBox 6">
            <a:extLst>
              <a:ext uri="{FF2B5EF4-FFF2-40B4-BE49-F238E27FC236}">
                <a16:creationId xmlns:a16="http://schemas.microsoft.com/office/drawing/2014/main" id="{D9D067DB-C8F5-47C7-90D1-DDE034FE0C4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325563" y="5219700"/>
            <a:ext cx="2743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>
                <a:cs typeface="Arial" panose="020B0604020202020204" pitchFamily="34" charset="0"/>
              </a:rPr>
              <a:t>Enron email dataset </a:t>
            </a:r>
          </a:p>
        </p:txBody>
      </p:sp>
    </p:spTree>
  </p:cSld>
  <p:clrMapOvr>
    <a:masterClrMapping/>
  </p:clrMapOvr>
  <p:transition>
    <p:zo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D0F723C-DEE4-439F-AF97-04FF60630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1681" y="381000"/>
            <a:ext cx="7716838" cy="762000"/>
          </a:xfrm>
        </p:spPr>
        <p:txBody>
          <a:bodyPr/>
          <a:lstStyle/>
          <a:p>
            <a:r>
              <a:rPr lang="en-US" altLang="en-US" dirty="0"/>
              <a:t>Association Rule Discovery: Definition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09D4D69-A5C5-46B8-B224-8A958077E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Given a set of records each of which contain some number of items from a given collection</a:t>
            </a:r>
          </a:p>
          <a:p>
            <a:pPr lvl="1"/>
            <a:r>
              <a:rPr lang="en-US" altLang="en-US" sz="2400"/>
              <a:t>Produce dependency rules which will predict occurrence of an item based on occurrences of other items.</a:t>
            </a:r>
            <a:endParaRPr lang="en-US" altLang="en-US"/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CD2FB4E8-DE29-4B9C-B458-7847C4504E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714750"/>
          <a:ext cx="4181475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823716" imgH="1999488" progId="Word.Document.8">
                  <p:embed/>
                </p:oleObj>
              </mc:Choice>
              <mc:Fallback>
                <p:oleObj name="Document" r:id="rId2" imgW="3823716" imgH="1999488" progId="Word.Document.8">
                  <p:embed/>
                  <p:pic>
                    <p:nvPicPr>
                      <p:cNvPr id="39940" name="Object 4">
                        <a:extLst>
                          <a:ext uri="{FF2B5EF4-FFF2-40B4-BE49-F238E27FC236}">
                            <a16:creationId xmlns:a16="http://schemas.microsoft.com/office/drawing/2014/main" id="{CD2FB4E8-DE29-4B9C-B458-7847C4504E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714750"/>
                        <a:ext cx="4181475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5">
            <a:extLst>
              <a:ext uri="{FF2B5EF4-FFF2-40B4-BE49-F238E27FC236}">
                <a16:creationId xmlns:a16="http://schemas.microsoft.com/office/drawing/2014/main" id="{63FD6A14-5F29-4B43-9A2F-061406F99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095750"/>
            <a:ext cx="3443288" cy="976313"/>
          </a:xfrm>
          <a:prstGeom prst="rect">
            <a:avLst/>
          </a:prstGeom>
          <a:solidFill>
            <a:srgbClr val="CC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Rules Discovered: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    </a:t>
            </a: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{Milk} --&gt; {Coke}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0000"/>
                </a:solidFill>
                <a:latin typeface="Tahoma" panose="020B0604030504040204" pitchFamily="34" charset="0"/>
              </a:rPr>
              <a:t>    {Diaper, Milk} --&gt; {Beer}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9942" name="Slide Number Placeholder 8">
            <a:extLst>
              <a:ext uri="{FF2B5EF4-FFF2-40B4-BE49-F238E27FC236}">
                <a16:creationId xmlns:a16="http://schemas.microsoft.com/office/drawing/2014/main" id="{42ABDF89-09A7-4F96-BC65-886CF9592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74A0734-5754-41C9-9FE6-651C90CF057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69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E705327-FEC0-485B-93CF-F1949EAB9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1681" y="325582"/>
            <a:ext cx="7716838" cy="762000"/>
          </a:xfrm>
        </p:spPr>
        <p:txBody>
          <a:bodyPr/>
          <a:lstStyle/>
          <a:p>
            <a:r>
              <a:rPr lang="en-US" altLang="en-US" dirty="0"/>
              <a:t>Association Analysis: Applications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E036010-44B7-4EDF-97D0-D871B513D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Market-basket analysis</a:t>
            </a:r>
          </a:p>
          <a:p>
            <a:pPr lvl="1"/>
            <a:r>
              <a:rPr lang="en-US" altLang="en-US" sz="2400"/>
              <a:t>Rules are used for sales promotion, shelf management, and inventory management</a:t>
            </a:r>
          </a:p>
          <a:p>
            <a:pPr lvl="4"/>
            <a:endParaRPr lang="en-US" altLang="en-US" sz="2400"/>
          </a:p>
          <a:p>
            <a:r>
              <a:rPr lang="en-US" altLang="en-US"/>
              <a:t>Telecommunication alarm diagnosis</a:t>
            </a:r>
          </a:p>
          <a:p>
            <a:pPr lvl="1"/>
            <a:r>
              <a:rPr lang="en-US" altLang="en-US" sz="2400"/>
              <a:t>Rules are used to find combination of alarms that occur together frequently in the same time period</a:t>
            </a:r>
          </a:p>
          <a:p>
            <a:pPr lvl="4"/>
            <a:endParaRPr lang="en-US" altLang="en-US" sz="2400"/>
          </a:p>
          <a:p>
            <a:r>
              <a:rPr lang="en-US" altLang="en-US"/>
              <a:t>Medical Informatics</a:t>
            </a:r>
          </a:p>
          <a:p>
            <a:pPr lvl="1"/>
            <a:r>
              <a:rPr lang="en-US" altLang="en-US" sz="2400"/>
              <a:t>Rules are used to find combination of patient symptoms and test results associated with certain diseases</a:t>
            </a:r>
          </a:p>
        </p:txBody>
      </p:sp>
      <p:sp>
        <p:nvSpPr>
          <p:cNvPr id="40964" name="Slide Number Placeholder 6">
            <a:extLst>
              <a:ext uri="{FF2B5EF4-FFF2-40B4-BE49-F238E27FC236}">
                <a16:creationId xmlns:a16="http://schemas.microsoft.com/office/drawing/2014/main" id="{A66850E6-42A8-42F8-8DE0-9D2BE6EF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1AF0C38-06AE-4DAD-9F82-5E2F1D85B53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70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>
            <a:extLst>
              <a:ext uri="{FF2B5EF4-FFF2-40B4-BE49-F238E27FC236}">
                <a16:creationId xmlns:a16="http://schemas.microsoft.com/office/drawing/2014/main" id="{D664315A-182F-4F99-B952-78AD1D42D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03425"/>
            <a:ext cx="8153400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Rectangle 3">
            <a:extLst>
              <a:ext uri="{FF2B5EF4-FFF2-40B4-BE49-F238E27FC236}">
                <a16:creationId xmlns:a16="http://schemas.microsoft.com/office/drawing/2014/main" id="{5EC40810-64CB-48EC-B010-B945108B07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371600"/>
            <a:ext cx="8229600" cy="4754563"/>
          </a:xfrm>
        </p:spPr>
        <p:txBody>
          <a:bodyPr/>
          <a:lstStyle/>
          <a:p>
            <a:r>
              <a:rPr lang="en-US" altLang="zh-CN" sz="2400">
                <a:ea typeface="SimSun" panose="02010600030101010101" pitchFamily="2" charset="-122"/>
              </a:rPr>
              <a:t>An Example Subspace Differential Coexpression Pattern from lung cancer dataset</a:t>
            </a:r>
            <a:endParaRPr lang="en-US" altLang="zh-CN">
              <a:ea typeface="SimSun" panose="02010600030101010101" pitchFamily="2" charset="-122"/>
            </a:endParaRPr>
          </a:p>
          <a:p>
            <a:endParaRPr lang="en-US" altLang="zh-CN">
              <a:ea typeface="SimSun" panose="02010600030101010101" pitchFamily="2" charset="-122"/>
            </a:endParaRPr>
          </a:p>
          <a:p>
            <a:endParaRPr lang="en-US" altLang="zh-CN">
              <a:ea typeface="SimSun" panose="02010600030101010101" pitchFamily="2" charset="-122"/>
            </a:endParaRPr>
          </a:p>
          <a:p>
            <a:endParaRPr lang="en-US" altLang="zh-CN">
              <a:ea typeface="SimSun" panose="02010600030101010101" pitchFamily="2" charset="-122"/>
            </a:endParaRPr>
          </a:p>
          <a:p>
            <a:endParaRPr lang="en-US" altLang="zh-CN" sz="1600">
              <a:ea typeface="SimSun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600">
              <a:ea typeface="SimSun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600">
              <a:ea typeface="SimSun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600">
              <a:ea typeface="SimSun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z="1600">
                <a:ea typeface="SimSun" panose="02010600030101010101" pitchFamily="2" charset="-122"/>
              </a:rPr>
              <a:t>Enriched with the TNF/NFB signaling pathway</a:t>
            </a:r>
          </a:p>
          <a:p>
            <a:pPr>
              <a:buFontTx/>
              <a:buNone/>
            </a:pPr>
            <a:r>
              <a:rPr lang="en-US" altLang="zh-CN" sz="1600">
                <a:ea typeface="SimSun" panose="02010600030101010101" pitchFamily="2" charset="-122"/>
              </a:rPr>
              <a:t>which is well-known to be related to lung cancer</a:t>
            </a:r>
          </a:p>
          <a:p>
            <a:pPr>
              <a:buFontTx/>
              <a:buNone/>
            </a:pPr>
            <a:r>
              <a:rPr lang="en-US" altLang="zh-CN" sz="1600">
                <a:ea typeface="SimSun" panose="02010600030101010101" pitchFamily="2" charset="-122"/>
              </a:rPr>
              <a:t>P-value: 1.4*10</a:t>
            </a:r>
            <a:r>
              <a:rPr lang="en-US" altLang="zh-CN" sz="1600" baseline="30000">
                <a:ea typeface="SimSun" panose="02010600030101010101" pitchFamily="2" charset="-122"/>
              </a:rPr>
              <a:t>-5</a:t>
            </a:r>
            <a:r>
              <a:rPr lang="en-US" altLang="zh-CN" sz="1600">
                <a:ea typeface="SimSun" panose="02010600030101010101" pitchFamily="2" charset="-122"/>
              </a:rPr>
              <a:t> (6/10 overlap with the pathway) </a:t>
            </a:r>
          </a:p>
          <a:p>
            <a:pPr>
              <a:buFontTx/>
              <a:buNone/>
            </a:pPr>
            <a:endParaRPr lang="en-US" altLang="zh-CN" sz="1600">
              <a:ea typeface="SimSun" panose="02010600030101010101" pitchFamily="2" charset="-122"/>
            </a:endParaRPr>
          </a:p>
          <a:p>
            <a:endParaRPr lang="en-US" altLang="zh-CN" sz="1600">
              <a:ea typeface="SimSun" panose="02010600030101010101" pitchFamily="2" charset="-122"/>
            </a:endParaRPr>
          </a:p>
        </p:txBody>
      </p:sp>
      <p:pic>
        <p:nvPicPr>
          <p:cNvPr id="43012" name="Picture 6">
            <a:extLst>
              <a:ext uri="{FF2B5EF4-FFF2-40B4-BE49-F238E27FC236}">
                <a16:creationId xmlns:a16="http://schemas.microsoft.com/office/drawing/2014/main" id="{AE34B7FF-261E-417E-96B3-801203CE4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724400"/>
            <a:ext cx="1981200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 Box 7">
            <a:extLst>
              <a:ext uri="{FF2B5EF4-FFF2-40B4-BE49-F238E27FC236}">
                <a16:creationId xmlns:a16="http://schemas.microsoft.com/office/drawing/2014/main" id="{FA6859C8-563B-4313-BB5B-6DC195702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92825"/>
            <a:ext cx="2438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>
                <a:ea typeface="SimSun" panose="02010600030101010101" pitchFamily="2" charset="-122"/>
              </a:rPr>
              <a:t>[Fang et al PSB 2010]</a:t>
            </a:r>
            <a:endParaRPr lang="en-US" altLang="zh-CN" sz="1600">
              <a:solidFill>
                <a:srgbClr val="C00000"/>
              </a:solidFill>
              <a:ea typeface="SimSun" panose="02010600030101010101" pitchFamily="2" charset="-122"/>
            </a:endParaRPr>
          </a:p>
        </p:txBody>
      </p:sp>
      <p:sp>
        <p:nvSpPr>
          <p:cNvPr id="43014" name="TextBox 8">
            <a:extLst>
              <a:ext uri="{FF2B5EF4-FFF2-40B4-BE49-F238E27FC236}">
                <a16:creationId xmlns:a16="http://schemas.microsoft.com/office/drawing/2014/main" id="{72415B55-E222-49BC-989A-AC455B6F2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828800"/>
            <a:ext cx="31559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lvl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000">
                <a:solidFill>
                  <a:srgbClr val="0070C0"/>
                </a:solidFill>
                <a:ea typeface="SimSun" panose="02010600030101010101" pitchFamily="2" charset="-122"/>
              </a:rPr>
              <a:t>Three lung cancer datasets </a:t>
            </a:r>
            <a:r>
              <a:rPr lang="en-US" altLang="zh-CN" sz="1000">
                <a:solidFill>
                  <a:srgbClr val="0070C0"/>
                </a:solidFill>
                <a:ea typeface="SimSun" panose="02010600030101010101" pitchFamily="2" charset="-122"/>
              </a:rPr>
              <a:t>[Bhattacharjee et al. 2001], [Stearman et al. 2005], [Su et al. 2007]</a:t>
            </a:r>
            <a:endParaRPr lang="en-US" altLang="en-US" sz="1000">
              <a:solidFill>
                <a:srgbClr val="0070C0"/>
              </a:solidFill>
              <a:ea typeface="SimSun" panose="02010600030101010101" pitchFamily="2" charset="-122"/>
            </a:endParaRPr>
          </a:p>
        </p:txBody>
      </p:sp>
      <p:sp>
        <p:nvSpPr>
          <p:cNvPr id="43015" name="Title 1">
            <a:extLst>
              <a:ext uri="{FF2B5EF4-FFF2-40B4-BE49-F238E27FC236}">
                <a16:creationId xmlns:a16="http://schemas.microsoft.com/office/drawing/2014/main" id="{F4578DF7-5B00-49E9-B074-9A5C322E5B61}"/>
              </a:ext>
            </a:extLst>
          </p:cNvPr>
          <p:cNvSpPr txBox="1">
            <a:spLocks/>
          </p:cNvSpPr>
          <p:nvPr/>
        </p:nvSpPr>
        <p:spPr bwMode="auto">
          <a:xfrm>
            <a:off x="228600" y="228600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Association Analysis: Applications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43018" name="Slide Number Placeholder 3">
            <a:extLst>
              <a:ext uri="{FF2B5EF4-FFF2-40B4-BE49-F238E27FC236}">
                <a16:creationId xmlns:a16="http://schemas.microsoft.com/office/drawing/2014/main" id="{5D2F5EA4-4323-43BA-A9C7-D4BDED0B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E1799CA-1709-401A-8FF3-E0A939B562DC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623202C-F92F-4168-9283-D57C16F67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64573"/>
            <a:ext cx="8763000" cy="533400"/>
          </a:xfrm>
        </p:spPr>
        <p:txBody>
          <a:bodyPr/>
          <a:lstStyle/>
          <a:p>
            <a:r>
              <a:rPr lang="en-US" altLang="en-US" dirty="0"/>
              <a:t>Deviation/Anomaly/Change Detection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F8265D6-024F-4C77-B631-9958F8E62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4164432" cy="5105400"/>
          </a:xfrm>
        </p:spPr>
        <p:txBody>
          <a:bodyPr/>
          <a:lstStyle/>
          <a:p>
            <a:endParaRPr lang="en-US" altLang="en-US" sz="2000" dirty="0"/>
          </a:p>
          <a:p>
            <a:r>
              <a:rPr lang="en-US" altLang="en-US" sz="2000" dirty="0"/>
              <a:t>Detect significant deviations from normal behavior</a:t>
            </a:r>
            <a:endParaRPr lang="en-US" altLang="en-US" sz="2400" dirty="0"/>
          </a:p>
          <a:p>
            <a:r>
              <a:rPr lang="en-US" altLang="en-US" sz="2000" dirty="0"/>
              <a:t>Applications:</a:t>
            </a:r>
          </a:p>
          <a:p>
            <a:pPr lvl="1"/>
            <a:r>
              <a:rPr lang="en-US" altLang="en-US" sz="1800" dirty="0"/>
              <a:t>Credit Card Fraud Detection</a:t>
            </a:r>
            <a:endParaRPr lang="en-US" altLang="en-US" sz="1600" dirty="0"/>
          </a:p>
          <a:p>
            <a:pPr lvl="1"/>
            <a:r>
              <a:rPr lang="en-US" altLang="en-US" sz="1800" dirty="0"/>
              <a:t>Network Intrusion </a:t>
            </a:r>
            <a:br>
              <a:rPr lang="en-US" altLang="en-US" sz="1800" dirty="0"/>
            </a:br>
            <a:r>
              <a:rPr lang="en-US" altLang="en-US" sz="1800" dirty="0"/>
              <a:t>Detection</a:t>
            </a:r>
          </a:p>
          <a:p>
            <a:pPr lvl="1"/>
            <a:r>
              <a:rPr lang="en-US" altLang="en-US" sz="1800" dirty="0"/>
              <a:t>Identify anomalous behavior from sensor networks for monitoring and surveillance.</a:t>
            </a:r>
          </a:p>
          <a:p>
            <a:pPr lvl="1"/>
            <a:r>
              <a:rPr lang="en-US" altLang="en-US" sz="1800" dirty="0"/>
              <a:t>Detecting changes in the global forest cover.</a:t>
            </a:r>
          </a:p>
          <a:p>
            <a:pPr lvl="1"/>
            <a:endParaRPr lang="en-US" altLang="en-US" sz="2000" dirty="0"/>
          </a:p>
        </p:txBody>
      </p:sp>
      <p:grpSp>
        <p:nvGrpSpPr>
          <p:cNvPr id="45060" name="Group 5">
            <a:extLst>
              <a:ext uri="{FF2B5EF4-FFF2-40B4-BE49-F238E27FC236}">
                <a16:creationId xmlns:a16="http://schemas.microsoft.com/office/drawing/2014/main" id="{CE7B7E34-28C0-4873-9E41-2C136EF6FEAC}"/>
              </a:ext>
            </a:extLst>
          </p:cNvPr>
          <p:cNvGrpSpPr>
            <a:grpSpLocks/>
          </p:cNvGrpSpPr>
          <p:nvPr/>
        </p:nvGrpSpPr>
        <p:grpSpPr bwMode="auto">
          <a:xfrm>
            <a:off x="5645150" y="1295400"/>
            <a:ext cx="2371725" cy="2228850"/>
            <a:chOff x="3648" y="2448"/>
            <a:chExt cx="2112" cy="1872"/>
          </a:xfrm>
        </p:grpSpPr>
        <p:pic>
          <p:nvPicPr>
            <p:cNvPr id="45066" name="Picture 6">
              <a:extLst>
                <a:ext uri="{FF2B5EF4-FFF2-40B4-BE49-F238E27FC236}">
                  <a16:creationId xmlns:a16="http://schemas.microsoft.com/office/drawing/2014/main" id="{3E938906-208B-4DF3-ABBE-91D593403C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7" name="Oval 7">
              <a:extLst>
                <a:ext uri="{FF2B5EF4-FFF2-40B4-BE49-F238E27FC236}">
                  <a16:creationId xmlns:a16="http://schemas.microsoft.com/office/drawing/2014/main" id="{70569C17-923B-45D2-887F-184FC38F3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68" name="Oval 8">
              <a:extLst>
                <a:ext uri="{FF2B5EF4-FFF2-40B4-BE49-F238E27FC236}">
                  <a16:creationId xmlns:a16="http://schemas.microsoft.com/office/drawing/2014/main" id="{978C0706-3452-47B3-A924-F295F3446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69" name="Oval 9">
              <a:extLst>
                <a:ext uri="{FF2B5EF4-FFF2-40B4-BE49-F238E27FC236}">
                  <a16:creationId xmlns:a16="http://schemas.microsoft.com/office/drawing/2014/main" id="{C38B2708-6A5F-4066-9EE8-73887E025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0" name="Oval 10">
              <a:extLst>
                <a:ext uri="{FF2B5EF4-FFF2-40B4-BE49-F238E27FC236}">
                  <a16:creationId xmlns:a16="http://schemas.microsoft.com/office/drawing/2014/main" id="{706574F0-A5BC-4EC3-8C59-3069B2EA6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1" name="Rectangle 11">
              <a:extLst>
                <a:ext uri="{FF2B5EF4-FFF2-40B4-BE49-F238E27FC236}">
                  <a16:creationId xmlns:a16="http://schemas.microsoft.com/office/drawing/2014/main" id="{193C553B-CE51-4FFC-9035-B33762910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5072" name="Rectangle 12">
              <a:extLst>
                <a:ext uri="{FF2B5EF4-FFF2-40B4-BE49-F238E27FC236}">
                  <a16:creationId xmlns:a16="http://schemas.microsoft.com/office/drawing/2014/main" id="{5F6B3359-D20A-4E7C-986C-1A2896511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45061" name="Slide Number Placeholder 15">
            <a:extLst>
              <a:ext uri="{FF2B5EF4-FFF2-40B4-BE49-F238E27FC236}">
                <a16:creationId xmlns:a16="http://schemas.microsoft.com/office/drawing/2014/main" id="{C3D744BA-A7FD-43F7-9565-3F8F6092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16A7442-B147-441A-B1EE-5061F196FDB5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4" name="modis_swath_640x480_jpg.wmv">
            <a:hlinkClick r:id="" action="ppaction://media"/>
            <a:extLst>
              <a:ext uri="{FF2B5EF4-FFF2-40B4-BE49-F238E27FC236}">
                <a16:creationId xmlns:a16="http://schemas.microsoft.com/office/drawing/2014/main" id="{034F82C3-EB4A-4F77-B343-31D9B139AF1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895850"/>
            <a:ext cx="17526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lobal Animation 2-28-2011.wmv">
            <a:hlinkClick r:id="" action="ppaction://media"/>
            <a:extLst>
              <a:ext uri="{FF2B5EF4-FFF2-40B4-BE49-F238E27FC236}">
                <a16:creationId xmlns:a16="http://schemas.microsoft.com/office/drawing/2014/main" id="{7A3E544E-2502-47B7-9405-335CF8207BC9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313" y="3810000"/>
            <a:ext cx="42672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9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6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 nodeType="clickPar">
                      <p:stCondLst>
                        <p:cond delay="0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5" repeatCount="indefinite" fill="remove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 nodeType="clickPar">
                      <p:stCondLst>
                        <p:cond delay="0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BCA71B78-80FE-4A52-B5DF-4F888626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Motivating Challenges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4D2BE912-BBF1-4D6B-B040-2F790F79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Scalability</a:t>
            </a:r>
          </a:p>
          <a:p>
            <a:endParaRPr lang="en-US" altLang="en-US"/>
          </a:p>
          <a:p>
            <a:r>
              <a:rPr lang="en-US" altLang="en-US"/>
              <a:t>High Dimensionality</a:t>
            </a:r>
          </a:p>
          <a:p>
            <a:endParaRPr lang="en-US" altLang="en-US"/>
          </a:p>
          <a:p>
            <a:r>
              <a:rPr lang="en-US" altLang="en-US"/>
              <a:t>Heterogeneous and Complex Data</a:t>
            </a:r>
          </a:p>
          <a:p>
            <a:endParaRPr lang="en-US" altLang="en-US"/>
          </a:p>
          <a:p>
            <a:r>
              <a:rPr lang="en-US" altLang="en-US"/>
              <a:t>Data Ownership and Distribution</a:t>
            </a:r>
          </a:p>
          <a:p>
            <a:endParaRPr lang="en-US" altLang="en-US"/>
          </a:p>
          <a:p>
            <a:r>
              <a:rPr lang="en-US" altLang="en-US"/>
              <a:t>Non-traditional Analysis</a:t>
            </a:r>
          </a:p>
          <a:p>
            <a:endParaRPr lang="en-US" altLang="en-US"/>
          </a:p>
        </p:txBody>
      </p:sp>
      <p:sp>
        <p:nvSpPr>
          <p:cNvPr id="47108" name="Slide Number Placeholder 8">
            <a:extLst>
              <a:ext uri="{FF2B5EF4-FFF2-40B4-BE49-F238E27FC236}">
                <a16:creationId xmlns:a16="http://schemas.microsoft.com/office/drawing/2014/main" id="{D1BCAE31-7E63-401E-BA0F-ED4B6EDE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2812818-4E42-4C67-82FC-E64CE939FA0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73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0C199-7B39-EEB8-4E31-A2B5DF56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fld id="{F467D3C1-6AF4-514D-A3D3-04917242ADB8}" type="slidenum">
              <a:rPr lang="en-US" altLang="en-US" smtClean="0"/>
              <a:pPr>
                <a:spcAft>
                  <a:spcPts val="600"/>
                </a:spcAft>
              </a:pPr>
              <a:t>74</a:t>
            </a:fld>
            <a:endParaRPr lang="en-US" alt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E583C66-AFC8-1423-8E0D-70EA72EA65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1618085"/>
              </p:ext>
            </p:extLst>
          </p:nvPr>
        </p:nvGraphicFramePr>
        <p:xfrm>
          <a:off x="381000" y="1447800"/>
          <a:ext cx="84582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2471787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5044</TotalTime>
  <Words>5551</Words>
  <Application>Microsoft Macintosh PowerPoint</Application>
  <PresentationFormat>On-screen Show (4:3)</PresentationFormat>
  <Paragraphs>877</Paragraphs>
  <Slides>74</Slides>
  <Notes>57</Notes>
  <HiddenSlides>0</HiddenSlides>
  <MMClips>2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Tahoma</vt:lpstr>
      <vt:lpstr>Arial</vt:lpstr>
      <vt:lpstr>Wingdings</vt:lpstr>
      <vt:lpstr>Times New Roman</vt:lpstr>
      <vt:lpstr>SimSun</vt:lpstr>
      <vt:lpstr>Blends</vt:lpstr>
      <vt:lpstr>Microsoft Clip Gallery</vt:lpstr>
      <vt:lpstr>VISIO</vt:lpstr>
      <vt:lpstr>Document</vt:lpstr>
      <vt:lpstr>Bitmap Image</vt:lpstr>
      <vt:lpstr>Data Mining:    Concepts and Techniques  Introduction  Chapter 1 </vt:lpstr>
      <vt:lpstr>PowerPoint Presentation</vt:lpstr>
      <vt:lpstr>PowerPoint Presentation</vt:lpstr>
      <vt:lpstr>Chapter 1.  Introduction</vt:lpstr>
      <vt:lpstr>Why Data Mining? </vt:lpstr>
      <vt:lpstr>Evolution of Sciences</vt:lpstr>
      <vt:lpstr>Evolution of Database Technology</vt:lpstr>
      <vt:lpstr>Why Data Mining?</vt:lpstr>
      <vt:lpstr>Chapter 1.  Introduction</vt:lpstr>
      <vt:lpstr>What is Data Mining?</vt:lpstr>
      <vt:lpstr>What Is Data Mining?</vt:lpstr>
      <vt:lpstr>Data Mining vs Related Fields</vt:lpstr>
      <vt:lpstr>Knowledge Discovery (KDD) Process</vt:lpstr>
      <vt:lpstr>The Knowledge Discovery in Databases (KDD) Process</vt:lpstr>
      <vt:lpstr>Example: A Web Mining Framework</vt:lpstr>
      <vt:lpstr>Data Mining in Business Intelligence </vt:lpstr>
      <vt:lpstr>Example: Mining vs. Data Exploration</vt:lpstr>
      <vt:lpstr>KDD Process: A Typical View from ML and Statistics</vt:lpstr>
      <vt:lpstr>Example: Medical Data Mining </vt:lpstr>
      <vt:lpstr>Chapter 1.  Introduction</vt:lpstr>
      <vt:lpstr>Multi-Dimensional View of Data Mining</vt:lpstr>
      <vt:lpstr>Chapter 1.  Introduction</vt:lpstr>
      <vt:lpstr>Data Mining: On What Kinds of Data?</vt:lpstr>
      <vt:lpstr>Chapter 1.  Introduction</vt:lpstr>
      <vt:lpstr>Data Mining Function: (1) Generalization</vt:lpstr>
      <vt:lpstr>Data Mining Function: (2) Association and Correlation Analysis</vt:lpstr>
      <vt:lpstr>Data Mining Function: (3) Classification</vt:lpstr>
      <vt:lpstr>Data Mining Function: (4) Cluster Analysis</vt:lpstr>
      <vt:lpstr>Data Mining Function: (5) Outlier Analysis</vt:lpstr>
      <vt:lpstr>Time and Ordering: Sequential Pattern, Trend and Evolution Analysis</vt:lpstr>
      <vt:lpstr>Structure and Network Analysis</vt:lpstr>
      <vt:lpstr>Evaluation of Knowledge</vt:lpstr>
      <vt:lpstr>Chapter 1.  Introduction</vt:lpstr>
      <vt:lpstr>Data Mining: Confluence of Multiple Disciplines </vt:lpstr>
      <vt:lpstr>Why Confluence of Multiple Disciplines?</vt:lpstr>
      <vt:lpstr>Chapter 1.  Introduction</vt:lpstr>
      <vt:lpstr>Applications of Data Mining</vt:lpstr>
      <vt:lpstr>Chapter 1.  Introduction</vt:lpstr>
      <vt:lpstr>Major Issues in Data Mining (1)</vt:lpstr>
      <vt:lpstr>Major Issues in Data Mining (2)</vt:lpstr>
      <vt:lpstr>Chapter 1.  Introduction</vt:lpstr>
      <vt:lpstr>A Brief History of Data Mining Society</vt:lpstr>
      <vt:lpstr>Conferences and Journals on Data Mining</vt:lpstr>
      <vt:lpstr>Where to Find References? DBLP, CiteSeer, Google</vt:lpstr>
      <vt:lpstr>Chapter 1.  Introduction</vt:lpstr>
      <vt:lpstr>Summary</vt:lpstr>
      <vt:lpstr>Recommended Reference Books</vt:lpstr>
      <vt:lpstr>Large-scale Data is Everywhere!</vt:lpstr>
      <vt:lpstr>Why Data Mining? Commercial Viewpoint</vt:lpstr>
      <vt:lpstr>Why Data Mining? Scientific Viewpoint</vt:lpstr>
      <vt:lpstr>Great opportunities to improve productivity in all walks of life</vt:lpstr>
      <vt:lpstr>Great Opportunities to Solve Society’s Major Problems</vt:lpstr>
      <vt:lpstr>What is Data Mining?</vt:lpstr>
      <vt:lpstr>Origins of Data Mining</vt:lpstr>
      <vt:lpstr>Data Mining Tasks</vt:lpstr>
      <vt:lpstr>PowerPoint Presentation</vt:lpstr>
      <vt:lpstr>PowerPoint Presentation</vt:lpstr>
      <vt:lpstr>Classification Example</vt:lpstr>
      <vt:lpstr>Examples of Classification Task</vt:lpstr>
      <vt:lpstr>Classification: Application 1</vt:lpstr>
      <vt:lpstr>Classification: Application 2</vt:lpstr>
      <vt:lpstr>Classification: Application 3</vt:lpstr>
      <vt:lpstr>Classifying Galaxies</vt:lpstr>
      <vt:lpstr>Regression</vt:lpstr>
      <vt:lpstr>PowerPoint Presentation</vt:lpstr>
      <vt:lpstr>Applications of Cluster Analysis</vt:lpstr>
      <vt:lpstr>Clustering: Application 1</vt:lpstr>
      <vt:lpstr>Clustering: Application 2</vt:lpstr>
      <vt:lpstr>Association Rule Discovery: Definition</vt:lpstr>
      <vt:lpstr>Association Analysis: Applications</vt:lpstr>
      <vt:lpstr>PowerPoint Presentation</vt:lpstr>
      <vt:lpstr>Deviation/Anomaly/Change Detection</vt:lpstr>
      <vt:lpstr>Motivating Challenges</vt:lpstr>
      <vt:lpstr>PowerPoint Presentation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>Mostafa Omar</cp:lastModifiedBy>
  <cp:revision>429</cp:revision>
  <cp:lastPrinted>2010-08-20T16:00:24Z</cp:lastPrinted>
  <dcterms:created xsi:type="dcterms:W3CDTF">1999-12-01T22:01:55Z</dcterms:created>
  <dcterms:modified xsi:type="dcterms:W3CDTF">2025-09-02T22:24:57Z</dcterms:modified>
</cp:coreProperties>
</file>