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5" r:id="rId4"/>
  </p:sldMasterIdLst>
  <p:notesMasterIdLst>
    <p:notesMasterId r:id="rId22"/>
  </p:notesMasterIdLst>
  <p:handoutMasterIdLst>
    <p:handoutMasterId r:id="rId23"/>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Dual Analysis of NYC Business Licenses" id="{81F2A370-922E-4227-8F60-AB819DD395AD}">
          <p14:sldIdLst>
            <p14:sldId id="2561"/>
          </p14:sldIdLst>
        </p14:section>
        <p14:section name="Introduction" id="{C5FC07A2-EBE5-4FE0-B1CA-79FFFA197970}">
          <p14:sldIdLst>
            <p14:sldId id="2562"/>
            <p14:sldId id="2563"/>
          </p14:sldIdLst>
        </p14:section>
        <p14:section name="Project Overview" id="{9C6718B9-297B-437E-A1E0-3AF1E67C509F}">
          <p14:sldIdLst>
            <p14:sldId id="2564"/>
            <p14:sldId id="2565"/>
          </p14:sldIdLst>
        </p14:section>
        <p14:section name="Data Preparation" id="{6A83668F-AC26-4AF5-A5AC-6C2CBDD86CB6}">
          <p14:sldIdLst>
            <p14:sldId id="2566"/>
            <p14:sldId id="2567"/>
            <p14:sldId id="2568"/>
          </p14:sldIdLst>
        </p14:section>
        <p14:section name="Regression Analysis" id="{46ACC6C9-F061-4D74-9451-94A527F24314}">
          <p14:sldIdLst>
            <p14:sldId id="2569"/>
            <p14:sldId id="2570"/>
            <p14:sldId id="2571"/>
          </p14:sldIdLst>
        </p14:section>
        <p14:section name="Classification Analysis" id="{0030A8AC-F8E1-4C0A-9C9C-4F9E55A295F6}">
          <p14:sldIdLst>
            <p14:sldId id="2572"/>
            <p14:sldId id="2573"/>
            <p14:sldId id="2574"/>
          </p14:sldIdLst>
        </p14:section>
        <p14:section name="Insights and Conclusion" id="{FB359002-97A4-4602-A556-6C9DC67FD210}">
          <p14:sldIdLst>
            <p14:sldId id="2575"/>
            <p14:sldId id="2576"/>
            <p14:sldId id="2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4D0D8E-C678-4357-9F61-4E56C821172A}" v="17" dt="2025-10-28T01:54:28.860"/>
  </p1510:revLst>
</p1510:revInfo>
</file>

<file path=ppt/tableStyles.xml><?xml version="1.0" encoding="utf-8"?>
<a:tblStyleLst xmlns:a="http://schemas.openxmlformats.org/drawingml/2006/main" def="{91EBBBCC-DAD2-459C-BE2E-F6DE35CF9A2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52" autoAdjust="0"/>
    <p:restoredTop sz="94823"/>
  </p:normalViewPr>
  <p:slideViewPr>
    <p:cSldViewPr snapToGrid="0">
      <p:cViewPr varScale="1">
        <p:scale>
          <a:sx n="126" d="100"/>
          <a:sy n="126" d="100"/>
        </p:scale>
        <p:origin x="424" y="192"/>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D9C290-8288-475A-8075-47635A2B7F75}"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94B5A637-46DE-422F-B9FB-65AAAF3F3001}">
      <dgm:prSet/>
      <dgm:spPr/>
      <dgm:t>
        <a:bodyPr/>
        <a:lstStyle/>
        <a:p>
          <a:pPr>
            <a:lnSpc>
              <a:spcPct val="100000"/>
            </a:lnSpc>
            <a:defRPr b="1"/>
          </a:pPr>
          <a:r>
            <a:rPr lang="en-US"/>
            <a:t>Class Imbalance Challenge</a:t>
          </a:r>
        </a:p>
      </dgm:t>
    </dgm:pt>
    <dgm:pt modelId="{522D0361-4FD4-4D54-91A7-F83A36EC8C72}" type="parTrans" cxnId="{04E3FADB-6F41-4E76-8F3C-58FD27159A74}">
      <dgm:prSet/>
      <dgm:spPr/>
      <dgm:t>
        <a:bodyPr/>
        <a:lstStyle/>
        <a:p>
          <a:endParaRPr lang="en-US"/>
        </a:p>
      </dgm:t>
    </dgm:pt>
    <dgm:pt modelId="{D3F375B9-3A9B-4CDB-8941-A10878DDBE58}" type="sibTrans" cxnId="{04E3FADB-6F41-4E76-8F3C-58FD27159A74}">
      <dgm:prSet/>
      <dgm:spPr/>
      <dgm:t>
        <a:bodyPr/>
        <a:lstStyle/>
        <a:p>
          <a:pPr>
            <a:lnSpc>
              <a:spcPct val="100000"/>
            </a:lnSpc>
            <a:defRPr b="1"/>
          </a:pPr>
          <a:endParaRPr lang="en-US"/>
        </a:p>
      </dgm:t>
    </dgm:pt>
    <dgm:pt modelId="{4A62FC58-F6FB-4FEA-B5FE-79DD4BC09CC9}">
      <dgm:prSet/>
      <dgm:spPr/>
      <dgm:t>
        <a:bodyPr/>
        <a:lstStyle/>
        <a:p>
          <a:pPr>
            <a:lnSpc>
              <a:spcPct val="100000"/>
            </a:lnSpc>
          </a:pPr>
          <a:r>
            <a:rPr lang="en-US" dirty="0"/>
            <a:t>The dataset had few 'Lapsed' records causing class imbalance. SMOTE oversampling balanced the data effectively.</a:t>
          </a:r>
        </a:p>
      </dgm:t>
    </dgm:pt>
    <dgm:pt modelId="{3005DE23-5468-4B84-9DD3-FE0F94425B74}" type="parTrans" cxnId="{8270890C-1068-42B8-84BE-D81D37CDECA7}">
      <dgm:prSet/>
      <dgm:spPr/>
      <dgm:t>
        <a:bodyPr/>
        <a:lstStyle/>
        <a:p>
          <a:endParaRPr lang="en-US"/>
        </a:p>
      </dgm:t>
    </dgm:pt>
    <dgm:pt modelId="{45ABA8B2-D0E7-4EF2-AC3C-72AD2D99502E}" type="sibTrans" cxnId="{8270890C-1068-42B8-84BE-D81D37CDECA7}">
      <dgm:prSet/>
      <dgm:spPr/>
      <dgm:t>
        <a:bodyPr/>
        <a:lstStyle/>
        <a:p>
          <a:endParaRPr lang="en-US"/>
        </a:p>
      </dgm:t>
    </dgm:pt>
    <dgm:pt modelId="{E805459B-F9DA-40DF-9E04-6438FB8E4C48}">
      <dgm:prSet/>
      <dgm:spPr/>
      <dgm:t>
        <a:bodyPr/>
        <a:lstStyle/>
        <a:p>
          <a:pPr>
            <a:lnSpc>
              <a:spcPct val="100000"/>
            </a:lnSpc>
            <a:defRPr b="1"/>
          </a:pPr>
          <a:r>
            <a:rPr lang="en-US"/>
            <a:t>Derived Feature Importance</a:t>
          </a:r>
        </a:p>
      </dgm:t>
    </dgm:pt>
    <dgm:pt modelId="{3A66CE11-9399-4338-9FF2-C860C3D09549}" type="parTrans" cxnId="{DAD9B543-C435-496C-85B6-3EB0890A5775}">
      <dgm:prSet/>
      <dgm:spPr/>
      <dgm:t>
        <a:bodyPr/>
        <a:lstStyle/>
        <a:p>
          <a:endParaRPr lang="en-US"/>
        </a:p>
      </dgm:t>
    </dgm:pt>
    <dgm:pt modelId="{DE300DC0-EE10-43CE-9345-1EB156415C20}" type="sibTrans" cxnId="{DAD9B543-C435-496C-85B6-3EB0890A5775}">
      <dgm:prSet/>
      <dgm:spPr/>
      <dgm:t>
        <a:bodyPr/>
        <a:lstStyle/>
        <a:p>
          <a:pPr>
            <a:lnSpc>
              <a:spcPct val="100000"/>
            </a:lnSpc>
            <a:defRPr b="1"/>
          </a:pPr>
          <a:endParaRPr lang="en-US"/>
        </a:p>
      </dgm:t>
    </dgm:pt>
    <dgm:pt modelId="{E986D8DC-D56B-41F2-B0F2-028EE996F235}">
      <dgm:prSet/>
      <dgm:spPr/>
      <dgm:t>
        <a:bodyPr/>
        <a:lstStyle/>
        <a:p>
          <a:pPr>
            <a:lnSpc>
              <a:spcPct val="100000"/>
            </a:lnSpc>
          </a:pPr>
          <a:r>
            <a:rPr lang="en-US"/>
            <a:t>License_Duration feature from issuance and expiration dates enhanced model predictive performance.</a:t>
          </a:r>
        </a:p>
      </dgm:t>
    </dgm:pt>
    <dgm:pt modelId="{D05D4F30-0DFD-442C-BC91-B66089056BB1}" type="parTrans" cxnId="{5D6016E7-B9B0-46D5-8F21-69464D35AF8E}">
      <dgm:prSet/>
      <dgm:spPr/>
      <dgm:t>
        <a:bodyPr/>
        <a:lstStyle/>
        <a:p>
          <a:endParaRPr lang="en-US"/>
        </a:p>
      </dgm:t>
    </dgm:pt>
    <dgm:pt modelId="{CCEF1EDA-23CA-4FA5-9E43-AE13EE4237E7}" type="sibTrans" cxnId="{5D6016E7-B9B0-46D5-8F21-69464D35AF8E}">
      <dgm:prSet/>
      <dgm:spPr/>
      <dgm:t>
        <a:bodyPr/>
        <a:lstStyle/>
        <a:p>
          <a:endParaRPr lang="en-US"/>
        </a:p>
      </dgm:t>
    </dgm:pt>
    <dgm:pt modelId="{50AB0F83-F8FC-4A44-8A38-2D434CE48E91}">
      <dgm:prSet/>
      <dgm:spPr/>
      <dgm:t>
        <a:bodyPr/>
        <a:lstStyle/>
        <a:p>
          <a:pPr>
            <a:lnSpc>
              <a:spcPct val="100000"/>
            </a:lnSpc>
            <a:defRPr b="1"/>
          </a:pPr>
          <a:r>
            <a:rPr lang="en-US"/>
            <a:t>Model Evaluation</a:t>
          </a:r>
        </a:p>
      </dgm:t>
    </dgm:pt>
    <dgm:pt modelId="{56F5928E-96FE-4BB4-BF63-4555F783F5DD}" type="parTrans" cxnId="{31CE8A04-2348-4470-BCE3-2047C79C8EF5}">
      <dgm:prSet/>
      <dgm:spPr/>
      <dgm:t>
        <a:bodyPr/>
        <a:lstStyle/>
        <a:p>
          <a:endParaRPr lang="en-US"/>
        </a:p>
      </dgm:t>
    </dgm:pt>
    <dgm:pt modelId="{ECD8B1E1-5A2E-4EAD-AE5A-CF97DC61F8D2}" type="sibTrans" cxnId="{31CE8A04-2348-4470-BCE3-2047C79C8EF5}">
      <dgm:prSet/>
      <dgm:spPr/>
      <dgm:t>
        <a:bodyPr/>
        <a:lstStyle/>
        <a:p>
          <a:endParaRPr lang="en-US"/>
        </a:p>
      </dgm:t>
    </dgm:pt>
    <dgm:pt modelId="{621F42BB-9FB6-4912-884E-872391C03D7D}">
      <dgm:prSet/>
      <dgm:spPr/>
      <dgm:t>
        <a:bodyPr/>
        <a:lstStyle/>
        <a:p>
          <a:pPr>
            <a:lnSpc>
              <a:spcPct val="100000"/>
            </a:lnSpc>
          </a:pPr>
          <a:r>
            <a:rPr lang="en-US" dirty="0"/>
            <a:t>Gradient Boosting and Random Forest classifiers were compared for accuracy in license status prediction.</a:t>
          </a:r>
        </a:p>
      </dgm:t>
    </dgm:pt>
    <dgm:pt modelId="{A9AAC6FE-E52E-41A7-B3AB-405D908B5255}" type="parTrans" cxnId="{44C45F23-AF97-4A41-B75A-A5735D256C8E}">
      <dgm:prSet/>
      <dgm:spPr/>
      <dgm:t>
        <a:bodyPr/>
        <a:lstStyle/>
        <a:p>
          <a:endParaRPr lang="en-US"/>
        </a:p>
      </dgm:t>
    </dgm:pt>
    <dgm:pt modelId="{7039BC2B-1C17-49A9-AAF8-7E51617B2EC1}" type="sibTrans" cxnId="{44C45F23-AF97-4A41-B75A-A5735D256C8E}">
      <dgm:prSet/>
      <dgm:spPr/>
      <dgm:t>
        <a:bodyPr/>
        <a:lstStyle/>
        <a:p>
          <a:endParaRPr lang="en-US"/>
        </a:p>
      </dgm:t>
    </dgm:pt>
    <dgm:pt modelId="{6626259F-FD62-4B64-A6A1-7CA77BF58801}" type="pres">
      <dgm:prSet presAssocID="{A9D9C290-8288-475A-8075-47635A2B7F75}" presName="Root" presStyleCnt="0">
        <dgm:presLayoutVars>
          <dgm:dir/>
          <dgm:resizeHandles val="exact"/>
        </dgm:presLayoutVars>
      </dgm:prSet>
      <dgm:spPr/>
    </dgm:pt>
    <dgm:pt modelId="{FB4B0D58-A553-46FE-848D-89CC8556337C}" type="pres">
      <dgm:prSet presAssocID="{94B5A637-46DE-422F-B9FB-65AAAF3F3001}" presName="Composite" presStyleCnt="0"/>
      <dgm:spPr/>
    </dgm:pt>
    <dgm:pt modelId="{585EB6BA-4452-482C-BF5D-6C404C54C982}" type="pres">
      <dgm:prSet presAssocID="{94B5A637-46DE-422F-B9FB-65AAAF3F3001}"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2691" r="10561" b="2"/>
          <a:stretch/>
        </a:blipFill>
      </dgm:spPr>
      <dgm:extLst>
        <a:ext uri="{E40237B7-FDA0-4F09-8148-C483321AD2D9}">
          <dgm14:cNvPr xmlns:dgm14="http://schemas.microsoft.com/office/drawing/2010/diagram" id="0" name="" descr="Abstract, Futuristic, and Digital Background"/>
        </a:ext>
      </dgm:extLst>
    </dgm:pt>
    <dgm:pt modelId="{3F4DCE94-E5F8-40E6-BF8E-4F64E7D4DCAA}" type="pres">
      <dgm:prSet presAssocID="{94B5A637-46DE-422F-B9FB-65AAAF3F3001}" presName="Subtitle" presStyleLbl="revTx" presStyleIdx="0" presStyleCnt="6">
        <dgm:presLayoutVars>
          <dgm:chMax val="0"/>
          <dgm:bulletEnabled/>
        </dgm:presLayoutVars>
      </dgm:prSet>
      <dgm:spPr/>
    </dgm:pt>
    <dgm:pt modelId="{72702C70-9172-410C-BF3A-5C876946E3D9}" type="pres">
      <dgm:prSet presAssocID="{94B5A637-46DE-422F-B9FB-65AAAF3F3001}" presName="Description" presStyleLbl="revTx" presStyleIdx="1" presStyleCnt="6">
        <dgm:presLayoutVars>
          <dgm:bulletEnabled/>
        </dgm:presLayoutVars>
      </dgm:prSet>
      <dgm:spPr/>
    </dgm:pt>
    <dgm:pt modelId="{78D93E03-AFA8-4AE6-A4DD-B82CC2D65258}" type="pres">
      <dgm:prSet presAssocID="{D3F375B9-3A9B-4CDB-8941-A10878DDBE58}" presName="sibTrans" presStyleLbl="sibTrans2D1" presStyleIdx="0" presStyleCnt="0"/>
      <dgm:spPr/>
    </dgm:pt>
    <dgm:pt modelId="{FF266380-BDA1-4179-9B36-BF4E06D84B8F}" type="pres">
      <dgm:prSet presAssocID="{E805459B-F9DA-40DF-9E04-6438FB8E4C48}" presName="Composite" presStyleCnt="0"/>
      <dgm:spPr/>
    </dgm:pt>
    <dgm:pt modelId="{7593487B-7C76-4A11-82AB-7C048C62FD44}" type="pres">
      <dgm:prSet presAssocID="{E805459B-F9DA-40DF-9E04-6438FB8E4C48}"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9432" r="23820" b="2"/>
          <a:stretch/>
        </a:blipFill>
      </dgm:spPr>
      <dgm:extLst>
        <a:ext uri="{E40237B7-FDA0-4F09-8148-C483321AD2D9}">
          <dgm14:cNvPr xmlns:dgm14="http://schemas.microsoft.com/office/drawing/2010/diagram" id="0" name="" descr="Female hand is writing data with wood cubes"/>
        </a:ext>
      </dgm:extLst>
    </dgm:pt>
    <dgm:pt modelId="{D79A17BE-6279-4443-8595-03649176F64D}" type="pres">
      <dgm:prSet presAssocID="{E805459B-F9DA-40DF-9E04-6438FB8E4C48}" presName="Subtitle" presStyleLbl="revTx" presStyleIdx="2" presStyleCnt="6">
        <dgm:presLayoutVars>
          <dgm:chMax val="0"/>
          <dgm:bulletEnabled/>
        </dgm:presLayoutVars>
      </dgm:prSet>
      <dgm:spPr/>
    </dgm:pt>
    <dgm:pt modelId="{FDF86A8E-A088-4061-A71E-BB4DFBE78502}" type="pres">
      <dgm:prSet presAssocID="{E805459B-F9DA-40DF-9E04-6438FB8E4C48}" presName="Description" presStyleLbl="revTx" presStyleIdx="3" presStyleCnt="6">
        <dgm:presLayoutVars>
          <dgm:bulletEnabled/>
        </dgm:presLayoutVars>
      </dgm:prSet>
      <dgm:spPr/>
    </dgm:pt>
    <dgm:pt modelId="{C8D9E258-C585-4CD7-87C1-E5CEB07A16AB}" type="pres">
      <dgm:prSet presAssocID="{DE300DC0-EE10-43CE-9345-1EB156415C20}" presName="sibTrans" presStyleLbl="sibTrans2D1" presStyleIdx="0" presStyleCnt="0"/>
      <dgm:spPr/>
    </dgm:pt>
    <dgm:pt modelId="{B1B833DB-DDBB-4545-A59B-21FA153F1B18}" type="pres">
      <dgm:prSet presAssocID="{50AB0F83-F8FC-4A44-8A38-2D434CE48E91}" presName="Composite" presStyleCnt="0"/>
      <dgm:spPr/>
    </dgm:pt>
    <dgm:pt modelId="{CB4155C4-3FCB-4DED-A541-A78D8EEE3699}" type="pres">
      <dgm:prSet presAssocID="{50AB0F83-F8FC-4A44-8A38-2D434CE48E91}"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r="6" b="6"/>
          <a:stretch/>
        </a:blipFill>
      </dgm:spPr>
      <dgm:extLst>
        <a:ext uri="{E40237B7-FDA0-4F09-8148-C483321AD2D9}">
          <dgm14:cNvPr xmlns:dgm14="http://schemas.microsoft.com/office/drawing/2010/diagram" id="0" name="" descr="This illustration features digitally generated abstract visual art, databending glitch style graphic imagery. Glitch art is the aestheticization of digital or analog errors, such as compression artifacts and other distortions. Image is a combination of colors, directional and lineer tone patterns incorporating irregular, distorted patterns. The image has a vibrant contrast tone. Image includes a standard license along with the option of upgradeable extended license."/>
        </a:ext>
      </dgm:extLst>
    </dgm:pt>
    <dgm:pt modelId="{931E8EBA-F1BF-4E1B-BA57-5A5C1C38789F}" type="pres">
      <dgm:prSet presAssocID="{50AB0F83-F8FC-4A44-8A38-2D434CE48E91}" presName="Subtitle" presStyleLbl="revTx" presStyleIdx="4" presStyleCnt="6">
        <dgm:presLayoutVars>
          <dgm:chMax val="0"/>
          <dgm:bulletEnabled/>
        </dgm:presLayoutVars>
      </dgm:prSet>
      <dgm:spPr/>
    </dgm:pt>
    <dgm:pt modelId="{DCE991DC-ED05-4735-89B2-FE8BD3050D49}" type="pres">
      <dgm:prSet presAssocID="{50AB0F83-F8FC-4A44-8A38-2D434CE48E91}" presName="Description" presStyleLbl="revTx" presStyleIdx="5" presStyleCnt="6">
        <dgm:presLayoutVars>
          <dgm:bulletEnabled/>
        </dgm:presLayoutVars>
      </dgm:prSet>
      <dgm:spPr/>
    </dgm:pt>
  </dgm:ptLst>
  <dgm:cxnLst>
    <dgm:cxn modelId="{31CE8A04-2348-4470-BCE3-2047C79C8EF5}" srcId="{A9D9C290-8288-475A-8075-47635A2B7F75}" destId="{50AB0F83-F8FC-4A44-8A38-2D434CE48E91}" srcOrd="2" destOrd="0" parTransId="{56F5928E-96FE-4BB4-BF63-4555F783F5DD}" sibTransId="{ECD8B1E1-5A2E-4EAD-AE5A-CF97DC61F8D2}"/>
    <dgm:cxn modelId="{8270890C-1068-42B8-84BE-D81D37CDECA7}" srcId="{94B5A637-46DE-422F-B9FB-65AAAF3F3001}" destId="{4A62FC58-F6FB-4FEA-B5FE-79DD4BC09CC9}" srcOrd="0" destOrd="0" parTransId="{3005DE23-5468-4B84-9DD3-FE0F94425B74}" sibTransId="{45ABA8B2-D0E7-4EF2-AC3C-72AD2D99502E}"/>
    <dgm:cxn modelId="{4168E80F-3F61-4264-B167-BB772662163A}" type="presOf" srcId="{621F42BB-9FB6-4912-884E-872391C03D7D}" destId="{DCE991DC-ED05-4735-89B2-FE8BD3050D49}" srcOrd="0" destOrd="0" presId="urn:microsoft.com/office/officeart/2024/3/layout/verticalVisualTextBlock1"/>
    <dgm:cxn modelId="{44C45F23-AF97-4A41-B75A-A5735D256C8E}" srcId="{50AB0F83-F8FC-4A44-8A38-2D434CE48E91}" destId="{621F42BB-9FB6-4912-884E-872391C03D7D}" srcOrd="0" destOrd="0" parTransId="{A9AAC6FE-E52E-41A7-B3AB-405D908B5255}" sibTransId="{7039BC2B-1C17-49A9-AAF8-7E51617B2EC1}"/>
    <dgm:cxn modelId="{6F9CF627-358D-4748-9898-451BCA58CD04}" type="presOf" srcId="{4A62FC58-F6FB-4FEA-B5FE-79DD4BC09CC9}" destId="{72702C70-9172-410C-BF3A-5C876946E3D9}" srcOrd="0" destOrd="0" presId="urn:microsoft.com/office/officeart/2024/3/layout/verticalVisualTextBlock1"/>
    <dgm:cxn modelId="{DAD9B543-C435-496C-85B6-3EB0890A5775}" srcId="{A9D9C290-8288-475A-8075-47635A2B7F75}" destId="{E805459B-F9DA-40DF-9E04-6438FB8E4C48}" srcOrd="1" destOrd="0" parTransId="{3A66CE11-9399-4338-9FF2-C860C3D09549}" sibTransId="{DE300DC0-EE10-43CE-9345-1EB156415C20}"/>
    <dgm:cxn modelId="{0F751A4D-CAA9-4E44-88E6-B863A9972EFF}" type="presOf" srcId="{E986D8DC-D56B-41F2-B0F2-028EE996F235}" destId="{FDF86A8E-A088-4061-A71E-BB4DFBE78502}" srcOrd="0" destOrd="0" presId="urn:microsoft.com/office/officeart/2024/3/layout/verticalVisualTextBlock1"/>
    <dgm:cxn modelId="{D951665A-1D04-4DEC-9C5D-D4F6E35D308E}" type="presOf" srcId="{94B5A637-46DE-422F-B9FB-65AAAF3F3001}" destId="{3F4DCE94-E5F8-40E6-BF8E-4F64E7D4DCAA}" srcOrd="0" destOrd="0" presId="urn:microsoft.com/office/officeart/2024/3/layout/verticalVisualTextBlock1"/>
    <dgm:cxn modelId="{B902A573-D346-4EA3-A069-738D2F8A80D3}" type="presOf" srcId="{E805459B-F9DA-40DF-9E04-6438FB8E4C48}" destId="{D79A17BE-6279-4443-8595-03649176F64D}" srcOrd="0" destOrd="0" presId="urn:microsoft.com/office/officeart/2024/3/layout/verticalVisualTextBlock1"/>
    <dgm:cxn modelId="{BC481D74-27F8-464E-A7BD-979E4BE73DEA}" type="presOf" srcId="{50AB0F83-F8FC-4A44-8A38-2D434CE48E91}" destId="{931E8EBA-F1BF-4E1B-BA57-5A5C1C38789F}" srcOrd="0" destOrd="0" presId="urn:microsoft.com/office/officeart/2024/3/layout/verticalVisualTextBlock1"/>
    <dgm:cxn modelId="{F7E7297E-0A1E-4469-B737-CC94D08CC325}" type="presOf" srcId="{D3F375B9-3A9B-4CDB-8941-A10878DDBE58}" destId="{78D93E03-AFA8-4AE6-A4DD-B82CC2D65258}" srcOrd="0" destOrd="0" presId="urn:microsoft.com/office/officeart/2024/3/layout/verticalVisualTextBlock1"/>
    <dgm:cxn modelId="{39DFAB9D-525E-4F26-86F4-BBF472E52449}" type="presOf" srcId="{A9D9C290-8288-475A-8075-47635A2B7F75}" destId="{6626259F-FD62-4B64-A6A1-7CA77BF58801}" srcOrd="0" destOrd="0" presId="urn:microsoft.com/office/officeart/2024/3/layout/verticalVisualTextBlock1"/>
    <dgm:cxn modelId="{240936C4-B914-493F-8E4C-4E683700FAE3}" type="presOf" srcId="{DE300DC0-EE10-43CE-9345-1EB156415C20}" destId="{C8D9E258-C585-4CD7-87C1-E5CEB07A16AB}" srcOrd="0" destOrd="0" presId="urn:microsoft.com/office/officeart/2024/3/layout/verticalVisualTextBlock1"/>
    <dgm:cxn modelId="{04E3FADB-6F41-4E76-8F3C-58FD27159A74}" srcId="{A9D9C290-8288-475A-8075-47635A2B7F75}" destId="{94B5A637-46DE-422F-B9FB-65AAAF3F3001}" srcOrd="0" destOrd="0" parTransId="{522D0361-4FD4-4D54-91A7-F83A36EC8C72}" sibTransId="{D3F375B9-3A9B-4CDB-8941-A10878DDBE58}"/>
    <dgm:cxn modelId="{5D6016E7-B9B0-46D5-8F21-69464D35AF8E}" srcId="{E805459B-F9DA-40DF-9E04-6438FB8E4C48}" destId="{E986D8DC-D56B-41F2-B0F2-028EE996F235}" srcOrd="0" destOrd="0" parTransId="{D05D4F30-0DFD-442C-BC91-B66089056BB1}" sibTransId="{CCEF1EDA-23CA-4FA5-9E43-AE13EE4237E7}"/>
    <dgm:cxn modelId="{3D8613F1-8660-46B7-8E0E-37FA02528A19}" type="presParOf" srcId="{6626259F-FD62-4B64-A6A1-7CA77BF58801}" destId="{FB4B0D58-A553-46FE-848D-89CC8556337C}" srcOrd="0" destOrd="0" presId="urn:microsoft.com/office/officeart/2024/3/layout/verticalVisualTextBlock1"/>
    <dgm:cxn modelId="{65FD43A0-C4C8-4922-B162-5A50A2A0A87A}" type="presParOf" srcId="{FB4B0D58-A553-46FE-848D-89CC8556337C}" destId="{585EB6BA-4452-482C-BF5D-6C404C54C982}" srcOrd="0" destOrd="0" presId="urn:microsoft.com/office/officeart/2024/3/layout/verticalVisualTextBlock1"/>
    <dgm:cxn modelId="{22128FB1-041C-4FA6-9FD4-5A4422271B55}" type="presParOf" srcId="{FB4B0D58-A553-46FE-848D-89CC8556337C}" destId="{3F4DCE94-E5F8-40E6-BF8E-4F64E7D4DCAA}" srcOrd="1" destOrd="0" presId="urn:microsoft.com/office/officeart/2024/3/layout/verticalVisualTextBlock1"/>
    <dgm:cxn modelId="{68FCD2DD-9A83-4050-A1C8-68EA40C00E84}" type="presParOf" srcId="{FB4B0D58-A553-46FE-848D-89CC8556337C}" destId="{72702C70-9172-410C-BF3A-5C876946E3D9}" srcOrd="2" destOrd="0" presId="urn:microsoft.com/office/officeart/2024/3/layout/verticalVisualTextBlock1"/>
    <dgm:cxn modelId="{EB77297B-1DEC-4B8F-8498-7A68221343CD}" type="presParOf" srcId="{6626259F-FD62-4B64-A6A1-7CA77BF58801}" destId="{78D93E03-AFA8-4AE6-A4DD-B82CC2D65258}" srcOrd="1" destOrd="0" presId="urn:microsoft.com/office/officeart/2024/3/layout/verticalVisualTextBlock1"/>
    <dgm:cxn modelId="{770F79EF-9668-45FA-A74C-F43EDA7FC235}" type="presParOf" srcId="{6626259F-FD62-4B64-A6A1-7CA77BF58801}" destId="{FF266380-BDA1-4179-9B36-BF4E06D84B8F}" srcOrd="2" destOrd="0" presId="urn:microsoft.com/office/officeart/2024/3/layout/verticalVisualTextBlock1"/>
    <dgm:cxn modelId="{FA7A03EE-8A80-4E56-B9A1-D7A7A878BC79}" type="presParOf" srcId="{FF266380-BDA1-4179-9B36-BF4E06D84B8F}" destId="{7593487B-7C76-4A11-82AB-7C048C62FD44}" srcOrd="0" destOrd="0" presId="urn:microsoft.com/office/officeart/2024/3/layout/verticalVisualTextBlock1"/>
    <dgm:cxn modelId="{EB55EDCA-F13C-4FEF-A072-F54D7B1670BC}" type="presParOf" srcId="{FF266380-BDA1-4179-9B36-BF4E06D84B8F}" destId="{D79A17BE-6279-4443-8595-03649176F64D}" srcOrd="1" destOrd="0" presId="urn:microsoft.com/office/officeart/2024/3/layout/verticalVisualTextBlock1"/>
    <dgm:cxn modelId="{11492C1F-CF2C-4698-B60C-1E87147EDAB6}" type="presParOf" srcId="{FF266380-BDA1-4179-9B36-BF4E06D84B8F}" destId="{FDF86A8E-A088-4061-A71E-BB4DFBE78502}" srcOrd="2" destOrd="0" presId="urn:microsoft.com/office/officeart/2024/3/layout/verticalVisualTextBlock1"/>
    <dgm:cxn modelId="{DB481548-B722-47D6-AB6D-8304EB58960C}" type="presParOf" srcId="{6626259F-FD62-4B64-A6A1-7CA77BF58801}" destId="{C8D9E258-C585-4CD7-87C1-E5CEB07A16AB}" srcOrd="3" destOrd="0" presId="urn:microsoft.com/office/officeart/2024/3/layout/verticalVisualTextBlock1"/>
    <dgm:cxn modelId="{C2995428-D92A-47C1-B6C3-C17A387C2CC9}" type="presParOf" srcId="{6626259F-FD62-4B64-A6A1-7CA77BF58801}" destId="{B1B833DB-DDBB-4545-A59B-21FA153F1B18}" srcOrd="4" destOrd="0" presId="urn:microsoft.com/office/officeart/2024/3/layout/verticalVisualTextBlock1"/>
    <dgm:cxn modelId="{E976817D-8884-4D20-AC07-4BD50DCC6140}" type="presParOf" srcId="{B1B833DB-DDBB-4545-A59B-21FA153F1B18}" destId="{CB4155C4-3FCB-4DED-A541-A78D8EEE3699}" srcOrd="0" destOrd="0" presId="urn:microsoft.com/office/officeart/2024/3/layout/verticalVisualTextBlock1"/>
    <dgm:cxn modelId="{54313725-33BA-46AB-92A9-CCF7471C8983}" type="presParOf" srcId="{B1B833DB-DDBB-4545-A59B-21FA153F1B18}" destId="{931E8EBA-F1BF-4E1B-BA57-5A5C1C38789F}" srcOrd="1" destOrd="0" presId="urn:microsoft.com/office/officeart/2024/3/layout/verticalVisualTextBlock1"/>
    <dgm:cxn modelId="{804EF141-F7B2-4E7D-9B0A-53DC196FEF86}" type="presParOf" srcId="{B1B833DB-DDBB-4545-A59B-21FA153F1B18}" destId="{DCE991DC-ED05-4735-89B2-FE8BD3050D49}"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5EB6BA-4452-482C-BF5D-6C404C54C982}">
      <dsp:nvSpPr>
        <dsp:cNvPr id="0" name=""/>
        <dsp:cNvSpPr/>
      </dsp:nvSpPr>
      <dsp:spPr>
        <a:xfrm>
          <a:off x="0" y="0"/>
          <a:ext cx="1453515" cy="1453515"/>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2691" r="10561" b="2"/>
          <a:stretch/>
        </a:blipFill>
        <a:ln>
          <a:noFill/>
        </a:ln>
        <a:effectLst/>
      </dsp:spPr>
      <dsp:style>
        <a:lnRef idx="0">
          <a:scrgbClr r="0" g="0" b="0"/>
        </a:lnRef>
        <a:fillRef idx="3">
          <a:scrgbClr r="0" g="0" b="0"/>
        </a:fillRef>
        <a:effectRef idx="2">
          <a:scrgbClr r="0" g="0" b="0"/>
        </a:effectRef>
        <a:fontRef idx="minor">
          <a:schemeClr val="lt1"/>
        </a:fontRef>
      </dsp:style>
    </dsp:sp>
    <dsp:sp modelId="{3F4DCE94-E5F8-40E6-BF8E-4F64E7D4DCAA}">
      <dsp:nvSpPr>
        <dsp:cNvPr id="0" name=""/>
        <dsp:cNvSpPr/>
      </dsp:nvSpPr>
      <dsp:spPr>
        <a:xfrm>
          <a:off x="1633515" y="0"/>
          <a:ext cx="9330140" cy="36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Class Imbalance Challenge</a:t>
          </a:r>
        </a:p>
      </dsp:txBody>
      <dsp:txXfrm>
        <a:off x="1633515" y="0"/>
        <a:ext cx="9330140" cy="369520"/>
      </dsp:txXfrm>
    </dsp:sp>
    <dsp:sp modelId="{72702C70-9172-410C-BF3A-5C876946E3D9}">
      <dsp:nvSpPr>
        <dsp:cNvPr id="0" name=""/>
        <dsp:cNvSpPr/>
      </dsp:nvSpPr>
      <dsp:spPr>
        <a:xfrm>
          <a:off x="1633515" y="369520"/>
          <a:ext cx="9330140" cy="108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The dataset had few 'Lapsed' records causing class imbalance. SMOTE oversampling balanced the data effectively.</a:t>
          </a:r>
        </a:p>
      </dsp:txBody>
      <dsp:txXfrm>
        <a:off x="1633515" y="369520"/>
        <a:ext cx="9330140" cy="1083995"/>
      </dsp:txXfrm>
    </dsp:sp>
    <dsp:sp modelId="{7593487B-7C76-4A11-82AB-7C048C62FD44}">
      <dsp:nvSpPr>
        <dsp:cNvPr id="0" name=""/>
        <dsp:cNvSpPr/>
      </dsp:nvSpPr>
      <dsp:spPr>
        <a:xfrm>
          <a:off x="0" y="1569797"/>
          <a:ext cx="1453515" cy="1453515"/>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9432" r="23820" b="2"/>
          <a:stretch/>
        </a:blipFill>
        <a:ln>
          <a:noFill/>
        </a:ln>
        <a:effectLst/>
      </dsp:spPr>
      <dsp:style>
        <a:lnRef idx="0">
          <a:scrgbClr r="0" g="0" b="0"/>
        </a:lnRef>
        <a:fillRef idx="3">
          <a:scrgbClr r="0" g="0" b="0"/>
        </a:fillRef>
        <a:effectRef idx="2">
          <a:scrgbClr r="0" g="0" b="0"/>
        </a:effectRef>
        <a:fontRef idx="minor">
          <a:schemeClr val="lt1"/>
        </a:fontRef>
      </dsp:style>
    </dsp:sp>
    <dsp:sp modelId="{D79A17BE-6279-4443-8595-03649176F64D}">
      <dsp:nvSpPr>
        <dsp:cNvPr id="0" name=""/>
        <dsp:cNvSpPr/>
      </dsp:nvSpPr>
      <dsp:spPr>
        <a:xfrm>
          <a:off x="1633515" y="1569797"/>
          <a:ext cx="9330140" cy="36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Derived Feature Importance</a:t>
          </a:r>
        </a:p>
      </dsp:txBody>
      <dsp:txXfrm>
        <a:off x="1633515" y="1569797"/>
        <a:ext cx="9330140" cy="369520"/>
      </dsp:txXfrm>
    </dsp:sp>
    <dsp:sp modelId="{FDF86A8E-A088-4061-A71E-BB4DFBE78502}">
      <dsp:nvSpPr>
        <dsp:cNvPr id="0" name=""/>
        <dsp:cNvSpPr/>
      </dsp:nvSpPr>
      <dsp:spPr>
        <a:xfrm>
          <a:off x="1633515" y="1939317"/>
          <a:ext cx="9330140" cy="108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License_Duration feature from issuance and expiration dates enhanced model predictive performance.</a:t>
          </a:r>
        </a:p>
      </dsp:txBody>
      <dsp:txXfrm>
        <a:off x="1633515" y="1939317"/>
        <a:ext cx="9330140" cy="1083995"/>
      </dsp:txXfrm>
    </dsp:sp>
    <dsp:sp modelId="{CB4155C4-3FCB-4DED-A541-A78D8EEE3699}">
      <dsp:nvSpPr>
        <dsp:cNvPr id="0" name=""/>
        <dsp:cNvSpPr/>
      </dsp:nvSpPr>
      <dsp:spPr>
        <a:xfrm>
          <a:off x="0" y="3139594"/>
          <a:ext cx="1453515" cy="1453515"/>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r="6" b="6"/>
          <a:stretch/>
        </a:blipFill>
        <a:ln>
          <a:noFill/>
        </a:ln>
        <a:effectLst/>
      </dsp:spPr>
      <dsp:style>
        <a:lnRef idx="0">
          <a:scrgbClr r="0" g="0" b="0"/>
        </a:lnRef>
        <a:fillRef idx="3">
          <a:scrgbClr r="0" g="0" b="0"/>
        </a:fillRef>
        <a:effectRef idx="2">
          <a:scrgbClr r="0" g="0" b="0"/>
        </a:effectRef>
        <a:fontRef idx="minor">
          <a:schemeClr val="lt1"/>
        </a:fontRef>
      </dsp:style>
    </dsp:sp>
    <dsp:sp modelId="{931E8EBA-F1BF-4E1B-BA57-5A5C1C38789F}">
      <dsp:nvSpPr>
        <dsp:cNvPr id="0" name=""/>
        <dsp:cNvSpPr/>
      </dsp:nvSpPr>
      <dsp:spPr>
        <a:xfrm>
          <a:off x="1633515" y="3139594"/>
          <a:ext cx="9330140" cy="36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Model Evaluation</a:t>
          </a:r>
        </a:p>
      </dsp:txBody>
      <dsp:txXfrm>
        <a:off x="1633515" y="3139594"/>
        <a:ext cx="9330140" cy="369520"/>
      </dsp:txXfrm>
    </dsp:sp>
    <dsp:sp modelId="{DCE991DC-ED05-4735-89B2-FE8BD3050D49}">
      <dsp:nvSpPr>
        <dsp:cNvPr id="0" name=""/>
        <dsp:cNvSpPr/>
      </dsp:nvSpPr>
      <dsp:spPr>
        <a:xfrm>
          <a:off x="1633515" y="3509114"/>
          <a:ext cx="9330140" cy="1083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Gradient Boosting and Random Forest classifiers were compared for accuracy in license status prediction.</a:t>
          </a:r>
        </a:p>
      </dsp:txBody>
      <dsp:txXfrm>
        <a:off x="1633515" y="3509114"/>
        <a:ext cx="9330140" cy="108399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10/28/25</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10/28/25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FDD6F49-EBB7-4CCF-97A8-E526BB28BB69}" type="slidenum">
              <a:rPr lang="en-US" smtClean="0"/>
              <a:t>1</a:t>
            </a:fld>
            <a:endParaRPr lang="en-US" dirty="0"/>
          </a:p>
        </p:txBody>
      </p:sp>
    </p:spTree>
    <p:extLst>
      <p:ext uri="{BB962C8B-B14F-4D97-AF65-F5344CB8AC3E}">
        <p14:creationId xmlns:p14="http://schemas.microsoft.com/office/powerpoint/2010/main" val="1633237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Slide</a:t>
            </a:r>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796764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titled 'A Dual Analysis of NYC Business Licenses: Predicting Location and License Status', is part of the CS667 – Practical Data Science course instructed by Dr. Krishna Bathula during the Fall 2025 semester. It is prepared by Team #8 and aims to showcase a comprehensive data science project involving predictive modeling on NYC business license data. The presentation outlines the objectives, methodologies, results, and key insights derived from analyzing approximately 66,000 business license records. The dual focus of the project includes predicting missing geographic coordinates and forecasting license status, providing valuable implications for policy and operational planning.</a:t>
            </a:r>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2676655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Objectives and Tools</a:t>
            </a:r>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40892988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utilizes a dataset comprising approximately 66,000 NYC business license records. The primary objectives are twofold: first, to predict missing latitude and longitude values using regression techniques, and second, to classify license status as either active or lapsed. These tasks are approached using Python-based tools including Pandas for data manipulation, Scikit-learn for machine learning modeling, Matplotlib for visualization, and SMOTE for handling class imbalance. The dual analysis aims to enhance spatial mapping accuracy and support proactive license renewal strategies, thereby contributing to more informed decision-making by the Department of Consumer and Worker Protection (DCWP).</a:t>
            </a:r>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1843240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Understanding, Data Cleaning Summary</a:t>
            </a:r>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8337069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original dataset contains 31 columns, which were reduced to 15 high-quality fields through careful preprocessing. Missing data was addressed by inferring boroughs using ZIP code mapping and imputing Neighborhood Tabulation Areas (NTAs) based on dominant ZIP code frequencies. Columns with low variance or more than 50% missing values were dropped to ensure data integrity. This preprocessing step was crucial for building robust predictive models and minimizing noise in the dataset.</a:t>
            </a:r>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110796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cleaning involved removing 27 records where the expiration date was earlier than the issuance date, resulting in a final dataset of 56,321 valid business records. ZIP codes were normalized to a 5-digit format, and entries labeled as 'Outside NYC' were excluded to focus the analysis on the five boroughs. These steps ensured that the dataset was both accurate and relevant for the predictive tasks, laying a solid foundation for model development.</a:t>
            </a:r>
          </a:p>
        </p:txBody>
      </p:sp>
      <p:sp>
        <p:nvSpPr>
          <p:cNvPr id="4" name="Slide Number Placeholder 3"/>
          <p:cNvSpPr>
            <a:spLocks noGrp="1"/>
          </p:cNvSpPr>
          <p:nvPr>
            <p:ph type="sldNum" sz="quarter" idx="5"/>
          </p:nvPr>
        </p:nvSpPr>
        <p:spPr/>
        <p:txBody>
          <a:bodyPr/>
          <a:lstStyle/>
          <a:p>
            <a:fld id="{BFDD6F49-EBB7-4CCF-97A8-E526BB28BB69}" type="slidenum">
              <a:rPr lang="en-US" smtClean="0"/>
              <a:t>8</a:t>
            </a:fld>
            <a:endParaRPr lang="en-US" dirty="0"/>
          </a:p>
        </p:txBody>
      </p:sp>
    </p:spTree>
    <p:extLst>
      <p:ext uri="{BB962C8B-B14F-4D97-AF65-F5344CB8AC3E}">
        <p14:creationId xmlns:p14="http://schemas.microsoft.com/office/powerpoint/2010/main" val="693147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Predicting Location, Regression Results</a:t>
            </a:r>
          </a:p>
        </p:txBody>
      </p:sp>
      <p:sp>
        <p:nvSpPr>
          <p:cNvPr id="4" name="Slide Number Placeholder 3"/>
          <p:cNvSpPr>
            <a:spLocks noGrp="1"/>
          </p:cNvSpPr>
          <p:nvPr>
            <p:ph type="sldNum" sz="quarter" idx="5"/>
          </p:nvPr>
        </p:nvSpPr>
        <p:spPr/>
        <p:txBody>
          <a:bodyPr/>
          <a:lstStyle/>
          <a:p>
            <a:fld id="{BFDD6F49-EBB7-4CCF-97A8-E526BB28BB69}" type="slidenum">
              <a:rPr lang="en-US" smtClean="0"/>
              <a:t>9</a:t>
            </a:fld>
            <a:endParaRPr lang="en-US" dirty="0"/>
          </a:p>
        </p:txBody>
      </p:sp>
    </p:spTree>
    <p:extLst>
      <p:ext uri="{BB962C8B-B14F-4D97-AF65-F5344CB8AC3E}">
        <p14:creationId xmlns:p14="http://schemas.microsoft.com/office/powerpoint/2010/main" val="4252270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regression task aimed to estimate missing latitude and longitude values for business records. Two models were compared: Random Forest Regressor and Gradient Boosting Regressor. Feature engineering included one-hot encoding of categorical variables such as Borough, NTA, and Category. Outlier clipping and hierarchical imputation were applied to enhance model performance. These techniques helped in capturing spatial patterns and improving the accuracy of location predictions.</a:t>
            </a:r>
          </a:p>
        </p:txBody>
      </p:sp>
      <p:sp>
        <p:nvSpPr>
          <p:cNvPr id="4" name="Slide Number Placeholder 3"/>
          <p:cNvSpPr>
            <a:spLocks noGrp="1"/>
          </p:cNvSpPr>
          <p:nvPr>
            <p:ph type="sldNum" sz="quarter" idx="5"/>
          </p:nvPr>
        </p:nvSpPr>
        <p:spPr/>
        <p:txBody>
          <a:bodyPr/>
          <a:lstStyle/>
          <a:p>
            <a:fld id="{BFDD6F49-EBB7-4CCF-97A8-E526BB28BB69}" type="slidenum">
              <a:rPr lang="en-US" smtClean="0"/>
              <a:t>10</a:t>
            </a:fld>
            <a:endParaRPr lang="en-US" dirty="0"/>
          </a:p>
        </p:txBody>
      </p:sp>
    </p:spTree>
    <p:extLst>
      <p:ext uri="{BB962C8B-B14F-4D97-AF65-F5344CB8AC3E}">
        <p14:creationId xmlns:p14="http://schemas.microsoft.com/office/powerpoint/2010/main" val="3735945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regression results indicate that the Random Forest model slightly outperformed Gradient Boosting, achieving an RMSE of 0.03717 and an R² of 0.8115. The mean spatial error was approximately 3.3 kilometers, which is acceptable for policy-level mapping. These results demonstrate the feasibility of using machine learning to impute geographic coordinates, thereby enhancing the completeness and utility of business license data for spatial analysis.</a:t>
            </a:r>
          </a:p>
        </p:txBody>
      </p:sp>
      <p:sp>
        <p:nvSpPr>
          <p:cNvPr id="4" name="Slide Number Placeholder 3"/>
          <p:cNvSpPr>
            <a:spLocks noGrp="1"/>
          </p:cNvSpPr>
          <p:nvPr>
            <p:ph type="sldNum" sz="quarter" idx="5"/>
          </p:nvPr>
        </p:nvSpPr>
        <p:spPr/>
        <p:txBody>
          <a:bodyPr/>
          <a:lstStyle/>
          <a:p>
            <a:fld id="{BFDD6F49-EBB7-4CCF-97A8-E526BB28BB69}" type="slidenum">
              <a:rPr lang="en-US" smtClean="0"/>
              <a:t>11</a:t>
            </a:fld>
            <a:endParaRPr lang="en-US" dirty="0"/>
          </a:p>
        </p:txBody>
      </p:sp>
    </p:spTree>
    <p:extLst>
      <p:ext uri="{BB962C8B-B14F-4D97-AF65-F5344CB8AC3E}">
        <p14:creationId xmlns:p14="http://schemas.microsoft.com/office/powerpoint/2010/main" val="3133845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Predicting License Status, Classification Results</a:t>
            </a:r>
          </a:p>
        </p:txBody>
      </p:sp>
      <p:sp>
        <p:nvSpPr>
          <p:cNvPr id="4" name="Slide Number Placeholder 3"/>
          <p:cNvSpPr>
            <a:spLocks noGrp="1"/>
          </p:cNvSpPr>
          <p:nvPr>
            <p:ph type="sldNum" sz="quarter" idx="5"/>
          </p:nvPr>
        </p:nvSpPr>
        <p:spPr/>
        <p:txBody>
          <a:bodyPr/>
          <a:lstStyle/>
          <a:p>
            <a:fld id="{BFDD6F49-EBB7-4CCF-97A8-E526BB28BB69}" type="slidenum">
              <a:rPr lang="en-US" smtClean="0"/>
              <a:t>12</a:t>
            </a:fld>
            <a:endParaRPr lang="en-US" dirty="0"/>
          </a:p>
        </p:txBody>
      </p:sp>
    </p:spTree>
    <p:extLst>
      <p:ext uri="{BB962C8B-B14F-4D97-AF65-F5344CB8AC3E}">
        <p14:creationId xmlns:p14="http://schemas.microsoft.com/office/powerpoint/2010/main" val="2404246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classification task focused on predicting whether a business license would lapse or remain active. A significant challenge was the strong class imbalance, with relatively few 'Lapsed' records. To address this, SMOTE oversampling was used to balance the classes. A derived feature, License_Duration, calculated from the issuance and expiration dates, was included to improve model performance. Gradient Boosting and Random Forest classifiers were evaluated for their effectiveness in handling this task.</a:t>
            </a:r>
          </a:p>
        </p:txBody>
      </p:sp>
      <p:sp>
        <p:nvSpPr>
          <p:cNvPr id="4" name="Slide Number Placeholder 3"/>
          <p:cNvSpPr>
            <a:spLocks noGrp="1"/>
          </p:cNvSpPr>
          <p:nvPr>
            <p:ph type="sldNum" sz="quarter" idx="5"/>
          </p:nvPr>
        </p:nvSpPr>
        <p:spPr/>
        <p:txBody>
          <a:bodyPr/>
          <a:lstStyle/>
          <a:p>
            <a:fld id="{BFDD6F49-EBB7-4CCF-97A8-E526BB28BB69}" type="slidenum">
              <a:rPr lang="en-US" smtClean="0"/>
              <a:t>13</a:t>
            </a:fld>
            <a:endParaRPr lang="en-US" dirty="0"/>
          </a:p>
        </p:txBody>
      </p:sp>
    </p:spTree>
    <p:extLst>
      <p:ext uri="{BB962C8B-B14F-4D97-AF65-F5344CB8AC3E}">
        <p14:creationId xmlns:p14="http://schemas.microsoft.com/office/powerpoint/2010/main" val="3306594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Both models demonstrated consistent performance, with ROC-AUC scores around 0.73. Gradient Boosting showed higher precision, making it suitable for policy applications where false positives are costly. Random Forest exhibited higher recall, which is beneficial for sending renewal reminders. These complementary strengths suggest that model selection should be guided by the specific operational goals of the DCWP.</a:t>
            </a:r>
          </a:p>
        </p:txBody>
      </p:sp>
      <p:sp>
        <p:nvSpPr>
          <p:cNvPr id="4" name="Slide Number Placeholder 3"/>
          <p:cNvSpPr>
            <a:spLocks noGrp="1"/>
          </p:cNvSpPr>
          <p:nvPr>
            <p:ph type="sldNum" sz="quarter" idx="5"/>
          </p:nvPr>
        </p:nvSpPr>
        <p:spPr/>
        <p:txBody>
          <a:bodyPr/>
          <a:lstStyle/>
          <a:p>
            <a:fld id="{BFDD6F49-EBB7-4CCF-97A8-E526BB28BB69}" type="slidenum">
              <a:rPr lang="en-US" smtClean="0"/>
              <a:t>14</a:t>
            </a:fld>
            <a:endParaRPr lang="en-US" dirty="0"/>
          </a:p>
        </p:txBody>
      </p:sp>
    </p:spTree>
    <p:extLst>
      <p:ext uri="{BB962C8B-B14F-4D97-AF65-F5344CB8AC3E}">
        <p14:creationId xmlns:p14="http://schemas.microsoft.com/office/powerpoint/2010/main" val="3455903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Insights, Conclusion</a:t>
            </a:r>
          </a:p>
        </p:txBody>
      </p:sp>
      <p:sp>
        <p:nvSpPr>
          <p:cNvPr id="4" name="Slide Number Placeholder 3"/>
          <p:cNvSpPr>
            <a:spLocks noGrp="1"/>
          </p:cNvSpPr>
          <p:nvPr>
            <p:ph type="sldNum" sz="quarter" idx="5"/>
          </p:nvPr>
        </p:nvSpPr>
        <p:spPr/>
        <p:txBody>
          <a:bodyPr/>
          <a:lstStyle/>
          <a:p>
            <a:fld id="{BFDD6F49-EBB7-4CCF-97A8-E526BB28BB69}" type="slidenum">
              <a:rPr lang="en-US" smtClean="0"/>
              <a:t>15</a:t>
            </a:fld>
            <a:endParaRPr lang="en-US" dirty="0"/>
          </a:p>
        </p:txBody>
      </p:sp>
    </p:spTree>
    <p:extLst>
      <p:ext uri="{BB962C8B-B14F-4D97-AF65-F5344CB8AC3E}">
        <p14:creationId xmlns:p14="http://schemas.microsoft.com/office/powerpoint/2010/main" val="59331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analysis revealed that license duration is the strongest predictor of renewal likelihood. Additionally, borough and business category were found to influence renewal outcomes. Random Forest emerged as the best-performing model across both regression and classification tasks. The use of multi-output regression proved efficient in capturing spatial correlations, highlighting the value of integrated modeling approaches in urban data science.</a:t>
            </a:r>
          </a:p>
        </p:txBody>
      </p:sp>
      <p:sp>
        <p:nvSpPr>
          <p:cNvPr id="4" name="Slide Number Placeholder 3"/>
          <p:cNvSpPr>
            <a:spLocks noGrp="1"/>
          </p:cNvSpPr>
          <p:nvPr>
            <p:ph type="sldNum" sz="quarter" idx="5"/>
          </p:nvPr>
        </p:nvSpPr>
        <p:spPr/>
        <p:txBody>
          <a:bodyPr/>
          <a:lstStyle/>
          <a:p>
            <a:fld id="{BFDD6F49-EBB7-4CCF-97A8-E526BB28BB69}" type="slidenum">
              <a:rPr lang="en-US" smtClean="0"/>
              <a:t>16</a:t>
            </a:fld>
            <a:endParaRPr lang="en-US" dirty="0"/>
          </a:p>
        </p:txBody>
      </p:sp>
    </p:spTree>
    <p:extLst>
      <p:ext uri="{BB962C8B-B14F-4D97-AF65-F5344CB8AC3E}">
        <p14:creationId xmlns:p14="http://schemas.microsoft.com/office/powerpoint/2010/main" val="4191794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successfully developed two reliable and interpretable machine learning systems. The geo prediction model enhances mapping accuracy, while the license status forecasting model supports renewal planning. Both models demonstrated strong generalization with minimal overfitting. These tools have potential applications in optimizing DCWP policies and improving operational efficiency in managing business licenses across New York City.</a:t>
            </a:r>
          </a:p>
        </p:txBody>
      </p:sp>
      <p:sp>
        <p:nvSpPr>
          <p:cNvPr id="4" name="Slide Number Placeholder 3"/>
          <p:cNvSpPr>
            <a:spLocks noGrp="1"/>
          </p:cNvSpPr>
          <p:nvPr>
            <p:ph type="sldNum" sz="quarter" idx="5"/>
          </p:nvPr>
        </p:nvSpPr>
        <p:spPr/>
        <p:txBody>
          <a:bodyPr/>
          <a:lstStyle/>
          <a:p>
            <a:fld id="{BFDD6F49-EBB7-4CCF-97A8-E526BB28BB69}" type="slidenum">
              <a:rPr lang="en-US" smtClean="0"/>
              <a:t>17</a:t>
            </a:fld>
            <a:endParaRPr lang="en-US" dirty="0"/>
          </a:p>
        </p:txBody>
      </p:sp>
    </p:spTree>
    <p:extLst>
      <p:ext uri="{BB962C8B-B14F-4D97-AF65-F5344CB8AC3E}">
        <p14:creationId xmlns:p14="http://schemas.microsoft.com/office/powerpoint/2010/main" val="3066946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51026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62819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dirty="0"/>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7804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dirty="0"/>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613891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54260349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5675972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dirty="0"/>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dirty="0"/>
              <a:t>Click to edit Master subtitle style</a:t>
            </a:r>
          </a:p>
        </p:txBody>
      </p:sp>
    </p:spTree>
    <p:extLst>
      <p:ext uri="{BB962C8B-B14F-4D97-AF65-F5344CB8AC3E}">
        <p14:creationId xmlns:p14="http://schemas.microsoft.com/office/powerpoint/2010/main" val="13781754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2543322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dirty="0"/>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038425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071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dirty="0"/>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9543712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8363512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35571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74582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5084339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04408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66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2091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194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8284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911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35434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384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426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201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7146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92562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279141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29701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a:t>
            </a:fld>
            <a:endParaRPr lang="en-US" dirty="0"/>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33643470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dirty="0"/>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693761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851624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endParaRPr lang="en-US" dirty="0"/>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96850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984175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3639619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dirty="0"/>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9751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25712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5556995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16968667"/>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47514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dirty="0"/>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273828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869464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121877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364410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9925949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745344233"/>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06243727"/>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4832712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86923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63638636"/>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7467848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07764677"/>
      </p:ext>
    </p:extLst>
  </p:cSld>
  <p:clrMap bg1="lt1" tx1="dk1" bg2="lt2" tx2="dk2" accent1="accent1" accent2="accent2" accent3="accent3" accent4="accent4" accent5="accent5" accent6="accent6" hlink="hlink" folHlink="folHlink"/>
  <p:sldLayoutIdLst>
    <p:sldLayoutId id="2147483886" r:id="rId1"/>
    <p:sldLayoutId id="2147483888" r:id="rId2"/>
    <p:sldLayoutId id="2147483889" r:id="rId3"/>
    <p:sldLayoutId id="2147483890" r:id="rId4"/>
    <p:sldLayoutId id="2147483937" r:id="rId5"/>
    <p:sldLayoutId id="2147483891" r:id="rId6"/>
    <p:sldLayoutId id="2147483892" r:id="rId7"/>
    <p:sldLayoutId id="2147483893" r:id="rId8"/>
    <p:sldLayoutId id="2147483894" r:id="rId9"/>
    <p:sldLayoutId id="2147483895" r:id="rId10"/>
    <p:sldLayoutId id="2147483896" r:id="rId11"/>
    <p:sldLayoutId id="2147483897" r:id="rId12"/>
    <p:sldLayoutId id="2147483898" r:id="rId13"/>
    <p:sldLayoutId id="2147483899" r:id="rId14"/>
    <p:sldLayoutId id="2147483900" r:id="rId15"/>
    <p:sldLayoutId id="2147483901" r:id="rId16"/>
    <p:sldLayoutId id="2147483902" r:id="rId17"/>
    <p:sldLayoutId id="2147483903" r:id="rId18"/>
    <p:sldLayoutId id="2147483904" r:id="rId19"/>
    <p:sldLayoutId id="2147483905" r:id="rId20"/>
    <p:sldLayoutId id="2147483906" r:id="rId21"/>
    <p:sldLayoutId id="2147483907" r:id="rId22"/>
    <p:sldLayoutId id="2147483908" r:id="rId23"/>
    <p:sldLayoutId id="2147483909" r:id="rId24"/>
    <p:sldLayoutId id="2147483910" r:id="rId25"/>
    <p:sldLayoutId id="2147483911" r:id="rId26"/>
    <p:sldLayoutId id="2147483912" r:id="rId27"/>
    <p:sldLayoutId id="2147483913" r:id="rId28"/>
    <p:sldLayoutId id="2147483914" r:id="rId29"/>
    <p:sldLayoutId id="2147483915" r:id="rId30"/>
    <p:sldLayoutId id="2147483916" r:id="rId31"/>
    <p:sldLayoutId id="2147483917" r:id="rId32"/>
    <p:sldLayoutId id="2147483918" r:id="rId33"/>
    <p:sldLayoutId id="2147483919" r:id="rId34"/>
    <p:sldLayoutId id="2147483920" r:id="rId35"/>
    <p:sldLayoutId id="2147483921" r:id="rId36"/>
    <p:sldLayoutId id="2147483922" r:id="rId37"/>
    <p:sldLayoutId id="2147483923" r:id="rId38"/>
    <p:sldLayoutId id="2147483924" r:id="rId39"/>
    <p:sldLayoutId id="2147483925" r:id="rId40"/>
    <p:sldLayoutId id="2147483926" r:id="rId41"/>
    <p:sldLayoutId id="2147483927" r:id="rId42"/>
    <p:sldLayoutId id="2147483928" r:id="rId43"/>
    <p:sldLayoutId id="2147483929" r:id="rId44"/>
    <p:sldLayoutId id="2147483930" r:id="rId45"/>
    <p:sldLayoutId id="2147483931" r:id="rId46"/>
    <p:sldLayoutId id="2147483932" r:id="rId47"/>
    <p:sldLayoutId id="2147483933" r:id="rId48"/>
    <p:sldLayoutId id="2147483934" r:id="rId49"/>
    <p:sldLayoutId id="2147483935" r:id="rId50"/>
    <p:sldLayoutId id="2147483936"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7C98C-F7CF-8E8E-5F01-ACDF44A0DA3B}"/>
              </a:ext>
            </a:extLst>
          </p:cNvPr>
          <p:cNvSpPr>
            <a:spLocks noGrp="1"/>
          </p:cNvSpPr>
          <p:nvPr>
            <p:ph type="title"/>
          </p:nvPr>
        </p:nvSpPr>
        <p:spPr>
          <a:xfrm>
            <a:off x="974845" y="935204"/>
            <a:ext cx="10036005" cy="3592628"/>
          </a:xfrm>
        </p:spPr>
        <p:txBody>
          <a:bodyPr anchor="b">
            <a:normAutofit/>
          </a:bodyPr>
          <a:lstStyle/>
          <a:p>
            <a:r>
              <a:rPr lang="en-US" dirty="0"/>
              <a:t>A Dual Analysis of NYC Business Licenses</a:t>
            </a:r>
          </a:p>
        </p:txBody>
      </p:sp>
      <p:sp>
        <p:nvSpPr>
          <p:cNvPr id="3" name="Subtitle 2">
            <a:extLst>
              <a:ext uri="{FF2B5EF4-FFF2-40B4-BE49-F238E27FC236}">
                <a16:creationId xmlns:a16="http://schemas.microsoft.com/office/drawing/2014/main" id="{3D9CC713-8FC9-62F6-AA5B-768D7E9987C2}"/>
              </a:ext>
            </a:extLst>
          </p:cNvPr>
          <p:cNvSpPr>
            <a:spLocks noGrp="1"/>
          </p:cNvSpPr>
          <p:nvPr>
            <p:ph type="subTitle" idx="1"/>
          </p:nvPr>
        </p:nvSpPr>
        <p:spPr>
          <a:xfrm>
            <a:off x="974845" y="4698103"/>
            <a:ext cx="10036005" cy="1014984"/>
          </a:xfrm>
        </p:spPr>
        <p:txBody>
          <a:bodyPr anchor="t">
            <a:normAutofit lnSpcReduction="10000"/>
          </a:bodyPr>
          <a:lstStyle/>
          <a:p>
            <a:r>
              <a:rPr lang="en-US" dirty="0"/>
              <a:t>Exploring key insights from two distinct perspectives for non-technical audience</a:t>
            </a:r>
          </a:p>
        </p:txBody>
      </p:sp>
    </p:spTree>
    <p:extLst>
      <p:ext uri="{BB962C8B-B14F-4D97-AF65-F5344CB8AC3E}">
        <p14:creationId xmlns:p14="http://schemas.microsoft.com/office/powerpoint/2010/main" val="2552864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41C6F-EE3A-4812-1285-DC3AE5F2EB0D}"/>
              </a:ext>
            </a:extLst>
          </p:cNvPr>
          <p:cNvSpPr>
            <a:spLocks noGrp="1"/>
          </p:cNvSpPr>
          <p:nvPr>
            <p:ph type="ctrTitle"/>
          </p:nvPr>
        </p:nvSpPr>
        <p:spPr>
          <a:xfrm>
            <a:off x="1522013" y="1282325"/>
            <a:ext cx="8893834" cy="3988550"/>
          </a:xfrm>
        </p:spPr>
        <p:txBody>
          <a:bodyPr anchor="ctr">
            <a:normAutofit/>
          </a:bodyPr>
          <a:lstStyle/>
          <a:p>
            <a:r>
              <a:rPr lang="en-US"/>
              <a:t>Introduction</a:t>
            </a:r>
          </a:p>
        </p:txBody>
      </p:sp>
    </p:spTree>
    <p:extLst>
      <p:ext uri="{BB962C8B-B14F-4D97-AF65-F5344CB8AC3E}">
        <p14:creationId xmlns:p14="http://schemas.microsoft.com/office/powerpoint/2010/main" val="2968306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201E0-ACBD-2460-5EB7-C24DCD4B6E61}"/>
              </a:ext>
            </a:extLst>
          </p:cNvPr>
          <p:cNvSpPr>
            <a:spLocks noGrp="1"/>
          </p:cNvSpPr>
          <p:nvPr>
            <p:ph type="title"/>
          </p:nvPr>
        </p:nvSpPr>
        <p:spPr>
          <a:xfrm>
            <a:off x="612647" y="552478"/>
            <a:ext cx="6858000" cy="932688"/>
          </a:xfrm>
        </p:spPr>
        <p:txBody>
          <a:bodyPr anchor="b">
            <a:normAutofit/>
          </a:bodyPr>
          <a:lstStyle/>
          <a:p>
            <a:r>
              <a:rPr lang="en-US"/>
              <a:t>Title Slide</a:t>
            </a:r>
          </a:p>
        </p:txBody>
      </p:sp>
      <p:sp>
        <p:nvSpPr>
          <p:cNvPr id="3" name="Content Placeholder 2">
            <a:extLst>
              <a:ext uri="{FF2B5EF4-FFF2-40B4-BE49-F238E27FC236}">
                <a16:creationId xmlns:a16="http://schemas.microsoft.com/office/drawing/2014/main" id="{CB7EB66B-3507-FFF7-4491-0F517BEF8A2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Project Overview</a:t>
            </a:r>
          </a:p>
          <a:p>
            <a:pPr marL="0" lvl="1" indent="0">
              <a:buFont typeface="Arial" panose="020B0604020202020204" pitchFamily="34" charset="0"/>
              <a:buNone/>
            </a:pPr>
            <a:r>
              <a:rPr lang="en-US" sz="1400"/>
              <a:t>A comprehensive data science project on NYC business licenses is presented.</a:t>
            </a:r>
          </a:p>
          <a:p>
            <a:pPr marL="0" indent="0">
              <a:spcBef>
                <a:spcPts val="2500"/>
              </a:spcBef>
              <a:buFont typeface="Arial" panose="020B0604020202020204" pitchFamily="34" charset="0"/>
              <a:buNone/>
            </a:pPr>
            <a:r>
              <a:rPr lang="en-US" sz="1400" b="1"/>
              <a:t>Dual Analysis Focus</a:t>
            </a:r>
          </a:p>
          <a:p>
            <a:pPr marL="0" lvl="1" indent="0">
              <a:buFont typeface="Arial" panose="020B0604020202020204" pitchFamily="34" charset="0"/>
              <a:buNone/>
            </a:pPr>
            <a:r>
              <a:rPr lang="en-US" sz="1400"/>
              <a:t>Predicting missing geographic coordinates and forecasting license status are key goals.</a:t>
            </a:r>
          </a:p>
          <a:p>
            <a:pPr marL="0" indent="0">
              <a:spcBef>
                <a:spcPts val="2500"/>
              </a:spcBef>
              <a:buFont typeface="Arial" panose="020B0604020202020204" pitchFamily="34" charset="0"/>
              <a:buNone/>
            </a:pPr>
            <a:r>
              <a:rPr lang="en-US" sz="1400" b="1"/>
              <a:t>Course and Team Context</a:t>
            </a:r>
          </a:p>
          <a:p>
            <a:pPr marL="0" lvl="1" indent="0">
              <a:buFont typeface="Arial" panose="020B0604020202020204" pitchFamily="34" charset="0"/>
              <a:buNone/>
            </a:pPr>
            <a:r>
              <a:rPr lang="en-US" sz="1400"/>
              <a:t>Part of CS667 course, prepared by Team #8 under Dr. Krishna Bathula's instruction.</a:t>
            </a:r>
          </a:p>
          <a:p>
            <a:pPr marL="0" indent="0">
              <a:spcBef>
                <a:spcPts val="2500"/>
              </a:spcBef>
              <a:buFont typeface="Arial" panose="020B0604020202020204" pitchFamily="34" charset="0"/>
              <a:buNone/>
            </a:pPr>
            <a:r>
              <a:rPr lang="en-US" sz="1400" b="1"/>
              <a:t>Data and Implications</a:t>
            </a:r>
          </a:p>
          <a:p>
            <a:pPr marL="0" lvl="1" indent="0">
              <a:buFont typeface="Arial" panose="020B0604020202020204" pitchFamily="34" charset="0"/>
              <a:buNone/>
            </a:pPr>
            <a:r>
              <a:rPr lang="en-US" sz="1400"/>
              <a:t>Analysis of 66,000 records with insights for policy and operational planning.</a:t>
            </a:r>
          </a:p>
        </p:txBody>
      </p:sp>
      <p:pic>
        <p:nvPicPr>
          <p:cNvPr id="5" name="Content Placeholder 4" descr="3D illustration">
            <a:extLst>
              <a:ext uri="{FF2B5EF4-FFF2-40B4-BE49-F238E27FC236}">
                <a16:creationId xmlns:a16="http://schemas.microsoft.com/office/drawing/2014/main" id="{638B9365-1048-48B0-A4D0-7D4E39442C4A}"/>
              </a:ext>
            </a:extLst>
          </p:cNvPr>
          <p:cNvPicPr>
            <a:picLocks noGrp="1" noChangeAspect="1"/>
          </p:cNvPicPr>
          <p:nvPr>
            <p:ph type="pic" sz="quarter" idx="13"/>
          </p:nvPr>
        </p:nvPicPr>
        <p:blipFill>
          <a:blip r:embed="rId3"/>
          <a:srcRect l="12999" r="27213"/>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31355574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2F8AE-55DD-825F-C66A-2987350EB2FE}"/>
              </a:ext>
            </a:extLst>
          </p:cNvPr>
          <p:cNvSpPr>
            <a:spLocks noGrp="1"/>
          </p:cNvSpPr>
          <p:nvPr>
            <p:ph type="ctrTitle"/>
          </p:nvPr>
        </p:nvSpPr>
        <p:spPr>
          <a:xfrm>
            <a:off x="1522013" y="1282325"/>
            <a:ext cx="8893834" cy="3988550"/>
          </a:xfrm>
        </p:spPr>
        <p:txBody>
          <a:bodyPr anchor="ctr">
            <a:normAutofit/>
          </a:bodyPr>
          <a:lstStyle/>
          <a:p>
            <a:r>
              <a:rPr lang="en-US"/>
              <a:t>Project Overview</a:t>
            </a:r>
          </a:p>
        </p:txBody>
      </p:sp>
    </p:spTree>
    <p:extLst>
      <p:ext uri="{BB962C8B-B14F-4D97-AF65-F5344CB8AC3E}">
        <p14:creationId xmlns:p14="http://schemas.microsoft.com/office/powerpoint/2010/main" val="1977943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EFF30-6DB6-EC50-9E41-7F1342F48455}"/>
              </a:ext>
            </a:extLst>
          </p:cNvPr>
          <p:cNvSpPr>
            <a:spLocks noGrp="1"/>
          </p:cNvSpPr>
          <p:nvPr>
            <p:ph type="title"/>
          </p:nvPr>
        </p:nvSpPr>
        <p:spPr>
          <a:xfrm>
            <a:off x="612647" y="552478"/>
            <a:ext cx="6858000" cy="932688"/>
          </a:xfrm>
        </p:spPr>
        <p:txBody>
          <a:bodyPr anchor="b">
            <a:normAutofit/>
          </a:bodyPr>
          <a:lstStyle/>
          <a:p>
            <a:r>
              <a:rPr lang="en-US"/>
              <a:t>Objectives and Tools</a:t>
            </a:r>
          </a:p>
        </p:txBody>
      </p:sp>
      <p:sp>
        <p:nvSpPr>
          <p:cNvPr id="3" name="Content Placeholder 2">
            <a:extLst>
              <a:ext uri="{FF2B5EF4-FFF2-40B4-BE49-F238E27FC236}">
                <a16:creationId xmlns:a16="http://schemas.microsoft.com/office/drawing/2014/main" id="{7C9A238C-9C22-EFB5-C769-42C0D1EC47B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Dataset Overview</a:t>
            </a:r>
          </a:p>
          <a:p>
            <a:pPr marL="0" lvl="1" indent="0">
              <a:buFont typeface="Arial" panose="020B0604020202020204" pitchFamily="34" charset="0"/>
              <a:buNone/>
            </a:pPr>
            <a:r>
              <a:rPr lang="en-US" sz="1400"/>
              <a:t>Utilizes about 66,000 NYC business license records for analysis and modeling.</a:t>
            </a:r>
          </a:p>
          <a:p>
            <a:pPr marL="0" indent="0">
              <a:spcBef>
                <a:spcPts val="2500"/>
              </a:spcBef>
              <a:buFont typeface="Arial" panose="020B0604020202020204" pitchFamily="34" charset="0"/>
              <a:buNone/>
            </a:pPr>
            <a:r>
              <a:rPr lang="en-US" sz="1400" b="1"/>
              <a:t>Primary Objectives</a:t>
            </a:r>
          </a:p>
          <a:p>
            <a:pPr marL="0" lvl="1" indent="0">
              <a:buFont typeface="Arial" panose="020B0604020202020204" pitchFamily="34" charset="0"/>
              <a:buNone/>
            </a:pPr>
            <a:r>
              <a:rPr lang="en-US" sz="1400"/>
              <a:t>Predict missing geolocations and classify license status as active or lapsed.</a:t>
            </a:r>
          </a:p>
          <a:p>
            <a:pPr marL="0" indent="0">
              <a:spcBef>
                <a:spcPts val="2500"/>
              </a:spcBef>
              <a:buFont typeface="Arial" panose="020B0604020202020204" pitchFamily="34" charset="0"/>
              <a:buNone/>
            </a:pPr>
            <a:r>
              <a:rPr lang="en-US" sz="1400" b="1"/>
              <a:t>Python Tools Used</a:t>
            </a:r>
          </a:p>
          <a:p>
            <a:pPr marL="0" lvl="1" indent="0">
              <a:buFont typeface="Arial" panose="020B0604020202020204" pitchFamily="34" charset="0"/>
              <a:buNone/>
            </a:pPr>
            <a:r>
              <a:rPr lang="en-US" sz="1400"/>
              <a:t>Employs Pandas, Scikit-learn, Matplotlib, and SMOTE for data processing and modeling.</a:t>
            </a:r>
          </a:p>
          <a:p>
            <a:pPr marL="0" indent="0">
              <a:spcBef>
                <a:spcPts val="2500"/>
              </a:spcBef>
              <a:buFont typeface="Arial" panose="020B0604020202020204" pitchFamily="34" charset="0"/>
              <a:buNone/>
            </a:pPr>
            <a:r>
              <a:rPr lang="en-US" sz="1400" b="1"/>
              <a:t>Project Impact</a:t>
            </a:r>
          </a:p>
          <a:p>
            <a:pPr marL="0" lvl="1" indent="0">
              <a:buFont typeface="Arial" panose="020B0604020202020204" pitchFamily="34" charset="0"/>
              <a:buNone/>
            </a:pPr>
            <a:r>
              <a:rPr lang="en-US" sz="1400"/>
              <a:t>Improves spatial accuracy and supports informed license renewal decisions by DCWP.</a:t>
            </a:r>
          </a:p>
        </p:txBody>
      </p:sp>
      <p:pic>
        <p:nvPicPr>
          <p:cNvPr id="5" name="Content Placeholder 4" descr="Magnifying glass And Pin Shape With Share Icon. Searching Concept.">
            <a:extLst>
              <a:ext uri="{FF2B5EF4-FFF2-40B4-BE49-F238E27FC236}">
                <a16:creationId xmlns:a16="http://schemas.microsoft.com/office/drawing/2014/main" id="{44CB10BC-CF9C-4CAD-8305-06F042D33D7D}"/>
              </a:ext>
            </a:extLst>
          </p:cNvPr>
          <p:cNvPicPr>
            <a:picLocks noGrp="1" noChangeAspect="1"/>
          </p:cNvPicPr>
          <p:nvPr>
            <p:ph type="pic" sz="quarter" idx="13"/>
          </p:nvPr>
        </p:nvPicPr>
        <p:blipFill>
          <a:blip r:embed="rId3"/>
          <a:srcRect l="27232" r="31515" b="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40352288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76F6E-5FCF-D888-0A62-B56A4A89BAEE}"/>
              </a:ext>
            </a:extLst>
          </p:cNvPr>
          <p:cNvSpPr>
            <a:spLocks noGrp="1"/>
          </p:cNvSpPr>
          <p:nvPr>
            <p:ph type="ctrTitle"/>
          </p:nvPr>
        </p:nvSpPr>
        <p:spPr>
          <a:xfrm>
            <a:off x="1522013" y="1282325"/>
            <a:ext cx="8893834" cy="3988550"/>
          </a:xfrm>
        </p:spPr>
        <p:txBody>
          <a:bodyPr anchor="ctr">
            <a:normAutofit/>
          </a:bodyPr>
          <a:lstStyle/>
          <a:p>
            <a:r>
              <a:rPr lang="en-US"/>
              <a:t>Data Preparation</a:t>
            </a:r>
          </a:p>
        </p:txBody>
      </p:sp>
    </p:spTree>
    <p:extLst>
      <p:ext uri="{BB962C8B-B14F-4D97-AF65-F5344CB8AC3E}">
        <p14:creationId xmlns:p14="http://schemas.microsoft.com/office/powerpoint/2010/main" val="1717103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8EDF-873C-01EA-D6CE-8167794E9572}"/>
              </a:ext>
            </a:extLst>
          </p:cNvPr>
          <p:cNvSpPr>
            <a:spLocks noGrp="1"/>
          </p:cNvSpPr>
          <p:nvPr>
            <p:ph type="title"/>
          </p:nvPr>
        </p:nvSpPr>
        <p:spPr>
          <a:xfrm>
            <a:off x="612647" y="552478"/>
            <a:ext cx="6858000" cy="932688"/>
          </a:xfrm>
        </p:spPr>
        <p:txBody>
          <a:bodyPr anchor="b">
            <a:normAutofit/>
          </a:bodyPr>
          <a:lstStyle/>
          <a:p>
            <a:r>
              <a:rPr lang="en-US"/>
              <a:t>Data Understanding</a:t>
            </a:r>
          </a:p>
        </p:txBody>
      </p:sp>
      <p:sp>
        <p:nvSpPr>
          <p:cNvPr id="3" name="Content Placeholder 2">
            <a:extLst>
              <a:ext uri="{FF2B5EF4-FFF2-40B4-BE49-F238E27FC236}">
                <a16:creationId xmlns:a16="http://schemas.microsoft.com/office/drawing/2014/main" id="{636C9C77-3116-5863-88B3-D6197E0B27E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Dataset Reduction</a:t>
            </a:r>
          </a:p>
          <a:p>
            <a:pPr marL="0" lvl="1" indent="0">
              <a:buFont typeface="Arial" panose="020B0604020202020204" pitchFamily="34" charset="0"/>
              <a:buNone/>
            </a:pPr>
            <a:r>
              <a:rPr lang="en-US" sz="1400"/>
              <a:t>Reduced original 31 columns to 15 high-quality fields through preprocessing.</a:t>
            </a:r>
          </a:p>
          <a:p>
            <a:pPr marL="0" indent="0">
              <a:spcBef>
                <a:spcPts val="2500"/>
              </a:spcBef>
              <a:buFont typeface="Arial" panose="020B0604020202020204" pitchFamily="34" charset="0"/>
              <a:buNone/>
            </a:pPr>
            <a:r>
              <a:rPr lang="en-US" sz="1400" b="1"/>
              <a:t>Missing Data Handling</a:t>
            </a:r>
          </a:p>
          <a:p>
            <a:pPr marL="0" lvl="1" indent="0">
              <a:buFont typeface="Arial" panose="020B0604020202020204" pitchFamily="34" charset="0"/>
              <a:buNone/>
            </a:pPr>
            <a:r>
              <a:rPr lang="en-US" sz="1400"/>
              <a:t>Inferred boroughs by ZIP code mapping and imputed NTAs based on ZIP frequencies.</a:t>
            </a:r>
          </a:p>
          <a:p>
            <a:pPr marL="0" indent="0">
              <a:spcBef>
                <a:spcPts val="2500"/>
              </a:spcBef>
              <a:buFont typeface="Arial" panose="020B0604020202020204" pitchFamily="34" charset="0"/>
              <a:buNone/>
            </a:pPr>
            <a:r>
              <a:rPr lang="en-US" sz="1400" b="1"/>
              <a:t>Removing Low Quality Columns</a:t>
            </a:r>
          </a:p>
          <a:p>
            <a:pPr marL="0" lvl="1" indent="0">
              <a:buFont typeface="Arial" panose="020B0604020202020204" pitchFamily="34" charset="0"/>
              <a:buNone/>
            </a:pPr>
            <a:r>
              <a:rPr lang="en-US" sz="1400"/>
              <a:t>Dropped columns with low variance or over 50% missing values to improve data integrity.</a:t>
            </a:r>
          </a:p>
          <a:p>
            <a:pPr marL="0" indent="0">
              <a:spcBef>
                <a:spcPts val="2500"/>
              </a:spcBef>
              <a:buFont typeface="Arial" panose="020B0604020202020204" pitchFamily="34" charset="0"/>
              <a:buNone/>
            </a:pPr>
            <a:r>
              <a:rPr lang="en-US" sz="1400" b="1"/>
              <a:t>Importance of Preprocessing</a:t>
            </a:r>
          </a:p>
          <a:p>
            <a:pPr marL="0" lvl="1" indent="0">
              <a:buFont typeface="Arial" panose="020B0604020202020204" pitchFamily="34" charset="0"/>
              <a:buNone/>
            </a:pPr>
            <a:r>
              <a:rPr lang="en-US" sz="1400"/>
              <a:t>Preprocessing strengthens predictive model robustness and reduces dataset noise.</a:t>
            </a:r>
          </a:p>
        </p:txBody>
      </p:sp>
      <p:pic>
        <p:nvPicPr>
          <p:cNvPr id="5" name="Content Placeholder 4" descr="Shot of a computer with a graph on the screen in an empty laboratory">
            <a:extLst>
              <a:ext uri="{FF2B5EF4-FFF2-40B4-BE49-F238E27FC236}">
                <a16:creationId xmlns:a16="http://schemas.microsoft.com/office/drawing/2014/main" id="{D6992C99-C425-434B-9EFB-4835830D7B9D}"/>
              </a:ext>
            </a:extLst>
          </p:cNvPr>
          <p:cNvPicPr>
            <a:picLocks noGrp="1" noChangeAspect="1"/>
          </p:cNvPicPr>
          <p:nvPr>
            <p:ph type="pic" sz="quarter" idx="13"/>
          </p:nvPr>
        </p:nvPicPr>
        <p:blipFill>
          <a:blip r:embed="rId3"/>
          <a:srcRect l="28680" r="32159" b="2"/>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3826634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F7E54-1676-5077-D3AF-522AE4FA2CDD}"/>
              </a:ext>
            </a:extLst>
          </p:cNvPr>
          <p:cNvSpPr>
            <a:spLocks noGrp="1"/>
          </p:cNvSpPr>
          <p:nvPr>
            <p:ph type="title"/>
          </p:nvPr>
        </p:nvSpPr>
        <p:spPr>
          <a:xfrm>
            <a:off x="612647" y="552478"/>
            <a:ext cx="6858000" cy="932688"/>
          </a:xfrm>
        </p:spPr>
        <p:txBody>
          <a:bodyPr anchor="b">
            <a:normAutofit/>
          </a:bodyPr>
          <a:lstStyle/>
          <a:p>
            <a:r>
              <a:rPr lang="en-US"/>
              <a:t>Data Cleaning Summary</a:t>
            </a:r>
          </a:p>
        </p:txBody>
      </p:sp>
      <p:sp>
        <p:nvSpPr>
          <p:cNvPr id="3" name="Content Placeholder 2">
            <a:extLst>
              <a:ext uri="{FF2B5EF4-FFF2-40B4-BE49-F238E27FC236}">
                <a16:creationId xmlns:a16="http://schemas.microsoft.com/office/drawing/2014/main" id="{B6114217-12F2-0F4C-C501-97F46C4F56D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Invalid Record Removal</a:t>
            </a:r>
          </a:p>
          <a:p>
            <a:pPr marL="0" lvl="1" indent="0">
              <a:buFont typeface="Arial" panose="020B0604020202020204" pitchFamily="34" charset="0"/>
              <a:buNone/>
            </a:pPr>
            <a:r>
              <a:rPr lang="en-US" sz="1400"/>
              <a:t>Removed 27 records with expiration dates before issuance dates to ensure data accuracy.</a:t>
            </a:r>
          </a:p>
          <a:p>
            <a:pPr marL="0" indent="0">
              <a:spcBef>
                <a:spcPts val="2500"/>
              </a:spcBef>
              <a:buFont typeface="Arial" panose="020B0604020202020204" pitchFamily="34" charset="0"/>
              <a:buNone/>
            </a:pPr>
            <a:r>
              <a:rPr lang="en-US" sz="1400" b="1"/>
              <a:t>ZIP Code Normalization</a:t>
            </a:r>
          </a:p>
          <a:p>
            <a:pPr marL="0" lvl="1" indent="0">
              <a:buFont typeface="Arial" panose="020B0604020202020204" pitchFamily="34" charset="0"/>
              <a:buNone/>
            </a:pPr>
            <a:r>
              <a:rPr lang="en-US" sz="1400"/>
              <a:t>Standardized ZIP codes to 5-digit format for consistent location data across records.</a:t>
            </a:r>
          </a:p>
          <a:p>
            <a:pPr marL="0" indent="0">
              <a:spcBef>
                <a:spcPts val="2500"/>
              </a:spcBef>
              <a:buFont typeface="Arial" panose="020B0604020202020204" pitchFamily="34" charset="0"/>
              <a:buNone/>
            </a:pPr>
            <a:r>
              <a:rPr lang="en-US" sz="1400" b="1"/>
              <a:t>Geographic Filtering</a:t>
            </a:r>
          </a:p>
          <a:p>
            <a:pPr marL="0" lvl="1" indent="0">
              <a:buFont typeface="Arial" panose="020B0604020202020204" pitchFamily="34" charset="0"/>
              <a:buNone/>
            </a:pPr>
            <a:r>
              <a:rPr lang="en-US" sz="1400"/>
              <a:t>Excluded entries labeled 'Outside NYC' to focus analysis on the five boroughs.</a:t>
            </a:r>
          </a:p>
          <a:p>
            <a:pPr marL="0" indent="0">
              <a:spcBef>
                <a:spcPts val="2500"/>
              </a:spcBef>
              <a:buFont typeface="Arial" panose="020B0604020202020204" pitchFamily="34" charset="0"/>
              <a:buNone/>
            </a:pPr>
            <a:r>
              <a:rPr lang="en-US" sz="1400" b="1"/>
              <a:t>Dataset Preparedness</a:t>
            </a:r>
          </a:p>
          <a:p>
            <a:pPr marL="0" lvl="1" indent="0">
              <a:buFont typeface="Arial" panose="020B0604020202020204" pitchFamily="34" charset="0"/>
              <a:buNone/>
            </a:pPr>
            <a:r>
              <a:rPr lang="en-US" sz="1400"/>
              <a:t>Final dataset of 56,321 valid records ready for predictive modeling tasks.</a:t>
            </a:r>
          </a:p>
        </p:txBody>
      </p:sp>
      <p:pic>
        <p:nvPicPr>
          <p:cNvPr id="5" name="Content Placeholder 4" descr="Download or upload files concept">
            <a:extLst>
              <a:ext uri="{FF2B5EF4-FFF2-40B4-BE49-F238E27FC236}">
                <a16:creationId xmlns:a16="http://schemas.microsoft.com/office/drawing/2014/main" id="{B7851783-94DE-4190-A17A-5B4AAADD9D1F}"/>
              </a:ext>
            </a:extLst>
          </p:cNvPr>
          <p:cNvPicPr>
            <a:picLocks noGrp="1" noChangeAspect="1"/>
          </p:cNvPicPr>
          <p:nvPr>
            <p:ph type="pic" sz="quarter" idx="13"/>
          </p:nvPr>
        </p:nvPicPr>
        <p:blipFill>
          <a:blip r:embed="rId3"/>
          <a:srcRect l="25208" r="29951"/>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25625061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B84CB-C3F1-80D4-7FCD-F1E1F05B318E}"/>
              </a:ext>
            </a:extLst>
          </p:cNvPr>
          <p:cNvSpPr>
            <a:spLocks noGrp="1"/>
          </p:cNvSpPr>
          <p:nvPr>
            <p:ph type="ctrTitle"/>
          </p:nvPr>
        </p:nvSpPr>
        <p:spPr>
          <a:xfrm>
            <a:off x="1522013" y="1282325"/>
            <a:ext cx="8893834" cy="3988550"/>
          </a:xfrm>
        </p:spPr>
        <p:txBody>
          <a:bodyPr anchor="ctr">
            <a:normAutofit/>
          </a:bodyPr>
          <a:lstStyle/>
          <a:p>
            <a:r>
              <a:rPr lang="en-US"/>
              <a:t>Regression Analysis</a:t>
            </a:r>
          </a:p>
        </p:txBody>
      </p:sp>
    </p:spTree>
    <p:extLst>
      <p:ext uri="{BB962C8B-B14F-4D97-AF65-F5344CB8AC3E}">
        <p14:creationId xmlns:p14="http://schemas.microsoft.com/office/powerpoint/2010/main" val="17806212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D0D7C-1D53-8664-C15A-3F678F819B7E}"/>
              </a:ext>
            </a:extLst>
          </p:cNvPr>
          <p:cNvSpPr>
            <a:spLocks noGrp="1"/>
          </p:cNvSpPr>
          <p:nvPr>
            <p:ph type="title"/>
          </p:nvPr>
        </p:nvSpPr>
        <p:spPr>
          <a:xfrm>
            <a:off x="612647" y="552478"/>
            <a:ext cx="6858000" cy="932688"/>
          </a:xfrm>
        </p:spPr>
        <p:txBody>
          <a:bodyPr anchor="b">
            <a:normAutofit/>
          </a:bodyPr>
          <a:lstStyle/>
          <a:p>
            <a:r>
              <a:rPr lang="en-US"/>
              <a:t>Predicting Location</a:t>
            </a:r>
          </a:p>
        </p:txBody>
      </p:sp>
      <p:sp>
        <p:nvSpPr>
          <p:cNvPr id="3" name="Content Placeholder 2">
            <a:extLst>
              <a:ext uri="{FF2B5EF4-FFF2-40B4-BE49-F238E27FC236}">
                <a16:creationId xmlns:a16="http://schemas.microsoft.com/office/drawing/2014/main" id="{91CF6AAD-DA87-CDA8-B31F-C7B2D04DC8C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Regression Task</a:t>
            </a:r>
          </a:p>
          <a:p>
            <a:pPr marL="0" lvl="1" indent="0">
              <a:buFont typeface="Arial" panose="020B0604020202020204" pitchFamily="34" charset="0"/>
              <a:buNone/>
            </a:pPr>
            <a:r>
              <a:rPr lang="en-US" sz="1400"/>
              <a:t>The goal was to estimate missing latitude and longitude in business data accurately.</a:t>
            </a:r>
          </a:p>
          <a:p>
            <a:pPr marL="0" indent="0">
              <a:spcBef>
                <a:spcPts val="2500"/>
              </a:spcBef>
              <a:buFont typeface="Arial" panose="020B0604020202020204" pitchFamily="34" charset="0"/>
              <a:buNone/>
            </a:pPr>
            <a:r>
              <a:rPr lang="en-US" sz="1400" b="1"/>
              <a:t>Model Comparison</a:t>
            </a:r>
          </a:p>
          <a:p>
            <a:pPr marL="0" lvl="1" indent="0">
              <a:buFont typeface="Arial" panose="020B0604020202020204" pitchFamily="34" charset="0"/>
              <a:buNone/>
            </a:pPr>
            <a:r>
              <a:rPr lang="en-US" sz="1400"/>
              <a:t>Random Forest and Gradient Boosting regressors were compared to find the best estimator.</a:t>
            </a:r>
          </a:p>
          <a:p>
            <a:pPr marL="0" indent="0">
              <a:spcBef>
                <a:spcPts val="2500"/>
              </a:spcBef>
              <a:buFont typeface="Arial" panose="020B0604020202020204" pitchFamily="34" charset="0"/>
              <a:buNone/>
            </a:pPr>
            <a:r>
              <a:rPr lang="en-US" sz="1400" b="1"/>
              <a:t>Feature Engineering</a:t>
            </a:r>
          </a:p>
          <a:p>
            <a:pPr marL="0" lvl="1" indent="0">
              <a:buFont typeface="Arial" panose="020B0604020202020204" pitchFamily="34" charset="0"/>
              <a:buNone/>
            </a:pPr>
            <a:r>
              <a:rPr lang="en-US" sz="1400"/>
              <a:t>One-hot encoding was used for categorical features like Borough, NTA, and business category.</a:t>
            </a:r>
          </a:p>
          <a:p>
            <a:pPr marL="0" indent="0">
              <a:spcBef>
                <a:spcPts val="2500"/>
              </a:spcBef>
              <a:buFont typeface="Arial" panose="020B0604020202020204" pitchFamily="34" charset="0"/>
              <a:buNone/>
            </a:pPr>
            <a:r>
              <a:rPr lang="en-US" sz="1400" b="1"/>
              <a:t>Data Preprocessing</a:t>
            </a:r>
          </a:p>
          <a:p>
            <a:pPr marL="0" lvl="1" indent="0">
              <a:buFont typeface="Arial" panose="020B0604020202020204" pitchFamily="34" charset="0"/>
              <a:buNone/>
            </a:pPr>
            <a:r>
              <a:rPr lang="en-US" sz="1400"/>
              <a:t>Outlier clipping and hierarchical imputation enhanced model accuracy and captured spatial patterns.</a:t>
            </a:r>
          </a:p>
        </p:txBody>
      </p:sp>
      <p:pic>
        <p:nvPicPr>
          <p:cNvPr id="5" name="Content Placeholder 4" descr="Digital technology abstract background">
            <a:extLst>
              <a:ext uri="{FF2B5EF4-FFF2-40B4-BE49-F238E27FC236}">
                <a16:creationId xmlns:a16="http://schemas.microsoft.com/office/drawing/2014/main" id="{F9624DDC-D3E5-4CEF-8533-D98E90A0130A}"/>
              </a:ext>
            </a:extLst>
          </p:cNvPr>
          <p:cNvPicPr>
            <a:picLocks noGrp="1" noChangeAspect="1"/>
          </p:cNvPicPr>
          <p:nvPr>
            <p:ph type="pic" sz="quarter" idx="13"/>
          </p:nvPr>
        </p:nvPicPr>
        <p:blipFill>
          <a:blip r:embed="rId3"/>
          <a:srcRect l="26980" r="39389"/>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36757832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853AA-E31B-4A58-FF3A-887173DA6E4F}"/>
              </a:ext>
            </a:extLst>
          </p:cNvPr>
          <p:cNvSpPr>
            <a:spLocks noGrp="1"/>
          </p:cNvSpPr>
          <p:nvPr>
            <p:ph type="title"/>
          </p:nvPr>
        </p:nvSpPr>
        <p:spPr>
          <a:xfrm>
            <a:off x="612648" y="514649"/>
            <a:ext cx="10963655" cy="972373"/>
          </a:xfrm>
        </p:spPr>
        <p:txBody>
          <a:bodyPr anchor="b">
            <a:normAutofit/>
          </a:bodyPr>
          <a:lstStyle/>
          <a:p>
            <a:r>
              <a:rPr lang="en-US"/>
              <a:t>Regression Results</a:t>
            </a:r>
          </a:p>
        </p:txBody>
      </p:sp>
      <p:graphicFrame>
        <p:nvGraphicFramePr>
          <p:cNvPr id="5" name="Content Placeholder 4">
            <a:extLst>
              <a:ext uri="{FF2B5EF4-FFF2-40B4-BE49-F238E27FC236}">
                <a16:creationId xmlns:a16="http://schemas.microsoft.com/office/drawing/2014/main" id="{CEB8EEAB-B935-45F7-A065-A5945E464F0C}"/>
              </a:ext>
            </a:extLst>
          </p:cNvPr>
          <p:cNvGraphicFramePr>
            <a:graphicFrameLocks noGrp="1"/>
          </p:cNvGraphicFramePr>
          <p:nvPr>
            <p:ph idx="1"/>
          </p:nvPr>
        </p:nvGraphicFramePr>
        <p:xfrm>
          <a:off x="612647" y="2130155"/>
          <a:ext cx="10963658" cy="3593093"/>
        </p:xfrm>
        <a:graphic>
          <a:graphicData uri="http://schemas.openxmlformats.org/drawingml/2006/table">
            <a:tbl>
              <a:tblPr firstRow="1" bandRow="1">
                <a:noFill/>
                <a:tableStyleId>{5C22544A-7EE6-4342-B048-85BDC9FD1C3A}</a:tableStyleId>
              </a:tblPr>
              <a:tblGrid>
                <a:gridCol w="4192519">
                  <a:extLst>
                    <a:ext uri="{9D8B030D-6E8A-4147-A177-3AD203B41FA5}">
                      <a16:colId xmlns:a16="http://schemas.microsoft.com/office/drawing/2014/main" val="3110758947"/>
                    </a:ext>
                  </a:extLst>
                </a:gridCol>
                <a:gridCol w="2469816">
                  <a:extLst>
                    <a:ext uri="{9D8B030D-6E8A-4147-A177-3AD203B41FA5}">
                      <a16:colId xmlns:a16="http://schemas.microsoft.com/office/drawing/2014/main" val="2281669294"/>
                    </a:ext>
                  </a:extLst>
                </a:gridCol>
                <a:gridCol w="2255837">
                  <a:extLst>
                    <a:ext uri="{9D8B030D-6E8A-4147-A177-3AD203B41FA5}">
                      <a16:colId xmlns:a16="http://schemas.microsoft.com/office/drawing/2014/main" val="77017769"/>
                    </a:ext>
                  </a:extLst>
                </a:gridCol>
                <a:gridCol w="2045486">
                  <a:extLst>
                    <a:ext uri="{9D8B030D-6E8A-4147-A177-3AD203B41FA5}">
                      <a16:colId xmlns:a16="http://schemas.microsoft.com/office/drawing/2014/main" val="1424203723"/>
                    </a:ext>
                  </a:extLst>
                </a:gridCol>
              </a:tblGrid>
              <a:tr h="1267331">
                <a:tc>
                  <a:txBody>
                    <a:bodyPr/>
                    <a:lstStyle/>
                    <a:p>
                      <a:pPr>
                        <a:buNone/>
                      </a:pPr>
                      <a:r>
                        <a:rPr lang="en-US" sz="3700" b="1" cap="all" spc="150">
                          <a:solidFill>
                            <a:schemeClr val="tx1"/>
                          </a:solidFill>
                        </a:rPr>
                        <a:t>Model</a:t>
                      </a:r>
                    </a:p>
                  </a:txBody>
                  <a:tcPr marL="313351" marR="313351" marT="313351" marB="313351"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3700" b="1" cap="all" spc="150">
                          <a:solidFill>
                            <a:schemeClr val="tx1"/>
                          </a:solidFill>
                        </a:rPr>
                        <a:t>RMSE</a:t>
                      </a:r>
                    </a:p>
                  </a:txBody>
                  <a:tcPr marL="313351" marR="313351" marT="313351" marB="313351"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3700" b="1" cap="all" spc="150">
                          <a:solidFill>
                            <a:schemeClr val="tx1"/>
                          </a:solidFill>
                        </a:rPr>
                        <a:t>MAE</a:t>
                      </a:r>
                    </a:p>
                  </a:txBody>
                  <a:tcPr marL="313351" marR="313351" marT="313351" marB="313351"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3700" b="1" cap="all" spc="150">
                          <a:solidFill>
                            <a:schemeClr val="tx1"/>
                          </a:solidFill>
                        </a:rPr>
                        <a:t>R²</a:t>
                      </a:r>
                    </a:p>
                  </a:txBody>
                  <a:tcPr marL="313351" marR="313351" marT="313351" marB="313351"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2730673287"/>
                  </a:ext>
                </a:extLst>
              </a:tr>
              <a:tr h="1162881">
                <a:tc>
                  <a:txBody>
                    <a:bodyPr/>
                    <a:lstStyle/>
                    <a:p>
                      <a:pPr>
                        <a:buNone/>
                      </a:pPr>
                      <a:r>
                        <a:rPr lang="en-US" sz="3000" b="1" cap="none" spc="0">
                          <a:solidFill>
                            <a:schemeClr val="tx1"/>
                          </a:solidFill>
                        </a:rPr>
                        <a:t>Random Forest</a:t>
                      </a:r>
                    </a:p>
                  </a:txBody>
                  <a:tcPr marL="313351" marR="313351" marT="313351" marB="313351"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3000" cap="none" spc="0">
                          <a:solidFill>
                            <a:schemeClr val="tx1"/>
                          </a:solidFill>
                        </a:rPr>
                        <a:t>0.03717</a:t>
                      </a:r>
                    </a:p>
                  </a:txBody>
                  <a:tcPr marL="313351" marR="313351" marT="313351" marB="313351"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3000" cap="none" spc="0">
                          <a:solidFill>
                            <a:schemeClr val="tx1"/>
                          </a:solidFill>
                        </a:rPr>
                        <a:t>0.02826</a:t>
                      </a:r>
                    </a:p>
                  </a:txBody>
                  <a:tcPr marL="313351" marR="313351" marT="313351" marB="313351"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3000" cap="none" spc="0">
                          <a:solidFill>
                            <a:schemeClr val="tx1"/>
                          </a:solidFill>
                        </a:rPr>
                        <a:t>0.8115</a:t>
                      </a:r>
                    </a:p>
                  </a:txBody>
                  <a:tcPr marL="313351" marR="313351" marT="313351" marB="313351"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755297005"/>
                  </a:ext>
                </a:extLst>
              </a:tr>
              <a:tr h="1162881">
                <a:tc>
                  <a:txBody>
                    <a:bodyPr/>
                    <a:lstStyle/>
                    <a:p>
                      <a:pPr>
                        <a:buNone/>
                      </a:pPr>
                      <a:r>
                        <a:rPr lang="en-US" sz="3000" b="1" cap="none" spc="0">
                          <a:solidFill>
                            <a:schemeClr val="tx1"/>
                          </a:solidFill>
                        </a:rPr>
                        <a:t>Gradient Boosting</a:t>
                      </a:r>
                    </a:p>
                  </a:txBody>
                  <a:tcPr marL="313351" marR="313351" marT="313351" marB="313351"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3000" cap="none" spc="0">
                          <a:solidFill>
                            <a:schemeClr val="tx1"/>
                          </a:solidFill>
                        </a:rPr>
                        <a:t>0.03719</a:t>
                      </a:r>
                    </a:p>
                  </a:txBody>
                  <a:tcPr marL="313351" marR="313351" marT="313351" marB="313351"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3000" cap="none" spc="0">
                          <a:solidFill>
                            <a:schemeClr val="tx1"/>
                          </a:solidFill>
                        </a:rPr>
                        <a:t>0.02838</a:t>
                      </a:r>
                    </a:p>
                  </a:txBody>
                  <a:tcPr marL="313351" marR="313351" marT="313351" marB="313351"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3000" cap="none" spc="0">
                          <a:solidFill>
                            <a:schemeClr val="tx1"/>
                          </a:solidFill>
                        </a:rPr>
                        <a:t>0.8113</a:t>
                      </a:r>
                    </a:p>
                  </a:txBody>
                  <a:tcPr marL="313351" marR="313351" marT="313351" marB="313351"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2892574886"/>
                  </a:ext>
                </a:extLst>
              </a:tr>
            </a:tbl>
          </a:graphicData>
        </a:graphic>
      </p:graphicFrame>
    </p:spTree>
    <p:extLst>
      <p:ext uri="{BB962C8B-B14F-4D97-AF65-F5344CB8AC3E}">
        <p14:creationId xmlns:p14="http://schemas.microsoft.com/office/powerpoint/2010/main" val="284986936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5965B-3A67-700E-8702-53B8E5CADBB5}"/>
              </a:ext>
            </a:extLst>
          </p:cNvPr>
          <p:cNvSpPr>
            <a:spLocks noGrp="1"/>
          </p:cNvSpPr>
          <p:nvPr>
            <p:ph type="ctrTitle"/>
          </p:nvPr>
        </p:nvSpPr>
        <p:spPr>
          <a:xfrm>
            <a:off x="1522013" y="1282325"/>
            <a:ext cx="8893834" cy="3988550"/>
          </a:xfrm>
        </p:spPr>
        <p:txBody>
          <a:bodyPr anchor="ctr">
            <a:normAutofit/>
          </a:bodyPr>
          <a:lstStyle/>
          <a:p>
            <a:r>
              <a:rPr lang="en-US"/>
              <a:t>Classification Analysis</a:t>
            </a:r>
          </a:p>
        </p:txBody>
      </p:sp>
    </p:spTree>
    <p:extLst>
      <p:ext uri="{BB962C8B-B14F-4D97-AF65-F5344CB8AC3E}">
        <p14:creationId xmlns:p14="http://schemas.microsoft.com/office/powerpoint/2010/main" val="11907477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35491-9D56-BD6D-1BA9-9928662D9646}"/>
              </a:ext>
            </a:extLst>
          </p:cNvPr>
          <p:cNvSpPr>
            <a:spLocks noGrp="1"/>
          </p:cNvSpPr>
          <p:nvPr>
            <p:ph type="title"/>
          </p:nvPr>
        </p:nvSpPr>
        <p:spPr>
          <a:xfrm>
            <a:off x="612648" y="514649"/>
            <a:ext cx="10963655" cy="972373"/>
          </a:xfrm>
        </p:spPr>
        <p:txBody>
          <a:bodyPr anchor="b">
            <a:normAutofit/>
          </a:bodyPr>
          <a:lstStyle/>
          <a:p>
            <a:r>
              <a:rPr lang="en-US"/>
              <a:t>Predicting License Status</a:t>
            </a:r>
          </a:p>
        </p:txBody>
      </p:sp>
      <p:graphicFrame>
        <p:nvGraphicFramePr>
          <p:cNvPr id="4" name="Content Placeholder 3">
            <a:extLst>
              <a:ext uri="{FF2B5EF4-FFF2-40B4-BE49-F238E27FC236}">
                <a16:creationId xmlns:a16="http://schemas.microsoft.com/office/drawing/2014/main" id="{789ADBFA-8BD5-4735-A8FD-9C34F686184F}"/>
              </a:ext>
            </a:extLst>
          </p:cNvPr>
          <p:cNvGraphicFramePr>
            <a:graphicFrameLocks noGrp="1"/>
          </p:cNvGraphicFramePr>
          <p:nvPr>
            <p:ph idx="1"/>
            <p:extLst>
              <p:ext uri="{D42A27DB-BD31-4B8C-83A1-F6EECF244321}">
                <p14:modId xmlns:p14="http://schemas.microsoft.com/office/powerpoint/2010/main" val="4047693309"/>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7" y="1629786"/>
          <a:ext cx="10963656" cy="4593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8615622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40EE4-67CC-C5A2-85F1-7D02461EC1CC}"/>
              </a:ext>
            </a:extLst>
          </p:cNvPr>
          <p:cNvSpPr>
            <a:spLocks noGrp="1"/>
          </p:cNvSpPr>
          <p:nvPr>
            <p:ph type="title"/>
          </p:nvPr>
        </p:nvSpPr>
        <p:spPr>
          <a:xfrm>
            <a:off x="612648" y="514649"/>
            <a:ext cx="10963655" cy="972373"/>
          </a:xfrm>
        </p:spPr>
        <p:txBody>
          <a:bodyPr anchor="b">
            <a:normAutofit/>
          </a:bodyPr>
          <a:lstStyle/>
          <a:p>
            <a:r>
              <a:rPr lang="en-US"/>
              <a:t>Classification Results</a:t>
            </a:r>
          </a:p>
        </p:txBody>
      </p:sp>
      <p:graphicFrame>
        <p:nvGraphicFramePr>
          <p:cNvPr id="5" name="Content Placeholder 4">
            <a:extLst>
              <a:ext uri="{FF2B5EF4-FFF2-40B4-BE49-F238E27FC236}">
                <a16:creationId xmlns:a16="http://schemas.microsoft.com/office/drawing/2014/main" id="{CF5AF34E-F470-450C-8093-BBB283B06D75}"/>
              </a:ext>
            </a:extLst>
          </p:cNvPr>
          <p:cNvGraphicFramePr>
            <a:graphicFrameLocks noGrp="1"/>
          </p:cNvGraphicFramePr>
          <p:nvPr>
            <p:ph idx="1"/>
          </p:nvPr>
        </p:nvGraphicFramePr>
        <p:xfrm>
          <a:off x="1156086" y="1629786"/>
          <a:ext cx="9876780" cy="4593829"/>
        </p:xfrm>
        <a:graphic>
          <a:graphicData uri="http://schemas.openxmlformats.org/drawingml/2006/table">
            <a:tbl>
              <a:tblPr firstRow="1" bandRow="1">
                <a:noFill/>
                <a:tableStyleId>{5C22544A-7EE6-4342-B048-85BDC9FD1C3A}</a:tableStyleId>
              </a:tblPr>
              <a:tblGrid>
                <a:gridCol w="2386840">
                  <a:extLst>
                    <a:ext uri="{9D8B030D-6E8A-4147-A177-3AD203B41FA5}">
                      <a16:colId xmlns:a16="http://schemas.microsoft.com/office/drawing/2014/main" val="1758437187"/>
                    </a:ext>
                  </a:extLst>
                </a:gridCol>
                <a:gridCol w="3013892">
                  <a:extLst>
                    <a:ext uri="{9D8B030D-6E8A-4147-A177-3AD203B41FA5}">
                      <a16:colId xmlns:a16="http://schemas.microsoft.com/office/drawing/2014/main" val="4082219107"/>
                    </a:ext>
                  </a:extLst>
                </a:gridCol>
                <a:gridCol w="4476048">
                  <a:extLst>
                    <a:ext uri="{9D8B030D-6E8A-4147-A177-3AD203B41FA5}">
                      <a16:colId xmlns:a16="http://schemas.microsoft.com/office/drawing/2014/main" val="3177239408"/>
                    </a:ext>
                  </a:extLst>
                </a:gridCol>
              </a:tblGrid>
              <a:tr h="1453603">
                <a:tc>
                  <a:txBody>
                    <a:bodyPr/>
                    <a:lstStyle/>
                    <a:p>
                      <a:pPr>
                        <a:buNone/>
                      </a:pPr>
                      <a:r>
                        <a:rPr lang="en-US" sz="2900" b="1" cap="all" spc="150">
                          <a:solidFill>
                            <a:schemeClr val="tx1"/>
                          </a:solidFill>
                        </a:rPr>
                        <a:t>Metric</a:t>
                      </a:r>
                    </a:p>
                  </a:txBody>
                  <a:tcPr marL="249665" marR="249665" marT="249665" marB="249665"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2900" b="1" cap="all" spc="150">
                          <a:solidFill>
                            <a:schemeClr val="tx1"/>
                          </a:solidFill>
                        </a:rPr>
                        <a:t>Gradient Boosting</a:t>
                      </a:r>
                    </a:p>
                  </a:txBody>
                  <a:tcPr marL="249665" marR="249665" marT="249665" marB="249665"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2900" b="1" cap="all" spc="150">
                          <a:solidFill>
                            <a:schemeClr val="tx1"/>
                          </a:solidFill>
                        </a:rPr>
                        <a:t>Random Forest</a:t>
                      </a:r>
                    </a:p>
                  </a:txBody>
                  <a:tcPr marL="249665" marR="249665" marT="249665" marB="249665"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3632892936"/>
                  </a:ext>
                </a:extLst>
              </a:tr>
              <a:tr h="926533">
                <a:tc>
                  <a:txBody>
                    <a:bodyPr/>
                    <a:lstStyle/>
                    <a:p>
                      <a:pPr>
                        <a:buNone/>
                      </a:pPr>
                      <a:r>
                        <a:rPr lang="en-US" sz="2400" b="1" cap="none" spc="0">
                          <a:solidFill>
                            <a:schemeClr val="tx1"/>
                          </a:solidFill>
                        </a:rPr>
                        <a:t>ROC-AUC</a:t>
                      </a:r>
                    </a:p>
                  </a:txBody>
                  <a:tcPr marL="249665" marR="249665" marT="249665" marB="249665"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2400" cap="none" spc="0">
                          <a:solidFill>
                            <a:schemeClr val="tx1"/>
                          </a:solidFill>
                        </a:rPr>
                        <a:t>0.7316</a:t>
                      </a:r>
                    </a:p>
                  </a:txBody>
                  <a:tcPr marL="249665" marR="249665" marT="249665" marB="249665"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2400" cap="none" spc="0">
                          <a:solidFill>
                            <a:schemeClr val="tx1"/>
                          </a:solidFill>
                        </a:rPr>
                        <a:t>0.7359</a:t>
                      </a:r>
                    </a:p>
                  </a:txBody>
                  <a:tcPr marL="249665" marR="249665" marT="249665" marB="249665"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3065300439"/>
                  </a:ext>
                </a:extLst>
              </a:tr>
              <a:tr h="926533">
                <a:tc>
                  <a:txBody>
                    <a:bodyPr/>
                    <a:lstStyle/>
                    <a:p>
                      <a:pPr>
                        <a:buNone/>
                      </a:pPr>
                      <a:r>
                        <a:rPr lang="en-US" sz="2400" b="1" cap="none" spc="0">
                          <a:solidFill>
                            <a:schemeClr val="tx1"/>
                          </a:solidFill>
                        </a:rPr>
                        <a:t>PR-AUC</a:t>
                      </a:r>
                    </a:p>
                  </a:txBody>
                  <a:tcPr marL="249665" marR="249665" marT="249665" marB="24966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2400" cap="none" spc="0">
                          <a:solidFill>
                            <a:schemeClr val="tx1"/>
                          </a:solidFill>
                        </a:rPr>
                        <a:t>0.6178</a:t>
                      </a:r>
                    </a:p>
                  </a:txBody>
                  <a:tcPr marL="249665" marR="249665" marT="249665" marB="24966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2400" cap="none" spc="0">
                          <a:solidFill>
                            <a:schemeClr val="tx1"/>
                          </a:solidFill>
                        </a:rPr>
                        <a:t>0.6293</a:t>
                      </a:r>
                    </a:p>
                  </a:txBody>
                  <a:tcPr marL="249665" marR="249665" marT="249665" marB="249665"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151211440"/>
                  </a:ext>
                </a:extLst>
              </a:tr>
              <a:tr h="1287160">
                <a:tc>
                  <a:txBody>
                    <a:bodyPr/>
                    <a:lstStyle/>
                    <a:p>
                      <a:pPr>
                        <a:buNone/>
                      </a:pPr>
                      <a:r>
                        <a:rPr lang="en-US" sz="2400" b="1" cap="none" spc="0">
                          <a:solidFill>
                            <a:schemeClr val="tx1"/>
                          </a:solidFill>
                        </a:rPr>
                        <a:t>Balanced Accuracy</a:t>
                      </a:r>
                    </a:p>
                  </a:txBody>
                  <a:tcPr marL="249665" marR="249665" marT="249665" marB="24966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2400" cap="none" spc="0">
                          <a:solidFill>
                            <a:schemeClr val="tx1"/>
                          </a:solidFill>
                        </a:rPr>
                        <a:t>0.6130</a:t>
                      </a:r>
                    </a:p>
                  </a:txBody>
                  <a:tcPr marL="249665" marR="249665" marT="249665" marB="24966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2400" cap="none" spc="0">
                          <a:solidFill>
                            <a:schemeClr val="tx1"/>
                          </a:solidFill>
                        </a:rPr>
                        <a:t>0.6650</a:t>
                      </a:r>
                    </a:p>
                  </a:txBody>
                  <a:tcPr marL="249665" marR="249665" marT="249665" marB="249665"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054266553"/>
                  </a:ext>
                </a:extLst>
              </a:tr>
            </a:tbl>
          </a:graphicData>
        </a:graphic>
      </p:graphicFrame>
    </p:spTree>
    <p:extLst>
      <p:ext uri="{BB962C8B-B14F-4D97-AF65-F5344CB8AC3E}">
        <p14:creationId xmlns:p14="http://schemas.microsoft.com/office/powerpoint/2010/main" val="17850099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ABA62-402C-3171-A494-A67D8A23C215}"/>
              </a:ext>
            </a:extLst>
          </p:cNvPr>
          <p:cNvSpPr>
            <a:spLocks noGrp="1"/>
          </p:cNvSpPr>
          <p:nvPr>
            <p:ph type="ctrTitle"/>
          </p:nvPr>
        </p:nvSpPr>
        <p:spPr>
          <a:xfrm>
            <a:off x="1522013" y="1282325"/>
            <a:ext cx="8893834" cy="3988550"/>
          </a:xfrm>
        </p:spPr>
        <p:txBody>
          <a:bodyPr anchor="ctr">
            <a:normAutofit/>
          </a:bodyPr>
          <a:lstStyle/>
          <a:p>
            <a:r>
              <a:rPr lang="en-US"/>
              <a:t>Insights and Conclusion</a:t>
            </a:r>
          </a:p>
        </p:txBody>
      </p:sp>
    </p:spTree>
    <p:extLst>
      <p:ext uri="{BB962C8B-B14F-4D97-AF65-F5344CB8AC3E}">
        <p14:creationId xmlns:p14="http://schemas.microsoft.com/office/powerpoint/2010/main" val="12539129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681C4-ABA6-EBE5-E6FD-C6BF3B258D08}"/>
              </a:ext>
            </a:extLst>
          </p:cNvPr>
          <p:cNvSpPr>
            <a:spLocks noGrp="1"/>
          </p:cNvSpPr>
          <p:nvPr>
            <p:ph type="title"/>
          </p:nvPr>
        </p:nvSpPr>
        <p:spPr>
          <a:xfrm>
            <a:off x="612647" y="552478"/>
            <a:ext cx="6858000" cy="932688"/>
          </a:xfrm>
        </p:spPr>
        <p:txBody>
          <a:bodyPr anchor="b">
            <a:normAutofit/>
          </a:bodyPr>
          <a:lstStyle/>
          <a:p>
            <a:r>
              <a:rPr lang="en-US"/>
              <a:t>Key Insights</a:t>
            </a:r>
          </a:p>
        </p:txBody>
      </p:sp>
      <p:sp>
        <p:nvSpPr>
          <p:cNvPr id="3" name="Content Placeholder 2">
            <a:extLst>
              <a:ext uri="{FF2B5EF4-FFF2-40B4-BE49-F238E27FC236}">
                <a16:creationId xmlns:a16="http://schemas.microsoft.com/office/drawing/2014/main" id="{4EFCB625-EFB0-B7CD-C0F3-AE2A5791AD6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License Duration Impact</a:t>
            </a:r>
          </a:p>
          <a:p>
            <a:pPr marL="0" lvl="1" indent="0">
              <a:buFont typeface="Arial" panose="020B0604020202020204" pitchFamily="34" charset="0"/>
              <a:buNone/>
            </a:pPr>
            <a:r>
              <a:rPr lang="en-US" sz="1400"/>
              <a:t>License duration is the main factor predicting renewal likelihood effectively.</a:t>
            </a:r>
          </a:p>
          <a:p>
            <a:pPr marL="0" indent="0">
              <a:spcBef>
                <a:spcPts val="2500"/>
              </a:spcBef>
              <a:buFont typeface="Arial" panose="020B0604020202020204" pitchFamily="34" charset="0"/>
              <a:buNone/>
            </a:pPr>
            <a:r>
              <a:rPr lang="en-US" sz="1400" b="1"/>
              <a:t>Influence of Location and Category</a:t>
            </a:r>
          </a:p>
          <a:p>
            <a:pPr marL="0" lvl="1" indent="0">
              <a:buFont typeface="Arial" panose="020B0604020202020204" pitchFamily="34" charset="0"/>
              <a:buNone/>
            </a:pPr>
            <a:r>
              <a:rPr lang="en-US" sz="1400"/>
              <a:t>Borough and business category significantly affect renewal outcomes in the analysis.</a:t>
            </a:r>
          </a:p>
          <a:p>
            <a:pPr marL="0" indent="0">
              <a:spcBef>
                <a:spcPts val="2500"/>
              </a:spcBef>
              <a:buFont typeface="Arial" panose="020B0604020202020204" pitchFamily="34" charset="0"/>
              <a:buNone/>
            </a:pPr>
            <a:r>
              <a:rPr lang="en-US" sz="1400" b="1"/>
              <a:t>Random Forest Model Performance</a:t>
            </a:r>
          </a:p>
          <a:p>
            <a:pPr marL="0" lvl="1" indent="0">
              <a:buFont typeface="Arial" panose="020B0604020202020204" pitchFamily="34" charset="0"/>
              <a:buNone/>
            </a:pPr>
            <a:r>
              <a:rPr lang="en-US" sz="1400"/>
              <a:t>Random Forest is the top model for both regression and classification tasks.</a:t>
            </a:r>
          </a:p>
          <a:p>
            <a:pPr marL="0" indent="0">
              <a:spcBef>
                <a:spcPts val="2500"/>
              </a:spcBef>
              <a:buFont typeface="Arial" panose="020B0604020202020204" pitchFamily="34" charset="0"/>
              <a:buNone/>
            </a:pPr>
            <a:r>
              <a:rPr lang="en-US" sz="1400" b="1"/>
              <a:t>Multi-Output Regression Benefits</a:t>
            </a:r>
          </a:p>
          <a:p>
            <a:pPr marL="0" lvl="1" indent="0">
              <a:buFont typeface="Arial" panose="020B0604020202020204" pitchFamily="34" charset="0"/>
              <a:buNone/>
            </a:pPr>
            <a:r>
              <a:rPr lang="en-US" sz="1400"/>
              <a:t>Multi-output regression captures spatial correlations, enhancing urban data modeling.</a:t>
            </a:r>
          </a:p>
        </p:txBody>
      </p:sp>
      <p:pic>
        <p:nvPicPr>
          <p:cNvPr id="5" name="Content Placeholder 4" descr="Euro currency with face mask, global economy recession concept">
            <a:extLst>
              <a:ext uri="{FF2B5EF4-FFF2-40B4-BE49-F238E27FC236}">
                <a16:creationId xmlns:a16="http://schemas.microsoft.com/office/drawing/2014/main" id="{5BBA0FB7-D210-43A6-8545-6764D4F96D61}"/>
              </a:ext>
            </a:extLst>
          </p:cNvPr>
          <p:cNvPicPr>
            <a:picLocks noGrp="1" noChangeAspect="1"/>
          </p:cNvPicPr>
          <p:nvPr>
            <p:ph type="pic" sz="quarter" idx="13"/>
          </p:nvPr>
        </p:nvPicPr>
        <p:blipFill>
          <a:blip r:embed="rId3"/>
          <a:srcRect l="33641" r="32728"/>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1657268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DB19B-4A41-758C-A885-C535F99BFD2B}"/>
              </a:ext>
            </a:extLst>
          </p:cNvPr>
          <p:cNvSpPr>
            <a:spLocks noGrp="1"/>
          </p:cNvSpPr>
          <p:nvPr>
            <p:ph type="title"/>
          </p:nvPr>
        </p:nvSpPr>
        <p:spPr>
          <a:xfrm>
            <a:off x="612647" y="552478"/>
            <a:ext cx="6858000" cy="932688"/>
          </a:xfrm>
        </p:spPr>
        <p:txBody>
          <a:bodyPr anchor="b">
            <a:normAutofit/>
          </a:bodyPr>
          <a:lstStyle/>
          <a:p>
            <a:r>
              <a:rPr lang="en-US"/>
              <a:t>Conclusion</a:t>
            </a:r>
          </a:p>
        </p:txBody>
      </p:sp>
      <p:sp>
        <p:nvSpPr>
          <p:cNvPr id="3" name="Content Placeholder 2">
            <a:extLst>
              <a:ext uri="{FF2B5EF4-FFF2-40B4-BE49-F238E27FC236}">
                <a16:creationId xmlns:a16="http://schemas.microsoft.com/office/drawing/2014/main" id="{2BA00FE0-0EF1-7E33-4852-5553270A2D1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sz="1400" b="1"/>
              <a:t>Machine Learning Systems Developed</a:t>
            </a:r>
          </a:p>
          <a:p>
            <a:pPr marL="0" lvl="1" indent="0">
              <a:buFont typeface="Arial" panose="020B0604020202020204" pitchFamily="34" charset="0"/>
              <a:buNone/>
            </a:pPr>
            <a:r>
              <a:rPr lang="en-US" sz="1400"/>
              <a:t>Two reliable and interpretable ML models were developed to support city operations.</a:t>
            </a:r>
          </a:p>
          <a:p>
            <a:pPr marL="0" indent="0">
              <a:spcBef>
                <a:spcPts val="2500"/>
              </a:spcBef>
              <a:buFont typeface="Arial" panose="020B0604020202020204" pitchFamily="34" charset="0"/>
              <a:buNone/>
            </a:pPr>
            <a:r>
              <a:rPr lang="en-US" sz="1400" b="1"/>
              <a:t>Geo Prediction Model Benefits</a:t>
            </a:r>
          </a:p>
          <a:p>
            <a:pPr marL="0" lvl="1" indent="0">
              <a:buFont typeface="Arial" panose="020B0604020202020204" pitchFamily="34" charset="0"/>
              <a:buNone/>
            </a:pPr>
            <a:r>
              <a:rPr lang="en-US" sz="1400"/>
              <a:t>The geo prediction model enhances mapping accuracy for better spatial insights.</a:t>
            </a:r>
          </a:p>
          <a:p>
            <a:pPr marL="0" indent="0">
              <a:spcBef>
                <a:spcPts val="2500"/>
              </a:spcBef>
              <a:buFont typeface="Arial" panose="020B0604020202020204" pitchFamily="34" charset="0"/>
              <a:buNone/>
            </a:pPr>
            <a:r>
              <a:rPr lang="en-US" sz="1400" b="1"/>
              <a:t>License Status Forecasting</a:t>
            </a:r>
          </a:p>
          <a:p>
            <a:pPr marL="0" lvl="1" indent="0">
              <a:buFont typeface="Arial" panose="020B0604020202020204" pitchFamily="34" charset="0"/>
              <a:buNone/>
            </a:pPr>
            <a:r>
              <a:rPr lang="en-US" sz="1400"/>
              <a:t>The forecasting model supports business license renewal planning and management.</a:t>
            </a:r>
          </a:p>
          <a:p>
            <a:pPr marL="0" indent="0">
              <a:spcBef>
                <a:spcPts val="2500"/>
              </a:spcBef>
              <a:buFont typeface="Arial" panose="020B0604020202020204" pitchFamily="34" charset="0"/>
              <a:buNone/>
            </a:pPr>
            <a:r>
              <a:rPr lang="en-US" sz="1400" b="1"/>
              <a:t>Impact on City Operations</a:t>
            </a:r>
          </a:p>
          <a:p>
            <a:pPr marL="0" lvl="1" indent="0">
              <a:buFont typeface="Arial" panose="020B0604020202020204" pitchFamily="34" charset="0"/>
              <a:buNone/>
            </a:pPr>
            <a:r>
              <a:rPr lang="en-US" sz="1400"/>
              <a:t>Models optimize DCWP policies and improve efficiency in managing NYC business licenses.</a:t>
            </a:r>
          </a:p>
        </p:txBody>
      </p:sp>
      <p:pic>
        <p:nvPicPr>
          <p:cNvPr id="5" name="Content Placeholder 4" descr="Human and robots to work together in the near future. This combination will accelerate developing technology. Businessman and cyborg organizes social media.">
            <a:extLst>
              <a:ext uri="{FF2B5EF4-FFF2-40B4-BE49-F238E27FC236}">
                <a16:creationId xmlns:a16="http://schemas.microsoft.com/office/drawing/2014/main" id="{0C4CEF00-34DC-4265-A642-FD68A16CAFA1}"/>
              </a:ext>
            </a:extLst>
          </p:cNvPr>
          <p:cNvPicPr>
            <a:picLocks noGrp="1" noChangeAspect="1"/>
          </p:cNvPicPr>
          <p:nvPr>
            <p:ph type="pic" sz="quarter" idx="13"/>
          </p:nvPr>
        </p:nvPicPr>
        <p:blipFill>
          <a:blip r:embed="rId3"/>
          <a:srcRect l="12379" r="50253"/>
          <a:stretch>
            <a:fillRect/>
          </a:stretch>
        </p:blipFill>
        <p:spPr>
          <a:xfrm>
            <a:off x="8091732" y="10"/>
            <a:ext cx="4100267" cy="6857990"/>
          </a:xfrm>
          <a:prstGeom prst="rect">
            <a:avLst/>
          </a:prstGeom>
          <a:noFill/>
          <a:ln w="25400">
            <a:solidFill>
              <a:srgbClr val="000000"/>
            </a:solidFill>
          </a:ln>
        </p:spPr>
      </p:pic>
    </p:spTree>
    <p:extLst>
      <p:ext uri="{BB962C8B-B14F-4D97-AF65-F5344CB8AC3E}">
        <p14:creationId xmlns:p14="http://schemas.microsoft.com/office/powerpoint/2010/main" val="37373606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C1B1D1-0368-4ED3-8004-0F946C56E5DB}">
  <ds:schemaRefs>
    <ds:schemaRef ds:uri="http://schemas.microsoft.com/sharepoint/v3"/>
    <ds:schemaRef ds:uri="http://schemas.microsoft.com/office/2006/documentManagement/types"/>
    <ds:schemaRef ds:uri="http://purl.org/dc/terms/"/>
    <ds:schemaRef ds:uri="71af3243-3dd4-4a8d-8c0d-dd76da1f02a5"/>
    <ds:schemaRef ds:uri="http://purl.org/dc/elements/1.1/"/>
    <ds:schemaRef ds:uri="http://purl.org/dc/dcmitype/"/>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230e9df3-be65-4c73-a93b-d1236ebd677e"/>
    <ds:schemaRef ds:uri="16c05727-aa75-4e4a-9b5f-8a80a1165891"/>
  </ds:schemaRefs>
</ds:datastoreItem>
</file>

<file path=customXml/itemProps2.xml><?xml version="1.0" encoding="utf-8"?>
<ds:datastoreItem xmlns:ds="http://schemas.openxmlformats.org/officeDocument/2006/customXml" ds:itemID="{ACDF21CE-F94D-4E7A-9B41-689023E47C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3D192A-84D9-4592-8CD0-04B2096CE0A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80</TotalTime>
  <Words>1434</Words>
  <Application>Microsoft Macintosh PowerPoint</Application>
  <PresentationFormat>Widescreen</PresentationFormat>
  <Paragraphs>138</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Century Gothic</vt:lpstr>
      <vt:lpstr>Karla</vt:lpstr>
      <vt:lpstr>Univers Condensed Light</vt:lpstr>
      <vt:lpstr>Chalcot</vt:lpstr>
      <vt:lpstr>A Dual Analysis of NYC Business Licenses</vt:lpstr>
      <vt:lpstr>Introduction</vt:lpstr>
      <vt:lpstr>Title Slide</vt:lpstr>
      <vt:lpstr>Project Overview</vt:lpstr>
      <vt:lpstr>Objectives and Tools</vt:lpstr>
      <vt:lpstr>Data Preparation</vt:lpstr>
      <vt:lpstr>Data Understanding</vt:lpstr>
      <vt:lpstr>Data Cleaning Summary</vt:lpstr>
      <vt:lpstr>Regression Analysis</vt:lpstr>
      <vt:lpstr>Predicting Location</vt:lpstr>
      <vt:lpstr>Regression Results</vt:lpstr>
      <vt:lpstr>Classification Analysis</vt:lpstr>
      <vt:lpstr>Predicting License Status</vt:lpstr>
      <vt:lpstr>Classification Results</vt:lpstr>
      <vt:lpstr>Insights and Conclusion</vt:lpstr>
      <vt:lpstr>Key Insights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Shergill, Mr. Sajan</cp:lastModifiedBy>
  <cp:revision>4</cp:revision>
  <dcterms:created xsi:type="dcterms:W3CDTF">2024-06-26T20:20:27Z</dcterms:created>
  <dcterms:modified xsi:type="dcterms:W3CDTF">2025-10-28T17:19:03Z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