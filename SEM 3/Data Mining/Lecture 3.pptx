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1057" r:id="rId3"/>
    <p:sldId id="1042" r:id="rId4"/>
    <p:sldId id="1041" r:id="rId5"/>
    <p:sldId id="1064" r:id="rId6"/>
    <p:sldId id="1043" r:id="rId7"/>
    <p:sldId id="1044" r:id="rId8"/>
    <p:sldId id="1045" r:id="rId9"/>
    <p:sldId id="1140" r:id="rId10"/>
    <p:sldId id="1053" r:id="rId11"/>
    <p:sldId id="1054" r:id="rId12"/>
    <p:sldId id="1065" r:id="rId13"/>
    <p:sldId id="1055" r:id="rId14"/>
    <p:sldId id="1056" r:id="rId15"/>
    <p:sldId id="1127" r:id="rId16"/>
    <p:sldId id="1071" r:id="rId17"/>
    <p:sldId id="1066" r:id="rId18"/>
    <p:sldId id="749" r:id="rId19"/>
    <p:sldId id="1134" r:id="rId20"/>
    <p:sldId id="1108" r:id="rId21"/>
    <p:sldId id="1135" r:id="rId22"/>
    <p:sldId id="750" r:id="rId23"/>
    <p:sldId id="1007" r:id="rId24"/>
    <p:sldId id="751" r:id="rId25"/>
    <p:sldId id="755" r:id="rId26"/>
    <p:sldId id="721" r:id="rId27"/>
    <p:sldId id="722" r:id="rId28"/>
    <p:sldId id="797" r:id="rId29"/>
    <p:sldId id="723" r:id="rId30"/>
    <p:sldId id="724" r:id="rId31"/>
    <p:sldId id="1114" r:id="rId32"/>
    <p:sldId id="1136" r:id="rId33"/>
    <p:sldId id="1121" r:id="rId34"/>
    <p:sldId id="1067" r:id="rId35"/>
    <p:sldId id="1119" r:id="rId36"/>
    <p:sldId id="1000" r:id="rId37"/>
    <p:sldId id="995" r:id="rId38"/>
    <p:sldId id="1142" r:id="rId39"/>
    <p:sldId id="1145" r:id="rId40"/>
    <p:sldId id="1059" r:id="rId41"/>
    <p:sldId id="1061" r:id="rId42"/>
    <p:sldId id="537" r:id="rId43"/>
    <p:sldId id="600" r:id="rId44"/>
    <p:sldId id="538" r:id="rId45"/>
    <p:sldId id="518" r:id="rId46"/>
    <p:sldId id="582" r:id="rId47"/>
    <p:sldId id="583" r:id="rId48"/>
    <p:sldId id="584" r:id="rId49"/>
    <p:sldId id="585" r:id="rId50"/>
    <p:sldId id="586" r:id="rId51"/>
    <p:sldId id="587" r:id="rId52"/>
    <p:sldId id="588" r:id="rId53"/>
    <p:sldId id="635" r:id="rId54"/>
    <p:sldId id="602" r:id="rId55"/>
    <p:sldId id="589" r:id="rId56"/>
    <p:sldId id="592" r:id="rId57"/>
    <p:sldId id="626" r:id="rId58"/>
    <p:sldId id="523" r:id="rId59"/>
    <p:sldId id="593" r:id="rId60"/>
    <p:sldId id="524" r:id="rId61"/>
    <p:sldId id="544" r:id="rId62"/>
    <p:sldId id="594" r:id="rId63"/>
    <p:sldId id="1146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05A7CE-8370-4D3F-8964-8CCCB81D58B6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0698ABB-18A2-4FBD-81AF-622092C93F68}">
      <dgm:prSet/>
      <dgm:spPr/>
      <dgm:t>
        <a:bodyPr/>
        <a:lstStyle/>
        <a:p>
          <a:r>
            <a:rPr lang="en-US"/>
            <a:t>Given a collection of records (training set )</a:t>
          </a:r>
        </a:p>
      </dgm:t>
    </dgm:pt>
    <dgm:pt modelId="{6B138AB6-245D-4A79-9F94-ED49CBEF6C53}" type="parTrans" cxnId="{8FDEA65F-CCF1-4761-A24F-9FF4A5EE15DD}">
      <dgm:prSet/>
      <dgm:spPr/>
      <dgm:t>
        <a:bodyPr/>
        <a:lstStyle/>
        <a:p>
          <a:endParaRPr lang="en-US"/>
        </a:p>
      </dgm:t>
    </dgm:pt>
    <dgm:pt modelId="{46C86BD0-A009-487F-8F45-19A9E41AFDF5}" type="sibTrans" cxnId="{8FDEA65F-CCF1-4761-A24F-9FF4A5EE15DD}">
      <dgm:prSet/>
      <dgm:spPr/>
      <dgm:t>
        <a:bodyPr/>
        <a:lstStyle/>
        <a:p>
          <a:endParaRPr lang="en-US"/>
        </a:p>
      </dgm:t>
    </dgm:pt>
    <dgm:pt modelId="{439A8EE3-07C5-4358-874B-EAC25E487C19}">
      <dgm:prSet/>
      <dgm:spPr/>
      <dgm:t>
        <a:bodyPr/>
        <a:lstStyle/>
        <a:p>
          <a:r>
            <a:rPr lang="en-US"/>
            <a:t>Each record is by characterized by a tuple (</a:t>
          </a:r>
          <a:r>
            <a:rPr lang="en-US" b="1" i="1"/>
            <a:t>x</a:t>
          </a:r>
          <a:r>
            <a:rPr lang="en-US"/>
            <a:t>,</a:t>
          </a:r>
          <a:r>
            <a:rPr lang="en-US" i="1"/>
            <a:t>y</a:t>
          </a:r>
          <a:r>
            <a:rPr lang="en-US"/>
            <a:t>), where </a:t>
          </a:r>
          <a:r>
            <a:rPr lang="en-US" b="1" i="1"/>
            <a:t>x </a:t>
          </a:r>
          <a:r>
            <a:rPr lang="en-US"/>
            <a:t>is the attribute set and </a:t>
          </a:r>
          <a:r>
            <a:rPr lang="en-US" i="1"/>
            <a:t>y </a:t>
          </a:r>
          <a:r>
            <a:rPr lang="en-US"/>
            <a:t>is the class label</a:t>
          </a:r>
        </a:p>
      </dgm:t>
    </dgm:pt>
    <dgm:pt modelId="{BAB2A4EE-33A6-470A-8CCC-B74AE05E647C}" type="parTrans" cxnId="{DC156AA0-9A6C-4BE5-AFEC-2CB83CC3E7FD}">
      <dgm:prSet/>
      <dgm:spPr/>
      <dgm:t>
        <a:bodyPr/>
        <a:lstStyle/>
        <a:p>
          <a:endParaRPr lang="en-US"/>
        </a:p>
      </dgm:t>
    </dgm:pt>
    <dgm:pt modelId="{7E7792D9-3358-445F-A67B-620A79ABD68A}" type="sibTrans" cxnId="{DC156AA0-9A6C-4BE5-AFEC-2CB83CC3E7FD}">
      <dgm:prSet/>
      <dgm:spPr/>
      <dgm:t>
        <a:bodyPr/>
        <a:lstStyle/>
        <a:p>
          <a:endParaRPr lang="en-US"/>
        </a:p>
      </dgm:t>
    </dgm:pt>
    <dgm:pt modelId="{C6C7A3B5-0E8F-467F-B18F-4DDADC14CE58}">
      <dgm:prSet/>
      <dgm:spPr/>
      <dgm:t>
        <a:bodyPr/>
        <a:lstStyle/>
        <a:p>
          <a:r>
            <a:rPr lang="en-US" b="1" i="1"/>
            <a:t>x</a:t>
          </a:r>
          <a:r>
            <a:rPr lang="en-US"/>
            <a:t>: attribute, predictor, independent variable, input</a:t>
          </a:r>
        </a:p>
      </dgm:t>
    </dgm:pt>
    <dgm:pt modelId="{24D64D2B-059A-4D0A-B414-0F9BC2453E1D}" type="parTrans" cxnId="{D4DB0305-8749-43E6-A8EC-524A9EF8C27C}">
      <dgm:prSet/>
      <dgm:spPr/>
      <dgm:t>
        <a:bodyPr/>
        <a:lstStyle/>
        <a:p>
          <a:endParaRPr lang="en-US"/>
        </a:p>
      </dgm:t>
    </dgm:pt>
    <dgm:pt modelId="{0F7E1E79-6B36-4543-AC97-1922CD3F93DC}" type="sibTrans" cxnId="{D4DB0305-8749-43E6-A8EC-524A9EF8C27C}">
      <dgm:prSet/>
      <dgm:spPr/>
      <dgm:t>
        <a:bodyPr/>
        <a:lstStyle/>
        <a:p>
          <a:endParaRPr lang="en-US"/>
        </a:p>
      </dgm:t>
    </dgm:pt>
    <dgm:pt modelId="{FBBA16A1-2713-4EB1-A8C6-44B499CD8BDD}">
      <dgm:prSet/>
      <dgm:spPr/>
      <dgm:t>
        <a:bodyPr/>
        <a:lstStyle/>
        <a:p>
          <a:r>
            <a:rPr lang="en-US" i="1"/>
            <a:t>y</a:t>
          </a:r>
          <a:r>
            <a:rPr lang="en-US"/>
            <a:t>: class, response, dependent variable, output</a:t>
          </a:r>
        </a:p>
      </dgm:t>
    </dgm:pt>
    <dgm:pt modelId="{B01422F0-F9AA-458C-9B17-CCDEFA73635E}" type="parTrans" cxnId="{C03074B8-F418-4A55-B164-F529454B63D9}">
      <dgm:prSet/>
      <dgm:spPr/>
      <dgm:t>
        <a:bodyPr/>
        <a:lstStyle/>
        <a:p>
          <a:endParaRPr lang="en-US"/>
        </a:p>
      </dgm:t>
    </dgm:pt>
    <dgm:pt modelId="{CACB4B4E-C982-4481-89ED-92A0C19B9AA3}" type="sibTrans" cxnId="{C03074B8-F418-4A55-B164-F529454B63D9}">
      <dgm:prSet/>
      <dgm:spPr/>
      <dgm:t>
        <a:bodyPr/>
        <a:lstStyle/>
        <a:p>
          <a:endParaRPr lang="en-US"/>
        </a:p>
      </dgm:t>
    </dgm:pt>
    <dgm:pt modelId="{83321147-81B0-441C-8631-120D34934789}">
      <dgm:prSet/>
      <dgm:spPr/>
      <dgm:t>
        <a:bodyPr/>
        <a:lstStyle/>
        <a:p>
          <a:r>
            <a:rPr lang="en-US"/>
            <a:t>Task:</a:t>
          </a:r>
        </a:p>
      </dgm:t>
    </dgm:pt>
    <dgm:pt modelId="{47BEDD1F-A4F1-445A-9DC6-846C28864853}" type="parTrans" cxnId="{106693B3-02CC-4D15-95C4-CE982042CED3}">
      <dgm:prSet/>
      <dgm:spPr/>
      <dgm:t>
        <a:bodyPr/>
        <a:lstStyle/>
        <a:p>
          <a:endParaRPr lang="en-US"/>
        </a:p>
      </dgm:t>
    </dgm:pt>
    <dgm:pt modelId="{A7B9112E-8830-4C7A-B95E-5E42AAC2D072}" type="sibTrans" cxnId="{106693B3-02CC-4D15-95C4-CE982042CED3}">
      <dgm:prSet/>
      <dgm:spPr/>
      <dgm:t>
        <a:bodyPr/>
        <a:lstStyle/>
        <a:p>
          <a:endParaRPr lang="en-US"/>
        </a:p>
      </dgm:t>
    </dgm:pt>
    <dgm:pt modelId="{5981EF2B-B018-4839-BB73-BC5159F6C06A}">
      <dgm:prSet/>
      <dgm:spPr/>
      <dgm:t>
        <a:bodyPr/>
        <a:lstStyle/>
        <a:p>
          <a:r>
            <a:rPr lang="en-US"/>
            <a:t>Learn a model that maps each attribute set </a:t>
          </a:r>
          <a:r>
            <a:rPr lang="en-US" b="1" i="1"/>
            <a:t>x </a:t>
          </a:r>
          <a:r>
            <a:rPr lang="en-US"/>
            <a:t>into one of the predefined class labels </a:t>
          </a:r>
          <a:r>
            <a:rPr lang="en-US" i="1"/>
            <a:t>y</a:t>
          </a:r>
          <a:endParaRPr lang="en-US"/>
        </a:p>
      </dgm:t>
    </dgm:pt>
    <dgm:pt modelId="{C38876AC-03EA-414E-AEAA-36D964930B20}" type="parTrans" cxnId="{AD7245D9-799B-4ED4-A441-C69E70949603}">
      <dgm:prSet/>
      <dgm:spPr/>
      <dgm:t>
        <a:bodyPr/>
        <a:lstStyle/>
        <a:p>
          <a:endParaRPr lang="en-US"/>
        </a:p>
      </dgm:t>
    </dgm:pt>
    <dgm:pt modelId="{6ABCA4A7-1E91-423E-99E7-97AD3430E680}" type="sibTrans" cxnId="{AD7245D9-799B-4ED4-A441-C69E70949603}">
      <dgm:prSet/>
      <dgm:spPr/>
      <dgm:t>
        <a:bodyPr/>
        <a:lstStyle/>
        <a:p>
          <a:endParaRPr lang="en-US"/>
        </a:p>
      </dgm:t>
    </dgm:pt>
    <dgm:pt modelId="{8996DD36-BA31-814B-87B6-F44D126DF421}" type="pres">
      <dgm:prSet presAssocID="{5305A7CE-8370-4D3F-8964-8CCCB81D58B6}" presName="Name0" presStyleCnt="0">
        <dgm:presLayoutVars>
          <dgm:dir/>
          <dgm:animLvl val="lvl"/>
          <dgm:resizeHandles val="exact"/>
        </dgm:presLayoutVars>
      </dgm:prSet>
      <dgm:spPr/>
    </dgm:pt>
    <dgm:pt modelId="{41B85258-971B-CE44-B9F0-9CC225594157}" type="pres">
      <dgm:prSet presAssocID="{20698ABB-18A2-4FBD-81AF-622092C93F68}" presName="linNode" presStyleCnt="0"/>
      <dgm:spPr/>
    </dgm:pt>
    <dgm:pt modelId="{1DD67A3B-7E01-5044-BA6A-6694C0A7E8A9}" type="pres">
      <dgm:prSet presAssocID="{20698ABB-18A2-4FBD-81AF-622092C93F68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24493A4-39AE-7B47-B2AE-96FA23418B6E}" type="pres">
      <dgm:prSet presAssocID="{20698ABB-18A2-4FBD-81AF-622092C93F68}" presName="descendantText" presStyleLbl="alignAccFollowNode1" presStyleIdx="0" presStyleCnt="2">
        <dgm:presLayoutVars>
          <dgm:bulletEnabled val="1"/>
        </dgm:presLayoutVars>
      </dgm:prSet>
      <dgm:spPr/>
    </dgm:pt>
    <dgm:pt modelId="{634D1B1E-CEB6-2945-95BF-AC8ECDBE6E79}" type="pres">
      <dgm:prSet presAssocID="{46C86BD0-A009-487F-8F45-19A9E41AFDF5}" presName="sp" presStyleCnt="0"/>
      <dgm:spPr/>
    </dgm:pt>
    <dgm:pt modelId="{ACB74DF0-6F25-C447-9E0C-A30580CDFE7A}" type="pres">
      <dgm:prSet presAssocID="{83321147-81B0-441C-8631-120D34934789}" presName="linNode" presStyleCnt="0"/>
      <dgm:spPr/>
    </dgm:pt>
    <dgm:pt modelId="{5E4BE488-AE6A-354A-8716-148CE9FACF41}" type="pres">
      <dgm:prSet presAssocID="{83321147-81B0-441C-8631-120D3493478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9C46CFB1-8F99-8345-91C4-FFD1867CBC93}" type="pres">
      <dgm:prSet presAssocID="{83321147-81B0-441C-8631-120D3493478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65A21304-9831-F74F-85CB-6B959B0D48D0}" type="presOf" srcId="{FBBA16A1-2713-4EB1-A8C6-44B499CD8BDD}" destId="{624493A4-39AE-7B47-B2AE-96FA23418B6E}" srcOrd="0" destOrd="2" presId="urn:microsoft.com/office/officeart/2005/8/layout/vList5"/>
    <dgm:cxn modelId="{D4DB0305-8749-43E6-A8EC-524A9EF8C27C}" srcId="{439A8EE3-07C5-4358-874B-EAC25E487C19}" destId="{C6C7A3B5-0E8F-467F-B18F-4DDADC14CE58}" srcOrd="0" destOrd="0" parTransId="{24D64D2B-059A-4D0A-B414-0F9BC2453E1D}" sibTransId="{0F7E1E79-6B36-4543-AC97-1922CD3F93DC}"/>
    <dgm:cxn modelId="{AD61AB36-F6D6-7C4D-9FC4-886DA13FB96F}" type="presOf" srcId="{439A8EE3-07C5-4358-874B-EAC25E487C19}" destId="{624493A4-39AE-7B47-B2AE-96FA23418B6E}" srcOrd="0" destOrd="0" presId="urn:microsoft.com/office/officeart/2005/8/layout/vList5"/>
    <dgm:cxn modelId="{4BB25843-FE59-C64F-B004-DAEEAD7A26B0}" type="presOf" srcId="{C6C7A3B5-0E8F-467F-B18F-4DDADC14CE58}" destId="{624493A4-39AE-7B47-B2AE-96FA23418B6E}" srcOrd="0" destOrd="1" presId="urn:microsoft.com/office/officeart/2005/8/layout/vList5"/>
    <dgm:cxn modelId="{0A5A1E5F-184E-4D4B-9B55-EAB9F281439C}" type="presOf" srcId="{5981EF2B-B018-4839-BB73-BC5159F6C06A}" destId="{9C46CFB1-8F99-8345-91C4-FFD1867CBC93}" srcOrd="0" destOrd="0" presId="urn:microsoft.com/office/officeart/2005/8/layout/vList5"/>
    <dgm:cxn modelId="{8FDEA65F-CCF1-4761-A24F-9FF4A5EE15DD}" srcId="{5305A7CE-8370-4D3F-8964-8CCCB81D58B6}" destId="{20698ABB-18A2-4FBD-81AF-622092C93F68}" srcOrd="0" destOrd="0" parTransId="{6B138AB6-245D-4A79-9F94-ED49CBEF6C53}" sibTransId="{46C86BD0-A009-487F-8F45-19A9E41AFDF5}"/>
    <dgm:cxn modelId="{CF7D876E-B153-D448-A147-F2A3D5621582}" type="presOf" srcId="{5305A7CE-8370-4D3F-8964-8CCCB81D58B6}" destId="{8996DD36-BA31-814B-87B6-F44D126DF421}" srcOrd="0" destOrd="0" presId="urn:microsoft.com/office/officeart/2005/8/layout/vList5"/>
    <dgm:cxn modelId="{DC156AA0-9A6C-4BE5-AFEC-2CB83CC3E7FD}" srcId="{20698ABB-18A2-4FBD-81AF-622092C93F68}" destId="{439A8EE3-07C5-4358-874B-EAC25E487C19}" srcOrd="0" destOrd="0" parTransId="{BAB2A4EE-33A6-470A-8CCC-B74AE05E647C}" sibTransId="{7E7792D9-3358-445F-A67B-620A79ABD68A}"/>
    <dgm:cxn modelId="{106693B3-02CC-4D15-95C4-CE982042CED3}" srcId="{5305A7CE-8370-4D3F-8964-8CCCB81D58B6}" destId="{83321147-81B0-441C-8631-120D34934789}" srcOrd="1" destOrd="0" parTransId="{47BEDD1F-A4F1-445A-9DC6-846C28864853}" sibTransId="{A7B9112E-8830-4C7A-B95E-5E42AAC2D072}"/>
    <dgm:cxn modelId="{C03074B8-F418-4A55-B164-F529454B63D9}" srcId="{439A8EE3-07C5-4358-874B-EAC25E487C19}" destId="{FBBA16A1-2713-4EB1-A8C6-44B499CD8BDD}" srcOrd="1" destOrd="0" parTransId="{B01422F0-F9AA-458C-9B17-CCDEFA73635E}" sibTransId="{CACB4B4E-C982-4481-89ED-92A0C19B9AA3}"/>
    <dgm:cxn modelId="{AD7245D9-799B-4ED4-A441-C69E70949603}" srcId="{83321147-81B0-441C-8631-120D34934789}" destId="{5981EF2B-B018-4839-BB73-BC5159F6C06A}" srcOrd="0" destOrd="0" parTransId="{C38876AC-03EA-414E-AEAA-36D964930B20}" sibTransId="{6ABCA4A7-1E91-423E-99E7-97AD3430E680}"/>
    <dgm:cxn modelId="{56CEB7EF-16C6-ED47-9A1C-2A79C1A328A5}" type="presOf" srcId="{83321147-81B0-441C-8631-120D34934789}" destId="{5E4BE488-AE6A-354A-8716-148CE9FACF41}" srcOrd="0" destOrd="0" presId="urn:microsoft.com/office/officeart/2005/8/layout/vList5"/>
    <dgm:cxn modelId="{586AD8F8-F2D2-1543-9D0F-BA2BB5F590EC}" type="presOf" srcId="{20698ABB-18A2-4FBD-81AF-622092C93F68}" destId="{1DD67A3B-7E01-5044-BA6A-6694C0A7E8A9}" srcOrd="0" destOrd="0" presId="urn:microsoft.com/office/officeart/2005/8/layout/vList5"/>
    <dgm:cxn modelId="{C493985D-1CF2-BD49-98DC-68AF2C3B0454}" type="presParOf" srcId="{8996DD36-BA31-814B-87B6-F44D126DF421}" destId="{41B85258-971B-CE44-B9F0-9CC225594157}" srcOrd="0" destOrd="0" presId="urn:microsoft.com/office/officeart/2005/8/layout/vList5"/>
    <dgm:cxn modelId="{FF96F9BA-1FFB-9F4C-AB58-BA80D18E0916}" type="presParOf" srcId="{41B85258-971B-CE44-B9F0-9CC225594157}" destId="{1DD67A3B-7E01-5044-BA6A-6694C0A7E8A9}" srcOrd="0" destOrd="0" presId="urn:microsoft.com/office/officeart/2005/8/layout/vList5"/>
    <dgm:cxn modelId="{6076ADC6-56E3-9B4C-AB9F-03D3E7B042BE}" type="presParOf" srcId="{41B85258-971B-CE44-B9F0-9CC225594157}" destId="{624493A4-39AE-7B47-B2AE-96FA23418B6E}" srcOrd="1" destOrd="0" presId="urn:microsoft.com/office/officeart/2005/8/layout/vList5"/>
    <dgm:cxn modelId="{98277C8A-6450-5E48-97FF-44F2AEB8D57B}" type="presParOf" srcId="{8996DD36-BA31-814B-87B6-F44D126DF421}" destId="{634D1B1E-CEB6-2945-95BF-AC8ECDBE6E79}" srcOrd="1" destOrd="0" presId="urn:microsoft.com/office/officeart/2005/8/layout/vList5"/>
    <dgm:cxn modelId="{9FCA1A9E-5E6C-E94E-8668-53BDF0790736}" type="presParOf" srcId="{8996DD36-BA31-814B-87B6-F44D126DF421}" destId="{ACB74DF0-6F25-C447-9E0C-A30580CDFE7A}" srcOrd="2" destOrd="0" presId="urn:microsoft.com/office/officeart/2005/8/layout/vList5"/>
    <dgm:cxn modelId="{54329D0F-50BC-004C-BF82-14F01FBF7F65}" type="presParOf" srcId="{ACB74DF0-6F25-C447-9E0C-A30580CDFE7A}" destId="{5E4BE488-AE6A-354A-8716-148CE9FACF41}" srcOrd="0" destOrd="0" presId="urn:microsoft.com/office/officeart/2005/8/layout/vList5"/>
    <dgm:cxn modelId="{632AD86D-F199-F241-9647-694D31970928}" type="presParOf" srcId="{ACB74DF0-6F25-C447-9E0C-A30580CDFE7A}" destId="{9C46CFB1-8F99-8345-91C4-FFD1867CBC9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9358FF-C104-42CF-93A8-D5A16112A7CB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24D42D1-F6BD-42F8-9029-F949866D0C8F}">
      <dgm:prSet/>
      <dgm:spPr/>
      <dgm:t>
        <a:bodyPr/>
        <a:lstStyle/>
        <a:p>
          <a:r>
            <a:rPr lang="en-US"/>
            <a:t>Base Classifiers</a:t>
          </a:r>
        </a:p>
      </dgm:t>
    </dgm:pt>
    <dgm:pt modelId="{B0179AC9-2F9C-4573-8BEA-66C41EE194B9}" type="parTrans" cxnId="{362B4408-3CE1-4F1D-9305-8C289212882B}">
      <dgm:prSet/>
      <dgm:spPr/>
      <dgm:t>
        <a:bodyPr/>
        <a:lstStyle/>
        <a:p>
          <a:endParaRPr lang="en-US"/>
        </a:p>
      </dgm:t>
    </dgm:pt>
    <dgm:pt modelId="{3F03E87B-49A4-4972-ADFC-2F382D1DABCE}" type="sibTrans" cxnId="{362B4408-3CE1-4F1D-9305-8C289212882B}">
      <dgm:prSet/>
      <dgm:spPr/>
      <dgm:t>
        <a:bodyPr/>
        <a:lstStyle/>
        <a:p>
          <a:endParaRPr lang="en-US"/>
        </a:p>
      </dgm:t>
    </dgm:pt>
    <dgm:pt modelId="{6FB61B23-4329-4D69-82EC-0D05C6F5A09B}">
      <dgm:prSet/>
      <dgm:spPr/>
      <dgm:t>
        <a:bodyPr/>
        <a:lstStyle/>
        <a:p>
          <a:r>
            <a:rPr lang="en-US"/>
            <a:t>Decision Tree based Methods</a:t>
          </a:r>
        </a:p>
      </dgm:t>
    </dgm:pt>
    <dgm:pt modelId="{FBC2EB42-0011-4C15-8B0E-793EE1947DF2}" type="parTrans" cxnId="{DFAAE738-A564-4084-9C63-2D4EDCB9F2C6}">
      <dgm:prSet/>
      <dgm:spPr/>
      <dgm:t>
        <a:bodyPr/>
        <a:lstStyle/>
        <a:p>
          <a:endParaRPr lang="en-US"/>
        </a:p>
      </dgm:t>
    </dgm:pt>
    <dgm:pt modelId="{BB3737C0-C89A-4641-ADD7-765A448F7106}" type="sibTrans" cxnId="{DFAAE738-A564-4084-9C63-2D4EDCB9F2C6}">
      <dgm:prSet/>
      <dgm:spPr/>
      <dgm:t>
        <a:bodyPr/>
        <a:lstStyle/>
        <a:p>
          <a:endParaRPr lang="en-US"/>
        </a:p>
      </dgm:t>
    </dgm:pt>
    <dgm:pt modelId="{8AD4B6DF-76CB-4944-9A2C-D8FE5FD91342}">
      <dgm:prSet/>
      <dgm:spPr/>
      <dgm:t>
        <a:bodyPr/>
        <a:lstStyle/>
        <a:p>
          <a:r>
            <a:rPr lang="en-US"/>
            <a:t>Rule-based Methods</a:t>
          </a:r>
        </a:p>
      </dgm:t>
    </dgm:pt>
    <dgm:pt modelId="{7DB9AC69-A7D8-4901-B15D-7B2C1AB4C485}" type="parTrans" cxnId="{C2DA495F-2E0A-4BAF-8705-F648C74AB93F}">
      <dgm:prSet/>
      <dgm:spPr/>
      <dgm:t>
        <a:bodyPr/>
        <a:lstStyle/>
        <a:p>
          <a:endParaRPr lang="en-US"/>
        </a:p>
      </dgm:t>
    </dgm:pt>
    <dgm:pt modelId="{2089BC4B-711F-46BA-8526-718A0E1B1058}" type="sibTrans" cxnId="{C2DA495F-2E0A-4BAF-8705-F648C74AB93F}">
      <dgm:prSet/>
      <dgm:spPr/>
      <dgm:t>
        <a:bodyPr/>
        <a:lstStyle/>
        <a:p>
          <a:endParaRPr lang="en-US"/>
        </a:p>
      </dgm:t>
    </dgm:pt>
    <dgm:pt modelId="{68ACEDE1-462F-44CC-8240-CD173D8F6953}">
      <dgm:prSet/>
      <dgm:spPr/>
      <dgm:t>
        <a:bodyPr/>
        <a:lstStyle/>
        <a:p>
          <a:r>
            <a:rPr lang="en-US"/>
            <a:t>Nearest-neighbor</a:t>
          </a:r>
        </a:p>
      </dgm:t>
    </dgm:pt>
    <dgm:pt modelId="{D2A00A2C-2EB4-47F2-A7F5-C7F78C510534}" type="parTrans" cxnId="{6AE39A48-7364-439A-8631-D79A37C39DBD}">
      <dgm:prSet/>
      <dgm:spPr/>
      <dgm:t>
        <a:bodyPr/>
        <a:lstStyle/>
        <a:p>
          <a:endParaRPr lang="en-US"/>
        </a:p>
      </dgm:t>
    </dgm:pt>
    <dgm:pt modelId="{30F24802-DA52-41DB-9FC4-BFFEC59E4BA2}" type="sibTrans" cxnId="{6AE39A48-7364-439A-8631-D79A37C39DBD}">
      <dgm:prSet/>
      <dgm:spPr/>
      <dgm:t>
        <a:bodyPr/>
        <a:lstStyle/>
        <a:p>
          <a:endParaRPr lang="en-US"/>
        </a:p>
      </dgm:t>
    </dgm:pt>
    <dgm:pt modelId="{F9DF9974-31F7-485B-A162-BFFB850FCD41}">
      <dgm:prSet/>
      <dgm:spPr/>
      <dgm:t>
        <a:bodyPr/>
        <a:lstStyle/>
        <a:p>
          <a:r>
            <a:rPr lang="en-US"/>
            <a:t>Naïve Bayes and Bayesian Belief Networks</a:t>
          </a:r>
        </a:p>
      </dgm:t>
    </dgm:pt>
    <dgm:pt modelId="{AFD299DA-886E-4AA7-8E80-BB6DF9C0C54D}" type="parTrans" cxnId="{92AB94EF-5767-4780-A951-56437C79AAD0}">
      <dgm:prSet/>
      <dgm:spPr/>
      <dgm:t>
        <a:bodyPr/>
        <a:lstStyle/>
        <a:p>
          <a:endParaRPr lang="en-US"/>
        </a:p>
      </dgm:t>
    </dgm:pt>
    <dgm:pt modelId="{755BB8ED-9248-4A9F-88FA-8B8C937DEE08}" type="sibTrans" cxnId="{92AB94EF-5767-4780-A951-56437C79AAD0}">
      <dgm:prSet/>
      <dgm:spPr/>
      <dgm:t>
        <a:bodyPr/>
        <a:lstStyle/>
        <a:p>
          <a:endParaRPr lang="en-US"/>
        </a:p>
      </dgm:t>
    </dgm:pt>
    <dgm:pt modelId="{B74517D7-4519-45DF-8243-789E3F00125A}">
      <dgm:prSet/>
      <dgm:spPr/>
      <dgm:t>
        <a:bodyPr/>
        <a:lstStyle/>
        <a:p>
          <a:r>
            <a:rPr lang="en-US"/>
            <a:t>Support Vector Machines</a:t>
          </a:r>
        </a:p>
      </dgm:t>
    </dgm:pt>
    <dgm:pt modelId="{94EBE1F8-3610-44C3-AD4E-251E9BFF5266}" type="parTrans" cxnId="{A617EDC1-98A2-4815-A77A-215886C830B6}">
      <dgm:prSet/>
      <dgm:spPr/>
      <dgm:t>
        <a:bodyPr/>
        <a:lstStyle/>
        <a:p>
          <a:endParaRPr lang="en-US"/>
        </a:p>
      </dgm:t>
    </dgm:pt>
    <dgm:pt modelId="{6B5CDC13-E379-4F6C-8D8B-830102AF7F6F}" type="sibTrans" cxnId="{A617EDC1-98A2-4815-A77A-215886C830B6}">
      <dgm:prSet/>
      <dgm:spPr/>
      <dgm:t>
        <a:bodyPr/>
        <a:lstStyle/>
        <a:p>
          <a:endParaRPr lang="en-US"/>
        </a:p>
      </dgm:t>
    </dgm:pt>
    <dgm:pt modelId="{35A1303F-10C2-4239-B71E-FFE62F2A88AB}">
      <dgm:prSet/>
      <dgm:spPr/>
      <dgm:t>
        <a:bodyPr/>
        <a:lstStyle/>
        <a:p>
          <a:r>
            <a:rPr lang="en-US"/>
            <a:t>Neural Networks, Deep Neural Nets</a:t>
          </a:r>
        </a:p>
      </dgm:t>
    </dgm:pt>
    <dgm:pt modelId="{CD74D03F-7291-4B9D-A6D3-780A2D82FBA4}" type="parTrans" cxnId="{14A7262A-ADBC-41EF-8495-7903ED0C62E1}">
      <dgm:prSet/>
      <dgm:spPr/>
      <dgm:t>
        <a:bodyPr/>
        <a:lstStyle/>
        <a:p>
          <a:endParaRPr lang="en-US"/>
        </a:p>
      </dgm:t>
    </dgm:pt>
    <dgm:pt modelId="{FFA5A395-1257-4FBF-AF53-8C718ADE5626}" type="sibTrans" cxnId="{14A7262A-ADBC-41EF-8495-7903ED0C62E1}">
      <dgm:prSet/>
      <dgm:spPr/>
      <dgm:t>
        <a:bodyPr/>
        <a:lstStyle/>
        <a:p>
          <a:endParaRPr lang="en-US"/>
        </a:p>
      </dgm:t>
    </dgm:pt>
    <dgm:pt modelId="{BC4E14F4-54C1-4396-9232-83CBEE736CA5}">
      <dgm:prSet/>
      <dgm:spPr/>
      <dgm:t>
        <a:bodyPr/>
        <a:lstStyle/>
        <a:p>
          <a:r>
            <a:rPr lang="en-US"/>
            <a:t>Ensemble Classifiers</a:t>
          </a:r>
        </a:p>
      </dgm:t>
    </dgm:pt>
    <dgm:pt modelId="{0EF26357-2330-4448-81AD-08604543C2D3}" type="parTrans" cxnId="{244287A3-A18C-4FCF-A60C-074FBB1459EF}">
      <dgm:prSet/>
      <dgm:spPr/>
      <dgm:t>
        <a:bodyPr/>
        <a:lstStyle/>
        <a:p>
          <a:endParaRPr lang="en-US"/>
        </a:p>
      </dgm:t>
    </dgm:pt>
    <dgm:pt modelId="{7B31EA0D-2D18-418B-A1BF-C58B86BEC896}" type="sibTrans" cxnId="{244287A3-A18C-4FCF-A60C-074FBB1459EF}">
      <dgm:prSet/>
      <dgm:spPr/>
      <dgm:t>
        <a:bodyPr/>
        <a:lstStyle/>
        <a:p>
          <a:endParaRPr lang="en-US"/>
        </a:p>
      </dgm:t>
    </dgm:pt>
    <dgm:pt modelId="{067FAB16-CB35-489D-B9A7-0283AB46C44F}">
      <dgm:prSet/>
      <dgm:spPr/>
      <dgm:t>
        <a:bodyPr/>
        <a:lstStyle/>
        <a:p>
          <a:r>
            <a:rPr lang="en-US"/>
            <a:t>Boosting, Bagging, Random Forests</a:t>
          </a:r>
        </a:p>
      </dgm:t>
    </dgm:pt>
    <dgm:pt modelId="{ADE929D0-B8F2-4568-A0B1-9723EB2F2CD1}" type="parTrans" cxnId="{3BC4765B-D0CE-4908-92FD-0C4BF0018085}">
      <dgm:prSet/>
      <dgm:spPr/>
      <dgm:t>
        <a:bodyPr/>
        <a:lstStyle/>
        <a:p>
          <a:endParaRPr lang="en-US"/>
        </a:p>
      </dgm:t>
    </dgm:pt>
    <dgm:pt modelId="{5D63D907-BDFD-416E-ACEB-30C6DF831472}" type="sibTrans" cxnId="{3BC4765B-D0CE-4908-92FD-0C4BF0018085}">
      <dgm:prSet/>
      <dgm:spPr/>
      <dgm:t>
        <a:bodyPr/>
        <a:lstStyle/>
        <a:p>
          <a:endParaRPr lang="en-US"/>
        </a:p>
      </dgm:t>
    </dgm:pt>
    <dgm:pt modelId="{0ADE555E-B2D9-A747-A430-71CE1D4F1E64}" type="pres">
      <dgm:prSet presAssocID="{089358FF-C104-42CF-93A8-D5A16112A7CB}" presName="linear" presStyleCnt="0">
        <dgm:presLayoutVars>
          <dgm:dir/>
          <dgm:animLvl val="lvl"/>
          <dgm:resizeHandles val="exact"/>
        </dgm:presLayoutVars>
      </dgm:prSet>
      <dgm:spPr/>
    </dgm:pt>
    <dgm:pt modelId="{0BE8976A-984A-D046-A1A0-B2DAD8337DB2}" type="pres">
      <dgm:prSet presAssocID="{824D42D1-F6BD-42F8-9029-F949866D0C8F}" presName="parentLin" presStyleCnt="0"/>
      <dgm:spPr/>
    </dgm:pt>
    <dgm:pt modelId="{2AFBB6B7-024F-074A-AD8D-C47FD6277AED}" type="pres">
      <dgm:prSet presAssocID="{824D42D1-F6BD-42F8-9029-F949866D0C8F}" presName="parentLeftMargin" presStyleLbl="node1" presStyleIdx="0" presStyleCnt="2"/>
      <dgm:spPr/>
    </dgm:pt>
    <dgm:pt modelId="{16CFF4EB-A618-8243-8EA4-7E2218DFD15F}" type="pres">
      <dgm:prSet presAssocID="{824D42D1-F6BD-42F8-9029-F949866D0C8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F8324CA-C410-F842-9C43-6EF8F5C1B111}" type="pres">
      <dgm:prSet presAssocID="{824D42D1-F6BD-42F8-9029-F949866D0C8F}" presName="negativeSpace" presStyleCnt="0"/>
      <dgm:spPr/>
    </dgm:pt>
    <dgm:pt modelId="{E59F4E2E-AE12-9842-88A7-B450C7A66947}" type="pres">
      <dgm:prSet presAssocID="{824D42D1-F6BD-42F8-9029-F949866D0C8F}" presName="childText" presStyleLbl="conFgAcc1" presStyleIdx="0" presStyleCnt="2">
        <dgm:presLayoutVars>
          <dgm:bulletEnabled val="1"/>
        </dgm:presLayoutVars>
      </dgm:prSet>
      <dgm:spPr/>
    </dgm:pt>
    <dgm:pt modelId="{6A5E27B7-4658-D847-B713-C439D1721405}" type="pres">
      <dgm:prSet presAssocID="{3F03E87B-49A4-4972-ADFC-2F382D1DABCE}" presName="spaceBetweenRectangles" presStyleCnt="0"/>
      <dgm:spPr/>
    </dgm:pt>
    <dgm:pt modelId="{B984E38B-4214-5D40-AC9C-9C6F43266D48}" type="pres">
      <dgm:prSet presAssocID="{BC4E14F4-54C1-4396-9232-83CBEE736CA5}" presName="parentLin" presStyleCnt="0"/>
      <dgm:spPr/>
    </dgm:pt>
    <dgm:pt modelId="{D9A27510-E902-0842-A3A4-CF7D99CF2CCF}" type="pres">
      <dgm:prSet presAssocID="{BC4E14F4-54C1-4396-9232-83CBEE736CA5}" presName="parentLeftMargin" presStyleLbl="node1" presStyleIdx="0" presStyleCnt="2"/>
      <dgm:spPr/>
    </dgm:pt>
    <dgm:pt modelId="{E612E46F-A919-794A-A11B-821E7C2D7A8C}" type="pres">
      <dgm:prSet presAssocID="{BC4E14F4-54C1-4396-9232-83CBEE736CA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6FDC714-BED0-0C49-8C7D-EB9DF3F36136}" type="pres">
      <dgm:prSet presAssocID="{BC4E14F4-54C1-4396-9232-83CBEE736CA5}" presName="negativeSpace" presStyleCnt="0"/>
      <dgm:spPr/>
    </dgm:pt>
    <dgm:pt modelId="{07FD7B3C-4650-A74C-B77F-5E6648938E24}" type="pres">
      <dgm:prSet presAssocID="{BC4E14F4-54C1-4396-9232-83CBEE736CA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C967202-C669-A748-BCD1-D421B8D94F12}" type="presOf" srcId="{067FAB16-CB35-489D-B9A7-0283AB46C44F}" destId="{07FD7B3C-4650-A74C-B77F-5E6648938E24}" srcOrd="0" destOrd="0" presId="urn:microsoft.com/office/officeart/2005/8/layout/list1"/>
    <dgm:cxn modelId="{362B4408-3CE1-4F1D-9305-8C289212882B}" srcId="{089358FF-C104-42CF-93A8-D5A16112A7CB}" destId="{824D42D1-F6BD-42F8-9029-F949866D0C8F}" srcOrd="0" destOrd="0" parTransId="{B0179AC9-2F9C-4573-8BEA-66C41EE194B9}" sibTransId="{3F03E87B-49A4-4972-ADFC-2F382D1DABCE}"/>
    <dgm:cxn modelId="{DF997322-B1F2-2146-992F-DF47936C0776}" type="presOf" srcId="{6FB61B23-4329-4D69-82EC-0D05C6F5A09B}" destId="{E59F4E2E-AE12-9842-88A7-B450C7A66947}" srcOrd="0" destOrd="0" presId="urn:microsoft.com/office/officeart/2005/8/layout/list1"/>
    <dgm:cxn modelId="{18C77526-34D4-9149-B947-A1D850F8C139}" type="presOf" srcId="{089358FF-C104-42CF-93A8-D5A16112A7CB}" destId="{0ADE555E-B2D9-A747-A430-71CE1D4F1E64}" srcOrd="0" destOrd="0" presId="urn:microsoft.com/office/officeart/2005/8/layout/list1"/>
    <dgm:cxn modelId="{14A7262A-ADBC-41EF-8495-7903ED0C62E1}" srcId="{824D42D1-F6BD-42F8-9029-F949866D0C8F}" destId="{35A1303F-10C2-4239-B71E-FFE62F2A88AB}" srcOrd="5" destOrd="0" parTransId="{CD74D03F-7291-4B9D-A6D3-780A2D82FBA4}" sibTransId="{FFA5A395-1257-4FBF-AF53-8C718ADE5626}"/>
    <dgm:cxn modelId="{B949D935-209E-194A-9C14-F11A13DB60C6}" type="presOf" srcId="{35A1303F-10C2-4239-B71E-FFE62F2A88AB}" destId="{E59F4E2E-AE12-9842-88A7-B450C7A66947}" srcOrd="0" destOrd="5" presId="urn:microsoft.com/office/officeart/2005/8/layout/list1"/>
    <dgm:cxn modelId="{DFAAE738-A564-4084-9C63-2D4EDCB9F2C6}" srcId="{824D42D1-F6BD-42F8-9029-F949866D0C8F}" destId="{6FB61B23-4329-4D69-82EC-0D05C6F5A09B}" srcOrd="0" destOrd="0" parTransId="{FBC2EB42-0011-4C15-8B0E-793EE1947DF2}" sibTransId="{BB3737C0-C89A-4641-ADD7-765A448F7106}"/>
    <dgm:cxn modelId="{6AE39A48-7364-439A-8631-D79A37C39DBD}" srcId="{824D42D1-F6BD-42F8-9029-F949866D0C8F}" destId="{68ACEDE1-462F-44CC-8240-CD173D8F6953}" srcOrd="2" destOrd="0" parTransId="{D2A00A2C-2EB4-47F2-A7F5-C7F78C510534}" sibTransId="{30F24802-DA52-41DB-9FC4-BFFEC59E4BA2}"/>
    <dgm:cxn modelId="{3BC4765B-D0CE-4908-92FD-0C4BF0018085}" srcId="{BC4E14F4-54C1-4396-9232-83CBEE736CA5}" destId="{067FAB16-CB35-489D-B9A7-0283AB46C44F}" srcOrd="0" destOrd="0" parTransId="{ADE929D0-B8F2-4568-A0B1-9723EB2F2CD1}" sibTransId="{5D63D907-BDFD-416E-ACEB-30C6DF831472}"/>
    <dgm:cxn modelId="{C2DA495F-2E0A-4BAF-8705-F648C74AB93F}" srcId="{824D42D1-F6BD-42F8-9029-F949866D0C8F}" destId="{8AD4B6DF-76CB-4944-9A2C-D8FE5FD91342}" srcOrd="1" destOrd="0" parTransId="{7DB9AC69-A7D8-4901-B15D-7B2C1AB4C485}" sibTransId="{2089BC4B-711F-46BA-8526-718A0E1B1058}"/>
    <dgm:cxn modelId="{09802F68-17A0-854E-8807-F70300E036BE}" type="presOf" srcId="{B74517D7-4519-45DF-8243-789E3F00125A}" destId="{E59F4E2E-AE12-9842-88A7-B450C7A66947}" srcOrd="0" destOrd="4" presId="urn:microsoft.com/office/officeart/2005/8/layout/list1"/>
    <dgm:cxn modelId="{9531C179-FE3E-134E-A7A3-2862EE3FFF86}" type="presOf" srcId="{824D42D1-F6BD-42F8-9029-F949866D0C8F}" destId="{16CFF4EB-A618-8243-8EA4-7E2218DFD15F}" srcOrd="1" destOrd="0" presId="urn:microsoft.com/office/officeart/2005/8/layout/list1"/>
    <dgm:cxn modelId="{77C2DA7A-0FEF-CB41-8F77-D3954C7AEC0B}" type="presOf" srcId="{824D42D1-F6BD-42F8-9029-F949866D0C8F}" destId="{2AFBB6B7-024F-074A-AD8D-C47FD6277AED}" srcOrd="0" destOrd="0" presId="urn:microsoft.com/office/officeart/2005/8/layout/list1"/>
    <dgm:cxn modelId="{CA598C7B-137E-7841-A486-BBB2A4ED502B}" type="presOf" srcId="{8AD4B6DF-76CB-4944-9A2C-D8FE5FD91342}" destId="{E59F4E2E-AE12-9842-88A7-B450C7A66947}" srcOrd="0" destOrd="1" presId="urn:microsoft.com/office/officeart/2005/8/layout/list1"/>
    <dgm:cxn modelId="{244287A3-A18C-4FCF-A60C-074FBB1459EF}" srcId="{089358FF-C104-42CF-93A8-D5A16112A7CB}" destId="{BC4E14F4-54C1-4396-9232-83CBEE736CA5}" srcOrd="1" destOrd="0" parTransId="{0EF26357-2330-4448-81AD-08604543C2D3}" sibTransId="{7B31EA0D-2D18-418B-A1BF-C58B86BEC896}"/>
    <dgm:cxn modelId="{59E0C8B2-D57A-5843-8811-EDE531AEA1B5}" type="presOf" srcId="{68ACEDE1-462F-44CC-8240-CD173D8F6953}" destId="{E59F4E2E-AE12-9842-88A7-B450C7A66947}" srcOrd="0" destOrd="2" presId="urn:microsoft.com/office/officeart/2005/8/layout/list1"/>
    <dgm:cxn modelId="{3DFA7ABE-2D13-2B49-A2B6-9978EBD8735C}" type="presOf" srcId="{BC4E14F4-54C1-4396-9232-83CBEE736CA5}" destId="{E612E46F-A919-794A-A11B-821E7C2D7A8C}" srcOrd="1" destOrd="0" presId="urn:microsoft.com/office/officeart/2005/8/layout/list1"/>
    <dgm:cxn modelId="{A617EDC1-98A2-4815-A77A-215886C830B6}" srcId="{824D42D1-F6BD-42F8-9029-F949866D0C8F}" destId="{B74517D7-4519-45DF-8243-789E3F00125A}" srcOrd="4" destOrd="0" parTransId="{94EBE1F8-3610-44C3-AD4E-251E9BFF5266}" sibTransId="{6B5CDC13-E379-4F6C-8D8B-830102AF7F6F}"/>
    <dgm:cxn modelId="{52A219DE-94DB-264E-BD03-9330821FE404}" type="presOf" srcId="{BC4E14F4-54C1-4396-9232-83CBEE736CA5}" destId="{D9A27510-E902-0842-A3A4-CF7D99CF2CCF}" srcOrd="0" destOrd="0" presId="urn:microsoft.com/office/officeart/2005/8/layout/list1"/>
    <dgm:cxn modelId="{23295FE8-D2B5-454C-8126-2B4A9261A16C}" type="presOf" srcId="{F9DF9974-31F7-485B-A162-BFFB850FCD41}" destId="{E59F4E2E-AE12-9842-88A7-B450C7A66947}" srcOrd="0" destOrd="3" presId="urn:microsoft.com/office/officeart/2005/8/layout/list1"/>
    <dgm:cxn modelId="{92AB94EF-5767-4780-A951-56437C79AAD0}" srcId="{824D42D1-F6BD-42F8-9029-F949866D0C8F}" destId="{F9DF9974-31F7-485B-A162-BFFB850FCD41}" srcOrd="3" destOrd="0" parTransId="{AFD299DA-886E-4AA7-8E80-BB6DF9C0C54D}" sibTransId="{755BB8ED-9248-4A9F-88FA-8B8C937DEE08}"/>
    <dgm:cxn modelId="{8B2550CD-5CDA-C547-8DD7-BD8575F9106C}" type="presParOf" srcId="{0ADE555E-B2D9-A747-A430-71CE1D4F1E64}" destId="{0BE8976A-984A-D046-A1A0-B2DAD8337DB2}" srcOrd="0" destOrd="0" presId="urn:microsoft.com/office/officeart/2005/8/layout/list1"/>
    <dgm:cxn modelId="{51B7C92A-8F31-4144-81B0-369CEE5DD686}" type="presParOf" srcId="{0BE8976A-984A-D046-A1A0-B2DAD8337DB2}" destId="{2AFBB6B7-024F-074A-AD8D-C47FD6277AED}" srcOrd="0" destOrd="0" presId="urn:microsoft.com/office/officeart/2005/8/layout/list1"/>
    <dgm:cxn modelId="{310563DA-22E3-1E47-B089-14DAC03C7224}" type="presParOf" srcId="{0BE8976A-984A-D046-A1A0-B2DAD8337DB2}" destId="{16CFF4EB-A618-8243-8EA4-7E2218DFD15F}" srcOrd="1" destOrd="0" presId="urn:microsoft.com/office/officeart/2005/8/layout/list1"/>
    <dgm:cxn modelId="{9F7597A5-C199-CC46-AC1C-2097FA4AFC09}" type="presParOf" srcId="{0ADE555E-B2D9-A747-A430-71CE1D4F1E64}" destId="{1F8324CA-C410-F842-9C43-6EF8F5C1B111}" srcOrd="1" destOrd="0" presId="urn:microsoft.com/office/officeart/2005/8/layout/list1"/>
    <dgm:cxn modelId="{8C60B7E9-B755-5040-ACAC-A30233CAA55F}" type="presParOf" srcId="{0ADE555E-B2D9-A747-A430-71CE1D4F1E64}" destId="{E59F4E2E-AE12-9842-88A7-B450C7A66947}" srcOrd="2" destOrd="0" presId="urn:microsoft.com/office/officeart/2005/8/layout/list1"/>
    <dgm:cxn modelId="{9E3054F0-67E6-1249-88E2-73AF49246E7B}" type="presParOf" srcId="{0ADE555E-B2D9-A747-A430-71CE1D4F1E64}" destId="{6A5E27B7-4658-D847-B713-C439D1721405}" srcOrd="3" destOrd="0" presId="urn:microsoft.com/office/officeart/2005/8/layout/list1"/>
    <dgm:cxn modelId="{FA985D79-3777-374F-B146-74C40EC13EE3}" type="presParOf" srcId="{0ADE555E-B2D9-A747-A430-71CE1D4F1E64}" destId="{B984E38B-4214-5D40-AC9C-9C6F43266D48}" srcOrd="4" destOrd="0" presId="urn:microsoft.com/office/officeart/2005/8/layout/list1"/>
    <dgm:cxn modelId="{4E9151C5-21DF-E448-A6E0-1C77E565276C}" type="presParOf" srcId="{B984E38B-4214-5D40-AC9C-9C6F43266D48}" destId="{D9A27510-E902-0842-A3A4-CF7D99CF2CCF}" srcOrd="0" destOrd="0" presId="urn:microsoft.com/office/officeart/2005/8/layout/list1"/>
    <dgm:cxn modelId="{A069CFC7-86DE-AE4F-B640-7AC33F44CF33}" type="presParOf" srcId="{B984E38B-4214-5D40-AC9C-9C6F43266D48}" destId="{E612E46F-A919-794A-A11B-821E7C2D7A8C}" srcOrd="1" destOrd="0" presId="urn:microsoft.com/office/officeart/2005/8/layout/list1"/>
    <dgm:cxn modelId="{66DD9FB7-993C-134D-B57E-D71B7FFD9A4D}" type="presParOf" srcId="{0ADE555E-B2D9-A747-A430-71CE1D4F1E64}" destId="{16FDC714-BED0-0C49-8C7D-EB9DF3F36136}" srcOrd="5" destOrd="0" presId="urn:microsoft.com/office/officeart/2005/8/layout/list1"/>
    <dgm:cxn modelId="{BDE97B6D-08D7-E84E-B3D0-6F7474E590B4}" type="presParOf" srcId="{0ADE555E-B2D9-A747-A430-71CE1D4F1E64}" destId="{07FD7B3C-4650-A74C-B77F-5E6648938E2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E21950-F886-4837-9F3C-438ED7DBCC20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634A8BB-07BF-4AE2-90C4-926205CA848E}">
      <dgm:prSet/>
      <dgm:spPr/>
      <dgm:t>
        <a:bodyPr/>
        <a:lstStyle/>
        <a:p>
          <a:r>
            <a:rPr lang="en-US"/>
            <a:t>How should training records be split?</a:t>
          </a:r>
        </a:p>
      </dgm:t>
    </dgm:pt>
    <dgm:pt modelId="{58E760BE-B847-45D0-AC32-6D05F8F8D7FE}" type="parTrans" cxnId="{27285E95-0F45-4B84-AED6-E0F1DB9BCE99}">
      <dgm:prSet/>
      <dgm:spPr/>
      <dgm:t>
        <a:bodyPr/>
        <a:lstStyle/>
        <a:p>
          <a:endParaRPr lang="en-US"/>
        </a:p>
      </dgm:t>
    </dgm:pt>
    <dgm:pt modelId="{FD971424-E59D-4E1E-B4CF-3E9AA44682F8}" type="sibTrans" cxnId="{27285E95-0F45-4B84-AED6-E0F1DB9BCE99}">
      <dgm:prSet/>
      <dgm:spPr/>
      <dgm:t>
        <a:bodyPr/>
        <a:lstStyle/>
        <a:p>
          <a:endParaRPr lang="en-US"/>
        </a:p>
      </dgm:t>
    </dgm:pt>
    <dgm:pt modelId="{39730752-32D2-47B2-BAB3-DF50FA4563C6}">
      <dgm:prSet/>
      <dgm:spPr/>
      <dgm:t>
        <a:bodyPr/>
        <a:lstStyle/>
        <a:p>
          <a:r>
            <a:rPr lang="en-US"/>
            <a:t>Method for expressing test condition </a:t>
          </a:r>
        </a:p>
      </dgm:t>
    </dgm:pt>
    <dgm:pt modelId="{FDDA3F8C-BA09-4EBD-9954-D076BE6692BE}" type="parTrans" cxnId="{13AAA837-136F-46CA-B21B-BFEDCDBE3615}">
      <dgm:prSet/>
      <dgm:spPr/>
      <dgm:t>
        <a:bodyPr/>
        <a:lstStyle/>
        <a:p>
          <a:endParaRPr lang="en-US"/>
        </a:p>
      </dgm:t>
    </dgm:pt>
    <dgm:pt modelId="{2988E2EE-6438-429C-9238-3EE4C7EF1E0E}" type="sibTrans" cxnId="{13AAA837-136F-46CA-B21B-BFEDCDBE3615}">
      <dgm:prSet/>
      <dgm:spPr/>
      <dgm:t>
        <a:bodyPr/>
        <a:lstStyle/>
        <a:p>
          <a:endParaRPr lang="en-US"/>
        </a:p>
      </dgm:t>
    </dgm:pt>
    <dgm:pt modelId="{8EAEA640-2BFC-42CC-99EA-D47A1C67F0CA}">
      <dgm:prSet/>
      <dgm:spPr/>
      <dgm:t>
        <a:bodyPr/>
        <a:lstStyle/>
        <a:p>
          <a:r>
            <a:rPr lang="en-US"/>
            <a:t>depending on attribute types</a:t>
          </a:r>
        </a:p>
      </dgm:t>
    </dgm:pt>
    <dgm:pt modelId="{65672D5D-0959-44F5-855B-816E3FFCB11E}" type="parTrans" cxnId="{048C34BE-08F5-4928-B5E0-B19F156F82B0}">
      <dgm:prSet/>
      <dgm:spPr/>
      <dgm:t>
        <a:bodyPr/>
        <a:lstStyle/>
        <a:p>
          <a:endParaRPr lang="en-US"/>
        </a:p>
      </dgm:t>
    </dgm:pt>
    <dgm:pt modelId="{9B26384C-01F0-4793-A369-E19D9FF8EC35}" type="sibTrans" cxnId="{048C34BE-08F5-4928-B5E0-B19F156F82B0}">
      <dgm:prSet/>
      <dgm:spPr/>
      <dgm:t>
        <a:bodyPr/>
        <a:lstStyle/>
        <a:p>
          <a:endParaRPr lang="en-US"/>
        </a:p>
      </dgm:t>
    </dgm:pt>
    <dgm:pt modelId="{6797A3A5-D929-4F6D-8923-1FC5CA658488}">
      <dgm:prSet/>
      <dgm:spPr/>
      <dgm:t>
        <a:bodyPr/>
        <a:lstStyle/>
        <a:p>
          <a:r>
            <a:rPr lang="en-US"/>
            <a:t>Measure for evaluating the goodness of a test condition</a:t>
          </a:r>
        </a:p>
      </dgm:t>
    </dgm:pt>
    <dgm:pt modelId="{2F94D970-DFFC-45E8-9B0B-D37742A3983B}" type="parTrans" cxnId="{394FEBCA-7C73-4FD1-8C25-1A23E06842EF}">
      <dgm:prSet/>
      <dgm:spPr/>
      <dgm:t>
        <a:bodyPr/>
        <a:lstStyle/>
        <a:p>
          <a:endParaRPr lang="en-US"/>
        </a:p>
      </dgm:t>
    </dgm:pt>
    <dgm:pt modelId="{2A91F6F4-7580-4F69-8BB5-0320086A727D}" type="sibTrans" cxnId="{394FEBCA-7C73-4FD1-8C25-1A23E06842EF}">
      <dgm:prSet/>
      <dgm:spPr/>
      <dgm:t>
        <a:bodyPr/>
        <a:lstStyle/>
        <a:p>
          <a:endParaRPr lang="en-US"/>
        </a:p>
      </dgm:t>
    </dgm:pt>
    <dgm:pt modelId="{3830E7F0-35C6-420C-A861-3955C876F199}">
      <dgm:prSet/>
      <dgm:spPr/>
      <dgm:t>
        <a:bodyPr/>
        <a:lstStyle/>
        <a:p>
          <a:r>
            <a:rPr lang="en-US"/>
            <a:t>How should the splitting procedure stop?</a:t>
          </a:r>
        </a:p>
      </dgm:t>
    </dgm:pt>
    <dgm:pt modelId="{BC42BAF5-D3C3-45C0-AD79-1810CB81E3ED}" type="parTrans" cxnId="{FAEC401A-DAFB-4E65-B249-1AB12384F5B3}">
      <dgm:prSet/>
      <dgm:spPr/>
      <dgm:t>
        <a:bodyPr/>
        <a:lstStyle/>
        <a:p>
          <a:endParaRPr lang="en-US"/>
        </a:p>
      </dgm:t>
    </dgm:pt>
    <dgm:pt modelId="{DD47B741-738D-4EAE-8971-8C2A7EFD8ECB}" type="sibTrans" cxnId="{FAEC401A-DAFB-4E65-B249-1AB12384F5B3}">
      <dgm:prSet/>
      <dgm:spPr/>
      <dgm:t>
        <a:bodyPr/>
        <a:lstStyle/>
        <a:p>
          <a:endParaRPr lang="en-US"/>
        </a:p>
      </dgm:t>
    </dgm:pt>
    <dgm:pt modelId="{215EE224-F4BC-417F-A648-5BC8B29B335F}">
      <dgm:prSet/>
      <dgm:spPr/>
      <dgm:t>
        <a:bodyPr/>
        <a:lstStyle/>
        <a:p>
          <a:r>
            <a:rPr lang="en-US"/>
            <a:t>Stop splitting if all the records belong to the same class or have identical attribute values</a:t>
          </a:r>
        </a:p>
      </dgm:t>
    </dgm:pt>
    <dgm:pt modelId="{DE3656B4-CACE-4F4C-9AA9-D7DE5E37F04C}" type="parTrans" cxnId="{31E967B0-F37B-4114-9CD6-69CFB106ACE9}">
      <dgm:prSet/>
      <dgm:spPr/>
      <dgm:t>
        <a:bodyPr/>
        <a:lstStyle/>
        <a:p>
          <a:endParaRPr lang="en-US"/>
        </a:p>
      </dgm:t>
    </dgm:pt>
    <dgm:pt modelId="{2CF48250-73E0-4A94-950E-00117DE4F54E}" type="sibTrans" cxnId="{31E967B0-F37B-4114-9CD6-69CFB106ACE9}">
      <dgm:prSet/>
      <dgm:spPr/>
      <dgm:t>
        <a:bodyPr/>
        <a:lstStyle/>
        <a:p>
          <a:endParaRPr lang="en-US"/>
        </a:p>
      </dgm:t>
    </dgm:pt>
    <dgm:pt modelId="{8236217E-D522-4629-971C-9263E42E2685}">
      <dgm:prSet/>
      <dgm:spPr/>
      <dgm:t>
        <a:bodyPr/>
        <a:lstStyle/>
        <a:p>
          <a:r>
            <a:rPr lang="en-US"/>
            <a:t>Early termination </a:t>
          </a:r>
        </a:p>
      </dgm:t>
    </dgm:pt>
    <dgm:pt modelId="{D29E524A-E632-4D67-8681-FC2BAEDE679B}" type="parTrans" cxnId="{C26CED61-3D16-43C2-848A-2B835A9C6512}">
      <dgm:prSet/>
      <dgm:spPr/>
      <dgm:t>
        <a:bodyPr/>
        <a:lstStyle/>
        <a:p>
          <a:endParaRPr lang="en-US"/>
        </a:p>
      </dgm:t>
    </dgm:pt>
    <dgm:pt modelId="{0CB9EEA8-BAA8-48B2-8ED7-348728B03300}" type="sibTrans" cxnId="{C26CED61-3D16-43C2-848A-2B835A9C6512}">
      <dgm:prSet/>
      <dgm:spPr/>
      <dgm:t>
        <a:bodyPr/>
        <a:lstStyle/>
        <a:p>
          <a:endParaRPr lang="en-US"/>
        </a:p>
      </dgm:t>
    </dgm:pt>
    <dgm:pt modelId="{2FAEE4C6-263C-A84F-9D33-7D39A535FAB4}" type="pres">
      <dgm:prSet presAssocID="{6AE21950-F886-4837-9F3C-438ED7DBCC20}" presName="Name0" presStyleCnt="0">
        <dgm:presLayoutVars>
          <dgm:dir/>
          <dgm:animLvl val="lvl"/>
          <dgm:resizeHandles val="exact"/>
        </dgm:presLayoutVars>
      </dgm:prSet>
      <dgm:spPr/>
    </dgm:pt>
    <dgm:pt modelId="{8CFECB88-56CF-FE4D-AA97-731DEB79FD33}" type="pres">
      <dgm:prSet presAssocID="{5634A8BB-07BF-4AE2-90C4-926205CA848E}" presName="linNode" presStyleCnt="0"/>
      <dgm:spPr/>
    </dgm:pt>
    <dgm:pt modelId="{00B83D56-78A5-8C44-85D7-FDF05F8B2C98}" type="pres">
      <dgm:prSet presAssocID="{5634A8BB-07BF-4AE2-90C4-926205CA848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EF44BD8-BE4B-F94F-AF3F-E2B604C4042A}" type="pres">
      <dgm:prSet presAssocID="{5634A8BB-07BF-4AE2-90C4-926205CA848E}" presName="descendantText" presStyleLbl="alignAccFollowNode1" presStyleIdx="0" presStyleCnt="2">
        <dgm:presLayoutVars>
          <dgm:bulletEnabled val="1"/>
        </dgm:presLayoutVars>
      </dgm:prSet>
      <dgm:spPr/>
    </dgm:pt>
    <dgm:pt modelId="{91603BBE-D7A9-CB40-BD44-F837C330B472}" type="pres">
      <dgm:prSet presAssocID="{FD971424-E59D-4E1E-B4CF-3E9AA44682F8}" presName="sp" presStyleCnt="0"/>
      <dgm:spPr/>
    </dgm:pt>
    <dgm:pt modelId="{9A18D60E-AE5F-EB4E-A4D7-46469CE8CC2A}" type="pres">
      <dgm:prSet presAssocID="{3830E7F0-35C6-420C-A861-3955C876F199}" presName="linNode" presStyleCnt="0"/>
      <dgm:spPr/>
    </dgm:pt>
    <dgm:pt modelId="{5322CBD1-A28A-F241-9941-C58CC0D33D3D}" type="pres">
      <dgm:prSet presAssocID="{3830E7F0-35C6-420C-A861-3955C876F19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169F2AF-052F-8A42-B9F6-790CC559F863}" type="pres">
      <dgm:prSet presAssocID="{3830E7F0-35C6-420C-A861-3955C876F19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B3E3C12-C142-484A-931A-38256E6DE4AA}" type="presOf" srcId="{39730752-32D2-47B2-BAB3-DF50FA4563C6}" destId="{4EF44BD8-BE4B-F94F-AF3F-E2B604C4042A}" srcOrd="0" destOrd="0" presId="urn:microsoft.com/office/officeart/2005/8/layout/vList5"/>
    <dgm:cxn modelId="{D5682019-600F-1E43-A09B-D9E9C708ACFA}" type="presOf" srcId="{8EAEA640-2BFC-42CC-99EA-D47A1C67F0CA}" destId="{4EF44BD8-BE4B-F94F-AF3F-E2B604C4042A}" srcOrd="0" destOrd="1" presId="urn:microsoft.com/office/officeart/2005/8/layout/vList5"/>
    <dgm:cxn modelId="{FAEC401A-DAFB-4E65-B249-1AB12384F5B3}" srcId="{6AE21950-F886-4837-9F3C-438ED7DBCC20}" destId="{3830E7F0-35C6-420C-A861-3955C876F199}" srcOrd="1" destOrd="0" parTransId="{BC42BAF5-D3C3-45C0-AD79-1810CB81E3ED}" sibTransId="{DD47B741-738D-4EAE-8971-8C2A7EFD8ECB}"/>
    <dgm:cxn modelId="{13AAA837-136F-46CA-B21B-BFEDCDBE3615}" srcId="{5634A8BB-07BF-4AE2-90C4-926205CA848E}" destId="{39730752-32D2-47B2-BAB3-DF50FA4563C6}" srcOrd="0" destOrd="0" parTransId="{FDDA3F8C-BA09-4EBD-9954-D076BE6692BE}" sibTransId="{2988E2EE-6438-429C-9238-3EE4C7EF1E0E}"/>
    <dgm:cxn modelId="{36005D43-DC39-2347-AFBE-B84795B78A47}" type="presOf" srcId="{6AE21950-F886-4837-9F3C-438ED7DBCC20}" destId="{2FAEE4C6-263C-A84F-9D33-7D39A535FAB4}" srcOrd="0" destOrd="0" presId="urn:microsoft.com/office/officeart/2005/8/layout/vList5"/>
    <dgm:cxn modelId="{F2B7B443-3764-344E-B134-390A62E4A04B}" type="presOf" srcId="{3830E7F0-35C6-420C-A861-3955C876F199}" destId="{5322CBD1-A28A-F241-9941-C58CC0D33D3D}" srcOrd="0" destOrd="0" presId="urn:microsoft.com/office/officeart/2005/8/layout/vList5"/>
    <dgm:cxn modelId="{C26CED61-3D16-43C2-848A-2B835A9C6512}" srcId="{3830E7F0-35C6-420C-A861-3955C876F199}" destId="{8236217E-D522-4629-971C-9263E42E2685}" srcOrd="1" destOrd="0" parTransId="{D29E524A-E632-4D67-8681-FC2BAEDE679B}" sibTransId="{0CB9EEA8-BAA8-48B2-8ED7-348728B03300}"/>
    <dgm:cxn modelId="{F2C26E91-F71E-9E4E-A3E7-265AB24AFCF3}" type="presOf" srcId="{215EE224-F4BC-417F-A648-5BC8B29B335F}" destId="{4169F2AF-052F-8A42-B9F6-790CC559F863}" srcOrd="0" destOrd="0" presId="urn:microsoft.com/office/officeart/2005/8/layout/vList5"/>
    <dgm:cxn modelId="{27285E95-0F45-4B84-AED6-E0F1DB9BCE99}" srcId="{6AE21950-F886-4837-9F3C-438ED7DBCC20}" destId="{5634A8BB-07BF-4AE2-90C4-926205CA848E}" srcOrd="0" destOrd="0" parTransId="{58E760BE-B847-45D0-AC32-6D05F8F8D7FE}" sibTransId="{FD971424-E59D-4E1E-B4CF-3E9AA44682F8}"/>
    <dgm:cxn modelId="{5DCFD9A4-958F-3845-A10A-C20BA503DC7A}" type="presOf" srcId="{8236217E-D522-4629-971C-9263E42E2685}" destId="{4169F2AF-052F-8A42-B9F6-790CC559F863}" srcOrd="0" destOrd="1" presId="urn:microsoft.com/office/officeart/2005/8/layout/vList5"/>
    <dgm:cxn modelId="{31E967B0-F37B-4114-9CD6-69CFB106ACE9}" srcId="{3830E7F0-35C6-420C-A861-3955C876F199}" destId="{215EE224-F4BC-417F-A648-5BC8B29B335F}" srcOrd="0" destOrd="0" parTransId="{DE3656B4-CACE-4F4C-9AA9-D7DE5E37F04C}" sibTransId="{2CF48250-73E0-4A94-950E-00117DE4F54E}"/>
    <dgm:cxn modelId="{048C34BE-08F5-4928-B5E0-B19F156F82B0}" srcId="{39730752-32D2-47B2-BAB3-DF50FA4563C6}" destId="{8EAEA640-2BFC-42CC-99EA-D47A1C67F0CA}" srcOrd="0" destOrd="0" parTransId="{65672D5D-0959-44F5-855B-816E3FFCB11E}" sibTransId="{9B26384C-01F0-4793-A369-E19D9FF8EC35}"/>
    <dgm:cxn modelId="{B3DDE2C2-BC34-6F41-A417-9A96BB3E6158}" type="presOf" srcId="{5634A8BB-07BF-4AE2-90C4-926205CA848E}" destId="{00B83D56-78A5-8C44-85D7-FDF05F8B2C98}" srcOrd="0" destOrd="0" presId="urn:microsoft.com/office/officeart/2005/8/layout/vList5"/>
    <dgm:cxn modelId="{394FEBCA-7C73-4FD1-8C25-1A23E06842EF}" srcId="{5634A8BB-07BF-4AE2-90C4-926205CA848E}" destId="{6797A3A5-D929-4F6D-8923-1FC5CA658488}" srcOrd="1" destOrd="0" parTransId="{2F94D970-DFFC-45E8-9B0B-D37742A3983B}" sibTransId="{2A91F6F4-7580-4F69-8BB5-0320086A727D}"/>
    <dgm:cxn modelId="{7B863DD4-28E3-6F48-BB58-1D7C7D40C708}" type="presOf" srcId="{6797A3A5-D929-4F6D-8923-1FC5CA658488}" destId="{4EF44BD8-BE4B-F94F-AF3F-E2B604C4042A}" srcOrd="0" destOrd="2" presId="urn:microsoft.com/office/officeart/2005/8/layout/vList5"/>
    <dgm:cxn modelId="{0FEB5829-90DE-9747-A1F7-A37DE3DA081D}" type="presParOf" srcId="{2FAEE4C6-263C-A84F-9D33-7D39A535FAB4}" destId="{8CFECB88-56CF-FE4D-AA97-731DEB79FD33}" srcOrd="0" destOrd="0" presId="urn:microsoft.com/office/officeart/2005/8/layout/vList5"/>
    <dgm:cxn modelId="{868AC51F-33BA-AE49-8B4E-201EE5AB5930}" type="presParOf" srcId="{8CFECB88-56CF-FE4D-AA97-731DEB79FD33}" destId="{00B83D56-78A5-8C44-85D7-FDF05F8B2C98}" srcOrd="0" destOrd="0" presId="urn:microsoft.com/office/officeart/2005/8/layout/vList5"/>
    <dgm:cxn modelId="{983AAE16-69CD-B84A-9C51-6C3E812E5A28}" type="presParOf" srcId="{8CFECB88-56CF-FE4D-AA97-731DEB79FD33}" destId="{4EF44BD8-BE4B-F94F-AF3F-E2B604C4042A}" srcOrd="1" destOrd="0" presId="urn:microsoft.com/office/officeart/2005/8/layout/vList5"/>
    <dgm:cxn modelId="{4DE80A4D-9E0C-AC4B-8927-52C7513AB1E6}" type="presParOf" srcId="{2FAEE4C6-263C-A84F-9D33-7D39A535FAB4}" destId="{91603BBE-D7A9-CB40-BD44-F837C330B472}" srcOrd="1" destOrd="0" presId="urn:microsoft.com/office/officeart/2005/8/layout/vList5"/>
    <dgm:cxn modelId="{690316F2-99A3-E249-A95E-AA72CD682757}" type="presParOf" srcId="{2FAEE4C6-263C-A84F-9D33-7D39A535FAB4}" destId="{9A18D60E-AE5F-EB4E-A4D7-46469CE8CC2A}" srcOrd="2" destOrd="0" presId="urn:microsoft.com/office/officeart/2005/8/layout/vList5"/>
    <dgm:cxn modelId="{1623EE18-878E-F146-825C-3BC82E1C2171}" type="presParOf" srcId="{9A18D60E-AE5F-EB4E-A4D7-46469CE8CC2A}" destId="{5322CBD1-A28A-F241-9941-C58CC0D33D3D}" srcOrd="0" destOrd="0" presId="urn:microsoft.com/office/officeart/2005/8/layout/vList5"/>
    <dgm:cxn modelId="{F2A1CD09-27D0-1346-9136-554B01E3B2D6}" type="presParOf" srcId="{9A18D60E-AE5F-EB4E-A4D7-46469CE8CC2A}" destId="{4169F2AF-052F-8A42-B9F6-790CC559F86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493A4-39AE-7B47-B2AE-96FA23418B6E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Each record is by characterized by a tuple (</a:t>
          </a:r>
          <a:r>
            <a:rPr lang="en-US" sz="2200" b="1" i="1" kern="1200"/>
            <a:t>x</a:t>
          </a:r>
          <a:r>
            <a:rPr lang="en-US" sz="2200" kern="1200"/>
            <a:t>,</a:t>
          </a:r>
          <a:r>
            <a:rPr lang="en-US" sz="2200" i="1" kern="1200"/>
            <a:t>y</a:t>
          </a:r>
          <a:r>
            <a:rPr lang="en-US" sz="2200" kern="1200"/>
            <a:t>), where </a:t>
          </a:r>
          <a:r>
            <a:rPr lang="en-US" sz="2200" b="1" i="1" kern="1200"/>
            <a:t>x </a:t>
          </a:r>
          <a:r>
            <a:rPr lang="en-US" sz="2200" kern="1200"/>
            <a:t>is the attribute set and </a:t>
          </a:r>
          <a:r>
            <a:rPr lang="en-US" sz="2200" i="1" kern="1200"/>
            <a:t>y </a:t>
          </a:r>
          <a:r>
            <a:rPr lang="en-US" sz="2200" kern="1200"/>
            <a:t>is the class label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i="1" kern="1200"/>
            <a:t>x</a:t>
          </a:r>
          <a:r>
            <a:rPr lang="en-US" sz="2200" kern="1200"/>
            <a:t>: attribute, predictor, independent variable, input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i="1" kern="1200"/>
            <a:t>y</a:t>
          </a:r>
          <a:r>
            <a:rPr lang="en-US" sz="2200" kern="1200"/>
            <a:t>: class, response, dependent variable, output</a:t>
          </a:r>
        </a:p>
      </dsp:txBody>
      <dsp:txXfrm rot="-5400000">
        <a:off x="3785616" y="295201"/>
        <a:ext cx="6647092" cy="1532257"/>
      </dsp:txXfrm>
    </dsp:sp>
    <dsp:sp modelId="{1DD67A3B-7E01-5044-BA6A-6694C0A7E8A9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Given a collection of records (training set )</a:t>
          </a:r>
        </a:p>
      </dsp:txBody>
      <dsp:txXfrm>
        <a:off x="103614" y="103667"/>
        <a:ext cx="3578388" cy="1915324"/>
      </dsp:txXfrm>
    </dsp:sp>
    <dsp:sp modelId="{9C46CFB1-8F99-8345-91C4-FFD1867CBC93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Learn a model that maps each attribute set </a:t>
          </a:r>
          <a:r>
            <a:rPr lang="en-US" sz="2200" b="1" i="1" kern="1200"/>
            <a:t>x </a:t>
          </a:r>
          <a:r>
            <a:rPr lang="en-US" sz="2200" kern="1200"/>
            <a:t>into one of the predefined class labels </a:t>
          </a:r>
          <a:r>
            <a:rPr lang="en-US" sz="2200" i="1" kern="1200"/>
            <a:t>y</a:t>
          </a:r>
          <a:endParaRPr lang="en-US" sz="2200" kern="1200"/>
        </a:p>
      </dsp:txBody>
      <dsp:txXfrm rot="-5400000">
        <a:off x="3785616" y="2523880"/>
        <a:ext cx="6647092" cy="1532257"/>
      </dsp:txXfrm>
    </dsp:sp>
    <dsp:sp modelId="{5E4BE488-AE6A-354A-8716-148CE9FACF41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Task:</a:t>
          </a:r>
        </a:p>
      </dsp:txBody>
      <dsp:txXfrm>
        <a:off x="103614" y="2332346"/>
        <a:ext cx="3578388" cy="19153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F4E2E-AE12-9842-88A7-B450C7A66947}">
      <dsp:nvSpPr>
        <dsp:cNvPr id="0" name=""/>
        <dsp:cNvSpPr/>
      </dsp:nvSpPr>
      <dsp:spPr>
        <a:xfrm>
          <a:off x="0" y="357152"/>
          <a:ext cx="10927829" cy="252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16560" rIns="84812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Decision Tree based Methods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Rule-based Methods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Nearest-neighbor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Naïve Bayes and Bayesian Belief Networks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Support Vector Machines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Neural Networks, Deep Neural Nets</a:t>
          </a:r>
        </a:p>
      </dsp:txBody>
      <dsp:txXfrm>
        <a:off x="0" y="357152"/>
        <a:ext cx="10927829" cy="2520000"/>
      </dsp:txXfrm>
    </dsp:sp>
    <dsp:sp modelId="{16CFF4EB-A618-8243-8EA4-7E2218DFD15F}">
      <dsp:nvSpPr>
        <dsp:cNvPr id="0" name=""/>
        <dsp:cNvSpPr/>
      </dsp:nvSpPr>
      <dsp:spPr>
        <a:xfrm>
          <a:off x="546391" y="61952"/>
          <a:ext cx="7649480" cy="59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Base Classifiers</a:t>
          </a:r>
        </a:p>
      </dsp:txBody>
      <dsp:txXfrm>
        <a:off x="575212" y="90773"/>
        <a:ext cx="7591838" cy="532757"/>
      </dsp:txXfrm>
    </dsp:sp>
    <dsp:sp modelId="{07FD7B3C-4650-A74C-B77F-5E6648938E24}">
      <dsp:nvSpPr>
        <dsp:cNvPr id="0" name=""/>
        <dsp:cNvSpPr/>
      </dsp:nvSpPr>
      <dsp:spPr>
        <a:xfrm>
          <a:off x="0" y="3280352"/>
          <a:ext cx="10927829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16560" rIns="84812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Boosting, Bagging, Random Forests</a:t>
          </a:r>
        </a:p>
      </dsp:txBody>
      <dsp:txXfrm>
        <a:off x="0" y="3280352"/>
        <a:ext cx="10927829" cy="850500"/>
      </dsp:txXfrm>
    </dsp:sp>
    <dsp:sp modelId="{E612E46F-A919-794A-A11B-821E7C2D7A8C}">
      <dsp:nvSpPr>
        <dsp:cNvPr id="0" name=""/>
        <dsp:cNvSpPr/>
      </dsp:nvSpPr>
      <dsp:spPr>
        <a:xfrm>
          <a:off x="546391" y="2985152"/>
          <a:ext cx="7649480" cy="590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Ensemble Classifiers</a:t>
          </a:r>
        </a:p>
      </dsp:txBody>
      <dsp:txXfrm>
        <a:off x="575212" y="3013973"/>
        <a:ext cx="7591838" cy="5327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44BD8-BE4B-F94F-AF3F-E2B604C4042A}">
      <dsp:nvSpPr>
        <dsp:cNvPr id="0" name=""/>
        <dsp:cNvSpPr/>
      </dsp:nvSpPr>
      <dsp:spPr>
        <a:xfrm rot="5400000">
          <a:off x="6612835" y="-2474243"/>
          <a:ext cx="1636176" cy="699381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Method for expressing test condition 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depending on attribute types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Measure for evaluating the goodness of a test condition</a:t>
          </a:r>
        </a:p>
      </dsp:txBody>
      <dsp:txXfrm rot="-5400000">
        <a:off x="3934018" y="284446"/>
        <a:ext cx="6913938" cy="1476432"/>
      </dsp:txXfrm>
    </dsp:sp>
    <dsp:sp modelId="{00B83D56-78A5-8C44-85D7-FDF05F8B2C98}">
      <dsp:nvSpPr>
        <dsp:cNvPr id="0" name=""/>
        <dsp:cNvSpPr/>
      </dsp:nvSpPr>
      <dsp:spPr>
        <a:xfrm>
          <a:off x="0" y="51"/>
          <a:ext cx="3934018" cy="20452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How should training records be split?</a:t>
          </a:r>
        </a:p>
      </dsp:txBody>
      <dsp:txXfrm>
        <a:off x="99839" y="99890"/>
        <a:ext cx="3734340" cy="1845542"/>
      </dsp:txXfrm>
    </dsp:sp>
    <dsp:sp modelId="{4169F2AF-052F-8A42-B9F6-790CC559F863}">
      <dsp:nvSpPr>
        <dsp:cNvPr id="0" name=""/>
        <dsp:cNvSpPr/>
      </dsp:nvSpPr>
      <dsp:spPr>
        <a:xfrm rot="5400000">
          <a:off x="6612835" y="-326761"/>
          <a:ext cx="1636176" cy="699381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Stop splitting if all the records belong to the same class or have identical attribute values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Early termination </a:t>
          </a:r>
        </a:p>
      </dsp:txBody>
      <dsp:txXfrm rot="-5400000">
        <a:off x="3934018" y="2431928"/>
        <a:ext cx="6913938" cy="1476432"/>
      </dsp:txXfrm>
    </dsp:sp>
    <dsp:sp modelId="{5322CBD1-A28A-F241-9941-C58CC0D33D3D}">
      <dsp:nvSpPr>
        <dsp:cNvPr id="0" name=""/>
        <dsp:cNvSpPr/>
      </dsp:nvSpPr>
      <dsp:spPr>
        <a:xfrm>
          <a:off x="0" y="2147533"/>
          <a:ext cx="3934018" cy="20452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How should the splitting procedure stop?</a:t>
          </a:r>
        </a:p>
      </dsp:txBody>
      <dsp:txXfrm>
        <a:off x="99839" y="2247372"/>
        <a:ext cx="3734340" cy="1845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72835-E48E-6745-8A55-315B67BADCBD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7B841-0624-8C43-B858-3DDE06CEF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3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5B27B64-CA64-E46B-B5AC-BA6DB7B496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5BB6743-C584-9648-98F9-79355611958B}" type="slidenum">
              <a:rPr lang="en-US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BC774808-A1B2-855E-A189-315840CE4A0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4E615118-8BA5-7691-04F0-2A6CEA11D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3DA0A5F-3F42-66C6-B086-934D6D4FF9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CA0D5A0-C81C-854B-9FA7-ADD78E85A6F1}" type="slidenum">
              <a:rPr lang="en-US" altLang="en-US" sz="1200">
                <a:latin typeface="Times New Roman" panose="02020603050405020304" pitchFamily="18" charset="0"/>
              </a:rPr>
              <a:pPr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4E18D9FA-3D51-2647-A9FD-5F7E0A6D69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AC95ECD2-2830-6AED-7EB7-21ADDF264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88" tIns="46744" rIns="93488" bIns="46744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A5BC8B5C-DF22-93F5-5C4E-25B757FDAA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FE69BD-76E2-7442-A3A5-87C005A409E7}" type="slidenum">
              <a:rPr lang="en-US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91EAB89-B9CB-B0BB-B2A8-DE49D8C778C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240D28B1-BD8F-AE87-86D3-EECC370AD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8F91F6E5-3DBC-AF89-9761-94BC7E88F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3FBB081-0F19-7D43-B920-8675E62BB831}" type="slidenum">
              <a:rPr lang="en-US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6BF5146-1493-4E8B-BE75-52230AD09A1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7FC2A711-CAAB-5A0F-B800-28213A82AC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BD15E381-1C05-1D6A-3C4C-1BD108AE74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6C7DE8C-C286-114F-95AA-301263EECDFC}" type="slidenum">
              <a:rPr lang="en-US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BA2CD1A-666E-C2F2-74F4-9F9271CD423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D61526D-6E82-CD13-2E38-B60BAC778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8428B444-25B1-EF1D-24A6-721BED3CCD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8230ABA-D7A3-FB4C-B7B3-8A819A10B6C0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ADDE8D44-7229-9F00-1027-7C563867F17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70EE630E-F399-5BE7-A58C-C16D715D5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BFE2E91A-47CD-4182-F6B8-8D1F43C324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C845570-2F21-7143-9602-1251A8DA49CC}" type="slidenum">
              <a:rPr lang="en-US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B6EB6718-3131-73AA-8A7E-B0D5293C0A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02A7D964-3DF8-63D1-6436-4ADC85F1A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6114B94A-EF05-0043-ACDA-8C0185A713A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C47C7E53-8EA3-9C40-A109-218EA7CF57EB}" type="slidenum">
              <a:rPr lang="en-US" altLang="en-US" sz="1200">
                <a:latin typeface="Times New Roman" panose="02020603050405020304" pitchFamily="18" charset="0"/>
              </a:rPr>
              <a:pPr algn="r"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474FC2F-B2B4-387E-66EF-F73D11D08DC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E9C64737-93FA-86A4-8EDA-845A3E00B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C3F36E9-1BE5-5EDB-2CE9-1A5B15D549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6728F5A-0F41-6943-ADD0-1143D69423A0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A960544-C51D-FCF0-A8AA-4DA344AD2B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2A74CCBD-5BEC-92E5-354D-E5103CB57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3A691BC-9F54-BDF1-46BD-C381FC910E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C14A30E-C16E-324C-BCB5-6CAFD5DB2D58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7520D123-DAB6-0446-BF52-4F677A2D8E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D787B84D-BF08-A1DA-993C-D559CCC39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BFF64CE-C44D-84AA-9784-41BBEF4CDE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297F91-8022-B44F-97AB-92AAB5E9CB81}" type="slidenum">
              <a:rPr lang="en-US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B2AD25E1-AAF5-49AA-03E4-6250080AEAC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0C2ABBD6-B3AA-401F-44E6-19834E217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4CBF7C53-6904-57CB-CC89-1E55100044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F937BB7-5D94-8F49-B640-FC71AFC52835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594D5F8-8A2C-2401-5E78-46D813548E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F841B314-4640-5926-B07B-2FEBC49BFF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53E28D39-42F2-AED3-1D60-F81F629F74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C359DF6-428D-8B48-9811-A758F2592000}" type="slidenum">
              <a:rPr lang="en-US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F46F5167-FDD3-37E7-1D69-692B39D39CF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6D3FEF1-AEDE-052C-3095-42A601A1FD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5922F4D-500B-20DD-D259-7CA8D1C785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8088" y="700088"/>
            <a:ext cx="4598987" cy="3449637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F6C9DEEB-E23D-87EF-EB86-D0F5A5226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BD1945BC-C1F4-FED5-6681-C46BD32C25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08088" y="700088"/>
            <a:ext cx="4598987" cy="3449637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861518E-3705-90BF-0FD9-69A5EE365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7850"/>
            <a:ext cx="514191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9B2A4502-4E14-F486-EA55-28C98C962DC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DFA01033-AA54-B24A-AC06-D9B7FE040602}" type="slidenum">
              <a:rPr lang="en-US" altLang="en-US" sz="1200">
                <a:latin typeface="Times New Roman" panose="02020603050405020304" pitchFamily="18" charset="0"/>
              </a:rPr>
              <a:pPr algn="r"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A445EE36-922E-9065-CE2D-E22FD6A7E1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706494E2-3FF8-B82E-63A5-9367DE717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2A3219F-3BD8-D515-DAC9-31559587BC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B9FED80-3452-8A45-B8C5-FF308AEE6DDE}" type="slidenum">
              <a:rPr lang="en-US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3DAE22B-1879-F7C7-CDA5-3D80A8E913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B82FC39-B2E6-9F99-0506-948EF1771B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9A9521C3-3AF3-E208-388F-8BCD22B4795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C2BE3D7B-6A39-BF4C-B3BC-6B4DBC593960}" type="slidenum">
              <a:rPr lang="en-US" altLang="en-US" sz="1200">
                <a:latin typeface="Times New Roman" panose="02020603050405020304" pitchFamily="18" charset="0"/>
              </a:rPr>
              <a:pPr algn="r"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FCDAF747-21E8-CB79-6F54-A5775919DD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B343F9C0-8A4C-A6F3-6E36-62E180DA7C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32497A79-2844-55C7-99E2-2230C85BE25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BE70B8F3-7324-5944-B135-E6BA4EEA7F58}" type="slidenum">
              <a:rPr lang="en-US" altLang="en-US" sz="1200">
                <a:latin typeface="Times New Roman" panose="02020603050405020304" pitchFamily="18" charset="0"/>
              </a:rPr>
              <a:pPr algn="r"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1991178-9405-B350-1B75-932CBBEDEAC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06CCC532-C893-3F19-D6CD-C864E1C28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E7AE0443-6626-EF51-5A3A-8EB76F4C35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CCBDB46-D88A-F34C-A248-E7B5ECD63A42}" type="slidenum">
              <a:rPr lang="en-US" altLang="en-US" sz="1200">
                <a:latin typeface="Times New Roman" panose="02020603050405020304" pitchFamily="18" charset="0"/>
              </a:rPr>
              <a:pPr/>
              <a:t>21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6158A78-E6F7-6D2C-A8BF-4D47FF5B48D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0C29C698-4B7C-4962-911D-8708DEEBE6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31027694-A79A-3340-3A0F-4A7082710E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6618966-E949-0E4C-A9F4-86C67E60AD20}" type="slidenum">
              <a:rPr lang="en-US" altLang="en-US" sz="1200">
                <a:latin typeface="Times New Roman" panose="02020603050405020304" pitchFamily="18" charset="0"/>
              </a:rPr>
              <a:pPr/>
              <a:t>22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5D4C9A89-6576-CB86-6468-7DF5062686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83032213-B902-AC85-8F79-5676A2181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54A683BC-4813-CC2F-9093-B3DCC7C6BB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E357C40-7AA8-6A40-839E-6F23D5C20760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7554097-C340-8485-246B-27A6958E9FF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67DF13CB-CCC4-0FA9-06A5-A49CBE6AF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E0BB0B7B-4E85-8D22-9AA0-9E5F1ABAF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FEA1F7-17D9-714D-A947-AF1137CD97BF}" type="slidenum">
              <a:rPr lang="en-US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2FE56DE2-80B3-04B4-3BA1-B215DAA47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B332000-F8DB-2C4D-8A7F-90CEB58DA97D}" type="slidenum">
              <a:rPr lang="en-US" altLang="en-US" sz="120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5179C79B-AAC0-2B33-39CC-92EA0C87B15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5BA5B2B2-0745-3E32-5327-D97845752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0CD36C59-22D3-C24F-069E-F6E00A6A5A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AA84086-3B8B-F542-A71B-84C475392EC6}" type="slidenum">
              <a:rPr lang="en-US" altLang="en-US" sz="120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6254BA76-58B5-FCC3-0E6A-D2068877F5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3F9013EB-F2DB-C756-7C5C-D92060FD00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2BABFC1A-3825-253F-9F88-9EC4AF2741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47A544D-05D1-484C-87AD-56EF814099DD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27972BC4-6FFB-ECA5-C086-6356A343AF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82607326-1FC7-0BD4-2A09-F995E5F7A8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8C4A035-8AFD-4CC6-BA09-96CBD0F3A2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B7A9D44-33A4-EE4F-A9A5-9F60DF9B81F0}" type="slidenum">
              <a:rPr lang="en-US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EE2AEB01-B30C-50AF-49C6-E6C2D5FA435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7F94056-DE9C-C500-21BC-4660A7059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BD4F1A87-969E-1348-5E5A-B87938F7DD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5BE83C1-66A5-0C4C-9641-3D10A4CCD9DD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201B570-B935-4652-698F-A1453C5203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78FAFD7B-6277-F2A5-D521-B19DB60EE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C403148D-2551-2AFE-F346-B604ED5C9D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10040F0-1A28-0746-84D4-EBACA1A9D343}" type="slidenum">
              <a:rPr lang="en-US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E9282823-C4D6-088E-BFAA-6E61B1A626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DFBD7DB4-2A6C-28DD-F9F8-616BC995E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60E2E1CE-EE81-D93F-F865-0C5B3DDA688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142C14C6-B667-A248-9F8F-94C259F02A69}" type="slidenum">
              <a:rPr lang="en-US" altLang="en-US" sz="1200">
                <a:latin typeface="Times New Roman" panose="02020603050405020304" pitchFamily="18" charset="0"/>
              </a:rPr>
              <a:pPr algn="r"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5EBF9980-AB68-20B5-FA08-344ADCD5EB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C32B5C40-6C72-EAB3-C64F-C9B35759A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3E0EA06F-616A-7207-6637-1EA31ECF6B0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03A9E973-845D-B843-8BA1-7B7BC6E7D50C}" type="slidenum">
              <a:rPr lang="en-US" altLang="en-US" sz="1200">
                <a:latin typeface="Times New Roman" panose="02020603050405020304" pitchFamily="18" charset="0"/>
              </a:rPr>
              <a:pPr algn="r"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2BD693D4-3DBA-EA90-D186-00EC304233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B35D25A4-592D-C7E9-53ED-9257EB03E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63D393DD-DAB8-5585-2219-B0656184E8B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A10802A8-93D6-054A-B415-E2D8EADB0209}" type="slidenum">
              <a:rPr lang="en-US" altLang="en-US" sz="1200">
                <a:latin typeface="Times New Roman" panose="02020603050405020304" pitchFamily="18" charset="0"/>
              </a:rPr>
              <a:pPr algn="r"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FDAF6EEA-676A-C6C9-251E-C47F6F8675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08C648E2-4701-954C-177B-C1A75BF98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87369B24-FA11-F675-E16C-A661EAEE435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58776F66-4CDA-7C47-85D6-DDC60EF858D8}" type="slidenum">
              <a:rPr lang="en-US" altLang="en-US" sz="1200">
                <a:latin typeface="Times New Roman" panose="02020603050405020304" pitchFamily="18" charset="0"/>
              </a:rPr>
              <a:pPr algn="r"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F4FC557-BE52-E90F-E003-167639F34F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CA468616-4538-261C-0730-1977F4CCD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B8C7AED1-80D6-2C72-EB75-32539AC41C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6164E88B-639F-A046-9F77-90F1B0335382}" type="slidenum">
              <a:rPr lang="en-US" altLang="en-US" sz="1200">
                <a:latin typeface="Times New Roman" panose="02020603050405020304" pitchFamily="18" charset="0"/>
              </a:rPr>
              <a:pPr algn="r"/>
              <a:t>35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AF27D7E4-F370-9D04-4548-5A696B525E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9A2FC0C8-F924-A144-FD69-EAA5F4E793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D178E442-3967-6C27-12C2-3E9322939D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A66A12-0361-FB45-81D5-D38FBAEF31AB}" type="slidenum">
              <a:rPr lang="en-US" altLang="en-US" sz="1200">
                <a:latin typeface="Times New Roman" panose="02020603050405020304" pitchFamily="18" charset="0"/>
              </a:rPr>
              <a:pPr/>
              <a:t>36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B572CE7F-AB3E-E426-172A-9321D6D181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1D57D33A-9BD4-C922-6CF8-522BC9A65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D084A669-B91C-9BB0-1133-68DD90BC27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46ED7AE-CC39-0E4F-9851-C4A58F88A3E7}" type="slidenum">
              <a:rPr lang="en-US" altLang="en-US" sz="1200">
                <a:latin typeface="Times New Roman" panose="02020603050405020304" pitchFamily="18" charset="0"/>
              </a:rPr>
              <a:pPr/>
              <a:t>37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04F5BDE7-BA69-000D-86CB-B05383088B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E14C7BBA-714F-54FA-54F5-DCE2928EC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B863F8E5-624F-4A6C-B33D-8D493549062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2C8BDFB4-8238-4641-BCB5-9C4679677852}" type="slidenum">
              <a:rPr lang="en-US" altLang="en-US" sz="1200">
                <a:latin typeface="Times New Roman" panose="02020603050405020304" pitchFamily="18" charset="0"/>
              </a:rPr>
              <a:pPr algn="r"/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7FE3A50E-E46E-B2D2-B818-0CA519450D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348B59F7-E3B1-AA17-498B-7B861A249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89E21620-E6EC-7CA6-649C-41D18D4CC00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FC8926C8-909B-4F45-A011-3D3D693F94BA}" type="slidenum">
              <a:rPr lang="en-US" altLang="en-US" sz="1200">
                <a:latin typeface="Times New Roman" panose="02020603050405020304" pitchFamily="18" charset="0"/>
              </a:rPr>
              <a:pPr algn="r"/>
              <a:t>39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2555AD02-78AA-0484-D6AC-5BC3777333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41F33A7A-296C-50AD-61A7-E900CC59A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B6E5C1D3-84D2-2C5F-15B4-8CD1D4A1ED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CEBB1EE-FC8F-E04C-814A-B8C63A83914C}" type="slidenum">
              <a:rPr lang="en-US" altLang="en-US" sz="1200">
                <a:latin typeface="Times New Roman" panose="02020603050405020304" pitchFamily="18" charset="0"/>
              </a:rPr>
              <a:pPr/>
              <a:t>40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6164AB26-B838-DD88-8BEE-E56B199739E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0C16C9A6-EEC4-AB81-AA4A-9E356B1F9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1258C764-9F08-27FB-0F62-B2DA3A6E6E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83D12C7-FF12-6B4F-9DC0-23D48128DAA4}" type="slidenum">
              <a:rPr lang="en-US" altLang="en-US" sz="1200">
                <a:latin typeface="Times New Roman" panose="02020603050405020304" pitchFamily="18" charset="0"/>
              </a:rPr>
              <a:pPr/>
              <a:t>41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3FED825A-8E3E-0DB4-0072-BC525193693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692150"/>
            <a:ext cx="4618038" cy="3463925"/>
          </a:xfrm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0BE2EC2E-FED6-46CF-3366-7698F1FAC5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FCDDEAF5-9425-4DDC-A2D2-5810C9FFB7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98500"/>
            <a:ext cx="6192838" cy="3484563"/>
          </a:xfrm>
          <a:solidFill>
            <a:srgbClr val="FFFFFF"/>
          </a:solidFill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FD0D418-3071-46CA-B154-602AA1AB3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4112" y="4414561"/>
            <a:ext cx="5142177" cy="4183995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95" tIns="45798" rIns="91595" bIns="45798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7ED4-7E07-BAC4-3571-D72A69EA2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C557E-0681-E73B-CFB3-A816249B2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0BCB2-2168-1719-728A-E49E7415D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C63BE-AEB2-95D4-A927-F2CFBF302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51B83-906F-D057-3F86-097EACCB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5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273B-F32A-C83F-27CC-FD8E8605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F7B1A-4EBA-F1A0-BEE3-1AF4C97C2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4C2C6-D407-2CCD-E0DC-D59D7E832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34173-4085-84C1-1409-F61FDE78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B7AB7-55AB-2948-6C92-37F0C441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7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884F-BF39-F68B-1DE4-395B1FAC1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A279E-DDA6-101D-E864-DF0128462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B826C-1BF8-938D-9519-B44AC3E3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3861F-14AF-1594-2985-47167642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F98EF-25F6-7AF7-23D6-16EB6903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6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D5A5-46A7-9958-ED1F-D1395BDCA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466CF-C40F-D960-B878-30F87A64E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F3038-93F5-08C4-CAF9-1B7880A9E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A0046-D15E-633C-3184-C710636D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8138C-EE4C-86A3-6074-A9F272D5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3E351-DA20-BA96-DCBB-ABF9CEB5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8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1B10-7756-15B1-88D4-C7DE401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D1C22-375B-4A4F-B437-C1A7900A5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DC06F-2D11-BFB2-E8B6-DBC6DAD9B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63331-F96B-D027-02B8-33EADD9F8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E9232-6706-FBED-5CC5-79D92CF8F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FA61F-DD08-F1F8-22A5-D8DB794B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5E76D-0424-9FA1-0DAC-AB51B77A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42B8C-8C0C-599E-8294-F93511FC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4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6C053-2CBD-882D-9340-BD8B3F70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7121F7-3CCC-D577-AFF2-EC307A18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951FE-68D1-CEAE-FA87-432269D5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E0C0E-7867-B781-4FAA-4B5E8732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4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BEA762-72B1-3F53-7A80-E416807F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D43D5-F331-2DE4-4EBD-91312922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D4909-9DF0-8856-76FD-950D8281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0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283D-25A2-6202-06D8-58C7A5B4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1828D-BC3B-7D37-48A2-F9D2D084B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F2727-A43F-5BA1-2601-1D30D20EA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39246-C695-3780-FDB4-A52E52F6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11010-4623-E77E-ED87-A17A42EC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8C062-DF8D-1385-7B86-6218C40B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9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6783-AE2A-8386-D366-FF2DEB8A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1EB73C-D24D-A7E2-3CA6-26D3FB1CD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8D553-2DE7-320F-CB31-AED5CB7C1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31A65-2FCE-C6BA-01E2-C8A209CE3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32886-E3AB-D21D-A1CD-373CB552C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B4D98-442F-34A5-989F-597FE81D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3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4EE8-2A28-B54C-766C-25C138DB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F116C-3462-B541-6C66-31FA9981F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1FBB5-65AC-AA75-2AC1-E85BD294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83620-C088-D432-0D2C-36EA8A891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D5CB3-7844-4638-958A-359F07CD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95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F960D-EB70-1296-D55B-7C49F0265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189C1-01DC-8187-DC10-1BA0F324F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9E750-3472-1085-4713-A985531B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DC30F-7370-ECEA-6358-1C08B060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Mining, 2nd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50FF1-0593-88F0-E002-43616A5D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01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48218" y="1143000"/>
            <a:ext cx="11091333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DAC3C-E6EB-4C75-9D16-CE1BFB8B6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5AD7E-CBEF-49AB-A4DD-E4595D3E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39139-E158-4F9E-8870-36DCC0094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AD124-652D-4699-9BEB-BF0A63105A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9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02A53-3B60-466B-B1DF-038EAD17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35803-0B27-4F43-A185-3763EC4E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395D3-A094-4D9D-8522-A6248BF7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E6091-0CA5-4BB6-82E3-E3DDEB6685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11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4" y="1143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5484" y="3810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A4356F-CD02-4726-A4AB-6FEC6084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362CAB-4783-4D17-9D0F-38B6CF0F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4AD326-B49A-480D-9BCA-F1F273A8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3C97A-1A61-43C2-9A71-CFE5CD1BBA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4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4DCA7-2AE6-AF19-2D40-985153E2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F0761-2985-F5E7-20A6-88A26A886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C22C0-E712-A844-3174-3C670201C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2/1/2021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2F32F-4B7E-6391-C3BA-EE47B41F9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Introduction to Data Mining, 2nd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AFBD1-5F8B-9687-70EC-E28AD93B5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16F83-92C2-F640-AF4F-93AFEA77B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4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5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3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29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5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2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8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788D51-241A-D77D-81F5-CC6537B6B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 fontAlgn="base"/>
            <a:r>
              <a:rPr lang="en-US" sz="4800">
                <a:solidFill>
                  <a:srgbClr val="FFFFFF"/>
                </a:solidFill>
              </a:rPr>
              <a:t>Classification: Basic Concepts and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FA36F-F43E-C1EB-58AA-DA375C653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Lecture 3</a:t>
            </a:r>
            <a:endParaRPr lang="en-US"/>
          </a:p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51860-72F7-296C-C6A7-46238903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0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D1B04265-1B05-5BE7-7191-A7D2E6048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Chapter 3: Data Preprocessing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281CC0E1-28BC-FB2B-1C9B-7A3028D29D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371600"/>
            <a:ext cx="82296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Preprocessing: An Overview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Data Quality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Major Tasks in Data Preprocessing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Cleaning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Integration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Reduction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Transformation and Data Discretization</a:t>
            </a:r>
          </a:p>
          <a:p>
            <a:pPr eaLnBrk="1" hangingPunct="1">
              <a:lnSpc>
                <a:spcPct val="150000"/>
              </a:lnSpc>
            </a:pPr>
            <a:endParaRPr lang="en-US" altLang="en-US" sz="2400" dirty="0"/>
          </a:p>
        </p:txBody>
      </p:sp>
      <p:sp>
        <p:nvSpPr>
          <p:cNvPr id="6150" name="AutoShape 4">
            <a:extLst>
              <a:ext uri="{FF2B5EF4-FFF2-40B4-BE49-F238E27FC236}">
                <a16:creationId xmlns:a16="http://schemas.microsoft.com/office/drawing/2014/main" id="{B4D4BFAD-ACCA-1CD9-849E-3D35F63B8C81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7083425" y="1377951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6FE8D-9A37-9FFA-554D-6609C67D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40F2E627-72FA-4DF0-608F-804379569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Data Quality: Why Preprocess the Data?</a:t>
            </a:r>
            <a:endParaRPr lang="en-US" altLang="en-US"/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D38EC7-367F-0D42-24C0-377467A20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382000" cy="494665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en-US" sz="2400"/>
              <a:t>Measures for data quality: A multidimensional view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/>
              <a:t>Accuracy: correct or wrong, accurate or not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/>
              <a:t>Completeness: not recorded, unavailable, …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/>
              <a:t>Consistency: some modified but some not, dangling, …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/>
              <a:t>Timeliness: timely update? 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/>
              <a:t>Believability: how trustable the data are correct?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/>
              <a:t>Interpretability: how easily the data can be understood?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754622-24B5-55FD-9D50-2961D66AC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C3D849FE-4468-3570-2AA1-1C2F40B98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Major Tasks in Data Preprocessing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9C50A86-ADAF-EF81-08A9-A67346A07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295400"/>
            <a:ext cx="8305800" cy="5105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b="1"/>
              <a:t>Data cleaning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Fill in missing values, smooth noisy data, identify or remove outliers, and resolve inconsistencies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b="1"/>
              <a:t>Data integration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Integration of multiple databases, data cubes, or files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b="1"/>
              <a:t>Data reduction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Dimensionality reduction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Numerosity reduction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Data compression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b="1"/>
              <a:t>Data transformation and data discretization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Normalization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Concept hierarchy generation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A7AD6A-48A5-9FB0-C880-276FF4AE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>
            <a:extLst>
              <a:ext uri="{FF2B5EF4-FFF2-40B4-BE49-F238E27FC236}">
                <a16:creationId xmlns:a16="http://schemas.microsoft.com/office/drawing/2014/main" id="{48D41782-E993-EDA8-53DD-1F68FCCEA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Chapter 3: Data Preprocessing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7527688B-D492-785D-5682-AD2B4AC28F8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371600"/>
            <a:ext cx="82296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Preprocessing: An Overview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Data Quality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Major Tasks in Data Preprocessing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Cleaning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Integration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Reduction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Transformation and Data Discretization</a:t>
            </a:r>
          </a:p>
        </p:txBody>
      </p:sp>
      <p:sp>
        <p:nvSpPr>
          <p:cNvPr id="9222" name="AutoShape 4">
            <a:extLst>
              <a:ext uri="{FF2B5EF4-FFF2-40B4-BE49-F238E27FC236}">
                <a16:creationId xmlns:a16="http://schemas.microsoft.com/office/drawing/2014/main" id="{21CAB441-71EF-35A6-5A11-94301ECF3351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4492625" y="3206751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1CB73D-29D1-2A0F-4FAC-47974DE4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81402299-45E5-417C-9FDB-54469ACDC6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Data Cleaning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2CB14875-58F3-795A-408E-445C73B18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Data in the Real World Is Dirty: Lots of potentially incorrect data, e.g., instrument faulty, human or computer error, transmission error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u="sng"/>
              <a:t>incomplete</a:t>
            </a:r>
            <a:r>
              <a:rPr lang="en-US" altLang="en-US" sz="2000"/>
              <a:t>: lacking attribute values, lacking certain attributes of interest, or containing only aggregate data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e.g., </a:t>
            </a:r>
            <a:r>
              <a:rPr lang="en-US" altLang="en-US" i="1"/>
              <a:t>Occupation</a:t>
            </a:r>
            <a:r>
              <a:rPr lang="en-US" altLang="en-US"/>
              <a:t>=“ ” (missing data)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u="sng"/>
              <a:t>noisy</a:t>
            </a:r>
            <a:r>
              <a:rPr lang="en-US" altLang="en-US" sz="2000"/>
              <a:t>: containing noise, errors, or outliers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e.g., </a:t>
            </a:r>
            <a:r>
              <a:rPr lang="en-US" altLang="en-US" i="1"/>
              <a:t>Salary</a:t>
            </a:r>
            <a:r>
              <a:rPr lang="en-US" altLang="en-US"/>
              <a:t>=“</a:t>
            </a:r>
            <a:r>
              <a:rPr lang="en-US" altLang="en-US">
                <a:cs typeface="Tahoma" panose="020B0604030504040204" pitchFamily="34" charset="0"/>
              </a:rPr>
              <a:t>−</a:t>
            </a:r>
            <a:r>
              <a:rPr lang="en-US" altLang="en-US"/>
              <a:t>10” (an error)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u="sng"/>
              <a:t>inconsistent</a:t>
            </a:r>
            <a:r>
              <a:rPr lang="en-US" altLang="en-US" sz="2000"/>
              <a:t>: containing discrepancies in codes or names, e.g.,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i="1"/>
              <a:t>Age</a:t>
            </a:r>
            <a:r>
              <a:rPr lang="en-US" altLang="en-US"/>
              <a:t>=“42”, </a:t>
            </a:r>
            <a:r>
              <a:rPr lang="en-US" altLang="en-US" i="1"/>
              <a:t>Birthday</a:t>
            </a:r>
            <a:r>
              <a:rPr lang="en-US" altLang="en-US"/>
              <a:t>=“03/07/2010”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Was rating “1, 2, 3”, now rating “A, B, C”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discrepancy between duplicate records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u="sng"/>
              <a:t>Intentional</a:t>
            </a:r>
            <a:r>
              <a:rPr lang="en-US" altLang="en-US" sz="2000" b="1" u="sng"/>
              <a:t> </a:t>
            </a:r>
            <a:r>
              <a:rPr lang="en-US" altLang="en-US" sz="2000"/>
              <a:t>(e.g., </a:t>
            </a:r>
            <a:r>
              <a:rPr lang="en-US" altLang="en-US" sz="2000" i="1"/>
              <a:t>disguised missing</a:t>
            </a:r>
            <a:r>
              <a:rPr lang="en-US" altLang="en-US" sz="2000"/>
              <a:t> data)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/>
              <a:t>Jan. 1 as everyone’s birthday?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EF7280-F3F5-FC7B-5E22-65055178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0CB7C8AE-4595-557F-35C0-635C86485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93950" y="304800"/>
            <a:ext cx="716915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Incomplete (Missing) Data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88F248C8-B3BF-9477-6232-BBB89C83EF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371600"/>
            <a:ext cx="8305800" cy="5105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Data is not always available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E.g., many tuples have no recorded value for several attributes, such as customer income in sales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Missing data may be due to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equipment malfunction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inconsistent with other recorded data and thus deleted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data not entered due to misunderstanding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certain data may not be considered important at the time of entry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not register history or changes of the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Missing data may need to be inferred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F19338-22F1-67DE-B7A1-EEB7D4FF3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93A38C7F-FD92-EEDD-8CB6-DE1F008D9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0" y="228600"/>
            <a:ext cx="7543800" cy="762000"/>
          </a:xfrm>
        </p:spPr>
        <p:txBody>
          <a:bodyPr/>
          <a:lstStyle/>
          <a:p>
            <a:pPr eaLnBrk="1" hangingPunct="1"/>
            <a:r>
              <a:rPr lang="en-US" altLang="en-US"/>
              <a:t>How to Handle Missing Data?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7277D397-C338-6336-9B05-E9530C40C7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534400" cy="5257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Ignore the tuple: usually done when class label is missing (when doing classification)—not effective when the % of missing values per attribute varies considerably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Fill in the missing value manually: tedious + infeasible?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Fill in it automatically with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a global constant : e.g., “unknown”, a new class?!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the attribute mean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the attribute mean for all samples belonging to the same class: smarter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chemeClr val="hlink"/>
                </a:solidFill>
              </a:rPr>
              <a:t>the most probable value: inference-based such as Bayesian formula or decision 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562F9-25FB-D007-419B-2F0DDAC1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C1BC3E2B-1E9E-F91C-7628-1CBD6C6AF5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00400" y="228600"/>
            <a:ext cx="5638800" cy="762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Noisy Data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6A21EFF4-F522-52B5-9377-B96043A00B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371600"/>
            <a:ext cx="8382000" cy="4953000"/>
          </a:xfrm>
        </p:spPr>
        <p:txBody>
          <a:bodyPr/>
          <a:lstStyle/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Noise</a:t>
            </a:r>
            <a:r>
              <a:rPr lang="en-US" altLang="en-US" sz="2400"/>
              <a:t>: random error or variance in a measured variable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Incorrect attribute values</a:t>
            </a:r>
            <a:r>
              <a:rPr lang="en-US" altLang="en-US" sz="2400"/>
              <a:t> may be due to</a:t>
            </a:r>
          </a:p>
          <a:p>
            <a:pPr lvl="1" eaLnBrk="1" hangingPunct="1"/>
            <a:r>
              <a:rPr lang="en-US" altLang="en-US"/>
              <a:t>faulty data collection instruments</a:t>
            </a:r>
          </a:p>
          <a:p>
            <a:pPr lvl="1" eaLnBrk="1" hangingPunct="1"/>
            <a:r>
              <a:rPr lang="en-US" altLang="en-US"/>
              <a:t>data entry problems</a:t>
            </a:r>
          </a:p>
          <a:p>
            <a:pPr lvl="1" eaLnBrk="1" hangingPunct="1"/>
            <a:r>
              <a:rPr lang="en-US" altLang="en-US"/>
              <a:t>data transmission problems</a:t>
            </a:r>
          </a:p>
          <a:p>
            <a:pPr lvl="1" eaLnBrk="1" hangingPunct="1"/>
            <a:r>
              <a:rPr lang="en-US" altLang="en-US"/>
              <a:t>technology limitation</a:t>
            </a:r>
          </a:p>
          <a:p>
            <a:pPr lvl="1" eaLnBrk="1" hangingPunct="1"/>
            <a:r>
              <a:rPr lang="en-US" altLang="en-US"/>
              <a:t>inconsistency in naming convention 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Other data problems</a:t>
            </a:r>
            <a:r>
              <a:rPr lang="en-US" altLang="en-US" sz="2400"/>
              <a:t> which require data cleaning</a:t>
            </a:r>
          </a:p>
          <a:p>
            <a:pPr lvl="1" eaLnBrk="1" hangingPunct="1"/>
            <a:r>
              <a:rPr lang="en-US" altLang="en-US"/>
              <a:t>duplicate records</a:t>
            </a:r>
          </a:p>
          <a:p>
            <a:pPr lvl="1" eaLnBrk="1" hangingPunct="1"/>
            <a:r>
              <a:rPr lang="en-US" altLang="en-US"/>
              <a:t>incomplete data</a:t>
            </a:r>
          </a:p>
          <a:p>
            <a:pPr lvl="1" eaLnBrk="1" hangingPunct="1"/>
            <a:r>
              <a:rPr lang="en-US" altLang="en-US"/>
              <a:t>inconsistent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32187D-9754-5256-0786-6B380E9A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2EC92750-94E0-6506-7B17-54111FDBA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0" y="304800"/>
            <a:ext cx="859155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How to Handle Noisy Data?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6A64CB5C-E412-24DC-0BE5-473E6D921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382000" cy="5029200"/>
          </a:xfrm>
        </p:spPr>
        <p:txBody>
          <a:bodyPr/>
          <a:lstStyle/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Binning</a:t>
            </a:r>
          </a:p>
          <a:p>
            <a:pPr lvl="1" eaLnBrk="1" hangingPunct="1"/>
            <a:r>
              <a:rPr lang="en-US" altLang="en-US"/>
              <a:t>first sort data and partition into (equal-frequency) bins</a:t>
            </a:r>
          </a:p>
          <a:p>
            <a:pPr lvl="1" eaLnBrk="1" hangingPunct="1"/>
            <a:r>
              <a:rPr lang="en-US" altLang="en-US"/>
              <a:t>then one can </a:t>
            </a:r>
            <a:r>
              <a:rPr lang="en-US" altLang="en-US">
                <a:solidFill>
                  <a:schemeClr val="hlink"/>
                </a:solidFill>
              </a:rPr>
              <a:t>smooth by bin means,  smooth by bin median, smooth by bin boundaries</a:t>
            </a:r>
            <a:r>
              <a:rPr lang="en-US" altLang="en-US"/>
              <a:t>, etc.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Regression</a:t>
            </a:r>
          </a:p>
          <a:p>
            <a:pPr lvl="1" eaLnBrk="1" hangingPunct="1"/>
            <a:r>
              <a:rPr lang="en-US" altLang="en-US"/>
              <a:t>smooth by fitting the data into regression functions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Clustering</a:t>
            </a:r>
          </a:p>
          <a:p>
            <a:pPr lvl="1" eaLnBrk="1" hangingPunct="1"/>
            <a:r>
              <a:rPr lang="en-US" altLang="en-US"/>
              <a:t>detect and remove outliers</a:t>
            </a:r>
          </a:p>
          <a:p>
            <a:pPr eaLnBrk="1" hangingPunct="1"/>
            <a:r>
              <a:rPr lang="en-US" altLang="en-US" sz="2400">
                <a:solidFill>
                  <a:schemeClr val="folHlink"/>
                </a:solidFill>
              </a:rPr>
              <a:t>Combined computer and human inspection</a:t>
            </a:r>
          </a:p>
          <a:p>
            <a:pPr lvl="1" eaLnBrk="1" hangingPunct="1"/>
            <a:r>
              <a:rPr lang="en-US" altLang="en-US"/>
              <a:t>detect suspicious values and check by human (e.g., deal with possible outliers)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9E03BB-373A-718C-A55C-C2031B5E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7B11C507-F843-5111-217C-564EFCC47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0" y="304800"/>
            <a:ext cx="859155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Data Cleaning as a Process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E60A31F-D913-CF7A-7B75-DB3702F33F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534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folHlink"/>
                </a:solidFill>
              </a:rPr>
              <a:t>Data discrepancy detection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Use metadata (e.g., domain, range, dependency, distribution)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Check field overloading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Check uniqueness rule, consecutive rule and null rule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Use commercial tools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Data scrubbing: use simple domain knowledge (e.g., postal code, spell-check) to detect errors and make corrections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Data auditing: by analyzing data to discover rules and relationship to detect violators (e.g., correlation and clustering to find outliers)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folHlink"/>
                </a:solidFill>
              </a:rPr>
              <a:t>Data migration and integration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Data migration tools: allow transformations to be specified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ETL (Extraction/Transformation/Loading) tools: allow users to specify transformations through a graphical user interface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Integration of the two processes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Iterative and interactive (e.g., Potter’s Wheels)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E4D122-AC92-F176-9932-6FF6310C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>
            <a:extLst>
              <a:ext uri="{FF2B5EF4-FFF2-40B4-BE49-F238E27FC236}">
                <a16:creationId xmlns:a16="http://schemas.microsoft.com/office/drawing/2014/main" id="{CB820A6E-F8D9-B766-1EC7-18E9E36D9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Chapter 3: Data Preprocessing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8204C110-9A23-C88B-30AF-B4726B93EA9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371600"/>
            <a:ext cx="82296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Preprocessing: An Overview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Data Quality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Major Tasks in Data Preprocessing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Cleaning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Integration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Reduction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Transformation and Data Discretization</a:t>
            </a:r>
          </a:p>
        </p:txBody>
      </p:sp>
      <p:sp>
        <p:nvSpPr>
          <p:cNvPr id="16390" name="AutoShape 4">
            <a:extLst>
              <a:ext uri="{FF2B5EF4-FFF2-40B4-BE49-F238E27FC236}">
                <a16:creationId xmlns:a16="http://schemas.microsoft.com/office/drawing/2014/main" id="{D52C1997-BF64-1E97-5B05-8727D6431019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4721225" y="3816351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6651FE-D330-9567-8AB5-34749669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8D22ADC0-262D-1F8F-2201-FA675A678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9376" y="304800"/>
            <a:ext cx="6683375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Data Integration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785724DC-D728-0379-0046-D3E5DBA30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534400" cy="5181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sz="2000" b="1"/>
              <a:t>Data integration</a:t>
            </a:r>
            <a:r>
              <a:rPr lang="en-US" altLang="en-US" sz="2000"/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Combines data from multiple sources into a coherent store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Schema integration: e.g., A.cust-id </a:t>
            </a:r>
            <a:r>
              <a:rPr lang="en-US" altLang="en-US" sz="2000">
                <a:sym typeface="Symbol" pitchFamily="2" charset="2"/>
              </a:rPr>
              <a:t> B.</a:t>
            </a:r>
            <a:r>
              <a:rPr lang="en-US" altLang="en-US" sz="2000"/>
              <a:t>cust-#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Integrate metadata from different sources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Entity identification problem</a:t>
            </a:r>
            <a:r>
              <a:rPr lang="en-US" altLang="en-US" sz="2000"/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Identify real world entities from multiple data sources, e.g., Bill Clinton = William Clinton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Detecting and resolving data value conflicts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For the same real world entity, attribute values from different sources are different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Possible reasons: different representations, different scales, e.g., metric vs. British units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101BDC-29AE-D6AE-307F-651957AD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>
            <a:extLst>
              <a:ext uri="{FF2B5EF4-FFF2-40B4-BE49-F238E27FC236}">
                <a16:creationId xmlns:a16="http://schemas.microsoft.com/office/drawing/2014/main" id="{D8D665F7-F08D-B3AA-1F97-E72346974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90678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Handling Redundancy in Data Integration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24AFE2E6-B3C6-92A4-69BA-926214C9C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295400"/>
            <a:ext cx="8305800" cy="5181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Redundant data occur often when integration of multiple databases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i="1"/>
              <a:t>Object identification</a:t>
            </a:r>
            <a:r>
              <a:rPr lang="en-US" altLang="en-US"/>
              <a:t>:  The same attribute or object may have different names in different databases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i="1"/>
              <a:t>Derivable data:</a:t>
            </a:r>
            <a:r>
              <a:rPr lang="en-US" altLang="en-US"/>
              <a:t> One attribute may be a “derived” attribute in another table, e.g., annual revenue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>
                <a:solidFill>
                  <a:schemeClr val="folHlink"/>
                </a:solidFill>
              </a:rPr>
              <a:t>Redundant attributes may be able to be detected by </a:t>
            </a:r>
            <a:r>
              <a:rPr lang="en-US" altLang="en-US" sz="2400" i="1">
                <a:solidFill>
                  <a:schemeClr val="folHlink"/>
                </a:solidFill>
              </a:rPr>
              <a:t>correlation analysis </a:t>
            </a:r>
            <a:r>
              <a:rPr lang="en-US" altLang="en-US" sz="2400">
                <a:solidFill>
                  <a:schemeClr val="folHlink"/>
                </a:solidFill>
              </a:rPr>
              <a:t>and</a:t>
            </a:r>
            <a:r>
              <a:rPr lang="en-US" altLang="en-US" sz="2400" i="1">
                <a:solidFill>
                  <a:schemeClr val="folHlink"/>
                </a:solidFill>
              </a:rPr>
              <a:t> covariance analysis</a:t>
            </a:r>
            <a:endParaRPr lang="en-US" altLang="en-US" sz="2400"/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Careful integration of the data from multiple sources may help reduce/avoid redundancies and inconsistencies and improve mining speed and quality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06DE67-D12C-D2EC-C0CB-EF1C5828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0F0AFA1F-7604-B37F-0EE3-A2482A7A1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r>
              <a:rPr lang="en-US" altLang="en-US" sz="3200"/>
              <a:t>Visually Evaluating Correlation</a:t>
            </a:r>
          </a:p>
        </p:txBody>
      </p:sp>
      <p:graphicFrame>
        <p:nvGraphicFramePr>
          <p:cNvPr id="22532" name="Object 3">
            <a:extLst>
              <a:ext uri="{FF2B5EF4-FFF2-40B4-BE49-F238E27FC236}">
                <a16:creationId xmlns:a16="http://schemas.microsoft.com/office/drawing/2014/main" id="{93542099-065A-DA60-CE5F-7286C8D43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990601"/>
          <a:ext cx="6096000" cy="538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029200" imgH="4819650" progId="Paint.Picture">
                  <p:embed/>
                </p:oleObj>
              </mc:Choice>
              <mc:Fallback>
                <p:oleObj name="Bitmap Image" r:id="rId3" imgW="5029200" imgH="4819650" progId="Paint.Picture">
                  <p:embed/>
                  <p:pic>
                    <p:nvPicPr>
                      <p:cNvPr id="22532" name="Object 3">
                        <a:extLst>
                          <a:ext uri="{FF2B5EF4-FFF2-40B4-BE49-F238E27FC236}">
                            <a16:creationId xmlns:a16="http://schemas.microsoft.com/office/drawing/2014/main" id="{93542099-065A-DA60-CE5F-7286C8D43B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7918"/>
                      <a:stretch>
                        <a:fillRect/>
                      </a:stretch>
                    </p:blipFill>
                    <p:spPr bwMode="auto">
                      <a:xfrm>
                        <a:off x="1752600" y="990601"/>
                        <a:ext cx="6096000" cy="538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4">
            <a:extLst>
              <a:ext uri="{FF2B5EF4-FFF2-40B4-BE49-F238E27FC236}">
                <a16:creationId xmlns:a16="http://schemas.microsoft.com/office/drawing/2014/main" id="{451BC870-1210-0B7E-E6C9-ECD1997CB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971801"/>
            <a:ext cx="18288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1">
                <a:latin typeface="Arial" panose="020B0604020202020204" pitchFamily="34" charset="0"/>
              </a:rPr>
              <a:t>Scatter plots showing the similarity from –1 to 1.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B7478-4CBA-982C-F57A-94005561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F9D7F4D6-F962-D23A-C341-F7CDC1F196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Correlation (viewed as linear relationship)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9DBA85C-90C9-8EE1-47C7-772EA2DB2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Correlation measures the linear relationship between objects</a:t>
            </a:r>
          </a:p>
          <a:p>
            <a:r>
              <a:rPr lang="en-US" altLang="en-US"/>
              <a:t>To compute correlation, we standardize data objects, A and B, and then take their dot product</a:t>
            </a:r>
          </a:p>
        </p:txBody>
      </p:sp>
      <p:graphicFrame>
        <p:nvGraphicFramePr>
          <p:cNvPr id="23557" name="Object 4">
            <a:extLst>
              <a:ext uri="{FF2B5EF4-FFF2-40B4-BE49-F238E27FC236}">
                <a16:creationId xmlns:a16="http://schemas.microsoft.com/office/drawing/2014/main" id="{CE074665-7D0B-D25A-37EF-6D76999683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4050" y="3443288"/>
          <a:ext cx="5321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957500" imgH="5270500" progId="Equation.3">
                  <p:embed/>
                </p:oleObj>
              </mc:Choice>
              <mc:Fallback>
                <p:oleObj name="Equation" r:id="rId3" imgW="40957500" imgH="5270500" progId="Equation.3">
                  <p:embed/>
                  <p:pic>
                    <p:nvPicPr>
                      <p:cNvPr id="23557" name="Object 4">
                        <a:extLst>
                          <a:ext uri="{FF2B5EF4-FFF2-40B4-BE49-F238E27FC236}">
                            <a16:creationId xmlns:a16="http://schemas.microsoft.com/office/drawing/2014/main" id="{CE074665-7D0B-D25A-37EF-6D76999683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3443288"/>
                        <a:ext cx="5321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5">
            <a:extLst>
              <a:ext uri="{FF2B5EF4-FFF2-40B4-BE49-F238E27FC236}">
                <a16:creationId xmlns:a16="http://schemas.microsoft.com/office/drawing/2014/main" id="{D12C94F2-88C1-A004-41EA-A78C1C1FE2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5001" y="4357689"/>
          <a:ext cx="5256213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373300" imgH="5270500" progId="Equation.3">
                  <p:embed/>
                </p:oleObj>
              </mc:Choice>
              <mc:Fallback>
                <p:oleObj name="Equation" r:id="rId5" imgW="40373300" imgH="5270500" progId="Equation.3">
                  <p:embed/>
                  <p:pic>
                    <p:nvPicPr>
                      <p:cNvPr id="23558" name="Object 5">
                        <a:extLst>
                          <a:ext uri="{FF2B5EF4-FFF2-40B4-BE49-F238E27FC236}">
                            <a16:creationId xmlns:a16="http://schemas.microsoft.com/office/drawing/2014/main" id="{D12C94F2-88C1-A004-41EA-A78C1C1FE2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1" y="4357689"/>
                        <a:ext cx="5256213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6">
            <a:extLst>
              <a:ext uri="{FF2B5EF4-FFF2-40B4-BE49-F238E27FC236}">
                <a16:creationId xmlns:a16="http://schemas.microsoft.com/office/drawing/2014/main" id="{382EB098-E782-3FBD-739A-9AFFF8FE74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1825" y="5348288"/>
          <a:ext cx="460533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6283900" imgH="4686300" progId="Equation.3">
                  <p:embed/>
                </p:oleObj>
              </mc:Choice>
              <mc:Fallback>
                <p:oleObj name="Equation" r:id="rId7" imgW="36283900" imgH="4686300" progId="Equation.3">
                  <p:embed/>
                  <p:pic>
                    <p:nvPicPr>
                      <p:cNvPr id="23559" name="Object 6">
                        <a:extLst>
                          <a:ext uri="{FF2B5EF4-FFF2-40B4-BE49-F238E27FC236}">
                            <a16:creationId xmlns:a16="http://schemas.microsoft.com/office/drawing/2014/main" id="{382EB098-E782-3FBD-739A-9AFFF8FE74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5348288"/>
                        <a:ext cx="460533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B84488-3613-122F-5942-2F3AB744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>
            <a:extLst>
              <a:ext uri="{FF2B5EF4-FFF2-40B4-BE49-F238E27FC236}">
                <a16:creationId xmlns:a16="http://schemas.microsoft.com/office/drawing/2014/main" id="{361E46A5-1F3E-F105-4FB8-4B00795990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Chapter 3: Data Preprocessing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1C68F037-A0E6-B2CC-BF5F-119119AB0B41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05000" y="1371600"/>
            <a:ext cx="82296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Preprocessing: An Overview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Data Quality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Major Tasks in Data Preprocessing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Cleaning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Integration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Reduction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Transformation and Data Discretization</a:t>
            </a:r>
          </a:p>
        </p:txBody>
      </p:sp>
      <p:sp>
        <p:nvSpPr>
          <p:cNvPr id="26630" name="AutoShape 4">
            <a:extLst>
              <a:ext uri="{FF2B5EF4-FFF2-40B4-BE49-F238E27FC236}">
                <a16:creationId xmlns:a16="http://schemas.microsoft.com/office/drawing/2014/main" id="{036FBF39-E537-73FB-8AFE-2AF36684E96A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4572000" y="4495801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472797-52A6-8D63-699B-84C7ADAE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1E708192-3591-D483-D113-B112E5D530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228600"/>
            <a:ext cx="62484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Data Reduction Strategies</a:t>
            </a:r>
            <a:endParaRPr lang="en-US" altLang="en-US"/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2405641-8D88-D9BD-49EE-1589A9289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610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b="1"/>
              <a:t>Data reduction</a:t>
            </a:r>
            <a:r>
              <a:rPr lang="en-US" altLang="en-US" sz="2000"/>
              <a:t>: Obtain a reduced representation of the data set that is much smaller in volume but yet produces the same (or almost the same) analytical results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Why data reduction? </a:t>
            </a:r>
            <a:r>
              <a:rPr lang="en-US" altLang="en-US" sz="2000">
                <a:cs typeface="Tahoma" panose="020B0604030504040204" pitchFamily="34" charset="0"/>
              </a:rPr>
              <a:t>— </a:t>
            </a:r>
            <a:r>
              <a:rPr lang="en-US" altLang="en-US" sz="2000"/>
              <a:t>A database/data warehouse may store terabytes of data.  Complex data analysis may take a very long time to run on the complete data set.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Data reduction strategies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Dimensionality reduction</a:t>
            </a:r>
            <a:r>
              <a:rPr lang="en-US" altLang="en-US" sz="2000">
                <a:solidFill>
                  <a:schemeClr val="folHlink"/>
                </a:solidFill>
              </a:rPr>
              <a:t>, </a:t>
            </a:r>
            <a:r>
              <a:rPr lang="en-US" altLang="en-US" sz="2000"/>
              <a:t>e.g.,</a:t>
            </a:r>
            <a:r>
              <a:rPr lang="en-US" altLang="en-US" sz="2000">
                <a:solidFill>
                  <a:schemeClr val="folHlink"/>
                </a:solidFill>
              </a:rPr>
              <a:t> </a:t>
            </a:r>
            <a:r>
              <a:rPr lang="en-US" altLang="en-US" sz="2000"/>
              <a:t>remove unimportant attributes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</a:rPr>
              <a:t>Wavelet transforms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</a:rPr>
              <a:t>Principal Components Analysis (PCA)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</a:rPr>
              <a:t>Feature subset selection, feature creation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Numerosity reduction</a:t>
            </a:r>
            <a:r>
              <a:rPr lang="en-US" altLang="en-US" sz="2000">
                <a:solidFill>
                  <a:schemeClr val="folHlink"/>
                </a:solidFill>
              </a:rPr>
              <a:t> (some simply call it: Data Reduction)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</a:rPr>
              <a:t>Regression and Log-Linear Models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</a:rPr>
              <a:t>Histograms, clustering, sampling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</a:rPr>
              <a:t>Data cube aggregation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solidFill>
                  <a:schemeClr val="hlink"/>
                </a:solidFill>
              </a:rPr>
              <a:t>Data compression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53F827-E1E7-AFC3-B1B6-4A60218E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68D70024-AC3B-7E36-01B9-EA156E7D92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09600"/>
            <a:ext cx="92202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Data Reduction 1: Dimensionality Reduction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919EAB8-4AD3-1C6C-798A-04A06F1ED4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295400"/>
            <a:ext cx="8534400" cy="5181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b="1"/>
              <a:t>Curse of dimensionality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When dimensionality increases, data becomes increasingly sparse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Density and distance between points, which is critical to clustering, outlier analysis, becomes less meaningful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The possible combinations of subspaces will grow exponentially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b="1"/>
              <a:t>Dimensionality reduction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Avoid the curse of dimensionality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Help eliminate irrelevant features and reduce noise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Reduce time and space required in data mining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Allow easier visualization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b="1"/>
              <a:t>Dimensionality reduction techniques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Wavelet transforms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Principal Component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Supervised and nonlinear techniques (e.g., feature selection)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5AE6CD-88BF-A1EC-55DB-4B5CE16B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CDCFDF33-A87E-726F-8CDE-0BE5B472BF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304800"/>
            <a:ext cx="85852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Mapping Data to a New Space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A449C52-D98C-98E0-044C-DC94E309A5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70050" y="990600"/>
            <a:ext cx="8394700" cy="50292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285750" indent="-285750" algn="just">
              <a:lnSpc>
                <a:spcPct val="95000"/>
              </a:lnSpc>
              <a:tabLst>
                <a:tab pos="1198563" algn="l"/>
              </a:tabLst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tabLst>
                <a:tab pos="1198563" algn="l"/>
              </a:tabLst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7DFBF808-AA5E-6FBF-80EA-E90CA9AE8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2F8C84B5-2E21-002F-38F2-57774B3E4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pic>
        <p:nvPicPr>
          <p:cNvPr id="29703" name="Picture 6">
            <a:extLst>
              <a:ext uri="{FF2B5EF4-FFF2-40B4-BE49-F238E27FC236}">
                <a16:creationId xmlns:a16="http://schemas.microsoft.com/office/drawing/2014/main" id="{D5C28B0C-1BB0-B1C7-5F2B-467CCE9CF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93"/>
          <a:stretch>
            <a:fillRect/>
          </a:stretch>
        </p:blipFill>
        <p:spPr bwMode="auto">
          <a:xfrm>
            <a:off x="7315200" y="2362201"/>
            <a:ext cx="3352800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4" name="Picture 7">
            <a:extLst>
              <a:ext uri="{FF2B5EF4-FFF2-40B4-BE49-F238E27FC236}">
                <a16:creationId xmlns:a16="http://schemas.microsoft.com/office/drawing/2014/main" id="{E2452B4B-AE42-F5BD-B229-B3A69613E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3"/>
          <a:stretch>
            <a:fillRect/>
          </a:stretch>
        </p:blipFill>
        <p:spPr bwMode="auto">
          <a:xfrm>
            <a:off x="1524001" y="2362201"/>
            <a:ext cx="3427413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5" name="Picture 8">
            <a:extLst>
              <a:ext uri="{FF2B5EF4-FFF2-40B4-BE49-F238E27FC236}">
                <a16:creationId xmlns:a16="http://schemas.microsoft.com/office/drawing/2014/main" id="{8AB0CBE4-6A8F-D129-AE95-66B8C9861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" r="6209"/>
          <a:stretch>
            <a:fillRect/>
          </a:stretch>
        </p:blipFill>
        <p:spPr bwMode="auto">
          <a:xfrm>
            <a:off x="4572000" y="2362201"/>
            <a:ext cx="3124200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6" name="Text Box 9">
            <a:extLst>
              <a:ext uri="{FF2B5EF4-FFF2-40B4-BE49-F238E27FC236}">
                <a16:creationId xmlns:a16="http://schemas.microsoft.com/office/drawing/2014/main" id="{90462E41-64E7-CE59-18F5-85EC5CD7E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4102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latin typeface="Arial" panose="020B0604020202020204" pitchFamily="34" charset="0"/>
              </a:rPr>
              <a:t>Two Sine Waves</a:t>
            </a:r>
          </a:p>
        </p:txBody>
      </p:sp>
      <p:sp>
        <p:nvSpPr>
          <p:cNvPr id="29707" name="Text Box 10">
            <a:extLst>
              <a:ext uri="{FF2B5EF4-FFF2-40B4-BE49-F238E27FC236}">
                <a16:creationId xmlns:a16="http://schemas.microsoft.com/office/drawing/2014/main" id="{2685BA14-99FB-55CD-DBDF-8A00242D3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486400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latin typeface="Arial" panose="020B0604020202020204" pitchFamily="34" charset="0"/>
              </a:rPr>
              <a:t>Two Sine Waves + Noise</a:t>
            </a:r>
          </a:p>
        </p:txBody>
      </p:sp>
      <p:sp>
        <p:nvSpPr>
          <p:cNvPr id="29708" name="Text Box 11">
            <a:extLst>
              <a:ext uri="{FF2B5EF4-FFF2-40B4-BE49-F238E27FC236}">
                <a16:creationId xmlns:a16="http://schemas.microsoft.com/office/drawing/2014/main" id="{BD6FA34A-73DD-0275-D4F8-6FF91C837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5486400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1">
                <a:latin typeface="Arial" panose="020B0604020202020204" pitchFamily="34" charset="0"/>
              </a:rPr>
              <a:t>Frequency</a:t>
            </a:r>
          </a:p>
        </p:txBody>
      </p:sp>
      <p:sp>
        <p:nvSpPr>
          <p:cNvPr id="29709" name="Rectangle 12">
            <a:extLst>
              <a:ext uri="{FF2B5EF4-FFF2-40B4-BE49-F238E27FC236}">
                <a16:creationId xmlns:a16="http://schemas.microsoft.com/office/drawing/2014/main" id="{D5E84374-FE56-D749-4E46-EBCFF8C1F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450" y="1143000"/>
            <a:ext cx="83947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85750" indent="-285750" eaLnBrk="0" hangingPunct="0"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985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>
              <a:lnSpc>
                <a:spcPct val="9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800" b="1">
                <a:cs typeface="Tahoma" panose="020B0604030504040204" pitchFamily="34" charset="0"/>
              </a:rPr>
              <a:t>Fourier transform</a:t>
            </a:r>
          </a:p>
          <a:p>
            <a:pPr algn="just" eaLnBrk="1" hangingPunct="1">
              <a:lnSpc>
                <a:spcPct val="9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2800" b="1">
                <a:cs typeface="Tahoma" panose="020B0604030504040204" pitchFamily="34" charset="0"/>
              </a:rPr>
              <a:t>Wavelet transform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37D8C7-CBC9-4A85-F750-84432EAF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A4CDC430-4AE8-C837-C957-FC62069A1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89916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Data Reduction 2: Numerosity Reduction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F395A3E-5F58-C7A7-6BD0-7489A84BBFE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18288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400"/>
              <a:t>Reduce data volume by choosing alternative, </a:t>
            </a:r>
            <a:r>
              <a:rPr lang="en-US" altLang="en-US" sz="2400" i="1"/>
              <a:t>smaller forms</a:t>
            </a:r>
            <a:r>
              <a:rPr lang="en-US" altLang="en-US" sz="2400"/>
              <a:t> of data representation</a:t>
            </a:r>
          </a:p>
          <a:p>
            <a:pPr eaLnBrk="1" hangingPunct="1"/>
            <a:r>
              <a:rPr lang="en-US" altLang="en-US" sz="2400" b="1"/>
              <a:t>Parametric methods</a:t>
            </a:r>
            <a:r>
              <a:rPr lang="en-US" altLang="en-US" sz="2400"/>
              <a:t> (e.g., regression)</a:t>
            </a:r>
          </a:p>
          <a:p>
            <a:pPr lvl="1" eaLnBrk="1" hangingPunct="1"/>
            <a:r>
              <a:rPr lang="en-US" altLang="en-US"/>
              <a:t>Assume the data fits some model, estimate model parameters, store only the parameters, and discard the data (except possible outliers)</a:t>
            </a:r>
            <a:endParaRPr lang="en-US" altLang="en-US">
              <a:sym typeface="Symbol" pitchFamily="2" charset="2"/>
            </a:endParaRPr>
          </a:p>
          <a:p>
            <a:pPr lvl="1" eaLnBrk="1" hangingPunct="1"/>
            <a:r>
              <a:rPr lang="en-US" altLang="en-US"/>
              <a:t>Ex.: Log-linear models—obtain value at a point in </a:t>
            </a:r>
            <a:r>
              <a:rPr lang="en-US" altLang="en-US" i="1"/>
              <a:t>m</a:t>
            </a:r>
            <a:r>
              <a:rPr lang="en-US" altLang="en-US"/>
              <a:t>-D space as the product on appropriate marginal subspaces </a:t>
            </a:r>
          </a:p>
          <a:p>
            <a:pPr eaLnBrk="1" hangingPunct="1"/>
            <a:r>
              <a:rPr lang="en-US" altLang="en-US" sz="2400" b="1"/>
              <a:t>Non-parametric</a:t>
            </a:r>
            <a:r>
              <a:rPr lang="en-US" altLang="en-US" sz="2400"/>
              <a:t> methods</a:t>
            </a:r>
            <a:r>
              <a:rPr lang="en-US" altLang="en-US" sz="2400">
                <a:sym typeface="Symbol" pitchFamily="2" charset="2"/>
              </a:rPr>
              <a:t> </a:t>
            </a:r>
          </a:p>
          <a:p>
            <a:pPr lvl="1" eaLnBrk="1" hangingPunct="1"/>
            <a:r>
              <a:rPr lang="en-US" altLang="en-US">
                <a:sym typeface="Symbol" pitchFamily="2" charset="2"/>
              </a:rPr>
              <a:t>Do not assume models</a:t>
            </a:r>
          </a:p>
          <a:p>
            <a:pPr lvl="1" eaLnBrk="1" hangingPunct="1"/>
            <a:r>
              <a:rPr lang="en-US" altLang="en-US">
                <a:sym typeface="Symbol" pitchFamily="2" charset="2"/>
              </a:rPr>
              <a:t>Major families: histograms, clustering, sampling, …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E985B7-6F32-6A11-5ED0-587C6C20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1026">
            <a:extLst>
              <a:ext uri="{FF2B5EF4-FFF2-40B4-BE49-F238E27FC236}">
                <a16:creationId xmlns:a16="http://schemas.microsoft.com/office/drawing/2014/main" id="{B47039C7-E1D6-68B1-C32F-58D9F0E12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170981"/>
                </a:solidFill>
              </a:rPr>
              <a:t>Parametric Data Reduction: Regression and Log-Linear Models</a:t>
            </a:r>
          </a:p>
        </p:txBody>
      </p:sp>
      <p:sp>
        <p:nvSpPr>
          <p:cNvPr id="41988" name="Rectangle 1027">
            <a:extLst>
              <a:ext uri="{FF2B5EF4-FFF2-40B4-BE49-F238E27FC236}">
                <a16:creationId xmlns:a16="http://schemas.microsoft.com/office/drawing/2014/main" id="{CA02B696-68F3-1DA6-5C5B-0829A94BE4F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1981200" y="1373188"/>
            <a:ext cx="8229600" cy="5084762"/>
          </a:xfrm>
        </p:spPr>
        <p:txBody>
          <a:bodyPr/>
          <a:lstStyle/>
          <a:p>
            <a:pPr eaLnBrk="1" hangingPunct="1"/>
            <a:r>
              <a:rPr lang="en-US" altLang="en-US" sz="2400" b="1"/>
              <a:t>Linear regression</a:t>
            </a:r>
            <a:endParaRPr lang="en-US" altLang="en-US" sz="2400"/>
          </a:p>
          <a:p>
            <a:pPr lvl="1" eaLnBrk="1" hangingPunct="1"/>
            <a:r>
              <a:rPr lang="en-US" altLang="en-US"/>
              <a:t>Data modeled to fit a straight line</a:t>
            </a:r>
          </a:p>
          <a:p>
            <a:pPr lvl="1" eaLnBrk="1" hangingPunct="1"/>
            <a:r>
              <a:rPr lang="en-US" altLang="en-US"/>
              <a:t>Often uses the least-square method to fit the line</a:t>
            </a:r>
          </a:p>
          <a:p>
            <a:pPr eaLnBrk="1" hangingPunct="1"/>
            <a:r>
              <a:rPr lang="en-US" altLang="en-US" sz="2400" b="1">
                <a:sym typeface="Symbol" pitchFamily="2" charset="2"/>
              </a:rPr>
              <a:t>Multiple regression</a:t>
            </a:r>
            <a:endParaRPr lang="en-US" altLang="en-US" sz="2400">
              <a:sym typeface="Symbol" pitchFamily="2" charset="2"/>
            </a:endParaRPr>
          </a:p>
          <a:p>
            <a:pPr lvl="1" eaLnBrk="1" hangingPunct="1"/>
            <a:r>
              <a:rPr lang="en-US" altLang="en-US">
                <a:sym typeface="Symbol" pitchFamily="2" charset="2"/>
              </a:rPr>
              <a:t>Allows a response variable Y to be modeled as a linear function of multidimensional feature vector</a:t>
            </a:r>
          </a:p>
          <a:p>
            <a:pPr eaLnBrk="1" hangingPunct="1"/>
            <a:r>
              <a:rPr lang="en-US" altLang="en-US" sz="2400" b="1">
                <a:sym typeface="Symbol" pitchFamily="2" charset="2"/>
              </a:rPr>
              <a:t>Log-linear model</a:t>
            </a:r>
            <a:endParaRPr lang="en-US" altLang="en-US" sz="2400">
              <a:sym typeface="Symbol" pitchFamily="2" charset="2"/>
            </a:endParaRPr>
          </a:p>
          <a:p>
            <a:pPr lvl="1" eaLnBrk="1" hangingPunct="1"/>
            <a:r>
              <a:rPr lang="en-US" altLang="en-US">
                <a:sym typeface="Symbol" pitchFamily="2" charset="2"/>
              </a:rPr>
              <a:t>Approximates discrete multidimensional probability distributions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350118-F715-93C4-225B-32383B73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B54F39A6-EADC-293E-5510-C41A0C20F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04800"/>
            <a:ext cx="6248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Regression Analysis</a:t>
            </a:r>
          </a:p>
        </p:txBody>
      </p:sp>
      <p:sp>
        <p:nvSpPr>
          <p:cNvPr id="43012" name="Rectangle 28">
            <a:extLst>
              <a:ext uri="{FF2B5EF4-FFF2-40B4-BE49-F238E27FC236}">
                <a16:creationId xmlns:a16="http://schemas.microsoft.com/office/drawing/2014/main" id="{FBA960BB-82C5-EDCB-A31A-F3784D9630E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5410200" cy="51816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000"/>
              <a:t>Regression analysis:</a:t>
            </a:r>
            <a:r>
              <a:rPr lang="en-US" altLang="en-US" sz="2000" b="1"/>
              <a:t> </a:t>
            </a:r>
            <a:r>
              <a:rPr lang="en-US" altLang="en-US" sz="2000"/>
              <a:t>A collective name for techniques for the modeling and analysis of numerical data consisting of values of a </a:t>
            </a:r>
            <a:r>
              <a:rPr lang="en-US" altLang="en-US" sz="2000" b="1" i="1"/>
              <a:t>dependent variable</a:t>
            </a:r>
            <a:r>
              <a:rPr lang="en-US" altLang="en-US" sz="2000" b="1"/>
              <a:t> </a:t>
            </a:r>
            <a:r>
              <a:rPr lang="en-US" altLang="en-US" sz="2000"/>
              <a:t>(also called </a:t>
            </a:r>
            <a:r>
              <a:rPr lang="en-US" altLang="en-US" sz="2000" b="1" i="1"/>
              <a:t>response variable</a:t>
            </a:r>
            <a:r>
              <a:rPr lang="en-US" altLang="en-US" sz="2000" b="1"/>
              <a:t> </a:t>
            </a:r>
            <a:r>
              <a:rPr lang="en-US" altLang="en-US" sz="2000"/>
              <a:t>or </a:t>
            </a:r>
            <a:r>
              <a:rPr lang="en-US" altLang="en-US" sz="2000" i="1"/>
              <a:t>measurement</a:t>
            </a:r>
            <a:r>
              <a:rPr lang="en-US" altLang="en-US" sz="2000"/>
              <a:t>) and of one or more </a:t>
            </a:r>
            <a:r>
              <a:rPr lang="en-US" altLang="en-US" sz="2000" i="1"/>
              <a:t>independent variables</a:t>
            </a:r>
            <a:r>
              <a:rPr lang="en-US" altLang="en-US" sz="2000"/>
              <a:t> (aka. </a:t>
            </a:r>
            <a:r>
              <a:rPr lang="en-US" altLang="en-US" sz="2000" b="1" i="1"/>
              <a:t>explanatory variables</a:t>
            </a:r>
            <a:r>
              <a:rPr lang="en-US" altLang="en-US" sz="2000" b="1"/>
              <a:t> </a:t>
            </a:r>
            <a:r>
              <a:rPr lang="en-US" altLang="en-US" sz="2000"/>
              <a:t>or </a:t>
            </a:r>
            <a:r>
              <a:rPr lang="en-US" altLang="en-US" sz="2000" b="1" i="1"/>
              <a:t>predictors</a:t>
            </a:r>
            <a:r>
              <a:rPr lang="en-US" altLang="en-US" sz="2000"/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The parameters are estimated so as to give a "</a:t>
            </a:r>
            <a:r>
              <a:rPr lang="en-US" altLang="en-US" sz="2000" b="1"/>
              <a:t>best fit</a:t>
            </a:r>
            <a:r>
              <a:rPr lang="en-US" altLang="en-US" sz="2000"/>
              <a:t>" of the data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Most commonly the best fit is evaluated by using the </a:t>
            </a:r>
            <a:r>
              <a:rPr lang="en-US" altLang="en-US" sz="2000" b="1" i="1"/>
              <a:t>least squares method</a:t>
            </a:r>
            <a:r>
              <a:rPr lang="en-US" altLang="en-US" sz="2000"/>
              <a:t>, but other criteria have also been used</a:t>
            </a:r>
          </a:p>
        </p:txBody>
      </p:sp>
      <p:sp>
        <p:nvSpPr>
          <p:cNvPr id="43013" name="Rectangle 31">
            <a:extLst>
              <a:ext uri="{FF2B5EF4-FFF2-40B4-BE49-F238E27FC236}">
                <a16:creationId xmlns:a16="http://schemas.microsoft.com/office/drawing/2014/main" id="{44675AEF-6D9E-0FEC-B971-06FD0228A52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7010400" y="3886200"/>
            <a:ext cx="3810000" cy="2286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Used for prediction (including forecasting of time-series data), inference, hypothesis testing, and modeling of causal relationships</a:t>
            </a:r>
            <a:endParaRPr lang="en-US" altLang="en-US" sz="2400"/>
          </a:p>
        </p:txBody>
      </p:sp>
      <p:sp>
        <p:nvSpPr>
          <p:cNvPr id="43014" name="Text Box 20">
            <a:extLst>
              <a:ext uri="{FF2B5EF4-FFF2-40B4-BE49-F238E27FC236}">
                <a16:creationId xmlns:a16="http://schemas.microsoft.com/office/drawing/2014/main" id="{25F07FCF-3721-6DC9-12D8-9C6C41F68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y</a:t>
            </a:r>
          </a:p>
        </p:txBody>
      </p:sp>
      <p:grpSp>
        <p:nvGrpSpPr>
          <p:cNvPr id="43015" name="Group 30">
            <a:extLst>
              <a:ext uri="{FF2B5EF4-FFF2-40B4-BE49-F238E27FC236}">
                <a16:creationId xmlns:a16="http://schemas.microsoft.com/office/drawing/2014/main" id="{62B0212C-0559-1C51-E9D4-F22F5BD15499}"/>
              </a:ext>
            </a:extLst>
          </p:cNvPr>
          <p:cNvGrpSpPr>
            <a:grpSpLocks/>
          </p:cNvGrpSpPr>
          <p:nvPr/>
        </p:nvGrpSpPr>
        <p:grpSpPr bwMode="auto">
          <a:xfrm>
            <a:off x="7010401" y="254000"/>
            <a:ext cx="3363913" cy="3175000"/>
            <a:chOff x="3456" y="64"/>
            <a:chExt cx="2119" cy="2000"/>
          </a:xfrm>
        </p:grpSpPr>
        <p:sp>
          <p:nvSpPr>
            <p:cNvPr id="43016" name="Line 3">
              <a:extLst>
                <a:ext uri="{FF2B5EF4-FFF2-40B4-BE49-F238E27FC236}">
                  <a16:creationId xmlns:a16="http://schemas.microsoft.com/office/drawing/2014/main" id="{5231291F-57C6-CF78-179E-7F1F46A6CF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776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7" name="Line 4">
              <a:extLst>
                <a:ext uri="{FF2B5EF4-FFF2-40B4-BE49-F238E27FC236}">
                  <a16:creationId xmlns:a16="http://schemas.microsoft.com/office/drawing/2014/main" id="{C655DCA2-3BFA-A8CA-57AB-BDCE13C24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64"/>
              <a:ext cx="1" cy="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8" name="Oval 5">
              <a:extLst>
                <a:ext uri="{FF2B5EF4-FFF2-40B4-BE49-F238E27FC236}">
                  <a16:creationId xmlns:a16="http://schemas.microsoft.com/office/drawing/2014/main" id="{60C9BAB6-1949-D758-5691-42D3B86AAE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22" y="1116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19" name="Oval 6">
              <a:extLst>
                <a:ext uri="{FF2B5EF4-FFF2-40B4-BE49-F238E27FC236}">
                  <a16:creationId xmlns:a16="http://schemas.microsoft.com/office/drawing/2014/main" id="{4D3B62C9-955F-519B-C09E-C3D02100FE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259" y="1182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0" name="Oval 7">
              <a:extLst>
                <a:ext uri="{FF2B5EF4-FFF2-40B4-BE49-F238E27FC236}">
                  <a16:creationId xmlns:a16="http://schemas.microsoft.com/office/drawing/2014/main" id="{DA4BAC36-4D6C-0539-4DCA-D7D26782E1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149" y="600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1" name="Oval 8">
              <a:extLst>
                <a:ext uri="{FF2B5EF4-FFF2-40B4-BE49-F238E27FC236}">
                  <a16:creationId xmlns:a16="http://schemas.microsoft.com/office/drawing/2014/main" id="{F8E2968A-5117-0D92-A4CF-EEAE4DF0400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039" y="1477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2" name="Oval 9">
              <a:extLst>
                <a:ext uri="{FF2B5EF4-FFF2-40B4-BE49-F238E27FC236}">
                  <a16:creationId xmlns:a16="http://schemas.microsoft.com/office/drawing/2014/main" id="{E33F8963-045F-D073-6A5B-EC213DC529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88" y="894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3" name="Oval 10">
              <a:extLst>
                <a:ext uri="{FF2B5EF4-FFF2-40B4-BE49-F238E27FC236}">
                  <a16:creationId xmlns:a16="http://schemas.microsoft.com/office/drawing/2014/main" id="{9B3E723F-60F4-890E-84F7-4801A8E44A9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715" y="722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4" name="Oval 11">
              <a:extLst>
                <a:ext uri="{FF2B5EF4-FFF2-40B4-BE49-F238E27FC236}">
                  <a16:creationId xmlns:a16="http://schemas.microsoft.com/office/drawing/2014/main" id="{6C531C54-7A16-B772-6039-BCFDB44237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813" y="1538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5" name="Oval 12">
              <a:extLst>
                <a:ext uri="{FF2B5EF4-FFF2-40B4-BE49-F238E27FC236}">
                  <a16:creationId xmlns:a16="http://schemas.microsoft.com/office/drawing/2014/main" id="{E93F5832-1B93-8F97-5872-780A58284B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917" y="719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6" name="Oval 13">
              <a:extLst>
                <a:ext uri="{FF2B5EF4-FFF2-40B4-BE49-F238E27FC236}">
                  <a16:creationId xmlns:a16="http://schemas.microsoft.com/office/drawing/2014/main" id="{E3383162-995B-9109-A962-1470C4691C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930" y="568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7" name="Oval 14">
              <a:extLst>
                <a:ext uri="{FF2B5EF4-FFF2-40B4-BE49-F238E27FC236}">
                  <a16:creationId xmlns:a16="http://schemas.microsoft.com/office/drawing/2014/main" id="{FD40D724-6D00-65A6-5497-FB5433580B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191" y="551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8" name="Oval 15">
              <a:extLst>
                <a:ext uri="{FF2B5EF4-FFF2-40B4-BE49-F238E27FC236}">
                  <a16:creationId xmlns:a16="http://schemas.microsoft.com/office/drawing/2014/main" id="{88875293-1CCB-9C12-3946-0FAAC4266A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785" y="1706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29" name="Oval 16">
              <a:extLst>
                <a:ext uri="{FF2B5EF4-FFF2-40B4-BE49-F238E27FC236}">
                  <a16:creationId xmlns:a16="http://schemas.microsoft.com/office/drawing/2014/main" id="{0C2B5206-C3DC-08E9-3CB5-9F9B029B8D2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178" y="393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30" name="Oval 17">
              <a:extLst>
                <a:ext uri="{FF2B5EF4-FFF2-40B4-BE49-F238E27FC236}">
                  <a16:creationId xmlns:a16="http://schemas.microsoft.com/office/drawing/2014/main" id="{C39BF5D8-A476-F5F4-249E-D99E9369C1E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386" y="314"/>
              <a:ext cx="27" cy="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31" name="Line 18">
              <a:extLst>
                <a:ext uri="{FF2B5EF4-FFF2-40B4-BE49-F238E27FC236}">
                  <a16:creationId xmlns:a16="http://schemas.microsoft.com/office/drawing/2014/main" id="{DC24E838-CC55-CA95-96E9-CA11F1440F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8" y="259"/>
              <a:ext cx="1831" cy="143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2" name="Text Box 19">
              <a:extLst>
                <a:ext uri="{FF2B5EF4-FFF2-40B4-BE49-F238E27FC236}">
                  <a16:creationId xmlns:a16="http://schemas.microsoft.com/office/drawing/2014/main" id="{2E9B5927-1DB8-CC6D-6E65-759FD1B88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72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3033" name="Text Box 21">
              <a:extLst>
                <a:ext uri="{FF2B5EF4-FFF2-40B4-BE49-F238E27FC236}">
                  <a16:creationId xmlns:a16="http://schemas.microsoft.com/office/drawing/2014/main" id="{A7D7ED12-4B43-B72B-5F52-343EC6D03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3" y="1063"/>
              <a:ext cx="8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>
                  <a:latin typeface="Times New Roman" panose="02020603050405020304" pitchFamily="18" charset="0"/>
                </a:rPr>
                <a:t>y = x + 1</a:t>
              </a:r>
            </a:p>
          </p:txBody>
        </p:sp>
        <p:sp>
          <p:nvSpPr>
            <p:cNvPr id="43034" name="Line 22">
              <a:extLst>
                <a:ext uri="{FF2B5EF4-FFF2-40B4-BE49-F238E27FC236}">
                  <a16:creationId xmlns:a16="http://schemas.microsoft.com/office/drawing/2014/main" id="{13F79902-F736-5974-5F85-B4E21A1F0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3" y="609"/>
              <a:ext cx="0" cy="1203"/>
            </a:xfrm>
            <a:prstGeom prst="line">
              <a:avLst/>
            </a:prstGeom>
            <a:noFill/>
            <a:ln w="9525">
              <a:solidFill>
                <a:srgbClr val="0066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5" name="Line 23">
              <a:extLst>
                <a:ext uri="{FF2B5EF4-FFF2-40B4-BE49-F238E27FC236}">
                  <a16:creationId xmlns:a16="http://schemas.microsoft.com/office/drawing/2014/main" id="{75A18915-0E12-0D56-10C1-8092571C93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9" y="619"/>
              <a:ext cx="504" cy="0"/>
            </a:xfrm>
            <a:prstGeom prst="line">
              <a:avLst/>
            </a:prstGeom>
            <a:noFill/>
            <a:ln w="9525">
              <a:solidFill>
                <a:srgbClr val="0066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6" name="Line 24">
              <a:extLst>
                <a:ext uri="{FF2B5EF4-FFF2-40B4-BE49-F238E27FC236}">
                  <a16:creationId xmlns:a16="http://schemas.microsoft.com/office/drawing/2014/main" id="{4FE1FC69-660B-CFB2-48C8-343A7D18C0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9" y="1256"/>
              <a:ext cx="514" cy="0"/>
            </a:xfrm>
            <a:prstGeom prst="line">
              <a:avLst/>
            </a:prstGeom>
            <a:noFill/>
            <a:ln w="9525">
              <a:solidFill>
                <a:srgbClr val="0066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7" name="Text Box 25">
              <a:extLst>
                <a:ext uri="{FF2B5EF4-FFF2-40B4-BE49-F238E27FC236}">
                  <a16:creationId xmlns:a16="http://schemas.microsoft.com/office/drawing/2014/main" id="{6EAA44B5-436A-828A-C033-0072503A7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5" y="1814"/>
              <a:ext cx="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X1</a:t>
              </a:r>
            </a:p>
          </p:txBody>
        </p:sp>
        <p:sp>
          <p:nvSpPr>
            <p:cNvPr id="43038" name="Text Box 26">
              <a:extLst>
                <a:ext uri="{FF2B5EF4-FFF2-40B4-BE49-F238E27FC236}">
                  <a16:creationId xmlns:a16="http://schemas.microsoft.com/office/drawing/2014/main" id="{AA4DD7C2-30ED-BF6E-0023-AD43024C5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432"/>
              <a:ext cx="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Y1</a:t>
              </a:r>
            </a:p>
          </p:txBody>
        </p:sp>
        <p:sp>
          <p:nvSpPr>
            <p:cNvPr id="43039" name="Text Box 27">
              <a:extLst>
                <a:ext uri="{FF2B5EF4-FFF2-40B4-BE49-F238E27FC236}">
                  <a16:creationId xmlns:a16="http://schemas.microsoft.com/office/drawing/2014/main" id="{A54692D4-87CF-8164-E7A4-88B5AFF7A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" y="1008"/>
              <a:ext cx="3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Y1’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C13032-EDEB-18E1-9A72-9D53606A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E59A5345-7C5F-3C27-7099-B5B0DB514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295400"/>
            <a:ext cx="8534400" cy="5257800"/>
          </a:xfrm>
          <a:noFill/>
        </p:spPr>
        <p:txBody>
          <a:bodyPr vert="horz" lIns="92075" tIns="46038" rIns="92075" bIns="46038" rtlCol="0"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u="sng"/>
              <a:t>Linear regression</a:t>
            </a:r>
            <a:r>
              <a:rPr lang="en-US" altLang="en-US" sz="2000"/>
              <a:t>: </a:t>
            </a:r>
            <a:r>
              <a:rPr lang="en-US" altLang="en-US" sz="2000" i="1"/>
              <a:t>Y = </a:t>
            </a:r>
            <a:r>
              <a:rPr lang="en-US" altLang="en-US" sz="2000" i="1">
                <a:sym typeface="Symbol" pitchFamily="2" charset="2"/>
              </a:rPr>
              <a:t>w X + b</a:t>
            </a:r>
            <a:endParaRPr lang="en-US" altLang="en-US" sz="2000" i="1"/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Two regression coefficients, </a:t>
            </a:r>
            <a:r>
              <a:rPr lang="en-US" altLang="en-US" sz="2000" i="1">
                <a:sym typeface="Symbol" pitchFamily="2" charset="2"/>
              </a:rPr>
              <a:t>w</a:t>
            </a:r>
            <a:r>
              <a:rPr lang="en-US" altLang="en-US" sz="2000">
                <a:sym typeface="Symbol" pitchFamily="2" charset="2"/>
              </a:rPr>
              <a:t> and </a:t>
            </a:r>
            <a:r>
              <a:rPr lang="en-US" altLang="en-US" sz="2000" i="1">
                <a:sym typeface="Symbol" pitchFamily="2" charset="2"/>
              </a:rPr>
              <a:t>b,</a:t>
            </a:r>
            <a:r>
              <a:rPr lang="en-US" altLang="en-US" sz="2000"/>
              <a:t> specify the line and are to be estimated by using the data at hand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Using the least squares criterion to the known values of </a:t>
            </a:r>
            <a:r>
              <a:rPr lang="en-US" altLang="en-US" sz="2000" i="1"/>
              <a:t>Y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, Y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, …, X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, X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, ….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u="sng"/>
              <a:t>Multiple regression</a:t>
            </a:r>
            <a:r>
              <a:rPr lang="en-US" altLang="en-US" sz="2000"/>
              <a:t>: </a:t>
            </a:r>
            <a:r>
              <a:rPr lang="en-US" altLang="en-US" sz="2000" i="1"/>
              <a:t>Y = b</a:t>
            </a:r>
            <a:r>
              <a:rPr lang="en-US" altLang="en-US" sz="2000" i="1" baseline="-25000"/>
              <a:t>0</a:t>
            </a:r>
            <a:r>
              <a:rPr lang="en-US" altLang="en-US" sz="2000" i="1"/>
              <a:t> + b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X</a:t>
            </a:r>
            <a:r>
              <a:rPr lang="en-US" altLang="en-US" sz="2000" i="1" baseline="-25000"/>
              <a:t>1</a:t>
            </a:r>
            <a:r>
              <a:rPr lang="en-US" altLang="en-US" sz="2000" i="1"/>
              <a:t> + b</a:t>
            </a:r>
            <a:r>
              <a:rPr lang="en-US" altLang="en-US" sz="2000" i="1" baseline="-25000"/>
              <a:t>2</a:t>
            </a:r>
            <a:r>
              <a:rPr lang="en-US" altLang="en-US" sz="2000" i="1"/>
              <a:t> X</a:t>
            </a:r>
            <a:r>
              <a:rPr lang="en-US" altLang="en-US" sz="2000" i="1" baseline="-25000"/>
              <a:t>2</a:t>
            </a:r>
            <a:endParaRPr lang="en-US" altLang="en-US" sz="2000" i="1"/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Many nonlinear functions can be transformed into the above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u="sng"/>
              <a:t>Log-linear models</a:t>
            </a:r>
            <a:r>
              <a:rPr lang="en-US" altLang="en-US" sz="2000"/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Approximate discrete multidimensional probability distributions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Estimate the probability of each point (tuple) in a multi-dimensional space for a set of discretized attributes, based on a smaller subset of dimensional combinations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Useful for dimensionality reduction and data smoothing</a:t>
            </a:r>
            <a:endParaRPr lang="en-US" altLang="en-US" sz="2000" i="1" baseline="-25000"/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5A34CF4-178D-ED10-BDE6-5E186491E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458200" cy="8382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 eaLnBrk="1" hangingPunct="1"/>
            <a:r>
              <a:rPr lang="en-US" altLang="en-US"/>
              <a:t>Regress Analysis and Log-Linear Models</a:t>
            </a:r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CC8970-C950-3D3D-3762-0EDB2303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AB2F236E-09F6-E6AD-DD70-AEEF01555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7924800" cy="8382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Histogram Analysis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8C984833-D38E-738D-DABA-48A9FCF080C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1524000" y="1371600"/>
            <a:ext cx="4648200" cy="4191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Divide data into buckets and store average (sum) for each bucket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Partitioning rules: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Equal-width: equal bucket range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Equal-frequency (or equal-depth)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/>
          </a:p>
        </p:txBody>
      </p:sp>
      <p:graphicFrame>
        <p:nvGraphicFramePr>
          <p:cNvPr id="45061" name="Object 4">
            <a:extLst>
              <a:ext uri="{FF2B5EF4-FFF2-40B4-BE49-F238E27FC236}">
                <a16:creationId xmlns:a16="http://schemas.microsoft.com/office/drawing/2014/main" id="{7FB45A06-1A09-2859-B9DA-3FD3ADD7CDAE}"/>
              </a:ext>
            </a:extLst>
          </p:cNvPr>
          <p:cNvGraphicFramePr>
            <a:graphicFrameLocks/>
          </p:cNvGraphicFramePr>
          <p:nvPr/>
        </p:nvGraphicFramePr>
        <p:xfrm>
          <a:off x="5486400" y="1295400"/>
          <a:ext cx="6477000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899400" imgH="3835400" progId="MSGraph.Chart.8">
                  <p:embed followColorScheme="full"/>
                </p:oleObj>
              </mc:Choice>
              <mc:Fallback>
                <p:oleObj name="Chart" r:id="rId3" imgW="7899400" imgH="3835400" progId="MSGraph.Chart.8">
                  <p:embed followColorScheme="full"/>
                  <p:pic>
                    <p:nvPicPr>
                      <p:cNvPr id="45061" name="Object 4">
                        <a:extLst>
                          <a:ext uri="{FF2B5EF4-FFF2-40B4-BE49-F238E27FC236}">
                            <a16:creationId xmlns:a16="http://schemas.microsoft.com/office/drawing/2014/main" id="{7FB45A06-1A09-2859-B9DA-3FD3ADD7CD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295400"/>
                        <a:ext cx="6477000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6B0A51-CFCD-63FB-ACCE-AC6F95E2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2F147BDE-82AE-69A1-0EAC-7EBF0966D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Clustering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8B6145D-20EE-F0CE-0BCC-C4E02045B57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1905000" y="1371600"/>
            <a:ext cx="82296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Partition data set into clusters based on similarity, and store cluster representation (e.g., centroid and diameter) only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Can be very effective if data is clustered but not if data is “smeared”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Can have hierarchical clustering and be stored in multi-dimensional index tree structures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There are many choices of clustering definitions and clustering algorithms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Cluster analysis will be studied in depth in Chapter 10</a:t>
            </a:r>
            <a:endParaRPr lang="en-US" altLang="en-US" sz="2400">
              <a:sym typeface="Symbol" pitchFamily="2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E8133B-F193-A1DA-7333-9BCA861D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80CF3E4F-0B5E-E8AC-009D-E06C44F79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9525000" cy="762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Sampling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4DBD25E-E4D6-5C99-F0B5-E71E0C26F37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1905000" y="1371600"/>
            <a:ext cx="8458200" cy="5181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Sampling: obtaining a small sample </a:t>
            </a:r>
            <a:r>
              <a:rPr lang="en-US" altLang="en-US" sz="2400" i="1"/>
              <a:t>s</a:t>
            </a:r>
            <a:r>
              <a:rPr lang="en-US" altLang="en-US" sz="2400"/>
              <a:t> to represent the whole data set </a:t>
            </a:r>
            <a:r>
              <a:rPr lang="en-US" altLang="en-US" sz="2400" i="1"/>
              <a:t>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Allow a mining algorithm to run in complexity that is potentially sub-linear to the size of the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Key principle: Choose a </a:t>
            </a:r>
            <a:r>
              <a:rPr lang="en-US" altLang="en-US" sz="2400">
                <a:solidFill>
                  <a:schemeClr val="hlink"/>
                </a:solidFill>
              </a:rPr>
              <a:t>representative</a:t>
            </a:r>
            <a:r>
              <a:rPr lang="en-US" altLang="en-US" sz="2400"/>
              <a:t> subset of the data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Simple random sampling may have very poor performance in the presence of skew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Develop adaptive sampling methods, e.g., stratified sampling: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Note: Sampling may not reduce database I/Os (page at a time)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3A3DEB-01AC-AC19-98DE-88C9BF42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DD0B9FC4-4A8B-3032-5BF5-050AFADE4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9525000" cy="762000"/>
          </a:xfrm>
        </p:spPr>
        <p:txBody>
          <a:bodyPr/>
          <a:lstStyle/>
          <a:p>
            <a:pPr eaLnBrk="1" hangingPunct="1"/>
            <a:r>
              <a:rPr lang="en-US" altLang="en-US"/>
              <a:t>Types of Sampling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269884C-3CE5-EAD5-64B3-5DDD162DA3C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1828800" y="1447800"/>
            <a:ext cx="8534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Simple random sampling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There is an equal probability of selecting any particular item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Sampling without replacement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Once an object is selected, it is removed from the population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Sampling with replacement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 selected object is not removed from the population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Stratified sampling: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Partition the data set, and draw samples from each partition (proportionally, i.e., approximately the same percentage of the data)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Used in conjunction with skewed data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1B212E-1797-5E6B-6A07-D9A0C2D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2">
            <a:extLst>
              <a:ext uri="{FF2B5EF4-FFF2-40B4-BE49-F238E27FC236}">
                <a16:creationId xmlns:a16="http://schemas.microsoft.com/office/drawing/2014/main" id="{E3FE4E86-39F1-52A9-0050-E3E194257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81000"/>
            <a:ext cx="861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3200" b="1">
                <a:solidFill>
                  <a:schemeClr val="tx2"/>
                </a:solidFill>
              </a:rPr>
              <a:t>Sampling: With or without Replacement</a:t>
            </a:r>
          </a:p>
        </p:txBody>
      </p:sp>
      <p:sp>
        <p:nvSpPr>
          <p:cNvPr id="49156" name="Text Box 3">
            <a:extLst>
              <a:ext uri="{FF2B5EF4-FFF2-40B4-BE49-F238E27FC236}">
                <a16:creationId xmlns:a16="http://schemas.microsoft.com/office/drawing/2014/main" id="{705D24A1-A236-0B23-5A2C-76F4B576733D}"/>
              </a:ext>
            </a:extLst>
          </p:cNvPr>
          <p:cNvSpPr txBox="1">
            <a:spLocks noChangeArrowheads="1"/>
          </p:cNvSpPr>
          <p:nvPr/>
        </p:nvSpPr>
        <p:spPr bwMode="auto">
          <a:xfrm rot="20586437">
            <a:off x="5247676" y="2810858"/>
            <a:ext cx="222528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SRSWOR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(simple random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 sample without </a:t>
            </a:r>
          </a:p>
          <a:p>
            <a:r>
              <a:rPr lang="en-US" altLang="en-US">
                <a:latin typeface="Times New Roman" panose="02020603050405020304" pitchFamily="18" charset="0"/>
              </a:rPr>
              <a:t>replacement)</a:t>
            </a:r>
          </a:p>
        </p:txBody>
      </p:sp>
      <p:grpSp>
        <p:nvGrpSpPr>
          <p:cNvPr id="49157" name="Group 4">
            <a:extLst>
              <a:ext uri="{FF2B5EF4-FFF2-40B4-BE49-F238E27FC236}">
                <a16:creationId xmlns:a16="http://schemas.microsoft.com/office/drawing/2014/main" id="{C0FCFC24-6211-EA58-9E24-1CDBCBD0903F}"/>
              </a:ext>
            </a:extLst>
          </p:cNvPr>
          <p:cNvGrpSpPr>
            <a:grpSpLocks/>
          </p:cNvGrpSpPr>
          <p:nvPr/>
        </p:nvGrpSpPr>
        <p:grpSpPr bwMode="auto">
          <a:xfrm>
            <a:off x="7219950" y="1771650"/>
            <a:ext cx="2438400" cy="1676400"/>
            <a:chOff x="3588" y="1116"/>
            <a:chExt cx="1536" cy="1056"/>
          </a:xfrm>
        </p:grpSpPr>
        <p:sp>
          <p:nvSpPr>
            <p:cNvPr id="49178" name="AutoShape 5">
              <a:extLst>
                <a:ext uri="{FF2B5EF4-FFF2-40B4-BE49-F238E27FC236}">
                  <a16:creationId xmlns:a16="http://schemas.microsoft.com/office/drawing/2014/main" id="{F51A0B66-E437-D83B-FF12-B654797BB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116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9" name="Oval 6">
              <a:extLst>
                <a:ext uri="{FF2B5EF4-FFF2-40B4-BE49-F238E27FC236}">
                  <a16:creationId xmlns:a16="http://schemas.microsoft.com/office/drawing/2014/main" id="{7FCB9BF4-6D47-B20B-FB7E-A5B6A35CA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2" y="1788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80" name="Oval 7">
              <a:extLst>
                <a:ext uri="{FF2B5EF4-FFF2-40B4-BE49-F238E27FC236}">
                  <a16:creationId xmlns:a16="http://schemas.microsoft.com/office/drawing/2014/main" id="{96C23776-751C-7C77-4219-23EAE2551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632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81" name="Oval 8">
              <a:extLst>
                <a:ext uri="{FF2B5EF4-FFF2-40B4-BE49-F238E27FC236}">
                  <a16:creationId xmlns:a16="http://schemas.microsoft.com/office/drawing/2014/main" id="{F848FC44-C1C6-CCB0-4644-731B78F75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1668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49158" name="Text Box 9">
            <a:extLst>
              <a:ext uri="{FF2B5EF4-FFF2-40B4-BE49-F238E27FC236}">
                <a16:creationId xmlns:a16="http://schemas.microsoft.com/office/drawing/2014/main" id="{9921AE2A-CBCD-3BE9-07C9-D95D4A250A76}"/>
              </a:ext>
            </a:extLst>
          </p:cNvPr>
          <p:cNvSpPr txBox="1">
            <a:spLocks noChangeArrowheads="1"/>
          </p:cNvSpPr>
          <p:nvPr/>
        </p:nvSpPr>
        <p:spPr bwMode="auto">
          <a:xfrm rot="848056">
            <a:off x="5486401" y="5105400"/>
            <a:ext cx="1217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SRSWR</a:t>
            </a:r>
          </a:p>
        </p:txBody>
      </p:sp>
      <p:grpSp>
        <p:nvGrpSpPr>
          <p:cNvPr id="49159" name="Group 10">
            <a:extLst>
              <a:ext uri="{FF2B5EF4-FFF2-40B4-BE49-F238E27FC236}">
                <a16:creationId xmlns:a16="http://schemas.microsoft.com/office/drawing/2014/main" id="{BA2AF896-A112-51BD-0939-E65C3583F278}"/>
              </a:ext>
            </a:extLst>
          </p:cNvPr>
          <p:cNvGrpSpPr>
            <a:grpSpLocks/>
          </p:cNvGrpSpPr>
          <p:nvPr/>
        </p:nvGrpSpPr>
        <p:grpSpPr bwMode="auto">
          <a:xfrm>
            <a:off x="7296150" y="4457700"/>
            <a:ext cx="2438400" cy="1676400"/>
            <a:chOff x="3636" y="2808"/>
            <a:chExt cx="1536" cy="1056"/>
          </a:xfrm>
        </p:grpSpPr>
        <p:sp>
          <p:nvSpPr>
            <p:cNvPr id="49174" name="AutoShape 11">
              <a:extLst>
                <a:ext uri="{FF2B5EF4-FFF2-40B4-BE49-F238E27FC236}">
                  <a16:creationId xmlns:a16="http://schemas.microsoft.com/office/drawing/2014/main" id="{D5D769C0-DD01-A96A-E921-2A096A7D0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808"/>
              <a:ext cx="1536" cy="1056"/>
            </a:xfrm>
            <a:prstGeom prst="can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5" name="Oval 12">
              <a:extLst>
                <a:ext uri="{FF2B5EF4-FFF2-40B4-BE49-F238E27FC236}">
                  <a16:creationId xmlns:a16="http://schemas.microsoft.com/office/drawing/2014/main" id="{7821703A-3B7F-AD46-AFE8-C4C5FCCCF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372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6" name="Oval 13">
              <a:extLst>
                <a:ext uri="{FF2B5EF4-FFF2-40B4-BE49-F238E27FC236}">
                  <a16:creationId xmlns:a16="http://schemas.microsoft.com/office/drawing/2014/main" id="{29F75AC1-C3DD-7BC6-5F00-6ECFF8797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3480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7" name="Oval 14">
              <a:extLst>
                <a:ext uri="{FF2B5EF4-FFF2-40B4-BE49-F238E27FC236}">
                  <a16:creationId xmlns:a16="http://schemas.microsoft.com/office/drawing/2014/main" id="{3C446D1F-B4D9-6396-7F7E-C8D9F12F6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288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9160" name="Group 15">
            <a:extLst>
              <a:ext uri="{FF2B5EF4-FFF2-40B4-BE49-F238E27FC236}">
                <a16:creationId xmlns:a16="http://schemas.microsoft.com/office/drawing/2014/main" id="{F9E231D2-A6FC-2C59-C29A-0CB0188E2A38}"/>
              </a:ext>
            </a:extLst>
          </p:cNvPr>
          <p:cNvGrpSpPr>
            <a:grpSpLocks/>
          </p:cNvGrpSpPr>
          <p:nvPr/>
        </p:nvGrpSpPr>
        <p:grpSpPr bwMode="auto">
          <a:xfrm>
            <a:off x="2400300" y="1905001"/>
            <a:ext cx="2724150" cy="4556125"/>
            <a:chOff x="564" y="1284"/>
            <a:chExt cx="1716" cy="2870"/>
          </a:xfrm>
        </p:grpSpPr>
        <p:sp>
          <p:nvSpPr>
            <p:cNvPr id="49163" name="AutoShape 16">
              <a:extLst>
                <a:ext uri="{FF2B5EF4-FFF2-40B4-BE49-F238E27FC236}">
                  <a16:creationId xmlns:a16="http://schemas.microsoft.com/office/drawing/2014/main" id="{61C0BDD2-B7C8-BF49-E938-6ECF0E49F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1284"/>
              <a:ext cx="1716" cy="2616"/>
            </a:xfrm>
            <a:prstGeom prst="can">
              <a:avLst>
                <a:gd name="adj" fmla="val 381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64" name="Oval 17">
              <a:extLst>
                <a:ext uri="{FF2B5EF4-FFF2-40B4-BE49-F238E27FC236}">
                  <a16:creationId xmlns:a16="http://schemas.microsoft.com/office/drawing/2014/main" id="{5BD2BC17-E64C-7E78-8D6A-B8D703847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336"/>
              <a:ext cx="516" cy="396"/>
            </a:xfrm>
            <a:prstGeom prst="ellipse">
              <a:avLst/>
            </a:prstGeom>
            <a:solidFill>
              <a:srgbClr val="FAE2F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65" name="Oval 18">
              <a:extLst>
                <a:ext uri="{FF2B5EF4-FFF2-40B4-BE49-F238E27FC236}">
                  <a16:creationId xmlns:a16="http://schemas.microsoft.com/office/drawing/2014/main" id="{5E1FC211-7A0E-E17F-17F3-E38554424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" y="2916"/>
              <a:ext cx="540" cy="360"/>
            </a:xfrm>
            <a:prstGeom prst="ellipse">
              <a:avLst/>
            </a:prstGeom>
            <a:solidFill>
              <a:srgbClr val="006666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66" name="Oval 19">
              <a:extLst>
                <a:ext uri="{FF2B5EF4-FFF2-40B4-BE49-F238E27FC236}">
                  <a16:creationId xmlns:a16="http://schemas.microsoft.com/office/drawing/2014/main" id="{D9EBC0E6-B445-344D-91A9-FFA175905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" y="3468"/>
              <a:ext cx="564" cy="396"/>
            </a:xfrm>
            <a:prstGeom prst="ellipse">
              <a:avLst/>
            </a:prstGeom>
            <a:solidFill>
              <a:srgbClr val="12132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67" name="Oval 20">
              <a:extLst>
                <a:ext uri="{FF2B5EF4-FFF2-40B4-BE49-F238E27FC236}">
                  <a16:creationId xmlns:a16="http://schemas.microsoft.com/office/drawing/2014/main" id="{51ACE8A2-EC7B-1FCF-2BAD-B5779FF05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4" y="3240"/>
              <a:ext cx="492" cy="3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68" name="Oval 21">
              <a:extLst>
                <a:ext uri="{FF2B5EF4-FFF2-40B4-BE49-F238E27FC236}">
                  <a16:creationId xmlns:a16="http://schemas.microsoft.com/office/drawing/2014/main" id="{FE9F74D7-2254-D5CC-1E42-FB827E899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" y="3084"/>
              <a:ext cx="468" cy="372"/>
            </a:xfrm>
            <a:prstGeom prst="ellipse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69" name="Oval 22">
              <a:extLst>
                <a:ext uri="{FF2B5EF4-FFF2-40B4-BE49-F238E27FC236}">
                  <a16:creationId xmlns:a16="http://schemas.microsoft.com/office/drawing/2014/main" id="{2FD41BB2-5097-6A1B-DEFD-B58F84E8A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08"/>
              <a:ext cx="540" cy="36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0" name="Oval 23">
              <a:extLst>
                <a:ext uri="{FF2B5EF4-FFF2-40B4-BE49-F238E27FC236}">
                  <a16:creationId xmlns:a16="http://schemas.microsoft.com/office/drawing/2014/main" id="{200D4766-F28E-CEBC-B27C-52505E202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2664"/>
              <a:ext cx="540" cy="36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1" name="Oval 24">
              <a:extLst>
                <a:ext uri="{FF2B5EF4-FFF2-40B4-BE49-F238E27FC236}">
                  <a16:creationId xmlns:a16="http://schemas.microsoft.com/office/drawing/2014/main" id="{3EE2B202-E94E-57D6-1702-995CEA281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" y="2556"/>
              <a:ext cx="540" cy="3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2" name="Oval 25">
              <a:extLst>
                <a:ext uri="{FF2B5EF4-FFF2-40B4-BE49-F238E27FC236}">
                  <a16:creationId xmlns:a16="http://schemas.microsoft.com/office/drawing/2014/main" id="{6F89129A-D6F7-9165-A4F3-16A303A06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2424"/>
              <a:ext cx="540" cy="360"/>
            </a:xfrm>
            <a:prstGeom prst="ellipse">
              <a:avLst/>
            </a:prstGeom>
            <a:solidFill>
              <a:srgbClr val="423E78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173" name="Text Box 26">
              <a:extLst>
                <a:ext uri="{FF2B5EF4-FFF2-40B4-BE49-F238E27FC236}">
                  <a16:creationId xmlns:a16="http://schemas.microsoft.com/office/drawing/2014/main" id="{9D62D670-3F42-DF4D-1726-EA6BABB3C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3866"/>
              <a:ext cx="8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>
                  <a:latin typeface="Times New Roman" panose="02020603050405020304" pitchFamily="18" charset="0"/>
                </a:rPr>
                <a:t>Raw Data</a:t>
              </a:r>
            </a:p>
          </p:txBody>
        </p:sp>
      </p:grpSp>
      <p:sp>
        <p:nvSpPr>
          <p:cNvPr id="49161" name="Line 27">
            <a:extLst>
              <a:ext uri="{FF2B5EF4-FFF2-40B4-BE49-F238E27FC236}">
                <a16:creationId xmlns:a16="http://schemas.microsoft.com/office/drawing/2014/main" id="{10CCCD8D-7FFD-4F98-0820-A91F58CCE9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2971800"/>
            <a:ext cx="165735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2" name="Line 28">
            <a:extLst>
              <a:ext uri="{FF2B5EF4-FFF2-40B4-BE49-F238E27FC236}">
                <a16:creationId xmlns:a16="http://schemas.microsoft.com/office/drawing/2014/main" id="{B530FE8C-D677-A549-58B9-7D1E84189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3050" y="4895850"/>
            <a:ext cx="179070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835434-687C-6187-2616-0C9E1C04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>
            <a:extLst>
              <a:ext uri="{FF2B5EF4-FFF2-40B4-BE49-F238E27FC236}">
                <a16:creationId xmlns:a16="http://schemas.microsoft.com/office/drawing/2014/main" id="{C1CE3725-56E7-57B9-A510-64B3123CD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86868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Sampling: Cluster or Stratified Sampling</a:t>
            </a:r>
          </a:p>
        </p:txBody>
      </p:sp>
      <p:grpSp>
        <p:nvGrpSpPr>
          <p:cNvPr id="50180" name="Group 3">
            <a:extLst>
              <a:ext uri="{FF2B5EF4-FFF2-40B4-BE49-F238E27FC236}">
                <a16:creationId xmlns:a16="http://schemas.microsoft.com/office/drawing/2014/main" id="{FB069A73-4E4E-CCC5-8FF8-3B1E9B728EEA}"/>
              </a:ext>
            </a:extLst>
          </p:cNvPr>
          <p:cNvGrpSpPr>
            <a:grpSpLocks/>
          </p:cNvGrpSpPr>
          <p:nvPr/>
        </p:nvGrpSpPr>
        <p:grpSpPr bwMode="auto">
          <a:xfrm>
            <a:off x="2044701" y="2698750"/>
            <a:ext cx="3751263" cy="3348038"/>
            <a:chOff x="274" y="1418"/>
            <a:chExt cx="2363" cy="2109"/>
          </a:xfrm>
        </p:grpSpPr>
        <p:sp>
          <p:nvSpPr>
            <p:cNvPr id="50201" name="Rectangle 4">
              <a:extLst>
                <a:ext uri="{FF2B5EF4-FFF2-40B4-BE49-F238E27FC236}">
                  <a16:creationId xmlns:a16="http://schemas.microsoft.com/office/drawing/2014/main" id="{60974567-3F7D-FA6A-218B-B34010DB2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" y="1418"/>
              <a:ext cx="2363" cy="210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2" name="AutoShape 5">
              <a:extLst>
                <a:ext uri="{FF2B5EF4-FFF2-40B4-BE49-F238E27FC236}">
                  <a16:creationId xmlns:a16="http://schemas.microsoft.com/office/drawing/2014/main" id="{2AAD6CA8-BE28-36F5-A89B-E19B8FF9E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1993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3" name="AutoShape 6">
              <a:extLst>
                <a:ext uri="{FF2B5EF4-FFF2-40B4-BE49-F238E27FC236}">
                  <a16:creationId xmlns:a16="http://schemas.microsoft.com/office/drawing/2014/main" id="{287F6326-8344-41CF-7D95-8F59F4137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6" y="2316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4" name="AutoShape 7">
              <a:extLst>
                <a:ext uri="{FF2B5EF4-FFF2-40B4-BE49-F238E27FC236}">
                  <a16:creationId xmlns:a16="http://schemas.microsoft.com/office/drawing/2014/main" id="{2BBBD616-1058-DFF4-BA49-807604B0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213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5" name="AutoShape 8">
              <a:extLst>
                <a:ext uri="{FF2B5EF4-FFF2-40B4-BE49-F238E27FC236}">
                  <a16:creationId xmlns:a16="http://schemas.microsoft.com/office/drawing/2014/main" id="{1FD141F1-D3F0-E7B4-796B-72BF41A6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0" y="2168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6" name="AutoShape 9">
              <a:extLst>
                <a:ext uri="{FF2B5EF4-FFF2-40B4-BE49-F238E27FC236}">
                  <a16:creationId xmlns:a16="http://schemas.microsoft.com/office/drawing/2014/main" id="{66045ABA-72EA-DF9B-4D0D-3D2631172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219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7" name="AutoShape 10">
              <a:extLst>
                <a:ext uri="{FF2B5EF4-FFF2-40B4-BE49-F238E27FC236}">
                  <a16:creationId xmlns:a16="http://schemas.microsoft.com/office/drawing/2014/main" id="{8C0C4A16-9C23-354D-846F-8E01F1AFB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354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8" name="AutoShape 11">
              <a:extLst>
                <a:ext uri="{FF2B5EF4-FFF2-40B4-BE49-F238E27FC236}">
                  <a16:creationId xmlns:a16="http://schemas.microsoft.com/office/drawing/2014/main" id="{6676817F-EA77-87D8-D831-793AA33F9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" y="2393"/>
              <a:ext cx="57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9" name="AutoShape 12">
              <a:extLst>
                <a:ext uri="{FF2B5EF4-FFF2-40B4-BE49-F238E27FC236}">
                  <a16:creationId xmlns:a16="http://schemas.microsoft.com/office/drawing/2014/main" id="{A6C9408B-0A61-7F7B-07F6-7434A552D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" y="1845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0" name="Freeform 13">
              <a:extLst>
                <a:ext uri="{FF2B5EF4-FFF2-40B4-BE49-F238E27FC236}">
                  <a16:creationId xmlns:a16="http://schemas.microsoft.com/office/drawing/2014/main" id="{243C92E7-F70B-9A10-D0BD-83B854A2F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1763"/>
              <a:ext cx="686" cy="877"/>
            </a:xfrm>
            <a:custGeom>
              <a:avLst/>
              <a:gdLst>
                <a:gd name="T0" fmla="*/ 61 w 1101"/>
                <a:gd name="T1" fmla="*/ 86 h 1077"/>
                <a:gd name="T2" fmla="*/ 63 w 1101"/>
                <a:gd name="T3" fmla="*/ 141 h 1077"/>
                <a:gd name="T4" fmla="*/ 59 w 1101"/>
                <a:gd name="T5" fmla="*/ 271 h 1077"/>
                <a:gd name="T6" fmla="*/ 55 w 1101"/>
                <a:gd name="T7" fmla="*/ 304 h 1077"/>
                <a:gd name="T8" fmla="*/ 50 w 1101"/>
                <a:gd name="T9" fmla="*/ 314 h 1077"/>
                <a:gd name="T10" fmla="*/ 35 w 1101"/>
                <a:gd name="T11" fmla="*/ 304 h 1077"/>
                <a:gd name="T12" fmla="*/ 29 w 1101"/>
                <a:gd name="T13" fmla="*/ 290 h 1077"/>
                <a:gd name="T14" fmla="*/ 27 w 1101"/>
                <a:gd name="T15" fmla="*/ 287 h 1077"/>
                <a:gd name="T16" fmla="*/ 19 w 1101"/>
                <a:gd name="T17" fmla="*/ 256 h 1077"/>
                <a:gd name="T18" fmla="*/ 14 w 1101"/>
                <a:gd name="T19" fmla="*/ 234 h 1077"/>
                <a:gd name="T20" fmla="*/ 6 w 1101"/>
                <a:gd name="T21" fmla="*/ 200 h 1077"/>
                <a:gd name="T22" fmla="*/ 1 w 1101"/>
                <a:gd name="T23" fmla="*/ 131 h 1077"/>
                <a:gd name="T24" fmla="*/ 1 w 1101"/>
                <a:gd name="T25" fmla="*/ 37 h 1077"/>
                <a:gd name="T26" fmla="*/ 11 w 1101"/>
                <a:gd name="T27" fmla="*/ 6 h 1077"/>
                <a:gd name="T28" fmla="*/ 13 w 1101"/>
                <a:gd name="T29" fmla="*/ 4 h 1077"/>
                <a:gd name="T30" fmla="*/ 25 w 1101"/>
                <a:gd name="T31" fmla="*/ 9 h 1077"/>
                <a:gd name="T32" fmla="*/ 34 w 1101"/>
                <a:gd name="T33" fmla="*/ 30 h 1077"/>
                <a:gd name="T34" fmla="*/ 40 w 1101"/>
                <a:gd name="T35" fmla="*/ 51 h 1077"/>
                <a:gd name="T36" fmla="*/ 45 w 1101"/>
                <a:gd name="T37" fmla="*/ 59 h 1077"/>
                <a:gd name="T38" fmla="*/ 61 w 1101"/>
                <a:gd name="T39" fmla="*/ 86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1"/>
                <a:gd name="T61" fmla="*/ 0 h 1077"/>
                <a:gd name="T62" fmla="*/ 1101 w 1101"/>
                <a:gd name="T63" fmla="*/ 1077 h 107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1" name="AutoShape 14">
              <a:extLst>
                <a:ext uri="{FF2B5EF4-FFF2-40B4-BE49-F238E27FC236}">
                  <a16:creationId xmlns:a16="http://schemas.microsoft.com/office/drawing/2014/main" id="{C73CD24C-44CC-AA93-0A2F-B9020F1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58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2" name="AutoShape 15">
              <a:extLst>
                <a:ext uri="{FF2B5EF4-FFF2-40B4-BE49-F238E27FC236}">
                  <a16:creationId xmlns:a16="http://schemas.microsoft.com/office/drawing/2014/main" id="{7C9B5CE0-27D8-104D-A3F5-B95286CC3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1" y="2647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3" name="AutoShape 16">
              <a:extLst>
                <a:ext uri="{FF2B5EF4-FFF2-40B4-BE49-F238E27FC236}">
                  <a16:creationId xmlns:a16="http://schemas.microsoft.com/office/drawing/2014/main" id="{625F999D-787A-749F-4940-7D206FF6C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903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4" name="AutoShape 17">
              <a:extLst>
                <a:ext uri="{FF2B5EF4-FFF2-40B4-BE49-F238E27FC236}">
                  <a16:creationId xmlns:a16="http://schemas.microsoft.com/office/drawing/2014/main" id="{60DB8069-A9BA-F2C4-1D67-F8C8D4299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795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5" name="AutoShape 18">
              <a:extLst>
                <a:ext uri="{FF2B5EF4-FFF2-40B4-BE49-F238E27FC236}">
                  <a16:creationId xmlns:a16="http://schemas.microsoft.com/office/drawing/2014/main" id="{4B38AAAC-4253-2523-1C08-66413E77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" y="275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6" name="AutoShape 19">
              <a:extLst>
                <a:ext uri="{FF2B5EF4-FFF2-40B4-BE49-F238E27FC236}">
                  <a16:creationId xmlns:a16="http://schemas.microsoft.com/office/drawing/2014/main" id="{B989A380-5454-E557-C4A4-DE5BD913F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" y="2875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7" name="AutoShape 20">
              <a:extLst>
                <a:ext uri="{FF2B5EF4-FFF2-40B4-BE49-F238E27FC236}">
                  <a16:creationId xmlns:a16="http://schemas.microsoft.com/office/drawing/2014/main" id="{82814ADA-354A-E626-0FBC-7C8040EE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" y="250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8" name="AutoShape 21">
              <a:extLst>
                <a:ext uri="{FF2B5EF4-FFF2-40B4-BE49-F238E27FC236}">
                  <a16:creationId xmlns:a16="http://schemas.microsoft.com/office/drawing/2014/main" id="{B9CB7641-E9CA-FA30-E5A3-88F4EDA8D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628"/>
              <a:ext cx="56" cy="74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19" name="AutoShape 22">
              <a:extLst>
                <a:ext uri="{FF2B5EF4-FFF2-40B4-BE49-F238E27FC236}">
                  <a16:creationId xmlns:a16="http://schemas.microsoft.com/office/drawing/2014/main" id="{EC073FA7-814C-375F-302A-AA258FFB2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288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20" name="Freeform 23">
              <a:extLst>
                <a:ext uri="{FF2B5EF4-FFF2-40B4-BE49-F238E27FC236}">
                  <a16:creationId xmlns:a16="http://schemas.microsoft.com/office/drawing/2014/main" id="{00B732AE-22AB-9B02-AFEE-FE3B14F4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2373"/>
              <a:ext cx="573" cy="785"/>
            </a:xfrm>
            <a:custGeom>
              <a:avLst/>
              <a:gdLst>
                <a:gd name="T0" fmla="*/ 14 w 918"/>
                <a:gd name="T1" fmla="*/ 237 h 965"/>
                <a:gd name="T2" fmla="*/ 11 w 918"/>
                <a:gd name="T3" fmla="*/ 226 h 965"/>
                <a:gd name="T4" fmla="*/ 7 w 918"/>
                <a:gd name="T5" fmla="*/ 214 h 965"/>
                <a:gd name="T6" fmla="*/ 4 w 918"/>
                <a:gd name="T7" fmla="*/ 203 h 965"/>
                <a:gd name="T8" fmla="*/ 2 w 918"/>
                <a:gd name="T9" fmla="*/ 187 h 965"/>
                <a:gd name="T10" fmla="*/ 0 w 918"/>
                <a:gd name="T11" fmla="*/ 134 h 965"/>
                <a:gd name="T12" fmla="*/ 1 w 918"/>
                <a:gd name="T13" fmla="*/ 59 h 965"/>
                <a:gd name="T14" fmla="*/ 4 w 918"/>
                <a:gd name="T15" fmla="*/ 39 h 965"/>
                <a:gd name="T16" fmla="*/ 17 w 918"/>
                <a:gd name="T17" fmla="*/ 0 h 965"/>
                <a:gd name="T18" fmla="*/ 23 w 918"/>
                <a:gd name="T19" fmla="*/ 6 h 965"/>
                <a:gd name="T20" fmla="*/ 29 w 918"/>
                <a:gd name="T21" fmla="*/ 16 h 965"/>
                <a:gd name="T22" fmla="*/ 41 w 918"/>
                <a:gd name="T23" fmla="*/ 48 h 965"/>
                <a:gd name="T24" fmla="*/ 42 w 918"/>
                <a:gd name="T25" fmla="*/ 63 h 965"/>
                <a:gd name="T26" fmla="*/ 44 w 918"/>
                <a:gd name="T27" fmla="*/ 72 h 965"/>
                <a:gd name="T28" fmla="*/ 48 w 918"/>
                <a:gd name="T29" fmla="*/ 100 h 965"/>
                <a:gd name="T30" fmla="*/ 50 w 918"/>
                <a:gd name="T31" fmla="*/ 123 h 965"/>
                <a:gd name="T32" fmla="*/ 51 w 918"/>
                <a:gd name="T33" fmla="*/ 150 h 965"/>
                <a:gd name="T34" fmla="*/ 52 w 918"/>
                <a:gd name="T35" fmla="*/ 177 h 965"/>
                <a:gd name="T36" fmla="*/ 54 w 918"/>
                <a:gd name="T37" fmla="*/ 224 h 965"/>
                <a:gd name="T38" fmla="*/ 49 w 918"/>
                <a:gd name="T39" fmla="*/ 268 h 965"/>
                <a:gd name="T40" fmla="*/ 45 w 918"/>
                <a:gd name="T41" fmla="*/ 274 h 965"/>
                <a:gd name="T42" fmla="*/ 42 w 918"/>
                <a:gd name="T43" fmla="*/ 277 h 965"/>
                <a:gd name="T44" fmla="*/ 21 w 918"/>
                <a:gd name="T45" fmla="*/ 272 h 965"/>
                <a:gd name="T46" fmla="*/ 14 w 918"/>
                <a:gd name="T47" fmla="*/ 250 h 965"/>
                <a:gd name="T48" fmla="*/ 14 w 918"/>
                <a:gd name="T49" fmla="*/ 237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918"/>
                <a:gd name="T76" fmla="*/ 0 h 965"/>
                <a:gd name="T77" fmla="*/ 918 w 918"/>
                <a:gd name="T78" fmla="*/ 965 h 96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0221" name="Group 24">
              <a:extLst>
                <a:ext uri="{FF2B5EF4-FFF2-40B4-BE49-F238E27FC236}">
                  <a16:creationId xmlns:a16="http://schemas.microsoft.com/office/drawing/2014/main" id="{0CB7CE64-4FF8-1079-FE1B-277C78CFD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" y="1796"/>
              <a:ext cx="542" cy="954"/>
              <a:chOff x="551" y="1796"/>
              <a:chExt cx="542" cy="954"/>
            </a:xfrm>
          </p:grpSpPr>
          <p:sp>
            <p:nvSpPr>
              <p:cNvPr id="50222" name="AutoShape 25">
                <a:extLst>
                  <a:ext uri="{FF2B5EF4-FFF2-40B4-BE49-F238E27FC236}">
                    <a16:creationId xmlns:a16="http://schemas.microsoft.com/office/drawing/2014/main" id="{A74828AE-A455-2D50-FE8F-C1B6061FD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7" y="24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23" name="AutoShape 26">
                <a:extLst>
                  <a:ext uri="{FF2B5EF4-FFF2-40B4-BE49-F238E27FC236}">
                    <a16:creationId xmlns:a16="http://schemas.microsoft.com/office/drawing/2014/main" id="{4DFF6A5B-C620-A1BE-1D3E-ACBE5D90E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" y="23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24" name="AutoShape 27">
                <a:extLst>
                  <a:ext uri="{FF2B5EF4-FFF2-40B4-BE49-F238E27FC236}">
                    <a16:creationId xmlns:a16="http://schemas.microsoft.com/office/drawing/2014/main" id="{91A0BBA7-E14A-1C4F-3767-027547F64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8" y="2405"/>
                <a:ext cx="56" cy="74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25" name="AutoShape 28">
                <a:extLst>
                  <a:ext uri="{FF2B5EF4-FFF2-40B4-BE49-F238E27FC236}">
                    <a16:creationId xmlns:a16="http://schemas.microsoft.com/office/drawing/2014/main" id="{E0D13E5B-9FAE-9177-E6E4-F97B21ECF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3" y="2230"/>
                <a:ext cx="57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26" name="AutoShape 29">
                <a:extLst>
                  <a:ext uri="{FF2B5EF4-FFF2-40B4-BE49-F238E27FC236}">
                    <a16:creationId xmlns:a16="http://schemas.microsoft.com/office/drawing/2014/main" id="{624E6175-2B06-7FDA-D922-2A9848DF9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08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27" name="AutoShape 30">
                <a:extLst>
                  <a:ext uri="{FF2B5EF4-FFF2-40B4-BE49-F238E27FC236}">
                    <a16:creationId xmlns:a16="http://schemas.microsoft.com/office/drawing/2014/main" id="{573D24D8-52AA-18DE-198C-DD4C45F53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" y="2268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28" name="AutoShape 31">
                <a:extLst>
                  <a:ext uri="{FF2B5EF4-FFF2-40B4-BE49-F238E27FC236}">
                    <a16:creationId xmlns:a16="http://schemas.microsoft.com/office/drawing/2014/main" id="{6D82010A-102A-4A3C-DC9D-7C8F66992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7" y="2566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29" name="AutoShape 32">
                <a:extLst>
                  <a:ext uri="{FF2B5EF4-FFF2-40B4-BE49-F238E27FC236}">
                    <a16:creationId xmlns:a16="http://schemas.microsoft.com/office/drawing/2014/main" id="{9F2A39C4-9580-6A1F-9F58-EA35A48AB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2260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30" name="AutoShape 33">
                <a:extLst>
                  <a:ext uri="{FF2B5EF4-FFF2-40B4-BE49-F238E27FC236}">
                    <a16:creationId xmlns:a16="http://schemas.microsoft.com/office/drawing/2014/main" id="{BD333738-6F38-F0A9-B078-CC4AAA856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2092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31" name="AutoShape 34">
                <a:extLst>
                  <a:ext uri="{FF2B5EF4-FFF2-40B4-BE49-F238E27FC236}">
                    <a16:creationId xmlns:a16="http://schemas.microsoft.com/office/drawing/2014/main" id="{C02D5405-1763-BC86-B622-D0F8E6580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" y="1945"/>
                <a:ext cx="56" cy="75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0232" name="Freeform 35">
                <a:extLst>
                  <a:ext uri="{FF2B5EF4-FFF2-40B4-BE49-F238E27FC236}">
                    <a16:creationId xmlns:a16="http://schemas.microsoft.com/office/drawing/2014/main" id="{93D40D18-4258-209A-5E61-87767E131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" y="1796"/>
                <a:ext cx="542" cy="954"/>
              </a:xfrm>
              <a:custGeom>
                <a:avLst/>
                <a:gdLst>
                  <a:gd name="T0" fmla="*/ 44 w 869"/>
                  <a:gd name="T1" fmla="*/ 229 h 1173"/>
                  <a:gd name="T2" fmla="*/ 41 w 869"/>
                  <a:gd name="T3" fmla="*/ 273 h 1173"/>
                  <a:gd name="T4" fmla="*/ 39 w 869"/>
                  <a:gd name="T5" fmla="*/ 313 h 1173"/>
                  <a:gd name="T6" fmla="*/ 37 w 869"/>
                  <a:gd name="T7" fmla="*/ 329 h 1173"/>
                  <a:gd name="T8" fmla="*/ 37 w 869"/>
                  <a:gd name="T9" fmla="*/ 334 h 1173"/>
                  <a:gd name="T10" fmla="*/ 33 w 869"/>
                  <a:gd name="T11" fmla="*/ 339 h 1173"/>
                  <a:gd name="T12" fmla="*/ 17 w 869"/>
                  <a:gd name="T13" fmla="*/ 331 h 1173"/>
                  <a:gd name="T14" fmla="*/ 7 w 869"/>
                  <a:gd name="T15" fmla="*/ 310 h 1173"/>
                  <a:gd name="T16" fmla="*/ 2 w 869"/>
                  <a:gd name="T17" fmla="*/ 292 h 1173"/>
                  <a:gd name="T18" fmla="*/ 0 w 869"/>
                  <a:gd name="T19" fmla="*/ 277 h 1173"/>
                  <a:gd name="T20" fmla="*/ 4 w 869"/>
                  <a:gd name="T21" fmla="*/ 145 h 1173"/>
                  <a:gd name="T22" fmla="*/ 6 w 869"/>
                  <a:gd name="T23" fmla="*/ 68 h 1173"/>
                  <a:gd name="T24" fmla="*/ 9 w 869"/>
                  <a:gd name="T25" fmla="*/ 48 h 1173"/>
                  <a:gd name="T26" fmla="*/ 12 w 869"/>
                  <a:gd name="T27" fmla="*/ 39 h 1173"/>
                  <a:gd name="T28" fmla="*/ 18 w 869"/>
                  <a:gd name="T29" fmla="*/ 21 h 1173"/>
                  <a:gd name="T30" fmla="*/ 21 w 869"/>
                  <a:gd name="T31" fmla="*/ 13 h 1173"/>
                  <a:gd name="T32" fmla="*/ 26 w 869"/>
                  <a:gd name="T33" fmla="*/ 0 h 1173"/>
                  <a:gd name="T34" fmla="*/ 42 w 869"/>
                  <a:gd name="T35" fmla="*/ 24 h 1173"/>
                  <a:gd name="T36" fmla="*/ 47 w 869"/>
                  <a:gd name="T37" fmla="*/ 59 h 1173"/>
                  <a:gd name="T38" fmla="*/ 50 w 869"/>
                  <a:gd name="T39" fmla="*/ 73 h 1173"/>
                  <a:gd name="T40" fmla="*/ 51 w 869"/>
                  <a:gd name="T41" fmla="*/ 89 h 1173"/>
                  <a:gd name="T42" fmla="*/ 46 w 869"/>
                  <a:gd name="T43" fmla="*/ 205 h 1173"/>
                  <a:gd name="T44" fmla="*/ 44 w 869"/>
                  <a:gd name="T45" fmla="*/ 229 h 1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69"/>
                  <a:gd name="T70" fmla="*/ 0 h 1173"/>
                  <a:gd name="T71" fmla="*/ 869 w 869"/>
                  <a:gd name="T72" fmla="*/ 1173 h 1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69" h="1173">
                    <a:moveTo>
                      <a:pt x="754" y="791"/>
                    </a:moveTo>
                    <a:cubicBezTo>
                      <a:pt x="743" y="846"/>
                      <a:pt x="731" y="899"/>
                      <a:pt x="699" y="945"/>
                    </a:cubicBezTo>
                    <a:cubicBezTo>
                      <a:pt x="684" y="991"/>
                      <a:pt x="669" y="1036"/>
                      <a:pt x="654" y="1082"/>
                    </a:cubicBezTo>
                    <a:cubicBezTo>
                      <a:pt x="648" y="1100"/>
                      <a:pt x="649" y="1122"/>
                      <a:pt x="636" y="1136"/>
                    </a:cubicBezTo>
                    <a:cubicBezTo>
                      <a:pt x="630" y="1142"/>
                      <a:pt x="626" y="1151"/>
                      <a:pt x="618" y="1155"/>
                    </a:cubicBezTo>
                    <a:cubicBezTo>
                      <a:pt x="601" y="1164"/>
                      <a:pt x="563" y="1173"/>
                      <a:pt x="563" y="1173"/>
                    </a:cubicBezTo>
                    <a:cubicBezTo>
                      <a:pt x="471" y="1168"/>
                      <a:pt x="379" y="1170"/>
                      <a:pt x="290" y="1145"/>
                    </a:cubicBezTo>
                    <a:cubicBezTo>
                      <a:pt x="231" y="1129"/>
                      <a:pt x="182" y="1097"/>
                      <a:pt x="127" y="1073"/>
                    </a:cubicBezTo>
                    <a:cubicBezTo>
                      <a:pt x="93" y="1058"/>
                      <a:pt x="60" y="1039"/>
                      <a:pt x="36" y="1009"/>
                    </a:cubicBezTo>
                    <a:cubicBezTo>
                      <a:pt x="23" y="992"/>
                      <a:pt x="0" y="955"/>
                      <a:pt x="0" y="955"/>
                    </a:cubicBezTo>
                    <a:cubicBezTo>
                      <a:pt x="11" y="805"/>
                      <a:pt x="33" y="644"/>
                      <a:pt x="81" y="500"/>
                    </a:cubicBezTo>
                    <a:cubicBezTo>
                      <a:pt x="92" y="412"/>
                      <a:pt x="99" y="324"/>
                      <a:pt x="109" y="236"/>
                    </a:cubicBezTo>
                    <a:cubicBezTo>
                      <a:pt x="113" y="197"/>
                      <a:pt x="118" y="176"/>
                      <a:pt x="154" y="164"/>
                    </a:cubicBezTo>
                    <a:cubicBezTo>
                      <a:pt x="193" y="123"/>
                      <a:pt x="147" y="165"/>
                      <a:pt x="200" y="136"/>
                    </a:cubicBezTo>
                    <a:cubicBezTo>
                      <a:pt x="241" y="114"/>
                      <a:pt x="266" y="87"/>
                      <a:pt x="309" y="73"/>
                    </a:cubicBezTo>
                    <a:cubicBezTo>
                      <a:pt x="343" y="37"/>
                      <a:pt x="308" y="68"/>
                      <a:pt x="354" y="45"/>
                    </a:cubicBezTo>
                    <a:cubicBezTo>
                      <a:pt x="383" y="30"/>
                      <a:pt x="395" y="11"/>
                      <a:pt x="427" y="0"/>
                    </a:cubicBezTo>
                    <a:cubicBezTo>
                      <a:pt x="520" y="23"/>
                      <a:pt x="626" y="29"/>
                      <a:pt x="709" y="82"/>
                    </a:cubicBezTo>
                    <a:cubicBezTo>
                      <a:pt x="738" y="125"/>
                      <a:pt x="765" y="172"/>
                      <a:pt x="809" y="200"/>
                    </a:cubicBezTo>
                    <a:cubicBezTo>
                      <a:pt x="821" y="218"/>
                      <a:pt x="838" y="234"/>
                      <a:pt x="845" y="255"/>
                    </a:cubicBezTo>
                    <a:cubicBezTo>
                      <a:pt x="851" y="273"/>
                      <a:pt x="863" y="309"/>
                      <a:pt x="863" y="309"/>
                    </a:cubicBezTo>
                    <a:cubicBezTo>
                      <a:pt x="858" y="436"/>
                      <a:pt x="869" y="596"/>
                      <a:pt x="790" y="709"/>
                    </a:cubicBezTo>
                    <a:cubicBezTo>
                      <a:pt x="787" y="717"/>
                      <a:pt x="776" y="791"/>
                      <a:pt x="754" y="791"/>
                    </a:cubicBez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0181" name="Rectangle 36">
            <a:extLst>
              <a:ext uri="{FF2B5EF4-FFF2-40B4-BE49-F238E27FC236}">
                <a16:creationId xmlns:a16="http://schemas.microsoft.com/office/drawing/2014/main" id="{8AD108B0-14C6-5D33-056A-827EB0B1A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678114"/>
            <a:ext cx="3751262" cy="3348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0182" name="Group 37">
            <a:extLst>
              <a:ext uri="{FF2B5EF4-FFF2-40B4-BE49-F238E27FC236}">
                <a16:creationId xmlns:a16="http://schemas.microsoft.com/office/drawing/2014/main" id="{158C7B95-FD72-A583-F432-32960FE896C3}"/>
              </a:ext>
            </a:extLst>
          </p:cNvPr>
          <p:cNvGrpSpPr>
            <a:grpSpLocks/>
          </p:cNvGrpSpPr>
          <p:nvPr/>
        </p:nvGrpSpPr>
        <p:grpSpPr bwMode="auto">
          <a:xfrm>
            <a:off x="6765926" y="3225801"/>
            <a:ext cx="2398713" cy="2214563"/>
            <a:chOff x="3302" y="2032"/>
            <a:chExt cx="1511" cy="1395"/>
          </a:xfrm>
        </p:grpSpPr>
        <p:sp>
          <p:nvSpPr>
            <p:cNvPr id="50185" name="AutoShape 38">
              <a:extLst>
                <a:ext uri="{FF2B5EF4-FFF2-40B4-BE49-F238E27FC236}">
                  <a16:creationId xmlns:a16="http://schemas.microsoft.com/office/drawing/2014/main" id="{9FEFDB38-9FD9-E85C-2E44-1C1911538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6" y="2777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86" name="AutoShape 39">
              <a:extLst>
                <a:ext uri="{FF2B5EF4-FFF2-40B4-BE49-F238E27FC236}">
                  <a16:creationId xmlns:a16="http://schemas.microsoft.com/office/drawing/2014/main" id="{C3782890-4FC3-7219-0298-192F625E6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2537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87" name="AutoShape 40">
              <a:extLst>
                <a:ext uri="{FF2B5EF4-FFF2-40B4-BE49-F238E27FC236}">
                  <a16:creationId xmlns:a16="http://schemas.microsoft.com/office/drawing/2014/main" id="{8ADB9DDE-4697-8217-3324-D5EB94AC1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" y="2262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88" name="AutoShape 41">
              <a:extLst>
                <a:ext uri="{FF2B5EF4-FFF2-40B4-BE49-F238E27FC236}">
                  <a16:creationId xmlns:a16="http://schemas.microsoft.com/office/drawing/2014/main" id="{B22E4583-9BB1-A7BF-63AD-5C2CADC51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7" y="2585"/>
              <a:ext cx="56" cy="75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89" name="AutoShape 42">
              <a:extLst>
                <a:ext uri="{FF2B5EF4-FFF2-40B4-BE49-F238E27FC236}">
                  <a16:creationId xmlns:a16="http://schemas.microsoft.com/office/drawing/2014/main" id="{4DDC1C01-B1D2-31D7-09B0-4265BF582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46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0" name="AutoShape 43">
              <a:extLst>
                <a:ext uri="{FF2B5EF4-FFF2-40B4-BE49-F238E27FC236}">
                  <a16:creationId xmlns:a16="http://schemas.microsoft.com/office/drawing/2014/main" id="{719B8194-6FAF-549D-B446-A6B459D0E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" y="2835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1" name="AutoShape 44">
              <a:extLst>
                <a:ext uri="{FF2B5EF4-FFF2-40B4-BE49-F238E27FC236}">
                  <a16:creationId xmlns:a16="http://schemas.microsoft.com/office/drawing/2014/main" id="{2E81340D-343F-2758-E69B-98D88CD32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3172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2" name="AutoShape 45">
              <a:extLst>
                <a:ext uri="{FF2B5EF4-FFF2-40B4-BE49-F238E27FC236}">
                  <a16:creationId xmlns:a16="http://schemas.microsoft.com/office/drawing/2014/main" id="{935EE175-794D-5EEE-04E8-93F44CD3D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3064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3" name="AutoShape 46">
              <a:extLst>
                <a:ext uri="{FF2B5EF4-FFF2-40B4-BE49-F238E27FC236}">
                  <a16:creationId xmlns:a16="http://schemas.microsoft.com/office/drawing/2014/main" id="{829F785B-A8BD-5320-442A-34EFEB82E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" y="2529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4" name="AutoShape 47">
              <a:extLst>
                <a:ext uri="{FF2B5EF4-FFF2-40B4-BE49-F238E27FC236}">
                  <a16:creationId xmlns:a16="http://schemas.microsoft.com/office/drawing/2014/main" id="{68F901A1-EEEB-B88B-7D9B-6C20809CE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" y="3021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5" name="AutoShape 48">
              <a:extLst>
                <a:ext uri="{FF2B5EF4-FFF2-40B4-BE49-F238E27FC236}">
                  <a16:creationId xmlns:a16="http://schemas.microsoft.com/office/drawing/2014/main" id="{B36D7C31-84EE-2AE7-58A9-0DA051620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2361"/>
              <a:ext cx="56" cy="75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6" name="AutoShape 49">
              <a:extLst>
                <a:ext uri="{FF2B5EF4-FFF2-40B4-BE49-F238E27FC236}">
                  <a16:creationId xmlns:a16="http://schemas.microsoft.com/office/drawing/2014/main" id="{A3D00808-3635-1AF0-960B-54BE25936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114"/>
              <a:ext cx="56" cy="7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7" name="AutoShape 50">
              <a:extLst>
                <a:ext uri="{FF2B5EF4-FFF2-40B4-BE49-F238E27FC236}">
                  <a16:creationId xmlns:a16="http://schemas.microsoft.com/office/drawing/2014/main" id="{E6ED8A3E-2736-3A85-BC77-8F06735A1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2773"/>
              <a:ext cx="56" cy="75"/>
            </a:xfrm>
            <a:prstGeom prst="flowChartConnector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198" name="Freeform 51">
              <a:extLst>
                <a:ext uri="{FF2B5EF4-FFF2-40B4-BE49-F238E27FC236}">
                  <a16:creationId xmlns:a16="http://schemas.microsoft.com/office/drawing/2014/main" id="{4747B8D0-F436-07D1-C4DB-D5AE23E9A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" y="2032"/>
              <a:ext cx="686" cy="877"/>
            </a:xfrm>
            <a:custGeom>
              <a:avLst/>
              <a:gdLst>
                <a:gd name="T0" fmla="*/ 61 w 1101"/>
                <a:gd name="T1" fmla="*/ 86 h 1077"/>
                <a:gd name="T2" fmla="*/ 63 w 1101"/>
                <a:gd name="T3" fmla="*/ 141 h 1077"/>
                <a:gd name="T4" fmla="*/ 59 w 1101"/>
                <a:gd name="T5" fmla="*/ 271 h 1077"/>
                <a:gd name="T6" fmla="*/ 55 w 1101"/>
                <a:gd name="T7" fmla="*/ 304 h 1077"/>
                <a:gd name="T8" fmla="*/ 50 w 1101"/>
                <a:gd name="T9" fmla="*/ 314 h 1077"/>
                <a:gd name="T10" fmla="*/ 35 w 1101"/>
                <a:gd name="T11" fmla="*/ 304 h 1077"/>
                <a:gd name="T12" fmla="*/ 29 w 1101"/>
                <a:gd name="T13" fmla="*/ 290 h 1077"/>
                <a:gd name="T14" fmla="*/ 27 w 1101"/>
                <a:gd name="T15" fmla="*/ 287 h 1077"/>
                <a:gd name="T16" fmla="*/ 19 w 1101"/>
                <a:gd name="T17" fmla="*/ 256 h 1077"/>
                <a:gd name="T18" fmla="*/ 14 w 1101"/>
                <a:gd name="T19" fmla="*/ 234 h 1077"/>
                <a:gd name="T20" fmla="*/ 6 w 1101"/>
                <a:gd name="T21" fmla="*/ 200 h 1077"/>
                <a:gd name="T22" fmla="*/ 1 w 1101"/>
                <a:gd name="T23" fmla="*/ 131 h 1077"/>
                <a:gd name="T24" fmla="*/ 1 w 1101"/>
                <a:gd name="T25" fmla="*/ 37 h 1077"/>
                <a:gd name="T26" fmla="*/ 11 w 1101"/>
                <a:gd name="T27" fmla="*/ 6 h 1077"/>
                <a:gd name="T28" fmla="*/ 13 w 1101"/>
                <a:gd name="T29" fmla="*/ 4 h 1077"/>
                <a:gd name="T30" fmla="*/ 25 w 1101"/>
                <a:gd name="T31" fmla="*/ 9 h 1077"/>
                <a:gd name="T32" fmla="*/ 34 w 1101"/>
                <a:gd name="T33" fmla="*/ 30 h 1077"/>
                <a:gd name="T34" fmla="*/ 40 w 1101"/>
                <a:gd name="T35" fmla="*/ 51 h 1077"/>
                <a:gd name="T36" fmla="*/ 45 w 1101"/>
                <a:gd name="T37" fmla="*/ 59 h 1077"/>
                <a:gd name="T38" fmla="*/ 61 w 1101"/>
                <a:gd name="T39" fmla="*/ 86 h 10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101"/>
                <a:gd name="T61" fmla="*/ 0 h 1077"/>
                <a:gd name="T62" fmla="*/ 1101 w 1101"/>
                <a:gd name="T63" fmla="*/ 1077 h 107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101" h="1077">
                  <a:moveTo>
                    <a:pt x="1041" y="294"/>
                  </a:moveTo>
                  <a:cubicBezTo>
                    <a:pt x="1062" y="357"/>
                    <a:pt x="1070" y="419"/>
                    <a:pt x="1077" y="485"/>
                  </a:cubicBezTo>
                  <a:cubicBezTo>
                    <a:pt x="1072" y="641"/>
                    <a:pt x="1101" y="797"/>
                    <a:pt x="1013" y="930"/>
                  </a:cubicBezTo>
                  <a:cubicBezTo>
                    <a:pt x="1001" y="966"/>
                    <a:pt x="984" y="1017"/>
                    <a:pt x="950" y="1040"/>
                  </a:cubicBezTo>
                  <a:cubicBezTo>
                    <a:pt x="920" y="1060"/>
                    <a:pt x="884" y="1065"/>
                    <a:pt x="850" y="1076"/>
                  </a:cubicBezTo>
                  <a:cubicBezTo>
                    <a:pt x="677" y="1068"/>
                    <a:pt x="701" y="1077"/>
                    <a:pt x="595" y="1040"/>
                  </a:cubicBezTo>
                  <a:cubicBezTo>
                    <a:pt x="556" y="1026"/>
                    <a:pt x="527" y="1007"/>
                    <a:pt x="486" y="994"/>
                  </a:cubicBezTo>
                  <a:cubicBezTo>
                    <a:pt x="477" y="991"/>
                    <a:pt x="459" y="985"/>
                    <a:pt x="459" y="985"/>
                  </a:cubicBezTo>
                  <a:cubicBezTo>
                    <a:pt x="417" y="943"/>
                    <a:pt x="369" y="911"/>
                    <a:pt x="322" y="876"/>
                  </a:cubicBezTo>
                  <a:cubicBezTo>
                    <a:pt x="287" y="850"/>
                    <a:pt x="271" y="816"/>
                    <a:pt x="232" y="803"/>
                  </a:cubicBezTo>
                  <a:cubicBezTo>
                    <a:pt x="196" y="768"/>
                    <a:pt x="131" y="726"/>
                    <a:pt x="104" y="685"/>
                  </a:cubicBezTo>
                  <a:cubicBezTo>
                    <a:pt x="56" y="611"/>
                    <a:pt x="21" y="536"/>
                    <a:pt x="4" y="449"/>
                  </a:cubicBezTo>
                  <a:cubicBezTo>
                    <a:pt x="7" y="343"/>
                    <a:pt x="0" y="236"/>
                    <a:pt x="13" y="130"/>
                  </a:cubicBezTo>
                  <a:cubicBezTo>
                    <a:pt x="22" y="60"/>
                    <a:pt x="139" y="33"/>
                    <a:pt x="186" y="21"/>
                  </a:cubicBezTo>
                  <a:cubicBezTo>
                    <a:pt x="198" y="18"/>
                    <a:pt x="222" y="12"/>
                    <a:pt x="222" y="12"/>
                  </a:cubicBezTo>
                  <a:cubicBezTo>
                    <a:pt x="289" y="15"/>
                    <a:pt x="362" y="0"/>
                    <a:pt x="422" y="30"/>
                  </a:cubicBezTo>
                  <a:cubicBezTo>
                    <a:pt x="473" y="56"/>
                    <a:pt x="525" y="77"/>
                    <a:pt x="577" y="103"/>
                  </a:cubicBezTo>
                  <a:cubicBezTo>
                    <a:pt x="619" y="124"/>
                    <a:pt x="655" y="153"/>
                    <a:pt x="695" y="176"/>
                  </a:cubicBezTo>
                  <a:cubicBezTo>
                    <a:pt x="718" y="189"/>
                    <a:pt x="745" y="192"/>
                    <a:pt x="768" y="203"/>
                  </a:cubicBezTo>
                  <a:cubicBezTo>
                    <a:pt x="844" y="240"/>
                    <a:pt x="955" y="294"/>
                    <a:pt x="1041" y="294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9" name="Freeform 52">
              <a:extLst>
                <a:ext uri="{FF2B5EF4-FFF2-40B4-BE49-F238E27FC236}">
                  <a16:creationId xmlns:a16="http://schemas.microsoft.com/office/drawing/2014/main" id="{E8928F2A-EC6C-96E7-EFED-D8FEDB5CD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642"/>
              <a:ext cx="573" cy="785"/>
            </a:xfrm>
            <a:custGeom>
              <a:avLst/>
              <a:gdLst>
                <a:gd name="T0" fmla="*/ 14 w 918"/>
                <a:gd name="T1" fmla="*/ 237 h 965"/>
                <a:gd name="T2" fmla="*/ 11 w 918"/>
                <a:gd name="T3" fmla="*/ 226 h 965"/>
                <a:gd name="T4" fmla="*/ 7 w 918"/>
                <a:gd name="T5" fmla="*/ 214 h 965"/>
                <a:gd name="T6" fmla="*/ 4 w 918"/>
                <a:gd name="T7" fmla="*/ 203 h 965"/>
                <a:gd name="T8" fmla="*/ 2 w 918"/>
                <a:gd name="T9" fmla="*/ 187 h 965"/>
                <a:gd name="T10" fmla="*/ 0 w 918"/>
                <a:gd name="T11" fmla="*/ 134 h 965"/>
                <a:gd name="T12" fmla="*/ 1 w 918"/>
                <a:gd name="T13" fmla="*/ 59 h 965"/>
                <a:gd name="T14" fmla="*/ 4 w 918"/>
                <a:gd name="T15" fmla="*/ 39 h 965"/>
                <a:gd name="T16" fmla="*/ 17 w 918"/>
                <a:gd name="T17" fmla="*/ 0 h 965"/>
                <a:gd name="T18" fmla="*/ 23 w 918"/>
                <a:gd name="T19" fmla="*/ 6 h 965"/>
                <a:gd name="T20" fmla="*/ 29 w 918"/>
                <a:gd name="T21" fmla="*/ 16 h 965"/>
                <a:gd name="T22" fmla="*/ 41 w 918"/>
                <a:gd name="T23" fmla="*/ 48 h 965"/>
                <a:gd name="T24" fmla="*/ 42 w 918"/>
                <a:gd name="T25" fmla="*/ 63 h 965"/>
                <a:gd name="T26" fmla="*/ 44 w 918"/>
                <a:gd name="T27" fmla="*/ 72 h 965"/>
                <a:gd name="T28" fmla="*/ 48 w 918"/>
                <a:gd name="T29" fmla="*/ 100 h 965"/>
                <a:gd name="T30" fmla="*/ 50 w 918"/>
                <a:gd name="T31" fmla="*/ 123 h 965"/>
                <a:gd name="T32" fmla="*/ 51 w 918"/>
                <a:gd name="T33" fmla="*/ 150 h 965"/>
                <a:gd name="T34" fmla="*/ 52 w 918"/>
                <a:gd name="T35" fmla="*/ 177 h 965"/>
                <a:gd name="T36" fmla="*/ 54 w 918"/>
                <a:gd name="T37" fmla="*/ 224 h 965"/>
                <a:gd name="T38" fmla="*/ 49 w 918"/>
                <a:gd name="T39" fmla="*/ 268 h 965"/>
                <a:gd name="T40" fmla="*/ 45 w 918"/>
                <a:gd name="T41" fmla="*/ 274 h 965"/>
                <a:gd name="T42" fmla="*/ 42 w 918"/>
                <a:gd name="T43" fmla="*/ 277 h 965"/>
                <a:gd name="T44" fmla="*/ 21 w 918"/>
                <a:gd name="T45" fmla="*/ 272 h 965"/>
                <a:gd name="T46" fmla="*/ 14 w 918"/>
                <a:gd name="T47" fmla="*/ 250 h 965"/>
                <a:gd name="T48" fmla="*/ 14 w 918"/>
                <a:gd name="T49" fmla="*/ 237 h 96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918"/>
                <a:gd name="T76" fmla="*/ 0 h 965"/>
                <a:gd name="T77" fmla="*/ 918 w 918"/>
                <a:gd name="T78" fmla="*/ 965 h 96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918" h="965">
                  <a:moveTo>
                    <a:pt x="227" y="818"/>
                  </a:moveTo>
                  <a:cubicBezTo>
                    <a:pt x="178" y="802"/>
                    <a:pt x="216" y="822"/>
                    <a:pt x="191" y="782"/>
                  </a:cubicBezTo>
                  <a:cubicBezTo>
                    <a:pt x="176" y="757"/>
                    <a:pt x="144" y="746"/>
                    <a:pt x="118" y="737"/>
                  </a:cubicBezTo>
                  <a:cubicBezTo>
                    <a:pt x="106" y="724"/>
                    <a:pt x="92" y="714"/>
                    <a:pt x="81" y="700"/>
                  </a:cubicBezTo>
                  <a:cubicBezTo>
                    <a:pt x="68" y="683"/>
                    <a:pt x="45" y="646"/>
                    <a:pt x="45" y="646"/>
                  </a:cubicBezTo>
                  <a:cubicBezTo>
                    <a:pt x="30" y="585"/>
                    <a:pt x="10" y="526"/>
                    <a:pt x="0" y="464"/>
                  </a:cubicBezTo>
                  <a:cubicBezTo>
                    <a:pt x="3" y="376"/>
                    <a:pt x="1" y="288"/>
                    <a:pt x="9" y="200"/>
                  </a:cubicBezTo>
                  <a:cubicBezTo>
                    <a:pt x="11" y="175"/>
                    <a:pt x="74" y="139"/>
                    <a:pt x="81" y="136"/>
                  </a:cubicBezTo>
                  <a:cubicBezTo>
                    <a:pt x="153" y="101"/>
                    <a:pt x="222" y="22"/>
                    <a:pt x="291" y="0"/>
                  </a:cubicBezTo>
                  <a:cubicBezTo>
                    <a:pt x="314" y="3"/>
                    <a:pt x="364" y="5"/>
                    <a:pt x="391" y="18"/>
                  </a:cubicBezTo>
                  <a:cubicBezTo>
                    <a:pt x="430" y="37"/>
                    <a:pt x="446" y="46"/>
                    <a:pt x="491" y="55"/>
                  </a:cubicBezTo>
                  <a:cubicBezTo>
                    <a:pt x="555" y="98"/>
                    <a:pt x="638" y="100"/>
                    <a:pt x="691" y="164"/>
                  </a:cubicBezTo>
                  <a:cubicBezTo>
                    <a:pt x="760" y="248"/>
                    <a:pt x="665" y="138"/>
                    <a:pt x="718" y="218"/>
                  </a:cubicBezTo>
                  <a:cubicBezTo>
                    <a:pt x="725" y="229"/>
                    <a:pt x="737" y="236"/>
                    <a:pt x="745" y="246"/>
                  </a:cubicBezTo>
                  <a:cubicBezTo>
                    <a:pt x="770" y="278"/>
                    <a:pt x="782" y="319"/>
                    <a:pt x="809" y="346"/>
                  </a:cubicBezTo>
                  <a:cubicBezTo>
                    <a:pt x="830" y="410"/>
                    <a:pt x="816" y="384"/>
                    <a:pt x="845" y="427"/>
                  </a:cubicBezTo>
                  <a:cubicBezTo>
                    <a:pt x="851" y="457"/>
                    <a:pt x="856" y="488"/>
                    <a:pt x="863" y="518"/>
                  </a:cubicBezTo>
                  <a:cubicBezTo>
                    <a:pt x="871" y="549"/>
                    <a:pt x="884" y="578"/>
                    <a:pt x="890" y="609"/>
                  </a:cubicBezTo>
                  <a:cubicBezTo>
                    <a:pt x="902" y="666"/>
                    <a:pt x="900" y="718"/>
                    <a:pt x="918" y="773"/>
                  </a:cubicBezTo>
                  <a:cubicBezTo>
                    <a:pt x="910" y="845"/>
                    <a:pt x="904" y="901"/>
                    <a:pt x="827" y="927"/>
                  </a:cubicBezTo>
                  <a:cubicBezTo>
                    <a:pt x="803" y="935"/>
                    <a:pt x="778" y="940"/>
                    <a:pt x="754" y="946"/>
                  </a:cubicBezTo>
                  <a:cubicBezTo>
                    <a:pt x="742" y="949"/>
                    <a:pt x="718" y="955"/>
                    <a:pt x="718" y="955"/>
                  </a:cubicBezTo>
                  <a:cubicBezTo>
                    <a:pt x="668" y="954"/>
                    <a:pt x="462" y="965"/>
                    <a:pt x="354" y="937"/>
                  </a:cubicBezTo>
                  <a:cubicBezTo>
                    <a:pt x="316" y="927"/>
                    <a:pt x="272" y="891"/>
                    <a:pt x="245" y="864"/>
                  </a:cubicBezTo>
                  <a:cubicBezTo>
                    <a:pt x="231" y="850"/>
                    <a:pt x="192" y="818"/>
                    <a:pt x="227" y="818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0" name="Freeform 53">
              <a:extLst>
                <a:ext uri="{FF2B5EF4-FFF2-40B4-BE49-F238E27FC236}">
                  <a16:creationId xmlns:a16="http://schemas.microsoft.com/office/drawing/2014/main" id="{134DA175-0707-0BBD-2392-973A75E9C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" y="2065"/>
              <a:ext cx="542" cy="954"/>
            </a:xfrm>
            <a:custGeom>
              <a:avLst/>
              <a:gdLst>
                <a:gd name="T0" fmla="*/ 44 w 869"/>
                <a:gd name="T1" fmla="*/ 229 h 1173"/>
                <a:gd name="T2" fmla="*/ 41 w 869"/>
                <a:gd name="T3" fmla="*/ 273 h 1173"/>
                <a:gd name="T4" fmla="*/ 39 w 869"/>
                <a:gd name="T5" fmla="*/ 313 h 1173"/>
                <a:gd name="T6" fmla="*/ 37 w 869"/>
                <a:gd name="T7" fmla="*/ 329 h 1173"/>
                <a:gd name="T8" fmla="*/ 37 w 869"/>
                <a:gd name="T9" fmla="*/ 334 h 1173"/>
                <a:gd name="T10" fmla="*/ 33 w 869"/>
                <a:gd name="T11" fmla="*/ 339 h 1173"/>
                <a:gd name="T12" fmla="*/ 17 w 869"/>
                <a:gd name="T13" fmla="*/ 331 h 1173"/>
                <a:gd name="T14" fmla="*/ 7 w 869"/>
                <a:gd name="T15" fmla="*/ 310 h 1173"/>
                <a:gd name="T16" fmla="*/ 2 w 869"/>
                <a:gd name="T17" fmla="*/ 292 h 1173"/>
                <a:gd name="T18" fmla="*/ 0 w 869"/>
                <a:gd name="T19" fmla="*/ 277 h 1173"/>
                <a:gd name="T20" fmla="*/ 4 w 869"/>
                <a:gd name="T21" fmla="*/ 145 h 1173"/>
                <a:gd name="T22" fmla="*/ 6 w 869"/>
                <a:gd name="T23" fmla="*/ 68 h 1173"/>
                <a:gd name="T24" fmla="*/ 9 w 869"/>
                <a:gd name="T25" fmla="*/ 48 h 1173"/>
                <a:gd name="T26" fmla="*/ 12 w 869"/>
                <a:gd name="T27" fmla="*/ 39 h 1173"/>
                <a:gd name="T28" fmla="*/ 18 w 869"/>
                <a:gd name="T29" fmla="*/ 21 h 1173"/>
                <a:gd name="T30" fmla="*/ 21 w 869"/>
                <a:gd name="T31" fmla="*/ 13 h 1173"/>
                <a:gd name="T32" fmla="*/ 26 w 869"/>
                <a:gd name="T33" fmla="*/ 0 h 1173"/>
                <a:gd name="T34" fmla="*/ 42 w 869"/>
                <a:gd name="T35" fmla="*/ 24 h 1173"/>
                <a:gd name="T36" fmla="*/ 47 w 869"/>
                <a:gd name="T37" fmla="*/ 59 h 1173"/>
                <a:gd name="T38" fmla="*/ 50 w 869"/>
                <a:gd name="T39" fmla="*/ 73 h 1173"/>
                <a:gd name="T40" fmla="*/ 51 w 869"/>
                <a:gd name="T41" fmla="*/ 89 h 1173"/>
                <a:gd name="T42" fmla="*/ 46 w 869"/>
                <a:gd name="T43" fmla="*/ 205 h 1173"/>
                <a:gd name="T44" fmla="*/ 44 w 869"/>
                <a:gd name="T45" fmla="*/ 229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869"/>
                <a:gd name="T70" fmla="*/ 0 h 1173"/>
                <a:gd name="T71" fmla="*/ 869 w 869"/>
                <a:gd name="T72" fmla="*/ 1173 h 117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869" h="1173">
                  <a:moveTo>
                    <a:pt x="754" y="791"/>
                  </a:moveTo>
                  <a:cubicBezTo>
                    <a:pt x="743" y="846"/>
                    <a:pt x="731" y="899"/>
                    <a:pt x="699" y="945"/>
                  </a:cubicBezTo>
                  <a:cubicBezTo>
                    <a:pt x="684" y="991"/>
                    <a:pt x="669" y="1036"/>
                    <a:pt x="654" y="1082"/>
                  </a:cubicBezTo>
                  <a:cubicBezTo>
                    <a:pt x="648" y="1100"/>
                    <a:pt x="649" y="1122"/>
                    <a:pt x="636" y="1136"/>
                  </a:cubicBezTo>
                  <a:cubicBezTo>
                    <a:pt x="630" y="1142"/>
                    <a:pt x="626" y="1151"/>
                    <a:pt x="618" y="1155"/>
                  </a:cubicBezTo>
                  <a:cubicBezTo>
                    <a:pt x="601" y="1164"/>
                    <a:pt x="563" y="1173"/>
                    <a:pt x="563" y="1173"/>
                  </a:cubicBezTo>
                  <a:cubicBezTo>
                    <a:pt x="471" y="1168"/>
                    <a:pt x="379" y="1170"/>
                    <a:pt x="290" y="1145"/>
                  </a:cubicBezTo>
                  <a:cubicBezTo>
                    <a:pt x="231" y="1129"/>
                    <a:pt x="182" y="1097"/>
                    <a:pt x="127" y="1073"/>
                  </a:cubicBezTo>
                  <a:cubicBezTo>
                    <a:pt x="93" y="1058"/>
                    <a:pt x="60" y="1039"/>
                    <a:pt x="36" y="1009"/>
                  </a:cubicBezTo>
                  <a:cubicBezTo>
                    <a:pt x="23" y="992"/>
                    <a:pt x="0" y="955"/>
                    <a:pt x="0" y="955"/>
                  </a:cubicBezTo>
                  <a:cubicBezTo>
                    <a:pt x="11" y="805"/>
                    <a:pt x="33" y="644"/>
                    <a:pt x="81" y="500"/>
                  </a:cubicBezTo>
                  <a:cubicBezTo>
                    <a:pt x="92" y="412"/>
                    <a:pt x="99" y="324"/>
                    <a:pt x="109" y="236"/>
                  </a:cubicBezTo>
                  <a:cubicBezTo>
                    <a:pt x="113" y="197"/>
                    <a:pt x="118" y="176"/>
                    <a:pt x="154" y="164"/>
                  </a:cubicBezTo>
                  <a:cubicBezTo>
                    <a:pt x="193" y="123"/>
                    <a:pt x="147" y="165"/>
                    <a:pt x="200" y="136"/>
                  </a:cubicBezTo>
                  <a:cubicBezTo>
                    <a:pt x="241" y="114"/>
                    <a:pt x="266" y="87"/>
                    <a:pt x="309" y="73"/>
                  </a:cubicBezTo>
                  <a:cubicBezTo>
                    <a:pt x="343" y="37"/>
                    <a:pt x="308" y="68"/>
                    <a:pt x="354" y="45"/>
                  </a:cubicBezTo>
                  <a:cubicBezTo>
                    <a:pt x="383" y="30"/>
                    <a:pt x="395" y="11"/>
                    <a:pt x="427" y="0"/>
                  </a:cubicBezTo>
                  <a:cubicBezTo>
                    <a:pt x="520" y="23"/>
                    <a:pt x="626" y="29"/>
                    <a:pt x="709" y="82"/>
                  </a:cubicBezTo>
                  <a:cubicBezTo>
                    <a:pt x="738" y="125"/>
                    <a:pt x="765" y="172"/>
                    <a:pt x="809" y="200"/>
                  </a:cubicBezTo>
                  <a:cubicBezTo>
                    <a:pt x="821" y="218"/>
                    <a:pt x="838" y="234"/>
                    <a:pt x="845" y="255"/>
                  </a:cubicBezTo>
                  <a:cubicBezTo>
                    <a:pt x="851" y="273"/>
                    <a:pt x="863" y="309"/>
                    <a:pt x="863" y="309"/>
                  </a:cubicBezTo>
                  <a:cubicBezTo>
                    <a:pt x="858" y="436"/>
                    <a:pt x="869" y="596"/>
                    <a:pt x="790" y="709"/>
                  </a:cubicBezTo>
                  <a:cubicBezTo>
                    <a:pt x="787" y="717"/>
                    <a:pt x="776" y="791"/>
                    <a:pt x="754" y="791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83" name="Text Box 54">
            <a:extLst>
              <a:ext uri="{FF2B5EF4-FFF2-40B4-BE49-F238E27FC236}">
                <a16:creationId xmlns:a16="http://schemas.microsoft.com/office/drawing/2014/main" id="{C77456AF-4B27-E53C-A0C5-0F42F8E1E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6" y="1897063"/>
            <a:ext cx="147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Raw Data </a:t>
            </a:r>
          </a:p>
        </p:txBody>
      </p:sp>
      <p:sp>
        <p:nvSpPr>
          <p:cNvPr id="50184" name="Text Box 55">
            <a:extLst>
              <a:ext uri="{FF2B5EF4-FFF2-40B4-BE49-F238E27FC236}">
                <a16:creationId xmlns:a16="http://schemas.microsoft.com/office/drawing/2014/main" id="{AA3DC7A6-F9A0-2A8F-D4F1-57E211E21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1839913"/>
            <a:ext cx="3268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Cluster/Stratified Sample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AA8F29-8A74-3DE3-0568-4EAE0FDE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2AEE1899-F078-AD95-7FCC-85C673FFDE2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2200" y="228600"/>
            <a:ext cx="71628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Data Cube Aggregation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599A3B1-3A9E-B0C7-1A77-95E7770C0B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371600"/>
            <a:ext cx="8458200" cy="52387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The lowest level of a data cube (base cuboid)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The aggregated data for an </a:t>
            </a:r>
            <a:r>
              <a:rPr lang="en-US" altLang="en-US">
                <a:solidFill>
                  <a:schemeClr val="hlink"/>
                </a:solidFill>
              </a:rPr>
              <a:t>individual entity of interest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E.g., a customer in a phone calling data warehouse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Multiple levels of aggregation in data cubes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Further reduce the size of data to deal with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Reference appropriate levels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/>
              <a:t>Use the smallest representation which is enough to solve the task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Queries regarding aggregated information should be answered using data cube, when possible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62D900-5371-C0BE-BCFB-109453B6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>
            <a:extLst>
              <a:ext uri="{FF2B5EF4-FFF2-40B4-BE49-F238E27FC236}">
                <a16:creationId xmlns:a16="http://schemas.microsoft.com/office/drawing/2014/main" id="{DF2E03B9-B42B-8F8F-18CC-390C01E0A2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1524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/>
              <a:t>Data Reduction 3: Data Compression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2CD7A51-5024-795F-94BF-23BEF995CED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371600"/>
            <a:ext cx="8610600" cy="5314950"/>
          </a:xfrm>
        </p:spPr>
        <p:txBody>
          <a:bodyPr/>
          <a:lstStyle/>
          <a:p>
            <a:pPr eaLnBrk="1" hangingPunct="1"/>
            <a:r>
              <a:rPr lang="en-US" altLang="en-US" sz="2400"/>
              <a:t>String compression</a:t>
            </a:r>
          </a:p>
          <a:p>
            <a:pPr lvl="1" eaLnBrk="1" hangingPunct="1"/>
            <a:r>
              <a:rPr lang="en-US" altLang="en-US"/>
              <a:t>There are extensive theories and well-tuned algorithms</a:t>
            </a:r>
          </a:p>
          <a:p>
            <a:pPr lvl="1" eaLnBrk="1" hangingPunct="1"/>
            <a:r>
              <a:rPr lang="en-US" altLang="en-US"/>
              <a:t>Typically lossless, but only limited manipulation is possible without expansion</a:t>
            </a:r>
            <a:endParaRPr lang="en-US" altLang="en-US">
              <a:sym typeface="Symbol" pitchFamily="2" charset="2"/>
            </a:endParaRPr>
          </a:p>
          <a:p>
            <a:pPr eaLnBrk="1" hangingPunct="1"/>
            <a:r>
              <a:rPr lang="en-US" altLang="en-US" sz="2400">
                <a:sym typeface="Symbol" pitchFamily="2" charset="2"/>
              </a:rPr>
              <a:t>Audio/video compression</a:t>
            </a:r>
          </a:p>
          <a:p>
            <a:pPr lvl="1" eaLnBrk="1" hangingPunct="1"/>
            <a:r>
              <a:rPr lang="en-US" altLang="en-US">
                <a:sym typeface="Symbol" pitchFamily="2" charset="2"/>
              </a:rPr>
              <a:t>Typically lossy compression, with progressive refinement</a:t>
            </a:r>
          </a:p>
          <a:p>
            <a:pPr lvl="1" eaLnBrk="1" hangingPunct="1"/>
            <a:r>
              <a:rPr lang="en-US" altLang="en-US">
                <a:sym typeface="Symbol" pitchFamily="2" charset="2"/>
              </a:rPr>
              <a:t>Sometimes small fragments of signal can be reconstructed without reconstructing the whole</a:t>
            </a:r>
          </a:p>
          <a:p>
            <a:pPr eaLnBrk="1" hangingPunct="1"/>
            <a:r>
              <a:rPr lang="en-US" altLang="en-US" sz="2400">
                <a:sym typeface="Symbol" pitchFamily="2" charset="2"/>
              </a:rPr>
              <a:t>Time sequence is not audio</a:t>
            </a:r>
          </a:p>
          <a:p>
            <a:pPr lvl="1" eaLnBrk="1" hangingPunct="1"/>
            <a:r>
              <a:rPr lang="en-US" altLang="en-US">
                <a:sym typeface="Symbol" pitchFamily="2" charset="2"/>
              </a:rPr>
              <a:t>Typically short and vary slowly with time</a:t>
            </a:r>
          </a:p>
          <a:p>
            <a:pPr eaLnBrk="1" hangingPunct="1"/>
            <a:r>
              <a:rPr lang="en-US" altLang="en-US" sz="2400">
                <a:sym typeface="Symbol" pitchFamily="2" charset="2"/>
              </a:rPr>
              <a:t>Dimensionality and numerosity reduction may also be considered as forms of data compression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>
              <a:sym typeface="Symbol" pitchFamily="2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5A04A5-F8C8-51F8-D510-5CA3D69E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9113566B-49BB-D4A6-8E37-4AB109D8F2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81288" y="304800"/>
            <a:ext cx="5764212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Data Compression</a:t>
            </a:r>
          </a:p>
        </p:txBody>
      </p:sp>
      <p:sp>
        <p:nvSpPr>
          <p:cNvPr id="53252" name="AutoShape 3">
            <a:extLst>
              <a:ext uri="{FF2B5EF4-FFF2-40B4-BE49-F238E27FC236}">
                <a16:creationId xmlns:a16="http://schemas.microsoft.com/office/drawing/2014/main" id="{878D138D-3F87-C646-9E5A-9EE429DB9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1625601"/>
            <a:ext cx="3446463" cy="2595563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Original Data</a:t>
            </a:r>
          </a:p>
        </p:txBody>
      </p:sp>
      <p:sp>
        <p:nvSpPr>
          <p:cNvPr id="53253" name="AutoShape 4">
            <a:extLst>
              <a:ext uri="{FF2B5EF4-FFF2-40B4-BE49-F238E27FC236}">
                <a16:creationId xmlns:a16="http://schemas.microsoft.com/office/drawing/2014/main" id="{B73EB06E-6EAB-E671-641B-618E2366B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76" y="2249489"/>
            <a:ext cx="2182813" cy="1608137"/>
          </a:xfrm>
          <a:prstGeom prst="cube">
            <a:avLst>
              <a:gd name="adj" fmla="val 25000"/>
            </a:avLst>
          </a:prstGeom>
          <a:solidFill>
            <a:srgbClr val="F6E6E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Compressed </a:t>
            </a:r>
          </a:p>
          <a:p>
            <a:pPr algn="ctr"/>
            <a:r>
              <a:rPr lang="en-US" altLang="en-US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53254" name="Line 5">
            <a:extLst>
              <a:ext uri="{FF2B5EF4-FFF2-40B4-BE49-F238E27FC236}">
                <a16:creationId xmlns:a16="http://schemas.microsoft.com/office/drawing/2014/main" id="{7BA1F2CC-7B3D-0712-1647-B11925C72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3589" y="3005138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5" name="Line 6">
            <a:extLst>
              <a:ext uri="{FF2B5EF4-FFF2-40B4-BE49-F238E27FC236}">
                <a16:creationId xmlns:a16="http://schemas.microsoft.com/office/drawing/2014/main" id="{604FF050-4626-7887-20A6-17379797D8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43589" y="3579813"/>
            <a:ext cx="1838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Text Box 7">
            <a:extLst>
              <a:ext uri="{FF2B5EF4-FFF2-40B4-BE49-F238E27FC236}">
                <a16:creationId xmlns:a16="http://schemas.microsoft.com/office/drawing/2014/main" id="{42C825E6-27A6-1C18-CA81-AE2F6C2ED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088" y="3665538"/>
            <a:ext cx="1116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lossless</a:t>
            </a:r>
          </a:p>
        </p:txBody>
      </p:sp>
      <p:sp>
        <p:nvSpPr>
          <p:cNvPr id="53257" name="AutoShape 8">
            <a:extLst>
              <a:ext uri="{FF2B5EF4-FFF2-40B4-BE49-F238E27FC236}">
                <a16:creationId xmlns:a16="http://schemas.microsoft.com/office/drawing/2014/main" id="{4416493F-46DA-33D0-1D37-6257915E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914" y="4367213"/>
            <a:ext cx="3286125" cy="21844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Original Data</a:t>
            </a:r>
          </a:p>
          <a:p>
            <a:pPr algn="ctr"/>
            <a:r>
              <a:rPr lang="en-US" altLang="en-US">
                <a:latin typeface="Times New Roman" panose="02020603050405020304" pitchFamily="18" charset="0"/>
              </a:rPr>
              <a:t>Approximated </a:t>
            </a:r>
          </a:p>
        </p:txBody>
      </p:sp>
      <p:sp>
        <p:nvSpPr>
          <p:cNvPr id="53258" name="Line 9">
            <a:extLst>
              <a:ext uri="{FF2B5EF4-FFF2-40B4-BE49-F238E27FC236}">
                <a16:creationId xmlns:a16="http://schemas.microsoft.com/office/drawing/2014/main" id="{BE3284B6-0C6E-6F60-B9EF-C17388CD6B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6913" y="3875089"/>
            <a:ext cx="2743200" cy="180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9" name="Text Box 10">
            <a:extLst>
              <a:ext uri="{FF2B5EF4-FFF2-40B4-BE49-F238E27FC236}">
                <a16:creationId xmlns:a16="http://schemas.microsoft.com/office/drawing/2014/main" id="{152B6966-60BC-A671-CB97-54BDCFBD0CA6}"/>
              </a:ext>
            </a:extLst>
          </p:cNvPr>
          <p:cNvSpPr txBox="1">
            <a:spLocks noChangeArrowheads="1"/>
          </p:cNvSpPr>
          <p:nvPr/>
        </p:nvSpPr>
        <p:spPr bwMode="auto">
          <a:xfrm rot="19802972">
            <a:off x="6751638" y="4783138"/>
            <a:ext cx="811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lossy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B0C2D4-020D-8953-542B-5E112D12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>
            <a:extLst>
              <a:ext uri="{FF2B5EF4-FFF2-40B4-BE49-F238E27FC236}">
                <a16:creationId xmlns:a16="http://schemas.microsoft.com/office/drawing/2014/main" id="{FBA74CD9-1093-DED0-C705-AC49EC9BDF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sz="3200"/>
              <a:t>Chapter 3: Data Preprocessing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883E3EF9-A042-60EA-47CA-952088FF6BB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905000" y="1371600"/>
            <a:ext cx="8229600" cy="5105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Preprocessing: An Overview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Data Quality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/>
              <a:t>Major Tasks in Data Preprocessing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Cleaning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Integration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Reduction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 dirty="0"/>
              <a:t>Data Transformation and Data Discretization</a:t>
            </a:r>
          </a:p>
        </p:txBody>
      </p:sp>
      <p:sp>
        <p:nvSpPr>
          <p:cNvPr id="54277" name="AutoShape 4">
            <a:extLst>
              <a:ext uri="{FF2B5EF4-FFF2-40B4-BE49-F238E27FC236}">
                <a16:creationId xmlns:a16="http://schemas.microsoft.com/office/drawing/2014/main" id="{BA7B0E5C-EB2F-340E-7597-1570CE1D78FE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8534400" y="5105401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243CA2-18E5-0A0D-503A-C32ABDFB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A1F2A79D-7A56-364A-FF3A-97ED1F262E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19301" y="304800"/>
            <a:ext cx="8054975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Data Transformation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71779328-4861-51DD-037A-A814DD1173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219200"/>
            <a:ext cx="8305800" cy="53340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A function that maps the entire set of values of a given attribute to a new set of replacement values s.t. each old value can be identified with one of the new values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Methods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Smoothing: Remove noise from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Attribute/feature construction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/>
              <a:t>New attributes constructed from the given ones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Aggregation: Summarization, data cube construction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Normalization: Scaled to fall within a smaller, specified range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/>
              <a:t>min-max normalization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/>
              <a:t>z-score normalization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en-US"/>
              <a:t>normalization by decimal scaling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Discretization: Concept hierarchy climbing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6E3DEA-5A4C-0A6F-CCEF-2B4EC362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>
            <a:extLst>
              <a:ext uri="{FF2B5EF4-FFF2-40B4-BE49-F238E27FC236}">
                <a16:creationId xmlns:a16="http://schemas.microsoft.com/office/drawing/2014/main" id="{9011EA83-B872-5F56-7DFB-31E278FD2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810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Normalization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0755AAA0-25B2-1CC1-F354-D5E9BE8E71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295400"/>
            <a:ext cx="83058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b="1"/>
              <a:t>Min-max normalization</a:t>
            </a:r>
            <a:r>
              <a:rPr lang="en-US" altLang="en-US" sz="2000"/>
              <a:t>: to [new_min</a:t>
            </a:r>
            <a:r>
              <a:rPr lang="en-US" altLang="en-US" sz="2000" baseline="-25000"/>
              <a:t>A</a:t>
            </a:r>
            <a:r>
              <a:rPr lang="en-US" altLang="en-US" sz="2000"/>
              <a:t>, new_max</a:t>
            </a:r>
            <a:r>
              <a:rPr lang="en-US" altLang="en-US" sz="2000" baseline="-25000"/>
              <a:t>A</a:t>
            </a:r>
            <a:r>
              <a:rPr lang="en-US" altLang="en-US" sz="2000"/>
              <a:t>]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 sz="2000"/>
          </a:p>
          <a:p>
            <a:pPr lvl="1" eaLnBrk="1" hangingPunct="1">
              <a:lnSpc>
                <a:spcPct val="120000"/>
              </a:lnSpc>
            </a:pPr>
            <a:endParaRPr lang="en-US" altLang="en-US" sz="2000"/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Ex.  Let income range $12,000 to $98,000 normalized to [0.0, 1.0].  Then $73,000 is mapped to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b="1"/>
              <a:t>Z-score normalization</a:t>
            </a:r>
            <a:r>
              <a:rPr lang="en-US" altLang="en-US" sz="2000"/>
              <a:t> (</a:t>
            </a:r>
            <a:r>
              <a:rPr lang="el-GR" altLang="en-US" sz="2000"/>
              <a:t>μ</a:t>
            </a:r>
            <a:r>
              <a:rPr lang="en-US" altLang="en-US" sz="2000"/>
              <a:t>: mean, </a:t>
            </a:r>
            <a:r>
              <a:rPr lang="el-GR" altLang="en-US" sz="2000"/>
              <a:t>σ</a:t>
            </a:r>
            <a:r>
              <a:rPr lang="en-US" altLang="en-US" sz="2000"/>
              <a:t>: standard deviation):</a:t>
            </a:r>
          </a:p>
          <a:p>
            <a:pPr eaLnBrk="1" hangingPunct="1">
              <a:lnSpc>
                <a:spcPct val="120000"/>
              </a:lnSpc>
            </a:pPr>
            <a:endParaRPr lang="en-US" altLang="en-US" sz="2000"/>
          </a:p>
          <a:p>
            <a:pPr lvl="1" eaLnBrk="1" hangingPunct="1">
              <a:lnSpc>
                <a:spcPct val="120000"/>
              </a:lnSpc>
            </a:pPr>
            <a:endParaRPr lang="en-US" altLang="en-US" sz="2000"/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Ex. Let </a:t>
            </a:r>
            <a:r>
              <a:rPr lang="el-GR" altLang="en-US" sz="2000"/>
              <a:t>μ</a:t>
            </a:r>
            <a:r>
              <a:rPr lang="en-US" altLang="en-US" sz="2000"/>
              <a:t> = 54,000, </a:t>
            </a:r>
            <a:r>
              <a:rPr lang="el-GR" altLang="en-US" sz="2000"/>
              <a:t>σ</a:t>
            </a:r>
            <a:r>
              <a:rPr lang="en-US" altLang="en-US" sz="2000"/>
              <a:t> = 16,000.  Then</a:t>
            </a:r>
            <a:endParaRPr lang="el-GR" altLang="en-US" sz="2000"/>
          </a:p>
          <a:p>
            <a:pPr eaLnBrk="1" hangingPunct="1">
              <a:lnSpc>
                <a:spcPct val="120000"/>
              </a:lnSpc>
            </a:pPr>
            <a:r>
              <a:rPr lang="en-US" altLang="en-US" sz="2000" b="1"/>
              <a:t>Normalization by decimal scaling</a:t>
            </a:r>
          </a:p>
        </p:txBody>
      </p:sp>
      <p:graphicFrame>
        <p:nvGraphicFramePr>
          <p:cNvPr id="56325" name="Object 4">
            <a:extLst>
              <a:ext uri="{FF2B5EF4-FFF2-40B4-BE49-F238E27FC236}">
                <a16:creationId xmlns:a16="http://schemas.microsoft.com/office/drawing/2014/main" id="{4F0F82C0-FA12-E26A-D484-286994BB7EA4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6705600" y="2895600"/>
          <a:ext cx="2514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1206400" imgH="9652000" progId="Equation.3">
                  <p:embed/>
                </p:oleObj>
              </mc:Choice>
              <mc:Fallback>
                <p:oleObj name="Equation" r:id="rId3" imgW="51206400" imgH="9652000" progId="Equation.3">
                  <p:embed/>
                  <p:pic>
                    <p:nvPicPr>
                      <p:cNvPr id="56325" name="Object 4">
                        <a:extLst>
                          <a:ext uri="{FF2B5EF4-FFF2-40B4-BE49-F238E27FC236}">
                            <a16:creationId xmlns:a16="http://schemas.microsoft.com/office/drawing/2014/main" id="{4F0F82C0-FA12-E26A-D484-286994BB7E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895600"/>
                        <a:ext cx="25146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5">
            <a:extLst>
              <a:ext uri="{FF2B5EF4-FFF2-40B4-BE49-F238E27FC236}">
                <a16:creationId xmlns:a16="http://schemas.microsoft.com/office/drawing/2014/main" id="{D427FB6A-FB91-5851-F33F-6416097789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828801"/>
          <a:ext cx="59436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949300" imgH="9067800" progId="Equation.3">
                  <p:embed/>
                </p:oleObj>
              </mc:Choice>
              <mc:Fallback>
                <p:oleObj name="Equation" r:id="rId5" imgW="76949300" imgH="9067800" progId="Equation.3">
                  <p:embed/>
                  <p:pic>
                    <p:nvPicPr>
                      <p:cNvPr id="56326" name="Object 5">
                        <a:extLst>
                          <a:ext uri="{FF2B5EF4-FFF2-40B4-BE49-F238E27FC236}">
                            <a16:creationId xmlns:a16="http://schemas.microsoft.com/office/drawing/2014/main" id="{D427FB6A-FB91-5851-F33F-6416097789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28801"/>
                        <a:ext cx="59436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6">
            <a:extLst>
              <a:ext uri="{FF2B5EF4-FFF2-40B4-BE49-F238E27FC236}">
                <a16:creationId xmlns:a16="http://schemas.microsoft.com/office/drawing/2014/main" id="{E70FC1DD-5630-8B52-4032-5223125A7B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886200"/>
          <a:ext cx="14478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630400" imgH="9067800" progId="Equation.3">
                  <p:embed/>
                </p:oleObj>
              </mc:Choice>
              <mc:Fallback>
                <p:oleObj name="Equation" r:id="rId7" imgW="14630400" imgH="9067800" progId="Equation.3">
                  <p:embed/>
                  <p:pic>
                    <p:nvPicPr>
                      <p:cNvPr id="56327" name="Object 6">
                        <a:extLst>
                          <a:ext uri="{FF2B5EF4-FFF2-40B4-BE49-F238E27FC236}">
                            <a16:creationId xmlns:a16="http://schemas.microsoft.com/office/drawing/2014/main" id="{E70FC1DD-5630-8B52-4032-5223125A7B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886200"/>
                        <a:ext cx="14478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7">
            <a:extLst>
              <a:ext uri="{FF2B5EF4-FFF2-40B4-BE49-F238E27FC236}">
                <a16:creationId xmlns:a16="http://schemas.microsoft.com/office/drawing/2014/main" id="{66AC1217-8035-4CD9-859F-11CF055AB2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486401"/>
          <a:ext cx="10668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04600" imgH="9067800" progId="Equation.3">
                  <p:embed/>
                </p:oleObj>
              </mc:Choice>
              <mc:Fallback>
                <p:oleObj name="Equation" r:id="rId9" imgW="11404600" imgH="9067800" progId="Equation.3">
                  <p:embed/>
                  <p:pic>
                    <p:nvPicPr>
                      <p:cNvPr id="56328" name="Object 7">
                        <a:extLst>
                          <a:ext uri="{FF2B5EF4-FFF2-40B4-BE49-F238E27FC236}">
                            <a16:creationId xmlns:a16="http://schemas.microsoft.com/office/drawing/2014/main" id="{66AC1217-8035-4CD9-859F-11CF055AB2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486401"/>
                        <a:ext cx="10668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9" name="Object 8">
            <a:extLst>
              <a:ext uri="{FF2B5EF4-FFF2-40B4-BE49-F238E27FC236}">
                <a16:creationId xmlns:a16="http://schemas.microsoft.com/office/drawing/2014/main" id="{9F92DF86-AADF-DED7-EF7F-0E8103F680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1" y="3321051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28900" imgH="4978400" progId="Equation.3">
                  <p:embed/>
                </p:oleObj>
              </mc:Choice>
              <mc:Fallback>
                <p:oleObj name="Equation" r:id="rId11" imgW="2628900" imgH="4978400" progId="Equation.3">
                  <p:embed/>
                  <p:pic>
                    <p:nvPicPr>
                      <p:cNvPr id="56329" name="Object 8">
                        <a:extLst>
                          <a:ext uri="{FF2B5EF4-FFF2-40B4-BE49-F238E27FC236}">
                            <a16:creationId xmlns:a16="http://schemas.microsoft.com/office/drawing/2014/main" id="{9F92DF86-AADF-DED7-EF7F-0E8103F680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1" y="3321051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Text Box 9">
            <a:extLst>
              <a:ext uri="{FF2B5EF4-FFF2-40B4-BE49-F238E27FC236}">
                <a16:creationId xmlns:a16="http://schemas.microsoft.com/office/drawing/2014/main" id="{25B5B5B2-C416-793A-6223-AA2E0120C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5638800"/>
            <a:ext cx="6126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2000">
                <a:latin typeface="Times New Roman" panose="02020603050405020304" pitchFamily="18" charset="0"/>
              </a:rPr>
              <a:t>Where 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 is the smallest integer such that Max(|</a:t>
            </a:r>
            <a:r>
              <a:rPr lang="el-GR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ν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2000">
                <a:latin typeface="Times New Roman" panose="02020603050405020304" pitchFamily="18" charset="0"/>
              </a:rPr>
              <a:t>|) &lt; 1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56331" name="Object 10">
            <a:extLst>
              <a:ext uri="{FF2B5EF4-FFF2-40B4-BE49-F238E27FC236}">
                <a16:creationId xmlns:a16="http://schemas.microsoft.com/office/drawing/2014/main" id="{6DFFA200-8169-90EF-3B4F-E2239C28E33D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7086601" y="4592638"/>
          <a:ext cx="19526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518600" imgH="9652000" progId="Equation.3">
                  <p:embed/>
                </p:oleObj>
              </mc:Choice>
              <mc:Fallback>
                <p:oleObj name="Equation" r:id="rId13" imgW="34518600" imgH="9652000" progId="Equation.3">
                  <p:embed/>
                  <p:pic>
                    <p:nvPicPr>
                      <p:cNvPr id="56331" name="Object 10">
                        <a:extLst>
                          <a:ext uri="{FF2B5EF4-FFF2-40B4-BE49-F238E27FC236}">
                            <a16:creationId xmlns:a16="http://schemas.microsoft.com/office/drawing/2014/main" id="{6DFFA200-8169-90EF-3B4F-E2239C28E3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592638"/>
                        <a:ext cx="19526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AF030C-EFF5-32A6-BF2E-5A6A37A5E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63C97A-1A61-43C2-9A71-CFE5CD1BBA9D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>
            <a:extLst>
              <a:ext uri="{FF2B5EF4-FFF2-40B4-BE49-F238E27FC236}">
                <a16:creationId xmlns:a16="http://schemas.microsoft.com/office/drawing/2014/main" id="{0544175F-BF14-5CCA-645C-401D8AF0A0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Discretization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510366D5-F82D-70CF-2A90-F2DF359DF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219200"/>
            <a:ext cx="8534400" cy="5334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Three types of attributes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Nominal—values from an unordered set, e.g., color, profession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Ordinal—values from an ordered set, e.g., military or academic rank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Numeric—real numbers, e.g., integer or real numbers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Discretization: Divide the range of a continuous attribute into intervals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Interval labels can then be used to replace actual data values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Reduce data size by discretization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Supervised vs. unsupervised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Split (top-down) vs. merge (bottom-up)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Discretization can be performed recursively on an attribute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Prepare for further analysis, e.g., classification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20E658-E347-1C5C-C1DB-77DEE54D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061">
            <a:extLst>
              <a:ext uri="{FF2B5EF4-FFF2-40B4-BE49-F238E27FC236}">
                <a16:creationId xmlns:a16="http://schemas.microsoft.com/office/drawing/2014/main" id="{439F96AA-8716-AC9C-D75C-3FBEBD5C6B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7AC13521-2B44-614D-85AD-9406E089E41C}" type="slidenum">
              <a:rPr lang="en-US" altLang="en-US" sz="1200"/>
              <a:pPr algn="r" eaLnBrk="1" hangingPunct="1"/>
              <a:t>38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0F0E2B47-7180-60EE-B335-A4485F376F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28600"/>
            <a:ext cx="8991600" cy="762000"/>
          </a:xfrm>
        </p:spPr>
        <p:txBody>
          <a:bodyPr/>
          <a:lstStyle/>
          <a:p>
            <a:pPr eaLnBrk="1" hangingPunct="1"/>
            <a:r>
              <a:rPr lang="en-US" altLang="en-US"/>
              <a:t>Data Discretization Methods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078A6017-9B71-CC64-D798-AE46032609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28800" y="1295400"/>
            <a:ext cx="86106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Typical methods: All the methods can be applied recursively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chemeClr val="hlink"/>
                </a:solidFill>
              </a:rPr>
              <a:t>Binning</a:t>
            </a:r>
            <a:r>
              <a:rPr lang="en-US" altLang="en-US"/>
              <a:t> 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/>
              <a:t>Top-down split, unsupervised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chemeClr val="hlink"/>
                </a:solidFill>
              </a:rPr>
              <a:t>Histogram analysis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/>
              <a:t>Top-down split, unsupervised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chemeClr val="hlink"/>
                </a:solidFill>
              </a:rPr>
              <a:t>Clustering analysis</a:t>
            </a:r>
            <a:r>
              <a:rPr lang="en-US" altLang="en-US"/>
              <a:t> (unsupervised, top-down split or bottom-up merge)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chemeClr val="hlink"/>
                </a:solidFill>
              </a:rPr>
              <a:t>Decision-tree analysis</a:t>
            </a:r>
            <a:r>
              <a:rPr lang="en-US" altLang="en-US"/>
              <a:t> (supervised, top-down split)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solidFill>
                  <a:schemeClr val="hlink"/>
                </a:solidFill>
                <a:sym typeface="Symbol" pitchFamily="2" charset="2"/>
              </a:rPr>
              <a:t>Correlation (e.g., </a:t>
            </a:r>
            <a:r>
              <a:rPr lang="en-US" altLang="en-US" baseline="30000">
                <a:solidFill>
                  <a:schemeClr val="hlink"/>
                </a:solidFill>
              </a:rPr>
              <a:t>2</a:t>
            </a:r>
            <a:r>
              <a:rPr lang="en-US" altLang="en-US">
                <a:solidFill>
                  <a:schemeClr val="hlink"/>
                </a:solidFill>
              </a:rPr>
              <a:t>) analysis</a:t>
            </a:r>
            <a:r>
              <a:rPr lang="en-US" altLang="en-US"/>
              <a:t> (unsupervised, bottom-up merge)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E74501-71A2-A6F7-E105-97DDA83A0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061">
            <a:extLst>
              <a:ext uri="{FF2B5EF4-FFF2-40B4-BE49-F238E27FC236}">
                <a16:creationId xmlns:a16="http://schemas.microsoft.com/office/drawing/2014/main" id="{2DF9B507-2C39-AA01-E310-96B325FD0BD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8763000" y="6477000"/>
            <a:ext cx="1905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FBA78BF4-FC44-C041-96A8-12F80F336F51}" type="slidenum">
              <a:rPr lang="en-US" altLang="en-US" sz="1200"/>
              <a:pPr algn="r" eaLnBrk="1" hangingPunct="1"/>
              <a:t>39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14F087DA-9DC1-E695-F593-D2ABCDC9712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52600" y="0"/>
            <a:ext cx="8585200" cy="1219200"/>
          </a:xfrm>
        </p:spPr>
        <p:txBody>
          <a:bodyPr/>
          <a:lstStyle/>
          <a:p>
            <a:pPr eaLnBrk="1" hangingPunct="1"/>
            <a:r>
              <a:rPr lang="en-US" altLang="en-US" sz="4000">
                <a:cs typeface="Times New Roman" panose="02020603050405020304" pitchFamily="18" charset="0"/>
              </a:rPr>
              <a:t>Discretization by </a:t>
            </a:r>
            <a:r>
              <a:rPr lang="en-US" altLang="en-US" sz="4000"/>
              <a:t>Classification &amp; Correlation Analysis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3B79D22-9EF8-74C7-2183-AADA075C4FB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295400"/>
            <a:ext cx="8394700" cy="5181600"/>
          </a:xfrm>
          <a:noFill/>
        </p:spPr>
        <p:txBody>
          <a:bodyPr vert="horz" lIns="90488" tIns="44450" rIns="90488" bIns="44450" rtlCol="0">
            <a:normAutofit/>
          </a:bodyPr>
          <a:lstStyle/>
          <a:p>
            <a:pPr marL="285750" indent="-285750" algn="just">
              <a:lnSpc>
                <a:spcPct val="145000"/>
              </a:lnSpc>
              <a:tabLst>
                <a:tab pos="1198563" algn="l"/>
              </a:tabLst>
            </a:pPr>
            <a:r>
              <a:rPr lang="en-US" altLang="en-US" sz="2000" dirty="0">
                <a:cs typeface="Times New Roman" panose="02020603050405020304" pitchFamily="18" charset="0"/>
              </a:rPr>
              <a:t>Classification (e.g., decision tree analysis)</a:t>
            </a:r>
          </a:p>
          <a:p>
            <a:pPr lvl="1" algn="just">
              <a:lnSpc>
                <a:spcPct val="145000"/>
              </a:lnSpc>
              <a:tabLst>
                <a:tab pos="1198563" algn="l"/>
              </a:tabLst>
            </a:pPr>
            <a:r>
              <a:rPr lang="en-US" altLang="en-US" sz="2000" dirty="0"/>
              <a:t>Supervised: Given class labels, e.g., cancerous vs. benign</a:t>
            </a:r>
          </a:p>
          <a:p>
            <a:pPr lvl="1" algn="just">
              <a:lnSpc>
                <a:spcPct val="145000"/>
              </a:lnSpc>
              <a:tabLst>
                <a:tab pos="1198563" algn="l"/>
              </a:tabLst>
            </a:pPr>
            <a:r>
              <a:rPr lang="en-US" altLang="en-US" sz="2000" dirty="0">
                <a:cs typeface="Times New Roman" panose="02020603050405020304" pitchFamily="18" charset="0"/>
              </a:rPr>
              <a:t>Using </a:t>
            </a:r>
            <a:r>
              <a:rPr lang="en-US" altLang="en-US" sz="2000" i="1" dirty="0">
                <a:cs typeface="Times New Roman" panose="02020603050405020304" pitchFamily="18" charset="0"/>
              </a:rPr>
              <a:t>entropy</a:t>
            </a:r>
            <a:r>
              <a:rPr lang="en-US" altLang="en-US" sz="2000" dirty="0">
                <a:cs typeface="Times New Roman" panose="02020603050405020304" pitchFamily="18" charset="0"/>
              </a:rPr>
              <a:t> to determine split point (discretization point)</a:t>
            </a:r>
            <a:endParaRPr lang="en-US" altLang="en-US" sz="2000" dirty="0"/>
          </a:p>
          <a:p>
            <a:pPr lvl="1" algn="just">
              <a:lnSpc>
                <a:spcPct val="145000"/>
              </a:lnSpc>
              <a:tabLst>
                <a:tab pos="1198563" algn="l"/>
              </a:tabLst>
            </a:pPr>
            <a:r>
              <a:rPr lang="en-US" altLang="en-US" sz="2000" dirty="0"/>
              <a:t>Top-down, recursive split</a:t>
            </a:r>
          </a:p>
          <a:p>
            <a:pPr marL="457200" lvl="1" indent="0" algn="just">
              <a:lnSpc>
                <a:spcPct val="145000"/>
              </a:lnSpc>
              <a:buNone/>
              <a:tabLst>
                <a:tab pos="1198563" algn="l"/>
              </a:tabLst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45000"/>
              </a:lnSpc>
              <a:tabLst>
                <a:tab pos="1198563" algn="l"/>
              </a:tabLst>
            </a:pPr>
            <a:r>
              <a:rPr lang="en-US" altLang="en-US" sz="2000" dirty="0">
                <a:cs typeface="Times New Roman" panose="02020603050405020304" pitchFamily="18" charset="0"/>
              </a:rPr>
              <a:t>Correlation analysis (e.g., Chi-merge: </a:t>
            </a:r>
            <a:r>
              <a:rPr lang="el-GR" altLang="en-US" sz="2000" dirty="0">
                <a:cs typeface="Tahoma" panose="020B0604030504040204" pitchFamily="34" charset="0"/>
              </a:rPr>
              <a:t>χ</a:t>
            </a:r>
            <a:r>
              <a:rPr lang="en-US" altLang="en-US" sz="2000" baseline="30000" dirty="0">
                <a:cs typeface="Tahoma" panose="020B0604030504040204" pitchFamily="34" charset="0"/>
              </a:rPr>
              <a:t>2</a:t>
            </a:r>
            <a:r>
              <a:rPr lang="en-US" altLang="en-US" sz="2000" dirty="0">
                <a:cs typeface="Tahoma" panose="020B0604030504040204" pitchFamily="34" charset="0"/>
              </a:rPr>
              <a:t>-based discretization</a:t>
            </a:r>
            <a:r>
              <a:rPr lang="en-US" altLang="en-US" sz="2000" dirty="0">
                <a:cs typeface="Times New Roman" panose="02020603050405020304" pitchFamily="18" charset="0"/>
              </a:rPr>
              <a:t>)</a:t>
            </a:r>
            <a:endParaRPr lang="en-US" altLang="en-US" sz="2000" dirty="0">
              <a:cs typeface="Tahoma" panose="020B0604030504040204" pitchFamily="34" charset="0"/>
            </a:endParaRPr>
          </a:p>
          <a:p>
            <a:pPr lvl="1" algn="just">
              <a:lnSpc>
                <a:spcPct val="145000"/>
              </a:lnSpc>
              <a:tabLst>
                <a:tab pos="1198563" algn="l"/>
              </a:tabLst>
            </a:pPr>
            <a:r>
              <a:rPr lang="en-US" altLang="en-US" sz="2000" dirty="0">
                <a:cs typeface="Tahoma" panose="020B0604030504040204" pitchFamily="34" charset="0"/>
              </a:rPr>
              <a:t>Supervised: use class information</a:t>
            </a:r>
          </a:p>
          <a:p>
            <a:pPr lvl="1" algn="just">
              <a:lnSpc>
                <a:spcPct val="145000"/>
              </a:lnSpc>
              <a:tabLst>
                <a:tab pos="1198563" algn="l"/>
              </a:tabLst>
            </a:pPr>
            <a:r>
              <a:rPr lang="en-US" altLang="en-US" sz="2000" dirty="0">
                <a:cs typeface="Tahoma" panose="020B0604030504040204" pitchFamily="34" charset="0"/>
              </a:rPr>
              <a:t>Bottom-up merge: find the best neighboring intervals (those having similar distributions of classes, i.e., low </a:t>
            </a:r>
            <a:r>
              <a:rPr lang="el-GR" altLang="en-US" sz="2000" dirty="0">
                <a:cs typeface="Tahoma" panose="020B0604030504040204" pitchFamily="34" charset="0"/>
              </a:rPr>
              <a:t>χ</a:t>
            </a:r>
            <a:r>
              <a:rPr lang="en-US" altLang="en-US" sz="2000" baseline="30000" dirty="0">
                <a:cs typeface="Tahoma" panose="020B0604030504040204" pitchFamily="34" charset="0"/>
              </a:rPr>
              <a:t>2</a:t>
            </a:r>
            <a:r>
              <a:rPr lang="en-US" altLang="en-US" sz="2000" dirty="0">
                <a:cs typeface="Tahoma" panose="020B0604030504040204" pitchFamily="34" charset="0"/>
              </a:rPr>
              <a:t> values) to merge</a:t>
            </a:r>
          </a:p>
          <a:p>
            <a:pPr lvl="1" algn="just">
              <a:lnSpc>
                <a:spcPct val="145000"/>
              </a:lnSpc>
              <a:tabLst>
                <a:tab pos="1198563" algn="l"/>
              </a:tabLst>
            </a:pPr>
            <a:r>
              <a:rPr lang="en-US" altLang="en-US" sz="2000" dirty="0">
                <a:cs typeface="Tahoma" panose="020B0604030504040204" pitchFamily="34" charset="0"/>
              </a:rPr>
              <a:t>Merge performed recursively, until a predefined stopping condition</a:t>
            </a:r>
          </a:p>
        </p:txBody>
      </p:sp>
      <p:sp>
        <p:nvSpPr>
          <p:cNvPr id="62469" name="Text Box 4">
            <a:extLst>
              <a:ext uri="{FF2B5EF4-FFF2-40B4-BE49-F238E27FC236}">
                <a16:creationId xmlns:a16="http://schemas.microsoft.com/office/drawing/2014/main" id="{099B6B83-96B6-1310-E930-E6D87CC2F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62470" name="Rectangle 7">
            <a:extLst>
              <a:ext uri="{FF2B5EF4-FFF2-40B4-BE49-F238E27FC236}">
                <a16:creationId xmlns:a16="http://schemas.microsoft.com/office/drawing/2014/main" id="{3CD565AD-2B16-DA7C-CAA3-08D35D276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259300-348D-4B4A-0556-8E93494D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>
            <a:extLst>
              <a:ext uri="{FF2B5EF4-FFF2-40B4-BE49-F238E27FC236}">
                <a16:creationId xmlns:a16="http://schemas.microsoft.com/office/drawing/2014/main" id="{2B916914-E47D-E73C-1E3A-8607A1B20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Concept Hierarchy Generation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8541258C-88EB-3963-05E4-24149E53E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5344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b="1"/>
              <a:t>Concept hierarchy</a:t>
            </a:r>
            <a:r>
              <a:rPr lang="en-US" altLang="en-US" sz="2000"/>
              <a:t> organizes concepts (i.e., attribute values) hierarchically and is usually associated with each dimension in a data warehouse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Concept hierarchies facilitate </a:t>
            </a:r>
            <a:r>
              <a:rPr lang="en-US" altLang="en-US" sz="2000" u="sng"/>
              <a:t>drilling and rolling</a:t>
            </a:r>
            <a:r>
              <a:rPr lang="en-US" altLang="en-US" sz="2000"/>
              <a:t> in data warehouses to view data in multiple granularity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Concept hierarchy formation: Recursively reduce the data by collecting and replacing low level concepts (such as numeric values for </a:t>
            </a:r>
            <a:r>
              <a:rPr lang="en-US" altLang="en-US" sz="2000" i="1"/>
              <a:t>age</a:t>
            </a:r>
            <a:r>
              <a:rPr lang="en-US" altLang="en-US" sz="2000"/>
              <a:t>) by higher level concepts (such as </a:t>
            </a:r>
            <a:r>
              <a:rPr lang="en-US" altLang="en-US" sz="2000" i="1"/>
              <a:t>youth, adult</a:t>
            </a:r>
            <a:r>
              <a:rPr lang="en-US" altLang="en-US" sz="2000"/>
              <a:t>, or </a:t>
            </a:r>
            <a:r>
              <a:rPr lang="en-US" altLang="en-US" sz="2000" i="1"/>
              <a:t>senior</a:t>
            </a:r>
            <a:r>
              <a:rPr lang="en-US" altLang="en-US" sz="2000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Concept hierarchies can be explicitly specified by domain experts and/or data warehouse designers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Concept hierarchy can be automatically formed for both numeric and nominal data.  For numeric data, use discretization methods shown.</a:t>
            </a:r>
          </a:p>
          <a:p>
            <a:pPr eaLnBrk="1" hangingPunct="1">
              <a:lnSpc>
                <a:spcPct val="120000"/>
              </a:lnSpc>
            </a:pPr>
            <a:endParaRPr lang="en-US" altLang="en-US" sz="2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F03066-6206-22E3-C5B7-E3B558CB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>
            <a:extLst>
              <a:ext uri="{FF2B5EF4-FFF2-40B4-BE49-F238E27FC236}">
                <a16:creationId xmlns:a16="http://schemas.microsoft.com/office/drawing/2014/main" id="{526CA606-A812-4704-EBB9-AC01F5424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944880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/>
              <a:t>Concept Hierarchy Generation </a:t>
            </a:r>
            <a:br>
              <a:rPr lang="en-US" altLang="en-US" sz="3200"/>
            </a:br>
            <a:r>
              <a:rPr lang="en-US" altLang="en-US" sz="3200"/>
              <a:t>for Nominal Data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9BB5841-564F-34C7-A16B-2FCEA547F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8458200" cy="5105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Specification of a partial/total ordering of attributes explicitly at the schema level by users or experts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i="1"/>
              <a:t>street</a:t>
            </a:r>
            <a:r>
              <a:rPr lang="en-US" altLang="en-US"/>
              <a:t> &lt; </a:t>
            </a:r>
            <a:r>
              <a:rPr lang="en-US" altLang="en-US" i="1"/>
              <a:t>city</a:t>
            </a:r>
            <a:r>
              <a:rPr lang="en-US" altLang="en-US"/>
              <a:t> &lt; </a:t>
            </a:r>
            <a:r>
              <a:rPr lang="en-US" altLang="en-US" i="1"/>
              <a:t>state</a:t>
            </a:r>
            <a:r>
              <a:rPr lang="en-US" altLang="en-US"/>
              <a:t> &lt; </a:t>
            </a:r>
            <a:r>
              <a:rPr lang="en-US" altLang="en-US" i="1"/>
              <a:t>country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Specification of a hierarchy for a set of values by explicit data grouping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{Urbana, Champaign, Chicago} &lt; Illinois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Specification of only a partial set of attributes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E.g., only </a:t>
            </a:r>
            <a:r>
              <a:rPr lang="en-US" altLang="en-US" i="1"/>
              <a:t>street</a:t>
            </a:r>
            <a:r>
              <a:rPr lang="en-US" altLang="en-US"/>
              <a:t> &lt; </a:t>
            </a:r>
            <a:r>
              <a:rPr lang="en-US" altLang="en-US" i="1"/>
              <a:t>city</a:t>
            </a:r>
            <a:r>
              <a:rPr lang="en-US" altLang="en-US"/>
              <a:t>, not others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Automatic generation of hierarchies (or attribute levels) by the analysis of the number of distinct values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E.g., for a set of attributes: {</a:t>
            </a:r>
            <a:r>
              <a:rPr lang="en-US" altLang="en-US" i="1"/>
              <a:t>street, city, state, country</a:t>
            </a:r>
            <a:r>
              <a:rPr lang="en-US" altLang="en-US"/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571161-0D73-B6CD-4D2C-92B892E6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3077">
            <a:extLst>
              <a:ext uri="{FF2B5EF4-FFF2-40B4-BE49-F238E27FC236}">
                <a16:creationId xmlns:a16="http://schemas.microsoft.com/office/drawing/2014/main" id="{F1C9C16B-A246-596B-DD08-0692B3DFDE3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537" b="20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082" name="Rectangle 308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4">
            <a:extLst>
              <a:ext uri="{FF2B5EF4-FFF2-40B4-BE49-F238E27FC236}">
                <a16:creationId xmlns:a16="http://schemas.microsoft.com/office/drawing/2014/main" id="{016B6D02-8AE9-4F7E-97B0-C9CCD7FC4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cs typeface="+mj-cs"/>
              </a:rPr>
              <a:t>Classification: Definition</a:t>
            </a:r>
          </a:p>
        </p:txBody>
      </p:sp>
      <p:graphicFrame>
        <p:nvGraphicFramePr>
          <p:cNvPr id="3077" name="Rectangle 5">
            <a:extLst>
              <a:ext uri="{FF2B5EF4-FFF2-40B4-BE49-F238E27FC236}">
                <a16:creationId xmlns:a16="http://schemas.microsoft.com/office/drawing/2014/main" id="{8742805C-6862-2538-3D30-55E862B980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21254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08F88-066F-92D0-BD77-F6C05EC1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9596" name="Rectangle 91959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598" name="Rectangle 91959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600" name="Rectangle 91959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602" name="Rectangle 91960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2DCC57B6-09B2-4859-968C-2D315575F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Examples of Classification Task</a:t>
            </a:r>
          </a:p>
        </p:txBody>
      </p:sp>
      <p:graphicFrame>
        <p:nvGraphicFramePr>
          <p:cNvPr id="919591" name="Group 39">
            <a:extLst>
              <a:ext uri="{FF2B5EF4-FFF2-40B4-BE49-F238E27FC236}">
                <a16:creationId xmlns:a16="http://schemas.microsoft.com/office/drawing/2014/main" id="{6E0B2BA6-834C-4F37-B8FC-CF6FAE691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071194"/>
              </p:ext>
            </p:extLst>
          </p:nvPr>
        </p:nvGraphicFramePr>
        <p:xfrm>
          <a:off x="1334686" y="2112579"/>
          <a:ext cx="9546571" cy="4192806"/>
        </p:xfrm>
        <a:graphic>
          <a:graphicData uri="http://schemas.openxmlformats.org/drawingml/2006/table">
            <a:tbl>
              <a:tblPr firstRow="1" bandRow="1"/>
              <a:tblGrid>
                <a:gridCol w="225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5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25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Task</a:t>
                      </a:r>
                    </a:p>
                  </a:txBody>
                  <a:tcPr marL="100789" marR="100789" marT="50394" marB="503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 set, </a:t>
                      </a:r>
                      <a:r>
                        <a:rPr kumimoji="0" lang="en-US" sz="2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L="100789" marR="100789" marT="50394" marB="503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label, </a:t>
                      </a:r>
                      <a:r>
                        <a:rPr kumimoji="0" lang="en-US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marL="100789" marR="100789" marT="50394" marB="503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05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Categorizing email messages</a:t>
                      </a:r>
                    </a:p>
                  </a:txBody>
                  <a:tcPr marL="100789" marR="100789" marT="50394" marB="503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email message header and content</a:t>
                      </a:r>
                    </a:p>
                  </a:txBody>
                  <a:tcPr marL="100789" marR="100789" marT="50394" marB="503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spam or non-spam</a:t>
                      </a:r>
                    </a:p>
                  </a:txBody>
                  <a:tcPr marL="100789" marR="100789" marT="50394" marB="503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7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Identifying tumor cells</a:t>
                      </a:r>
                    </a:p>
                  </a:txBody>
                  <a:tcPr marL="100789" marR="100789" marT="50394" marB="503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x-rays or MRI scans</a:t>
                      </a:r>
                    </a:p>
                  </a:txBody>
                  <a:tcPr marL="100789" marR="100789" marT="50394" marB="503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malignant or benign cells</a:t>
                      </a:r>
                    </a:p>
                  </a:txBody>
                  <a:tcPr marL="100789" marR="100789" marT="50394" marB="503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05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Cataloging galaxies</a:t>
                      </a:r>
                    </a:p>
                  </a:txBody>
                  <a:tcPr marL="100789" marR="100789" marT="50394" marB="503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telescope images</a:t>
                      </a:r>
                    </a:p>
                  </a:txBody>
                  <a:tcPr marL="100789" marR="100789" marT="50394" marB="503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Elliptical, spiral, or irregular-shaped galaxies</a:t>
                      </a:r>
                    </a:p>
                  </a:txBody>
                  <a:tcPr marL="100789" marR="100789" marT="50394" marB="503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682DA-2B4F-C938-1893-529694E7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DAD124-652D-4699-9BEB-BF0A63105A1A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5" name="Freeform: Shape 513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9304AC4-68D1-439E-9010-1939C98A2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General Approach for Building Classification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A24205-C6DD-4289-9A38-FEB9720E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123" y="467208"/>
            <a:ext cx="6196358" cy="59235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2E64A-A6F9-8172-75EA-DF4310525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8" name="Rectangle 102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0" name="Rectangle 1024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2" name="Rectangle 1025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46" name="Rectangle 4">
            <a:extLst>
              <a:ext uri="{FF2B5EF4-FFF2-40B4-BE49-F238E27FC236}">
                <a16:creationId xmlns:a16="http://schemas.microsoft.com/office/drawing/2014/main" id="{31FE5F76-0189-4571-9D7B-DC99E8170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sz="4000">
                <a:solidFill>
                  <a:srgbClr val="FFFFFF"/>
                </a:solidFill>
                <a:cs typeface="+mj-cs"/>
              </a:rPr>
              <a:t>Classification Techniques</a:t>
            </a:r>
          </a:p>
        </p:txBody>
      </p:sp>
      <p:graphicFrame>
        <p:nvGraphicFramePr>
          <p:cNvPr id="10244" name="Rectangle 5">
            <a:extLst>
              <a:ext uri="{FF2B5EF4-FFF2-40B4-BE49-F238E27FC236}">
                <a16:creationId xmlns:a16="http://schemas.microsoft.com/office/drawing/2014/main" id="{F62BCAEB-54A5-F1B2-D8D4-853E234B66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00263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B4E27-7970-024F-E6A7-847E2497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CC0A5A4-C05B-4EF2-B6EB-881B068D7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a Decision Tree</a:t>
            </a:r>
          </a:p>
        </p:txBody>
      </p:sp>
      <p:graphicFrame>
        <p:nvGraphicFramePr>
          <p:cNvPr id="11266" name="Object 4">
            <a:extLst>
              <a:ext uri="{FF2B5EF4-FFF2-40B4-BE49-F238E27FC236}">
                <a16:creationId xmlns:a16="http://schemas.microsoft.com/office/drawing/2014/main" id="{AAF733EE-AC48-417C-A650-8AA95D1D3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990726"/>
          <a:ext cx="3810000" cy="377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11266" name="Object 4">
                        <a:extLst>
                          <a:ext uri="{FF2B5EF4-FFF2-40B4-BE49-F238E27FC236}">
                            <a16:creationId xmlns:a16="http://schemas.microsoft.com/office/drawing/2014/main" id="{AAF733EE-AC48-417C-A650-8AA95D1D3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90726"/>
                        <a:ext cx="3810000" cy="377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5">
            <a:extLst>
              <a:ext uri="{FF2B5EF4-FFF2-40B4-BE49-F238E27FC236}">
                <a16:creationId xmlns:a16="http://schemas.microsoft.com/office/drawing/2014/main" id="{3621E2A5-F664-437B-AE78-7D73B7C096C2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2403189" y="13705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68" name="Text Box 6">
            <a:extLst>
              <a:ext uri="{FF2B5EF4-FFF2-40B4-BE49-F238E27FC236}">
                <a16:creationId xmlns:a16="http://schemas.microsoft.com/office/drawing/2014/main" id="{12F31BB3-3622-408D-93AE-1E2B768392EA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3088989" y="13705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69" name="Text Box 7">
            <a:extLst>
              <a:ext uri="{FF2B5EF4-FFF2-40B4-BE49-F238E27FC236}">
                <a16:creationId xmlns:a16="http://schemas.microsoft.com/office/drawing/2014/main" id="{CEF1E55E-15F9-4FB1-9AD2-4096F05313E4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3937508" y="13705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continuous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0" name="Text Box 8">
            <a:extLst>
              <a:ext uri="{FF2B5EF4-FFF2-40B4-BE49-F238E27FC236}">
                <a16:creationId xmlns:a16="http://schemas.microsoft.com/office/drawing/2014/main" id="{00F11CDF-7A5F-4A25-A27F-5E19BE37B18E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668705" y="1522998"/>
            <a:ext cx="6511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1" name="Line 9">
            <a:extLst>
              <a:ext uri="{FF2B5EF4-FFF2-40B4-BE49-F238E27FC236}">
                <a16:creationId xmlns:a16="http://schemas.microsoft.com/office/drawing/2014/main" id="{82EAE677-E585-4156-876E-0290EF4FE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9950" y="450532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10">
            <a:extLst>
              <a:ext uri="{FF2B5EF4-FFF2-40B4-BE49-F238E27FC236}">
                <a16:creationId xmlns:a16="http://schemas.microsoft.com/office/drawing/2014/main" id="{77ED1CC4-49CF-4F79-A87A-9B4560608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9650" y="450532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Line 11">
            <a:extLst>
              <a:ext uri="{FF2B5EF4-FFF2-40B4-BE49-F238E27FC236}">
                <a16:creationId xmlns:a16="http://schemas.microsoft.com/office/drawing/2014/main" id="{52BA86D1-67C3-433A-AACE-C464A5A190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5764" y="37115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2">
            <a:extLst>
              <a:ext uri="{FF2B5EF4-FFF2-40B4-BE49-F238E27FC236}">
                <a16:creationId xmlns:a16="http://schemas.microsoft.com/office/drawing/2014/main" id="{A7BED808-9C10-478B-9B3B-A9AC1809C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9217025" y="37115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Line 13">
            <a:extLst>
              <a:ext uri="{FF2B5EF4-FFF2-40B4-BE49-F238E27FC236}">
                <a16:creationId xmlns:a16="http://schemas.microsoft.com/office/drawing/2014/main" id="{80E001A5-6780-480F-ABAA-39BF00435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7688" y="29845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14">
            <a:extLst>
              <a:ext uri="{FF2B5EF4-FFF2-40B4-BE49-F238E27FC236}">
                <a16:creationId xmlns:a16="http://schemas.microsoft.com/office/drawing/2014/main" id="{8D54B519-3549-4FC6-A7BA-9E2644A641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0" y="29845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Text Box 15">
            <a:extLst>
              <a:ext uri="{FF2B5EF4-FFF2-40B4-BE49-F238E27FC236}">
                <a16:creationId xmlns:a16="http://schemas.microsoft.com/office/drawing/2014/main" id="{069D5BD2-820C-412A-B6B0-62846A9D6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026" y="2530476"/>
            <a:ext cx="936625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8" name="Text Box 16">
            <a:extLst>
              <a:ext uri="{FF2B5EF4-FFF2-40B4-BE49-F238E27FC236}">
                <a16:creationId xmlns:a16="http://schemas.microsoft.com/office/drawing/2014/main" id="{8C8FDB0A-874F-41DF-874F-3ED923F47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344805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9" name="Text Box 17">
            <a:extLst>
              <a:ext uri="{FF2B5EF4-FFF2-40B4-BE49-F238E27FC236}">
                <a16:creationId xmlns:a16="http://schemas.microsoft.com/office/drawing/2014/main" id="{90756A9E-17D5-4C9B-B6F1-3D7F0D639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539" y="424021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0" name="AutoShape 18">
            <a:extLst>
              <a:ext uri="{FF2B5EF4-FFF2-40B4-BE49-F238E27FC236}">
                <a16:creationId xmlns:a16="http://schemas.microsoft.com/office/drawing/2014/main" id="{FD2811B5-DCF5-4B53-8300-1207982C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638" y="5029201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1" name="Text Box 19">
            <a:extLst>
              <a:ext uri="{FF2B5EF4-FFF2-40B4-BE49-F238E27FC236}">
                <a16:creationId xmlns:a16="http://schemas.microsoft.com/office/drawing/2014/main" id="{666E12E6-A47F-4131-8ACB-CDA366AA4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3438" y="50292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2" name="AutoShape 20">
            <a:extLst>
              <a:ext uri="{FF2B5EF4-FFF2-40B4-BE49-F238E27FC236}">
                <a16:creationId xmlns:a16="http://schemas.microsoft.com/office/drawing/2014/main" id="{59367DB1-AA95-409A-BAB9-E1B9AC753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388" y="5046664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3" name="Text Box 21">
            <a:extLst>
              <a:ext uri="{FF2B5EF4-FFF2-40B4-BE49-F238E27FC236}">
                <a16:creationId xmlns:a16="http://schemas.microsoft.com/office/drawing/2014/main" id="{70F9981D-6F2D-4A8A-AC4E-50B624AC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5032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4" name="AutoShape 22">
            <a:extLst>
              <a:ext uri="{FF2B5EF4-FFF2-40B4-BE49-F238E27FC236}">
                <a16:creationId xmlns:a16="http://schemas.microsoft.com/office/drawing/2014/main" id="{90EC9A02-70FF-437E-A083-E036EBC7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2238" y="34623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5" name="Text Box 23">
            <a:extLst>
              <a:ext uri="{FF2B5EF4-FFF2-40B4-BE49-F238E27FC236}">
                <a16:creationId xmlns:a16="http://schemas.microsoft.com/office/drawing/2014/main" id="{8C2D9E2E-C19E-4553-9C99-F6A573014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34480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1286" name="AutoShape 24">
            <a:extLst>
              <a:ext uri="{FF2B5EF4-FFF2-40B4-BE49-F238E27FC236}">
                <a16:creationId xmlns:a16="http://schemas.microsoft.com/office/drawing/2014/main" id="{46D93ED2-48A5-41B8-A320-78D0FAD2B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7838" y="426720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7" name="Text Box 25">
            <a:extLst>
              <a:ext uri="{FF2B5EF4-FFF2-40B4-BE49-F238E27FC236}">
                <a16:creationId xmlns:a16="http://schemas.microsoft.com/office/drawing/2014/main" id="{FE82CFED-1B96-4755-A8B2-8B44720BD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4038" y="426720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8" name="Text Box 26">
            <a:extLst>
              <a:ext uri="{FF2B5EF4-FFF2-40B4-BE49-F238E27FC236}">
                <a16:creationId xmlns:a16="http://schemas.microsoft.com/office/drawing/2014/main" id="{6386C606-B31B-495F-8C24-07187CCC5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29845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9" name="Text Box 27">
            <a:extLst>
              <a:ext uri="{FF2B5EF4-FFF2-40B4-BE49-F238E27FC236}">
                <a16:creationId xmlns:a16="http://schemas.microsoft.com/office/drawing/2014/main" id="{77EC554D-F790-49A4-B9EE-AE5466431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0263" y="298450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90" name="Text Box 28">
            <a:extLst>
              <a:ext uri="{FF2B5EF4-FFF2-40B4-BE49-F238E27FC236}">
                <a16:creationId xmlns:a16="http://schemas.microsoft.com/office/drawing/2014/main" id="{E28D3DC4-73ED-4E15-A5DD-6639DB190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2926" y="3749675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1291" name="Text Box 29">
            <a:extLst>
              <a:ext uri="{FF2B5EF4-FFF2-40B4-BE49-F238E27FC236}">
                <a16:creationId xmlns:a16="http://schemas.microsoft.com/office/drawing/2014/main" id="{BDBC937C-75A1-46F9-8781-4F7183441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776" y="3778250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92" name="Text Box 30">
            <a:extLst>
              <a:ext uri="{FF2B5EF4-FFF2-40B4-BE49-F238E27FC236}">
                <a16:creationId xmlns:a16="http://schemas.microsoft.com/office/drawing/2014/main" id="{E0C44E44-8289-4C7B-9727-148BF58FC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4" y="45704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93" name="Text Box 31">
            <a:extLst>
              <a:ext uri="{FF2B5EF4-FFF2-40B4-BE49-F238E27FC236}">
                <a16:creationId xmlns:a16="http://schemas.microsoft.com/office/drawing/2014/main" id="{6F73CB7E-83CF-4740-B92C-00CFC599F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2189" y="45704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94" name="Text Box 32">
            <a:extLst>
              <a:ext uri="{FF2B5EF4-FFF2-40B4-BE49-F238E27FC236}">
                <a16:creationId xmlns:a16="http://schemas.microsoft.com/office/drawing/2014/main" id="{F4E39710-1A80-4186-BA53-52E339F36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7782" y="1766888"/>
            <a:ext cx="20355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800" i="1">
                <a:solidFill>
                  <a:srgbClr val="FF0000"/>
                </a:solidFill>
              </a:rPr>
              <a:t>Splitting Attributes</a:t>
            </a:r>
          </a:p>
        </p:txBody>
      </p:sp>
      <p:sp>
        <p:nvSpPr>
          <p:cNvPr id="11295" name="Line 33">
            <a:extLst>
              <a:ext uri="{FF2B5EF4-FFF2-40B4-BE49-F238E27FC236}">
                <a16:creationId xmlns:a16="http://schemas.microsoft.com/office/drawing/2014/main" id="{D43A1C32-B52E-4411-9CA0-91161532E0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29614" y="2147889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6" name="AutoShape 34">
            <a:extLst>
              <a:ext uri="{FF2B5EF4-FFF2-40B4-BE49-F238E27FC236}">
                <a16:creationId xmlns:a16="http://schemas.microsoft.com/office/drawing/2014/main" id="{83756341-704C-4551-85C1-F261F77EB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1000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97" name="Line 35">
            <a:extLst>
              <a:ext uri="{FF2B5EF4-FFF2-40B4-BE49-F238E27FC236}">
                <a16:creationId xmlns:a16="http://schemas.microsoft.com/office/drawing/2014/main" id="{7749B7FD-180C-42E4-B610-574E3B2AA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2388" y="2147889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8" name="Text Box 36">
            <a:extLst>
              <a:ext uri="{FF2B5EF4-FFF2-40B4-BE49-F238E27FC236}">
                <a16:creationId xmlns:a16="http://schemas.microsoft.com/office/drawing/2014/main" id="{FA00C3E4-B00D-4A5E-9FF8-1893408D4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8674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Training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1299" name="Text Box 37">
            <a:extLst>
              <a:ext uri="{FF2B5EF4-FFF2-40B4-BE49-F238E27FC236}">
                <a16:creationId xmlns:a16="http://schemas.microsoft.com/office/drawing/2014/main" id="{DF205736-1004-43CF-8B54-AB3C266DD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8356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Model:  Decision Tree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6E54C-CE76-9894-43E8-9B5A97B8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93F440C-A7FF-4C29-AF1E-D9941D7E3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13314" name="Line 4">
            <a:extLst>
              <a:ext uri="{FF2B5EF4-FFF2-40B4-BE49-F238E27FC236}">
                <a16:creationId xmlns:a16="http://schemas.microsoft.com/office/drawing/2014/main" id="{CFC0DAF7-E76C-4164-A894-8C2200D7E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Line 5">
            <a:extLst>
              <a:ext uri="{FF2B5EF4-FFF2-40B4-BE49-F238E27FC236}">
                <a16:creationId xmlns:a16="http://schemas.microsoft.com/office/drawing/2014/main" id="{1B5551FD-831B-4051-B976-C0188C3479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Line 6">
            <a:extLst>
              <a:ext uri="{FF2B5EF4-FFF2-40B4-BE49-F238E27FC236}">
                <a16:creationId xmlns:a16="http://schemas.microsoft.com/office/drawing/2014/main" id="{9A677CE6-2592-42D4-A961-C0B5CD7A50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Line 7">
            <a:extLst>
              <a:ext uri="{FF2B5EF4-FFF2-40B4-BE49-F238E27FC236}">
                <a16:creationId xmlns:a16="http://schemas.microsoft.com/office/drawing/2014/main" id="{48D37305-03FC-4BD1-825A-70DF78884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8">
            <a:extLst>
              <a:ext uri="{FF2B5EF4-FFF2-40B4-BE49-F238E27FC236}">
                <a16:creationId xmlns:a16="http://schemas.microsoft.com/office/drawing/2014/main" id="{50A242D3-4622-4F29-B478-5C1B4AABC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9">
            <a:extLst>
              <a:ext uri="{FF2B5EF4-FFF2-40B4-BE49-F238E27FC236}">
                <a16:creationId xmlns:a16="http://schemas.microsoft.com/office/drawing/2014/main" id="{722DF2CF-AB55-4719-9627-F4173FB509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Text Box 10">
            <a:extLst>
              <a:ext uri="{FF2B5EF4-FFF2-40B4-BE49-F238E27FC236}">
                <a16:creationId xmlns:a16="http://schemas.microsoft.com/office/drawing/2014/main" id="{E40FFE86-B022-4A6D-A22F-D83931FDA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21" name="Text Box 11">
            <a:extLst>
              <a:ext uri="{FF2B5EF4-FFF2-40B4-BE49-F238E27FC236}">
                <a16:creationId xmlns:a16="http://schemas.microsoft.com/office/drawing/2014/main" id="{19C6115C-3279-47CD-9F07-F1801EE01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22" name="Text Box 12">
            <a:extLst>
              <a:ext uri="{FF2B5EF4-FFF2-40B4-BE49-F238E27FC236}">
                <a16:creationId xmlns:a16="http://schemas.microsoft.com/office/drawing/2014/main" id="{C2A590CE-1DF4-44AA-B236-D5AD95A8C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23" name="AutoShape 13">
            <a:extLst>
              <a:ext uri="{FF2B5EF4-FFF2-40B4-BE49-F238E27FC236}">
                <a16:creationId xmlns:a16="http://schemas.microsoft.com/office/drawing/2014/main" id="{F55B3DDD-8639-4610-AA1D-2CB767D5F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4" name="Text Box 14">
            <a:extLst>
              <a:ext uri="{FF2B5EF4-FFF2-40B4-BE49-F238E27FC236}">
                <a16:creationId xmlns:a16="http://schemas.microsoft.com/office/drawing/2014/main" id="{AAC0AFE7-0E5C-4AB6-B383-2C0615314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25" name="AutoShape 15">
            <a:extLst>
              <a:ext uri="{FF2B5EF4-FFF2-40B4-BE49-F238E27FC236}">
                <a16:creationId xmlns:a16="http://schemas.microsoft.com/office/drawing/2014/main" id="{1B9D66AF-CABC-4572-A16C-774CE7ABC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6" name="Text Box 16">
            <a:extLst>
              <a:ext uri="{FF2B5EF4-FFF2-40B4-BE49-F238E27FC236}">
                <a16:creationId xmlns:a16="http://schemas.microsoft.com/office/drawing/2014/main" id="{BB77729D-AFD5-4809-908B-6A802807C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27" name="AutoShape 17">
            <a:extLst>
              <a:ext uri="{FF2B5EF4-FFF2-40B4-BE49-F238E27FC236}">
                <a16:creationId xmlns:a16="http://schemas.microsoft.com/office/drawing/2014/main" id="{F0191F06-4203-4D45-B4BB-6DC436BDD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8" name="Text Box 18">
            <a:extLst>
              <a:ext uri="{FF2B5EF4-FFF2-40B4-BE49-F238E27FC236}">
                <a16:creationId xmlns:a16="http://schemas.microsoft.com/office/drawing/2014/main" id="{239E30DB-07DB-4185-84D3-11CFE62AC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3329" name="AutoShape 19">
            <a:extLst>
              <a:ext uri="{FF2B5EF4-FFF2-40B4-BE49-F238E27FC236}">
                <a16:creationId xmlns:a16="http://schemas.microsoft.com/office/drawing/2014/main" id="{08C2382E-94DD-4EC0-AD4F-D3A899D1C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30" name="Text Box 20">
            <a:extLst>
              <a:ext uri="{FF2B5EF4-FFF2-40B4-BE49-F238E27FC236}">
                <a16:creationId xmlns:a16="http://schemas.microsoft.com/office/drawing/2014/main" id="{A3DDA5F8-878E-4097-9812-2723A5863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31" name="Text Box 21">
            <a:extLst>
              <a:ext uri="{FF2B5EF4-FFF2-40B4-BE49-F238E27FC236}">
                <a16:creationId xmlns:a16="http://schemas.microsoft.com/office/drawing/2014/main" id="{B54E08F5-7FC2-4D95-BCA4-3A35A3E6E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32" name="Text Box 22">
            <a:extLst>
              <a:ext uri="{FF2B5EF4-FFF2-40B4-BE49-F238E27FC236}">
                <a16:creationId xmlns:a16="http://schemas.microsoft.com/office/drawing/2014/main" id="{9F560FD4-62BF-4CB3-9EEF-FB4E379CE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33" name="Text Box 23">
            <a:extLst>
              <a:ext uri="{FF2B5EF4-FFF2-40B4-BE49-F238E27FC236}">
                <a16:creationId xmlns:a16="http://schemas.microsoft.com/office/drawing/2014/main" id="{63C2302F-E2CA-46A9-9309-D0BE62879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3334" name="Text Box 24">
            <a:extLst>
              <a:ext uri="{FF2B5EF4-FFF2-40B4-BE49-F238E27FC236}">
                <a16:creationId xmlns:a16="http://schemas.microsoft.com/office/drawing/2014/main" id="{382E0DD5-9B29-4715-8D61-DFD0959DE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35" name="Text Box 25">
            <a:extLst>
              <a:ext uri="{FF2B5EF4-FFF2-40B4-BE49-F238E27FC236}">
                <a16:creationId xmlns:a16="http://schemas.microsoft.com/office/drawing/2014/main" id="{BF0B5846-FFB1-496B-8B3E-C3E94539D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36" name="Text Box 26">
            <a:extLst>
              <a:ext uri="{FF2B5EF4-FFF2-40B4-BE49-F238E27FC236}">
                <a16:creationId xmlns:a16="http://schemas.microsoft.com/office/drawing/2014/main" id="{8A906DD0-E22C-4E65-A9D3-069F2433F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3337" name="Object 27">
            <a:extLst>
              <a:ext uri="{FF2B5EF4-FFF2-40B4-BE49-F238E27FC236}">
                <a16:creationId xmlns:a16="http://schemas.microsoft.com/office/drawing/2014/main" id="{390683B0-1366-48D5-BB95-E00CDC45E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3" y="1604963"/>
          <a:ext cx="358616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92700" imgH="1562100" progId="Word.Document.8">
                  <p:embed/>
                </p:oleObj>
              </mc:Choice>
              <mc:Fallback>
                <p:oleObj name="Document" r:id="rId2" imgW="5092700" imgH="1562100" progId="Word.Document.8">
                  <p:embed/>
                  <p:pic>
                    <p:nvPicPr>
                      <p:cNvPr id="13337" name="Object 27">
                        <a:extLst>
                          <a:ext uri="{FF2B5EF4-FFF2-40B4-BE49-F238E27FC236}">
                            <a16:creationId xmlns:a16="http://schemas.microsoft.com/office/drawing/2014/main" id="{390683B0-1366-48D5-BB95-E00CDC45E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1604963"/>
                        <a:ext cx="358616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Text Box 28">
            <a:extLst>
              <a:ext uri="{FF2B5EF4-FFF2-40B4-BE49-F238E27FC236}">
                <a16:creationId xmlns:a16="http://schemas.microsoft.com/office/drawing/2014/main" id="{22EB3426-7C8C-4EFB-80E3-387660545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3339" name="Text Box 29">
            <a:extLst>
              <a:ext uri="{FF2B5EF4-FFF2-40B4-BE49-F238E27FC236}">
                <a16:creationId xmlns:a16="http://schemas.microsoft.com/office/drawing/2014/main" id="{4838A494-6BD8-4485-B9F4-C8CF3D0B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447800"/>
            <a:ext cx="3429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/>
              <a:t>Start from the root of tree.</a:t>
            </a:r>
          </a:p>
        </p:txBody>
      </p:sp>
      <p:sp>
        <p:nvSpPr>
          <p:cNvPr id="13340" name="Line 30">
            <a:extLst>
              <a:ext uri="{FF2B5EF4-FFF2-40B4-BE49-F238E27FC236}">
                <a16:creationId xmlns:a16="http://schemas.microsoft.com/office/drawing/2014/main" id="{34A5AE84-2733-4E41-8F86-DB7E5F43B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828800"/>
            <a:ext cx="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1FCB1-9571-5986-ECA4-BE36B702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13D0D3C-AF5C-48AE-B7ED-1CAA2C103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14338" name="Line 4">
            <a:extLst>
              <a:ext uri="{FF2B5EF4-FFF2-40B4-BE49-F238E27FC236}">
                <a16:creationId xmlns:a16="http://schemas.microsoft.com/office/drawing/2014/main" id="{56A8BE6D-1441-43C0-9CC6-9AE0742DA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Line 5">
            <a:extLst>
              <a:ext uri="{FF2B5EF4-FFF2-40B4-BE49-F238E27FC236}">
                <a16:creationId xmlns:a16="http://schemas.microsoft.com/office/drawing/2014/main" id="{04874380-62CC-4810-8CF6-544ABD241E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Line 6">
            <a:extLst>
              <a:ext uri="{FF2B5EF4-FFF2-40B4-BE49-F238E27FC236}">
                <a16:creationId xmlns:a16="http://schemas.microsoft.com/office/drawing/2014/main" id="{3B10717E-332C-49C2-AA0D-60DAC8A975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Line 7">
            <a:extLst>
              <a:ext uri="{FF2B5EF4-FFF2-40B4-BE49-F238E27FC236}">
                <a16:creationId xmlns:a16="http://schemas.microsoft.com/office/drawing/2014/main" id="{2AFB65CF-282E-4F14-9C97-3156DB88A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Line 8">
            <a:extLst>
              <a:ext uri="{FF2B5EF4-FFF2-40B4-BE49-F238E27FC236}">
                <a16:creationId xmlns:a16="http://schemas.microsoft.com/office/drawing/2014/main" id="{53702AFC-BB69-4137-BD49-F15777DD2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Line 9">
            <a:extLst>
              <a:ext uri="{FF2B5EF4-FFF2-40B4-BE49-F238E27FC236}">
                <a16:creationId xmlns:a16="http://schemas.microsoft.com/office/drawing/2014/main" id="{A0D9D5A1-9D0E-441D-AC91-6FDAD0F662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Text Box 11">
            <a:extLst>
              <a:ext uri="{FF2B5EF4-FFF2-40B4-BE49-F238E27FC236}">
                <a16:creationId xmlns:a16="http://schemas.microsoft.com/office/drawing/2014/main" id="{CB069314-8DD4-4C46-B617-94C8AF617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45" name="Text Box 12">
            <a:extLst>
              <a:ext uri="{FF2B5EF4-FFF2-40B4-BE49-F238E27FC236}">
                <a16:creationId xmlns:a16="http://schemas.microsoft.com/office/drawing/2014/main" id="{E7BDDCAE-8841-43D0-9FD8-6E6B931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46" name="AutoShape 13">
            <a:extLst>
              <a:ext uri="{FF2B5EF4-FFF2-40B4-BE49-F238E27FC236}">
                <a16:creationId xmlns:a16="http://schemas.microsoft.com/office/drawing/2014/main" id="{D40F9F0D-16CC-4B4D-AD51-17D354EDC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47" name="Text Box 14">
            <a:extLst>
              <a:ext uri="{FF2B5EF4-FFF2-40B4-BE49-F238E27FC236}">
                <a16:creationId xmlns:a16="http://schemas.microsoft.com/office/drawing/2014/main" id="{59BB683C-502A-4654-94D5-71BD7C4AE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48" name="AutoShape 15">
            <a:extLst>
              <a:ext uri="{FF2B5EF4-FFF2-40B4-BE49-F238E27FC236}">
                <a16:creationId xmlns:a16="http://schemas.microsoft.com/office/drawing/2014/main" id="{824C1A17-8512-476D-BBFD-32F34F05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49" name="Text Box 16">
            <a:extLst>
              <a:ext uri="{FF2B5EF4-FFF2-40B4-BE49-F238E27FC236}">
                <a16:creationId xmlns:a16="http://schemas.microsoft.com/office/drawing/2014/main" id="{4ED975EC-D304-410D-8CAA-95F7E69A5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0" name="AutoShape 17">
            <a:extLst>
              <a:ext uri="{FF2B5EF4-FFF2-40B4-BE49-F238E27FC236}">
                <a16:creationId xmlns:a16="http://schemas.microsoft.com/office/drawing/2014/main" id="{28A27D12-83EF-4C0A-8F0F-886F45B7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51" name="Text Box 18">
            <a:extLst>
              <a:ext uri="{FF2B5EF4-FFF2-40B4-BE49-F238E27FC236}">
                <a16:creationId xmlns:a16="http://schemas.microsoft.com/office/drawing/2014/main" id="{250672FB-002D-4997-8840-C387EBBA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4352" name="AutoShape 19">
            <a:extLst>
              <a:ext uri="{FF2B5EF4-FFF2-40B4-BE49-F238E27FC236}">
                <a16:creationId xmlns:a16="http://schemas.microsoft.com/office/drawing/2014/main" id="{8C3AE25B-BF8C-4BF2-82DB-F23ED68A1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53" name="Text Box 20">
            <a:extLst>
              <a:ext uri="{FF2B5EF4-FFF2-40B4-BE49-F238E27FC236}">
                <a16:creationId xmlns:a16="http://schemas.microsoft.com/office/drawing/2014/main" id="{9FCE4A1D-12AC-47DF-9A80-697ABD195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4" name="Text Box 21">
            <a:extLst>
              <a:ext uri="{FF2B5EF4-FFF2-40B4-BE49-F238E27FC236}">
                <a16:creationId xmlns:a16="http://schemas.microsoft.com/office/drawing/2014/main" id="{322ACB3F-3A0E-4FB4-B51A-41F9B060E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5" name="Text Box 22">
            <a:extLst>
              <a:ext uri="{FF2B5EF4-FFF2-40B4-BE49-F238E27FC236}">
                <a16:creationId xmlns:a16="http://schemas.microsoft.com/office/drawing/2014/main" id="{D0A523E8-4FD1-4620-B409-B652B111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6" name="Text Box 23">
            <a:extLst>
              <a:ext uri="{FF2B5EF4-FFF2-40B4-BE49-F238E27FC236}">
                <a16:creationId xmlns:a16="http://schemas.microsoft.com/office/drawing/2014/main" id="{2DBC14EE-3135-40AF-B595-F738D30AE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4357" name="Text Box 24">
            <a:extLst>
              <a:ext uri="{FF2B5EF4-FFF2-40B4-BE49-F238E27FC236}">
                <a16:creationId xmlns:a16="http://schemas.microsoft.com/office/drawing/2014/main" id="{6470BC24-4CAE-42B1-BD4F-6E6F8C7C8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8" name="Text Box 25">
            <a:extLst>
              <a:ext uri="{FF2B5EF4-FFF2-40B4-BE49-F238E27FC236}">
                <a16:creationId xmlns:a16="http://schemas.microsoft.com/office/drawing/2014/main" id="{E1D84FFF-B81B-433F-88C5-E025386C4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9" name="Text Box 26">
            <a:extLst>
              <a:ext uri="{FF2B5EF4-FFF2-40B4-BE49-F238E27FC236}">
                <a16:creationId xmlns:a16="http://schemas.microsoft.com/office/drawing/2014/main" id="{4F779082-04A8-41C2-B421-C3734C268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4360" name="Object 27">
            <a:extLst>
              <a:ext uri="{FF2B5EF4-FFF2-40B4-BE49-F238E27FC236}">
                <a16:creationId xmlns:a16="http://schemas.microsoft.com/office/drawing/2014/main" id="{18E844DE-1304-485C-8A4A-F9689CE1E1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1925" y="1604963"/>
          <a:ext cx="3678238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32400" imgH="1562100" progId="Word.Document.8">
                  <p:embed/>
                </p:oleObj>
              </mc:Choice>
              <mc:Fallback>
                <p:oleObj name="Document" r:id="rId2" imgW="5232400" imgH="1562100" progId="Word.Document.8">
                  <p:embed/>
                  <p:pic>
                    <p:nvPicPr>
                      <p:cNvPr id="14360" name="Object 27">
                        <a:extLst>
                          <a:ext uri="{FF2B5EF4-FFF2-40B4-BE49-F238E27FC236}">
                            <a16:creationId xmlns:a16="http://schemas.microsoft.com/office/drawing/2014/main" id="{18E844DE-1304-485C-8A4A-F9689CE1E1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925" y="1604963"/>
                        <a:ext cx="3678238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Text Box 28">
            <a:extLst>
              <a:ext uri="{FF2B5EF4-FFF2-40B4-BE49-F238E27FC236}">
                <a16:creationId xmlns:a16="http://schemas.microsoft.com/office/drawing/2014/main" id="{A54CE64B-5C71-4CC9-8E87-325980B28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4362" name="Line 29">
            <a:extLst>
              <a:ext uri="{FF2B5EF4-FFF2-40B4-BE49-F238E27FC236}">
                <a16:creationId xmlns:a16="http://schemas.microsoft.com/office/drawing/2014/main" id="{39762673-54F9-47FA-AEA7-AEBFEEE684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1828800"/>
            <a:ext cx="2362200" cy="685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Text Box 30">
            <a:extLst>
              <a:ext uri="{FF2B5EF4-FFF2-40B4-BE49-F238E27FC236}">
                <a16:creationId xmlns:a16="http://schemas.microsoft.com/office/drawing/2014/main" id="{AE047BE0-2BA1-43B3-B053-658EBFC15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F374A-CB7E-3707-ADDB-A5487A85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8500862-0B0F-4476-B043-EB69CCE76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15362" name="Line 3">
            <a:extLst>
              <a:ext uri="{FF2B5EF4-FFF2-40B4-BE49-F238E27FC236}">
                <a16:creationId xmlns:a16="http://schemas.microsoft.com/office/drawing/2014/main" id="{82A8ADAA-CCDA-4312-9E67-3455102DB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Line 4">
            <a:extLst>
              <a:ext uri="{FF2B5EF4-FFF2-40B4-BE49-F238E27FC236}">
                <a16:creationId xmlns:a16="http://schemas.microsoft.com/office/drawing/2014/main" id="{4EC4C0D6-BDF2-445C-87F4-1C40D009B8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Line 5">
            <a:extLst>
              <a:ext uri="{FF2B5EF4-FFF2-40B4-BE49-F238E27FC236}">
                <a16:creationId xmlns:a16="http://schemas.microsoft.com/office/drawing/2014/main" id="{A42839C7-9CF1-4A02-8FB5-906617682C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6">
            <a:extLst>
              <a:ext uri="{FF2B5EF4-FFF2-40B4-BE49-F238E27FC236}">
                <a16:creationId xmlns:a16="http://schemas.microsoft.com/office/drawing/2014/main" id="{52DA3C68-DE02-434B-B10E-89F873817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7">
            <a:extLst>
              <a:ext uri="{FF2B5EF4-FFF2-40B4-BE49-F238E27FC236}">
                <a16:creationId xmlns:a16="http://schemas.microsoft.com/office/drawing/2014/main" id="{6A5CACC0-3644-4FBC-9F83-1D723E133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8">
            <a:extLst>
              <a:ext uri="{FF2B5EF4-FFF2-40B4-BE49-F238E27FC236}">
                <a16:creationId xmlns:a16="http://schemas.microsoft.com/office/drawing/2014/main" id="{8DA73204-53C6-4A30-B336-60FA1AF723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Text Box 10">
            <a:extLst>
              <a:ext uri="{FF2B5EF4-FFF2-40B4-BE49-F238E27FC236}">
                <a16:creationId xmlns:a16="http://schemas.microsoft.com/office/drawing/2014/main" id="{0E64B6E4-17B0-4AD3-91DF-291F8B5BF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69" name="Text Box 11">
            <a:extLst>
              <a:ext uri="{FF2B5EF4-FFF2-40B4-BE49-F238E27FC236}">
                <a16:creationId xmlns:a16="http://schemas.microsoft.com/office/drawing/2014/main" id="{39DACC15-A05A-4C39-AA3A-DEDDF011E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0" name="AutoShape 12">
            <a:extLst>
              <a:ext uri="{FF2B5EF4-FFF2-40B4-BE49-F238E27FC236}">
                <a16:creationId xmlns:a16="http://schemas.microsoft.com/office/drawing/2014/main" id="{C7EF50E1-1C39-48C8-95DF-1EF8FA8CE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1" name="Text Box 13">
            <a:extLst>
              <a:ext uri="{FF2B5EF4-FFF2-40B4-BE49-F238E27FC236}">
                <a16:creationId xmlns:a16="http://schemas.microsoft.com/office/drawing/2014/main" id="{CA80B343-AAD0-4560-A866-299F90A71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2" name="AutoShape 14">
            <a:extLst>
              <a:ext uri="{FF2B5EF4-FFF2-40B4-BE49-F238E27FC236}">
                <a16:creationId xmlns:a16="http://schemas.microsoft.com/office/drawing/2014/main" id="{C8BBC06F-05D5-4849-976E-C7E6D7802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3" name="Text Box 15">
            <a:extLst>
              <a:ext uri="{FF2B5EF4-FFF2-40B4-BE49-F238E27FC236}">
                <a16:creationId xmlns:a16="http://schemas.microsoft.com/office/drawing/2014/main" id="{30CCC176-FBB9-4FA4-98F9-4D645EF81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4" name="AutoShape 16">
            <a:extLst>
              <a:ext uri="{FF2B5EF4-FFF2-40B4-BE49-F238E27FC236}">
                <a16:creationId xmlns:a16="http://schemas.microsoft.com/office/drawing/2014/main" id="{DC143013-C6EB-4F90-BB6E-9CDE718FC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5" name="Text Box 17">
            <a:extLst>
              <a:ext uri="{FF2B5EF4-FFF2-40B4-BE49-F238E27FC236}">
                <a16:creationId xmlns:a16="http://schemas.microsoft.com/office/drawing/2014/main" id="{5B9032FF-678A-498E-80BD-1480159E6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5376" name="AutoShape 18">
            <a:extLst>
              <a:ext uri="{FF2B5EF4-FFF2-40B4-BE49-F238E27FC236}">
                <a16:creationId xmlns:a16="http://schemas.microsoft.com/office/drawing/2014/main" id="{3A744CE6-8BB1-4F67-AE18-36B692D6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7" name="Text Box 19">
            <a:extLst>
              <a:ext uri="{FF2B5EF4-FFF2-40B4-BE49-F238E27FC236}">
                <a16:creationId xmlns:a16="http://schemas.microsoft.com/office/drawing/2014/main" id="{5C64B847-705F-4B1C-9890-A1207D706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8" name="Text Box 20">
            <a:extLst>
              <a:ext uri="{FF2B5EF4-FFF2-40B4-BE49-F238E27FC236}">
                <a16:creationId xmlns:a16="http://schemas.microsoft.com/office/drawing/2014/main" id="{691A2651-5243-4D95-A246-DF3792B5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9" name="Text Box 21">
            <a:extLst>
              <a:ext uri="{FF2B5EF4-FFF2-40B4-BE49-F238E27FC236}">
                <a16:creationId xmlns:a16="http://schemas.microsoft.com/office/drawing/2014/main" id="{D43D4DD6-3792-4914-9435-6A7ABE61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5380" name="Text Box 22">
            <a:extLst>
              <a:ext uri="{FF2B5EF4-FFF2-40B4-BE49-F238E27FC236}">
                <a16:creationId xmlns:a16="http://schemas.microsoft.com/office/drawing/2014/main" id="{18A9BCD1-0990-4A0E-8E08-E636B690B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5381" name="Text Box 23">
            <a:extLst>
              <a:ext uri="{FF2B5EF4-FFF2-40B4-BE49-F238E27FC236}">
                <a16:creationId xmlns:a16="http://schemas.microsoft.com/office/drawing/2014/main" id="{FA7D88B2-342B-43B6-B21B-1EDC76898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82" name="Text Box 24">
            <a:extLst>
              <a:ext uri="{FF2B5EF4-FFF2-40B4-BE49-F238E27FC236}">
                <a16:creationId xmlns:a16="http://schemas.microsoft.com/office/drawing/2014/main" id="{0B10F677-30F4-408E-82D7-9DA7A4F37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83" name="Text Box 25">
            <a:extLst>
              <a:ext uri="{FF2B5EF4-FFF2-40B4-BE49-F238E27FC236}">
                <a16:creationId xmlns:a16="http://schemas.microsoft.com/office/drawing/2014/main" id="{112A6B55-8DC1-4C86-8E9F-961BA729C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5384" name="Object 26">
            <a:extLst>
              <a:ext uri="{FF2B5EF4-FFF2-40B4-BE49-F238E27FC236}">
                <a16:creationId xmlns:a16="http://schemas.microsoft.com/office/drawing/2014/main" id="{6CBCE12D-0A7E-461B-BAD9-7D9815A20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4" y="1604963"/>
          <a:ext cx="36528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43500" imgH="1600200" progId="Word.Document.8">
                  <p:embed/>
                </p:oleObj>
              </mc:Choice>
              <mc:Fallback>
                <p:oleObj name="Document" r:id="rId2" imgW="5143500" imgH="1600200" progId="Word.Document.8">
                  <p:embed/>
                  <p:pic>
                    <p:nvPicPr>
                      <p:cNvPr id="15384" name="Object 26">
                        <a:extLst>
                          <a:ext uri="{FF2B5EF4-FFF2-40B4-BE49-F238E27FC236}">
                            <a16:creationId xmlns:a16="http://schemas.microsoft.com/office/drawing/2014/main" id="{6CBCE12D-0A7E-461B-BAD9-7D9815A20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4" y="1604963"/>
                        <a:ext cx="36528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Text Box 27">
            <a:extLst>
              <a:ext uri="{FF2B5EF4-FFF2-40B4-BE49-F238E27FC236}">
                <a16:creationId xmlns:a16="http://schemas.microsoft.com/office/drawing/2014/main" id="{2F709821-A106-4BE4-99B7-AE604DE11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5386" name="Line 28">
            <a:extLst>
              <a:ext uri="{FF2B5EF4-FFF2-40B4-BE49-F238E27FC236}">
                <a16:creationId xmlns:a16="http://schemas.microsoft.com/office/drawing/2014/main" id="{A92EC166-4110-4F14-99E2-A753E9821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362200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Text Box 33">
            <a:extLst>
              <a:ext uri="{FF2B5EF4-FFF2-40B4-BE49-F238E27FC236}">
                <a16:creationId xmlns:a16="http://schemas.microsoft.com/office/drawing/2014/main" id="{D80BA117-04E5-4D25-8053-C681B78FA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16CCC-E6D8-4BA8-E1FC-36FEA1CF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4189845-0FAC-4C8A-9572-31A23A8AE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16386" name="Line 3">
            <a:extLst>
              <a:ext uri="{FF2B5EF4-FFF2-40B4-BE49-F238E27FC236}">
                <a16:creationId xmlns:a16="http://schemas.microsoft.com/office/drawing/2014/main" id="{6654FDA8-72F4-4D9E-B29D-6F727DBFD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Line 4">
            <a:extLst>
              <a:ext uri="{FF2B5EF4-FFF2-40B4-BE49-F238E27FC236}">
                <a16:creationId xmlns:a16="http://schemas.microsoft.com/office/drawing/2014/main" id="{44368EF9-2C0E-455C-A6F3-CCF0895561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Line 5">
            <a:extLst>
              <a:ext uri="{FF2B5EF4-FFF2-40B4-BE49-F238E27FC236}">
                <a16:creationId xmlns:a16="http://schemas.microsoft.com/office/drawing/2014/main" id="{C631A44B-603B-4521-8C36-20C85C885C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6">
            <a:extLst>
              <a:ext uri="{FF2B5EF4-FFF2-40B4-BE49-F238E27FC236}">
                <a16:creationId xmlns:a16="http://schemas.microsoft.com/office/drawing/2014/main" id="{0DAFE3D3-63CA-44B4-AE2B-82F420AA5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3F74804A-7A96-4B96-87E2-09A4D26F6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8">
            <a:extLst>
              <a:ext uri="{FF2B5EF4-FFF2-40B4-BE49-F238E27FC236}">
                <a16:creationId xmlns:a16="http://schemas.microsoft.com/office/drawing/2014/main" id="{AC8075D9-C9A2-48B5-BCB4-2D4791F51F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Text Box 10">
            <a:extLst>
              <a:ext uri="{FF2B5EF4-FFF2-40B4-BE49-F238E27FC236}">
                <a16:creationId xmlns:a16="http://schemas.microsoft.com/office/drawing/2014/main" id="{FAB0D765-6F13-48B0-B577-41CBA0636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393" name="Text Box 11">
            <a:extLst>
              <a:ext uri="{FF2B5EF4-FFF2-40B4-BE49-F238E27FC236}">
                <a16:creationId xmlns:a16="http://schemas.microsoft.com/office/drawing/2014/main" id="{E0C25DCC-6325-43C2-8087-9B8F569C2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394" name="AutoShape 12">
            <a:extLst>
              <a:ext uri="{FF2B5EF4-FFF2-40B4-BE49-F238E27FC236}">
                <a16:creationId xmlns:a16="http://schemas.microsoft.com/office/drawing/2014/main" id="{468DE7B0-FDD7-42CC-ADC9-86D382BA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DABC81D7-2103-4EA9-9306-8BDB3DF0E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396" name="AutoShape 14">
            <a:extLst>
              <a:ext uri="{FF2B5EF4-FFF2-40B4-BE49-F238E27FC236}">
                <a16:creationId xmlns:a16="http://schemas.microsoft.com/office/drawing/2014/main" id="{946D1A10-755F-4542-807A-00A40EE7C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7" name="Text Box 15">
            <a:extLst>
              <a:ext uri="{FF2B5EF4-FFF2-40B4-BE49-F238E27FC236}">
                <a16:creationId xmlns:a16="http://schemas.microsoft.com/office/drawing/2014/main" id="{3070DA6E-BD1C-450C-99ED-2E2433E8F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398" name="AutoShape 16">
            <a:extLst>
              <a:ext uri="{FF2B5EF4-FFF2-40B4-BE49-F238E27FC236}">
                <a16:creationId xmlns:a16="http://schemas.microsoft.com/office/drawing/2014/main" id="{7BA13988-E217-467B-BE7D-6D9BB058E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9" name="Text Box 17">
            <a:extLst>
              <a:ext uri="{FF2B5EF4-FFF2-40B4-BE49-F238E27FC236}">
                <a16:creationId xmlns:a16="http://schemas.microsoft.com/office/drawing/2014/main" id="{88775961-4A12-4FE2-9D8F-C980F1D56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6400" name="AutoShape 18">
            <a:extLst>
              <a:ext uri="{FF2B5EF4-FFF2-40B4-BE49-F238E27FC236}">
                <a16:creationId xmlns:a16="http://schemas.microsoft.com/office/drawing/2014/main" id="{7C14FA3E-B966-49C0-9A59-A3B925832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401" name="Text Box 19">
            <a:extLst>
              <a:ext uri="{FF2B5EF4-FFF2-40B4-BE49-F238E27FC236}">
                <a16:creationId xmlns:a16="http://schemas.microsoft.com/office/drawing/2014/main" id="{FE456DF6-A29A-4A91-9FB7-8154021C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402" name="Text Box 20">
            <a:extLst>
              <a:ext uri="{FF2B5EF4-FFF2-40B4-BE49-F238E27FC236}">
                <a16:creationId xmlns:a16="http://schemas.microsoft.com/office/drawing/2014/main" id="{50D0CB85-8DB9-4236-B5F3-B701D9806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403" name="Text Box 21">
            <a:extLst>
              <a:ext uri="{FF2B5EF4-FFF2-40B4-BE49-F238E27FC236}">
                <a16:creationId xmlns:a16="http://schemas.microsoft.com/office/drawing/2014/main" id="{58324734-18CC-406B-B866-BD7576D55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6404" name="Text Box 22">
            <a:extLst>
              <a:ext uri="{FF2B5EF4-FFF2-40B4-BE49-F238E27FC236}">
                <a16:creationId xmlns:a16="http://schemas.microsoft.com/office/drawing/2014/main" id="{FC071BAD-0D75-4863-8163-D80876FC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6405" name="Text Box 23">
            <a:extLst>
              <a:ext uri="{FF2B5EF4-FFF2-40B4-BE49-F238E27FC236}">
                <a16:creationId xmlns:a16="http://schemas.microsoft.com/office/drawing/2014/main" id="{0893316C-21F3-4B37-9942-0700AD30C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406" name="Text Box 24">
            <a:extLst>
              <a:ext uri="{FF2B5EF4-FFF2-40B4-BE49-F238E27FC236}">
                <a16:creationId xmlns:a16="http://schemas.microsoft.com/office/drawing/2014/main" id="{0F440198-8C5F-40FD-949F-5DB9B4C78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407" name="Text Box 25">
            <a:extLst>
              <a:ext uri="{FF2B5EF4-FFF2-40B4-BE49-F238E27FC236}">
                <a16:creationId xmlns:a16="http://schemas.microsoft.com/office/drawing/2014/main" id="{D3E175E6-83AF-4B08-B14D-6BE5654C3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6408" name="Object 26">
            <a:extLst>
              <a:ext uri="{FF2B5EF4-FFF2-40B4-BE49-F238E27FC236}">
                <a16:creationId xmlns:a16="http://schemas.microsoft.com/office/drawing/2014/main" id="{5AD7F2BF-2DD1-44E8-93CE-3F8CD9A91F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4" y="1604963"/>
          <a:ext cx="35766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54600" imgH="1600200" progId="Word.Document.8">
                  <p:embed/>
                </p:oleObj>
              </mc:Choice>
              <mc:Fallback>
                <p:oleObj name="Document" r:id="rId2" imgW="5054600" imgH="1600200" progId="Word.Document.8">
                  <p:embed/>
                  <p:pic>
                    <p:nvPicPr>
                      <p:cNvPr id="16408" name="Object 26">
                        <a:extLst>
                          <a:ext uri="{FF2B5EF4-FFF2-40B4-BE49-F238E27FC236}">
                            <a16:creationId xmlns:a16="http://schemas.microsoft.com/office/drawing/2014/main" id="{5AD7F2BF-2DD1-44E8-93CE-3F8CD9A91F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4" y="1604963"/>
                        <a:ext cx="35766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9" name="Text Box 27">
            <a:extLst>
              <a:ext uri="{FF2B5EF4-FFF2-40B4-BE49-F238E27FC236}">
                <a16:creationId xmlns:a16="http://schemas.microsoft.com/office/drawing/2014/main" id="{5814FC83-E9AA-4A72-923A-B36CA1125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6410" name="Line 28">
            <a:extLst>
              <a:ext uri="{FF2B5EF4-FFF2-40B4-BE49-F238E27FC236}">
                <a16:creationId xmlns:a16="http://schemas.microsoft.com/office/drawing/2014/main" id="{9B60F30B-25F0-4E02-9205-9196E72DB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057400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1" name="Text Box 29">
            <a:extLst>
              <a:ext uri="{FF2B5EF4-FFF2-40B4-BE49-F238E27FC236}">
                <a16:creationId xmlns:a16="http://schemas.microsoft.com/office/drawing/2014/main" id="{782D7552-4A10-49EF-AA4E-FBC4DEE9A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CD1CD-9B03-D639-C47D-2384204F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F913686-F9A1-43CF-971D-57FD40452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17410" name="Line 3">
            <a:extLst>
              <a:ext uri="{FF2B5EF4-FFF2-40B4-BE49-F238E27FC236}">
                <a16:creationId xmlns:a16="http://schemas.microsoft.com/office/drawing/2014/main" id="{A5C44BA8-84B4-4329-B4FC-AA80BBE1D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Line 4">
            <a:extLst>
              <a:ext uri="{FF2B5EF4-FFF2-40B4-BE49-F238E27FC236}">
                <a16:creationId xmlns:a16="http://schemas.microsoft.com/office/drawing/2014/main" id="{797895E3-BF9E-446D-9E4F-1641D1CBD5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Line 5">
            <a:extLst>
              <a:ext uri="{FF2B5EF4-FFF2-40B4-BE49-F238E27FC236}">
                <a16:creationId xmlns:a16="http://schemas.microsoft.com/office/drawing/2014/main" id="{09581D5C-6807-48B8-AC2F-8E48F06FE3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Line 6">
            <a:extLst>
              <a:ext uri="{FF2B5EF4-FFF2-40B4-BE49-F238E27FC236}">
                <a16:creationId xmlns:a16="http://schemas.microsoft.com/office/drawing/2014/main" id="{94B25752-DE6D-4333-B1E8-3A66014C1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7">
            <a:extLst>
              <a:ext uri="{FF2B5EF4-FFF2-40B4-BE49-F238E27FC236}">
                <a16:creationId xmlns:a16="http://schemas.microsoft.com/office/drawing/2014/main" id="{2FC40FF1-CE46-4E85-B66E-8F5BD7489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Line 8">
            <a:extLst>
              <a:ext uri="{FF2B5EF4-FFF2-40B4-BE49-F238E27FC236}">
                <a16:creationId xmlns:a16="http://schemas.microsoft.com/office/drawing/2014/main" id="{4E0AC857-653F-4E1C-A81F-4C632F7FE3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Text Box 10">
            <a:extLst>
              <a:ext uri="{FF2B5EF4-FFF2-40B4-BE49-F238E27FC236}">
                <a16:creationId xmlns:a16="http://schemas.microsoft.com/office/drawing/2014/main" id="{31A188CD-F3E0-4270-BBA1-15965EB02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17" name="Text Box 11">
            <a:extLst>
              <a:ext uri="{FF2B5EF4-FFF2-40B4-BE49-F238E27FC236}">
                <a16:creationId xmlns:a16="http://schemas.microsoft.com/office/drawing/2014/main" id="{B088FB2D-4993-482E-92FF-F12075DE8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18" name="AutoShape 12">
            <a:extLst>
              <a:ext uri="{FF2B5EF4-FFF2-40B4-BE49-F238E27FC236}">
                <a16:creationId xmlns:a16="http://schemas.microsoft.com/office/drawing/2014/main" id="{1F9C1CC1-F565-4255-996C-D3743FE57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19" name="Text Box 13">
            <a:extLst>
              <a:ext uri="{FF2B5EF4-FFF2-40B4-BE49-F238E27FC236}">
                <a16:creationId xmlns:a16="http://schemas.microsoft.com/office/drawing/2014/main" id="{956999A7-BB5C-470C-92AF-D68F15462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20" name="AutoShape 14">
            <a:extLst>
              <a:ext uri="{FF2B5EF4-FFF2-40B4-BE49-F238E27FC236}">
                <a16:creationId xmlns:a16="http://schemas.microsoft.com/office/drawing/2014/main" id="{1C101A96-F92E-4F68-9D70-DADD2D5D2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1" name="Text Box 15">
            <a:extLst>
              <a:ext uri="{FF2B5EF4-FFF2-40B4-BE49-F238E27FC236}">
                <a16:creationId xmlns:a16="http://schemas.microsoft.com/office/drawing/2014/main" id="{0376D1BD-C3DD-4253-AEEC-8937457B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22" name="AutoShape 16">
            <a:extLst>
              <a:ext uri="{FF2B5EF4-FFF2-40B4-BE49-F238E27FC236}">
                <a16:creationId xmlns:a16="http://schemas.microsoft.com/office/drawing/2014/main" id="{B1823FFB-E289-4C8C-901F-55F3978AD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3" name="Text Box 17">
            <a:extLst>
              <a:ext uri="{FF2B5EF4-FFF2-40B4-BE49-F238E27FC236}">
                <a16:creationId xmlns:a16="http://schemas.microsoft.com/office/drawing/2014/main" id="{953DB719-85F0-4BBA-B5BA-5D45B6EBE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7424" name="AutoShape 18">
            <a:extLst>
              <a:ext uri="{FF2B5EF4-FFF2-40B4-BE49-F238E27FC236}">
                <a16:creationId xmlns:a16="http://schemas.microsoft.com/office/drawing/2014/main" id="{7837243C-859F-4CB3-9D4A-9F92C6781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5" name="Text Box 19">
            <a:extLst>
              <a:ext uri="{FF2B5EF4-FFF2-40B4-BE49-F238E27FC236}">
                <a16:creationId xmlns:a16="http://schemas.microsoft.com/office/drawing/2014/main" id="{ED1B0FE0-BC53-4B69-A5F4-50CC2EDB5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26" name="Text Box 20">
            <a:extLst>
              <a:ext uri="{FF2B5EF4-FFF2-40B4-BE49-F238E27FC236}">
                <a16:creationId xmlns:a16="http://schemas.microsoft.com/office/drawing/2014/main" id="{3B41FB1B-D4C9-4F5D-96D0-968FDC030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27" name="Text Box 21">
            <a:extLst>
              <a:ext uri="{FF2B5EF4-FFF2-40B4-BE49-F238E27FC236}">
                <a16:creationId xmlns:a16="http://schemas.microsoft.com/office/drawing/2014/main" id="{CA9CAFDA-E71A-4A2B-B9CD-37E59FFD2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7428" name="Text Box 22">
            <a:extLst>
              <a:ext uri="{FF2B5EF4-FFF2-40B4-BE49-F238E27FC236}">
                <a16:creationId xmlns:a16="http://schemas.microsoft.com/office/drawing/2014/main" id="{071D0BFD-351B-4C5C-84FD-11F209DC2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17429" name="Text Box 23">
            <a:extLst>
              <a:ext uri="{FF2B5EF4-FFF2-40B4-BE49-F238E27FC236}">
                <a16:creationId xmlns:a16="http://schemas.microsoft.com/office/drawing/2014/main" id="{770EE8FE-0778-4053-9E39-C40CFA073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30" name="Text Box 24">
            <a:extLst>
              <a:ext uri="{FF2B5EF4-FFF2-40B4-BE49-F238E27FC236}">
                <a16:creationId xmlns:a16="http://schemas.microsoft.com/office/drawing/2014/main" id="{D2ABB308-17E1-4414-A45B-197C197ED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31" name="Text Box 25">
            <a:extLst>
              <a:ext uri="{FF2B5EF4-FFF2-40B4-BE49-F238E27FC236}">
                <a16:creationId xmlns:a16="http://schemas.microsoft.com/office/drawing/2014/main" id="{1E12C45D-75EC-4B1A-979F-6C12A5CE2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7432" name="Object 26">
            <a:extLst>
              <a:ext uri="{FF2B5EF4-FFF2-40B4-BE49-F238E27FC236}">
                <a16:creationId xmlns:a16="http://schemas.microsoft.com/office/drawing/2014/main" id="{E020D34F-E07B-40D6-9CDD-CF254E2644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3" y="1604963"/>
          <a:ext cx="371951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70500" imgH="1562100" progId="Word.Document.8">
                  <p:embed/>
                </p:oleObj>
              </mc:Choice>
              <mc:Fallback>
                <p:oleObj name="Document" r:id="rId2" imgW="5270500" imgH="1562100" progId="Word.Document.8">
                  <p:embed/>
                  <p:pic>
                    <p:nvPicPr>
                      <p:cNvPr id="17432" name="Object 26">
                        <a:extLst>
                          <a:ext uri="{FF2B5EF4-FFF2-40B4-BE49-F238E27FC236}">
                            <a16:creationId xmlns:a16="http://schemas.microsoft.com/office/drawing/2014/main" id="{E020D34F-E07B-40D6-9CDD-CF254E2644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1604963"/>
                        <a:ext cx="371951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Text Box 27">
            <a:extLst>
              <a:ext uri="{FF2B5EF4-FFF2-40B4-BE49-F238E27FC236}">
                <a16:creationId xmlns:a16="http://schemas.microsoft.com/office/drawing/2014/main" id="{99F29EE8-4751-46EC-8D7E-1F20D6519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7434" name="Line 28">
            <a:extLst>
              <a:ext uri="{FF2B5EF4-FFF2-40B4-BE49-F238E27FC236}">
                <a16:creationId xmlns:a16="http://schemas.microsoft.com/office/drawing/2014/main" id="{A44AE565-601F-42D4-8DC6-15A8D7B207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2590800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Text Box 29">
            <a:extLst>
              <a:ext uri="{FF2B5EF4-FFF2-40B4-BE49-F238E27FC236}">
                <a16:creationId xmlns:a16="http://schemas.microsoft.com/office/drawing/2014/main" id="{BCB815D9-B2C1-478F-9E33-19EA73F1C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DFA63-104F-B85A-1286-2D76C330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05C3759-8E76-4AB9-AC94-72D0D840B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</a:p>
        </p:txBody>
      </p:sp>
      <p:sp>
        <p:nvSpPr>
          <p:cNvPr id="18434" name="Line 3">
            <a:extLst>
              <a:ext uri="{FF2B5EF4-FFF2-40B4-BE49-F238E27FC236}">
                <a16:creationId xmlns:a16="http://schemas.microsoft.com/office/drawing/2014/main" id="{399E9645-00A4-4D7C-B515-111A12ED8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Line 4">
            <a:extLst>
              <a:ext uri="{FF2B5EF4-FFF2-40B4-BE49-F238E27FC236}">
                <a16:creationId xmlns:a16="http://schemas.microsoft.com/office/drawing/2014/main" id="{C7E01FEE-3176-4252-B438-78753CA6BE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Line 5">
            <a:extLst>
              <a:ext uri="{FF2B5EF4-FFF2-40B4-BE49-F238E27FC236}">
                <a16:creationId xmlns:a16="http://schemas.microsoft.com/office/drawing/2014/main" id="{71C82E23-8BA5-44A8-B2EB-01CCAC0BA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3576639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D2D8FE7A-F89D-4917-A3C8-EB087058A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3576639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Line 7">
            <a:extLst>
              <a:ext uri="{FF2B5EF4-FFF2-40B4-BE49-F238E27FC236}">
                <a16:creationId xmlns:a16="http://schemas.microsoft.com/office/drawing/2014/main" id="{CB301687-71A5-482B-BF68-968E7B898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2686051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Line 8">
            <a:extLst>
              <a:ext uri="{FF2B5EF4-FFF2-40B4-BE49-F238E27FC236}">
                <a16:creationId xmlns:a16="http://schemas.microsoft.com/office/drawing/2014/main" id="{ED00308B-5029-45D5-A6C1-95ADCD1800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2686051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Text Box 10">
            <a:extLst>
              <a:ext uri="{FF2B5EF4-FFF2-40B4-BE49-F238E27FC236}">
                <a16:creationId xmlns:a16="http://schemas.microsoft.com/office/drawing/2014/main" id="{04C790B7-6159-47D9-956D-24FBD8D5B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254376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41" name="Text Box 11">
            <a:extLst>
              <a:ext uri="{FF2B5EF4-FFF2-40B4-BE49-F238E27FC236}">
                <a16:creationId xmlns:a16="http://schemas.microsoft.com/office/drawing/2014/main" id="{E1CD48A7-0889-4527-8882-82C342A89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42" name="AutoShape 12">
            <a:extLst>
              <a:ext uri="{FF2B5EF4-FFF2-40B4-BE49-F238E27FC236}">
                <a16:creationId xmlns:a16="http://schemas.microsoft.com/office/drawing/2014/main" id="{7B042607-BD97-4D38-AC64-720FAD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194301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3" name="Text Box 13">
            <a:extLst>
              <a:ext uri="{FF2B5EF4-FFF2-40B4-BE49-F238E27FC236}">
                <a16:creationId xmlns:a16="http://schemas.microsoft.com/office/drawing/2014/main" id="{042CF95A-82ED-4DCE-BB58-65892E88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44" name="AutoShape 14">
            <a:extLst>
              <a:ext uri="{FF2B5EF4-FFF2-40B4-BE49-F238E27FC236}">
                <a16:creationId xmlns:a16="http://schemas.microsoft.com/office/drawing/2014/main" id="{51C8C9CC-D1E7-4DC0-B900-B5BD33B2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214939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5" name="Text Box 15">
            <a:extLst>
              <a:ext uri="{FF2B5EF4-FFF2-40B4-BE49-F238E27FC236}">
                <a16:creationId xmlns:a16="http://schemas.microsoft.com/office/drawing/2014/main" id="{E358D76E-CD35-4981-BBB2-B927D44D1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46" name="AutoShape 16">
            <a:extLst>
              <a:ext uri="{FF2B5EF4-FFF2-40B4-BE49-F238E27FC236}">
                <a16:creationId xmlns:a16="http://schemas.microsoft.com/office/drawing/2014/main" id="{0EBBB9E0-0579-4083-BDC3-0ABEA6A55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271839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7" name="Text Box 17">
            <a:extLst>
              <a:ext uri="{FF2B5EF4-FFF2-40B4-BE49-F238E27FC236}">
                <a16:creationId xmlns:a16="http://schemas.microsoft.com/office/drawing/2014/main" id="{DF7435AE-F972-41DA-8230-09E7AE62C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8448" name="AutoShape 18">
            <a:extLst>
              <a:ext uri="{FF2B5EF4-FFF2-40B4-BE49-F238E27FC236}">
                <a16:creationId xmlns:a16="http://schemas.microsoft.com/office/drawing/2014/main" id="{54DC5B1A-1D8C-42A1-BEA2-82FB2892A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259264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9" name="Text Box 19">
            <a:extLst>
              <a:ext uri="{FF2B5EF4-FFF2-40B4-BE49-F238E27FC236}">
                <a16:creationId xmlns:a16="http://schemas.microsoft.com/office/drawing/2014/main" id="{2446B3D7-94C1-4A2D-BEB4-53AA4CCC9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50" name="Text Box 20">
            <a:extLst>
              <a:ext uri="{FF2B5EF4-FFF2-40B4-BE49-F238E27FC236}">
                <a16:creationId xmlns:a16="http://schemas.microsoft.com/office/drawing/2014/main" id="{C9F0E219-2699-4F54-90F2-790CA879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51" name="Text Box 21">
            <a:extLst>
              <a:ext uri="{FF2B5EF4-FFF2-40B4-BE49-F238E27FC236}">
                <a16:creationId xmlns:a16="http://schemas.microsoft.com/office/drawing/2014/main" id="{0AA7AFE8-9E06-4ACA-9B00-45165F13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8452" name="Text Box 22">
            <a:extLst>
              <a:ext uri="{FF2B5EF4-FFF2-40B4-BE49-F238E27FC236}">
                <a16:creationId xmlns:a16="http://schemas.microsoft.com/office/drawing/2014/main" id="{D476EC57-B797-4925-B872-F2D238CF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18453" name="Text Box 23">
            <a:extLst>
              <a:ext uri="{FF2B5EF4-FFF2-40B4-BE49-F238E27FC236}">
                <a16:creationId xmlns:a16="http://schemas.microsoft.com/office/drawing/2014/main" id="{F80673C3-33A9-402B-99BC-8590762BD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54" name="Text Box 24">
            <a:extLst>
              <a:ext uri="{FF2B5EF4-FFF2-40B4-BE49-F238E27FC236}">
                <a16:creationId xmlns:a16="http://schemas.microsoft.com/office/drawing/2014/main" id="{91118D36-64EA-4224-9A3A-FE735EB4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55" name="Text Box 25">
            <a:extLst>
              <a:ext uri="{FF2B5EF4-FFF2-40B4-BE49-F238E27FC236}">
                <a16:creationId xmlns:a16="http://schemas.microsoft.com/office/drawing/2014/main" id="{A93F7C38-7B33-469E-BFF9-7B31347CA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8456" name="Object 26">
            <a:extLst>
              <a:ext uri="{FF2B5EF4-FFF2-40B4-BE49-F238E27FC236}">
                <a16:creationId xmlns:a16="http://schemas.microsoft.com/office/drawing/2014/main" id="{D0CA5208-FBE8-4E4B-A361-169649B9B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3" y="1604964"/>
          <a:ext cx="36576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68900" imgH="1562100" progId="Word.Document.8">
                  <p:embed/>
                </p:oleObj>
              </mc:Choice>
              <mc:Fallback>
                <p:oleObj name="Document" r:id="rId2" imgW="5168900" imgH="1562100" progId="Word.Document.8">
                  <p:embed/>
                  <p:pic>
                    <p:nvPicPr>
                      <p:cNvPr id="18456" name="Object 26">
                        <a:extLst>
                          <a:ext uri="{FF2B5EF4-FFF2-40B4-BE49-F238E27FC236}">
                            <a16:creationId xmlns:a16="http://schemas.microsoft.com/office/drawing/2014/main" id="{D0CA5208-FBE8-4E4B-A361-169649B9B6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1604964"/>
                        <a:ext cx="36576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Text Box 27">
            <a:extLst>
              <a:ext uri="{FF2B5EF4-FFF2-40B4-BE49-F238E27FC236}">
                <a16:creationId xmlns:a16="http://schemas.microsoft.com/office/drawing/2014/main" id="{76816771-711F-4BC4-918C-2184680F5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8458" name="Line 28">
            <a:extLst>
              <a:ext uri="{FF2B5EF4-FFF2-40B4-BE49-F238E27FC236}">
                <a16:creationId xmlns:a16="http://schemas.microsoft.com/office/drawing/2014/main" id="{F25AA361-4357-47CF-BE8B-B1EEC10BD5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2590800"/>
            <a:ext cx="3124200" cy="1828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Text Box 29">
            <a:extLst>
              <a:ext uri="{FF2B5EF4-FFF2-40B4-BE49-F238E27FC236}">
                <a16:creationId xmlns:a16="http://schemas.microsoft.com/office/drawing/2014/main" id="{4AEE59DA-1B0D-4F50-8002-E0118DEEC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581401"/>
            <a:ext cx="2667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/>
              <a:t>Assign Defaulted to “No”</a:t>
            </a:r>
          </a:p>
        </p:txBody>
      </p:sp>
      <p:sp>
        <p:nvSpPr>
          <p:cNvPr id="18460" name="Text Box 30">
            <a:extLst>
              <a:ext uri="{FF2B5EF4-FFF2-40B4-BE49-F238E27FC236}">
                <a16:creationId xmlns:a16="http://schemas.microsoft.com/office/drawing/2014/main" id="{E907DFBA-BB46-4A6E-A242-2552E64E3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362201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9634B-5964-832E-7230-D29BF9F6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6775EFC-9B78-48C6-9E06-1AE881892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Another Example of Decision Tree</a:t>
            </a:r>
          </a:p>
        </p:txBody>
      </p:sp>
      <p:sp>
        <p:nvSpPr>
          <p:cNvPr id="12290" name="Text Box 4">
            <a:extLst>
              <a:ext uri="{FF2B5EF4-FFF2-40B4-BE49-F238E27FC236}">
                <a16:creationId xmlns:a16="http://schemas.microsoft.com/office/drawing/2014/main" id="{61460E62-9DF8-4292-83FD-0B49A341C8D6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2555589" y="14467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1" name="Text Box 5">
            <a:extLst>
              <a:ext uri="{FF2B5EF4-FFF2-40B4-BE49-F238E27FC236}">
                <a16:creationId xmlns:a16="http://schemas.microsoft.com/office/drawing/2014/main" id="{52461AE5-2569-405A-8299-7732622FAC8D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3241389" y="14467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2" name="Text Box 6">
            <a:extLst>
              <a:ext uri="{FF2B5EF4-FFF2-40B4-BE49-F238E27FC236}">
                <a16:creationId xmlns:a16="http://schemas.microsoft.com/office/drawing/2014/main" id="{4A2C7CB3-81AE-4B48-A56C-353E945F2E86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089908" y="144679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continuous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3" name="Text Box 7">
            <a:extLst>
              <a:ext uri="{FF2B5EF4-FFF2-40B4-BE49-F238E27FC236}">
                <a16:creationId xmlns:a16="http://schemas.microsoft.com/office/drawing/2014/main" id="{1352E2CD-3B44-44A2-B75E-69FC2314EA49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821105" y="1599198"/>
            <a:ext cx="6511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4" name="Line 8">
            <a:extLst>
              <a:ext uri="{FF2B5EF4-FFF2-40B4-BE49-F238E27FC236}">
                <a16:creationId xmlns:a16="http://schemas.microsoft.com/office/drawing/2014/main" id="{6698DAD6-3D77-467B-9B25-8C319A0B0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9764" y="3497263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9">
            <a:extLst>
              <a:ext uri="{FF2B5EF4-FFF2-40B4-BE49-F238E27FC236}">
                <a16:creationId xmlns:a16="http://schemas.microsoft.com/office/drawing/2014/main" id="{4BE82DD1-A94F-4E25-92A5-6965E39D2E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9463" y="3497263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10">
            <a:extLst>
              <a:ext uri="{FF2B5EF4-FFF2-40B4-BE49-F238E27FC236}">
                <a16:creationId xmlns:a16="http://schemas.microsoft.com/office/drawing/2014/main" id="{B909B3E2-F753-48A3-ABCD-2CA9A2933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05689" y="27336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Line 11">
            <a:extLst>
              <a:ext uri="{FF2B5EF4-FFF2-40B4-BE49-F238E27FC236}">
                <a16:creationId xmlns:a16="http://schemas.microsoft.com/office/drawing/2014/main" id="{0DEFA638-F2F5-4DA8-89DA-01B1BDEAC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6950" y="27336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12">
            <a:extLst>
              <a:ext uri="{FF2B5EF4-FFF2-40B4-BE49-F238E27FC236}">
                <a16:creationId xmlns:a16="http://schemas.microsoft.com/office/drawing/2014/main" id="{44CFBC32-A04C-440D-AC60-3ACF98117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7613" y="20066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3">
            <a:extLst>
              <a:ext uri="{FF2B5EF4-FFF2-40B4-BE49-F238E27FC236}">
                <a16:creationId xmlns:a16="http://schemas.microsoft.com/office/drawing/2014/main" id="{4A84FDFF-8D34-45A9-BBF8-3DF8508B9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4425" y="20066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Text Box 14">
            <a:extLst>
              <a:ext uri="{FF2B5EF4-FFF2-40B4-BE49-F238E27FC236}">
                <a16:creationId xmlns:a16="http://schemas.microsoft.com/office/drawing/2014/main" id="{FA7BE591-E656-46A7-AB21-D8336C06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1" y="174307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1" name="Text Box 15">
            <a:extLst>
              <a:ext uri="{FF2B5EF4-FFF2-40B4-BE49-F238E27FC236}">
                <a16:creationId xmlns:a16="http://schemas.microsoft.com/office/drawing/2014/main" id="{0351834D-3E07-4EBA-B7BC-8AD514D0B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950" y="2470151"/>
            <a:ext cx="935038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2" name="Text Box 16">
            <a:extLst>
              <a:ext uri="{FF2B5EF4-FFF2-40B4-BE49-F238E27FC236}">
                <a16:creationId xmlns:a16="http://schemas.microsoft.com/office/drawing/2014/main" id="{ED864B38-EA30-4D31-93FE-C30F87CB4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1" y="3232150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3" name="AutoShape 17">
            <a:extLst>
              <a:ext uri="{FF2B5EF4-FFF2-40B4-BE49-F238E27FC236}">
                <a16:creationId xmlns:a16="http://schemas.microsoft.com/office/drawing/2014/main" id="{D4A93664-3825-4697-91DB-A563E3CFA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9451" y="4021138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4" name="Text Box 18">
            <a:extLst>
              <a:ext uri="{FF2B5EF4-FFF2-40B4-BE49-F238E27FC236}">
                <a16:creationId xmlns:a16="http://schemas.microsoft.com/office/drawing/2014/main" id="{813C5F42-E294-446D-BAB8-BA73EF3C6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0" y="40211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5" name="AutoShape 19">
            <a:extLst>
              <a:ext uri="{FF2B5EF4-FFF2-40B4-BE49-F238E27FC236}">
                <a16:creationId xmlns:a16="http://schemas.microsoft.com/office/drawing/2014/main" id="{E001673C-3D0D-4DCB-97C9-F20B1C277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038600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6" name="Text Box 20">
            <a:extLst>
              <a:ext uri="{FF2B5EF4-FFF2-40B4-BE49-F238E27FC236}">
                <a16:creationId xmlns:a16="http://schemas.microsoft.com/office/drawing/2014/main" id="{32FD8B4D-7EAF-43C7-8868-ABB7F8C30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4038" y="402431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7" name="AutoShape 21">
            <a:extLst>
              <a:ext uri="{FF2B5EF4-FFF2-40B4-BE49-F238E27FC236}">
                <a16:creationId xmlns:a16="http://schemas.microsoft.com/office/drawing/2014/main" id="{1BA0B396-4C82-4AB2-8E99-F8625E891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3" y="24844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8" name="Text Box 22">
            <a:extLst>
              <a:ext uri="{FF2B5EF4-FFF2-40B4-BE49-F238E27FC236}">
                <a16:creationId xmlns:a16="http://schemas.microsoft.com/office/drawing/2014/main" id="{3F642F6A-0ADF-426D-B50A-0C81EB2C4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413" y="24701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grpSp>
        <p:nvGrpSpPr>
          <p:cNvPr id="12309" name="Group 35">
            <a:extLst>
              <a:ext uri="{FF2B5EF4-FFF2-40B4-BE49-F238E27FC236}">
                <a16:creationId xmlns:a16="http://schemas.microsoft.com/office/drawing/2014/main" id="{B22A43E7-0F42-4BB2-8EAE-965DAC3711E8}"/>
              </a:ext>
            </a:extLst>
          </p:cNvPr>
          <p:cNvGrpSpPr>
            <a:grpSpLocks/>
          </p:cNvGrpSpPr>
          <p:nvPr/>
        </p:nvGrpSpPr>
        <p:grpSpPr bwMode="auto">
          <a:xfrm>
            <a:off x="7118350" y="3232150"/>
            <a:ext cx="685800" cy="381000"/>
            <a:chOff x="4927" y="2340"/>
            <a:chExt cx="432" cy="240"/>
          </a:xfrm>
        </p:grpSpPr>
        <p:sp>
          <p:nvSpPr>
            <p:cNvPr id="12321" name="AutoShape 23">
              <a:extLst>
                <a:ext uri="{FF2B5EF4-FFF2-40B4-BE49-F238E27FC236}">
                  <a16:creationId xmlns:a16="http://schemas.microsoft.com/office/drawing/2014/main" id="{0A9EB9A3-7B80-418D-B376-4D6B9124A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2322" name="Text Box 24">
              <a:extLst>
                <a:ext uri="{FF2B5EF4-FFF2-40B4-BE49-F238E27FC236}">
                  <a16:creationId xmlns:a16="http://schemas.microsoft.com/office/drawing/2014/main" id="{62F00DFC-95BD-4E87-A989-CCC523B5B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800000"/>
                  </a:solidFill>
                </a:rPr>
                <a:t>NO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</p:grpSp>
      <p:sp>
        <p:nvSpPr>
          <p:cNvPr id="12310" name="Text Box 25">
            <a:extLst>
              <a:ext uri="{FF2B5EF4-FFF2-40B4-BE49-F238E27FC236}">
                <a16:creationId xmlns:a16="http://schemas.microsoft.com/office/drawing/2014/main" id="{40D1C44F-1F9B-4B0E-8B32-64FB3952B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150" y="27749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1" name="Text Box 26">
            <a:extLst>
              <a:ext uri="{FF2B5EF4-FFF2-40B4-BE49-F238E27FC236}">
                <a16:creationId xmlns:a16="http://schemas.microsoft.com/office/drawing/2014/main" id="{B8D78E17-DE33-4689-B0BD-63B9D2992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1" y="2698750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2" name="Text Box 27">
            <a:extLst>
              <a:ext uri="{FF2B5EF4-FFF2-40B4-BE49-F238E27FC236}">
                <a16:creationId xmlns:a16="http://schemas.microsoft.com/office/drawing/2014/main" id="{1593510F-7176-4511-AFEC-EFC4843F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551" y="1936750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2313" name="Text Box 28">
            <a:extLst>
              <a:ext uri="{FF2B5EF4-FFF2-40B4-BE49-F238E27FC236}">
                <a16:creationId xmlns:a16="http://schemas.microsoft.com/office/drawing/2014/main" id="{88158606-A214-4401-8606-A6E72D8C9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0" y="1708151"/>
            <a:ext cx="1398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4" name="Text Box 29">
            <a:extLst>
              <a:ext uri="{FF2B5EF4-FFF2-40B4-BE49-F238E27FC236}">
                <a16:creationId xmlns:a16="http://schemas.microsoft.com/office/drawing/2014/main" id="{BA678096-4A0D-4AA2-87F4-0E63B4360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7176" y="35623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5" name="Text Box 30">
            <a:extLst>
              <a:ext uri="{FF2B5EF4-FFF2-40B4-BE49-F238E27FC236}">
                <a16:creationId xmlns:a16="http://schemas.microsoft.com/office/drawing/2014/main" id="{097B3FA1-172C-466A-AD3E-F367AA04C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1" y="35623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6" name="Text Box 37">
            <a:extLst>
              <a:ext uri="{FF2B5EF4-FFF2-40B4-BE49-F238E27FC236}">
                <a16:creationId xmlns:a16="http://schemas.microsoft.com/office/drawing/2014/main" id="{08AB6E6A-117C-4F9C-9E92-081433888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029200"/>
            <a:ext cx="441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3300"/>
                </a:solidFill>
              </a:rPr>
              <a:t>There could be more than one tree that fits the same data!</a:t>
            </a:r>
          </a:p>
        </p:txBody>
      </p:sp>
      <p:graphicFrame>
        <p:nvGraphicFramePr>
          <p:cNvPr id="12317" name="Object 38">
            <a:extLst>
              <a:ext uri="{FF2B5EF4-FFF2-40B4-BE49-F238E27FC236}">
                <a16:creationId xmlns:a16="http://schemas.microsoft.com/office/drawing/2014/main" id="{0831DD03-DCFC-45C6-A1DC-D2714BE109E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676400" y="2071689"/>
          <a:ext cx="3886200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12317" name="Object 38">
                        <a:extLst>
                          <a:ext uri="{FF2B5EF4-FFF2-40B4-BE49-F238E27FC236}">
                            <a16:creationId xmlns:a16="http://schemas.microsoft.com/office/drawing/2014/main" id="{0831DD03-DCFC-45C6-A1DC-D2714BE109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71689"/>
                        <a:ext cx="3886200" cy="383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85643-9432-5DF3-02D8-74514E1C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387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57D3325-CA50-47D6-B18E-E49B6EB5A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Tree Classification Task</a:t>
            </a:r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922FCB22-D9C1-47D5-B45A-D63DF09FDBB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617788" y="11430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19458" name="Object 3">
                        <a:extLst>
                          <a:ext uri="{FF2B5EF4-FFF2-40B4-BE49-F238E27FC236}">
                            <a16:creationId xmlns:a16="http://schemas.microsoft.com/office/drawing/2014/main" id="{922FCB22-D9C1-47D5-B45A-D63DF09FDB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11430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Line 4">
            <a:extLst>
              <a:ext uri="{FF2B5EF4-FFF2-40B4-BE49-F238E27FC236}">
                <a16:creationId xmlns:a16="http://schemas.microsoft.com/office/drawing/2014/main" id="{D2A2C65F-1598-45AB-9C71-7C8C24AD2F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2362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0" name="Text Box 5">
            <a:extLst>
              <a:ext uri="{FF2B5EF4-FFF2-40B4-BE49-F238E27FC236}">
                <a16:creationId xmlns:a16="http://schemas.microsoft.com/office/drawing/2014/main" id="{E0B96271-3927-49B3-A826-E4A57F01A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83075"/>
            <a:ext cx="121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AAA1F-155B-F392-AD90-34CD4A62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3A98C3D-2995-4F43-B868-3D29606AA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Tree Induction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C4EEE4B1-2980-40D8-B25E-F7BD11704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Many Algorithms: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Hunt’s Algorithm (one of the earliest)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CART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ID3, C4.5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SLIQ,SPRINT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B4E98-E089-8840-1A51-61DB330D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7848EE3C-5155-461B-95F1-0EB904BA1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General Structure of Hunt’s Algorithm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2C4A2D3-EEA6-4EED-B84C-069A3654AF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000"/>
              <a:t>Let D</a:t>
            </a:r>
            <a:r>
              <a:rPr lang="en-US" sz="2000" baseline="-25000"/>
              <a:t>t</a:t>
            </a:r>
            <a:r>
              <a:rPr lang="en-US" sz="2000"/>
              <a:t> be the set of training records that reach a node t</a:t>
            </a:r>
          </a:p>
          <a:p>
            <a:pPr lvl="4">
              <a:defRPr/>
            </a:pPr>
            <a:endParaRPr lang="en-US" sz="1600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000"/>
              <a:t>General Procedure: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/>
              <a:t>If D</a:t>
            </a:r>
            <a:r>
              <a:rPr lang="en-US" sz="2000" baseline="-25000"/>
              <a:t>t</a:t>
            </a:r>
            <a:r>
              <a:rPr lang="en-US" sz="2000"/>
              <a:t> contains records that belong the same class y</a:t>
            </a:r>
            <a:r>
              <a:rPr lang="en-US" sz="2000" baseline="-25000"/>
              <a:t>t</a:t>
            </a:r>
            <a:r>
              <a:rPr lang="en-US" sz="2000"/>
              <a:t>, then t is a leaf node labeled as y</a:t>
            </a:r>
            <a:r>
              <a:rPr lang="en-US" sz="2000" baseline="-25000"/>
              <a:t>t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/>
              <a:t>If D</a:t>
            </a:r>
            <a:r>
              <a:rPr lang="en-US" sz="2000" baseline="-25000"/>
              <a:t>t</a:t>
            </a:r>
            <a:r>
              <a:rPr lang="en-US" sz="2000"/>
              <a:t> contains records that belong to more than one class, use an attribute test to split the data into smaller subsets. Recursively apply the procedure to each subset.</a:t>
            </a:r>
          </a:p>
        </p:txBody>
      </p:sp>
      <p:sp>
        <p:nvSpPr>
          <p:cNvPr id="21507" name="Oval 11">
            <a:extLst>
              <a:ext uri="{FF2B5EF4-FFF2-40B4-BE49-F238E27FC236}">
                <a16:creationId xmlns:a16="http://schemas.microsoft.com/office/drawing/2014/main" id="{22149E8B-C419-4FBD-AE16-6FC670E88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800600"/>
            <a:ext cx="14478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508" name="Line 12">
            <a:extLst>
              <a:ext uri="{FF2B5EF4-FFF2-40B4-BE49-F238E27FC236}">
                <a16:creationId xmlns:a16="http://schemas.microsoft.com/office/drawing/2014/main" id="{41CBB8FC-6869-4033-A8AB-0BD2341FCC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5562600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Line 13">
            <a:extLst>
              <a:ext uri="{FF2B5EF4-FFF2-40B4-BE49-F238E27FC236}">
                <a16:creationId xmlns:a16="http://schemas.microsoft.com/office/drawing/2014/main" id="{7EEB5828-06C8-4232-AB96-10FA60D78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5562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Line 14">
            <a:extLst>
              <a:ext uri="{FF2B5EF4-FFF2-40B4-BE49-F238E27FC236}">
                <a16:creationId xmlns:a16="http://schemas.microsoft.com/office/drawing/2014/main" id="{AD977740-5001-4B4A-8AD9-702811ADF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5562600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15">
            <a:extLst>
              <a:ext uri="{FF2B5EF4-FFF2-40B4-BE49-F238E27FC236}">
                <a16:creationId xmlns:a16="http://schemas.microsoft.com/office/drawing/2014/main" id="{FC7DE917-44FB-491E-935A-E4C8454885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0" y="4419600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Text Box 16">
            <a:extLst>
              <a:ext uri="{FF2B5EF4-FFF2-40B4-BE49-F238E27FC236}">
                <a16:creationId xmlns:a16="http://schemas.microsoft.com/office/drawing/2014/main" id="{3DD21F39-B618-45D5-A6C5-1C153D36B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67201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D</a:t>
            </a:r>
            <a:r>
              <a:rPr lang="en-US" altLang="en-US" sz="2000" baseline="-25000"/>
              <a:t>t</a:t>
            </a:r>
          </a:p>
        </p:txBody>
      </p:sp>
      <p:sp>
        <p:nvSpPr>
          <p:cNvPr id="21513" name="Text Box 17">
            <a:extLst>
              <a:ext uri="{FF2B5EF4-FFF2-40B4-BE49-F238E27FC236}">
                <a16:creationId xmlns:a16="http://schemas.microsoft.com/office/drawing/2014/main" id="{7C8902AE-44B0-45F4-8544-9CEDFD7F8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4953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?</a:t>
            </a:r>
          </a:p>
        </p:txBody>
      </p:sp>
      <p:graphicFrame>
        <p:nvGraphicFramePr>
          <p:cNvPr id="21514" name="Object 21">
            <a:extLst>
              <a:ext uri="{FF2B5EF4-FFF2-40B4-BE49-F238E27FC236}">
                <a16:creationId xmlns:a16="http://schemas.microsoft.com/office/drawing/2014/main" id="{0541B6A4-7546-427F-A972-49B708EEFDC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934200" y="1143001"/>
          <a:ext cx="3200400" cy="315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21514" name="Object 21">
                        <a:extLst>
                          <a:ext uri="{FF2B5EF4-FFF2-40B4-BE49-F238E27FC236}">
                            <a16:creationId xmlns:a16="http://schemas.microsoft.com/office/drawing/2014/main" id="{0541B6A4-7546-427F-A972-49B708EEFDC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143001"/>
                        <a:ext cx="3200400" cy="315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3BACE-1085-9B79-D1B8-E26218FA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FE6091-0CA5-4BB6-82E3-E3DDEB668526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9A0CD44C-E1FF-40C2-8837-BBEA984CA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Hunt’s Algorithm</a:t>
            </a:r>
          </a:p>
        </p:txBody>
      </p:sp>
      <p:graphicFrame>
        <p:nvGraphicFramePr>
          <p:cNvPr id="25602" name="Object 56">
            <a:extLst>
              <a:ext uri="{FF2B5EF4-FFF2-40B4-BE49-F238E27FC236}">
                <a16:creationId xmlns:a16="http://schemas.microsoft.com/office/drawing/2014/main" id="{4246272B-C399-490D-AB97-57B80558B81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00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204200" imgH="6578600" progId="Visio.Drawing.6">
                  <p:embed/>
                </p:oleObj>
              </mc:Choice>
              <mc:Fallback>
                <p:oleObj name="Visio" r:id="rId2" imgW="8204200" imgH="6578600" progId="Visio.Drawing.6">
                  <p:embed/>
                  <p:pic>
                    <p:nvPicPr>
                      <p:cNvPr id="25602" name="Object 56">
                        <a:extLst>
                          <a:ext uri="{FF2B5EF4-FFF2-40B4-BE49-F238E27FC236}">
                            <a16:creationId xmlns:a16="http://schemas.microsoft.com/office/drawing/2014/main" id="{4246272B-C399-490D-AB97-57B80558B8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TextBox 1">
            <a:extLst>
              <a:ext uri="{FF2B5EF4-FFF2-40B4-BE49-F238E27FC236}">
                <a16:creationId xmlns:a16="http://schemas.microsoft.com/office/drawing/2014/main" id="{A9B0328E-E3D2-4E8C-BDCF-9F410CAB4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20980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04" name="TextBox 5">
            <a:extLst>
              <a:ext uri="{FF2B5EF4-FFF2-40B4-BE49-F238E27FC236}">
                <a16:creationId xmlns:a16="http://schemas.microsoft.com/office/drawing/2014/main" id="{27CDD6FA-5CF2-49F9-AE32-F963958DC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150" y="220980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</a:p>
        </p:txBody>
      </p:sp>
      <p:sp>
        <p:nvSpPr>
          <p:cNvPr id="25605" name="TextBox 6">
            <a:extLst>
              <a:ext uri="{FF2B5EF4-FFF2-40B4-BE49-F238E27FC236}">
                <a16:creationId xmlns:a16="http://schemas.microsoft.com/office/drawing/2014/main" id="{EB51C09A-4501-4CFD-88A7-69A3B1E14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648201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06" name="TextBox 7">
            <a:extLst>
              <a:ext uri="{FF2B5EF4-FFF2-40B4-BE49-F238E27FC236}">
                <a16:creationId xmlns:a16="http://schemas.microsoft.com/office/drawing/2014/main" id="{14C876BA-C197-4DAB-92BB-33B7F97A9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40702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</a:p>
        </p:txBody>
      </p:sp>
      <p:sp>
        <p:nvSpPr>
          <p:cNvPr id="25607" name="TextBox 8">
            <a:extLst>
              <a:ext uri="{FF2B5EF4-FFF2-40B4-BE49-F238E27FC236}">
                <a16:creationId xmlns:a16="http://schemas.microsoft.com/office/drawing/2014/main" id="{800F3BDD-CE05-4B84-859E-BFB8EA784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540702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08" name="TextBox 9">
            <a:extLst>
              <a:ext uri="{FF2B5EF4-FFF2-40B4-BE49-F238E27FC236}">
                <a16:creationId xmlns:a16="http://schemas.microsoft.com/office/drawing/2014/main" id="{877D365D-6536-4403-B372-55F28646E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18782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09" name="TextBox 10">
            <a:extLst>
              <a:ext uri="{FF2B5EF4-FFF2-40B4-BE49-F238E27FC236}">
                <a16:creationId xmlns:a16="http://schemas.microsoft.com/office/drawing/2014/main" id="{475CDFEE-6AD7-44DC-9D73-17DDBADA7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63562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</a:p>
        </p:txBody>
      </p:sp>
      <p:sp>
        <p:nvSpPr>
          <p:cNvPr id="25610" name="TextBox 11">
            <a:extLst>
              <a:ext uri="{FF2B5EF4-FFF2-40B4-BE49-F238E27FC236}">
                <a16:creationId xmlns:a16="http://schemas.microsoft.com/office/drawing/2014/main" id="{12A4C05D-B2E6-4D1D-B286-40DB4DF49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563562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</a:p>
        </p:txBody>
      </p:sp>
      <p:sp>
        <p:nvSpPr>
          <p:cNvPr id="25611" name="TextBox 12">
            <a:extLst>
              <a:ext uri="{FF2B5EF4-FFF2-40B4-BE49-F238E27FC236}">
                <a16:creationId xmlns:a16="http://schemas.microsoft.com/office/drawing/2014/main" id="{4EB14A6B-43A9-4336-A92C-595EA7B60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550" y="487362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5612" name="TextBox 13">
            <a:extLst>
              <a:ext uri="{FF2B5EF4-FFF2-40B4-BE49-F238E27FC236}">
                <a16:creationId xmlns:a16="http://schemas.microsoft.com/office/drawing/2014/main" id="{81370EE4-7857-44B6-A6DC-BAF550685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054226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</a:p>
        </p:txBody>
      </p:sp>
      <p:graphicFrame>
        <p:nvGraphicFramePr>
          <p:cNvPr id="25613" name="Object 54">
            <a:extLst>
              <a:ext uri="{FF2B5EF4-FFF2-40B4-BE49-F238E27FC236}">
                <a16:creationId xmlns:a16="http://schemas.microsoft.com/office/drawing/2014/main" id="{2D287EF9-04FD-40A6-9B26-1BF3B92E5024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7543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24500" imgH="6070600" progId="Word.Document.8">
                  <p:embed/>
                </p:oleObj>
              </mc:Choice>
              <mc:Fallback>
                <p:oleObj name="Document" r:id="rId4" imgW="5524500" imgH="6070600" progId="Word.Document.8">
                  <p:embed/>
                  <p:pic>
                    <p:nvPicPr>
                      <p:cNvPr id="25613" name="Object 54">
                        <a:extLst>
                          <a:ext uri="{FF2B5EF4-FFF2-40B4-BE49-F238E27FC236}">
                            <a16:creationId xmlns:a16="http://schemas.microsoft.com/office/drawing/2014/main" id="{2D287EF9-04FD-40A6-9B26-1BF3B92E50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22CA88-3B71-2375-27F9-AC1C7D32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89" name="Rectangle 2048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91" name="Rectangle 2049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93" name="Rectangle 2049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95" name="Rectangle 2049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82" name="Rectangle 6">
            <a:extLst>
              <a:ext uri="{FF2B5EF4-FFF2-40B4-BE49-F238E27FC236}">
                <a16:creationId xmlns:a16="http://schemas.microsoft.com/office/drawing/2014/main" id="{2BAA94B4-C984-462E-ABEB-F5E6DA11A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sz="4000">
                <a:solidFill>
                  <a:srgbClr val="FFFFFF"/>
                </a:solidFill>
                <a:cs typeface="+mj-cs"/>
              </a:rPr>
              <a:t>Design Issues of Decision Tree Induction</a:t>
            </a:r>
          </a:p>
        </p:txBody>
      </p:sp>
      <p:graphicFrame>
        <p:nvGraphicFramePr>
          <p:cNvPr id="20485" name="Rectangle 7">
            <a:extLst>
              <a:ext uri="{FF2B5EF4-FFF2-40B4-BE49-F238E27FC236}">
                <a16:creationId xmlns:a16="http://schemas.microsoft.com/office/drawing/2014/main" id="{17F3592C-19AB-93C6-22E3-FAE6B00A76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7265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EA9B8-CCC6-C40C-6267-FF993657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2" name="Rectangle 215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4" name="Rectangle 215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6" name="Rectangle 215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8" name="Rectangle 215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20" name="Rectangle 215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54D136AC-4374-4C25-9F7A-750042289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>
                <a:solidFill>
                  <a:srgbClr val="FFFFFF"/>
                </a:solidFill>
                <a:cs typeface="+mj-cs"/>
              </a:rPr>
              <a:t>Methods for Expressing Test Conditions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44DD460-903E-47EE-82F1-F2F26AB64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>
              <a:buFont typeface="Monotype Sorts" charset="0"/>
              <a:buChar char="l"/>
              <a:defRPr/>
            </a:pPr>
            <a:r>
              <a:rPr lang="en-US" sz="3600" dirty="0">
                <a:cs typeface="+mn-cs"/>
              </a:rPr>
              <a:t>Depends on attribute types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3600" dirty="0"/>
              <a:t>Binary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3600" dirty="0"/>
              <a:t>Nominal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3600" dirty="0"/>
              <a:t>Ordinal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3600" dirty="0"/>
              <a:t>Continuous</a:t>
            </a:r>
          </a:p>
          <a:p>
            <a:pPr lvl="1">
              <a:buFont typeface="Arial" charset="0"/>
              <a:buChar char="–"/>
              <a:defRPr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8C311-16BE-296E-5182-8C58D46E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A17A043-A99E-4F99-8E83-AFB0B7151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cs typeface="+mj-cs"/>
              </a:rPr>
              <a:t>Test Condition for Nominal Attributes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B36E1F1-2168-4EB9-98F4-99EF59AA64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35164" y="1143000"/>
            <a:ext cx="5303837" cy="5181600"/>
          </a:xfrm>
        </p:spPr>
        <p:txBody>
          <a:bodyPr/>
          <a:lstStyle/>
          <a:p>
            <a:pPr marL="342900" indent="-342900">
              <a:buFont typeface="Monotype Sorts" pitchFamily="2" charset="2"/>
              <a:buChar char="l"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Multi-way split:</a:t>
            </a:r>
            <a:r>
              <a:rPr lang="en-US" altLang="en-US" sz="2400" dirty="0"/>
              <a:t>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altLang="en-US" dirty="0"/>
              <a:t>Use as many partitions as distinct values. </a:t>
            </a:r>
          </a:p>
          <a:p>
            <a:pPr marL="0" indent="0">
              <a:buNone/>
              <a:defRPr/>
            </a:pPr>
            <a:endParaRPr lang="en-US" altLang="en-US" sz="2400" dirty="0"/>
          </a:p>
          <a:p>
            <a:pPr marL="0" indent="0">
              <a:buNone/>
              <a:defRPr/>
            </a:pPr>
            <a:endParaRPr lang="en-US" altLang="en-US" sz="2400" dirty="0"/>
          </a:p>
          <a:p>
            <a:pPr marL="342900" indent="-342900">
              <a:buFont typeface="Monotype Sorts" pitchFamily="2" charset="2"/>
              <a:buChar char="l"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Binary split:</a:t>
            </a:r>
            <a:r>
              <a:rPr lang="en-US" altLang="en-US" sz="2400" dirty="0"/>
              <a:t> 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altLang="en-US" dirty="0"/>
              <a:t>Divides values into two subsets</a:t>
            </a:r>
          </a:p>
        </p:txBody>
      </p:sp>
      <p:graphicFrame>
        <p:nvGraphicFramePr>
          <p:cNvPr id="28675" name="Object 25">
            <a:extLst>
              <a:ext uri="{FF2B5EF4-FFF2-40B4-BE49-F238E27FC236}">
                <a16:creationId xmlns:a16="http://schemas.microsoft.com/office/drawing/2014/main" id="{E91C178A-4BAD-4D02-AE53-1BD3FE2CA83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858000" y="1371601"/>
          <a:ext cx="3352800" cy="182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13200" imgH="2184400" progId="Visio.Drawing.6">
                  <p:embed/>
                </p:oleObj>
              </mc:Choice>
              <mc:Fallback>
                <p:oleObj name="Visio" r:id="rId2" imgW="4013200" imgH="2184400" progId="Visio.Drawing.6">
                  <p:embed/>
                  <p:pic>
                    <p:nvPicPr>
                      <p:cNvPr id="28675" name="Object 25">
                        <a:extLst>
                          <a:ext uri="{FF2B5EF4-FFF2-40B4-BE49-F238E27FC236}">
                            <a16:creationId xmlns:a16="http://schemas.microsoft.com/office/drawing/2014/main" id="{E91C178A-4BAD-4D02-AE53-1BD3FE2CA8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371601"/>
                        <a:ext cx="3352800" cy="182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27">
            <a:extLst>
              <a:ext uri="{FF2B5EF4-FFF2-40B4-BE49-F238E27FC236}">
                <a16:creationId xmlns:a16="http://schemas.microsoft.com/office/drawing/2014/main" id="{793015B2-9A1A-4F32-AC9D-F23B3709B21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34001" y="4495801"/>
          <a:ext cx="347186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813300" imgH="2514600" progId="Visio.Drawing.6">
                  <p:embed/>
                </p:oleObj>
              </mc:Choice>
              <mc:Fallback>
                <p:oleObj name="Visio" r:id="rId4" imgW="4813300" imgH="2514600" progId="Visio.Drawing.6">
                  <p:embed/>
                  <p:pic>
                    <p:nvPicPr>
                      <p:cNvPr id="28676" name="Object 27">
                        <a:extLst>
                          <a:ext uri="{FF2B5EF4-FFF2-40B4-BE49-F238E27FC236}">
                            <a16:creationId xmlns:a16="http://schemas.microsoft.com/office/drawing/2014/main" id="{793015B2-9A1A-4F32-AC9D-F23B3709B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4495801"/>
                        <a:ext cx="347186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29">
            <a:extLst>
              <a:ext uri="{FF2B5EF4-FFF2-40B4-BE49-F238E27FC236}">
                <a16:creationId xmlns:a16="http://schemas.microsoft.com/office/drawing/2014/main" id="{AAF70523-35DE-4E64-A8AC-01C518025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0601" y="4495801"/>
          <a:ext cx="20224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717800" imgH="2425700" progId="Visio.Drawing.6">
                  <p:embed/>
                </p:oleObj>
              </mc:Choice>
              <mc:Fallback>
                <p:oleObj name="Visio" r:id="rId6" imgW="2717800" imgH="2425700" progId="Visio.Drawing.6">
                  <p:embed/>
                  <p:pic>
                    <p:nvPicPr>
                      <p:cNvPr id="28677" name="Object 29">
                        <a:extLst>
                          <a:ext uri="{FF2B5EF4-FFF2-40B4-BE49-F238E27FC236}">
                            <a16:creationId xmlns:a16="http://schemas.microsoft.com/office/drawing/2014/main" id="{AAF70523-35DE-4E64-A8AC-01C5180257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1" y="4495801"/>
                        <a:ext cx="202247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80B43-E3C6-282C-9FF2-E771E7FB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63C97A-1A61-43C2-9A71-CFE5CD1BBA9D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7">
            <a:extLst>
              <a:ext uri="{FF2B5EF4-FFF2-40B4-BE49-F238E27FC236}">
                <a16:creationId xmlns:a16="http://schemas.microsoft.com/office/drawing/2014/main" id="{6D0852F6-70DB-4D98-9F93-B243381AD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cs typeface="+mj-cs"/>
              </a:rPr>
              <a:t>Test Condition for Ordinal Attributes</a:t>
            </a:r>
          </a:p>
        </p:txBody>
      </p:sp>
      <p:sp>
        <p:nvSpPr>
          <p:cNvPr id="23555" name="Rectangle 30">
            <a:extLst>
              <a:ext uri="{FF2B5EF4-FFF2-40B4-BE49-F238E27FC236}">
                <a16:creationId xmlns:a16="http://schemas.microsoft.com/office/drawing/2014/main" id="{F93DC60A-1BD9-4CBB-91B5-D728E0A222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2400">
                <a:solidFill>
                  <a:srgbClr val="FF0000"/>
                </a:solidFill>
              </a:rPr>
              <a:t>Multi-way split:</a:t>
            </a:r>
            <a:r>
              <a:rPr lang="en-US" sz="2400"/>
              <a:t>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/>
              <a:t>Use as many partitions as distinct values</a:t>
            </a:r>
          </a:p>
          <a:p>
            <a:pPr marL="742950" lvl="1" indent="-285750">
              <a:buFont typeface="Arial" charset="0"/>
              <a:buChar char="–"/>
              <a:defRPr/>
            </a:pPr>
            <a:endParaRPr lang="en-US"/>
          </a:p>
          <a:p>
            <a:pPr marL="342900" indent="-342900">
              <a:buFont typeface="Monotype Sorts" charset="0"/>
              <a:buChar char="l"/>
              <a:defRPr/>
            </a:pPr>
            <a:r>
              <a:rPr lang="en-US" sz="2400">
                <a:solidFill>
                  <a:srgbClr val="FF0000"/>
                </a:solidFill>
              </a:rPr>
              <a:t>Binary split:</a:t>
            </a:r>
            <a:r>
              <a:rPr lang="en-US" sz="2400"/>
              <a:t> 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/>
              <a:t>Divides values into two subsets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/>
              <a:t>Preserve order property among attribute values</a:t>
            </a:r>
          </a:p>
        </p:txBody>
      </p:sp>
      <p:graphicFrame>
        <p:nvGraphicFramePr>
          <p:cNvPr id="29699" name="Object 40">
            <a:extLst>
              <a:ext uri="{FF2B5EF4-FFF2-40B4-BE49-F238E27FC236}">
                <a16:creationId xmlns:a16="http://schemas.microsoft.com/office/drawing/2014/main" id="{DB8ECD47-0CBB-4EF1-A140-CF9FB7AD7A1C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858001" y="1143000"/>
          <a:ext cx="2951163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962400" imgH="2120900" progId="Visio.Drawing.6">
                  <p:embed/>
                </p:oleObj>
              </mc:Choice>
              <mc:Fallback>
                <p:oleObj name="Visio" r:id="rId2" imgW="3962400" imgH="2120900" progId="Visio.Drawing.6">
                  <p:embed/>
                  <p:pic>
                    <p:nvPicPr>
                      <p:cNvPr id="29699" name="Object 40">
                        <a:extLst>
                          <a:ext uri="{FF2B5EF4-FFF2-40B4-BE49-F238E27FC236}">
                            <a16:creationId xmlns:a16="http://schemas.microsoft.com/office/drawing/2014/main" id="{DB8ECD47-0CBB-4EF1-A140-CF9FB7AD7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1143000"/>
                        <a:ext cx="2951163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1">
            <a:extLst>
              <a:ext uri="{FF2B5EF4-FFF2-40B4-BE49-F238E27FC236}">
                <a16:creationId xmlns:a16="http://schemas.microsoft.com/office/drawing/2014/main" id="{E888EEA9-D0BA-43CC-BC4E-51DCEF50DE2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553200" y="2819401"/>
          <a:ext cx="33528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457700" imgH="2324100" progId="Visio.Drawing.6">
                  <p:embed/>
                </p:oleObj>
              </mc:Choice>
              <mc:Fallback>
                <p:oleObj name="Visio" r:id="rId4" imgW="4457700" imgH="2324100" progId="Visio.Drawing.6">
                  <p:embed/>
                  <p:pic>
                    <p:nvPicPr>
                      <p:cNvPr id="29700" name="Object 41">
                        <a:extLst>
                          <a:ext uri="{FF2B5EF4-FFF2-40B4-BE49-F238E27FC236}">
                            <a16:creationId xmlns:a16="http://schemas.microsoft.com/office/drawing/2014/main" id="{E888EEA9-D0BA-43CC-BC4E-51DCEF50DE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819401"/>
                        <a:ext cx="33528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3">
            <a:extLst>
              <a:ext uri="{FF2B5EF4-FFF2-40B4-BE49-F238E27FC236}">
                <a16:creationId xmlns:a16="http://schemas.microsoft.com/office/drawing/2014/main" id="{814461B8-0AAC-4226-8614-452596996C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4648201"/>
          <a:ext cx="146050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917700" imgH="2324100" progId="Visio.Drawing.6">
                  <p:embed/>
                </p:oleObj>
              </mc:Choice>
              <mc:Fallback>
                <p:oleObj name="Visio" r:id="rId6" imgW="1917700" imgH="2324100" progId="Visio.Drawing.6">
                  <p:embed/>
                  <p:pic>
                    <p:nvPicPr>
                      <p:cNvPr id="29701" name="Object 43">
                        <a:extLst>
                          <a:ext uri="{FF2B5EF4-FFF2-40B4-BE49-F238E27FC236}">
                            <a16:creationId xmlns:a16="http://schemas.microsoft.com/office/drawing/2014/main" id="{814461B8-0AAC-4226-8614-452596996C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648201"/>
                        <a:ext cx="146050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53" name="AutoShape 45">
            <a:extLst>
              <a:ext uri="{FF2B5EF4-FFF2-40B4-BE49-F238E27FC236}">
                <a16:creationId xmlns:a16="http://schemas.microsoft.com/office/drawing/2014/main" id="{A4E58D19-2F3C-4280-961E-A624D4B454F9}"/>
              </a:ext>
            </a:extLst>
          </p:cNvPr>
          <p:cNvSpPr>
            <a:spLocks/>
          </p:cNvSpPr>
          <p:nvPr/>
        </p:nvSpPr>
        <p:spPr bwMode="auto">
          <a:xfrm>
            <a:off x="8610600" y="5105400"/>
            <a:ext cx="1524000" cy="723900"/>
          </a:xfrm>
          <a:prstGeom prst="borderCallout2">
            <a:avLst>
              <a:gd name="adj1" fmla="val 15792"/>
              <a:gd name="adj2" fmla="val -5000"/>
              <a:gd name="adj3" fmla="val 15792"/>
              <a:gd name="adj4" fmla="val -29898"/>
              <a:gd name="adj5" fmla="val 102412"/>
              <a:gd name="adj6" fmla="val -5562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This grouping violates order property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CB563-0F50-45BC-CBB6-836E22C9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63C97A-1A61-43C2-9A71-CFE5CD1BBA9D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5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9C6E965-D7B0-418F-BAA0-1757CFFA7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534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>
                <a:cs typeface="+mj-cs"/>
              </a:rPr>
              <a:t>Test Condition for Continuous Attributes</a:t>
            </a:r>
          </a:p>
        </p:txBody>
      </p:sp>
      <p:graphicFrame>
        <p:nvGraphicFramePr>
          <p:cNvPr id="30722" name="Object 4">
            <a:extLst>
              <a:ext uri="{FF2B5EF4-FFF2-40B4-BE49-F238E27FC236}">
                <a16:creationId xmlns:a16="http://schemas.microsoft.com/office/drawing/2014/main" id="{205C434A-C905-41D9-9154-228F67FDB7A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262189" y="1746250"/>
          <a:ext cx="7608887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547100" imgH="3695700" progId="Visio.Drawing.6">
                  <p:embed/>
                </p:oleObj>
              </mc:Choice>
              <mc:Fallback>
                <p:oleObj name="Visio" r:id="rId2" imgW="8547100" imgH="3695700" progId="Visio.Drawing.6">
                  <p:embed/>
                  <p:pic>
                    <p:nvPicPr>
                      <p:cNvPr id="30722" name="Object 4">
                        <a:extLst>
                          <a:ext uri="{FF2B5EF4-FFF2-40B4-BE49-F238E27FC236}">
                            <a16:creationId xmlns:a16="http://schemas.microsoft.com/office/drawing/2014/main" id="{205C434A-C905-41D9-9154-228F67FDB7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9" y="1746250"/>
                        <a:ext cx="7608887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5C63E-0C0B-302F-FDC2-592A1DEC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18676-CB78-34B1-10E9-31DA7401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3600" dirty="0"/>
              <a:t>Thanks </a:t>
            </a:r>
          </a:p>
        </p:txBody>
      </p:sp>
      <p:pic>
        <p:nvPicPr>
          <p:cNvPr id="18" name="Picture 17" descr="Pies on a table">
            <a:extLst>
              <a:ext uri="{FF2B5EF4-FFF2-40B4-BE49-F238E27FC236}">
                <a16:creationId xmlns:a16="http://schemas.microsoft.com/office/drawing/2014/main" id="{5FF27F66-DAF2-EDF6-A862-BF562CE3F0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25" r="203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9E530-C689-85F2-B4BD-59BEAF77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16F83-92C2-F640-AF4F-93AFEA77B79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9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3559</Words>
  <Application>Microsoft Macintosh PowerPoint</Application>
  <PresentationFormat>Widescreen</PresentationFormat>
  <Paragraphs>676</Paragraphs>
  <Slides>63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63</vt:i4>
      </vt:variant>
    </vt:vector>
  </HeadingPairs>
  <TitlesOfParts>
    <vt:vector size="78" baseType="lpstr">
      <vt:lpstr>ＭＳ Ｐゴシック</vt:lpstr>
      <vt:lpstr>Aptos</vt:lpstr>
      <vt:lpstr>Aptos Display</vt:lpstr>
      <vt:lpstr>Arial</vt:lpstr>
      <vt:lpstr>Monotype Sorts</vt:lpstr>
      <vt:lpstr>Symbol</vt:lpstr>
      <vt:lpstr>Tahoma</vt:lpstr>
      <vt:lpstr>Times New Roman</vt:lpstr>
      <vt:lpstr>Wingdings</vt:lpstr>
      <vt:lpstr>Office Theme</vt:lpstr>
      <vt:lpstr>Document</vt:lpstr>
      <vt:lpstr>Visio</vt:lpstr>
      <vt:lpstr>Bitmap Image</vt:lpstr>
      <vt:lpstr>Microsoft Equation 3.0</vt:lpstr>
      <vt:lpstr>Microsoft Graph 2000 Chart</vt:lpstr>
      <vt:lpstr>Classification: Basic Concepts and Techniques</vt:lpstr>
      <vt:lpstr>Chapter 3: Data Preprocessing</vt:lpstr>
      <vt:lpstr>Data Quality: Why Preprocess the Data?</vt:lpstr>
      <vt:lpstr>Major Tasks in Data Preprocessing</vt:lpstr>
      <vt:lpstr>Chapter 3: Data Preprocessing</vt:lpstr>
      <vt:lpstr>Data Cleaning</vt:lpstr>
      <vt:lpstr>Incomplete (Missing) Data</vt:lpstr>
      <vt:lpstr>How to Handle Missing Data?</vt:lpstr>
      <vt:lpstr>Noisy Data</vt:lpstr>
      <vt:lpstr>How to Handle Noisy Data?</vt:lpstr>
      <vt:lpstr>Data Cleaning as a Process</vt:lpstr>
      <vt:lpstr>Chapter 3: Data Preprocessing</vt:lpstr>
      <vt:lpstr>Data Integration</vt:lpstr>
      <vt:lpstr>Handling Redundancy in Data Integration</vt:lpstr>
      <vt:lpstr>Visually Evaluating Correlation</vt:lpstr>
      <vt:lpstr>Correlation (viewed as linear relationship)</vt:lpstr>
      <vt:lpstr>Chapter 3: Data Preprocessing</vt:lpstr>
      <vt:lpstr>Data Reduction Strategies</vt:lpstr>
      <vt:lpstr>Data Reduction 1: Dimensionality Reduction</vt:lpstr>
      <vt:lpstr>Mapping Data to a New Space</vt:lpstr>
      <vt:lpstr>Data Reduction 2: Numerosity Reduction</vt:lpstr>
      <vt:lpstr>Parametric Data Reduction: Regression and Log-Linear Models</vt:lpstr>
      <vt:lpstr>Regression Analysis</vt:lpstr>
      <vt:lpstr>Regress Analysis and Log-Linear Models</vt:lpstr>
      <vt:lpstr>Histogram Analysis</vt:lpstr>
      <vt:lpstr>Clustering</vt:lpstr>
      <vt:lpstr>Sampling</vt:lpstr>
      <vt:lpstr>Types of Sampling</vt:lpstr>
      <vt:lpstr>PowerPoint Presentation</vt:lpstr>
      <vt:lpstr>Sampling: Cluster or Stratified Sampling</vt:lpstr>
      <vt:lpstr>Data Cube Aggregation</vt:lpstr>
      <vt:lpstr>Data Reduction 3: Data Compression</vt:lpstr>
      <vt:lpstr>Data Compression</vt:lpstr>
      <vt:lpstr>Chapter 3: Data Preprocessing</vt:lpstr>
      <vt:lpstr>Data Transformation</vt:lpstr>
      <vt:lpstr>Normalization</vt:lpstr>
      <vt:lpstr>Discretization </vt:lpstr>
      <vt:lpstr>Data Discretization Methods</vt:lpstr>
      <vt:lpstr>Discretization by Classification &amp; Correlation Analysis</vt:lpstr>
      <vt:lpstr>Concept Hierarchy Generation</vt:lpstr>
      <vt:lpstr>Concept Hierarchy Generation  for Nominal Data</vt:lpstr>
      <vt:lpstr>Classification: Definition</vt:lpstr>
      <vt:lpstr>Examples of Classification Task</vt:lpstr>
      <vt:lpstr>General Approach for Building Classification Model</vt:lpstr>
      <vt:lpstr>Classification Techniques</vt:lpstr>
      <vt:lpstr>Example of a Decision Tree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Another Example of Decision Tree</vt:lpstr>
      <vt:lpstr>Decision Tree Classification Task</vt:lpstr>
      <vt:lpstr>Decision Tree Induction</vt:lpstr>
      <vt:lpstr>General Structure of Hunt’s Algorithm</vt:lpstr>
      <vt:lpstr>Hunt’s Algorithm</vt:lpstr>
      <vt:lpstr>Design Issues of Decision Tree Induction</vt:lpstr>
      <vt:lpstr>Methods for Expressing Test Conditions</vt:lpstr>
      <vt:lpstr>Test Condition for Nominal Attributes</vt:lpstr>
      <vt:lpstr>Test Condition for Ordinal Attributes</vt:lpstr>
      <vt:lpstr>Test Condition for Continuous Attributes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Omar</dc:creator>
  <cp:lastModifiedBy>Mostafa Omar</cp:lastModifiedBy>
  <cp:revision>3</cp:revision>
  <dcterms:created xsi:type="dcterms:W3CDTF">2025-09-16T19:58:55Z</dcterms:created>
  <dcterms:modified xsi:type="dcterms:W3CDTF">2025-09-16T22:09:57Z</dcterms:modified>
</cp:coreProperties>
</file>