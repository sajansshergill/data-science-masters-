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8"/>
  </p:notesMasterIdLst>
  <p:sldIdLst>
    <p:sldId id="256" r:id="rId2"/>
    <p:sldId id="571" r:id="rId3"/>
    <p:sldId id="572" r:id="rId4"/>
    <p:sldId id="590" r:id="rId5"/>
    <p:sldId id="594" r:id="rId6"/>
    <p:sldId id="576" r:id="rId7"/>
    <p:sldId id="596" r:id="rId8"/>
    <p:sldId id="697" r:id="rId9"/>
    <p:sldId id="698" r:id="rId10"/>
    <p:sldId id="699" r:id="rId11"/>
    <p:sldId id="700" r:id="rId12"/>
    <p:sldId id="701" r:id="rId13"/>
    <p:sldId id="702" r:id="rId14"/>
    <p:sldId id="703" r:id="rId15"/>
    <p:sldId id="704" r:id="rId16"/>
    <p:sldId id="705" r:id="rId17"/>
    <p:sldId id="706" r:id="rId18"/>
    <p:sldId id="707" r:id="rId19"/>
    <p:sldId id="708" r:id="rId20"/>
    <p:sldId id="709" r:id="rId21"/>
    <p:sldId id="713" r:id="rId22"/>
    <p:sldId id="714" r:id="rId23"/>
    <p:sldId id="715" r:id="rId24"/>
    <p:sldId id="716" r:id="rId25"/>
    <p:sldId id="717" r:id="rId26"/>
    <p:sldId id="710" r:id="rId27"/>
    <p:sldId id="711" r:id="rId28"/>
    <p:sldId id="712" r:id="rId29"/>
    <p:sldId id="718" r:id="rId30"/>
    <p:sldId id="726" r:id="rId31"/>
    <p:sldId id="673" r:id="rId32"/>
    <p:sldId id="686" r:id="rId33"/>
    <p:sldId id="582" r:id="rId34"/>
    <p:sldId id="687" r:id="rId35"/>
    <p:sldId id="588" r:id="rId36"/>
    <p:sldId id="688" r:id="rId37"/>
    <p:sldId id="689" r:id="rId38"/>
    <p:sldId id="690" r:id="rId39"/>
    <p:sldId id="691" r:id="rId40"/>
    <p:sldId id="675" r:id="rId41"/>
    <p:sldId id="692" r:id="rId42"/>
    <p:sldId id="676" r:id="rId43"/>
    <p:sldId id="693" r:id="rId44"/>
    <p:sldId id="677" r:id="rId45"/>
    <p:sldId id="694" r:id="rId46"/>
    <p:sldId id="678" r:id="rId47"/>
    <p:sldId id="679" r:id="rId48"/>
    <p:sldId id="681" r:id="rId49"/>
    <p:sldId id="695" r:id="rId50"/>
    <p:sldId id="696" r:id="rId51"/>
    <p:sldId id="682" r:id="rId52"/>
    <p:sldId id="1232" r:id="rId53"/>
    <p:sldId id="1352" r:id="rId54"/>
    <p:sldId id="1235" r:id="rId55"/>
    <p:sldId id="1236" r:id="rId56"/>
    <p:sldId id="1353" r:id="rId57"/>
    <p:sldId id="1354" r:id="rId58"/>
    <p:sldId id="1461" r:id="rId59"/>
    <p:sldId id="1357" r:id="rId60"/>
    <p:sldId id="1455" r:id="rId61"/>
    <p:sldId id="1457" r:id="rId62"/>
    <p:sldId id="1240" r:id="rId63"/>
    <p:sldId id="1262" r:id="rId64"/>
    <p:sldId id="1259" r:id="rId65"/>
    <p:sldId id="1384" r:id="rId66"/>
    <p:sldId id="1385" r:id="rId67"/>
    <p:sldId id="1459" r:id="rId68"/>
    <p:sldId id="1465" r:id="rId69"/>
    <p:sldId id="1466" r:id="rId70"/>
    <p:sldId id="1467" r:id="rId71"/>
    <p:sldId id="1468" r:id="rId72"/>
    <p:sldId id="743" r:id="rId73"/>
    <p:sldId id="668" r:id="rId74"/>
    <p:sldId id="744" r:id="rId75"/>
    <p:sldId id="745" r:id="rId76"/>
    <p:sldId id="746" r:id="rId77"/>
    <p:sldId id="747" r:id="rId78"/>
    <p:sldId id="669" r:id="rId79"/>
    <p:sldId id="670" r:id="rId80"/>
    <p:sldId id="671" r:id="rId81"/>
    <p:sldId id="748" r:id="rId82"/>
    <p:sldId id="674" r:id="rId83"/>
    <p:sldId id="749" r:id="rId84"/>
    <p:sldId id="750" r:id="rId85"/>
    <p:sldId id="751" r:id="rId86"/>
    <p:sldId id="752" r:id="rId87"/>
    <p:sldId id="753" r:id="rId88"/>
    <p:sldId id="754" r:id="rId89"/>
    <p:sldId id="680" r:id="rId90"/>
    <p:sldId id="755" r:id="rId91"/>
    <p:sldId id="683" r:id="rId92"/>
    <p:sldId id="684" r:id="rId93"/>
    <p:sldId id="685" r:id="rId94"/>
    <p:sldId id="757" r:id="rId95"/>
    <p:sldId id="758" r:id="rId96"/>
    <p:sldId id="759"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01"/>
    <p:restoredTop sz="94710"/>
  </p:normalViewPr>
  <p:slideViewPr>
    <p:cSldViewPr snapToGrid="0">
      <p:cViewPr varScale="1">
        <p:scale>
          <a:sx n="139" d="100"/>
          <a:sy n="139" d="100"/>
        </p:scale>
        <p:origin x="184"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AAC550-9C03-F541-BC51-77A5A190523A}" type="datetimeFigureOut">
              <a:rPr lang="en-US" smtClean="0"/>
              <a:t>10/14/25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C71877-C86A-5A45-B979-11D8ACE0B5A9}" type="slidenum">
              <a:rPr lang="en-US" smtClean="0"/>
              <a:t>‹#›</a:t>
            </a:fld>
            <a:endParaRPr lang="en-US"/>
          </a:p>
        </p:txBody>
      </p:sp>
    </p:spTree>
    <p:extLst>
      <p:ext uri="{BB962C8B-B14F-4D97-AF65-F5344CB8AC3E}">
        <p14:creationId xmlns:p14="http://schemas.microsoft.com/office/powerpoint/2010/main" val="4162951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Hidden layers represent levels of abstraction. </a:t>
            </a:r>
            <a:r>
              <a:rPr lang="en-US" sz="1200" kern="1200" dirty="0">
                <a:solidFill>
                  <a:schemeClr val="tx1"/>
                </a:solidFill>
                <a:effectLst/>
                <a:latin typeface="Arial" charset="0"/>
                <a:ea typeface="+mn-ea"/>
                <a:cs typeface="+mn-cs"/>
              </a:rPr>
              <a:t>ANN models provide a natural way of representing features at multiple levels of abstraction, where complex features are seen as compositions of simpler features. In many classification problems, modeling such a hierarchy of features turns out to be very useful. For example, in order to detect a human face in an image, we can first identify low-level features such as sharp edges with different gradients and orientations. These features can then be combined to identify facial parts such as eyes, nose, ears, and lips. Finally, an appropriate arrangement of facial parts can be used to correctly identify a human face. ANN models provide a powerful architecture to represent a hierarchical abstraction of features, from </a:t>
            </a:r>
            <a:endParaRPr lang="en-US" dirty="0"/>
          </a:p>
          <a:p>
            <a:r>
              <a:rPr lang="en-US" sz="1200" kern="1200" dirty="0">
                <a:solidFill>
                  <a:schemeClr val="tx1"/>
                </a:solidFill>
                <a:effectLst/>
                <a:latin typeface="Arial" charset="0"/>
                <a:ea typeface="+mn-ea"/>
                <a:cs typeface="+mn-cs"/>
              </a:rPr>
              <a:t>k lower levels of abstraction (e.g., edges) to higher levels (e.g., facial parts). </a:t>
            </a:r>
            <a:endParaRPr lang="en-US" dirty="0"/>
          </a:p>
          <a:p>
            <a:pPr marL="0" marR="0" lvl="0" indent="0" algn="l" defTabSz="963613" rtl="0" eaLnBrk="0" fontAlgn="base" latinLnBrk="0" hangingPunct="0">
              <a:lnSpc>
                <a:spcPct val="100000"/>
              </a:lnSpc>
              <a:spcBef>
                <a:spcPct val="30000"/>
              </a:spcBef>
              <a:spcAft>
                <a:spcPct val="0"/>
              </a:spcAft>
              <a:buClrTx/>
              <a:buSzTx/>
              <a:buFontTx/>
              <a:buNone/>
              <a:tabLst/>
              <a:defRPr/>
            </a:pPr>
            <a:endParaRPr lang="en-US" sz="1200" dirty="0"/>
          </a:p>
          <a:p>
            <a:endParaRPr lang="en-US" dirty="0"/>
          </a:p>
        </p:txBody>
      </p:sp>
    </p:spTree>
    <p:extLst>
      <p:ext uri="{BB962C8B-B14F-4D97-AF65-F5344CB8AC3E}">
        <p14:creationId xmlns:p14="http://schemas.microsoft.com/office/powerpoint/2010/main" val="1433358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ANN models provide a natural way of representing features at multiple levels of abstraction, where complex features are seen as compositions of simpler features. In many classification problems, modeling such a hierarchy of features turns out to be very useful. For example, in order to detect a human face in an image, we can first identify low-level features such as sharp edges with different gradients and orientations. These features can then be combined to identify facial parts such as eyes, nose, ears, and lips. Finally, an appropriate arrangement of facial parts can be used to correctly identify a human face. ANN models provide a powerful architecture to represent a hierarchical abstraction of features, from </a:t>
            </a:r>
            <a:endParaRPr lang="en-US" dirty="0"/>
          </a:p>
          <a:p>
            <a:r>
              <a:rPr lang="en-US" sz="1200" kern="1200" dirty="0">
                <a:solidFill>
                  <a:schemeClr val="tx1"/>
                </a:solidFill>
                <a:effectLst/>
                <a:latin typeface="Arial" charset="0"/>
                <a:ea typeface="+mn-ea"/>
                <a:cs typeface="+mn-cs"/>
              </a:rPr>
              <a:t>k lower levels of abstraction (e.g., edges) to higher levels (e.g., facial parts). </a:t>
            </a:r>
            <a:endParaRPr lang="en-US" dirty="0"/>
          </a:p>
          <a:p>
            <a:endParaRPr lang="en-US" dirty="0"/>
          </a:p>
        </p:txBody>
      </p:sp>
    </p:spTree>
    <p:extLst>
      <p:ext uri="{BB962C8B-B14F-4D97-AF65-F5344CB8AC3E}">
        <p14:creationId xmlns:p14="http://schemas.microsoft.com/office/powerpoint/2010/main" val="1372677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63877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6745BB06-E919-D37D-CECE-BE16678913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4332B47-DC8C-F141-867E-F8FFED70DAB2}" type="slidenum">
              <a:rPr lang="en-US" altLang="en-US">
                <a:latin typeface="Times New Roman" panose="02020603050405020304" pitchFamily="18" charset="0"/>
              </a:rPr>
              <a:pPr/>
              <a:t>52</a:t>
            </a:fld>
            <a:endParaRPr lang="en-US" altLang="en-US">
              <a:latin typeface="Times New Roman" panose="02020603050405020304" pitchFamily="18" charset="0"/>
            </a:endParaRPr>
          </a:p>
        </p:txBody>
      </p:sp>
      <p:sp>
        <p:nvSpPr>
          <p:cNvPr id="90115" name="Rectangle 2">
            <a:extLst>
              <a:ext uri="{FF2B5EF4-FFF2-40B4-BE49-F238E27FC236}">
                <a16:creationId xmlns:a16="http://schemas.microsoft.com/office/drawing/2014/main" id="{13FDA890-2FBE-4764-DB5E-AC24FD52B56C}"/>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7174254B-579B-80B8-EF93-084967EA3F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3185273E-D388-0DA9-E9D0-2721737ACC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D31C60B-7B9A-B24A-BBE1-F69507417E8C}"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42CF99AE-B3C9-0B56-7E79-201390966586}"/>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F3380760-512F-49E5-E823-027AB80CB0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862CE764-C000-F239-C20A-99C9E46697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6C93FBA-DEA0-F14C-8225-7809DFB187FA}" type="slidenum">
              <a:rPr lang="en-US" altLang="en-US">
                <a:latin typeface="Times New Roman" panose="02020603050405020304" pitchFamily="18" charset="0"/>
              </a:rPr>
              <a:pPr/>
              <a:t>54</a:t>
            </a:fld>
            <a:endParaRPr lang="en-US" altLang="en-US">
              <a:latin typeface="Times New Roman" panose="02020603050405020304" pitchFamily="18" charset="0"/>
            </a:endParaRPr>
          </a:p>
        </p:txBody>
      </p:sp>
      <p:sp>
        <p:nvSpPr>
          <p:cNvPr id="92163" name="Rectangle 2">
            <a:extLst>
              <a:ext uri="{FF2B5EF4-FFF2-40B4-BE49-F238E27FC236}">
                <a16:creationId xmlns:a16="http://schemas.microsoft.com/office/drawing/2014/main" id="{726374D9-EFC3-E7B7-91B3-32DA09FFC3D8}"/>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86C7CD24-B902-E027-5881-B5487A8B37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MK: Note – different notation than used in book.  Will have to standardize notation.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F2CB487D-5BFA-7F7E-7E3D-7B810D7E94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8E99485-9474-EB45-BD38-BA2D06E56765}" type="slidenum">
              <a:rPr lang="en-US" altLang="en-US">
                <a:latin typeface="Times New Roman" panose="02020603050405020304" pitchFamily="18" charset="0"/>
              </a:rPr>
              <a:pPr/>
              <a:t>55</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FC32E6EE-A954-B246-D3DC-1A9C6BEFBA03}"/>
              </a:ext>
            </a:extLst>
          </p:cNvPr>
          <p:cNvSpPr>
            <a:spLocks noGrp="1" noRot="1" noChangeAspect="1" noChangeArrowheads="1" noTextEdit="1"/>
          </p:cNvSpPr>
          <p:nvPr>
            <p:ph type="sldImg"/>
          </p:nvPr>
        </p:nvSpPr>
        <p:spPr>
          <a:xfrm>
            <a:off x="442913" y="698500"/>
            <a:ext cx="6132512" cy="3451225"/>
          </a:xfrm>
          <a:ln w="12700" cap="flat">
            <a:solidFill>
              <a:schemeClr val="tx1"/>
            </a:solidFill>
          </a:ln>
        </p:spPr>
      </p:sp>
      <p:sp>
        <p:nvSpPr>
          <p:cNvPr id="93188" name="Rectangle 3">
            <a:extLst>
              <a:ext uri="{FF2B5EF4-FFF2-40B4-BE49-F238E27FC236}">
                <a16:creationId xmlns:a16="http://schemas.microsoft.com/office/drawing/2014/main" id="{B1D4544D-F539-422E-FEC7-38C7B738935B}"/>
              </a:ext>
            </a:extLst>
          </p:cNvPr>
          <p:cNvSpPr>
            <a:spLocks noGrp="1" noChangeArrowheads="1"/>
          </p:cNvSpPr>
          <p:nvPr>
            <p:ph type="body" idx="1"/>
          </p:nvPr>
        </p:nvSpPr>
        <p:spPr>
          <a:xfrm>
            <a:off x="935038" y="4389438"/>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888" tIns="42944" rIns="85888" bIns="42944"/>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63BA8BE2-B20E-F2C7-02F3-688DD0D548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1D3A1B3-B5AA-F64D-A0D5-32672D43E675}" type="slidenum">
              <a:rPr lang="en-US" altLang="en-US">
                <a:latin typeface="Times New Roman" panose="02020603050405020304" pitchFamily="18" charset="0"/>
              </a:rPr>
              <a:pPr/>
              <a:t>56</a:t>
            </a:fld>
            <a:endParaRPr lang="en-US" altLang="en-US">
              <a:latin typeface="Times New Roman" panose="02020603050405020304" pitchFamily="18" charset="0"/>
            </a:endParaRPr>
          </a:p>
        </p:txBody>
      </p:sp>
      <p:sp>
        <p:nvSpPr>
          <p:cNvPr id="94211" name="Rectangle 2">
            <a:extLst>
              <a:ext uri="{FF2B5EF4-FFF2-40B4-BE49-F238E27FC236}">
                <a16:creationId xmlns:a16="http://schemas.microsoft.com/office/drawing/2014/main" id="{A27EFE6E-CED9-6EC5-CBD8-4F5F239C99FE}"/>
              </a:ext>
            </a:extLst>
          </p:cNvPr>
          <p:cNvSpPr>
            <a:spLocks noGrp="1" noRot="1" noChangeAspect="1" noChangeArrowheads="1" noTextEdit="1"/>
          </p:cNvSpPr>
          <p:nvPr>
            <p:ph type="sldImg"/>
          </p:nvPr>
        </p:nvSpPr>
        <p:spPr>
          <a:xfrm>
            <a:off x="442913" y="698500"/>
            <a:ext cx="6132512" cy="3451225"/>
          </a:xfrm>
          <a:ln w="12700" cap="flat">
            <a:solidFill>
              <a:schemeClr val="tx1"/>
            </a:solidFill>
          </a:ln>
        </p:spPr>
      </p:sp>
      <p:sp>
        <p:nvSpPr>
          <p:cNvPr id="94212" name="Rectangle 3">
            <a:extLst>
              <a:ext uri="{FF2B5EF4-FFF2-40B4-BE49-F238E27FC236}">
                <a16:creationId xmlns:a16="http://schemas.microsoft.com/office/drawing/2014/main" id="{A480986B-21DC-284D-DD45-303282D08D23}"/>
              </a:ext>
            </a:extLst>
          </p:cNvPr>
          <p:cNvSpPr>
            <a:spLocks noGrp="1" noChangeArrowheads="1"/>
          </p:cNvSpPr>
          <p:nvPr>
            <p:ph type="body" idx="1"/>
          </p:nvPr>
        </p:nvSpPr>
        <p:spPr>
          <a:xfrm>
            <a:off x="935038" y="4389438"/>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888" tIns="42944" rIns="85888" bIns="42944"/>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0F1B8682-90E4-2D5C-CA3B-7C306EA849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459CCE40-D4B8-214F-801A-F11B43C37360}" type="slidenum">
              <a:rPr lang="en-US" altLang="en-US">
                <a:latin typeface="Times New Roman" panose="02020603050405020304" pitchFamily="18" charset="0"/>
              </a:rPr>
              <a:pPr/>
              <a:t>57</a:t>
            </a:fld>
            <a:endParaRPr lang="en-US" altLang="en-US">
              <a:latin typeface="Times New Roman" panose="02020603050405020304" pitchFamily="18" charset="0"/>
            </a:endParaRPr>
          </a:p>
        </p:txBody>
      </p:sp>
      <p:sp>
        <p:nvSpPr>
          <p:cNvPr id="95235" name="Rectangle 2">
            <a:extLst>
              <a:ext uri="{FF2B5EF4-FFF2-40B4-BE49-F238E27FC236}">
                <a16:creationId xmlns:a16="http://schemas.microsoft.com/office/drawing/2014/main" id="{5E413A9F-3C64-108B-4DBD-5E1EAA5D3035}"/>
              </a:ext>
            </a:extLst>
          </p:cNvPr>
          <p:cNvSpPr>
            <a:spLocks noGrp="1" noRot="1" noChangeAspect="1" noChangeArrowheads="1" noTextEdit="1"/>
          </p:cNvSpPr>
          <p:nvPr>
            <p:ph type="sldImg"/>
          </p:nvPr>
        </p:nvSpPr>
        <p:spPr>
          <a:xfrm>
            <a:off x="442913" y="698500"/>
            <a:ext cx="6132512" cy="3451225"/>
          </a:xfrm>
          <a:ln w="12700" cap="flat">
            <a:solidFill>
              <a:schemeClr val="tx1"/>
            </a:solidFill>
          </a:ln>
        </p:spPr>
      </p:sp>
      <p:sp>
        <p:nvSpPr>
          <p:cNvPr id="95236" name="Rectangle 3">
            <a:extLst>
              <a:ext uri="{FF2B5EF4-FFF2-40B4-BE49-F238E27FC236}">
                <a16:creationId xmlns:a16="http://schemas.microsoft.com/office/drawing/2014/main" id="{F6FA4F08-6E8C-C73F-55A7-4C1FB59DCC82}"/>
              </a:ext>
            </a:extLst>
          </p:cNvPr>
          <p:cNvSpPr>
            <a:spLocks noGrp="1" noChangeArrowheads="1"/>
          </p:cNvSpPr>
          <p:nvPr>
            <p:ph type="body" idx="1"/>
          </p:nvPr>
        </p:nvSpPr>
        <p:spPr>
          <a:xfrm>
            <a:off x="935038" y="4389438"/>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888" tIns="42944" rIns="85888" bIns="42944"/>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6E16B60D-6A3E-BD81-FB57-8E358BA0FC2B}"/>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pPr algn="r"/>
            <a:fld id="{DE936AFE-A197-EC4C-8A0B-720B7514C7AC}" type="slidenum">
              <a:rPr lang="en-US" altLang="en-US" sz="1200">
                <a:latin typeface="Times New Roman" panose="02020603050405020304" pitchFamily="18" charset="0"/>
              </a:rPr>
              <a:pPr algn="r"/>
              <a:t>58</a:t>
            </a:fld>
            <a:endParaRPr lang="en-US" altLang="en-US" sz="1200">
              <a:latin typeface="Times New Roman" panose="02020603050405020304" pitchFamily="18" charset="0"/>
            </a:endParaRPr>
          </a:p>
        </p:txBody>
      </p:sp>
      <p:sp>
        <p:nvSpPr>
          <p:cNvPr id="96259" name="Rectangle 2">
            <a:extLst>
              <a:ext uri="{FF2B5EF4-FFF2-40B4-BE49-F238E27FC236}">
                <a16:creationId xmlns:a16="http://schemas.microsoft.com/office/drawing/2014/main" id="{3F3A4429-0BCB-D9F4-F263-84B58C5AF8E9}"/>
              </a:ext>
            </a:extLst>
          </p:cNvPr>
          <p:cNvSpPr>
            <a:spLocks noGrp="1" noRot="1" noChangeAspect="1" noChangeArrowheads="1" noTextEdit="1"/>
          </p:cNvSpPr>
          <p:nvPr>
            <p:ph type="sldImg"/>
          </p:nvPr>
        </p:nvSpPr>
        <p:spPr>
          <a:xfrm>
            <a:off x="442913" y="698500"/>
            <a:ext cx="6132512" cy="3451225"/>
          </a:xfrm>
          <a:ln w="12700" cap="flat">
            <a:solidFill>
              <a:schemeClr val="tx1"/>
            </a:solidFill>
          </a:ln>
        </p:spPr>
      </p:sp>
      <p:sp>
        <p:nvSpPr>
          <p:cNvPr id="96260" name="Rectangle 3">
            <a:extLst>
              <a:ext uri="{FF2B5EF4-FFF2-40B4-BE49-F238E27FC236}">
                <a16:creationId xmlns:a16="http://schemas.microsoft.com/office/drawing/2014/main" id="{356DF7C0-F9D8-E2F4-E9C5-D2840DFE64BD}"/>
              </a:ext>
            </a:extLst>
          </p:cNvPr>
          <p:cNvSpPr>
            <a:spLocks noGrp="1" noChangeArrowheads="1"/>
          </p:cNvSpPr>
          <p:nvPr>
            <p:ph type="body" idx="1"/>
          </p:nvPr>
        </p:nvSpPr>
        <p:spPr>
          <a:xfrm>
            <a:off x="935038" y="4389438"/>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888" tIns="42944" rIns="85888" bIns="42944"/>
          <a:lstStyle/>
          <a:p>
            <a:r>
              <a:rPr lang="en-US" altLang="en-US"/>
              <a: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DD134867-719F-CE28-531D-1A729D567B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D46FBA6-49FC-9F4F-A45F-182241E20EE9}" type="slidenum">
              <a:rPr lang="en-US" altLang="en-US">
                <a:latin typeface="Times New Roman" panose="02020603050405020304" pitchFamily="18" charset="0"/>
              </a:rPr>
              <a:pPr/>
              <a:t>59</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B37E644A-B736-DAA7-396E-66629302C2D8}"/>
              </a:ext>
            </a:extLst>
          </p:cNvPr>
          <p:cNvSpPr>
            <a:spLocks noGrp="1" noRot="1" noChangeAspect="1" noChangeArrowheads="1" noTextEdit="1"/>
          </p:cNvSpPr>
          <p:nvPr>
            <p:ph type="sldImg"/>
          </p:nvPr>
        </p:nvSpPr>
        <p:spPr>
          <a:xfrm>
            <a:off x="442913" y="698500"/>
            <a:ext cx="6132512" cy="3451225"/>
          </a:xfrm>
          <a:ln w="12700" cap="flat">
            <a:solidFill>
              <a:schemeClr val="tx1"/>
            </a:solidFill>
          </a:ln>
        </p:spPr>
      </p:sp>
      <p:sp>
        <p:nvSpPr>
          <p:cNvPr id="97284" name="Rectangle 3">
            <a:extLst>
              <a:ext uri="{FF2B5EF4-FFF2-40B4-BE49-F238E27FC236}">
                <a16:creationId xmlns:a16="http://schemas.microsoft.com/office/drawing/2014/main" id="{C9A5D5C7-2B94-D5A1-BFC1-8B79726C3D7E}"/>
              </a:ext>
            </a:extLst>
          </p:cNvPr>
          <p:cNvSpPr>
            <a:spLocks noGrp="1" noChangeArrowheads="1"/>
          </p:cNvSpPr>
          <p:nvPr>
            <p:ph type="body" idx="1"/>
          </p:nvPr>
        </p:nvSpPr>
        <p:spPr>
          <a:xfrm>
            <a:off x="935038" y="4389438"/>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888" tIns="42944" rIns="85888" bIns="42944"/>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1216C7F8-002B-6509-8A8C-F14E65DE35B8}"/>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pPr algn="r"/>
            <a:fld id="{0D7D3C9A-F5CE-7146-8355-4F99A58CCD6F}" type="slidenum">
              <a:rPr lang="en-US" altLang="en-US" sz="1200">
                <a:latin typeface="Times New Roman" panose="02020603050405020304" pitchFamily="18" charset="0"/>
              </a:rPr>
              <a:pPr algn="r"/>
              <a:t>60</a:t>
            </a:fld>
            <a:endParaRPr lang="en-US" altLang="en-US" sz="1200">
              <a:latin typeface="Times New Roman" panose="02020603050405020304" pitchFamily="18" charset="0"/>
            </a:endParaRPr>
          </a:p>
        </p:txBody>
      </p:sp>
      <p:sp>
        <p:nvSpPr>
          <p:cNvPr id="99331" name="Rectangle 2">
            <a:extLst>
              <a:ext uri="{FF2B5EF4-FFF2-40B4-BE49-F238E27FC236}">
                <a16:creationId xmlns:a16="http://schemas.microsoft.com/office/drawing/2014/main" id="{A28FA859-1B54-359A-116B-E799A1D90523}"/>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CA62FAE8-4052-10F7-D3E9-9106A764BC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B20EFD84-31D4-3207-DC45-3E8AC2C8FFD3}"/>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pPr algn="r"/>
            <a:fld id="{2CFD1B4C-2D1E-A94C-9620-E08EC95762BA}" type="slidenum">
              <a:rPr lang="en-US" altLang="en-US" sz="1200">
                <a:latin typeface="Times New Roman" panose="02020603050405020304" pitchFamily="18" charset="0"/>
              </a:rPr>
              <a:pPr algn="r"/>
              <a:t>61</a:t>
            </a:fld>
            <a:endParaRPr lang="en-US" altLang="en-US" sz="1200">
              <a:latin typeface="Times New Roman" panose="02020603050405020304" pitchFamily="18" charset="0"/>
            </a:endParaRPr>
          </a:p>
        </p:txBody>
      </p:sp>
      <p:sp>
        <p:nvSpPr>
          <p:cNvPr id="100355" name="Rectangle 2">
            <a:extLst>
              <a:ext uri="{FF2B5EF4-FFF2-40B4-BE49-F238E27FC236}">
                <a16:creationId xmlns:a16="http://schemas.microsoft.com/office/drawing/2014/main" id="{1280B785-D78A-CDFC-8BB9-90B186111D60}"/>
              </a:ext>
            </a:extLst>
          </p:cNvPr>
          <p:cNvSpPr>
            <a:spLocks noGrp="1" noRot="1" noChangeAspect="1" noChangeArrowheads="1" noTextEdit="1"/>
          </p:cNvSpPr>
          <p:nvPr>
            <p:ph type="sldImg"/>
          </p:nvPr>
        </p:nvSpPr>
        <p:spPr>
          <a:xfrm>
            <a:off x="442913" y="698500"/>
            <a:ext cx="6132512" cy="3451225"/>
          </a:xfrm>
          <a:ln w="12700" cap="flat">
            <a:solidFill>
              <a:schemeClr val="tx1"/>
            </a:solidFill>
          </a:ln>
        </p:spPr>
      </p:sp>
      <p:sp>
        <p:nvSpPr>
          <p:cNvPr id="100356" name="Rectangle 3">
            <a:extLst>
              <a:ext uri="{FF2B5EF4-FFF2-40B4-BE49-F238E27FC236}">
                <a16:creationId xmlns:a16="http://schemas.microsoft.com/office/drawing/2014/main" id="{83E3AAF2-8B1C-D894-4F37-FF52303F7156}"/>
              </a:ext>
            </a:extLst>
          </p:cNvPr>
          <p:cNvSpPr>
            <a:spLocks noGrp="1" noChangeArrowheads="1"/>
          </p:cNvSpPr>
          <p:nvPr>
            <p:ph type="body" idx="1"/>
          </p:nvPr>
        </p:nvSpPr>
        <p:spPr>
          <a:xfrm>
            <a:off x="935038" y="4389438"/>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888" tIns="42944" rIns="85888" bIns="42944"/>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5CAEDA45-74CB-0407-2B02-6C1740AA51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5B122C2-0550-0143-B34A-E41F34AAD3FB}" type="slidenum">
              <a:rPr lang="en-US" altLang="en-US">
                <a:latin typeface="Times New Roman" panose="02020603050405020304" pitchFamily="18" charset="0"/>
              </a:rPr>
              <a:pPr/>
              <a:t>62</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2B51F642-CDB4-7E87-F262-9A96B413D1BA}"/>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042CC961-FA0D-4034-7370-CA2CF4C742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16D290C7-4873-C91E-4137-45D2277893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E061D89-6358-8E45-ADF8-B1C6EE4E75CD}" type="slidenum">
              <a:rPr lang="en-US" altLang="en-US">
                <a:latin typeface="Times New Roman" panose="02020603050405020304" pitchFamily="18" charset="0"/>
              </a:rPr>
              <a:pPr/>
              <a:t>63</a:t>
            </a:fld>
            <a:endParaRPr lang="en-US" altLang="en-US">
              <a:latin typeface="Times New Roman" panose="02020603050405020304" pitchFamily="18" charset="0"/>
            </a:endParaRPr>
          </a:p>
        </p:txBody>
      </p:sp>
      <p:sp>
        <p:nvSpPr>
          <p:cNvPr id="102403" name="Rectangle 2">
            <a:extLst>
              <a:ext uri="{FF2B5EF4-FFF2-40B4-BE49-F238E27FC236}">
                <a16:creationId xmlns:a16="http://schemas.microsoft.com/office/drawing/2014/main" id="{4C6EC78E-B100-7716-DCCA-F0492AF262D4}"/>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EF3FFA0A-B223-7EED-C0DF-B72B7430D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A385310F-CAA3-538E-95B3-06CD244A63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28F39E1-95D4-4142-84EF-35F6F9069001}" type="slidenum">
              <a:rPr lang="en-US" altLang="en-US">
                <a:latin typeface="Times New Roman" panose="02020603050405020304" pitchFamily="18" charset="0"/>
              </a:rPr>
              <a:pPr/>
              <a:t>64</a:t>
            </a:fld>
            <a:endParaRPr lang="en-US" altLang="en-US">
              <a:latin typeface="Times New Roman" panose="02020603050405020304" pitchFamily="18" charset="0"/>
            </a:endParaRPr>
          </a:p>
        </p:txBody>
      </p:sp>
      <p:sp>
        <p:nvSpPr>
          <p:cNvPr id="115715" name="Rectangle 2">
            <a:extLst>
              <a:ext uri="{FF2B5EF4-FFF2-40B4-BE49-F238E27FC236}">
                <a16:creationId xmlns:a16="http://schemas.microsoft.com/office/drawing/2014/main" id="{60169EC6-F87C-7E5F-748E-6FFB499986A6}"/>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AFB90A7E-4597-403E-76A0-27202A6331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C6F0DCCD-6929-AADD-C82C-32CF1889A3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60203DF-A71B-3444-87B3-CA6C00A6CB54}" type="slidenum">
              <a:rPr lang="en-US" altLang="en-US">
                <a:latin typeface="Times New Roman" panose="02020603050405020304" pitchFamily="18" charset="0"/>
              </a:rPr>
              <a:pPr/>
              <a:t>65</a:t>
            </a:fld>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0F6E8E8F-0F37-DA34-D2C0-489178718E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E48B311-6F46-0843-AE4F-4A9726A6689D}" type="slidenum">
              <a:rPr lang="en-US" altLang="en-US">
                <a:latin typeface="Times New Roman" panose="02020603050405020304" pitchFamily="18" charset="0"/>
              </a:rPr>
              <a:pPr/>
              <a:t>66</a:t>
            </a:fld>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3ABE8B41-4691-E7DC-B30A-0E20C771AA77}"/>
              </a:ext>
            </a:extLst>
          </p:cNvPr>
          <p:cNvSpPr>
            <a:spLocks noGrp="1" noRot="1" noChangeAspect="1" noChangeArrowheads="1" noTextEdit="1"/>
          </p:cNvSpPr>
          <p:nvPr>
            <p:ph type="sldImg"/>
          </p:nvPr>
        </p:nvSpPr>
        <p:spPr>
          <a:ln/>
        </p:spPr>
      </p:sp>
      <p:sp>
        <p:nvSpPr>
          <p:cNvPr id="140291" name="Rectangle 3">
            <a:extLst>
              <a:ext uri="{FF2B5EF4-FFF2-40B4-BE49-F238E27FC236}">
                <a16:creationId xmlns:a16="http://schemas.microsoft.com/office/drawing/2014/main" id="{059569FD-4672-A681-E5F4-25B16D9362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E655BC72-A9B1-B2C3-C86C-B0CB7E01443A}"/>
              </a:ext>
            </a:extLst>
          </p:cNvPr>
          <p:cNvSpPr>
            <a:spLocks noGrp="1" noRot="1" noChangeAspect="1" noChangeArrowheads="1" noTextEdit="1"/>
          </p:cNvSpPr>
          <p:nvPr>
            <p:ph type="sldImg"/>
          </p:nvPr>
        </p:nvSpPr>
        <p:spPr>
          <a:ln/>
        </p:spPr>
      </p:sp>
      <p:sp>
        <p:nvSpPr>
          <p:cNvPr id="142339" name="Rectangle 3">
            <a:extLst>
              <a:ext uri="{FF2B5EF4-FFF2-40B4-BE49-F238E27FC236}">
                <a16:creationId xmlns:a16="http://schemas.microsoft.com/office/drawing/2014/main" id="{11F8A3A8-312B-D551-9A8A-4901EB2A4F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964B5C16-D6D5-70C0-867B-B301499577B2}"/>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D6ED1F7D-690F-240D-525A-7A270BFECC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14B2F308-B289-B497-06CC-9823B9A9A847}"/>
              </a:ext>
            </a:extLst>
          </p:cNvPr>
          <p:cNvSpPr>
            <a:spLocks noGrp="1" noRot="1" noChangeAspect="1" noChangeArrowheads="1" noTextEdit="1"/>
          </p:cNvSpPr>
          <p:nvPr>
            <p:ph type="sldImg"/>
          </p:nvPr>
        </p:nvSpPr>
        <p:spPr>
          <a:ln/>
        </p:spPr>
      </p:sp>
      <p:sp>
        <p:nvSpPr>
          <p:cNvPr id="144387" name="Rectangle 3">
            <a:extLst>
              <a:ext uri="{FF2B5EF4-FFF2-40B4-BE49-F238E27FC236}">
                <a16:creationId xmlns:a16="http://schemas.microsoft.com/office/drawing/2014/main" id="{1F0E8F41-ECC6-054A-1EFE-E6C5E2B300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729B2AE2-D369-6051-23F7-20F842E4A4F5}"/>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E8E40F1F-17D3-948F-EA3A-CE69A2FB40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046F7D96-DBD1-4512-B81F-EFBD650983FF}"/>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id="{68095217-7344-4B9D-BF3E-5B6F24B9F6B9}"/>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8C689-1FF5-CD56-8C89-0C69FAB599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1A78A3-9702-7F8F-BCEC-6DEA55B1D2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8B6569-F0BB-0C72-3ACA-17CF735B87A1}"/>
              </a:ext>
            </a:extLst>
          </p:cNvPr>
          <p:cNvSpPr>
            <a:spLocks noGrp="1"/>
          </p:cNvSpPr>
          <p:nvPr>
            <p:ph type="dt" sz="half" idx="10"/>
          </p:nvPr>
        </p:nvSpPr>
        <p:spPr/>
        <p:txBody>
          <a:bodyPr/>
          <a:lstStyle/>
          <a:p>
            <a:fld id="{FE24E30B-E197-1248-82C4-179ECFED5289}" type="datetime1">
              <a:rPr lang="en-US" smtClean="0"/>
              <a:t>10/14/25</a:t>
            </a:fld>
            <a:endParaRPr lang="en-US"/>
          </a:p>
        </p:txBody>
      </p:sp>
      <p:sp>
        <p:nvSpPr>
          <p:cNvPr id="5" name="Footer Placeholder 4">
            <a:extLst>
              <a:ext uri="{FF2B5EF4-FFF2-40B4-BE49-F238E27FC236}">
                <a16:creationId xmlns:a16="http://schemas.microsoft.com/office/drawing/2014/main" id="{9EA12E39-2EE7-AC76-A726-DB053A037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859217-9496-4FF6-B5BC-FA9C7005850B}"/>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88073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65F2D-9B54-0183-9487-9C0D07F59D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BAA65E-0D0B-B48A-8307-BD92ABA4F0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3DBCCA-1EB1-A188-256B-B1D43631F745}"/>
              </a:ext>
            </a:extLst>
          </p:cNvPr>
          <p:cNvSpPr>
            <a:spLocks noGrp="1"/>
          </p:cNvSpPr>
          <p:nvPr>
            <p:ph type="dt" sz="half" idx="10"/>
          </p:nvPr>
        </p:nvSpPr>
        <p:spPr/>
        <p:txBody>
          <a:bodyPr/>
          <a:lstStyle/>
          <a:p>
            <a:fld id="{4DF129F0-2575-5B4B-8A7E-9C7C2548E790}" type="datetime1">
              <a:rPr lang="en-US" smtClean="0"/>
              <a:t>10/14/25</a:t>
            </a:fld>
            <a:endParaRPr lang="en-US"/>
          </a:p>
        </p:txBody>
      </p:sp>
      <p:sp>
        <p:nvSpPr>
          <p:cNvPr id="5" name="Footer Placeholder 4">
            <a:extLst>
              <a:ext uri="{FF2B5EF4-FFF2-40B4-BE49-F238E27FC236}">
                <a16:creationId xmlns:a16="http://schemas.microsoft.com/office/drawing/2014/main" id="{9A02B422-306F-8DE3-58F3-4D3B07C535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72CDF-1D89-225D-9143-0D1558573B86}"/>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2877612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59E97-DFD9-C7C5-8168-F5488E6934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EFD31B-B2AB-B45A-3D41-A9C1D1F79A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201ED3-4BA2-0D05-220B-99DA8E1769FA}"/>
              </a:ext>
            </a:extLst>
          </p:cNvPr>
          <p:cNvSpPr>
            <a:spLocks noGrp="1"/>
          </p:cNvSpPr>
          <p:nvPr>
            <p:ph type="dt" sz="half" idx="10"/>
          </p:nvPr>
        </p:nvSpPr>
        <p:spPr/>
        <p:txBody>
          <a:bodyPr/>
          <a:lstStyle/>
          <a:p>
            <a:fld id="{167A8807-C5CB-3A42-9991-75D9B9C00675}" type="datetime1">
              <a:rPr lang="en-US" smtClean="0"/>
              <a:t>10/14/25</a:t>
            </a:fld>
            <a:endParaRPr lang="en-US"/>
          </a:p>
        </p:txBody>
      </p:sp>
      <p:sp>
        <p:nvSpPr>
          <p:cNvPr id="5" name="Footer Placeholder 4">
            <a:extLst>
              <a:ext uri="{FF2B5EF4-FFF2-40B4-BE49-F238E27FC236}">
                <a16:creationId xmlns:a16="http://schemas.microsoft.com/office/drawing/2014/main" id="{4DABF5B8-1299-4361-3FE4-B248134B95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FBB9D2-94CA-27EA-3FA7-6F338B13106E}"/>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1590045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E7B90-F3B8-E77A-9FA2-4A060F4D8D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59DBF4-68A5-E565-AD3A-C17F332BBD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FC1DDA-29B5-B8B7-8F35-DDD63E117E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C2533D-3F72-8988-CD52-2C8B21C26AA2}"/>
              </a:ext>
            </a:extLst>
          </p:cNvPr>
          <p:cNvSpPr>
            <a:spLocks noGrp="1"/>
          </p:cNvSpPr>
          <p:nvPr>
            <p:ph type="dt" sz="half" idx="10"/>
          </p:nvPr>
        </p:nvSpPr>
        <p:spPr/>
        <p:txBody>
          <a:bodyPr/>
          <a:lstStyle/>
          <a:p>
            <a:fld id="{7EA36103-CF68-B843-9236-A5EDE689F482}" type="datetime1">
              <a:rPr lang="en-US" smtClean="0"/>
              <a:t>10/14/25</a:t>
            </a:fld>
            <a:endParaRPr lang="en-US"/>
          </a:p>
        </p:txBody>
      </p:sp>
      <p:sp>
        <p:nvSpPr>
          <p:cNvPr id="6" name="Footer Placeholder 5">
            <a:extLst>
              <a:ext uri="{FF2B5EF4-FFF2-40B4-BE49-F238E27FC236}">
                <a16:creationId xmlns:a16="http://schemas.microsoft.com/office/drawing/2014/main" id="{F969C062-4436-19B4-DB3B-0521F1185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7D5B73-F077-941D-5D8B-733BA6C4FD10}"/>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3665189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AE600-BCB3-30F2-5CAE-E8D81D6E19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D3FC50-3CAF-7405-BB21-B2F2AF9667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EF6129-BA3F-8F30-8C29-D5AF699EDF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124E96-B47A-E625-31A5-D4531FC8B1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1CDBA6-A65E-43FE-CE55-E319F1823B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8684B6-E5F4-7069-B142-80958282FEEF}"/>
              </a:ext>
            </a:extLst>
          </p:cNvPr>
          <p:cNvSpPr>
            <a:spLocks noGrp="1"/>
          </p:cNvSpPr>
          <p:nvPr>
            <p:ph type="dt" sz="half" idx="10"/>
          </p:nvPr>
        </p:nvSpPr>
        <p:spPr/>
        <p:txBody>
          <a:bodyPr/>
          <a:lstStyle/>
          <a:p>
            <a:fld id="{8AE7102F-4DD9-264B-9ECF-115D35D30064}" type="datetime1">
              <a:rPr lang="en-US" smtClean="0"/>
              <a:t>10/14/25</a:t>
            </a:fld>
            <a:endParaRPr lang="en-US"/>
          </a:p>
        </p:txBody>
      </p:sp>
      <p:sp>
        <p:nvSpPr>
          <p:cNvPr id="8" name="Footer Placeholder 7">
            <a:extLst>
              <a:ext uri="{FF2B5EF4-FFF2-40B4-BE49-F238E27FC236}">
                <a16:creationId xmlns:a16="http://schemas.microsoft.com/office/drawing/2014/main" id="{3614F7E3-D7B6-4869-908E-AFEEEA736C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39214C-EFE6-C346-3E8C-6DCCA253DB8F}"/>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2361616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11829-4867-6F97-6E84-252A4BC89B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F56DB8-6854-5530-05B6-F413FFC9AD7A}"/>
              </a:ext>
            </a:extLst>
          </p:cNvPr>
          <p:cNvSpPr>
            <a:spLocks noGrp="1"/>
          </p:cNvSpPr>
          <p:nvPr>
            <p:ph type="dt" sz="half" idx="10"/>
          </p:nvPr>
        </p:nvSpPr>
        <p:spPr/>
        <p:txBody>
          <a:bodyPr/>
          <a:lstStyle/>
          <a:p>
            <a:fld id="{320EA1D9-CE96-E44F-B71E-4C1B4F6005AF}" type="datetime1">
              <a:rPr lang="en-US" smtClean="0"/>
              <a:t>10/14/25</a:t>
            </a:fld>
            <a:endParaRPr lang="en-US"/>
          </a:p>
        </p:txBody>
      </p:sp>
      <p:sp>
        <p:nvSpPr>
          <p:cNvPr id="4" name="Footer Placeholder 3">
            <a:extLst>
              <a:ext uri="{FF2B5EF4-FFF2-40B4-BE49-F238E27FC236}">
                <a16:creationId xmlns:a16="http://schemas.microsoft.com/office/drawing/2014/main" id="{4397842E-85BA-6376-C417-0A57634A9F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A77942-C1D3-DAE5-D01A-170018784D4B}"/>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900876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A65CF9-E489-EB34-3C3B-E76E5D80CFFE}"/>
              </a:ext>
            </a:extLst>
          </p:cNvPr>
          <p:cNvSpPr>
            <a:spLocks noGrp="1"/>
          </p:cNvSpPr>
          <p:nvPr>
            <p:ph type="dt" sz="half" idx="10"/>
          </p:nvPr>
        </p:nvSpPr>
        <p:spPr/>
        <p:txBody>
          <a:bodyPr/>
          <a:lstStyle/>
          <a:p>
            <a:fld id="{A6883833-6612-5443-B6FF-88BA603202E5}" type="datetime1">
              <a:rPr lang="en-US" smtClean="0"/>
              <a:t>10/14/25</a:t>
            </a:fld>
            <a:endParaRPr lang="en-US"/>
          </a:p>
        </p:txBody>
      </p:sp>
      <p:sp>
        <p:nvSpPr>
          <p:cNvPr id="3" name="Footer Placeholder 2">
            <a:extLst>
              <a:ext uri="{FF2B5EF4-FFF2-40B4-BE49-F238E27FC236}">
                <a16:creationId xmlns:a16="http://schemas.microsoft.com/office/drawing/2014/main" id="{8F3CE4B6-D619-2A2D-C40E-5047F87D23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E1C5D0-26D5-5996-6E89-A3B99EBBAEFB}"/>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4126588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16AE1-FFA2-1727-EC7A-227081EFA7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18F190-6916-3D35-3684-B21A0E161C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FC31E1-5978-326A-2F3B-6400975EF3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7787A7-9AC3-BEDB-A7BA-0E9A960149B7}"/>
              </a:ext>
            </a:extLst>
          </p:cNvPr>
          <p:cNvSpPr>
            <a:spLocks noGrp="1"/>
          </p:cNvSpPr>
          <p:nvPr>
            <p:ph type="dt" sz="half" idx="10"/>
          </p:nvPr>
        </p:nvSpPr>
        <p:spPr/>
        <p:txBody>
          <a:bodyPr/>
          <a:lstStyle/>
          <a:p>
            <a:fld id="{6DBDDDF9-D0D1-3844-AE65-FE822FCA131B}" type="datetime1">
              <a:rPr lang="en-US" smtClean="0"/>
              <a:t>10/14/25</a:t>
            </a:fld>
            <a:endParaRPr lang="en-US"/>
          </a:p>
        </p:txBody>
      </p:sp>
      <p:sp>
        <p:nvSpPr>
          <p:cNvPr id="6" name="Footer Placeholder 5">
            <a:extLst>
              <a:ext uri="{FF2B5EF4-FFF2-40B4-BE49-F238E27FC236}">
                <a16:creationId xmlns:a16="http://schemas.microsoft.com/office/drawing/2014/main" id="{A8506D29-F445-1216-522B-61ABBAE149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179550-25A2-2846-B226-781DC228BAA4}"/>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2705157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0EA04-653F-E662-A421-C7339907CE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8794E3-98D4-DD6D-63D2-27EEED0F8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AC5327-2D42-BF68-0F02-5C1580B68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18FF4B-2A73-0848-A164-33EF66F8EAA6}"/>
              </a:ext>
            </a:extLst>
          </p:cNvPr>
          <p:cNvSpPr>
            <a:spLocks noGrp="1"/>
          </p:cNvSpPr>
          <p:nvPr>
            <p:ph type="dt" sz="half" idx="10"/>
          </p:nvPr>
        </p:nvSpPr>
        <p:spPr/>
        <p:txBody>
          <a:bodyPr/>
          <a:lstStyle/>
          <a:p>
            <a:fld id="{3B639772-D785-994D-ACCD-B752A253ADFF}" type="datetime1">
              <a:rPr lang="en-US" smtClean="0"/>
              <a:t>10/14/25</a:t>
            </a:fld>
            <a:endParaRPr lang="en-US"/>
          </a:p>
        </p:txBody>
      </p:sp>
      <p:sp>
        <p:nvSpPr>
          <p:cNvPr id="6" name="Footer Placeholder 5">
            <a:extLst>
              <a:ext uri="{FF2B5EF4-FFF2-40B4-BE49-F238E27FC236}">
                <a16:creationId xmlns:a16="http://schemas.microsoft.com/office/drawing/2014/main" id="{AA146CAA-443C-10AC-AC8B-C9D4F17A74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39855E-1FD9-CC8D-2F23-5A9273BD5A75}"/>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3605376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8C02-BF67-EC95-8B5F-1AB2278A24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9060CC-A94B-9663-47FE-89757A6D15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560636-C282-4612-BC8E-170F950C1425}"/>
              </a:ext>
            </a:extLst>
          </p:cNvPr>
          <p:cNvSpPr>
            <a:spLocks noGrp="1"/>
          </p:cNvSpPr>
          <p:nvPr>
            <p:ph type="dt" sz="half" idx="10"/>
          </p:nvPr>
        </p:nvSpPr>
        <p:spPr/>
        <p:txBody>
          <a:bodyPr/>
          <a:lstStyle/>
          <a:p>
            <a:fld id="{082A765E-F970-1C4D-A855-940CE6662752}" type="datetime1">
              <a:rPr lang="en-US" smtClean="0"/>
              <a:t>10/14/25</a:t>
            </a:fld>
            <a:endParaRPr lang="en-US"/>
          </a:p>
        </p:txBody>
      </p:sp>
      <p:sp>
        <p:nvSpPr>
          <p:cNvPr id="5" name="Footer Placeholder 4">
            <a:extLst>
              <a:ext uri="{FF2B5EF4-FFF2-40B4-BE49-F238E27FC236}">
                <a16:creationId xmlns:a16="http://schemas.microsoft.com/office/drawing/2014/main" id="{BCC51FE2-6AA7-BAD1-F7DA-9D3692C6A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A35C2-4D9A-C1BA-DA22-AD7611D9202B}"/>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1224871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A0DDAD-427C-933E-7857-91D8B3567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D8EF4A-351A-0E24-1261-84AA18088C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4CC4D-9829-04F5-83B4-551AE8550E1B}"/>
              </a:ext>
            </a:extLst>
          </p:cNvPr>
          <p:cNvSpPr>
            <a:spLocks noGrp="1"/>
          </p:cNvSpPr>
          <p:nvPr>
            <p:ph type="dt" sz="half" idx="10"/>
          </p:nvPr>
        </p:nvSpPr>
        <p:spPr/>
        <p:txBody>
          <a:bodyPr/>
          <a:lstStyle/>
          <a:p>
            <a:fld id="{11261FF4-42D5-2A44-B70E-9B7D71EC1E58}" type="datetime1">
              <a:rPr lang="en-US" smtClean="0"/>
              <a:t>10/14/25</a:t>
            </a:fld>
            <a:endParaRPr lang="en-US"/>
          </a:p>
        </p:txBody>
      </p:sp>
      <p:sp>
        <p:nvSpPr>
          <p:cNvPr id="5" name="Footer Placeholder 4">
            <a:extLst>
              <a:ext uri="{FF2B5EF4-FFF2-40B4-BE49-F238E27FC236}">
                <a16:creationId xmlns:a16="http://schemas.microsoft.com/office/drawing/2014/main" id="{257F2DB6-8946-8664-9055-DD2985838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650736-3C35-F9CF-7984-D60D6ECDC3A6}"/>
              </a:ext>
            </a:extLst>
          </p:cNvPr>
          <p:cNvSpPr>
            <a:spLocks noGrp="1"/>
          </p:cNvSpPr>
          <p:nvPr>
            <p:ph type="sldNum" sz="quarter" idx="12"/>
          </p:nvPr>
        </p:nvSpPr>
        <p:spPr/>
        <p:txBody>
          <a:bodyPr/>
          <a:lstStyle/>
          <a:p>
            <a:fld id="{C3CACD4E-8C52-004E-9A96-AD0BCBF3CA39}" type="slidenum">
              <a:rPr lang="en-US" smtClean="0"/>
              <a:t>‹#›</a:t>
            </a:fld>
            <a:endParaRPr lang="en-US"/>
          </a:p>
        </p:txBody>
      </p:sp>
    </p:spTree>
    <p:extLst>
      <p:ext uri="{BB962C8B-B14F-4D97-AF65-F5344CB8AC3E}">
        <p14:creationId xmlns:p14="http://schemas.microsoft.com/office/powerpoint/2010/main" val="534682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381000"/>
            <a:ext cx="11203517" cy="609600"/>
          </a:xfrm>
        </p:spPr>
        <p:txBody>
          <a:bodyPr/>
          <a:lstStyle/>
          <a:p>
            <a:r>
              <a:rPr lang="en-US"/>
              <a:t>Click to edit Master title style</a:t>
            </a:r>
          </a:p>
        </p:txBody>
      </p:sp>
      <p:sp>
        <p:nvSpPr>
          <p:cNvPr id="3" name="Text Placeholder 2"/>
          <p:cNvSpPr>
            <a:spLocks noGrp="1"/>
          </p:cNvSpPr>
          <p:nvPr>
            <p:ph type="body" sz="half" idx="1"/>
          </p:nvPr>
        </p:nvSpPr>
        <p:spPr>
          <a:xfrm>
            <a:off x="4064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59">
            <a:extLst>
              <a:ext uri="{FF2B5EF4-FFF2-40B4-BE49-F238E27FC236}">
                <a16:creationId xmlns:a16="http://schemas.microsoft.com/office/drawing/2014/main" id="{07FC6C89-5015-4599-1017-C65267389E3C}"/>
              </a:ext>
            </a:extLst>
          </p:cNvPr>
          <p:cNvSpPr>
            <a:spLocks noGrp="1" noChangeArrowheads="1"/>
          </p:cNvSpPr>
          <p:nvPr>
            <p:ph type="dt" sz="half" idx="10"/>
          </p:nvPr>
        </p:nvSpPr>
        <p:spPr>
          <a:ln/>
        </p:spPr>
        <p:txBody>
          <a:bodyPr/>
          <a:lstStyle>
            <a:lvl1pPr>
              <a:defRPr/>
            </a:lvl1pPr>
          </a:lstStyle>
          <a:p>
            <a:pPr>
              <a:defRPr/>
            </a:pPr>
            <a:fld id="{DED45F16-0992-8546-8546-6B3F2720E5C3}" type="datetime1">
              <a:rPr lang="en-US" smtClean="0"/>
              <a:t>10/14/25</a:t>
            </a:fld>
            <a:endParaRPr lang="en-US"/>
          </a:p>
        </p:txBody>
      </p:sp>
      <p:sp>
        <p:nvSpPr>
          <p:cNvPr id="6" name="Rectangle 2060">
            <a:extLst>
              <a:ext uri="{FF2B5EF4-FFF2-40B4-BE49-F238E27FC236}">
                <a16:creationId xmlns:a16="http://schemas.microsoft.com/office/drawing/2014/main" id="{3C1CFDF9-D52C-D312-1159-D63A5E163D2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2061">
            <a:extLst>
              <a:ext uri="{FF2B5EF4-FFF2-40B4-BE49-F238E27FC236}">
                <a16:creationId xmlns:a16="http://schemas.microsoft.com/office/drawing/2014/main" id="{39843247-9F43-7111-8556-899ACBB53FAD}"/>
              </a:ext>
            </a:extLst>
          </p:cNvPr>
          <p:cNvSpPr>
            <a:spLocks noGrp="1" noChangeArrowheads="1"/>
          </p:cNvSpPr>
          <p:nvPr>
            <p:ph type="sldNum" sz="quarter" idx="12"/>
          </p:nvPr>
        </p:nvSpPr>
        <p:spPr>
          <a:ln/>
        </p:spPr>
        <p:txBody>
          <a:bodyPr/>
          <a:lstStyle>
            <a:lvl1pPr>
              <a:defRPr/>
            </a:lvl1pPr>
          </a:lstStyle>
          <a:p>
            <a:fld id="{C4A3972B-046A-7B4E-8ACB-D94E6385DD27}" type="slidenum">
              <a:rPr lang="en-US" altLang="en-US"/>
              <a:pPr/>
              <a:t>‹#›</a:t>
            </a:fld>
            <a:endParaRPr lang="en-US" altLang="en-US"/>
          </a:p>
        </p:txBody>
      </p:sp>
    </p:spTree>
    <p:extLst>
      <p:ext uri="{BB962C8B-B14F-4D97-AF65-F5344CB8AC3E}">
        <p14:creationId xmlns:p14="http://schemas.microsoft.com/office/powerpoint/2010/main" val="3217028530"/>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381000"/>
            <a:ext cx="11203517" cy="609600"/>
          </a:xfrm>
        </p:spPr>
        <p:txBody>
          <a:bodyPr/>
          <a:lstStyle/>
          <a:p>
            <a:r>
              <a:rPr lang="en-US"/>
              <a:t>Click to edit Master title style</a:t>
            </a:r>
          </a:p>
        </p:txBody>
      </p:sp>
      <p:sp>
        <p:nvSpPr>
          <p:cNvPr id="3" name="Text Placeholder 2"/>
          <p:cNvSpPr>
            <a:spLocks noGrp="1"/>
          </p:cNvSpPr>
          <p:nvPr>
            <p:ph type="body" sz="half" idx="1"/>
          </p:nvPr>
        </p:nvSpPr>
        <p:spPr>
          <a:xfrm>
            <a:off x="4064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46800" y="1371600"/>
            <a:ext cx="55372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46800" y="4000500"/>
            <a:ext cx="55372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59">
            <a:extLst>
              <a:ext uri="{FF2B5EF4-FFF2-40B4-BE49-F238E27FC236}">
                <a16:creationId xmlns:a16="http://schemas.microsoft.com/office/drawing/2014/main" id="{A967DC41-19FE-0116-59E4-9C49DA235381}"/>
              </a:ext>
            </a:extLst>
          </p:cNvPr>
          <p:cNvSpPr>
            <a:spLocks noGrp="1" noChangeArrowheads="1"/>
          </p:cNvSpPr>
          <p:nvPr>
            <p:ph type="dt" sz="half" idx="10"/>
          </p:nvPr>
        </p:nvSpPr>
        <p:spPr>
          <a:ln/>
        </p:spPr>
        <p:txBody>
          <a:bodyPr/>
          <a:lstStyle>
            <a:lvl1pPr>
              <a:defRPr/>
            </a:lvl1pPr>
          </a:lstStyle>
          <a:p>
            <a:pPr>
              <a:defRPr/>
            </a:pPr>
            <a:fld id="{974E1E83-005C-BF49-BDC1-E7460222FEB6}" type="datetime1">
              <a:rPr lang="en-US" smtClean="0"/>
              <a:t>10/14/25</a:t>
            </a:fld>
            <a:endParaRPr lang="en-US"/>
          </a:p>
        </p:txBody>
      </p:sp>
      <p:sp>
        <p:nvSpPr>
          <p:cNvPr id="7" name="Rectangle 2060">
            <a:extLst>
              <a:ext uri="{FF2B5EF4-FFF2-40B4-BE49-F238E27FC236}">
                <a16:creationId xmlns:a16="http://schemas.microsoft.com/office/drawing/2014/main" id="{7BCAAC92-F83F-FC5B-FD17-6ACF569BCE0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2061">
            <a:extLst>
              <a:ext uri="{FF2B5EF4-FFF2-40B4-BE49-F238E27FC236}">
                <a16:creationId xmlns:a16="http://schemas.microsoft.com/office/drawing/2014/main" id="{BA31024D-E200-E2EC-2EA6-AD3F7A69D29D}"/>
              </a:ext>
            </a:extLst>
          </p:cNvPr>
          <p:cNvSpPr>
            <a:spLocks noGrp="1" noChangeArrowheads="1"/>
          </p:cNvSpPr>
          <p:nvPr>
            <p:ph type="sldNum" sz="quarter" idx="12"/>
          </p:nvPr>
        </p:nvSpPr>
        <p:spPr>
          <a:ln/>
        </p:spPr>
        <p:txBody>
          <a:bodyPr/>
          <a:lstStyle>
            <a:lvl1pPr>
              <a:defRPr/>
            </a:lvl1pPr>
          </a:lstStyle>
          <a:p>
            <a:fld id="{D7A0510B-FE2B-8E40-82B8-38A5E776FA58}" type="slidenum">
              <a:rPr lang="en-US" altLang="en-US"/>
              <a:pPr/>
              <a:t>‹#›</a:t>
            </a:fld>
            <a:endParaRPr lang="en-US" altLang="en-US"/>
          </a:p>
        </p:txBody>
      </p:sp>
    </p:spTree>
    <p:extLst>
      <p:ext uri="{BB962C8B-B14F-4D97-AF65-F5344CB8AC3E}">
        <p14:creationId xmlns:p14="http://schemas.microsoft.com/office/powerpoint/2010/main" val="2899777466"/>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508000" y="152400"/>
            <a:ext cx="11040533" cy="533400"/>
          </a:xfrm>
        </p:spPr>
        <p:txBody>
          <a:bodyPr/>
          <a:lstStyle/>
          <a:p>
            <a:r>
              <a:rPr lang="en-US"/>
              <a:t>Click to edit Master title style</a:t>
            </a:r>
          </a:p>
        </p:txBody>
      </p:sp>
      <p:sp>
        <p:nvSpPr>
          <p:cNvPr id="3" name="Content Placeholder 2"/>
          <p:cNvSpPr>
            <a:spLocks noGrp="1"/>
          </p:cNvSpPr>
          <p:nvPr>
            <p:ph sz="quarter" idx="1"/>
          </p:nvPr>
        </p:nvSpPr>
        <p:spPr>
          <a:xfrm>
            <a:off x="548217" y="1143000"/>
            <a:ext cx="5444067"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5484" y="1143000"/>
            <a:ext cx="5444067"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48217" y="3810000"/>
            <a:ext cx="5444067"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5484" y="3810000"/>
            <a:ext cx="5444067"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6137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AD1B51-066D-8F3D-C1B0-BACA8F2DC5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19ED75-05A4-167F-17BF-5ACB7B2C71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BF9710-85F1-F05F-1FD3-5AAB96DA88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ACCFB0-8730-A640-8850-A5B818AE410A}" type="datetime1">
              <a:rPr lang="en-US" smtClean="0"/>
              <a:t>10/14/25</a:t>
            </a:fld>
            <a:endParaRPr lang="en-US"/>
          </a:p>
        </p:txBody>
      </p:sp>
      <p:sp>
        <p:nvSpPr>
          <p:cNvPr id="5" name="Footer Placeholder 4">
            <a:extLst>
              <a:ext uri="{FF2B5EF4-FFF2-40B4-BE49-F238E27FC236}">
                <a16:creationId xmlns:a16="http://schemas.microsoft.com/office/drawing/2014/main" id="{E36D98CE-362F-3D28-8A8B-32ACA96961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CB4EF4-6B85-CCB6-5200-02303669B0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CACD4E-8C52-004E-9A96-AD0BCBF3CA39}" type="slidenum">
              <a:rPr lang="en-US" smtClean="0"/>
              <a:t>‹#›</a:t>
            </a:fld>
            <a:endParaRPr lang="en-US"/>
          </a:p>
        </p:txBody>
      </p:sp>
    </p:spTree>
    <p:extLst>
      <p:ext uri="{BB962C8B-B14F-4D97-AF65-F5344CB8AC3E}">
        <p14:creationId xmlns:p14="http://schemas.microsoft.com/office/powerpoint/2010/main" val="6271776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6.wmf"/><Relationship Id="rId2" Type="http://schemas.openxmlformats.org/officeDocument/2006/relationships/image" Target="../media/image1.wmf"/><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5.bin"/><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7.bin"/><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8.bin"/><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9.wmf"/><Relationship Id="rId3" Type="http://schemas.openxmlformats.org/officeDocument/2006/relationships/image" Target="../media/image14.emf"/><Relationship Id="rId7" Type="http://schemas.openxmlformats.org/officeDocument/2006/relationships/image" Target="../media/image16.wmf"/><Relationship Id="rId12" Type="http://schemas.openxmlformats.org/officeDocument/2006/relationships/oleObject" Target="../embeddings/oleObject14.bin"/><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7.wmf"/></Relationships>
</file>

<file path=ppt/slides/_rels/slide1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20.wmf"/><Relationship Id="rId4"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21.wmf"/><Relationship Id="rId7" Type="http://schemas.openxmlformats.org/officeDocument/2006/relationships/image" Target="../media/image23.w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22.wmf"/><Relationship Id="rId4" Type="http://schemas.openxmlformats.org/officeDocument/2006/relationships/oleObject" Target="../embeddings/oleObject19.bin"/></Relationships>
</file>

<file path=ppt/slides/_rels/slide1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21.bin"/><Relationship Id="rId1" Type="http://schemas.openxmlformats.org/officeDocument/2006/relationships/slideLayout" Target="../slideLayouts/slideLayout4.xml"/><Relationship Id="rId5" Type="http://schemas.openxmlformats.org/officeDocument/2006/relationships/image" Target="../media/image25.emf"/><Relationship Id="rId4" Type="http://schemas.openxmlformats.org/officeDocument/2006/relationships/oleObject" Target="../embeddings/oleObject22.bin"/></Relationships>
</file>

<file path=ppt/slides/_rels/slide18.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29.wmf"/><Relationship Id="rId4" Type="http://schemas.openxmlformats.org/officeDocument/2006/relationships/oleObject" Target="../embeddings/oleObject26.bin"/></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8.bin"/><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wmf"/><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9.wmf"/><Relationship Id="rId3" Type="http://schemas.openxmlformats.org/officeDocument/2006/relationships/image" Target="../media/image14.emf"/><Relationship Id="rId7" Type="http://schemas.openxmlformats.org/officeDocument/2006/relationships/image" Target="../media/image16.wmf"/><Relationship Id="rId12" Type="http://schemas.openxmlformats.org/officeDocument/2006/relationships/oleObject" Target="../embeddings/oleObject14.bin"/><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7.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 Id="rId6" Type="http://schemas.openxmlformats.org/officeDocument/2006/relationships/image" Target="../media/image47.emf"/><Relationship Id="rId5" Type="http://schemas.openxmlformats.org/officeDocument/2006/relationships/image" Target="../media/image46.emf"/><Relationship Id="rId4" Type="http://schemas.openxmlformats.org/officeDocument/2006/relationships/image" Target="../media/image45.emf"/></Relationships>
</file>

<file path=ppt/slides/_rels/slide33.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oleObject" Target="../embeddings/oleObject29.bin"/><Relationship Id="rId1" Type="http://schemas.openxmlformats.org/officeDocument/2006/relationships/slideLayout" Target="../slideLayouts/slideLayout2.xml"/><Relationship Id="rId5" Type="http://schemas.openxmlformats.org/officeDocument/2006/relationships/image" Target="../media/image50.wmf"/><Relationship Id="rId4" Type="http://schemas.openxmlformats.org/officeDocument/2006/relationships/oleObject" Target="../embeddings/oleObject30.bin"/></Relationships>
</file>

<file path=ppt/slides/_rels/slide35.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52.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53.emf"/><Relationship Id="rId7" Type="http://schemas.openxmlformats.org/officeDocument/2006/relationships/image" Target="../media/image55.wmf"/><Relationship Id="rId2" Type="http://schemas.openxmlformats.org/officeDocument/2006/relationships/oleObject" Target="../embeddings/oleObject31.bin"/><Relationship Id="rId1" Type="http://schemas.openxmlformats.org/officeDocument/2006/relationships/slideLayout" Target="../slideLayouts/slideLayout14.xml"/><Relationship Id="rId6" Type="http://schemas.openxmlformats.org/officeDocument/2006/relationships/oleObject" Target="../embeddings/oleObject33.bin"/><Relationship Id="rId5" Type="http://schemas.openxmlformats.org/officeDocument/2006/relationships/image" Target="../media/image54.emf"/><Relationship Id="rId4" Type="http://schemas.openxmlformats.org/officeDocument/2006/relationships/oleObject" Target="../embeddings/oleObject32.bin"/><Relationship Id="rId9" Type="http://schemas.openxmlformats.org/officeDocument/2006/relationships/image" Target="../media/image56.emf"/></Relationships>
</file>

<file path=ppt/slides/_rels/slide38.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oleObject" Target="../embeddings/oleObject35.bin"/><Relationship Id="rId1" Type="http://schemas.openxmlformats.org/officeDocument/2006/relationships/slideLayout" Target="../slideLayouts/slideLayout4.xml"/><Relationship Id="rId5" Type="http://schemas.openxmlformats.org/officeDocument/2006/relationships/image" Target="../media/image59.wmf"/><Relationship Id="rId4" Type="http://schemas.openxmlformats.org/officeDocument/2006/relationships/oleObject" Target="../embeddings/oleObject36.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60.emf"/></Relationships>
</file>

<file path=ppt/slides/_rels/slide41.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oleObject" Target="../embeddings/oleObject38.bin"/><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8.emf"/><Relationship Id="rId5" Type="http://schemas.openxmlformats.org/officeDocument/2006/relationships/image" Target="../media/image67.png"/><Relationship Id="rId4" Type="http://schemas.openxmlformats.org/officeDocument/2006/relationships/image" Target="../media/image64.emf"/></Relationships>
</file>

<file path=ppt/slides/_rels/slide45.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71.png"/></Relationships>
</file>

<file path=ppt/slides/_rels/slide4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72.png"/><Relationship Id="rId7" Type="http://schemas.openxmlformats.org/officeDocument/2006/relationships/image" Target="../media/image91.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64.emf"/><Relationship Id="rId4" Type="http://schemas.openxmlformats.org/officeDocument/2006/relationships/image" Target="../media/image73.png"/><Relationship Id="rId9" Type="http://schemas.openxmlformats.org/officeDocument/2006/relationships/image" Target="../media/image93.png"/></Relationships>
</file>

<file path=ppt/slides/_rels/slide4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7.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8.e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9.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81.emf"/><Relationship Id="rId5" Type="http://schemas.openxmlformats.org/officeDocument/2006/relationships/oleObject" Target="../embeddings/oleObject43.bin"/><Relationship Id="rId4" Type="http://schemas.openxmlformats.org/officeDocument/2006/relationships/image" Target="../media/image80.emf"/></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6.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oleObject" Target="../embeddings/oleObject44.bin"/><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image" Target="../media/image90.wmf"/><Relationship Id="rId1" Type="http://schemas.openxmlformats.org/officeDocument/2006/relationships/slideLayout" Target="../slideLayouts/slideLayout14.xml"/><Relationship Id="rId4" Type="http://schemas.openxmlformats.org/officeDocument/2006/relationships/image" Target="../media/image91.emf"/></Relationships>
</file>

<file path=ppt/slides/_rels/slide83.xml.rels><?xml version="1.0" encoding="UTF-8" standalone="yes"?>
<Relationships xmlns="http://schemas.openxmlformats.org/package/2006/relationships"><Relationship Id="rId8" Type="http://schemas.openxmlformats.org/officeDocument/2006/relationships/image" Target="../media/image93.e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95.emf"/><Relationship Id="rId2" Type="http://schemas.openxmlformats.org/officeDocument/2006/relationships/image" Target="../media/image90.wmf"/><Relationship Id="rId1" Type="http://schemas.openxmlformats.org/officeDocument/2006/relationships/slideLayout" Target="../slideLayouts/slideLayout14.xml"/><Relationship Id="rId6" Type="http://schemas.openxmlformats.org/officeDocument/2006/relationships/image" Target="../media/image92.e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94.emf"/><Relationship Id="rId4" Type="http://schemas.openxmlformats.org/officeDocument/2006/relationships/image" Target="../media/image91.emf"/><Relationship Id="rId9" Type="http://schemas.openxmlformats.org/officeDocument/2006/relationships/oleObject" Target="../embeddings/oleObject48.bin"/></Relationships>
</file>

<file path=ppt/slides/_rels/slide84.xml.rels><?xml version="1.0" encoding="UTF-8" standalone="yes"?>
<Relationships xmlns="http://schemas.openxmlformats.org/package/2006/relationships"><Relationship Id="rId8" Type="http://schemas.openxmlformats.org/officeDocument/2006/relationships/image" Target="../media/image99.emf"/><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image" Target="../media/image101.emf"/><Relationship Id="rId2" Type="http://schemas.openxmlformats.org/officeDocument/2006/relationships/image" Target="../media/image96.wmf"/><Relationship Id="rId1" Type="http://schemas.openxmlformats.org/officeDocument/2006/relationships/slideLayout" Target="../slideLayouts/slideLayout14.xml"/><Relationship Id="rId6" Type="http://schemas.openxmlformats.org/officeDocument/2006/relationships/image" Target="../media/image98.emf"/><Relationship Id="rId11" Type="http://schemas.openxmlformats.org/officeDocument/2006/relationships/oleObject" Target="../embeddings/oleObject54.bin"/><Relationship Id="rId5" Type="http://schemas.openxmlformats.org/officeDocument/2006/relationships/oleObject" Target="../embeddings/oleObject51.bin"/><Relationship Id="rId10" Type="http://schemas.openxmlformats.org/officeDocument/2006/relationships/image" Target="../media/image100.emf"/><Relationship Id="rId4" Type="http://schemas.openxmlformats.org/officeDocument/2006/relationships/image" Target="../media/image97.emf"/><Relationship Id="rId9" Type="http://schemas.openxmlformats.org/officeDocument/2006/relationships/oleObject" Target="../embeddings/oleObject53.bin"/></Relationships>
</file>

<file path=ppt/slides/_rels/slide85.x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oleObject" Target="../embeddings/oleObject55.bin"/><Relationship Id="rId1" Type="http://schemas.openxmlformats.org/officeDocument/2006/relationships/slideLayout" Target="../slideLayouts/slideLayout12.xml"/><Relationship Id="rId5" Type="http://schemas.openxmlformats.org/officeDocument/2006/relationships/image" Target="../media/image107.png"/><Relationship Id="rId4" Type="http://schemas.openxmlformats.org/officeDocument/2006/relationships/image" Target="../media/image106.png"/></Relationships>
</file>

<file path=ppt/slides/_rels/slide9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oleObject" Target="../embeddings/oleObject56.bin"/><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9C8D46-54D8-4DF1-99A2-E651C7B13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91999"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E12BF4D-F47A-41C1-85FC-652E412D3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rgbClr val="000000">
                  <a:alpha val="41000"/>
                </a:srgbClr>
              </a:gs>
              <a:gs pos="85000">
                <a:schemeClr val="accent1">
                  <a:alpha val="25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Rectangle 13">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65981" cy="4480890"/>
          </a:xfrm>
          <a:prstGeom prst="rect">
            <a:avLst/>
          </a:prstGeom>
          <a:gradFill>
            <a:gsLst>
              <a:gs pos="0">
                <a:schemeClr val="accent1">
                  <a:lumMod val="75000"/>
                  <a:alpha val="50000"/>
                </a:schemeClr>
              </a:gs>
              <a:gs pos="99000">
                <a:srgbClr val="000000">
                  <a:alpha val="34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5FBF53F-BBBA-4974-AD72-0E8CD294E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622" y="-2"/>
            <a:ext cx="12179371" cy="6400796"/>
          </a:xfrm>
          <a:prstGeom prst="rect">
            <a:avLst/>
          </a:prstGeom>
          <a:gradFill>
            <a:gsLst>
              <a:gs pos="45000">
                <a:schemeClr val="accent1">
                  <a:lumMod val="75000"/>
                  <a:alpha val="0"/>
                </a:schemeClr>
              </a:gs>
              <a:gs pos="99000">
                <a:srgbClr val="000000">
                  <a:alpha val="68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B4B53-3F88-4881-184A-B7289DB9CBCF}"/>
              </a:ext>
            </a:extLst>
          </p:cNvPr>
          <p:cNvSpPr>
            <a:spLocks noGrp="1"/>
          </p:cNvSpPr>
          <p:nvPr>
            <p:ph type="ctrTitle"/>
          </p:nvPr>
        </p:nvSpPr>
        <p:spPr>
          <a:xfrm>
            <a:off x="4221803" y="1201002"/>
            <a:ext cx="7208197" cy="2779619"/>
          </a:xfrm>
        </p:spPr>
        <p:txBody>
          <a:bodyPr anchor="b">
            <a:normAutofit/>
          </a:bodyPr>
          <a:lstStyle/>
          <a:p>
            <a:pPr algn="l"/>
            <a:r>
              <a:rPr lang="en-US" altLang="en-US" sz="4800">
                <a:solidFill>
                  <a:srgbClr val="FFFFFF"/>
                </a:solidFill>
              </a:rPr>
              <a:t>Classification: Advanced Methods</a:t>
            </a:r>
            <a:endParaRPr lang="en-US" sz="4800">
              <a:solidFill>
                <a:srgbClr val="FFFFFF"/>
              </a:solidFill>
            </a:endParaRPr>
          </a:p>
        </p:txBody>
      </p:sp>
      <p:sp>
        <p:nvSpPr>
          <p:cNvPr id="3" name="Subtitle 2">
            <a:extLst>
              <a:ext uri="{FF2B5EF4-FFF2-40B4-BE49-F238E27FC236}">
                <a16:creationId xmlns:a16="http://schemas.microsoft.com/office/drawing/2014/main" id="{8B579C6F-8C96-5301-25A7-663CC75F9F6D}"/>
              </a:ext>
            </a:extLst>
          </p:cNvPr>
          <p:cNvSpPr>
            <a:spLocks noGrp="1"/>
          </p:cNvSpPr>
          <p:nvPr>
            <p:ph type="subTitle" idx="1"/>
          </p:nvPr>
        </p:nvSpPr>
        <p:spPr>
          <a:xfrm>
            <a:off x="4221803" y="4940490"/>
            <a:ext cx="7208197" cy="1265112"/>
          </a:xfrm>
        </p:spPr>
        <p:txBody>
          <a:bodyPr>
            <a:normAutofit/>
          </a:bodyPr>
          <a:lstStyle/>
          <a:p>
            <a:pPr algn="l"/>
            <a:r>
              <a:rPr lang="en-US">
                <a:solidFill>
                  <a:srgbClr val="FFFFFF"/>
                </a:solidFill>
              </a:rPr>
              <a:t>Lecture 5</a:t>
            </a:r>
          </a:p>
        </p:txBody>
      </p:sp>
      <p:sp>
        <p:nvSpPr>
          <p:cNvPr id="18" name="Rectangle 17">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461" y="0"/>
            <a:ext cx="3214360" cy="6858000"/>
          </a:xfrm>
          <a:prstGeom prst="rect">
            <a:avLst/>
          </a:prstGeom>
          <a:gradFill>
            <a:gsLst>
              <a:gs pos="0">
                <a:srgbClr val="000000">
                  <a:alpha val="41000"/>
                </a:srgbClr>
              </a:gs>
              <a:gs pos="86000">
                <a:schemeClr val="accent1">
                  <a:alpha val="3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92089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a:t>Nearest Neighbor Classifiers</a:t>
            </a:r>
          </a:p>
        </p:txBody>
      </p:sp>
      <p:sp>
        <p:nvSpPr>
          <p:cNvPr id="38915" name="Rectangle 3"/>
          <p:cNvSpPr>
            <a:spLocks noGrp="1" noChangeArrowheads="1"/>
          </p:cNvSpPr>
          <p:nvPr>
            <p:ph type="body" idx="1"/>
          </p:nvPr>
        </p:nvSpPr>
        <p:spPr/>
        <p:txBody>
          <a:bodyPr/>
          <a:lstStyle/>
          <a:p>
            <a:r>
              <a:rPr lang="en-US" altLang="en-US"/>
              <a:t>Basic idea:</a:t>
            </a:r>
          </a:p>
          <a:p>
            <a:pPr lvl="1"/>
            <a:r>
              <a:rPr lang="en-US" altLang="en-US"/>
              <a:t>If it walks like a duck, quacks like a duck, then it’s probably a duck</a:t>
            </a:r>
          </a:p>
        </p:txBody>
      </p:sp>
      <p:grpSp>
        <p:nvGrpSpPr>
          <p:cNvPr id="2" name="Group 4"/>
          <p:cNvGrpSpPr>
            <a:grpSpLocks/>
          </p:cNvGrpSpPr>
          <p:nvPr/>
        </p:nvGrpSpPr>
        <p:grpSpPr bwMode="auto">
          <a:xfrm>
            <a:off x="1828800" y="2819400"/>
            <a:ext cx="8229600" cy="3429000"/>
            <a:chOff x="192" y="1776"/>
            <a:chExt cx="5184" cy="2160"/>
          </a:xfrm>
        </p:grpSpPr>
        <p:pic>
          <p:nvPicPr>
            <p:cNvPr id="38930" name="Picture 5" descr="j034580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6" y="2160"/>
              <a:ext cx="528"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1" name="Picture 6" descr="j023958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6" y="2640"/>
              <a:ext cx="720"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2" name="Picture 7" descr="j035038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56" y="1968"/>
              <a:ext cx="44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3" name="Picture 8" descr="j033063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2" y="2976"/>
              <a:ext cx="373"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4" name="Picture 9" descr="j035038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08" y="3168"/>
              <a:ext cx="624"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5" name="Picture 10" descr="j035035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776" y="2448"/>
              <a:ext cx="720"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36" name="Oval 11"/>
            <p:cNvSpPr>
              <a:spLocks noChangeArrowheads="1"/>
            </p:cNvSpPr>
            <p:nvPr/>
          </p:nvSpPr>
          <p:spPr bwMode="auto">
            <a:xfrm>
              <a:off x="816" y="1776"/>
              <a:ext cx="2544" cy="2160"/>
            </a:xfrm>
            <a:prstGeom prst="ellipse">
              <a:avLst/>
            </a:prstGeom>
            <a:noFill/>
            <a:ln w="127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8937" name="Text Box 12"/>
            <p:cNvSpPr txBox="1">
              <a:spLocks noChangeArrowheads="1"/>
            </p:cNvSpPr>
            <p:nvPr/>
          </p:nvSpPr>
          <p:spPr bwMode="auto">
            <a:xfrm>
              <a:off x="192" y="3312"/>
              <a:ext cx="8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Training Records</a:t>
              </a:r>
            </a:p>
          </p:txBody>
        </p:sp>
        <p:sp>
          <p:nvSpPr>
            <p:cNvPr id="38938" name="Text Box 13"/>
            <p:cNvSpPr txBox="1">
              <a:spLocks noChangeArrowheads="1"/>
            </p:cNvSpPr>
            <p:nvPr/>
          </p:nvSpPr>
          <p:spPr bwMode="auto">
            <a:xfrm>
              <a:off x="4512" y="2064"/>
              <a:ext cx="8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gn="ctr">
                <a:spcBef>
                  <a:spcPct val="50000"/>
                </a:spcBef>
              </a:pPr>
              <a:r>
                <a:rPr lang="en-US" altLang="en-US" sz="1800"/>
                <a:t>Test Record</a:t>
              </a:r>
            </a:p>
          </p:txBody>
        </p:sp>
      </p:grpSp>
      <p:grpSp>
        <p:nvGrpSpPr>
          <p:cNvPr id="3" name="Group 14"/>
          <p:cNvGrpSpPr>
            <a:grpSpLocks/>
          </p:cNvGrpSpPr>
          <p:nvPr/>
        </p:nvGrpSpPr>
        <p:grpSpPr bwMode="auto">
          <a:xfrm>
            <a:off x="4191000" y="3048000"/>
            <a:ext cx="4572000" cy="2286000"/>
            <a:chOff x="1680" y="1920"/>
            <a:chExt cx="2880" cy="1440"/>
          </a:xfrm>
        </p:grpSpPr>
        <p:sp>
          <p:nvSpPr>
            <p:cNvPr id="38923" name="Text Box 15"/>
            <p:cNvSpPr txBox="1">
              <a:spLocks noChangeArrowheads="1"/>
            </p:cNvSpPr>
            <p:nvPr/>
          </p:nvSpPr>
          <p:spPr bwMode="auto">
            <a:xfrm>
              <a:off x="3312" y="1920"/>
              <a:ext cx="8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Compute Distance</a:t>
              </a:r>
            </a:p>
          </p:txBody>
        </p:sp>
        <p:grpSp>
          <p:nvGrpSpPr>
            <p:cNvPr id="38924" name="Group 16"/>
            <p:cNvGrpSpPr>
              <a:grpSpLocks/>
            </p:cNvGrpSpPr>
            <p:nvPr/>
          </p:nvGrpSpPr>
          <p:grpSpPr bwMode="auto">
            <a:xfrm>
              <a:off x="1680" y="2256"/>
              <a:ext cx="2880" cy="1104"/>
              <a:chOff x="1680" y="2256"/>
              <a:chExt cx="2880" cy="1104"/>
            </a:xfrm>
          </p:grpSpPr>
          <p:sp>
            <p:nvSpPr>
              <p:cNvPr id="38925" name="Line 17"/>
              <p:cNvSpPr>
                <a:spLocks noChangeShapeType="1"/>
              </p:cNvSpPr>
              <p:nvPr/>
            </p:nvSpPr>
            <p:spPr bwMode="auto">
              <a:xfrm>
                <a:off x="2832" y="2256"/>
                <a:ext cx="1680" cy="57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6" name="Line 18"/>
              <p:cNvSpPr>
                <a:spLocks noChangeShapeType="1"/>
              </p:cNvSpPr>
              <p:nvPr/>
            </p:nvSpPr>
            <p:spPr bwMode="auto">
              <a:xfrm>
                <a:off x="2544" y="2880"/>
                <a:ext cx="2016" cy="4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7" name="Line 19"/>
              <p:cNvSpPr>
                <a:spLocks noChangeShapeType="1"/>
              </p:cNvSpPr>
              <p:nvPr/>
            </p:nvSpPr>
            <p:spPr bwMode="auto">
              <a:xfrm flipV="1">
                <a:off x="2928" y="3072"/>
                <a:ext cx="1584"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8" name="Line 20"/>
              <p:cNvSpPr>
                <a:spLocks noChangeShapeType="1"/>
              </p:cNvSpPr>
              <p:nvPr/>
            </p:nvSpPr>
            <p:spPr bwMode="auto">
              <a:xfrm flipV="1">
                <a:off x="1680" y="3024"/>
                <a:ext cx="2832" cy="192"/>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9" name="Line 21"/>
              <p:cNvSpPr>
                <a:spLocks noChangeShapeType="1"/>
              </p:cNvSpPr>
              <p:nvPr/>
            </p:nvSpPr>
            <p:spPr bwMode="auto">
              <a:xfrm>
                <a:off x="1920" y="2352"/>
                <a:ext cx="2544" cy="52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nvGrpSpPr>
          <p:cNvPr id="5" name="Group 22"/>
          <p:cNvGrpSpPr>
            <a:grpSpLocks/>
          </p:cNvGrpSpPr>
          <p:nvPr/>
        </p:nvGrpSpPr>
        <p:grpSpPr bwMode="auto">
          <a:xfrm>
            <a:off x="5562600" y="4572000"/>
            <a:ext cx="3352800" cy="1327150"/>
            <a:chOff x="2544" y="2880"/>
            <a:chExt cx="2112" cy="836"/>
          </a:xfrm>
        </p:grpSpPr>
        <p:sp>
          <p:nvSpPr>
            <p:cNvPr id="38919" name="Text Box 23"/>
            <p:cNvSpPr txBox="1">
              <a:spLocks noChangeArrowheads="1"/>
            </p:cNvSpPr>
            <p:nvPr/>
          </p:nvSpPr>
          <p:spPr bwMode="auto">
            <a:xfrm>
              <a:off x="3264" y="3312"/>
              <a:ext cx="139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Choose k of the “nearest” records</a:t>
              </a:r>
            </a:p>
          </p:txBody>
        </p:sp>
        <p:grpSp>
          <p:nvGrpSpPr>
            <p:cNvPr id="38920" name="Group 24"/>
            <p:cNvGrpSpPr>
              <a:grpSpLocks/>
            </p:cNvGrpSpPr>
            <p:nvPr/>
          </p:nvGrpSpPr>
          <p:grpSpPr bwMode="auto">
            <a:xfrm>
              <a:off x="2544" y="2880"/>
              <a:ext cx="2016" cy="480"/>
              <a:chOff x="2544" y="2880"/>
              <a:chExt cx="2016" cy="480"/>
            </a:xfrm>
          </p:grpSpPr>
          <p:sp>
            <p:nvSpPr>
              <p:cNvPr id="38921" name="Line 25"/>
              <p:cNvSpPr>
                <a:spLocks noChangeShapeType="1"/>
              </p:cNvSpPr>
              <p:nvPr/>
            </p:nvSpPr>
            <p:spPr bwMode="auto">
              <a:xfrm>
                <a:off x="2544" y="2880"/>
                <a:ext cx="2016" cy="48"/>
              </a:xfrm>
              <a:prstGeom prst="line">
                <a:avLst/>
              </a:prstGeom>
              <a:noFill/>
              <a:ln w="444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2" name="Line 26"/>
              <p:cNvSpPr>
                <a:spLocks noChangeShapeType="1"/>
              </p:cNvSpPr>
              <p:nvPr/>
            </p:nvSpPr>
            <p:spPr bwMode="auto">
              <a:xfrm flipV="1">
                <a:off x="2928" y="3072"/>
                <a:ext cx="1584" cy="288"/>
              </a:xfrm>
              <a:prstGeom prst="line">
                <a:avLst/>
              </a:prstGeom>
              <a:noFill/>
              <a:ln w="444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sp>
        <p:nvSpPr>
          <p:cNvPr id="4" name="Slide Number Placeholder 3">
            <a:extLst>
              <a:ext uri="{FF2B5EF4-FFF2-40B4-BE49-F238E27FC236}">
                <a16:creationId xmlns:a16="http://schemas.microsoft.com/office/drawing/2014/main" id="{8D736096-B1AD-582B-FD15-541EFC4514B2}"/>
              </a:ext>
            </a:extLst>
          </p:cNvPr>
          <p:cNvSpPr>
            <a:spLocks noGrp="1"/>
          </p:cNvSpPr>
          <p:nvPr>
            <p:ph type="sldNum" sz="quarter" idx="12"/>
          </p:nvPr>
        </p:nvSpPr>
        <p:spPr/>
        <p:txBody>
          <a:bodyPr/>
          <a:lstStyle/>
          <a:p>
            <a:fld id="{C3CACD4E-8C52-004E-9A96-AD0BCBF3CA39}" type="slidenum">
              <a:rPr lang="en-US" smtClean="0"/>
              <a:t>2</a:t>
            </a:fld>
            <a:endParaRPr lang="en-US"/>
          </a:p>
        </p:txBody>
      </p:sp>
    </p:spTree>
    <p:extLst>
      <p:ext uri="{BB962C8B-B14F-4D97-AF65-F5344CB8AC3E}">
        <p14:creationId xmlns:p14="http://schemas.microsoft.com/office/powerpoint/2010/main" val="3284631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a:t>Nearest-Neighbor Classifiers</a:t>
            </a:r>
          </a:p>
        </p:txBody>
      </p:sp>
      <p:sp>
        <p:nvSpPr>
          <p:cNvPr id="39939" name="Rectangle 3"/>
          <p:cNvSpPr>
            <a:spLocks noChangeArrowheads="1"/>
          </p:cNvSpPr>
          <p:nvPr/>
        </p:nvSpPr>
        <p:spPr bwMode="auto">
          <a:xfrm>
            <a:off x="6553200" y="1143000"/>
            <a:ext cx="3962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10000"/>
              </a:spcBef>
              <a:spcAft>
                <a:spcPts val="400"/>
              </a:spcAft>
              <a:buClr>
                <a:srgbClr val="0C7B9C"/>
              </a:buClr>
              <a:buSzPct val="75000"/>
              <a:buFont typeface="Monotype Sorts" pitchFamily="2" charset="2"/>
              <a:buChar char="l"/>
            </a:pPr>
            <a:r>
              <a:rPr lang="en-US" altLang="en-US" sz="1800" b="0" dirty="0"/>
              <a:t>Requires the following:</a:t>
            </a:r>
          </a:p>
          <a:p>
            <a:pPr lvl="1">
              <a:spcBef>
                <a:spcPct val="10000"/>
              </a:spcBef>
              <a:spcAft>
                <a:spcPts val="400"/>
              </a:spcAft>
              <a:buClr>
                <a:srgbClr val="0C7B9C"/>
              </a:buClr>
              <a:buSzPct val="100000"/>
              <a:buFont typeface="Arial" charset="0"/>
              <a:buChar char="–"/>
            </a:pPr>
            <a:r>
              <a:rPr lang="en-US" altLang="en-US" sz="1800" b="0" dirty="0"/>
              <a:t>A set of labeled records</a:t>
            </a:r>
          </a:p>
          <a:p>
            <a:pPr lvl="1">
              <a:spcBef>
                <a:spcPct val="10000"/>
              </a:spcBef>
              <a:spcAft>
                <a:spcPts val="400"/>
              </a:spcAft>
              <a:buClr>
                <a:srgbClr val="0C7B9C"/>
              </a:buClr>
              <a:buSzPct val="100000"/>
              <a:buFont typeface="Arial" charset="0"/>
              <a:buChar char="–"/>
            </a:pPr>
            <a:r>
              <a:rPr lang="en-US" altLang="en-US" sz="1800" b="0" dirty="0"/>
              <a:t>Proximity metric to compute distance/similarity between a pair of records </a:t>
            </a:r>
          </a:p>
          <a:p>
            <a:pPr lvl="2">
              <a:spcBef>
                <a:spcPct val="10000"/>
              </a:spcBef>
              <a:spcAft>
                <a:spcPts val="400"/>
              </a:spcAft>
              <a:buClr>
                <a:srgbClr val="0C7B9C"/>
              </a:buClr>
              <a:buSzPct val="100000"/>
              <a:buFont typeface="Arial" charset="0"/>
              <a:buChar char="–"/>
            </a:pPr>
            <a:r>
              <a:rPr lang="en-US" altLang="en-US" b="0" dirty="0"/>
              <a:t>e.g., Euclidean distance</a:t>
            </a:r>
          </a:p>
          <a:p>
            <a:pPr lvl="1">
              <a:spcBef>
                <a:spcPct val="10000"/>
              </a:spcBef>
              <a:spcAft>
                <a:spcPts val="400"/>
              </a:spcAft>
              <a:buClr>
                <a:srgbClr val="0C7B9C"/>
              </a:buClr>
              <a:buSzPct val="100000"/>
              <a:buFont typeface="Arial" charset="0"/>
              <a:buChar char="–"/>
            </a:pPr>
            <a:r>
              <a:rPr lang="en-US" altLang="en-US" sz="1800" b="0" dirty="0"/>
              <a:t>The value of </a:t>
            </a:r>
            <a:r>
              <a:rPr lang="en-US" altLang="en-US" sz="1800" b="0" i="1" dirty="0"/>
              <a:t>k</a:t>
            </a:r>
            <a:r>
              <a:rPr lang="en-US" altLang="en-US" sz="1800" b="0" dirty="0"/>
              <a:t>, the number of nearest neighbors to retrieve</a:t>
            </a:r>
          </a:p>
          <a:p>
            <a:pPr lvl="1">
              <a:spcBef>
                <a:spcPct val="10000"/>
              </a:spcBef>
              <a:spcAft>
                <a:spcPts val="400"/>
              </a:spcAft>
              <a:buClr>
                <a:srgbClr val="0C7B9C"/>
              </a:buClr>
              <a:buSzPct val="100000"/>
              <a:buFont typeface="Arial" charset="0"/>
              <a:buChar char="–"/>
            </a:pPr>
            <a:r>
              <a:rPr lang="en-US" altLang="en-US" sz="1800" b="0" dirty="0"/>
              <a:t>A method for using class labels of K nearest neighbors to determine the class label of unknown record (e.g., by taking majority vote)</a:t>
            </a:r>
          </a:p>
          <a:p>
            <a:pPr marL="457200" lvl="1" indent="0">
              <a:spcBef>
                <a:spcPct val="10000"/>
              </a:spcBef>
              <a:spcAft>
                <a:spcPts val="400"/>
              </a:spcAft>
              <a:buClr>
                <a:srgbClr val="0C7B9C"/>
              </a:buClr>
              <a:buSzPct val="100000"/>
            </a:pPr>
            <a:endParaRPr lang="en-US" altLang="en-US" sz="1800" b="0" dirty="0"/>
          </a:p>
        </p:txBody>
      </p:sp>
      <p:graphicFrame>
        <p:nvGraphicFramePr>
          <p:cNvPr id="39940" name="Object 4"/>
          <p:cNvGraphicFramePr>
            <a:graphicFrameLocks noChangeAspect="1"/>
          </p:cNvGraphicFramePr>
          <p:nvPr/>
        </p:nvGraphicFramePr>
        <p:xfrm>
          <a:off x="1981201" y="1143000"/>
          <a:ext cx="4316413" cy="5105400"/>
        </p:xfrm>
        <a:graphic>
          <a:graphicData uri="http://schemas.openxmlformats.org/presentationml/2006/ole">
            <mc:AlternateContent xmlns:mc="http://schemas.openxmlformats.org/markup-compatibility/2006">
              <mc:Choice xmlns:v="urn:schemas-microsoft-com:vml" Requires="v">
                <p:oleObj name="Visio" r:id="rId2" imgW="7007454" imgH="8108144" progId="Visio.Drawing.6">
                  <p:embed/>
                </p:oleObj>
              </mc:Choice>
              <mc:Fallback>
                <p:oleObj name="Visio" r:id="rId2" imgW="7007454" imgH="8108144" progId="Visio.Drawing.6">
                  <p:embed/>
                  <p:pic>
                    <p:nvPicPr>
                      <p:cNvPr id="3994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1143000"/>
                        <a:ext cx="4316413"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6664EA7B-3350-360C-CF2D-40736151D0AD}"/>
              </a:ext>
            </a:extLst>
          </p:cNvPr>
          <p:cNvSpPr>
            <a:spLocks noGrp="1"/>
          </p:cNvSpPr>
          <p:nvPr>
            <p:ph type="sldNum" sz="quarter" idx="12"/>
          </p:nvPr>
        </p:nvSpPr>
        <p:spPr/>
        <p:txBody>
          <a:bodyPr/>
          <a:lstStyle/>
          <a:p>
            <a:fld id="{C3CACD4E-8C52-004E-9A96-AD0BCBF3CA39}" type="slidenum">
              <a:rPr lang="en-US" smtClean="0"/>
              <a:t>3</a:t>
            </a:fld>
            <a:endParaRPr lang="en-US"/>
          </a:p>
        </p:txBody>
      </p:sp>
    </p:spTree>
    <p:extLst>
      <p:ext uri="{BB962C8B-B14F-4D97-AF65-F5344CB8AC3E}">
        <p14:creationId xmlns:p14="http://schemas.microsoft.com/office/powerpoint/2010/main" val="963601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sz="2400" dirty="0"/>
              <a:t>How to Determine the class label of a Test Sample?</a:t>
            </a:r>
          </a:p>
        </p:txBody>
      </p:sp>
      <mc:AlternateContent xmlns:mc="http://schemas.openxmlformats.org/markup-compatibility/2006" xmlns:a14="http://schemas.microsoft.com/office/drawing/2010/main">
        <mc:Choice Requires="a14">
          <p:sp>
            <p:nvSpPr>
              <p:cNvPr id="43011" name="Rectangle 3"/>
              <p:cNvSpPr>
                <a:spLocks noGrp="1" noChangeArrowheads="1"/>
              </p:cNvSpPr>
              <p:nvPr>
                <p:ph type="body" idx="1"/>
              </p:nvPr>
            </p:nvSpPr>
            <p:spPr>
              <a:xfrm>
                <a:off x="1935162" y="1143000"/>
                <a:ext cx="8504238" cy="5181600"/>
              </a:xfrm>
            </p:spPr>
            <p:txBody>
              <a:bodyPr/>
              <a:lstStyle/>
              <a:p>
                <a:pPr>
                  <a:buFont typeface="Monotype Sorts" pitchFamily="2" charset="2"/>
                  <a:buNone/>
                </a:pPr>
                <a:endParaRPr lang="en-US" altLang="en-US" dirty="0"/>
              </a:p>
              <a:p>
                <a:r>
                  <a:rPr lang="en-US" altLang="en-US" dirty="0"/>
                  <a:t>Take the majority vote of class labels among the k-nearest neighbors</a:t>
                </a:r>
              </a:p>
              <a:p>
                <a:r>
                  <a:rPr lang="en-US" altLang="en-US" dirty="0"/>
                  <a:t>Weight the vote according to distance</a:t>
                </a:r>
              </a:p>
              <a:p>
                <a:pPr lvl="1"/>
                <a:r>
                  <a:rPr lang="en-US" altLang="en-US" dirty="0"/>
                  <a:t> weight factor, </a:t>
                </a:r>
                <a14:m>
                  <m:oMath xmlns:m="http://schemas.openxmlformats.org/officeDocument/2006/math">
                    <m:r>
                      <a:rPr lang="en-US" altLang="en-US" i="1" dirty="0" smtClean="0">
                        <a:latin typeface="Cambria Math" panose="02040503050406030204" pitchFamily="18" charset="0"/>
                      </a:rPr>
                      <m:t>𝑤</m:t>
                    </m:r>
                    <m:r>
                      <a:rPr lang="en-US" altLang="en-US" i="1" dirty="0" smtClean="0">
                        <a:latin typeface="Cambria Math" panose="02040503050406030204" pitchFamily="18" charset="0"/>
                      </a:rPr>
                      <m:t> = 1/</m:t>
                    </m:r>
                    <m:r>
                      <a:rPr lang="en-US" altLang="en-US" i="1" dirty="0" smtClean="0">
                        <a:latin typeface="Cambria Math" panose="02040503050406030204" pitchFamily="18" charset="0"/>
                      </a:rPr>
                      <m:t>𝑑</m:t>
                    </m:r>
                    <m:r>
                      <a:rPr lang="en-US" altLang="en-US" i="1" baseline="30000" dirty="0">
                        <a:latin typeface="Cambria Math" panose="02040503050406030204" pitchFamily="18" charset="0"/>
                      </a:rPr>
                      <m:t>2</m:t>
                    </m:r>
                  </m:oMath>
                </a14:m>
                <a:endParaRPr lang="en-US" altLang="en-US" baseline="30000" dirty="0"/>
              </a:p>
            </p:txBody>
          </p:sp>
        </mc:Choice>
        <mc:Fallback xmlns="">
          <p:sp>
            <p:nvSpPr>
              <p:cNvPr id="43011" name="Rectangle 3"/>
              <p:cNvSpPr>
                <a:spLocks noGrp="1" noRot="1" noChangeAspect="1" noMove="1" noResize="1" noEditPoints="1" noAdjustHandles="1" noChangeArrowheads="1" noChangeShapeType="1" noTextEdit="1"/>
              </p:cNvSpPr>
              <p:nvPr>
                <p:ph type="body" idx="1"/>
              </p:nvPr>
            </p:nvSpPr>
            <p:spPr>
              <a:xfrm>
                <a:off x="1935162" y="1143000"/>
                <a:ext cx="8504238" cy="5181600"/>
              </a:xfrm>
              <a:blipFill>
                <a:blip r:embed="rId2"/>
                <a:stretch>
                  <a:fillRect l="-1192"/>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4EE5888C-E198-70ED-A3C1-E173495E6CFE}"/>
              </a:ext>
            </a:extLst>
          </p:cNvPr>
          <p:cNvSpPr>
            <a:spLocks noGrp="1"/>
          </p:cNvSpPr>
          <p:nvPr>
            <p:ph type="sldNum" sz="quarter" idx="12"/>
          </p:nvPr>
        </p:nvSpPr>
        <p:spPr/>
        <p:txBody>
          <a:bodyPr/>
          <a:lstStyle/>
          <a:p>
            <a:fld id="{C3CACD4E-8C52-004E-9A96-AD0BCBF3CA39}" type="slidenum">
              <a:rPr lang="en-US" smtClean="0"/>
              <a:t>4</a:t>
            </a:fld>
            <a:endParaRPr lang="en-US"/>
          </a:p>
        </p:txBody>
      </p:sp>
    </p:spTree>
    <p:extLst>
      <p:ext uri="{BB962C8B-B14F-4D97-AF65-F5344CB8AC3E}">
        <p14:creationId xmlns:p14="http://schemas.microsoft.com/office/powerpoint/2010/main" val="2714223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t>Nearest Neighbor Classification…</a:t>
            </a:r>
          </a:p>
        </p:txBody>
      </p:sp>
      <p:sp>
        <p:nvSpPr>
          <p:cNvPr id="45059" name="Rectangle 3"/>
          <p:cNvSpPr>
            <a:spLocks noGrp="1" noChangeArrowheads="1"/>
          </p:cNvSpPr>
          <p:nvPr>
            <p:ph type="body" idx="1"/>
          </p:nvPr>
        </p:nvSpPr>
        <p:spPr/>
        <p:txBody>
          <a:bodyPr>
            <a:normAutofit/>
          </a:bodyPr>
          <a:lstStyle/>
          <a:p>
            <a:r>
              <a:rPr lang="en-US" altLang="en-US" b="1" dirty="0"/>
              <a:t>Data preprocessing is often required</a:t>
            </a:r>
          </a:p>
          <a:p>
            <a:pPr lvl="1"/>
            <a:r>
              <a:rPr lang="en-US" altLang="en-US" dirty="0"/>
              <a:t>Attributes may have to be scaled to prevent distance measures from being dominated by one of the attributes</a:t>
            </a:r>
          </a:p>
          <a:p>
            <a:pPr lvl="2"/>
            <a:r>
              <a:rPr lang="en-US" altLang="en-US" sz="2200" dirty="0"/>
              <a:t>Example:</a:t>
            </a:r>
          </a:p>
          <a:p>
            <a:pPr lvl="3"/>
            <a:r>
              <a:rPr lang="en-US" altLang="en-US" dirty="0"/>
              <a:t> height of a person may vary from 1.5m to 1.8m</a:t>
            </a:r>
          </a:p>
          <a:p>
            <a:pPr lvl="3"/>
            <a:r>
              <a:rPr lang="en-US" altLang="en-US" dirty="0"/>
              <a:t> weight of a person may vary from 90lb to 300lb</a:t>
            </a:r>
          </a:p>
          <a:p>
            <a:pPr lvl="3"/>
            <a:r>
              <a:rPr lang="en-US" altLang="en-US" dirty="0"/>
              <a:t> income of a person may vary from $10K to $1M</a:t>
            </a:r>
          </a:p>
          <a:p>
            <a:pPr lvl="3"/>
            <a:endParaRPr lang="en-US" altLang="en-US" dirty="0"/>
          </a:p>
          <a:p>
            <a:pPr lvl="1"/>
            <a:r>
              <a:rPr lang="en-US" altLang="en-US" dirty="0"/>
              <a:t>Time series are often standardized to have 0 means a standard deviation of 1</a:t>
            </a:r>
          </a:p>
        </p:txBody>
      </p:sp>
      <p:sp>
        <p:nvSpPr>
          <p:cNvPr id="2" name="Slide Number Placeholder 1">
            <a:extLst>
              <a:ext uri="{FF2B5EF4-FFF2-40B4-BE49-F238E27FC236}">
                <a16:creationId xmlns:a16="http://schemas.microsoft.com/office/drawing/2014/main" id="{DCA6FA85-CBF6-4EAF-7AE9-EAC4415B10C8}"/>
              </a:ext>
            </a:extLst>
          </p:cNvPr>
          <p:cNvSpPr>
            <a:spLocks noGrp="1"/>
          </p:cNvSpPr>
          <p:nvPr>
            <p:ph type="sldNum" sz="quarter" idx="12"/>
          </p:nvPr>
        </p:nvSpPr>
        <p:spPr/>
        <p:txBody>
          <a:bodyPr/>
          <a:lstStyle/>
          <a:p>
            <a:fld id="{C3CACD4E-8C52-004E-9A96-AD0BCBF3CA39}" type="slidenum">
              <a:rPr lang="en-US" smtClean="0"/>
              <a:t>5</a:t>
            </a:fld>
            <a:endParaRPr lang="en-US"/>
          </a:p>
        </p:txBody>
      </p:sp>
    </p:spTree>
    <p:extLst>
      <p:ext uri="{BB962C8B-B14F-4D97-AF65-F5344CB8AC3E}">
        <p14:creationId xmlns:p14="http://schemas.microsoft.com/office/powerpoint/2010/main" val="2529113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a:t>Nearest Neighbor Classification…</a:t>
            </a:r>
          </a:p>
        </p:txBody>
      </p:sp>
      <p:sp>
        <p:nvSpPr>
          <p:cNvPr id="44035" name="Rectangle 3"/>
          <p:cNvSpPr>
            <a:spLocks noGrp="1" noChangeArrowheads="1"/>
          </p:cNvSpPr>
          <p:nvPr>
            <p:ph type="body" idx="1"/>
          </p:nvPr>
        </p:nvSpPr>
        <p:spPr/>
        <p:txBody>
          <a:bodyPr/>
          <a:lstStyle/>
          <a:p>
            <a:r>
              <a:rPr lang="en-US" altLang="en-US"/>
              <a:t>Choosing the value of k:</a:t>
            </a:r>
          </a:p>
          <a:p>
            <a:pPr lvl="1"/>
            <a:r>
              <a:rPr lang="en-US" altLang="en-US"/>
              <a:t>If k is too small, sensitive to noise points</a:t>
            </a:r>
          </a:p>
          <a:p>
            <a:pPr lvl="1"/>
            <a:r>
              <a:rPr lang="en-US" altLang="en-US"/>
              <a:t>If k is too large, neighborhood may include points from other classes</a:t>
            </a:r>
          </a:p>
        </p:txBody>
      </p:sp>
      <p:graphicFrame>
        <p:nvGraphicFramePr>
          <p:cNvPr id="44036" name="Object 4"/>
          <p:cNvGraphicFramePr>
            <a:graphicFrameLocks noChangeAspect="1"/>
          </p:cNvGraphicFramePr>
          <p:nvPr/>
        </p:nvGraphicFramePr>
        <p:xfrm>
          <a:off x="5181601" y="3078164"/>
          <a:ext cx="3738563" cy="3170237"/>
        </p:xfrm>
        <a:graphic>
          <a:graphicData uri="http://schemas.openxmlformats.org/presentationml/2006/ole">
            <mc:AlternateContent xmlns:mc="http://schemas.openxmlformats.org/markup-compatibility/2006">
              <mc:Choice xmlns:v="urn:schemas-microsoft-com:vml" Requires="v">
                <p:oleObj name="Visio" r:id="rId2" imgW="6582512" imgH="5298053" progId="Visio.Drawing.6">
                  <p:embed/>
                </p:oleObj>
              </mc:Choice>
              <mc:Fallback>
                <p:oleObj name="Visio" r:id="rId2" imgW="6582512" imgH="5298053" progId="Visio.Drawing.6">
                  <p:embed/>
                  <p:pic>
                    <p:nvPicPr>
                      <p:cNvPr id="4403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1" y="3078164"/>
                        <a:ext cx="3738563" cy="317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9E06E940-B64F-9FED-E2B3-7CADCD82837D}"/>
              </a:ext>
            </a:extLst>
          </p:cNvPr>
          <p:cNvSpPr>
            <a:spLocks noGrp="1"/>
          </p:cNvSpPr>
          <p:nvPr>
            <p:ph type="sldNum" sz="quarter" idx="12"/>
          </p:nvPr>
        </p:nvSpPr>
        <p:spPr/>
        <p:txBody>
          <a:bodyPr/>
          <a:lstStyle/>
          <a:p>
            <a:fld id="{C3CACD4E-8C52-004E-9A96-AD0BCBF3CA39}" type="slidenum">
              <a:rPr lang="en-US" smtClean="0"/>
              <a:t>6</a:t>
            </a:fld>
            <a:endParaRPr lang="en-US"/>
          </a:p>
        </p:txBody>
      </p:sp>
    </p:spTree>
    <p:extLst>
      <p:ext uri="{BB962C8B-B14F-4D97-AF65-F5344CB8AC3E}">
        <p14:creationId xmlns:p14="http://schemas.microsoft.com/office/powerpoint/2010/main" val="2459048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KNN Efficiency</a:t>
            </a:r>
          </a:p>
        </p:txBody>
      </p:sp>
      <p:sp>
        <p:nvSpPr>
          <p:cNvPr id="3" name="Content Placeholder 2"/>
          <p:cNvSpPr>
            <a:spLocks noGrp="1"/>
          </p:cNvSpPr>
          <p:nvPr>
            <p:ph idx="1"/>
          </p:nvPr>
        </p:nvSpPr>
        <p:spPr/>
        <p:txBody>
          <a:bodyPr/>
          <a:lstStyle/>
          <a:p>
            <a:r>
              <a:rPr lang="en-US" dirty="0"/>
              <a:t>Avoid having to compute distance to all objects in the training set</a:t>
            </a:r>
          </a:p>
          <a:p>
            <a:pPr lvl="1"/>
            <a:r>
              <a:rPr lang="en-US" dirty="0"/>
              <a:t>Multi-dimensional access methods (k-d trees)  </a:t>
            </a:r>
          </a:p>
          <a:p>
            <a:pPr lvl="1"/>
            <a:r>
              <a:rPr lang="en-US" dirty="0"/>
              <a:t>Fast approximate similarity search</a:t>
            </a:r>
          </a:p>
          <a:p>
            <a:pPr lvl="1"/>
            <a:r>
              <a:rPr lang="en-US" dirty="0"/>
              <a:t>Locality Sensitive Hashing (LSH) </a:t>
            </a:r>
          </a:p>
          <a:p>
            <a:r>
              <a:rPr lang="en-US" dirty="0"/>
              <a:t>Condensing</a:t>
            </a:r>
          </a:p>
          <a:p>
            <a:pPr lvl="1"/>
            <a:r>
              <a:rPr lang="en-US" dirty="0"/>
              <a:t>Determine a smaller set of objects that give the same performance</a:t>
            </a:r>
          </a:p>
          <a:p>
            <a:r>
              <a:rPr lang="en-US" dirty="0"/>
              <a:t>Editing</a:t>
            </a:r>
          </a:p>
          <a:p>
            <a:pPr lvl="1"/>
            <a:r>
              <a:rPr lang="en-US" dirty="0"/>
              <a:t>Remove objects to improve efficiency </a:t>
            </a:r>
          </a:p>
        </p:txBody>
      </p:sp>
      <p:sp>
        <p:nvSpPr>
          <p:cNvPr id="4" name="Slide Number Placeholder 3">
            <a:extLst>
              <a:ext uri="{FF2B5EF4-FFF2-40B4-BE49-F238E27FC236}">
                <a16:creationId xmlns:a16="http://schemas.microsoft.com/office/drawing/2014/main" id="{68D0627D-97E1-6B7C-FFFD-5B4AD7E83BE5}"/>
              </a:ext>
            </a:extLst>
          </p:cNvPr>
          <p:cNvSpPr>
            <a:spLocks noGrp="1"/>
          </p:cNvSpPr>
          <p:nvPr>
            <p:ph type="sldNum" sz="quarter" idx="12"/>
          </p:nvPr>
        </p:nvSpPr>
        <p:spPr/>
        <p:txBody>
          <a:bodyPr/>
          <a:lstStyle/>
          <a:p>
            <a:fld id="{C3CACD4E-8C52-004E-9A96-AD0BCBF3CA39}" type="slidenum">
              <a:rPr lang="en-US" smtClean="0"/>
              <a:t>7</a:t>
            </a:fld>
            <a:endParaRPr lang="en-US"/>
          </a:p>
        </p:txBody>
      </p:sp>
    </p:spTree>
    <p:extLst>
      <p:ext uri="{BB962C8B-B14F-4D97-AF65-F5344CB8AC3E}">
        <p14:creationId xmlns:p14="http://schemas.microsoft.com/office/powerpoint/2010/main" val="3522394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p:nvPr>
        </p:nvSpPr>
        <p:spPr/>
        <p:txBody>
          <a:bodyPr/>
          <a:lstStyle/>
          <a:p>
            <a:r>
              <a:rPr lang="en-US" altLang="en-US"/>
              <a:t>Support Vector Machines</a:t>
            </a:r>
          </a:p>
        </p:txBody>
      </p:sp>
      <p:sp>
        <p:nvSpPr>
          <p:cNvPr id="6146" name="Rectangle 4"/>
          <p:cNvSpPr>
            <a:spLocks noGrp="1" noChangeArrowheads="1"/>
          </p:cNvSpPr>
          <p:nvPr>
            <p:ph type="body" sz="half" idx="4294967295"/>
          </p:nvPr>
        </p:nvSpPr>
        <p:spPr>
          <a:xfrm>
            <a:off x="1905000" y="5943600"/>
            <a:ext cx="8534400" cy="381000"/>
          </a:xfrm>
        </p:spPr>
        <p:txBody>
          <a:bodyPr/>
          <a:lstStyle/>
          <a:p>
            <a:pPr>
              <a:lnSpc>
                <a:spcPct val="90000"/>
              </a:lnSpc>
            </a:pPr>
            <a:r>
              <a:rPr lang="en-US" altLang="en-US" sz="2000" dirty="0"/>
              <a:t>Find a linear hyperplane (decision boundary) that will separate the data</a:t>
            </a:r>
          </a:p>
        </p:txBody>
      </p:sp>
      <p:graphicFrame>
        <p:nvGraphicFramePr>
          <p:cNvPr id="6147" name="Object 2"/>
          <p:cNvGraphicFramePr>
            <a:graphicFrameLocks noGrp="1" noChangeAspect="1"/>
          </p:cNvGraphicFramePr>
          <p:nvPr>
            <p:ph sz="half" idx="4294967295"/>
          </p:nvPr>
        </p:nvGraphicFramePr>
        <p:xfrm>
          <a:off x="3886200" y="119538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614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F9D0CF60-3FFD-7AFD-C8C0-6F6A42C1A4EF}"/>
              </a:ext>
            </a:extLst>
          </p:cNvPr>
          <p:cNvSpPr>
            <a:spLocks noGrp="1"/>
          </p:cNvSpPr>
          <p:nvPr>
            <p:ph type="sldNum" sz="quarter" idx="12"/>
          </p:nvPr>
        </p:nvSpPr>
        <p:spPr/>
        <p:txBody>
          <a:bodyPr/>
          <a:lstStyle/>
          <a:p>
            <a:fld id="{C3CACD4E-8C52-004E-9A96-AD0BCBF3CA39}" type="slidenum">
              <a:rPr lang="en-US" smtClean="0"/>
              <a:t>8</a:t>
            </a:fld>
            <a:endParaRPr lang="en-US"/>
          </a:p>
        </p:txBody>
      </p:sp>
    </p:spTree>
    <p:extLst>
      <p:ext uri="{BB962C8B-B14F-4D97-AF65-F5344CB8AC3E}">
        <p14:creationId xmlns:p14="http://schemas.microsoft.com/office/powerpoint/2010/main" val="967921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p:txBody>
          <a:bodyPr/>
          <a:lstStyle/>
          <a:p>
            <a:r>
              <a:rPr lang="en-US" altLang="en-US"/>
              <a:t>Support Vector Machines</a:t>
            </a:r>
          </a:p>
        </p:txBody>
      </p:sp>
      <p:sp>
        <p:nvSpPr>
          <p:cNvPr id="7170" name="Rectangle 3"/>
          <p:cNvSpPr>
            <a:spLocks noGrp="1" noChangeArrowheads="1"/>
          </p:cNvSpPr>
          <p:nvPr>
            <p:ph type="body" sz="half" idx="4294967295"/>
          </p:nvPr>
        </p:nvSpPr>
        <p:spPr>
          <a:xfrm>
            <a:off x="1905000" y="5943600"/>
            <a:ext cx="8534400" cy="381000"/>
          </a:xfrm>
        </p:spPr>
        <p:txBody>
          <a:bodyPr/>
          <a:lstStyle/>
          <a:p>
            <a:pPr>
              <a:lnSpc>
                <a:spcPct val="90000"/>
              </a:lnSpc>
            </a:pPr>
            <a:r>
              <a:rPr lang="en-US" altLang="en-US" sz="2000"/>
              <a:t>One Possible Solution</a:t>
            </a:r>
          </a:p>
        </p:txBody>
      </p:sp>
      <p:graphicFrame>
        <p:nvGraphicFramePr>
          <p:cNvPr id="7171" name="Object 2"/>
          <p:cNvGraphicFramePr>
            <a:graphicFrameLocks noGrp="1" noChangeAspect="1"/>
          </p:cNvGraphicFramePr>
          <p:nvPr>
            <p:ph sz="half" idx="4294967295"/>
          </p:nvPr>
        </p:nvGraphicFramePr>
        <p:xfrm>
          <a:off x="3886200" y="119538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7171"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7EFF1741-CB78-0D8B-2F1E-346F940D395F}"/>
              </a:ext>
            </a:extLst>
          </p:cNvPr>
          <p:cNvSpPr>
            <a:spLocks noGrp="1"/>
          </p:cNvSpPr>
          <p:nvPr>
            <p:ph type="sldNum" sz="quarter" idx="12"/>
          </p:nvPr>
        </p:nvSpPr>
        <p:spPr/>
        <p:txBody>
          <a:bodyPr/>
          <a:lstStyle/>
          <a:p>
            <a:fld id="{C3CACD4E-8C52-004E-9A96-AD0BCBF3CA39}" type="slidenum">
              <a:rPr lang="en-US" smtClean="0"/>
              <a:t>9</a:t>
            </a:fld>
            <a:endParaRPr lang="en-US"/>
          </a:p>
        </p:txBody>
      </p:sp>
    </p:spTree>
    <p:extLst>
      <p:ext uri="{BB962C8B-B14F-4D97-AF65-F5344CB8AC3E}">
        <p14:creationId xmlns:p14="http://schemas.microsoft.com/office/powerpoint/2010/main" val="19162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p:nvPr>
        </p:nvSpPr>
        <p:spPr/>
        <p:txBody>
          <a:bodyPr/>
          <a:lstStyle/>
          <a:p>
            <a:r>
              <a:rPr lang="en-US" altLang="en-US"/>
              <a:t>Support Vector Machines</a:t>
            </a:r>
          </a:p>
        </p:txBody>
      </p:sp>
      <p:sp>
        <p:nvSpPr>
          <p:cNvPr id="8194" name="Rectangle 3"/>
          <p:cNvSpPr>
            <a:spLocks noGrp="1" noChangeArrowheads="1"/>
          </p:cNvSpPr>
          <p:nvPr>
            <p:ph type="body" sz="half" idx="4294967295"/>
          </p:nvPr>
        </p:nvSpPr>
        <p:spPr>
          <a:xfrm>
            <a:off x="1905000" y="5943600"/>
            <a:ext cx="8534400" cy="381000"/>
          </a:xfrm>
        </p:spPr>
        <p:txBody>
          <a:bodyPr/>
          <a:lstStyle/>
          <a:p>
            <a:pPr>
              <a:lnSpc>
                <a:spcPct val="90000"/>
              </a:lnSpc>
            </a:pPr>
            <a:r>
              <a:rPr lang="en-US" altLang="en-US" sz="2000"/>
              <a:t>Another possible solution</a:t>
            </a:r>
          </a:p>
        </p:txBody>
      </p:sp>
      <p:graphicFrame>
        <p:nvGraphicFramePr>
          <p:cNvPr id="8195" name="Object 2"/>
          <p:cNvGraphicFramePr>
            <a:graphicFrameLocks noGrp="1" noChangeAspect="1"/>
          </p:cNvGraphicFramePr>
          <p:nvPr>
            <p:ph sz="half" idx="4294967295"/>
          </p:nvPr>
        </p:nvGraphicFramePr>
        <p:xfrm>
          <a:off x="3886200" y="118903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819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8903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E8FC10E3-FCEE-C375-A890-40F9CA790A54}"/>
              </a:ext>
            </a:extLst>
          </p:cNvPr>
          <p:cNvSpPr>
            <a:spLocks noGrp="1"/>
          </p:cNvSpPr>
          <p:nvPr>
            <p:ph type="sldNum" sz="quarter" idx="12"/>
          </p:nvPr>
        </p:nvSpPr>
        <p:spPr/>
        <p:txBody>
          <a:bodyPr/>
          <a:lstStyle/>
          <a:p>
            <a:fld id="{C3CACD4E-8C52-004E-9A96-AD0BCBF3CA39}" type="slidenum">
              <a:rPr lang="en-US" smtClean="0"/>
              <a:t>10</a:t>
            </a:fld>
            <a:endParaRPr lang="en-US"/>
          </a:p>
        </p:txBody>
      </p:sp>
    </p:spTree>
    <p:extLst>
      <p:ext uri="{BB962C8B-B14F-4D97-AF65-F5344CB8AC3E}">
        <p14:creationId xmlns:p14="http://schemas.microsoft.com/office/powerpoint/2010/main" val="1759366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p:txBody>
          <a:bodyPr/>
          <a:lstStyle/>
          <a:p>
            <a:r>
              <a:rPr lang="en-US" altLang="en-US"/>
              <a:t>Support Vector Machines</a:t>
            </a:r>
          </a:p>
        </p:txBody>
      </p:sp>
      <p:sp>
        <p:nvSpPr>
          <p:cNvPr id="9218" name="Rectangle 3"/>
          <p:cNvSpPr>
            <a:spLocks noGrp="1" noChangeArrowheads="1"/>
          </p:cNvSpPr>
          <p:nvPr>
            <p:ph type="body" sz="half" idx="4294967295"/>
          </p:nvPr>
        </p:nvSpPr>
        <p:spPr>
          <a:xfrm>
            <a:off x="1905000" y="5943600"/>
            <a:ext cx="8534400" cy="381000"/>
          </a:xfrm>
        </p:spPr>
        <p:txBody>
          <a:bodyPr/>
          <a:lstStyle/>
          <a:p>
            <a:pPr>
              <a:lnSpc>
                <a:spcPct val="90000"/>
              </a:lnSpc>
            </a:pPr>
            <a:r>
              <a:rPr lang="en-US" altLang="en-US" sz="2000"/>
              <a:t>Other possible solutions</a:t>
            </a:r>
          </a:p>
        </p:txBody>
      </p:sp>
      <p:graphicFrame>
        <p:nvGraphicFramePr>
          <p:cNvPr id="9219" name="Object 2"/>
          <p:cNvGraphicFramePr>
            <a:graphicFrameLocks noGrp="1" noChangeAspect="1"/>
          </p:cNvGraphicFramePr>
          <p:nvPr>
            <p:ph sz="half" idx="4294967295"/>
          </p:nvPr>
        </p:nvGraphicFramePr>
        <p:xfrm>
          <a:off x="3886200" y="118903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921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8903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5797" name="Line 5"/>
          <p:cNvSpPr>
            <a:spLocks noChangeShapeType="1"/>
          </p:cNvSpPr>
          <p:nvPr/>
        </p:nvSpPr>
        <p:spPr bwMode="auto">
          <a:xfrm>
            <a:off x="4191000" y="2819400"/>
            <a:ext cx="4191000" cy="13716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5798" name="Line 6"/>
          <p:cNvSpPr>
            <a:spLocks noChangeShapeType="1"/>
          </p:cNvSpPr>
          <p:nvPr/>
        </p:nvSpPr>
        <p:spPr bwMode="auto">
          <a:xfrm>
            <a:off x="4191000" y="2590800"/>
            <a:ext cx="4191000" cy="13716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5799" name="Line 7"/>
          <p:cNvSpPr>
            <a:spLocks noChangeShapeType="1"/>
          </p:cNvSpPr>
          <p:nvPr/>
        </p:nvSpPr>
        <p:spPr bwMode="auto">
          <a:xfrm>
            <a:off x="4191000" y="2209800"/>
            <a:ext cx="4191000" cy="22098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5800" name="Line 8"/>
          <p:cNvSpPr>
            <a:spLocks noChangeShapeType="1"/>
          </p:cNvSpPr>
          <p:nvPr/>
        </p:nvSpPr>
        <p:spPr bwMode="auto">
          <a:xfrm>
            <a:off x="4191000" y="2667000"/>
            <a:ext cx="4191000" cy="19050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5801" name="Line 9"/>
          <p:cNvSpPr>
            <a:spLocks noChangeShapeType="1"/>
          </p:cNvSpPr>
          <p:nvPr/>
        </p:nvSpPr>
        <p:spPr bwMode="auto">
          <a:xfrm>
            <a:off x="4191000" y="2438400"/>
            <a:ext cx="4191000" cy="16002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a:extLst>
              <a:ext uri="{FF2B5EF4-FFF2-40B4-BE49-F238E27FC236}">
                <a16:creationId xmlns:a16="http://schemas.microsoft.com/office/drawing/2014/main" id="{283B212B-718C-E761-B138-F9143CBA45D4}"/>
              </a:ext>
            </a:extLst>
          </p:cNvPr>
          <p:cNvSpPr>
            <a:spLocks noGrp="1"/>
          </p:cNvSpPr>
          <p:nvPr>
            <p:ph type="sldNum" sz="quarter" idx="12"/>
          </p:nvPr>
        </p:nvSpPr>
        <p:spPr/>
        <p:txBody>
          <a:bodyPr/>
          <a:lstStyle/>
          <a:p>
            <a:fld id="{C3CACD4E-8C52-004E-9A96-AD0BCBF3CA39}" type="slidenum">
              <a:rPr lang="en-US" smtClean="0"/>
              <a:t>11</a:t>
            </a:fld>
            <a:endParaRPr lang="en-US"/>
          </a:p>
        </p:txBody>
      </p:sp>
    </p:spTree>
    <p:extLst>
      <p:ext uri="{BB962C8B-B14F-4D97-AF65-F5344CB8AC3E}">
        <p14:creationId xmlns:p14="http://schemas.microsoft.com/office/powerpoint/2010/main" val="31833624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500"/>
                                  </p:stCondLst>
                                  <p:childTnLst>
                                    <p:set>
                                      <p:cBhvr>
                                        <p:cTn id="6" dur="1" fill="hold">
                                          <p:stCondLst>
                                            <p:cond delay="0"/>
                                          </p:stCondLst>
                                        </p:cTn>
                                        <p:tgtEl>
                                          <p:spTgt spid="1185798"/>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500"/>
                                  </p:stCondLst>
                                  <p:childTnLst>
                                    <p:set>
                                      <p:cBhvr>
                                        <p:cTn id="9" dur="1" fill="hold">
                                          <p:stCondLst>
                                            <p:cond delay="0"/>
                                          </p:stCondLst>
                                        </p:cTn>
                                        <p:tgtEl>
                                          <p:spTgt spid="1185799"/>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500"/>
                                  </p:stCondLst>
                                  <p:childTnLst>
                                    <p:set>
                                      <p:cBhvr>
                                        <p:cTn id="12" dur="1" fill="hold">
                                          <p:stCondLst>
                                            <p:cond delay="0"/>
                                          </p:stCondLst>
                                        </p:cTn>
                                        <p:tgtEl>
                                          <p:spTgt spid="1185800"/>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nodeType="afterEffect">
                                  <p:stCondLst>
                                    <p:cond delay="500"/>
                                  </p:stCondLst>
                                  <p:childTnLst>
                                    <p:set>
                                      <p:cBhvr>
                                        <p:cTn id="15" dur="1" fill="hold">
                                          <p:stCondLst>
                                            <p:cond delay="0"/>
                                          </p:stCondLst>
                                        </p:cTn>
                                        <p:tgtEl>
                                          <p:spTgt spid="1185797"/>
                                        </p:tgtEl>
                                        <p:attrNameLst>
                                          <p:attrName>style.visibility</p:attrName>
                                        </p:attrNameLst>
                                      </p:cBhvr>
                                      <p:to>
                                        <p:strVal val="visible"/>
                                      </p:to>
                                    </p:set>
                                  </p:childTnLst>
                                </p:cTn>
                              </p:par>
                            </p:childTnLst>
                          </p:cTn>
                        </p:par>
                        <p:par>
                          <p:cTn id="16" fill="hold" nodeType="afterGroup">
                            <p:stCondLst>
                              <p:cond delay="2000"/>
                            </p:stCondLst>
                            <p:childTnLst>
                              <p:par>
                                <p:cTn id="17" presetID="1" presetClass="entr" presetSubtype="0" fill="hold" nodeType="afterEffect">
                                  <p:stCondLst>
                                    <p:cond delay="500"/>
                                  </p:stCondLst>
                                  <p:childTnLst>
                                    <p:set>
                                      <p:cBhvr>
                                        <p:cTn id="18" dur="1" fill="hold">
                                          <p:stCondLst>
                                            <p:cond delay="0"/>
                                          </p:stCondLst>
                                        </p:cTn>
                                        <p:tgtEl>
                                          <p:spTgt spid="11858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p:txBody>
          <a:bodyPr/>
          <a:lstStyle/>
          <a:p>
            <a:r>
              <a:rPr lang="en-US" altLang="en-US"/>
              <a:t>Support Vector Machines</a:t>
            </a:r>
          </a:p>
        </p:txBody>
      </p:sp>
      <p:sp>
        <p:nvSpPr>
          <p:cNvPr id="10242" name="Rectangle 3"/>
          <p:cNvSpPr>
            <a:spLocks noGrp="1" noChangeArrowheads="1"/>
          </p:cNvSpPr>
          <p:nvPr>
            <p:ph type="body" sz="half" idx="4294967295"/>
          </p:nvPr>
        </p:nvSpPr>
        <p:spPr>
          <a:xfrm>
            <a:off x="1905000" y="5638800"/>
            <a:ext cx="8534400" cy="762000"/>
          </a:xfrm>
        </p:spPr>
        <p:txBody>
          <a:bodyPr>
            <a:normAutofit lnSpcReduction="10000"/>
          </a:bodyPr>
          <a:lstStyle/>
          <a:p>
            <a:pPr>
              <a:lnSpc>
                <a:spcPct val="90000"/>
              </a:lnSpc>
            </a:pPr>
            <a:r>
              <a:rPr lang="en-US" altLang="en-US" sz="2000"/>
              <a:t>Which one is better? B1 or B2?</a:t>
            </a:r>
          </a:p>
          <a:p>
            <a:pPr>
              <a:lnSpc>
                <a:spcPct val="90000"/>
              </a:lnSpc>
            </a:pPr>
            <a:r>
              <a:rPr lang="en-US" altLang="en-US" sz="2000"/>
              <a:t>How do you define better?</a:t>
            </a:r>
          </a:p>
        </p:txBody>
      </p:sp>
      <p:graphicFrame>
        <p:nvGraphicFramePr>
          <p:cNvPr id="10243" name="Object 2"/>
          <p:cNvGraphicFramePr>
            <a:graphicFrameLocks noGrp="1" noChangeAspect="1"/>
          </p:cNvGraphicFramePr>
          <p:nvPr>
            <p:ph sz="half" idx="4294967295"/>
          </p:nvPr>
        </p:nvGraphicFramePr>
        <p:xfrm>
          <a:off x="3886200" y="119538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1024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79FE9D7E-EECC-0A9C-EBBB-8780AF4C53E4}"/>
              </a:ext>
            </a:extLst>
          </p:cNvPr>
          <p:cNvSpPr>
            <a:spLocks noGrp="1"/>
          </p:cNvSpPr>
          <p:nvPr>
            <p:ph type="sldNum" sz="quarter" idx="12"/>
          </p:nvPr>
        </p:nvSpPr>
        <p:spPr/>
        <p:txBody>
          <a:bodyPr/>
          <a:lstStyle/>
          <a:p>
            <a:fld id="{C3CACD4E-8C52-004E-9A96-AD0BCBF3CA39}" type="slidenum">
              <a:rPr lang="en-US" smtClean="0"/>
              <a:t>12</a:t>
            </a:fld>
            <a:endParaRPr lang="en-US"/>
          </a:p>
        </p:txBody>
      </p:sp>
    </p:spTree>
    <p:extLst>
      <p:ext uri="{BB962C8B-B14F-4D97-AF65-F5344CB8AC3E}">
        <p14:creationId xmlns:p14="http://schemas.microsoft.com/office/powerpoint/2010/main" val="3496222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p:txBody>
          <a:bodyPr/>
          <a:lstStyle/>
          <a:p>
            <a:r>
              <a:rPr lang="en-US" altLang="en-US"/>
              <a:t>Support Vector Machines</a:t>
            </a:r>
          </a:p>
        </p:txBody>
      </p:sp>
      <p:sp>
        <p:nvSpPr>
          <p:cNvPr id="11266" name="Rectangle 3"/>
          <p:cNvSpPr>
            <a:spLocks noGrp="1" noChangeArrowheads="1"/>
          </p:cNvSpPr>
          <p:nvPr>
            <p:ph type="body" sz="half" idx="4294967295"/>
          </p:nvPr>
        </p:nvSpPr>
        <p:spPr>
          <a:xfrm>
            <a:off x="1905000" y="5943600"/>
            <a:ext cx="8534400" cy="381000"/>
          </a:xfrm>
        </p:spPr>
        <p:txBody>
          <a:bodyPr/>
          <a:lstStyle/>
          <a:p>
            <a:pPr>
              <a:lnSpc>
                <a:spcPct val="90000"/>
              </a:lnSpc>
            </a:pPr>
            <a:r>
              <a:rPr lang="en-US" altLang="en-US" sz="2000"/>
              <a:t>Find hyperplane </a:t>
            </a:r>
            <a:r>
              <a:rPr lang="en-US" altLang="en-US" sz="2000">
                <a:solidFill>
                  <a:srgbClr val="FF0000"/>
                </a:solidFill>
              </a:rPr>
              <a:t>maximizes</a:t>
            </a:r>
            <a:r>
              <a:rPr lang="en-US" altLang="en-US" sz="2000"/>
              <a:t> the margin =&gt; B1 is better than B2</a:t>
            </a:r>
          </a:p>
        </p:txBody>
      </p:sp>
      <p:graphicFrame>
        <p:nvGraphicFramePr>
          <p:cNvPr id="11267" name="Object 2"/>
          <p:cNvGraphicFramePr>
            <a:graphicFrameLocks noGrp="1" noChangeAspect="1"/>
          </p:cNvGraphicFramePr>
          <p:nvPr>
            <p:ph sz="half" idx="4294967295"/>
          </p:nvPr>
        </p:nvGraphicFramePr>
        <p:xfrm>
          <a:off x="3886200" y="119538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1126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DA818B3A-3E58-E60F-A84D-A0EC32B15639}"/>
              </a:ext>
            </a:extLst>
          </p:cNvPr>
          <p:cNvSpPr>
            <a:spLocks noGrp="1"/>
          </p:cNvSpPr>
          <p:nvPr>
            <p:ph type="sldNum" sz="quarter" idx="12"/>
          </p:nvPr>
        </p:nvSpPr>
        <p:spPr/>
        <p:txBody>
          <a:bodyPr/>
          <a:lstStyle/>
          <a:p>
            <a:fld id="{C3CACD4E-8C52-004E-9A96-AD0BCBF3CA39}" type="slidenum">
              <a:rPr lang="en-US" smtClean="0"/>
              <a:t>13</a:t>
            </a:fld>
            <a:endParaRPr lang="en-US"/>
          </a:p>
        </p:txBody>
      </p:sp>
    </p:spTree>
    <p:extLst>
      <p:ext uri="{BB962C8B-B14F-4D97-AF65-F5344CB8AC3E}">
        <p14:creationId xmlns:p14="http://schemas.microsoft.com/office/powerpoint/2010/main" val="2226397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ChangeArrowheads="1"/>
          </p:cNvSpPr>
          <p:nvPr>
            <p:ph type="title"/>
          </p:nvPr>
        </p:nvSpPr>
        <p:spPr/>
        <p:txBody>
          <a:bodyPr/>
          <a:lstStyle/>
          <a:p>
            <a:r>
              <a:rPr lang="en-US" altLang="en-US"/>
              <a:t>Support Vector Machines</a:t>
            </a:r>
          </a:p>
        </p:txBody>
      </p:sp>
      <p:graphicFrame>
        <p:nvGraphicFramePr>
          <p:cNvPr id="12290" name="Object 2"/>
          <p:cNvGraphicFramePr>
            <a:graphicFrameLocks noGrp="1" noChangeAspect="1"/>
          </p:cNvGraphicFramePr>
          <p:nvPr>
            <p:ph sz="half" idx="4294967295"/>
          </p:nvPr>
        </p:nvGraphicFramePr>
        <p:xfrm>
          <a:off x="3886200" y="119538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1229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1" name="Line 5"/>
          <p:cNvSpPr>
            <a:spLocks noChangeShapeType="1"/>
          </p:cNvSpPr>
          <p:nvPr/>
        </p:nvSpPr>
        <p:spPr bwMode="auto">
          <a:xfrm flipH="1">
            <a:off x="3352800" y="1905000"/>
            <a:ext cx="1219200" cy="762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2" name="Object 3"/>
          <p:cNvGraphicFramePr>
            <a:graphicFrameLocks noGrp="1" noChangeAspect="1"/>
          </p:cNvGraphicFramePr>
          <p:nvPr>
            <p:ph idx="1"/>
          </p:nvPr>
        </p:nvGraphicFramePr>
        <p:xfrm>
          <a:off x="1828800" y="2590800"/>
          <a:ext cx="1435100" cy="319088"/>
        </p:xfrm>
        <a:graphic>
          <a:graphicData uri="http://schemas.openxmlformats.org/presentationml/2006/ole">
            <mc:AlternateContent xmlns:mc="http://schemas.openxmlformats.org/markup-compatibility/2006">
              <mc:Choice xmlns:v="urn:schemas-microsoft-com:vml" Requires="v">
                <p:oleObj name="Equation" r:id="rId4" imgW="799753" imgH="177723" progId="Equation.3">
                  <p:embed/>
                </p:oleObj>
              </mc:Choice>
              <mc:Fallback>
                <p:oleObj name="Equation" r:id="rId4" imgW="799753" imgH="177723" progId="Equation.3">
                  <p:embed/>
                  <p:pic>
                    <p:nvPicPr>
                      <p:cNvPr id="1229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590800"/>
                        <a:ext cx="1435100"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3" name="Line 8"/>
          <p:cNvSpPr>
            <a:spLocks noChangeShapeType="1"/>
          </p:cNvSpPr>
          <p:nvPr/>
        </p:nvSpPr>
        <p:spPr bwMode="auto">
          <a:xfrm flipH="1">
            <a:off x="3352800" y="2438401"/>
            <a:ext cx="1295400" cy="82391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4" name="Object 4"/>
          <p:cNvGraphicFramePr>
            <a:graphicFrameLocks noChangeAspect="1"/>
          </p:cNvGraphicFramePr>
          <p:nvPr/>
        </p:nvGraphicFramePr>
        <p:xfrm>
          <a:off x="1760539" y="3186114"/>
          <a:ext cx="1571625" cy="319087"/>
        </p:xfrm>
        <a:graphic>
          <a:graphicData uri="http://schemas.openxmlformats.org/presentationml/2006/ole">
            <mc:AlternateContent xmlns:mc="http://schemas.openxmlformats.org/markup-compatibility/2006">
              <mc:Choice xmlns:v="urn:schemas-microsoft-com:vml" Requires="v">
                <p:oleObj name="Equation" r:id="rId6" imgW="875920" imgH="177723" progId="Equation.3">
                  <p:embed/>
                </p:oleObj>
              </mc:Choice>
              <mc:Fallback>
                <p:oleObj name="Equation" r:id="rId6" imgW="875920" imgH="177723" progId="Equation.3">
                  <p:embed/>
                  <p:pic>
                    <p:nvPicPr>
                      <p:cNvPr id="12294"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0539" y="3186114"/>
                        <a:ext cx="1571625"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295" name="Line 10"/>
          <p:cNvSpPr>
            <a:spLocks noChangeShapeType="1"/>
          </p:cNvSpPr>
          <p:nvPr/>
        </p:nvSpPr>
        <p:spPr bwMode="auto">
          <a:xfrm flipV="1">
            <a:off x="7848600" y="3505200"/>
            <a:ext cx="1219200" cy="7762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6" name="Object 5"/>
          <p:cNvGraphicFramePr>
            <a:graphicFrameLocks noChangeAspect="1"/>
          </p:cNvGraphicFramePr>
          <p:nvPr/>
        </p:nvGraphicFramePr>
        <p:xfrm>
          <a:off x="8791576" y="3048000"/>
          <a:ext cx="1571625" cy="319088"/>
        </p:xfrm>
        <a:graphic>
          <a:graphicData uri="http://schemas.openxmlformats.org/presentationml/2006/ole">
            <mc:AlternateContent xmlns:mc="http://schemas.openxmlformats.org/markup-compatibility/2006">
              <mc:Choice xmlns:v="urn:schemas-microsoft-com:vml" Requires="v">
                <p:oleObj name="Equation" r:id="rId8" imgW="875920" imgH="177723" progId="Equation.3">
                  <p:embed/>
                </p:oleObj>
              </mc:Choice>
              <mc:Fallback>
                <p:oleObj name="Equation" r:id="rId8" imgW="875920" imgH="177723" progId="Equation.3">
                  <p:embed/>
                  <p:pic>
                    <p:nvPicPr>
                      <p:cNvPr id="12296"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91576" y="3048000"/>
                        <a:ext cx="1571625"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297" name="Object 6"/>
          <p:cNvGraphicFramePr>
            <a:graphicFrameLocks noChangeAspect="1"/>
          </p:cNvGraphicFramePr>
          <p:nvPr/>
        </p:nvGraphicFramePr>
        <p:xfrm>
          <a:off x="1689100" y="5562600"/>
          <a:ext cx="3937000" cy="839788"/>
        </p:xfrm>
        <a:graphic>
          <a:graphicData uri="http://schemas.openxmlformats.org/presentationml/2006/ole">
            <mc:AlternateContent xmlns:mc="http://schemas.openxmlformats.org/markup-compatibility/2006">
              <mc:Choice xmlns:v="urn:schemas-microsoft-com:vml" Requires="v">
                <p:oleObj name="Equation" r:id="rId10" imgW="1879600" imgH="457200" progId="Equation.3">
                  <p:embed/>
                </p:oleObj>
              </mc:Choice>
              <mc:Fallback>
                <p:oleObj name="Equation" r:id="rId10" imgW="1879600" imgH="457200" progId="Equation.3">
                  <p:embed/>
                  <p:pic>
                    <p:nvPicPr>
                      <p:cNvPr id="12297"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89100" y="5562600"/>
                        <a:ext cx="3937000"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298" name="Object 7"/>
          <p:cNvGraphicFramePr>
            <a:graphicFrameLocks noChangeAspect="1"/>
          </p:cNvGraphicFramePr>
          <p:nvPr/>
        </p:nvGraphicFramePr>
        <p:xfrm>
          <a:off x="8631239" y="5575301"/>
          <a:ext cx="1684337" cy="752475"/>
        </p:xfrm>
        <a:graphic>
          <a:graphicData uri="http://schemas.openxmlformats.org/presentationml/2006/ole">
            <mc:AlternateContent xmlns:mc="http://schemas.openxmlformats.org/markup-compatibility/2006">
              <mc:Choice xmlns:v="urn:schemas-microsoft-com:vml" Requires="v">
                <p:oleObj name="Equation" r:id="rId12" imgW="939800" imgH="419100" progId="Equation.3">
                  <p:embed/>
                </p:oleObj>
              </mc:Choice>
              <mc:Fallback>
                <p:oleObj name="Equation" r:id="rId12" imgW="939800" imgH="419100" progId="Equation.3">
                  <p:embed/>
                  <p:pic>
                    <p:nvPicPr>
                      <p:cNvPr id="12298"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31239" y="5575301"/>
                        <a:ext cx="1684337"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46A59DDA-C475-C652-7D9C-D8ED90CB3DE8}"/>
              </a:ext>
            </a:extLst>
          </p:cNvPr>
          <p:cNvSpPr>
            <a:spLocks noGrp="1"/>
          </p:cNvSpPr>
          <p:nvPr>
            <p:ph type="sldNum" sz="quarter" idx="12"/>
          </p:nvPr>
        </p:nvSpPr>
        <p:spPr/>
        <p:txBody>
          <a:bodyPr/>
          <a:lstStyle/>
          <a:p>
            <a:fld id="{C3CACD4E-8C52-004E-9A96-AD0BCBF3CA39}" type="slidenum">
              <a:rPr lang="en-US" smtClean="0"/>
              <a:t>14</a:t>
            </a:fld>
            <a:endParaRPr lang="en-US"/>
          </a:p>
        </p:txBody>
      </p:sp>
    </p:spTree>
    <p:extLst>
      <p:ext uri="{BB962C8B-B14F-4D97-AF65-F5344CB8AC3E}">
        <p14:creationId xmlns:p14="http://schemas.microsoft.com/office/powerpoint/2010/main" val="667253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en-US"/>
              <a:t>Linear SVM</a:t>
            </a:r>
          </a:p>
        </p:txBody>
      </p:sp>
      <p:sp>
        <p:nvSpPr>
          <p:cNvPr id="13314" name="Rectangle 3"/>
          <p:cNvSpPr>
            <a:spLocks noGrp="1" noChangeArrowheads="1"/>
          </p:cNvSpPr>
          <p:nvPr>
            <p:ph type="body" idx="1"/>
          </p:nvPr>
        </p:nvSpPr>
        <p:spPr/>
        <p:txBody>
          <a:bodyPr/>
          <a:lstStyle/>
          <a:p>
            <a:r>
              <a:rPr lang="en-US" altLang="en-US" dirty="0"/>
              <a:t>Linear model: </a:t>
            </a:r>
          </a:p>
          <a:p>
            <a:endParaRPr lang="en-US" altLang="en-US" dirty="0"/>
          </a:p>
          <a:p>
            <a:endParaRPr lang="en-US" altLang="en-US" dirty="0"/>
          </a:p>
          <a:p>
            <a:endParaRPr lang="en-US" altLang="en-US" dirty="0"/>
          </a:p>
          <a:p>
            <a:r>
              <a:rPr lang="en-US" altLang="en-US" dirty="0"/>
              <a:t>Learning the model is equivalent to determining the values of </a:t>
            </a:r>
          </a:p>
          <a:p>
            <a:pPr lvl="1"/>
            <a:r>
              <a:rPr lang="en-US" altLang="en-US" dirty="0"/>
              <a:t>How to find             from training data?</a:t>
            </a:r>
          </a:p>
        </p:txBody>
      </p:sp>
      <p:graphicFrame>
        <p:nvGraphicFramePr>
          <p:cNvPr id="13315" name="Object 2"/>
          <p:cNvGraphicFramePr>
            <a:graphicFrameLocks noGrp="1" noChangeAspect="1"/>
          </p:cNvGraphicFramePr>
          <p:nvPr>
            <p:ph sz="half" idx="4294967295"/>
          </p:nvPr>
        </p:nvGraphicFramePr>
        <p:xfrm>
          <a:off x="3048000" y="1905000"/>
          <a:ext cx="3505200" cy="852488"/>
        </p:xfrm>
        <a:graphic>
          <a:graphicData uri="http://schemas.openxmlformats.org/presentationml/2006/ole">
            <mc:AlternateContent xmlns:mc="http://schemas.openxmlformats.org/markup-compatibility/2006">
              <mc:Choice xmlns:v="urn:schemas-microsoft-com:vml" Requires="v">
                <p:oleObj name="Equation" r:id="rId2" imgW="1879600" imgH="457200" progId="Equation.3">
                  <p:embed/>
                </p:oleObj>
              </mc:Choice>
              <mc:Fallback>
                <p:oleObj name="Equation" r:id="rId2" imgW="1879600" imgH="457200" progId="Equation.3">
                  <p:embed/>
                  <p:pic>
                    <p:nvPicPr>
                      <p:cNvPr id="1331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905000"/>
                        <a:ext cx="3505200"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6" name="Object 3"/>
          <p:cNvGraphicFramePr>
            <a:graphicFrameLocks noGrp="1" noChangeAspect="1"/>
          </p:cNvGraphicFramePr>
          <p:nvPr>
            <p:ph sz="half" idx="4294967295"/>
            <p:extLst>
              <p:ext uri="{D42A27DB-BD31-4B8C-83A1-F6EECF244321}">
                <p14:modId xmlns:p14="http://schemas.microsoft.com/office/powerpoint/2010/main" val="2853391838"/>
              </p:ext>
            </p:extLst>
          </p:nvPr>
        </p:nvGraphicFramePr>
        <p:xfrm>
          <a:off x="4563979" y="3282157"/>
          <a:ext cx="1295400" cy="420688"/>
        </p:xfrm>
        <a:graphic>
          <a:graphicData uri="http://schemas.openxmlformats.org/presentationml/2006/ole">
            <mc:AlternateContent xmlns:mc="http://schemas.openxmlformats.org/markup-compatibility/2006">
              <mc:Choice xmlns:v="urn:schemas-microsoft-com:vml" Requires="v">
                <p:oleObj name="Equation" r:id="rId4" imgW="545626" imgH="177646" progId="Equation.3">
                  <p:embed/>
                </p:oleObj>
              </mc:Choice>
              <mc:Fallback>
                <p:oleObj name="Equation" r:id="rId4" imgW="545626" imgH="177646" progId="Equation.3">
                  <p:embed/>
                  <p:pic>
                    <p:nvPicPr>
                      <p:cNvPr id="1331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3979" y="3282157"/>
                        <a:ext cx="1295400"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7" name="Object 4"/>
          <p:cNvGraphicFramePr>
            <a:graphicFrameLocks noGrp="1" noChangeAspect="1"/>
          </p:cNvGraphicFramePr>
          <p:nvPr>
            <p:ph sz="half" idx="4294967295"/>
            <p:extLst>
              <p:ext uri="{D42A27DB-BD31-4B8C-83A1-F6EECF244321}">
                <p14:modId xmlns:p14="http://schemas.microsoft.com/office/powerpoint/2010/main" val="3499888069"/>
              </p:ext>
            </p:extLst>
          </p:nvPr>
        </p:nvGraphicFramePr>
        <p:xfrm>
          <a:off x="4563979" y="4829093"/>
          <a:ext cx="1295400" cy="420687"/>
        </p:xfrm>
        <a:graphic>
          <a:graphicData uri="http://schemas.openxmlformats.org/presentationml/2006/ole">
            <mc:AlternateContent xmlns:mc="http://schemas.openxmlformats.org/markup-compatibility/2006">
              <mc:Choice xmlns:v="urn:schemas-microsoft-com:vml" Requires="v">
                <p:oleObj name="Equation" r:id="rId6" imgW="545626" imgH="177646" progId="Equation.3">
                  <p:embed/>
                </p:oleObj>
              </mc:Choice>
              <mc:Fallback>
                <p:oleObj name="Equation" r:id="rId6" imgW="545626" imgH="177646" progId="Equation.3">
                  <p:embed/>
                  <p:pic>
                    <p:nvPicPr>
                      <p:cNvPr id="1331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3979" y="4829093"/>
                        <a:ext cx="12954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11658D0A-5C70-E9E0-5068-E4E424F7F4F7}"/>
              </a:ext>
            </a:extLst>
          </p:cNvPr>
          <p:cNvSpPr>
            <a:spLocks noGrp="1"/>
          </p:cNvSpPr>
          <p:nvPr>
            <p:ph type="sldNum" sz="quarter" idx="12"/>
          </p:nvPr>
        </p:nvSpPr>
        <p:spPr/>
        <p:txBody>
          <a:bodyPr/>
          <a:lstStyle/>
          <a:p>
            <a:fld id="{C3CACD4E-8C52-004E-9A96-AD0BCBF3CA39}" type="slidenum">
              <a:rPr lang="en-US" smtClean="0"/>
              <a:t>15</a:t>
            </a:fld>
            <a:endParaRPr lang="en-US"/>
          </a:p>
        </p:txBody>
      </p:sp>
    </p:spTree>
    <p:extLst>
      <p:ext uri="{BB962C8B-B14F-4D97-AF65-F5344CB8AC3E}">
        <p14:creationId xmlns:p14="http://schemas.microsoft.com/office/powerpoint/2010/main" val="3059133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p:txBody>
          <a:bodyPr/>
          <a:lstStyle/>
          <a:p>
            <a:r>
              <a:rPr lang="en-US" altLang="en-US"/>
              <a:t>Learning Linear SVM</a:t>
            </a:r>
          </a:p>
        </p:txBody>
      </p:sp>
      <p:sp>
        <p:nvSpPr>
          <p:cNvPr id="14338" name="Rectangle 7"/>
          <p:cNvSpPr>
            <a:spLocks noGrp="1" noChangeArrowheads="1"/>
          </p:cNvSpPr>
          <p:nvPr>
            <p:ph type="body" idx="1"/>
          </p:nvPr>
        </p:nvSpPr>
        <p:spPr/>
        <p:txBody>
          <a:bodyPr/>
          <a:lstStyle/>
          <a:p>
            <a:r>
              <a:rPr lang="en-US" altLang="en-US" dirty="0"/>
              <a:t>Objective is to maximize:</a:t>
            </a:r>
          </a:p>
          <a:p>
            <a:endParaRPr lang="en-US" altLang="en-US" dirty="0"/>
          </a:p>
          <a:p>
            <a:pPr lvl="1"/>
            <a:r>
              <a:rPr lang="en-US" altLang="en-US" dirty="0"/>
              <a:t>Which is equivalent to minimizing:</a:t>
            </a:r>
          </a:p>
          <a:p>
            <a:pPr lvl="1"/>
            <a:r>
              <a:rPr lang="en-US" altLang="en-US" dirty="0"/>
              <a:t>Subject to the following constraints:</a:t>
            </a:r>
          </a:p>
          <a:p>
            <a:pPr lvl="1"/>
            <a:endParaRPr lang="en-US" altLang="en-US" dirty="0"/>
          </a:p>
          <a:p>
            <a:pPr lvl="1"/>
            <a:endParaRPr lang="en-US" altLang="en-US" dirty="0"/>
          </a:p>
          <a:p>
            <a:pPr lvl="1">
              <a:buFont typeface="Arial" panose="020B0604020202020204" pitchFamily="34" charset="0"/>
              <a:buNone/>
            </a:pPr>
            <a:r>
              <a:rPr lang="en-US" altLang="en-US" dirty="0"/>
              <a:t>   or</a:t>
            </a:r>
          </a:p>
          <a:p>
            <a:pPr lvl="1">
              <a:buFont typeface="Arial" panose="020B0604020202020204" pitchFamily="34" charset="0"/>
              <a:buNone/>
            </a:pPr>
            <a:endParaRPr lang="en-US" altLang="en-US" dirty="0"/>
          </a:p>
          <a:p>
            <a:pPr lvl="2"/>
            <a:r>
              <a:rPr lang="en-US" altLang="en-US" dirty="0"/>
              <a:t> This is a constrained optimization problem</a:t>
            </a:r>
          </a:p>
          <a:p>
            <a:pPr lvl="3"/>
            <a:r>
              <a:rPr lang="en-US" altLang="en-US" dirty="0"/>
              <a:t>Solve it using Lagrange multiplier method</a:t>
            </a:r>
          </a:p>
        </p:txBody>
      </p:sp>
      <p:graphicFrame>
        <p:nvGraphicFramePr>
          <p:cNvPr id="14339" name="Object 2"/>
          <p:cNvGraphicFramePr>
            <a:graphicFrameLocks noChangeAspect="1"/>
          </p:cNvGraphicFramePr>
          <p:nvPr/>
        </p:nvGraphicFramePr>
        <p:xfrm>
          <a:off x="6400800" y="990601"/>
          <a:ext cx="2141538" cy="955675"/>
        </p:xfrm>
        <a:graphic>
          <a:graphicData uri="http://schemas.openxmlformats.org/presentationml/2006/ole">
            <mc:AlternateContent xmlns:mc="http://schemas.openxmlformats.org/markup-compatibility/2006">
              <mc:Choice xmlns:v="urn:schemas-microsoft-com:vml" Requires="v">
                <p:oleObj name="Equation" r:id="rId2" imgW="939800" imgH="419100" progId="Equation.3">
                  <p:embed/>
                </p:oleObj>
              </mc:Choice>
              <mc:Fallback>
                <p:oleObj name="Equation" r:id="rId2" imgW="939800" imgH="419100" progId="Equation.3">
                  <p:embed/>
                  <p:pic>
                    <p:nvPicPr>
                      <p:cNvPr id="1433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990601"/>
                        <a:ext cx="2141538"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340" name="Object 3"/>
          <p:cNvGraphicFramePr>
            <a:graphicFrameLocks noChangeAspect="1"/>
          </p:cNvGraphicFramePr>
          <p:nvPr>
            <p:extLst>
              <p:ext uri="{D42A27DB-BD31-4B8C-83A1-F6EECF244321}">
                <p14:modId xmlns:p14="http://schemas.microsoft.com/office/powerpoint/2010/main" val="3474753471"/>
              </p:ext>
            </p:extLst>
          </p:nvPr>
        </p:nvGraphicFramePr>
        <p:xfrm>
          <a:off x="3505200" y="3585411"/>
          <a:ext cx="4267200" cy="699253"/>
        </p:xfrm>
        <a:graphic>
          <a:graphicData uri="http://schemas.openxmlformats.org/presentationml/2006/ole">
            <mc:AlternateContent xmlns:mc="http://schemas.openxmlformats.org/markup-compatibility/2006">
              <mc:Choice xmlns:v="urn:schemas-microsoft-com:vml" Requires="v">
                <p:oleObj name="Equation" r:id="rId4" imgW="1790700" imgH="482600" progId="Equation.3">
                  <p:embed/>
                </p:oleObj>
              </mc:Choice>
              <mc:Fallback>
                <p:oleObj name="Equation" r:id="rId4" imgW="1790700" imgH="482600" progId="Equation.3">
                  <p:embed/>
                  <p:pic>
                    <p:nvPicPr>
                      <p:cNvPr id="1434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3585411"/>
                        <a:ext cx="4267200" cy="699253"/>
                      </a:xfrm>
                      <a:prstGeom prst="rect">
                        <a:avLst/>
                      </a:prstGeom>
                      <a:noFill/>
                      <a:ln>
                        <a:noFill/>
                      </a:ln>
                      <a:effectLst/>
                    </p:spPr>
                  </p:pic>
                </p:oleObj>
              </mc:Fallback>
            </mc:AlternateContent>
          </a:graphicData>
        </a:graphic>
      </p:graphicFrame>
      <p:graphicFrame>
        <p:nvGraphicFramePr>
          <p:cNvPr id="14341" name="Object 4"/>
          <p:cNvGraphicFramePr>
            <a:graphicFrameLocks noChangeAspect="1"/>
          </p:cNvGraphicFramePr>
          <p:nvPr/>
        </p:nvGraphicFramePr>
        <p:xfrm>
          <a:off x="8382000" y="1939926"/>
          <a:ext cx="1938338" cy="955675"/>
        </p:xfrm>
        <a:graphic>
          <a:graphicData uri="http://schemas.openxmlformats.org/presentationml/2006/ole">
            <mc:AlternateContent xmlns:mc="http://schemas.openxmlformats.org/markup-compatibility/2006">
              <mc:Choice xmlns:v="urn:schemas-microsoft-com:vml" Requires="v">
                <p:oleObj name="Equation" r:id="rId6" imgW="850531" imgH="418918" progId="Equation.3">
                  <p:embed/>
                </p:oleObj>
              </mc:Choice>
              <mc:Fallback>
                <p:oleObj name="Equation" r:id="rId6" imgW="850531" imgH="418918" progId="Equation.3">
                  <p:embed/>
                  <p:pic>
                    <p:nvPicPr>
                      <p:cNvPr id="14341"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0" y="1939926"/>
                        <a:ext cx="1938338"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4342" name="Object 5"/>
              <p:cNvSpPr txBox="1">
                <a:spLocks noGrp="1"/>
              </p:cNvSpPr>
              <p:nvPr>
                <p:ph sz="half" idx="4294967295"/>
              </p:nvPr>
            </p:nvSpPr>
            <p:spPr bwMode="auto">
              <a:xfrm>
                <a:off x="3505200" y="4527550"/>
                <a:ext cx="4724400" cy="577850"/>
              </a:xfrm>
              <a:prstGeom prst="rect">
                <a:avLst/>
              </a:prstGeom>
              <a:noFill/>
              <a:ln>
                <a:noFill/>
              </a:ln>
              <a:effectLst/>
            </p:spPr>
            <p:txBody>
              <a:bodyPr>
                <a:normAutofit fontScale="92500"/>
              </a:bodyPr>
              <a:lstStyle/>
              <a:p>
                <a:pPr>
                  <a:buNone/>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𝑖</m:t>
                          </m:r>
                        </m:sub>
                      </m:sSub>
                      <m:r>
                        <a:rPr lang="en-US" sz="2400" i="1">
                          <a:solidFill>
                            <a:srgbClr val="000000"/>
                          </a:solidFill>
                          <a:latin typeface="Cambria Math" panose="02040503050406030204" pitchFamily="18" charset="0"/>
                        </a:rPr>
                        <m:t>(</m:t>
                      </m:r>
                      <m:r>
                        <m:rPr>
                          <m:sty m:val="p"/>
                        </m:rPr>
                        <a:rPr lang="en-US" sz="2400" i="1">
                          <a:solidFill>
                            <a:srgbClr val="000000"/>
                          </a:solidFill>
                          <a:latin typeface="Cambria Math" panose="02040503050406030204" pitchFamily="18" charset="0"/>
                        </a:rPr>
                        <m:t>w</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m:rPr>
                              <m:sty m:val="p"/>
                            </m:rPr>
                            <a:rPr lang="en-US" sz="2400" i="1">
                              <a:solidFill>
                                <a:srgbClr val="000000"/>
                              </a:solidFill>
                              <a:latin typeface="Cambria Math" panose="02040503050406030204" pitchFamily="18" charset="0"/>
                            </a:rPr>
                            <m:t>x</m:t>
                          </m:r>
                        </m:e>
                        <m:sub>
                          <m:r>
                            <a:rPr lang="en-US" sz="2400" i="1">
                              <a:solidFill>
                                <a:srgbClr val="000000"/>
                              </a:solidFill>
                              <a:latin typeface="Cambria Math" panose="02040503050406030204" pitchFamily="18" charset="0"/>
                            </a:rPr>
                            <m:t>𝑖</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𝑏</m:t>
                      </m:r>
                      <m:r>
                        <a:rPr lang="en-US" sz="2400" i="1">
                          <a:solidFill>
                            <a:srgbClr val="000000"/>
                          </a:solidFill>
                          <a:latin typeface="Cambria Math" panose="02040503050406030204" pitchFamily="18" charset="0"/>
                        </a:rPr>
                        <m:t>)≥1,</m:t>
                      </m:r>
                      <m:r>
                        <m:rPr>
                          <m:nor/>
                        </m:rPr>
                        <a:rPr lang="en-US" sz="240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𝑖</m:t>
                      </m:r>
                      <m:r>
                        <a:rPr lang="en-US" sz="2400" i="1">
                          <a:solidFill>
                            <a:srgbClr val="000000"/>
                          </a:solidFill>
                          <a:latin typeface="Cambria Math" panose="02040503050406030204" pitchFamily="18" charset="0"/>
                        </a:rPr>
                        <m:t>=1,2,...,</m:t>
                      </m:r>
                      <m:r>
                        <a:rPr lang="en-US" sz="2400" i="1">
                          <a:solidFill>
                            <a:srgbClr val="000000"/>
                          </a:solidFill>
                          <a:latin typeface="Cambria Math" panose="02040503050406030204" pitchFamily="18" charset="0"/>
                        </a:rPr>
                        <m:t>𝑁</m:t>
                      </m:r>
                    </m:oMath>
                  </m:oMathPara>
                </a14:m>
                <a:endParaRPr lang="en-US" sz="2400" dirty="0"/>
              </a:p>
            </p:txBody>
          </p:sp>
        </mc:Choice>
        <mc:Fallback xmlns="">
          <p:sp>
            <p:nvSpPr>
              <p:cNvPr id="14342" name="Object 5"/>
              <p:cNvSpPr txBox="1">
                <a:spLocks noGrp="1" noRot="1" noChangeAspect="1" noMove="1" noResize="1" noEditPoints="1" noAdjustHandles="1" noChangeArrowheads="1" noChangeShapeType="1" noTextEdit="1"/>
              </p:cNvSpPr>
              <p:nvPr>
                <p:ph sz="half" idx="4294967295"/>
              </p:nvPr>
            </p:nvSpPr>
            <p:spPr bwMode="auto">
              <a:xfrm>
                <a:off x="3505200" y="4527550"/>
                <a:ext cx="4724400" cy="577850"/>
              </a:xfrm>
              <a:prstGeom prst="rect">
                <a:avLst/>
              </a:prstGeom>
              <a:blipFill>
                <a:blip r:embed="rId8"/>
                <a:stretch>
                  <a:fillRect l="-269" t="-2128"/>
                </a:stretch>
              </a:blipFill>
              <a:ln>
                <a:noFill/>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CC359D07-ECA2-7EAD-F61D-F0D08DE19409}"/>
              </a:ext>
            </a:extLst>
          </p:cNvPr>
          <p:cNvSpPr>
            <a:spLocks noGrp="1"/>
          </p:cNvSpPr>
          <p:nvPr>
            <p:ph type="sldNum" sz="quarter" idx="12"/>
          </p:nvPr>
        </p:nvSpPr>
        <p:spPr/>
        <p:txBody>
          <a:bodyPr/>
          <a:lstStyle/>
          <a:p>
            <a:fld id="{C3CACD4E-8C52-004E-9A96-AD0BCBF3CA39}" type="slidenum">
              <a:rPr lang="en-US" smtClean="0"/>
              <a:t>16</a:t>
            </a:fld>
            <a:endParaRPr lang="en-US"/>
          </a:p>
        </p:txBody>
      </p:sp>
    </p:spTree>
    <p:extLst>
      <p:ext uri="{BB962C8B-B14F-4D97-AF65-F5344CB8AC3E}">
        <p14:creationId xmlns:p14="http://schemas.microsoft.com/office/powerpoint/2010/main" val="4282234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p:txBody>
          <a:bodyPr/>
          <a:lstStyle/>
          <a:p>
            <a:r>
              <a:rPr lang="en-US" altLang="en-US" dirty="0"/>
              <a:t>Example of Linear SVM</a:t>
            </a:r>
          </a:p>
        </p:txBody>
      </p:sp>
      <p:graphicFrame>
        <p:nvGraphicFramePr>
          <p:cNvPr id="15362" name="Object 2"/>
          <p:cNvGraphicFramePr>
            <a:graphicFrameLocks noGrp="1" noChangeAspect="1"/>
          </p:cNvGraphicFramePr>
          <p:nvPr>
            <p:ph sz="half" idx="1"/>
          </p:nvPr>
        </p:nvGraphicFramePr>
        <p:xfrm>
          <a:off x="6400800" y="3581401"/>
          <a:ext cx="4038600" cy="2339975"/>
        </p:xfrm>
        <a:graphic>
          <a:graphicData uri="http://schemas.openxmlformats.org/presentationml/2006/ole">
            <mc:AlternateContent xmlns:mc="http://schemas.openxmlformats.org/markup-compatibility/2006">
              <mc:Choice xmlns:v="urn:schemas-microsoft-com:vml" Requires="v">
                <p:oleObj name="Visio" r:id="rId2" imgW="4051300" imgH="2349500" progId="Visio.Drawing.6">
                  <p:embed/>
                </p:oleObj>
              </mc:Choice>
              <mc:Fallback>
                <p:oleObj name="Visio" r:id="rId2" imgW="4051300" imgH="2349500" progId="Visio.Drawing.6">
                  <p:embed/>
                  <p:pic>
                    <p:nvPicPr>
                      <p:cNvPr id="1536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3581401"/>
                        <a:ext cx="4038600" cy="233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3" name="Object 3"/>
          <p:cNvGraphicFramePr>
            <a:graphicFrameLocks noGrp="1" noChangeAspect="1"/>
          </p:cNvGraphicFramePr>
          <p:nvPr>
            <p:ph sz="half" idx="2"/>
            <p:extLst>
              <p:ext uri="{D42A27DB-BD31-4B8C-83A1-F6EECF244321}">
                <p14:modId xmlns:p14="http://schemas.microsoft.com/office/powerpoint/2010/main" val="1378620791"/>
              </p:ext>
            </p:extLst>
          </p:nvPr>
        </p:nvGraphicFramePr>
        <p:xfrm>
          <a:off x="1447800" y="1781969"/>
          <a:ext cx="4648200" cy="3598863"/>
        </p:xfrm>
        <a:graphic>
          <a:graphicData uri="http://schemas.openxmlformats.org/presentationml/2006/ole">
            <mc:AlternateContent xmlns:mc="http://schemas.openxmlformats.org/markup-compatibility/2006">
              <mc:Choice xmlns:v="urn:schemas-microsoft-com:vml" Requires="v">
                <p:oleObj name="Visio" r:id="rId4" imgW="6350000" imgH="4673600" progId="Visio.Drawing.6">
                  <p:embed/>
                </p:oleObj>
              </mc:Choice>
              <mc:Fallback>
                <p:oleObj name="Visio" r:id="rId4" imgW="6350000" imgH="4673600" progId="Visio.Drawing.6">
                  <p:embed/>
                  <p:pic>
                    <p:nvPicPr>
                      <p:cNvPr id="15363" name="Object 3"/>
                      <p:cNvPicPr>
                        <a:picLocks noChangeAspect="1" noChangeArrowheads="1"/>
                      </p:cNvPicPr>
                      <p:nvPr/>
                    </p:nvPicPr>
                    <p:blipFill>
                      <a:blip r:embed="rId5">
                        <a:extLst>
                          <a:ext uri="{28A0092B-C50C-407E-A947-70E740481C1C}">
                            <a14:useLocalDpi xmlns:a14="http://schemas.microsoft.com/office/drawing/2010/main" val="0"/>
                          </a:ext>
                        </a:extLst>
                      </a:blip>
                      <a:srcRect l="2985" t="4062" r="5971"/>
                      <a:stretch>
                        <a:fillRect/>
                      </a:stretch>
                    </p:blipFill>
                    <p:spPr bwMode="auto">
                      <a:xfrm>
                        <a:off x="1447800" y="1781969"/>
                        <a:ext cx="4648200" cy="359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4" name="Oval 11"/>
          <p:cNvSpPr>
            <a:spLocks noChangeArrowheads="1"/>
          </p:cNvSpPr>
          <p:nvPr/>
        </p:nvSpPr>
        <p:spPr bwMode="auto">
          <a:xfrm>
            <a:off x="9448800" y="3886200"/>
            <a:ext cx="1066800" cy="609600"/>
          </a:xfrm>
          <a:prstGeom prst="ellipse">
            <a:avLst/>
          </a:pr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5365" name="Line 12"/>
          <p:cNvSpPr>
            <a:spLocks noChangeShapeType="1"/>
          </p:cNvSpPr>
          <p:nvPr/>
        </p:nvSpPr>
        <p:spPr bwMode="auto">
          <a:xfrm flipH="1" flipV="1">
            <a:off x="9448800" y="2667000"/>
            <a:ext cx="304800" cy="12192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66" name="Text Box 13"/>
          <p:cNvSpPr txBox="1">
            <a:spLocks noChangeArrowheads="1"/>
          </p:cNvSpPr>
          <p:nvPr/>
        </p:nvSpPr>
        <p:spPr bwMode="auto">
          <a:xfrm>
            <a:off x="7848600" y="2286001"/>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2000"/>
              <a:t>Support vectors</a:t>
            </a:r>
          </a:p>
        </p:txBody>
      </p:sp>
      <p:sp>
        <p:nvSpPr>
          <p:cNvPr id="2" name="Slide Number Placeholder 1">
            <a:extLst>
              <a:ext uri="{FF2B5EF4-FFF2-40B4-BE49-F238E27FC236}">
                <a16:creationId xmlns:a16="http://schemas.microsoft.com/office/drawing/2014/main" id="{DFC19D6F-7CB3-B1C0-98E9-6D95AE1158AB}"/>
              </a:ext>
            </a:extLst>
          </p:cNvPr>
          <p:cNvSpPr>
            <a:spLocks noGrp="1"/>
          </p:cNvSpPr>
          <p:nvPr>
            <p:ph type="sldNum" sz="quarter" idx="12"/>
          </p:nvPr>
        </p:nvSpPr>
        <p:spPr/>
        <p:txBody>
          <a:bodyPr/>
          <a:lstStyle/>
          <a:p>
            <a:fld id="{C3CACD4E-8C52-004E-9A96-AD0BCBF3CA39}" type="slidenum">
              <a:rPr lang="en-US" smtClean="0"/>
              <a:t>17</a:t>
            </a:fld>
            <a:endParaRPr lang="en-US"/>
          </a:p>
        </p:txBody>
      </p:sp>
    </p:spTree>
    <p:extLst>
      <p:ext uri="{BB962C8B-B14F-4D97-AF65-F5344CB8AC3E}">
        <p14:creationId xmlns:p14="http://schemas.microsoft.com/office/powerpoint/2010/main" val="709055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p:txBody>
          <a:bodyPr/>
          <a:lstStyle/>
          <a:p>
            <a:r>
              <a:rPr lang="en-US" altLang="en-US"/>
              <a:t>Learning Linear SVM</a:t>
            </a:r>
          </a:p>
        </p:txBody>
      </p:sp>
      <p:sp>
        <p:nvSpPr>
          <p:cNvPr id="16386" name="Rectangle 3"/>
          <p:cNvSpPr>
            <a:spLocks noGrp="1" noChangeArrowheads="1"/>
          </p:cNvSpPr>
          <p:nvPr>
            <p:ph type="body" idx="1"/>
          </p:nvPr>
        </p:nvSpPr>
        <p:spPr/>
        <p:txBody>
          <a:bodyPr/>
          <a:lstStyle/>
          <a:p>
            <a:r>
              <a:rPr lang="en-US" altLang="en-US"/>
              <a:t>Decision boundary depends only on support vectors</a:t>
            </a:r>
          </a:p>
          <a:p>
            <a:pPr lvl="1"/>
            <a:r>
              <a:rPr lang="en-US" altLang="en-US"/>
              <a:t> If you have data set with same support vectors, decision boundary will not change</a:t>
            </a:r>
          </a:p>
          <a:p>
            <a:pPr lvl="2"/>
            <a:endParaRPr lang="en-US" altLang="en-US"/>
          </a:p>
          <a:p>
            <a:pPr lvl="1"/>
            <a:r>
              <a:rPr lang="en-US" altLang="en-US"/>
              <a:t>How to classify using SVM once </a:t>
            </a:r>
            <a:r>
              <a:rPr lang="en-US" altLang="en-US" b="1"/>
              <a:t>w</a:t>
            </a:r>
            <a:r>
              <a:rPr lang="en-US" altLang="en-US"/>
              <a:t> and </a:t>
            </a:r>
            <a:r>
              <a:rPr lang="en-US" altLang="en-US" i="1"/>
              <a:t>b</a:t>
            </a:r>
            <a:r>
              <a:rPr lang="en-US" altLang="en-US"/>
              <a:t> are found? Given a test record, x</a:t>
            </a:r>
            <a:r>
              <a:rPr lang="en-US" altLang="en-US" baseline="-25000"/>
              <a:t>i</a:t>
            </a:r>
          </a:p>
        </p:txBody>
      </p:sp>
      <p:graphicFrame>
        <p:nvGraphicFramePr>
          <p:cNvPr id="16387" name="Object 2"/>
          <p:cNvGraphicFramePr>
            <a:graphicFrameLocks noGrp="1" noChangeAspect="1"/>
          </p:cNvGraphicFramePr>
          <p:nvPr>
            <p:ph sz="half" idx="4294967295"/>
          </p:nvPr>
        </p:nvGraphicFramePr>
        <p:xfrm>
          <a:off x="3657600" y="4724401"/>
          <a:ext cx="4191000" cy="1033463"/>
        </p:xfrm>
        <a:graphic>
          <a:graphicData uri="http://schemas.openxmlformats.org/presentationml/2006/ole">
            <mc:AlternateContent xmlns:mc="http://schemas.openxmlformats.org/markup-compatibility/2006">
              <mc:Choice xmlns:v="urn:schemas-microsoft-com:vml" Requires="v">
                <p:oleObj name="Equation" r:id="rId2" imgW="1955800" imgH="482600" progId="Equation.3">
                  <p:embed/>
                </p:oleObj>
              </mc:Choice>
              <mc:Fallback>
                <p:oleObj name="Equation" r:id="rId2" imgW="1955800" imgH="482600" progId="Equation.3">
                  <p:embed/>
                  <p:pic>
                    <p:nvPicPr>
                      <p:cNvPr id="1638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4724401"/>
                        <a:ext cx="4191000"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F950DA10-07E1-EA38-74EA-FADD52A3879B}"/>
              </a:ext>
            </a:extLst>
          </p:cNvPr>
          <p:cNvSpPr>
            <a:spLocks noGrp="1"/>
          </p:cNvSpPr>
          <p:nvPr>
            <p:ph type="sldNum" sz="quarter" idx="12"/>
          </p:nvPr>
        </p:nvSpPr>
        <p:spPr/>
        <p:txBody>
          <a:bodyPr/>
          <a:lstStyle/>
          <a:p>
            <a:fld id="{C3CACD4E-8C52-004E-9A96-AD0BCBF3CA39}" type="slidenum">
              <a:rPr lang="en-US" smtClean="0"/>
              <a:t>18</a:t>
            </a:fld>
            <a:endParaRPr lang="en-US"/>
          </a:p>
        </p:txBody>
      </p:sp>
    </p:spTree>
    <p:extLst>
      <p:ext uri="{BB962C8B-B14F-4D97-AF65-F5344CB8AC3E}">
        <p14:creationId xmlns:p14="http://schemas.microsoft.com/office/powerpoint/2010/main" val="3139404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altLang="en-US"/>
              <a:t>Support Vector Machines</a:t>
            </a:r>
          </a:p>
        </p:txBody>
      </p:sp>
      <p:sp>
        <p:nvSpPr>
          <p:cNvPr id="17410" name="Rectangle 3"/>
          <p:cNvSpPr>
            <a:spLocks noGrp="1" noChangeArrowheads="1"/>
          </p:cNvSpPr>
          <p:nvPr>
            <p:ph type="body" idx="1"/>
          </p:nvPr>
        </p:nvSpPr>
        <p:spPr/>
        <p:txBody>
          <a:bodyPr/>
          <a:lstStyle/>
          <a:p>
            <a:r>
              <a:rPr lang="en-US" altLang="en-US"/>
              <a:t>What if the problem is not linearly separable?</a:t>
            </a:r>
          </a:p>
        </p:txBody>
      </p:sp>
      <p:graphicFrame>
        <p:nvGraphicFramePr>
          <p:cNvPr id="17411" name="Object 2"/>
          <p:cNvGraphicFramePr>
            <a:graphicFrameLocks noGrp="1" noChangeAspect="1"/>
          </p:cNvGraphicFramePr>
          <p:nvPr>
            <p:ph sz="half" idx="4294967295"/>
            <p:extLst>
              <p:ext uri="{D42A27DB-BD31-4B8C-83A1-F6EECF244321}">
                <p14:modId xmlns:p14="http://schemas.microsoft.com/office/powerpoint/2010/main" val="260622830"/>
              </p:ext>
            </p:extLst>
          </p:nvPr>
        </p:nvGraphicFramePr>
        <p:xfrm>
          <a:off x="3657600" y="2263775"/>
          <a:ext cx="4724400" cy="4457700"/>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17411"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2263775"/>
                        <a:ext cx="4724400"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4"/>
          <p:cNvGrpSpPr>
            <a:grpSpLocks/>
          </p:cNvGrpSpPr>
          <p:nvPr/>
        </p:nvGrpSpPr>
        <p:grpSpPr bwMode="auto">
          <a:xfrm>
            <a:off x="4038600" y="2590800"/>
            <a:ext cx="4038600" cy="3124200"/>
            <a:chOff x="1584" y="1632"/>
            <a:chExt cx="2544" cy="1968"/>
          </a:xfrm>
        </p:grpSpPr>
        <p:sp>
          <p:nvSpPr>
            <p:cNvPr id="17413" name="Oval 8"/>
            <p:cNvSpPr>
              <a:spLocks noChangeArrowheads="1"/>
            </p:cNvSpPr>
            <p:nvPr/>
          </p:nvSpPr>
          <p:spPr bwMode="auto">
            <a:xfrm>
              <a:off x="1584" y="1632"/>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4" name="Oval 9"/>
            <p:cNvSpPr>
              <a:spLocks noChangeArrowheads="1"/>
            </p:cNvSpPr>
            <p:nvPr/>
          </p:nvSpPr>
          <p:spPr bwMode="auto">
            <a:xfrm>
              <a:off x="2304" y="2208"/>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5" name="Oval 10"/>
            <p:cNvSpPr>
              <a:spLocks noChangeArrowheads="1"/>
            </p:cNvSpPr>
            <p:nvPr/>
          </p:nvSpPr>
          <p:spPr bwMode="auto">
            <a:xfrm>
              <a:off x="2208" y="1680"/>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6" name="Oval 11"/>
            <p:cNvSpPr>
              <a:spLocks noChangeArrowheads="1"/>
            </p:cNvSpPr>
            <p:nvPr/>
          </p:nvSpPr>
          <p:spPr bwMode="auto">
            <a:xfrm>
              <a:off x="2832" y="3264"/>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7" name="Oval 12"/>
            <p:cNvSpPr>
              <a:spLocks noChangeArrowheads="1"/>
            </p:cNvSpPr>
            <p:nvPr/>
          </p:nvSpPr>
          <p:spPr bwMode="auto">
            <a:xfrm>
              <a:off x="3312" y="2400"/>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8" name="Oval 13"/>
            <p:cNvSpPr>
              <a:spLocks noChangeArrowheads="1"/>
            </p:cNvSpPr>
            <p:nvPr/>
          </p:nvSpPr>
          <p:spPr bwMode="auto">
            <a:xfrm>
              <a:off x="3792" y="2736"/>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grpSp>
      <p:sp>
        <p:nvSpPr>
          <p:cNvPr id="3" name="Slide Number Placeholder 2">
            <a:extLst>
              <a:ext uri="{FF2B5EF4-FFF2-40B4-BE49-F238E27FC236}">
                <a16:creationId xmlns:a16="http://schemas.microsoft.com/office/drawing/2014/main" id="{9FDEB6E3-A088-CF46-38AA-EE4A4C2DCF55}"/>
              </a:ext>
            </a:extLst>
          </p:cNvPr>
          <p:cNvSpPr>
            <a:spLocks noGrp="1"/>
          </p:cNvSpPr>
          <p:nvPr>
            <p:ph type="sldNum" sz="quarter" idx="12"/>
          </p:nvPr>
        </p:nvSpPr>
        <p:spPr/>
        <p:txBody>
          <a:bodyPr/>
          <a:lstStyle/>
          <a:p>
            <a:fld id="{C3CACD4E-8C52-004E-9A96-AD0BCBF3CA39}" type="slidenum">
              <a:rPr lang="en-US" smtClean="0"/>
              <a:t>19</a:t>
            </a:fld>
            <a:endParaRPr lang="en-US"/>
          </a:p>
        </p:txBody>
      </p:sp>
    </p:spTree>
    <p:extLst>
      <p:ext uri="{BB962C8B-B14F-4D97-AF65-F5344CB8AC3E}">
        <p14:creationId xmlns:p14="http://schemas.microsoft.com/office/powerpoint/2010/main" val="37199482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r>
              <a:rPr lang="en-US" altLang="en-US"/>
              <a:t>Support Vector Machines</a:t>
            </a:r>
          </a:p>
        </p:txBody>
      </p:sp>
      <p:sp>
        <p:nvSpPr>
          <p:cNvPr id="18434" name="Rectangle 3"/>
          <p:cNvSpPr>
            <a:spLocks noGrp="1" noChangeArrowheads="1"/>
          </p:cNvSpPr>
          <p:nvPr>
            <p:ph type="body" idx="1"/>
          </p:nvPr>
        </p:nvSpPr>
        <p:spPr/>
        <p:txBody>
          <a:bodyPr/>
          <a:lstStyle/>
          <a:p>
            <a:pPr>
              <a:lnSpc>
                <a:spcPct val="90000"/>
              </a:lnSpc>
            </a:pPr>
            <a:r>
              <a:rPr lang="en-US" altLang="en-US" dirty="0"/>
              <a:t>What if the problem is not linearly separable?</a:t>
            </a:r>
          </a:p>
          <a:p>
            <a:pPr lvl="1">
              <a:lnSpc>
                <a:spcPct val="90000"/>
              </a:lnSpc>
            </a:pPr>
            <a:r>
              <a:rPr lang="en-US" altLang="en-US" dirty="0"/>
              <a:t>Introduce slack variables</a:t>
            </a:r>
          </a:p>
          <a:p>
            <a:pPr lvl="2">
              <a:lnSpc>
                <a:spcPct val="90000"/>
              </a:lnSpc>
            </a:pPr>
            <a:r>
              <a:rPr lang="en-US" altLang="en-US" dirty="0"/>
              <a:t> Need to minimize:</a:t>
            </a:r>
          </a:p>
          <a:p>
            <a:pPr lvl="2">
              <a:lnSpc>
                <a:spcPct val="90000"/>
              </a:lnSpc>
            </a:pPr>
            <a:endParaRPr lang="en-US" altLang="en-US" dirty="0"/>
          </a:p>
          <a:p>
            <a:pPr lvl="2">
              <a:lnSpc>
                <a:spcPct val="90000"/>
              </a:lnSpc>
            </a:pPr>
            <a:r>
              <a:rPr lang="en-US" altLang="en-US" dirty="0"/>
              <a:t> Subject to: </a:t>
            </a:r>
          </a:p>
          <a:p>
            <a:pPr lvl="2">
              <a:lnSpc>
                <a:spcPct val="90000"/>
              </a:lnSpc>
            </a:pPr>
            <a:endParaRPr lang="en-US" altLang="en-US" dirty="0"/>
          </a:p>
          <a:p>
            <a:pPr lvl="2">
              <a:lnSpc>
                <a:spcPct val="90000"/>
              </a:lnSpc>
            </a:pPr>
            <a:endParaRPr lang="en-US" altLang="en-US" dirty="0"/>
          </a:p>
          <a:p>
            <a:pPr lvl="2">
              <a:lnSpc>
                <a:spcPct val="90000"/>
              </a:lnSpc>
            </a:pPr>
            <a:endParaRPr lang="en-US" altLang="en-US" dirty="0"/>
          </a:p>
          <a:p>
            <a:pPr lvl="2">
              <a:lnSpc>
                <a:spcPct val="90000"/>
              </a:lnSpc>
            </a:pPr>
            <a:endParaRPr lang="en-US" altLang="en-US" dirty="0"/>
          </a:p>
          <a:p>
            <a:pPr lvl="2">
              <a:lnSpc>
                <a:spcPct val="90000"/>
              </a:lnSpc>
            </a:pPr>
            <a:r>
              <a:rPr lang="en-US" altLang="en-US" dirty="0"/>
              <a:t> If k is 1 or 2, this leads to similar objective function as linear SVM but with different constraints (see textbook)</a:t>
            </a:r>
          </a:p>
        </p:txBody>
      </p:sp>
      <p:graphicFrame>
        <p:nvGraphicFramePr>
          <p:cNvPr id="18435" name="Object 2"/>
          <p:cNvGraphicFramePr>
            <a:graphicFrameLocks noChangeAspect="1"/>
          </p:cNvGraphicFramePr>
          <p:nvPr/>
        </p:nvGraphicFramePr>
        <p:xfrm>
          <a:off x="3886201" y="3657600"/>
          <a:ext cx="5114925" cy="1085850"/>
        </p:xfrm>
        <a:graphic>
          <a:graphicData uri="http://schemas.openxmlformats.org/presentationml/2006/ole">
            <mc:AlternateContent xmlns:mc="http://schemas.openxmlformats.org/markup-compatibility/2006">
              <mc:Choice xmlns:v="urn:schemas-microsoft-com:vml" Requires="v">
                <p:oleObj name="Equation" r:id="rId2" imgW="1993900" imgH="482600" progId="Equation.3">
                  <p:embed/>
                </p:oleObj>
              </mc:Choice>
              <mc:Fallback>
                <p:oleObj name="Equation" r:id="rId2" imgW="1993900" imgH="482600" progId="Equation.3">
                  <p:embed/>
                  <p:pic>
                    <p:nvPicPr>
                      <p:cNvPr id="1843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1" y="3657600"/>
                        <a:ext cx="5114925"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436" name="Object 3"/>
          <p:cNvGraphicFramePr>
            <a:graphicFrameLocks noChangeAspect="1"/>
          </p:cNvGraphicFramePr>
          <p:nvPr/>
        </p:nvGraphicFramePr>
        <p:xfrm>
          <a:off x="6172200" y="2133600"/>
          <a:ext cx="3587750" cy="1042988"/>
        </p:xfrm>
        <a:graphic>
          <a:graphicData uri="http://schemas.openxmlformats.org/presentationml/2006/ole">
            <mc:AlternateContent xmlns:mc="http://schemas.openxmlformats.org/markup-compatibility/2006">
              <mc:Choice xmlns:v="urn:schemas-microsoft-com:vml" Requires="v">
                <p:oleObj name="Equation" r:id="rId4" imgW="1574800" imgH="457200" progId="Equation.3">
                  <p:embed/>
                </p:oleObj>
              </mc:Choice>
              <mc:Fallback>
                <p:oleObj name="Equation" r:id="rId4" imgW="1574800" imgH="457200" progId="Equation.3">
                  <p:embed/>
                  <p:pic>
                    <p:nvPicPr>
                      <p:cNvPr id="1843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2133600"/>
                        <a:ext cx="3587750"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437" name="Oval 6"/>
          <p:cNvSpPr>
            <a:spLocks noChangeArrowheads="1"/>
          </p:cNvSpPr>
          <p:nvPr/>
        </p:nvSpPr>
        <p:spPr bwMode="auto">
          <a:xfrm>
            <a:off x="7924800" y="3657600"/>
            <a:ext cx="1143000" cy="5334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8438" name="Oval 7"/>
          <p:cNvSpPr>
            <a:spLocks noChangeArrowheads="1"/>
          </p:cNvSpPr>
          <p:nvPr/>
        </p:nvSpPr>
        <p:spPr bwMode="auto">
          <a:xfrm>
            <a:off x="7848600" y="4191000"/>
            <a:ext cx="1295400" cy="5334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2" name="Slide Number Placeholder 1">
            <a:extLst>
              <a:ext uri="{FF2B5EF4-FFF2-40B4-BE49-F238E27FC236}">
                <a16:creationId xmlns:a16="http://schemas.microsoft.com/office/drawing/2014/main" id="{A8739C1C-BA2F-945A-983C-FD2B7B14B8D8}"/>
              </a:ext>
            </a:extLst>
          </p:cNvPr>
          <p:cNvSpPr>
            <a:spLocks noGrp="1"/>
          </p:cNvSpPr>
          <p:nvPr>
            <p:ph type="sldNum" sz="quarter" idx="12"/>
          </p:nvPr>
        </p:nvSpPr>
        <p:spPr/>
        <p:txBody>
          <a:bodyPr/>
          <a:lstStyle/>
          <a:p>
            <a:fld id="{C3CACD4E-8C52-004E-9A96-AD0BCBF3CA39}" type="slidenum">
              <a:rPr lang="en-US" smtClean="0"/>
              <a:t>20</a:t>
            </a:fld>
            <a:endParaRPr lang="en-US"/>
          </a:p>
        </p:txBody>
      </p:sp>
    </p:spTree>
    <p:extLst>
      <p:ext uri="{BB962C8B-B14F-4D97-AF65-F5344CB8AC3E}">
        <p14:creationId xmlns:p14="http://schemas.microsoft.com/office/powerpoint/2010/main" val="2243925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p:txBody>
          <a:bodyPr/>
          <a:lstStyle/>
          <a:p>
            <a:r>
              <a:rPr lang="en-US" altLang="en-US"/>
              <a:t>Support Vector Machines</a:t>
            </a:r>
          </a:p>
        </p:txBody>
      </p:sp>
      <p:sp>
        <p:nvSpPr>
          <p:cNvPr id="19458" name="Rectangle 3"/>
          <p:cNvSpPr>
            <a:spLocks noGrp="1" noChangeArrowheads="1"/>
          </p:cNvSpPr>
          <p:nvPr>
            <p:ph type="body" sz="half" idx="4294967295"/>
          </p:nvPr>
        </p:nvSpPr>
        <p:spPr>
          <a:xfrm>
            <a:off x="1905000" y="5943600"/>
            <a:ext cx="8534400" cy="381000"/>
          </a:xfrm>
        </p:spPr>
        <p:txBody>
          <a:bodyPr/>
          <a:lstStyle/>
          <a:p>
            <a:pPr>
              <a:lnSpc>
                <a:spcPct val="90000"/>
              </a:lnSpc>
            </a:pPr>
            <a:r>
              <a:rPr lang="en-US" altLang="en-US" sz="2000"/>
              <a:t>Find the hyperplane that optimizes both factors</a:t>
            </a:r>
          </a:p>
        </p:txBody>
      </p:sp>
      <p:graphicFrame>
        <p:nvGraphicFramePr>
          <p:cNvPr id="19459" name="Object 2"/>
          <p:cNvGraphicFramePr>
            <a:graphicFrameLocks noGrp="1" noChangeAspect="1"/>
          </p:cNvGraphicFramePr>
          <p:nvPr>
            <p:ph sz="half" idx="4294967295"/>
          </p:nvPr>
        </p:nvGraphicFramePr>
        <p:xfrm>
          <a:off x="3886200" y="119538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1945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Oval 2"/>
          <p:cNvSpPr>
            <a:spLocks noChangeArrowheads="1"/>
          </p:cNvSpPr>
          <p:nvPr/>
        </p:nvSpPr>
        <p:spPr bwMode="auto">
          <a:xfrm>
            <a:off x="4572000" y="2971800"/>
            <a:ext cx="152400" cy="152400"/>
          </a:xfrm>
          <a:prstGeom prst="ellipse">
            <a:avLst/>
          </a:prstGeom>
          <a:solidFill>
            <a:schemeClr val="bg1"/>
          </a:solidFill>
          <a:ln w="12700">
            <a:solidFill>
              <a:srgbClr val="C00000"/>
            </a:solidFill>
            <a:round/>
            <a:headEnd/>
            <a:tailEnd/>
          </a:ln>
        </p:spPr>
        <p:txBody>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4" name="Rectangle 3"/>
          <p:cNvSpPr>
            <a:spLocks noChangeArrowheads="1"/>
          </p:cNvSpPr>
          <p:nvPr/>
        </p:nvSpPr>
        <p:spPr bwMode="auto">
          <a:xfrm>
            <a:off x="7874000" y="3784600"/>
            <a:ext cx="152400" cy="152400"/>
          </a:xfrm>
          <a:prstGeom prst="rect">
            <a:avLst/>
          </a:prstGeom>
          <a:solidFill>
            <a:srgbClr val="006600"/>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2" name="Slide Number Placeholder 1">
            <a:extLst>
              <a:ext uri="{FF2B5EF4-FFF2-40B4-BE49-F238E27FC236}">
                <a16:creationId xmlns:a16="http://schemas.microsoft.com/office/drawing/2014/main" id="{ED088110-C4BF-091C-68B8-5F451FB7BBFE}"/>
              </a:ext>
            </a:extLst>
          </p:cNvPr>
          <p:cNvSpPr>
            <a:spLocks noGrp="1"/>
          </p:cNvSpPr>
          <p:nvPr>
            <p:ph type="sldNum" sz="quarter" idx="12"/>
          </p:nvPr>
        </p:nvSpPr>
        <p:spPr/>
        <p:txBody>
          <a:bodyPr/>
          <a:lstStyle/>
          <a:p>
            <a:fld id="{C3CACD4E-8C52-004E-9A96-AD0BCBF3CA39}" type="slidenum">
              <a:rPr lang="en-US" smtClean="0"/>
              <a:t>21</a:t>
            </a:fld>
            <a:endParaRPr lang="en-US"/>
          </a:p>
        </p:txBody>
      </p:sp>
    </p:spTree>
    <p:extLst>
      <p:ext uri="{BB962C8B-B14F-4D97-AF65-F5344CB8AC3E}">
        <p14:creationId xmlns:p14="http://schemas.microsoft.com/office/powerpoint/2010/main" val="31824720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p:txBody>
          <a:bodyPr/>
          <a:lstStyle/>
          <a:p>
            <a:r>
              <a:rPr lang="en-US" altLang="en-US"/>
              <a:t>Nonlinear Support Vector Machines</a:t>
            </a:r>
          </a:p>
        </p:txBody>
      </p:sp>
      <p:sp>
        <p:nvSpPr>
          <p:cNvPr id="20482" name="Rectangle 5"/>
          <p:cNvSpPr>
            <a:spLocks noGrp="1" noChangeArrowheads="1"/>
          </p:cNvSpPr>
          <p:nvPr>
            <p:ph type="body" idx="1"/>
          </p:nvPr>
        </p:nvSpPr>
        <p:spPr/>
        <p:txBody>
          <a:bodyPr/>
          <a:lstStyle/>
          <a:p>
            <a:r>
              <a:rPr lang="en-US" altLang="en-US"/>
              <a:t>What if decision boundary is not linear?</a:t>
            </a:r>
          </a:p>
        </p:txBody>
      </p:sp>
      <p:pic>
        <p:nvPicPr>
          <p:cNvPr id="20483" name="Picture 10"/>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t="4103" r="6154"/>
          <a:stretch>
            <a:fillRect/>
          </a:stretch>
        </p:blipFill>
        <p:spPr>
          <a:xfrm>
            <a:off x="3657600" y="1828800"/>
            <a:ext cx="4648200" cy="3562350"/>
          </a:xfrm>
          <a:noFill/>
        </p:spPr>
      </p:pic>
      <p:pic>
        <p:nvPicPr>
          <p:cNvPr id="20484" name="Picture 13"/>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3276600" y="5397500"/>
            <a:ext cx="5676900" cy="1003300"/>
          </a:xfrm>
          <a:noFill/>
        </p:spPr>
      </p:pic>
      <p:sp>
        <p:nvSpPr>
          <p:cNvPr id="2" name="Slide Number Placeholder 1">
            <a:extLst>
              <a:ext uri="{FF2B5EF4-FFF2-40B4-BE49-F238E27FC236}">
                <a16:creationId xmlns:a16="http://schemas.microsoft.com/office/drawing/2014/main" id="{DCA1C01E-4318-111A-F572-D01CD905DC06}"/>
              </a:ext>
            </a:extLst>
          </p:cNvPr>
          <p:cNvSpPr>
            <a:spLocks noGrp="1"/>
          </p:cNvSpPr>
          <p:nvPr>
            <p:ph type="sldNum" sz="quarter" idx="12"/>
          </p:nvPr>
        </p:nvSpPr>
        <p:spPr/>
        <p:txBody>
          <a:bodyPr/>
          <a:lstStyle/>
          <a:p>
            <a:fld id="{C3CACD4E-8C52-004E-9A96-AD0BCBF3CA39}" type="slidenum">
              <a:rPr lang="en-US" smtClean="0"/>
              <a:t>22</a:t>
            </a:fld>
            <a:endParaRPr lang="en-US"/>
          </a:p>
        </p:txBody>
      </p:sp>
    </p:spTree>
    <p:extLst>
      <p:ext uri="{BB962C8B-B14F-4D97-AF65-F5344CB8AC3E}">
        <p14:creationId xmlns:p14="http://schemas.microsoft.com/office/powerpoint/2010/main" val="619902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altLang="en-US"/>
              <a:t>Nonlinear Support Vector Machines</a:t>
            </a:r>
          </a:p>
        </p:txBody>
      </p:sp>
      <p:sp>
        <p:nvSpPr>
          <p:cNvPr id="21506" name="Rectangle 3"/>
          <p:cNvSpPr>
            <a:spLocks noGrp="1" noChangeArrowheads="1"/>
          </p:cNvSpPr>
          <p:nvPr>
            <p:ph type="body" idx="1"/>
          </p:nvPr>
        </p:nvSpPr>
        <p:spPr/>
        <p:txBody>
          <a:bodyPr/>
          <a:lstStyle/>
          <a:p>
            <a:r>
              <a:rPr lang="en-US" altLang="en-US"/>
              <a:t>Transform </a:t>
            </a:r>
            <a:r>
              <a:rPr lang="en-US" altLang="en-US" dirty="0"/>
              <a:t>data into higher dimensional space</a:t>
            </a:r>
          </a:p>
        </p:txBody>
      </p:sp>
      <p:pic>
        <p:nvPicPr>
          <p:cNvPr id="21507" name="Picture 10"/>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6324600" y="3402014"/>
            <a:ext cx="4114800" cy="498475"/>
          </a:xfrm>
          <a:noFill/>
        </p:spPr>
      </p:pic>
      <p:pic>
        <p:nvPicPr>
          <p:cNvPr id="21508" name="Picture 6"/>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r="5882"/>
          <a:stretch>
            <a:fillRect/>
          </a:stretch>
        </p:blipFill>
        <p:spPr>
          <a:xfrm>
            <a:off x="1257300" y="2433638"/>
            <a:ext cx="4876800" cy="3886200"/>
          </a:xfrm>
          <a:noFill/>
        </p:spPr>
      </p:pic>
      <p:pic>
        <p:nvPicPr>
          <p:cNvPr id="21509" name="Picture 8"/>
          <p:cNvPicPr>
            <a:picLocks noGrp="1" noChangeAspect="1" noChangeArrowheads="1"/>
          </p:cNvPicPr>
          <p:nvPr>
            <p:ph sz="half" idx="4294967295"/>
          </p:nvPr>
        </p:nvPicPr>
        <p:blipFill>
          <a:blip r:embed="rId4">
            <a:extLst>
              <a:ext uri="{28A0092B-C50C-407E-A947-70E740481C1C}">
                <a14:useLocalDpi xmlns:a14="http://schemas.microsoft.com/office/drawing/2010/main" val="0"/>
              </a:ext>
            </a:extLst>
          </a:blip>
          <a:srcRect/>
          <a:stretch>
            <a:fillRect/>
          </a:stretch>
        </p:blipFill>
        <p:spPr>
          <a:xfrm>
            <a:off x="6324600" y="2514601"/>
            <a:ext cx="3429000" cy="627063"/>
          </a:xfrm>
          <a:noFill/>
        </p:spPr>
      </p:pic>
      <p:pic>
        <p:nvPicPr>
          <p:cNvPr id="21510" name="Picture 12"/>
          <p:cNvPicPr>
            <a:picLocks noGrp="1" noChangeAspect="1" noChangeArrowheads="1"/>
          </p:cNvPicPr>
          <p:nvPr>
            <p:ph sz="quarter" idx="4294967295"/>
          </p:nvPr>
        </p:nvPicPr>
        <p:blipFill>
          <a:blip r:embed="rId5">
            <a:extLst>
              <a:ext uri="{28A0092B-C50C-407E-A947-70E740481C1C}">
                <a14:useLocalDpi xmlns:a14="http://schemas.microsoft.com/office/drawing/2010/main" val="0"/>
              </a:ext>
            </a:extLst>
          </a:blip>
          <a:srcRect/>
          <a:stretch>
            <a:fillRect/>
          </a:stretch>
        </p:blipFill>
        <p:spPr>
          <a:xfrm>
            <a:off x="6324600" y="4114801"/>
            <a:ext cx="4343400" cy="523875"/>
          </a:xfrm>
          <a:noFill/>
        </p:spPr>
      </p:pic>
      <p:graphicFrame>
        <p:nvGraphicFramePr>
          <p:cNvPr id="21511" name="Object 2"/>
          <p:cNvGraphicFramePr>
            <a:graphicFrameLocks noGrp="1" noChangeAspect="1"/>
          </p:cNvGraphicFramePr>
          <p:nvPr>
            <p:ph sz="half" idx="4294967295"/>
          </p:nvPr>
        </p:nvGraphicFramePr>
        <p:xfrm>
          <a:off x="7010400" y="5508626"/>
          <a:ext cx="2971800" cy="587375"/>
        </p:xfrm>
        <a:graphic>
          <a:graphicData uri="http://schemas.openxmlformats.org/presentationml/2006/ole">
            <mc:AlternateContent xmlns:mc="http://schemas.openxmlformats.org/markup-compatibility/2006">
              <mc:Choice xmlns:v="urn:schemas-microsoft-com:vml" Requires="v">
                <p:oleObj name="Equation" r:id="rId6" imgW="1028254" imgH="203112" progId="Equation.3">
                  <p:embed/>
                </p:oleObj>
              </mc:Choice>
              <mc:Fallback>
                <p:oleObj name="Equation" r:id="rId6" imgW="1028254" imgH="203112" progId="Equation.3">
                  <p:embed/>
                  <p:pic>
                    <p:nvPicPr>
                      <p:cNvPr id="21511"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10400" y="5508626"/>
                        <a:ext cx="29718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2" name="Text Box 16"/>
          <p:cNvSpPr txBox="1">
            <a:spLocks noChangeArrowheads="1"/>
          </p:cNvSpPr>
          <p:nvPr/>
        </p:nvSpPr>
        <p:spPr bwMode="auto">
          <a:xfrm>
            <a:off x="6553200" y="4953001"/>
            <a:ext cx="304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2000"/>
              <a:t>Decision boundary:</a:t>
            </a:r>
          </a:p>
        </p:txBody>
      </p:sp>
      <p:sp>
        <p:nvSpPr>
          <p:cNvPr id="2" name="Slide Number Placeholder 1">
            <a:extLst>
              <a:ext uri="{FF2B5EF4-FFF2-40B4-BE49-F238E27FC236}">
                <a16:creationId xmlns:a16="http://schemas.microsoft.com/office/drawing/2014/main" id="{D00F9402-236A-031E-2A08-ECD5A019066E}"/>
              </a:ext>
            </a:extLst>
          </p:cNvPr>
          <p:cNvSpPr>
            <a:spLocks noGrp="1"/>
          </p:cNvSpPr>
          <p:nvPr>
            <p:ph type="sldNum" sz="quarter" idx="12"/>
          </p:nvPr>
        </p:nvSpPr>
        <p:spPr/>
        <p:txBody>
          <a:bodyPr/>
          <a:lstStyle/>
          <a:p>
            <a:fld id="{C3CACD4E-8C52-004E-9A96-AD0BCBF3CA39}" type="slidenum">
              <a:rPr lang="en-US" smtClean="0"/>
              <a:t>23</a:t>
            </a:fld>
            <a:endParaRPr lang="en-US"/>
          </a:p>
        </p:txBody>
      </p:sp>
    </p:spTree>
    <p:extLst>
      <p:ext uri="{BB962C8B-B14F-4D97-AF65-F5344CB8AC3E}">
        <p14:creationId xmlns:p14="http://schemas.microsoft.com/office/powerpoint/2010/main" val="180548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lstStyle/>
          <a:p>
            <a:r>
              <a:rPr lang="en-US" altLang="en-US"/>
              <a:t>Learning Nonlinear SVM</a:t>
            </a:r>
          </a:p>
        </p:txBody>
      </p:sp>
      <p:sp>
        <p:nvSpPr>
          <p:cNvPr id="22530" name="Rectangle 3"/>
          <p:cNvSpPr>
            <a:spLocks noGrp="1" noChangeArrowheads="1"/>
          </p:cNvSpPr>
          <p:nvPr>
            <p:ph type="body" idx="1"/>
          </p:nvPr>
        </p:nvSpPr>
        <p:spPr/>
        <p:txBody>
          <a:bodyPr/>
          <a:lstStyle/>
          <a:p>
            <a:r>
              <a:rPr lang="en-US" altLang="en-US"/>
              <a:t>Optimization problem:</a:t>
            </a:r>
          </a:p>
          <a:p>
            <a:endParaRPr lang="en-US" altLang="en-US"/>
          </a:p>
          <a:p>
            <a:endParaRPr lang="en-US" altLang="en-US"/>
          </a:p>
          <a:p>
            <a:r>
              <a:rPr lang="en-US" altLang="en-US"/>
              <a:t>Which leads to the same set of equations (but involve </a:t>
            </a:r>
            <a:r>
              <a:rPr lang="en-US" altLang="en-US">
                <a:sym typeface="Symbol" panose="05050102010706020507" pitchFamily="18" charset="2"/>
              </a:rPr>
              <a:t>(x) instead of x)</a:t>
            </a:r>
          </a:p>
        </p:txBody>
      </p:sp>
      <p:pic>
        <p:nvPicPr>
          <p:cNvPr id="22531" name="Picture 6"/>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l="3448" r="6897"/>
          <a:stretch>
            <a:fillRect/>
          </a:stretch>
        </p:blipFill>
        <p:spPr>
          <a:xfrm>
            <a:off x="1828800" y="3962400"/>
            <a:ext cx="4191000" cy="933450"/>
          </a:xfrm>
          <a:noFill/>
        </p:spPr>
      </p:pic>
      <p:pic>
        <p:nvPicPr>
          <p:cNvPr id="22532" name="Picture 4"/>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b="15195"/>
          <a:stretch>
            <a:fillRect/>
          </a:stretch>
        </p:blipFill>
        <p:spPr>
          <a:xfrm>
            <a:off x="3429000" y="1600200"/>
            <a:ext cx="4953000" cy="1143000"/>
          </a:xfrm>
          <a:noFill/>
        </p:spPr>
      </p:pic>
      <p:pic>
        <p:nvPicPr>
          <p:cNvPr id="22533" name="Picture 8"/>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l="7018" b="11021"/>
          <a:stretch>
            <a:fillRect/>
          </a:stretch>
        </p:blipFill>
        <p:spPr>
          <a:xfrm>
            <a:off x="6324600" y="4014789"/>
            <a:ext cx="4114800" cy="1254125"/>
          </a:xfrm>
          <a:noFill/>
        </p:spPr>
      </p:pic>
      <p:pic>
        <p:nvPicPr>
          <p:cNvPr id="22534" name="Picture 10"/>
          <p:cNvPicPr>
            <a:picLocks noChangeAspect="1" noChangeArrowheads="1"/>
          </p:cNvPicPr>
          <p:nvPr/>
        </p:nvPicPr>
        <p:blipFill>
          <a:blip r:embed="rId5">
            <a:extLst>
              <a:ext uri="{28A0092B-C50C-407E-A947-70E740481C1C}">
                <a14:useLocalDpi xmlns:a14="http://schemas.microsoft.com/office/drawing/2010/main" val="0"/>
              </a:ext>
            </a:extLst>
          </a:blip>
          <a:srcRect l="2802" r="3355"/>
          <a:stretch>
            <a:fillRect/>
          </a:stretch>
        </p:blipFill>
        <p:spPr bwMode="auto">
          <a:xfrm>
            <a:off x="2057400" y="5518151"/>
            <a:ext cx="60198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79B7C237-4716-37C2-CBB2-E4828CB47D37}"/>
              </a:ext>
            </a:extLst>
          </p:cNvPr>
          <p:cNvSpPr>
            <a:spLocks noGrp="1"/>
          </p:cNvSpPr>
          <p:nvPr>
            <p:ph type="sldNum" sz="quarter" idx="12"/>
          </p:nvPr>
        </p:nvSpPr>
        <p:spPr/>
        <p:txBody>
          <a:bodyPr/>
          <a:lstStyle/>
          <a:p>
            <a:fld id="{C3CACD4E-8C52-004E-9A96-AD0BCBF3CA39}" type="slidenum">
              <a:rPr lang="en-US" smtClean="0"/>
              <a:t>24</a:t>
            </a:fld>
            <a:endParaRPr lang="en-US"/>
          </a:p>
        </p:txBody>
      </p:sp>
    </p:spTree>
    <p:extLst>
      <p:ext uri="{BB962C8B-B14F-4D97-AF65-F5344CB8AC3E}">
        <p14:creationId xmlns:p14="http://schemas.microsoft.com/office/powerpoint/2010/main" val="656051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r>
              <a:rPr lang="en-US" altLang="en-US"/>
              <a:t>Learning NonLinear SVM</a:t>
            </a:r>
          </a:p>
        </p:txBody>
      </p:sp>
      <p:sp>
        <p:nvSpPr>
          <p:cNvPr id="23554" name="Rectangle 3"/>
          <p:cNvSpPr>
            <a:spLocks noGrp="1" noChangeArrowheads="1"/>
          </p:cNvSpPr>
          <p:nvPr>
            <p:ph type="body" idx="1"/>
          </p:nvPr>
        </p:nvSpPr>
        <p:spPr/>
        <p:txBody>
          <a:bodyPr/>
          <a:lstStyle/>
          <a:p>
            <a:r>
              <a:rPr lang="en-US" altLang="en-US"/>
              <a:t>Issues:</a:t>
            </a:r>
          </a:p>
          <a:p>
            <a:pPr lvl="1"/>
            <a:r>
              <a:rPr lang="en-US" altLang="en-US"/>
              <a:t>What type of mapping function </a:t>
            </a:r>
            <a:r>
              <a:rPr lang="en-US" altLang="en-US">
                <a:sym typeface="Symbol" panose="05050102010706020507" pitchFamily="18" charset="2"/>
              </a:rPr>
              <a:t> should be used?</a:t>
            </a:r>
          </a:p>
          <a:p>
            <a:pPr lvl="1"/>
            <a:r>
              <a:rPr lang="en-US" altLang="en-US">
                <a:sym typeface="Symbol" panose="05050102010706020507" pitchFamily="18" charset="2"/>
              </a:rPr>
              <a:t>How to do the computation in high dimensional space?</a:t>
            </a:r>
          </a:p>
          <a:p>
            <a:pPr lvl="2"/>
            <a:r>
              <a:rPr lang="en-US" altLang="en-US">
                <a:sym typeface="Symbol" panose="05050102010706020507" pitchFamily="18" charset="2"/>
              </a:rPr>
              <a:t> Most computations involve dot product (x</a:t>
            </a:r>
            <a:r>
              <a:rPr lang="en-US" altLang="en-US" baseline="-25000">
                <a:sym typeface="Symbol" panose="05050102010706020507" pitchFamily="18" charset="2"/>
              </a:rPr>
              <a:t>i</a:t>
            </a:r>
            <a:r>
              <a:rPr lang="en-US" altLang="en-US">
                <a:sym typeface="Symbol" panose="05050102010706020507" pitchFamily="18" charset="2"/>
              </a:rPr>
              <a:t>) (x</a:t>
            </a:r>
            <a:r>
              <a:rPr lang="en-US" altLang="en-US" baseline="-25000">
                <a:sym typeface="Symbol" panose="05050102010706020507" pitchFamily="18" charset="2"/>
              </a:rPr>
              <a:t>j</a:t>
            </a:r>
            <a:r>
              <a:rPr lang="en-US" altLang="en-US">
                <a:sym typeface="Symbol" panose="05050102010706020507" pitchFamily="18" charset="2"/>
              </a:rPr>
              <a:t>) </a:t>
            </a:r>
          </a:p>
          <a:p>
            <a:pPr lvl="2"/>
            <a:r>
              <a:rPr lang="en-US" altLang="en-US">
                <a:sym typeface="Symbol" panose="05050102010706020507" pitchFamily="18" charset="2"/>
              </a:rPr>
              <a:t> Curse of dimensionality?</a:t>
            </a:r>
          </a:p>
        </p:txBody>
      </p:sp>
      <p:sp>
        <p:nvSpPr>
          <p:cNvPr id="2" name="Slide Number Placeholder 1">
            <a:extLst>
              <a:ext uri="{FF2B5EF4-FFF2-40B4-BE49-F238E27FC236}">
                <a16:creationId xmlns:a16="http://schemas.microsoft.com/office/drawing/2014/main" id="{92367781-590B-86CA-0FCF-BFFDD7AFBC21}"/>
              </a:ext>
            </a:extLst>
          </p:cNvPr>
          <p:cNvSpPr>
            <a:spLocks noGrp="1"/>
          </p:cNvSpPr>
          <p:nvPr>
            <p:ph type="sldNum" sz="quarter" idx="12"/>
          </p:nvPr>
        </p:nvSpPr>
        <p:spPr/>
        <p:txBody>
          <a:bodyPr/>
          <a:lstStyle/>
          <a:p>
            <a:fld id="{C3CACD4E-8C52-004E-9A96-AD0BCBF3CA39}" type="slidenum">
              <a:rPr lang="en-US" smtClean="0"/>
              <a:t>25</a:t>
            </a:fld>
            <a:endParaRPr lang="en-US"/>
          </a:p>
        </p:txBody>
      </p:sp>
    </p:spTree>
    <p:extLst>
      <p:ext uri="{BB962C8B-B14F-4D97-AF65-F5344CB8AC3E}">
        <p14:creationId xmlns:p14="http://schemas.microsoft.com/office/powerpoint/2010/main" val="2406698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lstStyle/>
          <a:p>
            <a:r>
              <a:rPr lang="en-US" altLang="en-US"/>
              <a:t>Learning Nonlinear SVM</a:t>
            </a:r>
          </a:p>
        </p:txBody>
      </p:sp>
      <p:sp>
        <p:nvSpPr>
          <p:cNvPr id="24578" name="Rectangle 3"/>
          <p:cNvSpPr>
            <a:spLocks noGrp="1" noChangeArrowheads="1"/>
          </p:cNvSpPr>
          <p:nvPr>
            <p:ph type="body" idx="1"/>
          </p:nvPr>
        </p:nvSpPr>
        <p:spPr/>
        <p:txBody>
          <a:bodyPr/>
          <a:lstStyle/>
          <a:p>
            <a:r>
              <a:rPr lang="en-US" altLang="en-US"/>
              <a:t>Kernel Trick:</a:t>
            </a:r>
          </a:p>
          <a:p>
            <a:pPr lvl="1">
              <a:spcAft>
                <a:spcPts val="1000"/>
              </a:spcAft>
            </a:pPr>
            <a:r>
              <a:rPr lang="en-US" altLang="en-US">
                <a:sym typeface="Symbol" panose="05050102010706020507" pitchFamily="18" charset="2"/>
              </a:rPr>
              <a:t>(x</a:t>
            </a:r>
            <a:r>
              <a:rPr lang="en-US" altLang="en-US" baseline="-25000">
                <a:sym typeface="Symbol" panose="05050102010706020507" pitchFamily="18" charset="2"/>
              </a:rPr>
              <a:t>i</a:t>
            </a:r>
            <a:r>
              <a:rPr lang="en-US" altLang="en-US">
                <a:sym typeface="Symbol" panose="05050102010706020507" pitchFamily="18" charset="2"/>
              </a:rPr>
              <a:t>) (x</a:t>
            </a:r>
            <a:r>
              <a:rPr lang="en-US" altLang="en-US" baseline="-25000">
                <a:sym typeface="Symbol" panose="05050102010706020507" pitchFamily="18" charset="2"/>
              </a:rPr>
              <a:t>j</a:t>
            </a:r>
            <a:r>
              <a:rPr lang="en-US" altLang="en-US">
                <a:sym typeface="Symbol" panose="05050102010706020507" pitchFamily="18" charset="2"/>
              </a:rPr>
              <a:t>) = </a:t>
            </a:r>
            <a:r>
              <a:rPr lang="en-US" altLang="en-US"/>
              <a:t>K(</a:t>
            </a:r>
            <a:r>
              <a:rPr lang="en-US" altLang="en-US">
                <a:sym typeface="Symbol" panose="05050102010706020507" pitchFamily="18" charset="2"/>
              </a:rPr>
              <a:t>x</a:t>
            </a:r>
            <a:r>
              <a:rPr lang="en-US" altLang="en-US" baseline="-25000">
                <a:sym typeface="Symbol" panose="05050102010706020507" pitchFamily="18" charset="2"/>
              </a:rPr>
              <a:t>i</a:t>
            </a:r>
            <a:r>
              <a:rPr lang="en-US" altLang="en-US"/>
              <a:t>, </a:t>
            </a:r>
            <a:r>
              <a:rPr lang="en-US" altLang="en-US">
                <a:sym typeface="Symbol" panose="05050102010706020507" pitchFamily="18" charset="2"/>
              </a:rPr>
              <a:t>x</a:t>
            </a:r>
            <a:r>
              <a:rPr lang="en-US" altLang="en-US" baseline="-25000">
                <a:sym typeface="Symbol" panose="05050102010706020507" pitchFamily="18" charset="2"/>
              </a:rPr>
              <a:t>j</a:t>
            </a:r>
            <a:r>
              <a:rPr lang="en-US" altLang="en-US"/>
              <a:t>) </a:t>
            </a:r>
            <a:endParaRPr lang="en-US" altLang="en-US">
              <a:sym typeface="Symbol" panose="05050102010706020507" pitchFamily="18" charset="2"/>
            </a:endParaRPr>
          </a:p>
          <a:p>
            <a:pPr lvl="1">
              <a:spcAft>
                <a:spcPts val="1000"/>
              </a:spcAft>
            </a:pPr>
            <a:r>
              <a:rPr lang="en-US" altLang="en-US"/>
              <a:t>K(</a:t>
            </a:r>
            <a:r>
              <a:rPr lang="en-US" altLang="en-US">
                <a:sym typeface="Symbol" panose="05050102010706020507" pitchFamily="18" charset="2"/>
              </a:rPr>
              <a:t>x</a:t>
            </a:r>
            <a:r>
              <a:rPr lang="en-US" altLang="en-US" baseline="-25000">
                <a:sym typeface="Symbol" panose="05050102010706020507" pitchFamily="18" charset="2"/>
              </a:rPr>
              <a:t>i</a:t>
            </a:r>
            <a:r>
              <a:rPr lang="en-US" altLang="en-US"/>
              <a:t>, </a:t>
            </a:r>
            <a:r>
              <a:rPr lang="en-US" altLang="en-US">
                <a:sym typeface="Symbol" panose="05050102010706020507" pitchFamily="18" charset="2"/>
              </a:rPr>
              <a:t>x</a:t>
            </a:r>
            <a:r>
              <a:rPr lang="en-US" altLang="en-US" baseline="-25000">
                <a:sym typeface="Symbol" panose="05050102010706020507" pitchFamily="18" charset="2"/>
              </a:rPr>
              <a:t>j</a:t>
            </a:r>
            <a:r>
              <a:rPr lang="en-US" altLang="en-US"/>
              <a:t>) is a kernel function (expressed in terms of the coordinates in the original space)</a:t>
            </a:r>
          </a:p>
          <a:p>
            <a:pPr lvl="2">
              <a:spcAft>
                <a:spcPts val="1000"/>
              </a:spcAft>
            </a:pPr>
            <a:r>
              <a:rPr lang="en-US" altLang="en-US"/>
              <a:t> Examples:</a:t>
            </a:r>
          </a:p>
        </p:txBody>
      </p:sp>
      <p:pic>
        <p:nvPicPr>
          <p:cNvPr id="24579" name="Picture 4"/>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4343400" y="3810000"/>
            <a:ext cx="4038600" cy="1657350"/>
          </a:xfrm>
          <a:noFill/>
        </p:spPr>
      </p:pic>
      <p:sp>
        <p:nvSpPr>
          <p:cNvPr id="2" name="Slide Number Placeholder 1">
            <a:extLst>
              <a:ext uri="{FF2B5EF4-FFF2-40B4-BE49-F238E27FC236}">
                <a16:creationId xmlns:a16="http://schemas.microsoft.com/office/drawing/2014/main" id="{8B70A538-E659-5078-E18F-0FC7DF766BB2}"/>
              </a:ext>
            </a:extLst>
          </p:cNvPr>
          <p:cNvSpPr>
            <a:spLocks noGrp="1"/>
          </p:cNvSpPr>
          <p:nvPr>
            <p:ph type="sldNum" sz="quarter" idx="12"/>
          </p:nvPr>
        </p:nvSpPr>
        <p:spPr/>
        <p:txBody>
          <a:bodyPr/>
          <a:lstStyle/>
          <a:p>
            <a:fld id="{C3CACD4E-8C52-004E-9A96-AD0BCBF3CA39}" type="slidenum">
              <a:rPr lang="en-US" smtClean="0"/>
              <a:t>26</a:t>
            </a:fld>
            <a:endParaRPr lang="en-US"/>
          </a:p>
        </p:txBody>
      </p:sp>
    </p:spTree>
    <p:extLst>
      <p:ext uri="{BB962C8B-B14F-4D97-AF65-F5344CB8AC3E}">
        <p14:creationId xmlns:p14="http://schemas.microsoft.com/office/powerpoint/2010/main" val="271604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en-US" altLang="en-US"/>
              <a:t>Example of Nonlinear SVM</a:t>
            </a:r>
          </a:p>
        </p:txBody>
      </p:sp>
      <p:pic>
        <p:nvPicPr>
          <p:cNvPr id="25602" name="Picture 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05000" y="1676401"/>
            <a:ext cx="5638800" cy="4227513"/>
          </a:xfrm>
          <a:noFill/>
        </p:spPr>
      </p:pic>
      <p:sp>
        <p:nvSpPr>
          <p:cNvPr id="25603" name="Text Box 12"/>
          <p:cNvSpPr txBox="1">
            <a:spLocks noChangeArrowheads="1"/>
          </p:cNvSpPr>
          <p:nvPr/>
        </p:nvSpPr>
        <p:spPr bwMode="auto">
          <a:xfrm>
            <a:off x="7772400" y="3048000"/>
            <a:ext cx="2667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1800"/>
              <a:t>SVM with polynomial degree 2 kernel</a:t>
            </a:r>
          </a:p>
        </p:txBody>
      </p:sp>
      <p:sp>
        <p:nvSpPr>
          <p:cNvPr id="2" name="Slide Number Placeholder 1">
            <a:extLst>
              <a:ext uri="{FF2B5EF4-FFF2-40B4-BE49-F238E27FC236}">
                <a16:creationId xmlns:a16="http://schemas.microsoft.com/office/drawing/2014/main" id="{7E2ACA92-7D95-DE24-8A45-F3812397A259}"/>
              </a:ext>
            </a:extLst>
          </p:cNvPr>
          <p:cNvSpPr>
            <a:spLocks noGrp="1"/>
          </p:cNvSpPr>
          <p:nvPr>
            <p:ph type="sldNum" sz="quarter" idx="12"/>
          </p:nvPr>
        </p:nvSpPr>
        <p:spPr/>
        <p:txBody>
          <a:bodyPr/>
          <a:lstStyle/>
          <a:p>
            <a:fld id="{C3CACD4E-8C52-004E-9A96-AD0BCBF3CA39}" type="slidenum">
              <a:rPr lang="en-US" smtClean="0"/>
              <a:t>27</a:t>
            </a:fld>
            <a:endParaRPr lang="en-US"/>
          </a:p>
        </p:txBody>
      </p:sp>
    </p:spTree>
    <p:extLst>
      <p:ext uri="{BB962C8B-B14F-4D97-AF65-F5344CB8AC3E}">
        <p14:creationId xmlns:p14="http://schemas.microsoft.com/office/powerpoint/2010/main" val="2533860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lstStyle/>
          <a:p>
            <a:r>
              <a:rPr lang="en-US" altLang="en-US"/>
              <a:t>Learning Nonlinear SVM</a:t>
            </a:r>
          </a:p>
        </p:txBody>
      </p:sp>
      <p:sp>
        <p:nvSpPr>
          <p:cNvPr id="26626" name="Rectangle 3"/>
          <p:cNvSpPr>
            <a:spLocks noGrp="1" noChangeArrowheads="1"/>
          </p:cNvSpPr>
          <p:nvPr>
            <p:ph type="body" idx="1"/>
          </p:nvPr>
        </p:nvSpPr>
        <p:spPr/>
        <p:txBody>
          <a:bodyPr/>
          <a:lstStyle/>
          <a:p>
            <a:r>
              <a:rPr lang="en-US" altLang="en-US"/>
              <a:t>Advantages of using kernel:</a:t>
            </a:r>
          </a:p>
          <a:p>
            <a:pPr lvl="1"/>
            <a:r>
              <a:rPr lang="en-US" altLang="en-US"/>
              <a:t>Don’t have to know the mapping function </a:t>
            </a:r>
            <a:r>
              <a:rPr lang="en-US" altLang="en-US">
                <a:sym typeface="Symbol" panose="05050102010706020507" pitchFamily="18" charset="2"/>
              </a:rPr>
              <a:t></a:t>
            </a:r>
          </a:p>
          <a:p>
            <a:pPr lvl="1"/>
            <a:r>
              <a:rPr lang="en-US" altLang="en-US">
                <a:sym typeface="Symbol" panose="05050102010706020507" pitchFamily="18" charset="2"/>
              </a:rPr>
              <a:t>Computing dot product (x</a:t>
            </a:r>
            <a:r>
              <a:rPr lang="en-US" altLang="en-US" baseline="-25000">
                <a:sym typeface="Symbol" panose="05050102010706020507" pitchFamily="18" charset="2"/>
              </a:rPr>
              <a:t>i</a:t>
            </a:r>
            <a:r>
              <a:rPr lang="en-US" altLang="en-US">
                <a:sym typeface="Symbol" panose="05050102010706020507" pitchFamily="18" charset="2"/>
              </a:rPr>
              <a:t>) (x</a:t>
            </a:r>
            <a:r>
              <a:rPr lang="en-US" altLang="en-US" baseline="-25000">
                <a:sym typeface="Symbol" panose="05050102010706020507" pitchFamily="18" charset="2"/>
              </a:rPr>
              <a:t>j</a:t>
            </a:r>
            <a:r>
              <a:rPr lang="en-US" altLang="en-US">
                <a:sym typeface="Symbol" panose="05050102010706020507" pitchFamily="18" charset="2"/>
              </a:rPr>
              <a:t>) in the original space avoids curse of dimensionality</a:t>
            </a:r>
          </a:p>
          <a:p>
            <a:pPr lvl="2"/>
            <a:endParaRPr lang="en-US" altLang="en-US">
              <a:sym typeface="Symbol" panose="05050102010706020507" pitchFamily="18" charset="2"/>
            </a:endParaRPr>
          </a:p>
          <a:p>
            <a:r>
              <a:rPr lang="en-US" altLang="en-US">
                <a:sym typeface="Symbol" panose="05050102010706020507" pitchFamily="18" charset="2"/>
              </a:rPr>
              <a:t>Not all functions can be kernels</a:t>
            </a:r>
          </a:p>
          <a:p>
            <a:pPr lvl="1"/>
            <a:r>
              <a:rPr lang="en-US" altLang="en-US">
                <a:sym typeface="Symbol" panose="05050102010706020507" pitchFamily="18" charset="2"/>
              </a:rPr>
              <a:t>Must make sure there is a corresponding  in some high-dimensional space</a:t>
            </a:r>
          </a:p>
          <a:p>
            <a:pPr lvl="1"/>
            <a:r>
              <a:rPr lang="en-US" altLang="en-US">
                <a:sym typeface="Symbol" panose="05050102010706020507" pitchFamily="18" charset="2"/>
              </a:rPr>
              <a:t>Mercer’s theorem (see textbook)</a:t>
            </a:r>
          </a:p>
        </p:txBody>
      </p:sp>
      <p:sp>
        <p:nvSpPr>
          <p:cNvPr id="2" name="Slide Number Placeholder 1">
            <a:extLst>
              <a:ext uri="{FF2B5EF4-FFF2-40B4-BE49-F238E27FC236}">
                <a16:creationId xmlns:a16="http://schemas.microsoft.com/office/drawing/2014/main" id="{74C6CA13-438A-5C03-143D-C47ED0A22239}"/>
              </a:ext>
            </a:extLst>
          </p:cNvPr>
          <p:cNvSpPr>
            <a:spLocks noGrp="1"/>
          </p:cNvSpPr>
          <p:nvPr>
            <p:ph type="sldNum" sz="quarter" idx="12"/>
          </p:nvPr>
        </p:nvSpPr>
        <p:spPr/>
        <p:txBody>
          <a:bodyPr/>
          <a:lstStyle/>
          <a:p>
            <a:fld id="{C3CACD4E-8C52-004E-9A96-AD0BCBF3CA39}" type="slidenum">
              <a:rPr lang="en-US" smtClean="0"/>
              <a:t>28</a:t>
            </a:fld>
            <a:endParaRPr lang="en-US"/>
          </a:p>
        </p:txBody>
      </p:sp>
    </p:spTree>
    <p:extLst>
      <p:ext uri="{BB962C8B-B14F-4D97-AF65-F5344CB8AC3E}">
        <p14:creationId xmlns:p14="http://schemas.microsoft.com/office/powerpoint/2010/main" val="3460963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lang="en-US" altLang="en-US"/>
              <a:t>Characteristics of SVM</a:t>
            </a:r>
          </a:p>
        </p:txBody>
      </p:sp>
      <p:sp>
        <p:nvSpPr>
          <p:cNvPr id="27650" name="Rectangle 3"/>
          <p:cNvSpPr>
            <a:spLocks noGrp="1" noChangeArrowheads="1"/>
          </p:cNvSpPr>
          <p:nvPr>
            <p:ph type="body" idx="1"/>
          </p:nvPr>
        </p:nvSpPr>
        <p:spPr>
          <a:xfrm>
            <a:off x="659815" y="1311275"/>
            <a:ext cx="9843753" cy="5181600"/>
          </a:xfrm>
        </p:spPr>
        <p:txBody>
          <a:bodyPr>
            <a:normAutofit fontScale="77500" lnSpcReduction="20000"/>
          </a:bodyPr>
          <a:lstStyle/>
          <a:p>
            <a:pPr>
              <a:lnSpc>
                <a:spcPct val="120000"/>
              </a:lnSpc>
              <a:spcAft>
                <a:spcPts val="300"/>
              </a:spcAft>
            </a:pPr>
            <a:r>
              <a:rPr lang="en-US" altLang="en-US" sz="2400" dirty="0"/>
              <a:t>The learning problem is formulated as a convex optimization problem</a:t>
            </a:r>
          </a:p>
          <a:p>
            <a:pPr lvl="1">
              <a:lnSpc>
                <a:spcPct val="120000"/>
              </a:lnSpc>
              <a:spcAft>
                <a:spcPts val="300"/>
              </a:spcAft>
            </a:pPr>
            <a:r>
              <a:rPr lang="en-US" altLang="en-US" dirty="0"/>
              <a:t>Efficient algorithms are available to find the global minima </a:t>
            </a:r>
          </a:p>
          <a:p>
            <a:pPr lvl="1">
              <a:lnSpc>
                <a:spcPct val="120000"/>
              </a:lnSpc>
              <a:spcAft>
                <a:spcPts val="300"/>
              </a:spcAft>
            </a:pPr>
            <a:r>
              <a:rPr lang="en-US" altLang="en-US" dirty="0"/>
              <a:t>Many of the other methods use greedy approaches and find locally optimal solutions</a:t>
            </a:r>
          </a:p>
          <a:p>
            <a:pPr lvl="1">
              <a:lnSpc>
                <a:spcPct val="120000"/>
              </a:lnSpc>
              <a:spcAft>
                <a:spcPts val="300"/>
              </a:spcAft>
            </a:pPr>
            <a:r>
              <a:rPr lang="en-US" altLang="en-US" dirty="0"/>
              <a:t>High computational complexity for building the model</a:t>
            </a:r>
          </a:p>
          <a:p>
            <a:pPr lvl="1">
              <a:lnSpc>
                <a:spcPct val="120000"/>
              </a:lnSpc>
              <a:spcAft>
                <a:spcPts val="300"/>
              </a:spcAft>
            </a:pPr>
            <a:endParaRPr lang="en-US" altLang="en-US" dirty="0"/>
          </a:p>
          <a:p>
            <a:pPr>
              <a:lnSpc>
                <a:spcPct val="120000"/>
              </a:lnSpc>
              <a:spcAft>
                <a:spcPts val="300"/>
              </a:spcAft>
            </a:pPr>
            <a:r>
              <a:rPr lang="en-US" altLang="en-US" sz="2400" dirty="0"/>
              <a:t>Robust to noise</a:t>
            </a:r>
          </a:p>
          <a:p>
            <a:pPr>
              <a:lnSpc>
                <a:spcPct val="120000"/>
              </a:lnSpc>
              <a:spcAft>
                <a:spcPts val="300"/>
              </a:spcAft>
            </a:pPr>
            <a:r>
              <a:rPr lang="en-US" altLang="en-US" sz="2400" dirty="0"/>
              <a:t>Overfitting is handled by maximizing the margin of the decision boundary, </a:t>
            </a:r>
          </a:p>
          <a:p>
            <a:pPr>
              <a:lnSpc>
                <a:spcPct val="120000"/>
              </a:lnSpc>
              <a:spcAft>
                <a:spcPts val="300"/>
              </a:spcAft>
            </a:pPr>
            <a:r>
              <a:rPr lang="en-US" altLang="en-US" sz="2400" dirty="0"/>
              <a:t>SVM can handle irrelevant and redundant attributes better than many other techniques</a:t>
            </a:r>
          </a:p>
          <a:p>
            <a:pPr>
              <a:lnSpc>
                <a:spcPct val="120000"/>
              </a:lnSpc>
              <a:spcAft>
                <a:spcPts val="300"/>
              </a:spcAft>
            </a:pPr>
            <a:r>
              <a:rPr lang="en-US" altLang="en-US" sz="2400" dirty="0"/>
              <a:t>The user needs to provide the type of kernel function and cost function</a:t>
            </a:r>
          </a:p>
          <a:p>
            <a:pPr>
              <a:lnSpc>
                <a:spcPct val="120000"/>
              </a:lnSpc>
              <a:spcAft>
                <a:spcPts val="300"/>
              </a:spcAft>
            </a:pPr>
            <a:r>
              <a:rPr lang="en-US" altLang="en-US" sz="2400" dirty="0"/>
              <a:t>Difficult to handle missing values</a:t>
            </a:r>
          </a:p>
          <a:p>
            <a:pPr>
              <a:lnSpc>
                <a:spcPct val="120000"/>
              </a:lnSpc>
              <a:spcAft>
                <a:spcPts val="300"/>
              </a:spcAft>
            </a:pPr>
            <a:endParaRPr lang="en-US" altLang="en-US" sz="2400" dirty="0"/>
          </a:p>
          <a:p>
            <a:pPr>
              <a:lnSpc>
                <a:spcPct val="120000"/>
              </a:lnSpc>
              <a:spcAft>
                <a:spcPts val="300"/>
              </a:spcAft>
            </a:pPr>
            <a:r>
              <a:rPr lang="en-US" altLang="en-US" sz="2400" dirty="0"/>
              <a:t>What about categorical variables?</a:t>
            </a:r>
          </a:p>
        </p:txBody>
      </p:sp>
      <p:sp>
        <p:nvSpPr>
          <p:cNvPr id="2" name="Slide Number Placeholder 1">
            <a:extLst>
              <a:ext uri="{FF2B5EF4-FFF2-40B4-BE49-F238E27FC236}">
                <a16:creationId xmlns:a16="http://schemas.microsoft.com/office/drawing/2014/main" id="{151B2E88-8E62-6F24-5DA7-7319271C62B5}"/>
              </a:ext>
            </a:extLst>
          </p:cNvPr>
          <p:cNvSpPr>
            <a:spLocks noGrp="1"/>
          </p:cNvSpPr>
          <p:nvPr>
            <p:ph type="sldNum" sz="quarter" idx="12"/>
          </p:nvPr>
        </p:nvSpPr>
        <p:spPr/>
        <p:txBody>
          <a:bodyPr/>
          <a:lstStyle/>
          <a:p>
            <a:fld id="{C3CACD4E-8C52-004E-9A96-AD0BCBF3CA39}" type="slidenum">
              <a:rPr lang="en-US" smtClean="0"/>
              <a:t>29</a:t>
            </a:fld>
            <a:endParaRPr lang="en-US"/>
          </a:p>
        </p:txBody>
      </p:sp>
    </p:spTree>
    <p:extLst>
      <p:ext uri="{BB962C8B-B14F-4D97-AF65-F5344CB8AC3E}">
        <p14:creationId xmlns:p14="http://schemas.microsoft.com/office/powerpoint/2010/main" val="2072819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ChangeArrowheads="1"/>
          </p:cNvSpPr>
          <p:nvPr>
            <p:ph type="title"/>
          </p:nvPr>
        </p:nvSpPr>
        <p:spPr/>
        <p:txBody>
          <a:bodyPr/>
          <a:lstStyle/>
          <a:p>
            <a:r>
              <a:rPr lang="en-US" altLang="en-US"/>
              <a:t>Support Vector Machines</a:t>
            </a:r>
          </a:p>
        </p:txBody>
      </p:sp>
      <p:graphicFrame>
        <p:nvGraphicFramePr>
          <p:cNvPr id="12290" name="Object 2"/>
          <p:cNvGraphicFramePr>
            <a:graphicFrameLocks noGrp="1" noChangeAspect="1"/>
          </p:cNvGraphicFramePr>
          <p:nvPr>
            <p:ph sz="half" idx="4294967295"/>
          </p:nvPr>
        </p:nvGraphicFramePr>
        <p:xfrm>
          <a:off x="3886200" y="119538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1229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1" name="Line 5"/>
          <p:cNvSpPr>
            <a:spLocks noChangeShapeType="1"/>
          </p:cNvSpPr>
          <p:nvPr/>
        </p:nvSpPr>
        <p:spPr bwMode="auto">
          <a:xfrm flipH="1">
            <a:off x="3352800" y="1905000"/>
            <a:ext cx="1219200" cy="762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2" name="Object 3"/>
          <p:cNvGraphicFramePr>
            <a:graphicFrameLocks noGrp="1" noChangeAspect="1"/>
          </p:cNvGraphicFramePr>
          <p:nvPr>
            <p:ph idx="1"/>
          </p:nvPr>
        </p:nvGraphicFramePr>
        <p:xfrm>
          <a:off x="1828800" y="2590800"/>
          <a:ext cx="1435100" cy="319088"/>
        </p:xfrm>
        <a:graphic>
          <a:graphicData uri="http://schemas.openxmlformats.org/presentationml/2006/ole">
            <mc:AlternateContent xmlns:mc="http://schemas.openxmlformats.org/markup-compatibility/2006">
              <mc:Choice xmlns:v="urn:schemas-microsoft-com:vml" Requires="v">
                <p:oleObj name="Equation" r:id="rId4" imgW="799753" imgH="177723" progId="Equation.3">
                  <p:embed/>
                </p:oleObj>
              </mc:Choice>
              <mc:Fallback>
                <p:oleObj name="Equation" r:id="rId4" imgW="799753" imgH="177723" progId="Equation.3">
                  <p:embed/>
                  <p:pic>
                    <p:nvPicPr>
                      <p:cNvPr id="1229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590800"/>
                        <a:ext cx="1435100"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3" name="Line 8"/>
          <p:cNvSpPr>
            <a:spLocks noChangeShapeType="1"/>
          </p:cNvSpPr>
          <p:nvPr/>
        </p:nvSpPr>
        <p:spPr bwMode="auto">
          <a:xfrm flipH="1">
            <a:off x="3352800" y="2438401"/>
            <a:ext cx="1295400" cy="82391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4" name="Object 4"/>
          <p:cNvGraphicFramePr>
            <a:graphicFrameLocks noChangeAspect="1"/>
          </p:cNvGraphicFramePr>
          <p:nvPr/>
        </p:nvGraphicFramePr>
        <p:xfrm>
          <a:off x="1760539" y="3186114"/>
          <a:ext cx="1571625" cy="319087"/>
        </p:xfrm>
        <a:graphic>
          <a:graphicData uri="http://schemas.openxmlformats.org/presentationml/2006/ole">
            <mc:AlternateContent xmlns:mc="http://schemas.openxmlformats.org/markup-compatibility/2006">
              <mc:Choice xmlns:v="urn:schemas-microsoft-com:vml" Requires="v">
                <p:oleObj name="Equation" r:id="rId6" imgW="875920" imgH="177723" progId="Equation.3">
                  <p:embed/>
                </p:oleObj>
              </mc:Choice>
              <mc:Fallback>
                <p:oleObj name="Equation" r:id="rId6" imgW="875920" imgH="177723" progId="Equation.3">
                  <p:embed/>
                  <p:pic>
                    <p:nvPicPr>
                      <p:cNvPr id="12294"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0539" y="3186114"/>
                        <a:ext cx="1571625"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295" name="Line 10"/>
          <p:cNvSpPr>
            <a:spLocks noChangeShapeType="1"/>
          </p:cNvSpPr>
          <p:nvPr/>
        </p:nvSpPr>
        <p:spPr bwMode="auto">
          <a:xfrm flipV="1">
            <a:off x="7848600" y="3505200"/>
            <a:ext cx="1219200" cy="7762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6" name="Object 5"/>
          <p:cNvGraphicFramePr>
            <a:graphicFrameLocks noChangeAspect="1"/>
          </p:cNvGraphicFramePr>
          <p:nvPr/>
        </p:nvGraphicFramePr>
        <p:xfrm>
          <a:off x="8791576" y="3048000"/>
          <a:ext cx="1571625" cy="319088"/>
        </p:xfrm>
        <a:graphic>
          <a:graphicData uri="http://schemas.openxmlformats.org/presentationml/2006/ole">
            <mc:AlternateContent xmlns:mc="http://schemas.openxmlformats.org/markup-compatibility/2006">
              <mc:Choice xmlns:v="urn:schemas-microsoft-com:vml" Requires="v">
                <p:oleObj name="Equation" r:id="rId8" imgW="875920" imgH="177723" progId="Equation.3">
                  <p:embed/>
                </p:oleObj>
              </mc:Choice>
              <mc:Fallback>
                <p:oleObj name="Equation" r:id="rId8" imgW="875920" imgH="177723" progId="Equation.3">
                  <p:embed/>
                  <p:pic>
                    <p:nvPicPr>
                      <p:cNvPr id="12296"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91576" y="3048000"/>
                        <a:ext cx="1571625"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297" name="Object 6"/>
          <p:cNvGraphicFramePr>
            <a:graphicFrameLocks noChangeAspect="1"/>
          </p:cNvGraphicFramePr>
          <p:nvPr/>
        </p:nvGraphicFramePr>
        <p:xfrm>
          <a:off x="1689100" y="5562600"/>
          <a:ext cx="3937000" cy="839788"/>
        </p:xfrm>
        <a:graphic>
          <a:graphicData uri="http://schemas.openxmlformats.org/presentationml/2006/ole">
            <mc:AlternateContent xmlns:mc="http://schemas.openxmlformats.org/markup-compatibility/2006">
              <mc:Choice xmlns:v="urn:schemas-microsoft-com:vml" Requires="v">
                <p:oleObj name="Equation" r:id="rId10" imgW="1879600" imgH="457200" progId="Equation.3">
                  <p:embed/>
                </p:oleObj>
              </mc:Choice>
              <mc:Fallback>
                <p:oleObj name="Equation" r:id="rId10" imgW="1879600" imgH="457200" progId="Equation.3">
                  <p:embed/>
                  <p:pic>
                    <p:nvPicPr>
                      <p:cNvPr id="12297"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89100" y="5562600"/>
                        <a:ext cx="3937000"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298" name="Object 7"/>
          <p:cNvGraphicFramePr>
            <a:graphicFrameLocks noChangeAspect="1"/>
          </p:cNvGraphicFramePr>
          <p:nvPr/>
        </p:nvGraphicFramePr>
        <p:xfrm>
          <a:off x="8631239" y="5575301"/>
          <a:ext cx="1684337" cy="752475"/>
        </p:xfrm>
        <a:graphic>
          <a:graphicData uri="http://schemas.openxmlformats.org/presentationml/2006/ole">
            <mc:AlternateContent xmlns:mc="http://schemas.openxmlformats.org/markup-compatibility/2006">
              <mc:Choice xmlns:v="urn:schemas-microsoft-com:vml" Requires="v">
                <p:oleObj name="Equation" r:id="rId12" imgW="939800" imgH="419100" progId="Equation.3">
                  <p:embed/>
                </p:oleObj>
              </mc:Choice>
              <mc:Fallback>
                <p:oleObj name="Equation" r:id="rId12" imgW="939800" imgH="419100" progId="Equation.3">
                  <p:embed/>
                  <p:pic>
                    <p:nvPicPr>
                      <p:cNvPr id="12298"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31239" y="5575301"/>
                        <a:ext cx="1684337"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7A4EBC67-5902-C1BB-5443-C76BA1D322A3}"/>
              </a:ext>
            </a:extLst>
          </p:cNvPr>
          <p:cNvSpPr>
            <a:spLocks noGrp="1"/>
          </p:cNvSpPr>
          <p:nvPr>
            <p:ph type="sldNum" sz="quarter" idx="12"/>
          </p:nvPr>
        </p:nvSpPr>
        <p:spPr/>
        <p:txBody>
          <a:bodyPr/>
          <a:lstStyle/>
          <a:p>
            <a:fld id="{C3CACD4E-8C52-004E-9A96-AD0BCBF3CA39}" type="slidenum">
              <a:rPr lang="en-US" smtClean="0"/>
              <a:t>30</a:t>
            </a:fld>
            <a:endParaRPr lang="en-US"/>
          </a:p>
        </p:txBody>
      </p:sp>
    </p:spTree>
    <p:extLst>
      <p:ext uri="{BB962C8B-B14F-4D97-AF65-F5344CB8AC3E}">
        <p14:creationId xmlns:p14="http://schemas.microsoft.com/office/powerpoint/2010/main" val="42670474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6C35-3FFF-6542-9955-469C9C8BFC53}"/>
              </a:ext>
            </a:extLst>
          </p:cNvPr>
          <p:cNvSpPr>
            <a:spLocks noGrp="1"/>
          </p:cNvSpPr>
          <p:nvPr>
            <p:ph type="title"/>
          </p:nvPr>
        </p:nvSpPr>
        <p:spPr/>
        <p:txBody>
          <a:bodyPr/>
          <a:lstStyle/>
          <a:p>
            <a:r>
              <a:rPr lang="en-US" dirty="0"/>
              <a:t>Artificial Neural Networks (ANN)</a:t>
            </a:r>
          </a:p>
        </p:txBody>
      </p:sp>
      <p:sp>
        <p:nvSpPr>
          <p:cNvPr id="3" name="Content Placeholder 2">
            <a:extLst>
              <a:ext uri="{FF2B5EF4-FFF2-40B4-BE49-F238E27FC236}">
                <a16:creationId xmlns:a16="http://schemas.microsoft.com/office/drawing/2014/main" id="{5B808FF2-9E7E-144C-B193-A9367500C06F}"/>
              </a:ext>
            </a:extLst>
          </p:cNvPr>
          <p:cNvSpPr>
            <a:spLocks noGrp="1"/>
          </p:cNvSpPr>
          <p:nvPr>
            <p:ph idx="1"/>
          </p:nvPr>
        </p:nvSpPr>
        <p:spPr>
          <a:xfrm>
            <a:off x="654268" y="1445173"/>
            <a:ext cx="11117317" cy="5181600"/>
          </a:xfrm>
        </p:spPr>
        <p:txBody>
          <a:bodyPr/>
          <a:lstStyle/>
          <a:p>
            <a:r>
              <a:rPr lang="en-US" sz="2600" b="1" dirty="0"/>
              <a:t>Basic Idea: </a:t>
            </a:r>
            <a:r>
              <a:rPr lang="en-US" sz="2600" dirty="0"/>
              <a:t>A complex non-linear function can be learned as a composition of simple processing units </a:t>
            </a:r>
          </a:p>
          <a:p>
            <a:endParaRPr lang="en-US" sz="500" dirty="0"/>
          </a:p>
          <a:p>
            <a:r>
              <a:rPr lang="en-US" sz="2600" dirty="0"/>
              <a:t>ANN is a collection of simple processing units (nodes) that are connected by directed links (edges)</a:t>
            </a:r>
          </a:p>
          <a:p>
            <a:pPr lvl="1"/>
            <a:r>
              <a:rPr lang="en-US" sz="2000" dirty="0"/>
              <a:t>Every node receives signals from incoming edges, performs computations, and transmits signals to outgoing edges</a:t>
            </a:r>
          </a:p>
          <a:p>
            <a:pPr lvl="1"/>
            <a:r>
              <a:rPr lang="en-US" sz="2000" dirty="0"/>
              <a:t>Analogous to </a:t>
            </a:r>
            <a:r>
              <a:rPr lang="en-US" sz="2000" i="1" dirty="0"/>
              <a:t>human brain </a:t>
            </a:r>
            <a:r>
              <a:rPr lang="en-US" sz="2000" dirty="0"/>
              <a:t>where nodes are neurons and signals are electrical impulses</a:t>
            </a:r>
          </a:p>
          <a:p>
            <a:pPr lvl="1"/>
            <a:r>
              <a:rPr lang="en-US" sz="2000" dirty="0"/>
              <a:t>Weight of an edge determines the strength of connection between the nodes</a:t>
            </a:r>
          </a:p>
          <a:p>
            <a:pPr lvl="1"/>
            <a:endParaRPr lang="en-US" sz="2000" dirty="0"/>
          </a:p>
          <a:p>
            <a:r>
              <a:rPr lang="en-US" dirty="0"/>
              <a:t>Simplest ANN: </a:t>
            </a:r>
            <a:r>
              <a:rPr lang="en-US" b="1" dirty="0"/>
              <a:t>Perceptron</a:t>
            </a:r>
            <a:r>
              <a:rPr lang="en-US" dirty="0"/>
              <a:t> (single neuron)</a:t>
            </a:r>
          </a:p>
        </p:txBody>
      </p:sp>
      <p:sp>
        <p:nvSpPr>
          <p:cNvPr id="4" name="Slide Number Placeholder 3">
            <a:extLst>
              <a:ext uri="{FF2B5EF4-FFF2-40B4-BE49-F238E27FC236}">
                <a16:creationId xmlns:a16="http://schemas.microsoft.com/office/drawing/2014/main" id="{7EF1ACC4-8D8F-9846-2C0B-5CEA4F1EFB0B}"/>
              </a:ext>
            </a:extLst>
          </p:cNvPr>
          <p:cNvSpPr>
            <a:spLocks noGrp="1"/>
          </p:cNvSpPr>
          <p:nvPr>
            <p:ph type="sldNum" sz="quarter" idx="12"/>
          </p:nvPr>
        </p:nvSpPr>
        <p:spPr/>
        <p:txBody>
          <a:bodyPr/>
          <a:lstStyle/>
          <a:p>
            <a:fld id="{C3CACD4E-8C52-004E-9A96-AD0BCBF3CA39}" type="slidenum">
              <a:rPr lang="en-US" smtClean="0"/>
              <a:t>31</a:t>
            </a:fld>
            <a:endParaRPr lang="en-US"/>
          </a:p>
        </p:txBody>
      </p:sp>
    </p:spTree>
    <p:extLst>
      <p:ext uri="{BB962C8B-B14F-4D97-AF65-F5344CB8AC3E}">
        <p14:creationId xmlns:p14="http://schemas.microsoft.com/office/powerpoint/2010/main" val="3058048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CE334-D1B8-2746-B850-FA5C5F71DE08}"/>
              </a:ext>
            </a:extLst>
          </p:cNvPr>
          <p:cNvSpPr>
            <a:spLocks noGrp="1"/>
          </p:cNvSpPr>
          <p:nvPr>
            <p:ph type="title"/>
          </p:nvPr>
        </p:nvSpPr>
        <p:spPr/>
        <p:txBody>
          <a:bodyPr/>
          <a:lstStyle/>
          <a:p>
            <a:r>
              <a:rPr lang="en-US" dirty="0"/>
              <a:t>Basic Architecture of Perceptron</a:t>
            </a:r>
          </a:p>
        </p:txBody>
      </p:sp>
      <p:pic>
        <p:nvPicPr>
          <p:cNvPr id="4" name="Content Placeholder 3">
            <a:extLst>
              <a:ext uri="{FF2B5EF4-FFF2-40B4-BE49-F238E27FC236}">
                <a16:creationId xmlns:a16="http://schemas.microsoft.com/office/drawing/2014/main" id="{53C9C821-6192-C343-931C-0DDD2A09232D}"/>
              </a:ext>
            </a:extLst>
          </p:cNvPr>
          <p:cNvPicPr>
            <a:picLocks noGrp="1" noChangeAspect="1"/>
          </p:cNvPicPr>
          <p:nvPr>
            <p:ph idx="1"/>
          </p:nvPr>
        </p:nvPicPr>
        <p:blipFill>
          <a:blip r:embed="rId2"/>
          <a:stretch>
            <a:fillRect/>
          </a:stretch>
        </p:blipFill>
        <p:spPr>
          <a:xfrm>
            <a:off x="1933575" y="1726828"/>
            <a:ext cx="3988056" cy="2304210"/>
          </a:xfrm>
          <a:prstGeom prst="rect">
            <a:avLst/>
          </a:prstGeom>
        </p:spPr>
      </p:pic>
      <p:pic>
        <p:nvPicPr>
          <p:cNvPr id="5" name="Picture 4">
            <a:extLst>
              <a:ext uri="{FF2B5EF4-FFF2-40B4-BE49-F238E27FC236}">
                <a16:creationId xmlns:a16="http://schemas.microsoft.com/office/drawing/2014/main" id="{626AFE33-FD87-F34C-AD3B-FBD233C62D5B}"/>
              </a:ext>
            </a:extLst>
          </p:cNvPr>
          <p:cNvPicPr>
            <a:picLocks noChangeAspect="1"/>
          </p:cNvPicPr>
          <p:nvPr/>
        </p:nvPicPr>
        <p:blipFill>
          <a:blip r:embed="rId3"/>
          <a:stretch>
            <a:fillRect/>
          </a:stretch>
        </p:blipFill>
        <p:spPr>
          <a:xfrm>
            <a:off x="6541134" y="1676401"/>
            <a:ext cx="3710940" cy="1002957"/>
          </a:xfrm>
          <a:prstGeom prst="rect">
            <a:avLst/>
          </a:prstGeom>
        </p:spPr>
      </p:pic>
      <p:sp>
        <p:nvSpPr>
          <p:cNvPr id="6" name="Rectangle 3">
            <a:extLst>
              <a:ext uri="{FF2B5EF4-FFF2-40B4-BE49-F238E27FC236}">
                <a16:creationId xmlns:a16="http://schemas.microsoft.com/office/drawing/2014/main" id="{C3B2BD08-5703-F04C-AC67-864E5B2620FB}"/>
              </a:ext>
            </a:extLst>
          </p:cNvPr>
          <p:cNvSpPr txBox="1">
            <a:spLocks noChangeArrowheads="1"/>
          </p:cNvSpPr>
          <p:nvPr/>
        </p:nvSpPr>
        <p:spPr bwMode="auto">
          <a:xfrm>
            <a:off x="1782543" y="4935738"/>
            <a:ext cx="8278177" cy="1877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a:lstStyle>
          <a:p>
            <a:r>
              <a:rPr lang="en-US" altLang="en-US" sz="2400" kern="0" dirty="0"/>
              <a:t>Learns linear decision boundaries</a:t>
            </a:r>
          </a:p>
          <a:p>
            <a:r>
              <a:rPr lang="en-US" altLang="en-US" sz="2400" kern="0" dirty="0"/>
              <a:t>Related to logistic regression (activation function is sign instead of sigmoid)</a:t>
            </a:r>
          </a:p>
          <a:p>
            <a:endParaRPr lang="en-US" altLang="en-US" sz="2400" kern="0" dirty="0"/>
          </a:p>
          <a:p>
            <a:endParaRPr lang="en-US" altLang="en-US" sz="2400" kern="0" dirty="0"/>
          </a:p>
        </p:txBody>
      </p:sp>
      <p:pic>
        <p:nvPicPr>
          <p:cNvPr id="7" name="Picture 6">
            <a:extLst>
              <a:ext uri="{FF2B5EF4-FFF2-40B4-BE49-F238E27FC236}">
                <a16:creationId xmlns:a16="http://schemas.microsoft.com/office/drawing/2014/main" id="{9E2E8AF8-FF95-7E43-A61E-BC675DF1CBB1}"/>
              </a:ext>
            </a:extLst>
          </p:cNvPr>
          <p:cNvPicPr>
            <a:picLocks noChangeAspect="1"/>
          </p:cNvPicPr>
          <p:nvPr/>
        </p:nvPicPr>
        <p:blipFill>
          <a:blip r:embed="rId4"/>
          <a:stretch>
            <a:fillRect/>
          </a:stretch>
        </p:blipFill>
        <p:spPr>
          <a:xfrm>
            <a:off x="7331709" y="3584057"/>
            <a:ext cx="1752600" cy="615778"/>
          </a:xfrm>
          <a:prstGeom prst="rect">
            <a:avLst/>
          </a:prstGeom>
        </p:spPr>
      </p:pic>
      <p:pic>
        <p:nvPicPr>
          <p:cNvPr id="10" name="Picture 9">
            <a:extLst>
              <a:ext uri="{FF2B5EF4-FFF2-40B4-BE49-F238E27FC236}">
                <a16:creationId xmlns:a16="http://schemas.microsoft.com/office/drawing/2014/main" id="{F1CC6BB7-E059-E540-9090-FDFC61528AE9}"/>
              </a:ext>
            </a:extLst>
          </p:cNvPr>
          <p:cNvPicPr>
            <a:picLocks noChangeAspect="1"/>
          </p:cNvPicPr>
          <p:nvPr/>
        </p:nvPicPr>
        <p:blipFill>
          <a:blip r:embed="rId5"/>
          <a:stretch>
            <a:fillRect/>
          </a:stretch>
        </p:blipFill>
        <p:spPr>
          <a:xfrm>
            <a:off x="6541134" y="3119506"/>
            <a:ext cx="1581150" cy="287482"/>
          </a:xfrm>
          <a:prstGeom prst="rect">
            <a:avLst/>
          </a:prstGeom>
        </p:spPr>
      </p:pic>
      <p:pic>
        <p:nvPicPr>
          <p:cNvPr id="11" name="Picture 10">
            <a:extLst>
              <a:ext uri="{FF2B5EF4-FFF2-40B4-BE49-F238E27FC236}">
                <a16:creationId xmlns:a16="http://schemas.microsoft.com/office/drawing/2014/main" id="{CF11DE85-1B48-1244-A458-B6A9D8E09E23}"/>
              </a:ext>
            </a:extLst>
          </p:cNvPr>
          <p:cNvPicPr>
            <a:picLocks noChangeAspect="1"/>
          </p:cNvPicPr>
          <p:nvPr/>
        </p:nvPicPr>
        <p:blipFill>
          <a:blip r:embed="rId6"/>
          <a:stretch>
            <a:fillRect/>
          </a:stretch>
        </p:blipFill>
        <p:spPr>
          <a:xfrm>
            <a:off x="8668571" y="3062857"/>
            <a:ext cx="1418404" cy="440194"/>
          </a:xfrm>
          <a:prstGeom prst="rect">
            <a:avLst/>
          </a:prstGeom>
        </p:spPr>
      </p:pic>
      <p:sp>
        <p:nvSpPr>
          <p:cNvPr id="12" name="TextBox 11">
            <a:extLst>
              <a:ext uri="{FF2B5EF4-FFF2-40B4-BE49-F238E27FC236}">
                <a16:creationId xmlns:a16="http://schemas.microsoft.com/office/drawing/2014/main" id="{96A15FCC-2181-114A-9AFA-B26560915521}"/>
              </a:ext>
            </a:extLst>
          </p:cNvPr>
          <p:cNvSpPr txBox="1"/>
          <p:nvPr/>
        </p:nvSpPr>
        <p:spPr>
          <a:xfrm>
            <a:off x="7038657" y="4434457"/>
            <a:ext cx="2133918" cy="369332"/>
          </a:xfrm>
          <a:prstGeom prst="rect">
            <a:avLst/>
          </a:prstGeom>
          <a:solidFill>
            <a:schemeClr val="accent5"/>
          </a:solidFill>
        </p:spPr>
        <p:txBody>
          <a:bodyPr wrap="none" rtlCol="0">
            <a:spAutoFit/>
          </a:bodyPr>
          <a:lstStyle/>
          <a:p>
            <a:r>
              <a:rPr lang="en-US" dirty="0"/>
              <a:t>Activation Function</a:t>
            </a:r>
          </a:p>
        </p:txBody>
      </p:sp>
      <p:cxnSp>
        <p:nvCxnSpPr>
          <p:cNvPr id="14" name="Straight Arrow Connector 13">
            <a:extLst>
              <a:ext uri="{FF2B5EF4-FFF2-40B4-BE49-F238E27FC236}">
                <a16:creationId xmlns:a16="http://schemas.microsoft.com/office/drawing/2014/main" id="{46F75B0E-AD0B-E64F-B366-055A7B8533F9}"/>
              </a:ext>
            </a:extLst>
          </p:cNvPr>
          <p:cNvCxnSpPr>
            <a:cxnSpLocks/>
          </p:cNvCxnSpPr>
          <p:nvPr/>
        </p:nvCxnSpPr>
        <p:spPr bwMode="auto">
          <a:xfrm flipV="1">
            <a:off x="8105616" y="4031039"/>
            <a:ext cx="0" cy="40341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3" name="Slide Number Placeholder 2">
            <a:extLst>
              <a:ext uri="{FF2B5EF4-FFF2-40B4-BE49-F238E27FC236}">
                <a16:creationId xmlns:a16="http://schemas.microsoft.com/office/drawing/2014/main" id="{78BCAD8D-5A31-6B5D-AEDC-76FA441CC81E}"/>
              </a:ext>
            </a:extLst>
          </p:cNvPr>
          <p:cNvSpPr>
            <a:spLocks noGrp="1"/>
          </p:cNvSpPr>
          <p:nvPr>
            <p:ph type="sldNum" sz="quarter" idx="12"/>
          </p:nvPr>
        </p:nvSpPr>
        <p:spPr/>
        <p:txBody>
          <a:bodyPr/>
          <a:lstStyle/>
          <a:p>
            <a:fld id="{C3CACD4E-8C52-004E-9A96-AD0BCBF3CA39}" type="slidenum">
              <a:rPr lang="en-US" smtClean="0"/>
              <a:t>32</a:t>
            </a:fld>
            <a:endParaRPr lang="en-US"/>
          </a:p>
        </p:txBody>
      </p:sp>
    </p:spTree>
    <p:extLst>
      <p:ext uri="{BB962C8B-B14F-4D97-AF65-F5344CB8AC3E}">
        <p14:creationId xmlns:p14="http://schemas.microsoft.com/office/powerpoint/2010/main" val="2012633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dirty="0"/>
              <a:t>Perceptron Example</a:t>
            </a:r>
          </a:p>
        </p:txBody>
      </p:sp>
      <p:graphicFrame>
        <p:nvGraphicFramePr>
          <p:cNvPr id="3075" name="Object 2"/>
          <p:cNvGraphicFramePr>
            <a:graphicFrameLocks noGrp="1" noChangeAspect="1"/>
          </p:cNvGraphicFramePr>
          <p:nvPr>
            <p:ph idx="1"/>
          </p:nvPr>
        </p:nvGraphicFramePr>
        <p:xfrm>
          <a:off x="2106612" y="1258094"/>
          <a:ext cx="8078788" cy="3503613"/>
        </p:xfrm>
        <a:graphic>
          <a:graphicData uri="http://schemas.openxmlformats.org/presentationml/2006/ole">
            <mc:AlternateContent xmlns:mc="http://schemas.openxmlformats.org/markup-compatibility/2006">
              <mc:Choice xmlns:v="urn:schemas-microsoft-com:vml" Requires="v">
                <p:oleObj name="Visio" r:id="rId2" imgW="8939428" imgH="3877354" progId="Visio.Drawing.6">
                  <p:embed/>
                </p:oleObj>
              </mc:Choice>
              <mc:Fallback>
                <p:oleObj name="Visio" r:id="rId2" imgW="8939428" imgH="3877354" progId="Visio.Drawing.6">
                  <p:embed/>
                  <p:pic>
                    <p:nvPicPr>
                      <p:cNvPr id="307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6612" y="1258094"/>
                        <a:ext cx="8078788"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6" name="Text Box 4"/>
          <p:cNvSpPr txBox="1">
            <a:spLocks noChangeArrowheads="1"/>
          </p:cNvSpPr>
          <p:nvPr/>
        </p:nvSpPr>
        <p:spPr bwMode="auto">
          <a:xfrm>
            <a:off x="2667000" y="5334001"/>
            <a:ext cx="670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Output Y is 1 if at least two of the three inputs are equal to 1.</a:t>
            </a:r>
          </a:p>
        </p:txBody>
      </p:sp>
      <p:sp>
        <p:nvSpPr>
          <p:cNvPr id="2" name="Slide Number Placeholder 1">
            <a:extLst>
              <a:ext uri="{FF2B5EF4-FFF2-40B4-BE49-F238E27FC236}">
                <a16:creationId xmlns:a16="http://schemas.microsoft.com/office/drawing/2014/main" id="{5B8D34CA-3D26-80A9-43B9-BCF43B0C9041}"/>
              </a:ext>
            </a:extLst>
          </p:cNvPr>
          <p:cNvSpPr>
            <a:spLocks noGrp="1"/>
          </p:cNvSpPr>
          <p:nvPr>
            <p:ph type="sldNum" sz="quarter" idx="12"/>
          </p:nvPr>
        </p:nvSpPr>
        <p:spPr/>
        <p:txBody>
          <a:bodyPr/>
          <a:lstStyle/>
          <a:p>
            <a:fld id="{C3CACD4E-8C52-004E-9A96-AD0BCBF3CA39}" type="slidenum">
              <a:rPr lang="en-US" smtClean="0"/>
              <a:t>33</a:t>
            </a:fld>
            <a:endParaRPr lang="en-US"/>
          </a:p>
        </p:txBody>
      </p:sp>
    </p:spTree>
    <p:extLst>
      <p:ext uri="{BB962C8B-B14F-4D97-AF65-F5344CB8AC3E}">
        <p14:creationId xmlns:p14="http://schemas.microsoft.com/office/powerpoint/2010/main" val="2142199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dirty="0"/>
              <a:t>Perceptron Example</a:t>
            </a:r>
          </a:p>
        </p:txBody>
      </p:sp>
      <p:graphicFrame>
        <p:nvGraphicFramePr>
          <p:cNvPr id="4099" name="Object 2"/>
          <p:cNvGraphicFramePr>
            <a:graphicFrameLocks noGrp="1" noChangeAspect="1"/>
          </p:cNvGraphicFramePr>
          <p:nvPr>
            <p:ph idx="1"/>
          </p:nvPr>
        </p:nvGraphicFramePr>
        <p:xfrm>
          <a:off x="2054225" y="1144588"/>
          <a:ext cx="8078788" cy="3503612"/>
        </p:xfrm>
        <a:graphic>
          <a:graphicData uri="http://schemas.openxmlformats.org/presentationml/2006/ole">
            <mc:AlternateContent xmlns:mc="http://schemas.openxmlformats.org/markup-compatibility/2006">
              <mc:Choice xmlns:v="urn:schemas-microsoft-com:vml" Requires="v">
                <p:oleObj name="Visio" r:id="rId2" imgW="8939428" imgH="3877354" progId="Visio.Drawing.6">
                  <p:embed/>
                </p:oleObj>
              </mc:Choice>
              <mc:Fallback>
                <p:oleObj name="Visio" r:id="rId2" imgW="8939428" imgH="3877354" progId="Visio.Drawing.6">
                  <p:embed/>
                  <p:pic>
                    <p:nvPicPr>
                      <p:cNvPr id="409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4225" y="1144588"/>
                        <a:ext cx="8078788" cy="350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 name="Object 3"/>
          <p:cNvGraphicFramePr>
            <a:graphicFrameLocks noChangeAspect="1"/>
          </p:cNvGraphicFramePr>
          <p:nvPr/>
        </p:nvGraphicFramePr>
        <p:xfrm>
          <a:off x="3455988" y="4953001"/>
          <a:ext cx="5346700" cy="1412875"/>
        </p:xfrm>
        <a:graphic>
          <a:graphicData uri="http://schemas.openxmlformats.org/presentationml/2006/ole">
            <mc:AlternateContent xmlns:mc="http://schemas.openxmlformats.org/markup-compatibility/2006">
              <mc:Choice xmlns:v="urn:schemas-microsoft-com:vml" Requires="v">
                <p:oleObj name="Equation" r:id="rId4" imgW="2362200" imgH="711200" progId="Equation.3">
                  <p:embed/>
                </p:oleObj>
              </mc:Choice>
              <mc:Fallback>
                <p:oleObj name="Equation" r:id="rId4" imgW="2362200" imgH="711200" progId="Equation.3">
                  <p:embed/>
                  <p:pic>
                    <p:nvPicPr>
                      <p:cNvPr id="410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5988" y="4953001"/>
                        <a:ext cx="5346700" cy="141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1504B788-1A13-6865-FFD1-9D99A19DC0DC}"/>
              </a:ext>
            </a:extLst>
          </p:cNvPr>
          <p:cNvSpPr>
            <a:spLocks noGrp="1"/>
          </p:cNvSpPr>
          <p:nvPr>
            <p:ph type="sldNum" sz="quarter" idx="12"/>
          </p:nvPr>
        </p:nvSpPr>
        <p:spPr/>
        <p:txBody>
          <a:bodyPr/>
          <a:lstStyle/>
          <a:p>
            <a:fld id="{C3CACD4E-8C52-004E-9A96-AD0BCBF3CA39}" type="slidenum">
              <a:rPr lang="en-US" smtClean="0"/>
              <a:t>34</a:t>
            </a:fld>
            <a:endParaRPr lang="en-US"/>
          </a:p>
        </p:txBody>
      </p:sp>
    </p:spTree>
    <p:extLst>
      <p:ext uri="{BB962C8B-B14F-4D97-AF65-F5344CB8AC3E}">
        <p14:creationId xmlns:p14="http://schemas.microsoft.com/office/powerpoint/2010/main" val="3074296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dirty="0"/>
              <a:t>Perceptron Learning Rule</a:t>
            </a:r>
          </a:p>
        </p:txBody>
      </p:sp>
      <mc:AlternateContent xmlns:mc="http://schemas.openxmlformats.org/markup-compatibility/2006" xmlns:a14="http://schemas.microsoft.com/office/drawing/2010/main">
        <mc:Choice Requires="a14">
          <p:sp>
            <p:nvSpPr>
              <p:cNvPr id="9219" name="Rectangle 3"/>
              <p:cNvSpPr>
                <a:spLocks noGrp="1" noChangeArrowheads="1"/>
              </p:cNvSpPr>
              <p:nvPr>
                <p:ph type="body" idx="1"/>
              </p:nvPr>
            </p:nvSpPr>
            <p:spPr/>
            <p:txBody>
              <a:bodyPr/>
              <a:lstStyle/>
              <a:p>
                <a:r>
                  <a:rPr lang="en-US" altLang="en-US" dirty="0"/>
                  <a:t>Initialize the weights (w</a:t>
                </a:r>
                <a:r>
                  <a:rPr lang="en-US" altLang="en-US" baseline="-25000" dirty="0"/>
                  <a:t>0</a:t>
                </a:r>
                <a:r>
                  <a:rPr lang="en-US" altLang="en-US" dirty="0"/>
                  <a:t>, w</a:t>
                </a:r>
                <a:r>
                  <a:rPr lang="en-US" altLang="en-US" baseline="-25000" dirty="0"/>
                  <a:t>1</a:t>
                </a:r>
                <a:r>
                  <a:rPr lang="en-US" altLang="en-US" dirty="0"/>
                  <a:t>, …, </a:t>
                </a:r>
                <a:r>
                  <a:rPr lang="en-US" altLang="en-US" dirty="0" err="1"/>
                  <a:t>w</a:t>
                </a:r>
                <a:r>
                  <a:rPr lang="en-US" altLang="en-US" baseline="-25000" dirty="0" err="1"/>
                  <a:t>d</a:t>
                </a:r>
                <a:r>
                  <a:rPr lang="en-US" altLang="en-US" dirty="0"/>
                  <a:t>)</a:t>
                </a:r>
              </a:p>
              <a:p>
                <a:r>
                  <a:rPr lang="en-US" altLang="en-US" dirty="0"/>
                  <a:t>Repeat</a:t>
                </a:r>
              </a:p>
              <a:p>
                <a:pPr lvl="1"/>
                <a:r>
                  <a:rPr lang="en-US" altLang="en-US" dirty="0"/>
                  <a:t>For each training example (x</a:t>
                </a:r>
                <a:r>
                  <a:rPr lang="en-US" altLang="en-US" baseline="-25000" dirty="0"/>
                  <a:t>i</a:t>
                </a:r>
                <a:r>
                  <a:rPr lang="en-US" altLang="en-US" dirty="0"/>
                  <a:t>, </a:t>
                </a:r>
                <a:r>
                  <a:rPr lang="en-US" altLang="en-US" dirty="0" err="1"/>
                  <a:t>y</a:t>
                </a:r>
                <a:r>
                  <a:rPr lang="en-US" altLang="en-US" baseline="-25000" dirty="0" err="1"/>
                  <a:t>i</a:t>
                </a:r>
                <a:r>
                  <a:rPr lang="en-US" altLang="en-US" dirty="0"/>
                  <a:t>)</a:t>
                </a:r>
              </a:p>
              <a:p>
                <a:pPr lvl="2"/>
                <a:r>
                  <a:rPr lang="en-US" altLang="en-US" dirty="0"/>
                  <a:t> Compute </a:t>
                </a:r>
                <a14:m>
                  <m:oMath xmlns:m="http://schemas.openxmlformats.org/officeDocument/2006/math">
                    <m:acc>
                      <m:accPr>
                        <m:chr m:val="̂"/>
                        <m:ctrlPr>
                          <a:rPr lang="en-US" altLang="en-US" sz="2800" i="1">
                            <a:latin typeface="Cambria Math" panose="02040503050406030204" pitchFamily="18" charset="0"/>
                          </a:rPr>
                        </m:ctrlPr>
                      </m:accPr>
                      <m:e>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𝑦</m:t>
                            </m:r>
                          </m:e>
                          <m:sub>
                            <m:r>
                              <a:rPr lang="en-US" altLang="en-US" sz="2800" i="1">
                                <a:latin typeface="Cambria Math" panose="02040503050406030204" pitchFamily="18" charset="0"/>
                              </a:rPr>
                              <m:t>𝑖</m:t>
                            </m:r>
                          </m:sub>
                        </m:sSub>
                      </m:e>
                    </m:acc>
                  </m:oMath>
                </a14:m>
                <a:endParaRPr lang="en-US" altLang="en-US" dirty="0"/>
              </a:p>
              <a:p>
                <a:pPr lvl="2"/>
                <a:r>
                  <a:rPr lang="en-US" altLang="en-US" dirty="0"/>
                  <a:t> Update the weights: </a:t>
                </a:r>
              </a:p>
              <a:p>
                <a:pPr lvl="2"/>
                <a:endParaRPr lang="en-US" altLang="en-US" dirty="0"/>
              </a:p>
              <a:p>
                <a:pPr lvl="2"/>
                <a:endParaRPr lang="en-US" altLang="en-US" dirty="0"/>
              </a:p>
              <a:p>
                <a:r>
                  <a:rPr lang="en-US" altLang="en-US" dirty="0"/>
                  <a:t>Until stopping condition is met</a:t>
                </a:r>
              </a:p>
              <a:p>
                <a:endParaRPr lang="en-US" altLang="en-US" sz="1000" dirty="0"/>
              </a:p>
              <a:p>
                <a:r>
                  <a:rPr lang="en-US" altLang="en-US" sz="2400" dirty="0"/>
                  <a:t>k: iteration number;	</a:t>
                </a:r>
                <a14:m>
                  <m:oMath xmlns:m="http://schemas.openxmlformats.org/officeDocument/2006/math">
                    <m:r>
                      <a:rPr lang="en-US" altLang="en-US" sz="2400" i="1">
                        <a:latin typeface="Cambria Math" panose="02040503050406030204" pitchFamily="18" charset="0"/>
                      </a:rPr>
                      <m:t>𝜆</m:t>
                    </m:r>
                    <m:r>
                      <a:rPr lang="en-US" altLang="en-US" sz="2400" i="1">
                        <a:latin typeface="Cambria Math" panose="02040503050406030204" pitchFamily="18" charset="0"/>
                      </a:rPr>
                      <m:t>:</m:t>
                    </m:r>
                  </m:oMath>
                </a14:m>
                <a:r>
                  <a:rPr lang="en-US" altLang="en-US" sz="2400" dirty="0"/>
                  <a:t> learning rate </a:t>
                </a:r>
              </a:p>
            </p:txBody>
          </p:sp>
        </mc:Choice>
        <mc:Fallback xmlns="">
          <p:sp>
            <p:nvSpPr>
              <p:cNvPr id="9219" name="Rectangle 3"/>
              <p:cNvSpPr>
                <a:spLocks noGrp="1" noRot="1" noChangeAspect="1" noMove="1" noResize="1" noEditPoints="1" noAdjustHandles="1" noChangeArrowheads="1" noChangeShapeType="1" noTextEdit="1"/>
              </p:cNvSpPr>
              <p:nvPr>
                <p:ph type="body" idx="1"/>
              </p:nvPr>
            </p:nvSpPr>
            <p:spPr>
              <a:blipFill>
                <a:blip r:embed="rId2"/>
                <a:stretch>
                  <a:fillRect l="-457" t="-1222"/>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A70261F3-0B6E-1B4D-A01F-35002A75A4FC}"/>
              </a:ext>
            </a:extLst>
          </p:cNvPr>
          <p:cNvPicPr>
            <a:picLocks noChangeAspect="1"/>
          </p:cNvPicPr>
          <p:nvPr/>
        </p:nvPicPr>
        <p:blipFill>
          <a:blip r:embed="rId3"/>
          <a:stretch>
            <a:fillRect/>
          </a:stretch>
        </p:blipFill>
        <p:spPr>
          <a:xfrm>
            <a:off x="3810000" y="3657600"/>
            <a:ext cx="5357810" cy="1143000"/>
          </a:xfrm>
          <a:prstGeom prst="rect">
            <a:avLst/>
          </a:prstGeom>
        </p:spPr>
      </p:pic>
      <p:sp>
        <p:nvSpPr>
          <p:cNvPr id="3" name="Slide Number Placeholder 2">
            <a:extLst>
              <a:ext uri="{FF2B5EF4-FFF2-40B4-BE49-F238E27FC236}">
                <a16:creationId xmlns:a16="http://schemas.microsoft.com/office/drawing/2014/main" id="{872F4AC4-21FE-EE48-3837-878D73EBE51C}"/>
              </a:ext>
            </a:extLst>
          </p:cNvPr>
          <p:cNvSpPr>
            <a:spLocks noGrp="1"/>
          </p:cNvSpPr>
          <p:nvPr>
            <p:ph type="sldNum" sz="quarter" idx="12"/>
          </p:nvPr>
        </p:nvSpPr>
        <p:spPr/>
        <p:txBody>
          <a:bodyPr/>
          <a:lstStyle/>
          <a:p>
            <a:fld id="{C3CACD4E-8C52-004E-9A96-AD0BCBF3CA39}" type="slidenum">
              <a:rPr lang="en-US" smtClean="0"/>
              <a:t>35</a:t>
            </a:fld>
            <a:endParaRPr lang="en-US"/>
          </a:p>
        </p:txBody>
      </p:sp>
    </p:spTree>
    <p:extLst>
      <p:ext uri="{BB962C8B-B14F-4D97-AF65-F5344CB8AC3E}">
        <p14:creationId xmlns:p14="http://schemas.microsoft.com/office/powerpoint/2010/main" val="1731319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t>Perceptron Learning Rule</a:t>
            </a:r>
          </a:p>
        </p:txBody>
      </p:sp>
      <mc:AlternateContent xmlns:mc="http://schemas.openxmlformats.org/markup-compatibility/2006" xmlns:a14="http://schemas.microsoft.com/office/drawing/2010/main">
        <mc:Choice Requires="a14">
          <p:sp>
            <p:nvSpPr>
              <p:cNvPr id="10243" name="Rectangle 3"/>
              <p:cNvSpPr>
                <a:spLocks noGrp="1" noChangeArrowheads="1"/>
              </p:cNvSpPr>
              <p:nvPr>
                <p:ph type="body" idx="1"/>
              </p:nvPr>
            </p:nvSpPr>
            <p:spPr>
              <a:xfrm>
                <a:off x="1935163" y="1143000"/>
                <a:ext cx="8318500" cy="5181600"/>
              </a:xfrm>
            </p:spPr>
            <p:txBody>
              <a:bodyPr/>
              <a:lstStyle/>
              <a:p>
                <a:r>
                  <a:rPr lang="en-US" altLang="en-US" dirty="0"/>
                  <a:t>Weight update formula:</a:t>
                </a:r>
              </a:p>
              <a:p>
                <a:endParaRPr lang="en-US" altLang="en-US" dirty="0"/>
              </a:p>
              <a:p>
                <a:endParaRPr lang="en-US" altLang="en-US" dirty="0"/>
              </a:p>
              <a:p>
                <a:r>
                  <a:rPr lang="en-US" altLang="en-US" dirty="0"/>
                  <a:t>Intuition:</a:t>
                </a:r>
              </a:p>
              <a:p>
                <a:pPr lvl="1"/>
                <a:r>
                  <a:rPr lang="en-US" altLang="en-US" dirty="0"/>
                  <a:t>Update weight based on error: e =  </a:t>
                </a:r>
              </a:p>
              <a:p>
                <a:pPr lvl="2"/>
                <a:r>
                  <a:rPr lang="en-US" altLang="en-US" dirty="0"/>
                  <a:t>If y =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e=0: no update needed</a:t>
                </a:r>
              </a:p>
              <a:p>
                <a:pPr lvl="2"/>
                <a:endParaRPr lang="en-US" altLang="en-US" dirty="0"/>
              </a:p>
              <a:p>
                <a:pPr lvl="2"/>
                <a:r>
                  <a:rPr lang="en-US" altLang="en-US" dirty="0"/>
                  <a:t>If y &gt;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e=2: weight must be increased (assuming </a:t>
                </a:r>
                <a:r>
                  <a:rPr lang="en-US" altLang="en-US" sz="1600" dirty="0" err="1"/>
                  <a:t>Xij</a:t>
                </a:r>
                <a:r>
                  <a:rPr lang="en-US" altLang="en-US" dirty="0"/>
                  <a:t> is positive) so  that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will increase</a:t>
                </a:r>
              </a:p>
              <a:p>
                <a:pPr lvl="2"/>
                <a:endParaRPr lang="en-US" altLang="en-US" dirty="0"/>
              </a:p>
              <a:p>
                <a:pPr lvl="2"/>
                <a:r>
                  <a:rPr lang="en-US" altLang="en-US" dirty="0"/>
                  <a:t>If y &lt;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e=-2: weight must be decreased (assuming </a:t>
                </a:r>
                <a:r>
                  <a:rPr lang="en-US" altLang="en-US" sz="1600" dirty="0" err="1"/>
                  <a:t>Xij</a:t>
                </a:r>
                <a:r>
                  <a:rPr lang="en-US" altLang="en-US" sz="1600" dirty="0"/>
                  <a:t> </a:t>
                </a:r>
                <a:r>
                  <a:rPr lang="en-US" altLang="en-US" dirty="0"/>
                  <a:t>is positive) so that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will decrease</a:t>
                </a:r>
              </a:p>
            </p:txBody>
          </p:sp>
        </mc:Choice>
        <mc:Fallback xmlns="">
          <p:sp>
            <p:nvSpPr>
              <p:cNvPr id="10243" name="Rectangle 3"/>
              <p:cNvSpPr>
                <a:spLocks noGrp="1" noRot="1" noChangeAspect="1" noMove="1" noResize="1" noEditPoints="1" noAdjustHandles="1" noChangeArrowheads="1" noChangeShapeType="1" noTextEdit="1"/>
              </p:cNvSpPr>
              <p:nvPr>
                <p:ph type="body" idx="1"/>
              </p:nvPr>
            </p:nvSpPr>
            <p:spPr>
              <a:xfrm>
                <a:off x="1935163" y="1143000"/>
                <a:ext cx="8318500" cy="5181600"/>
              </a:xfrm>
              <a:blipFill>
                <a:blip r:embed="rId2"/>
                <a:stretch>
                  <a:fillRect l="-1220" t="-1956" r="-122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C1B95393-1E2B-FC48-808D-D4FEBC4343DE}"/>
              </a:ext>
            </a:extLst>
          </p:cNvPr>
          <p:cNvPicPr>
            <a:picLocks noChangeAspect="1"/>
          </p:cNvPicPr>
          <p:nvPr/>
        </p:nvPicPr>
        <p:blipFill>
          <a:blip r:embed="rId3"/>
          <a:stretch>
            <a:fillRect/>
          </a:stretch>
        </p:blipFill>
        <p:spPr>
          <a:xfrm>
            <a:off x="3671890" y="1625600"/>
            <a:ext cx="5357810" cy="1143000"/>
          </a:xfrm>
          <a:prstGeom prst="rect">
            <a:avLst/>
          </a:prstGeom>
        </p:spPr>
      </p:pic>
      <p:pic>
        <p:nvPicPr>
          <p:cNvPr id="2" name="Picture 1">
            <a:extLst>
              <a:ext uri="{FF2B5EF4-FFF2-40B4-BE49-F238E27FC236}">
                <a16:creationId xmlns:a16="http://schemas.microsoft.com/office/drawing/2014/main" id="{AC38AD4D-7559-064D-BA09-F56B310B1E41}"/>
              </a:ext>
            </a:extLst>
          </p:cNvPr>
          <p:cNvPicPr>
            <a:picLocks noChangeAspect="1"/>
          </p:cNvPicPr>
          <p:nvPr/>
        </p:nvPicPr>
        <p:blipFill>
          <a:blip r:embed="rId4"/>
          <a:stretch>
            <a:fillRect/>
          </a:stretch>
        </p:blipFill>
        <p:spPr>
          <a:xfrm>
            <a:off x="8366125" y="3225800"/>
            <a:ext cx="1327150" cy="558800"/>
          </a:xfrm>
          <a:prstGeom prst="rect">
            <a:avLst/>
          </a:prstGeom>
        </p:spPr>
      </p:pic>
      <p:sp>
        <p:nvSpPr>
          <p:cNvPr id="3" name="Slide Number Placeholder 2">
            <a:extLst>
              <a:ext uri="{FF2B5EF4-FFF2-40B4-BE49-F238E27FC236}">
                <a16:creationId xmlns:a16="http://schemas.microsoft.com/office/drawing/2014/main" id="{417F7B20-16D9-22DB-41DA-6A494FC72C3D}"/>
              </a:ext>
            </a:extLst>
          </p:cNvPr>
          <p:cNvSpPr>
            <a:spLocks noGrp="1"/>
          </p:cNvSpPr>
          <p:nvPr>
            <p:ph type="sldNum" sz="quarter" idx="12"/>
          </p:nvPr>
        </p:nvSpPr>
        <p:spPr/>
        <p:txBody>
          <a:bodyPr/>
          <a:lstStyle/>
          <a:p>
            <a:fld id="{C3CACD4E-8C52-004E-9A96-AD0BCBF3CA39}" type="slidenum">
              <a:rPr lang="en-US" smtClean="0"/>
              <a:t>36</a:t>
            </a:fld>
            <a:endParaRPr lang="en-US"/>
          </a:p>
        </p:txBody>
      </p:sp>
    </p:spTree>
    <p:extLst>
      <p:ext uri="{BB962C8B-B14F-4D97-AF65-F5344CB8AC3E}">
        <p14:creationId xmlns:p14="http://schemas.microsoft.com/office/powerpoint/2010/main" val="39403396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sz="quarter"/>
          </p:nvPr>
        </p:nvSpPr>
        <p:spPr/>
        <p:txBody>
          <a:bodyPr>
            <a:normAutofit fontScale="90000"/>
          </a:bodyPr>
          <a:lstStyle/>
          <a:p>
            <a:r>
              <a:rPr lang="en-US" altLang="en-US"/>
              <a:t>Example of Perceptron Learning</a:t>
            </a:r>
          </a:p>
        </p:txBody>
      </p:sp>
      <p:graphicFrame>
        <p:nvGraphicFramePr>
          <p:cNvPr id="11267" name="Object 2"/>
          <p:cNvGraphicFramePr>
            <a:graphicFrameLocks noGrp="1" noChangeAspect="1"/>
          </p:cNvGraphicFramePr>
          <p:nvPr>
            <p:ph sz="quarter" idx="1"/>
          </p:nvPr>
        </p:nvGraphicFramePr>
        <p:xfrm>
          <a:off x="1676401" y="1752600"/>
          <a:ext cx="1819275" cy="2667000"/>
        </p:xfrm>
        <a:graphic>
          <a:graphicData uri="http://schemas.openxmlformats.org/presentationml/2006/ole">
            <mc:AlternateContent xmlns:mc="http://schemas.openxmlformats.org/markup-compatibility/2006">
              <mc:Choice xmlns:v="urn:schemas-microsoft-com:vml" Requires="v">
                <p:oleObj name="Worksheet" r:id="rId2" imgW="2445859" imgH="2979548" progId="Excel.Sheet.8">
                  <p:embed/>
                </p:oleObj>
              </mc:Choice>
              <mc:Fallback>
                <p:oleObj name="Worksheet" r:id="rId2" imgW="2445859" imgH="2979548" progId="Excel.Sheet.8">
                  <p:embed/>
                  <p:pic>
                    <p:nvPicPr>
                      <p:cNvPr id="1126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1752600"/>
                        <a:ext cx="1819275"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aphicFrame>
        <p:nvGraphicFramePr>
          <p:cNvPr id="11270" name="Object 5"/>
          <p:cNvGraphicFramePr>
            <a:graphicFrameLocks noGrp="1" noChangeAspect="1"/>
          </p:cNvGraphicFramePr>
          <p:nvPr>
            <p:ph sz="quarter" idx="4"/>
          </p:nvPr>
        </p:nvGraphicFramePr>
        <p:xfrm>
          <a:off x="7696200" y="1752600"/>
          <a:ext cx="2760902" cy="2362200"/>
        </p:xfrm>
        <a:graphic>
          <a:graphicData uri="http://schemas.openxmlformats.org/presentationml/2006/ole">
            <mc:AlternateContent xmlns:mc="http://schemas.openxmlformats.org/markup-compatibility/2006">
              <mc:Choice xmlns:v="urn:schemas-microsoft-com:vml" Requires="v">
                <p:oleObj name="Worksheet" r:id="rId4" imgW="3169848" imgH="2712744" progId="Excel.Sheet.8">
                  <p:embed/>
                </p:oleObj>
              </mc:Choice>
              <mc:Fallback>
                <p:oleObj name="Worksheet" r:id="rId4" imgW="3169848" imgH="2712744" progId="Excel.Sheet.8">
                  <p:embed/>
                  <p:pic>
                    <p:nvPicPr>
                      <p:cNvPr id="11270" name="Object 5"/>
                      <p:cNvPicPr>
                        <a:picLocks noChangeAspect="1" noChangeArrowheads="1"/>
                      </p:cNvPicPr>
                      <p:nvPr/>
                    </p:nvPicPr>
                    <p:blipFill>
                      <a:blip r:embed="rId5"/>
                      <a:srcRect/>
                      <a:stretch>
                        <a:fillRect/>
                      </a:stretch>
                    </p:blipFill>
                    <p:spPr bwMode="auto">
                      <a:xfrm>
                        <a:off x="7696200" y="1752600"/>
                        <a:ext cx="2760902" cy="2362200"/>
                      </a:xfrm>
                      <a:prstGeom prst="rect">
                        <a:avLst/>
                      </a:prstGeom>
                      <a:noFill/>
                      <a:ln>
                        <a:noFill/>
                      </a:ln>
                    </p:spPr>
                  </p:pic>
                </p:oleObj>
              </mc:Fallback>
            </mc:AlternateContent>
          </a:graphicData>
        </a:graphic>
      </p:graphicFrame>
      <p:graphicFrame>
        <p:nvGraphicFramePr>
          <p:cNvPr id="11271" name="Object 6"/>
          <p:cNvGraphicFramePr>
            <a:graphicFrameLocks noChangeAspect="1"/>
          </p:cNvGraphicFramePr>
          <p:nvPr/>
        </p:nvGraphicFramePr>
        <p:xfrm>
          <a:off x="5105400" y="1295400"/>
          <a:ext cx="908050" cy="342900"/>
        </p:xfrm>
        <a:graphic>
          <a:graphicData uri="http://schemas.openxmlformats.org/presentationml/2006/ole">
            <mc:AlternateContent xmlns:mc="http://schemas.openxmlformats.org/markup-compatibility/2006">
              <mc:Choice xmlns:v="urn:schemas-microsoft-com:vml" Requires="v">
                <p:oleObj name="Equation" r:id="rId6" imgW="469800" imgH="177480" progId="Equation.3">
                  <p:embed/>
                </p:oleObj>
              </mc:Choice>
              <mc:Fallback>
                <p:oleObj name="Equation" r:id="rId6" imgW="469800" imgH="177480" progId="Equation.3">
                  <p:embed/>
                  <p:pic>
                    <p:nvPicPr>
                      <p:cNvPr id="11271"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5400" y="1295400"/>
                        <a:ext cx="90805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7"/>
          <p:cNvGraphicFramePr>
            <a:graphicFrameLocks noChangeAspect="1"/>
          </p:cNvGraphicFramePr>
          <p:nvPr/>
        </p:nvGraphicFramePr>
        <p:xfrm>
          <a:off x="4191000" y="1752600"/>
          <a:ext cx="3144838" cy="2655888"/>
        </p:xfrm>
        <a:graphic>
          <a:graphicData uri="http://schemas.openxmlformats.org/presentationml/2006/ole">
            <mc:AlternateContent xmlns:mc="http://schemas.openxmlformats.org/markup-compatibility/2006">
              <mc:Choice xmlns:v="urn:schemas-microsoft-com:vml" Requires="v">
                <p:oleObj name="Worksheet" r:id="rId8" imgW="3916712" imgH="3291840" progId="Excel.Sheet.8">
                  <p:embed/>
                </p:oleObj>
              </mc:Choice>
              <mc:Fallback>
                <p:oleObj name="Worksheet" r:id="rId8" imgW="3916712" imgH="3291840" progId="Excel.Sheet.8">
                  <p:embed/>
                  <p:pic>
                    <p:nvPicPr>
                      <p:cNvPr id="11272" name="Object 7"/>
                      <p:cNvPicPr>
                        <a:picLocks noChangeAspect="1" noChangeArrowheads="1"/>
                      </p:cNvPicPr>
                      <p:nvPr/>
                    </p:nvPicPr>
                    <p:blipFill>
                      <a:blip r:embed="rId9"/>
                      <a:srcRect/>
                      <a:stretch>
                        <a:fillRect/>
                      </a:stretch>
                    </p:blipFill>
                    <p:spPr bwMode="auto">
                      <a:xfrm>
                        <a:off x="4191000" y="1752600"/>
                        <a:ext cx="3144838"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a:extLst>
              <a:ext uri="{FF2B5EF4-FFF2-40B4-BE49-F238E27FC236}">
                <a16:creationId xmlns:a16="http://schemas.microsoft.com/office/drawing/2014/main" id="{6AD59033-856F-EC47-A227-FB3C68A00D03}"/>
              </a:ext>
            </a:extLst>
          </p:cNvPr>
          <p:cNvSpPr txBox="1"/>
          <p:nvPr/>
        </p:nvSpPr>
        <p:spPr>
          <a:xfrm>
            <a:off x="4031695" y="4522788"/>
            <a:ext cx="3424977" cy="369332"/>
          </a:xfrm>
          <a:prstGeom prst="rect">
            <a:avLst/>
          </a:prstGeom>
          <a:noFill/>
        </p:spPr>
        <p:txBody>
          <a:bodyPr wrap="none" rtlCol="0">
            <a:spAutoFit/>
          </a:bodyPr>
          <a:lstStyle/>
          <a:p>
            <a:r>
              <a:rPr lang="en-US" dirty="0"/>
              <a:t>Weight updates over first epoch</a:t>
            </a:r>
          </a:p>
        </p:txBody>
      </p:sp>
      <p:sp>
        <p:nvSpPr>
          <p:cNvPr id="14" name="TextBox 13">
            <a:extLst>
              <a:ext uri="{FF2B5EF4-FFF2-40B4-BE49-F238E27FC236}">
                <a16:creationId xmlns:a16="http://schemas.microsoft.com/office/drawing/2014/main" id="{F9570835-B238-B54C-9930-A354F80DD936}"/>
              </a:ext>
            </a:extLst>
          </p:cNvPr>
          <p:cNvSpPr txBox="1"/>
          <p:nvPr/>
        </p:nvSpPr>
        <p:spPr>
          <a:xfrm>
            <a:off x="7863682" y="4245790"/>
            <a:ext cx="2425939" cy="646331"/>
          </a:xfrm>
          <a:prstGeom prst="rect">
            <a:avLst/>
          </a:prstGeom>
          <a:noFill/>
        </p:spPr>
        <p:txBody>
          <a:bodyPr wrap="square" rtlCol="0">
            <a:spAutoFit/>
          </a:bodyPr>
          <a:lstStyle/>
          <a:p>
            <a:pPr algn="ctr"/>
            <a:r>
              <a:rPr lang="en-US" dirty="0"/>
              <a:t>Weight updates over all epochs</a:t>
            </a:r>
          </a:p>
        </p:txBody>
      </p:sp>
    </p:spTree>
    <p:extLst>
      <p:ext uri="{BB962C8B-B14F-4D97-AF65-F5344CB8AC3E}">
        <p14:creationId xmlns:p14="http://schemas.microsoft.com/office/powerpoint/2010/main" val="437706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t>Perceptron Learning</a:t>
            </a:r>
          </a:p>
        </p:txBody>
      </p:sp>
      <p:sp>
        <p:nvSpPr>
          <p:cNvPr id="12291" name="Rectangle 3"/>
          <p:cNvSpPr>
            <a:spLocks noGrp="1" noChangeArrowheads="1"/>
          </p:cNvSpPr>
          <p:nvPr>
            <p:ph type="body" idx="1"/>
          </p:nvPr>
        </p:nvSpPr>
        <p:spPr/>
        <p:txBody>
          <a:bodyPr/>
          <a:lstStyle/>
          <a:p>
            <a:pPr>
              <a:lnSpc>
                <a:spcPct val="90000"/>
              </a:lnSpc>
            </a:pPr>
            <a:r>
              <a:rPr lang="en-US" altLang="en-US" sz="2400" dirty="0"/>
              <a:t>Since y is a linear </a:t>
            </a:r>
            <a:br>
              <a:rPr lang="en-US" altLang="en-US" sz="2400" dirty="0"/>
            </a:br>
            <a:r>
              <a:rPr lang="en-US" altLang="en-US" sz="2400" dirty="0"/>
              <a:t>combination of input </a:t>
            </a:r>
            <a:br>
              <a:rPr lang="en-US" altLang="en-US" sz="2400" dirty="0"/>
            </a:br>
            <a:r>
              <a:rPr lang="en-US" altLang="en-US" sz="2400" dirty="0"/>
              <a:t>variables, decision </a:t>
            </a:r>
            <a:br>
              <a:rPr lang="en-US" altLang="en-US" sz="2400" dirty="0"/>
            </a:br>
            <a:r>
              <a:rPr lang="en-US" altLang="en-US" sz="2400" dirty="0"/>
              <a:t>boundary is linear</a:t>
            </a:r>
          </a:p>
          <a:p>
            <a:pPr>
              <a:lnSpc>
                <a:spcPct val="90000"/>
              </a:lnSpc>
            </a:pPr>
            <a:endParaRPr lang="en-US" altLang="en-US" dirty="0"/>
          </a:p>
          <a:p>
            <a:pPr>
              <a:lnSpc>
                <a:spcPct val="90000"/>
              </a:lnSpc>
            </a:pPr>
            <a:endParaRPr lang="en-US" altLang="en-US" dirty="0"/>
          </a:p>
          <a:p>
            <a:pPr>
              <a:lnSpc>
                <a:spcPct val="90000"/>
              </a:lnSpc>
            </a:pPr>
            <a:endParaRPr lang="en-US" altLang="en-US" dirty="0"/>
          </a:p>
          <a:p>
            <a:pPr>
              <a:lnSpc>
                <a:spcPct val="90000"/>
              </a:lnSpc>
            </a:pPr>
            <a:endParaRPr lang="en-US" altLang="en-US" dirty="0"/>
          </a:p>
        </p:txBody>
      </p:sp>
      <p:pic>
        <p:nvPicPr>
          <p:cNvPr id="2" name="Picture 1">
            <a:extLst>
              <a:ext uri="{FF2B5EF4-FFF2-40B4-BE49-F238E27FC236}">
                <a16:creationId xmlns:a16="http://schemas.microsoft.com/office/drawing/2014/main" id="{39A62D26-04A6-D441-B814-426EA642FD14}"/>
              </a:ext>
            </a:extLst>
          </p:cNvPr>
          <p:cNvPicPr>
            <a:picLocks noChangeAspect="1"/>
          </p:cNvPicPr>
          <p:nvPr/>
        </p:nvPicPr>
        <p:blipFill>
          <a:blip r:embed="rId2"/>
          <a:stretch>
            <a:fillRect/>
          </a:stretch>
        </p:blipFill>
        <p:spPr>
          <a:xfrm>
            <a:off x="5706025" y="1143000"/>
            <a:ext cx="4547639" cy="3195638"/>
          </a:xfrm>
          <a:prstGeom prst="rect">
            <a:avLst/>
          </a:prstGeom>
        </p:spPr>
      </p:pic>
      <p:sp>
        <p:nvSpPr>
          <p:cNvPr id="3" name="Slide Number Placeholder 2">
            <a:extLst>
              <a:ext uri="{FF2B5EF4-FFF2-40B4-BE49-F238E27FC236}">
                <a16:creationId xmlns:a16="http://schemas.microsoft.com/office/drawing/2014/main" id="{C79AAD09-688F-CC6A-4180-37C6F633C1AE}"/>
              </a:ext>
            </a:extLst>
          </p:cNvPr>
          <p:cNvSpPr>
            <a:spLocks noGrp="1"/>
          </p:cNvSpPr>
          <p:nvPr>
            <p:ph type="sldNum" sz="quarter" idx="12"/>
          </p:nvPr>
        </p:nvSpPr>
        <p:spPr/>
        <p:txBody>
          <a:bodyPr/>
          <a:lstStyle/>
          <a:p>
            <a:fld id="{C3CACD4E-8C52-004E-9A96-AD0BCBF3CA39}" type="slidenum">
              <a:rPr lang="en-US" smtClean="0"/>
              <a:t>38</a:t>
            </a:fld>
            <a:endParaRPr lang="en-US"/>
          </a:p>
        </p:txBody>
      </p:sp>
    </p:spTree>
    <p:extLst>
      <p:ext uri="{BB962C8B-B14F-4D97-AF65-F5344CB8AC3E}">
        <p14:creationId xmlns:p14="http://schemas.microsoft.com/office/powerpoint/2010/main" val="767193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a:t>Nonlinearly Separable Data</a:t>
            </a:r>
          </a:p>
        </p:txBody>
      </p:sp>
      <p:graphicFrame>
        <p:nvGraphicFramePr>
          <p:cNvPr id="13315" name="Object 2"/>
          <p:cNvGraphicFramePr>
            <a:graphicFrameLocks noGrp="1" noChangeAspect="1"/>
          </p:cNvGraphicFramePr>
          <p:nvPr>
            <p:ph sz="half" idx="1"/>
          </p:nvPr>
        </p:nvGraphicFramePr>
        <p:xfrm>
          <a:off x="2209800" y="2508886"/>
          <a:ext cx="7924800" cy="3968115"/>
        </p:xfrm>
        <a:graphic>
          <a:graphicData uri="http://schemas.openxmlformats.org/presentationml/2006/ole">
            <mc:AlternateContent xmlns:mc="http://schemas.openxmlformats.org/markup-compatibility/2006">
              <mc:Choice xmlns:v="urn:schemas-microsoft-com:vml" Requires="v">
                <p:oleObj name="VISIO" r:id="rId2" imgW="9586620" imgH="4684064" progId="Visio.Drawing.6">
                  <p:embed/>
                </p:oleObj>
              </mc:Choice>
              <mc:Fallback>
                <p:oleObj name="VISIO" r:id="rId2" imgW="9586620" imgH="4684064" progId="Visio.Drawing.6">
                  <p:embed/>
                  <p:pic>
                    <p:nvPicPr>
                      <p:cNvPr id="13315" name="Object 2"/>
                      <p:cNvPicPr>
                        <a:picLocks noChangeAspect="1" noChangeArrowheads="1"/>
                      </p:cNvPicPr>
                      <p:nvPr/>
                    </p:nvPicPr>
                    <p:blipFill>
                      <a:blip r:embed="rId3">
                        <a:extLst>
                          <a:ext uri="{28A0092B-C50C-407E-A947-70E740481C1C}">
                            <a14:useLocalDpi xmlns:a14="http://schemas.microsoft.com/office/drawing/2010/main" val="0"/>
                          </a:ext>
                        </a:extLst>
                      </a:blip>
                      <a:srcRect r="3922"/>
                      <a:stretch>
                        <a:fillRect/>
                      </a:stretch>
                    </p:blipFill>
                    <p:spPr bwMode="auto">
                      <a:xfrm>
                        <a:off x="2209800" y="2508886"/>
                        <a:ext cx="7924800" cy="3968115"/>
                      </a:xfrm>
                      <a:prstGeom prst="rect">
                        <a:avLst/>
                      </a:prstGeom>
                      <a:noFill/>
                      <a:ln>
                        <a:noFill/>
                      </a:ln>
                    </p:spPr>
                  </p:pic>
                </p:oleObj>
              </mc:Fallback>
            </mc:AlternateContent>
          </a:graphicData>
        </a:graphic>
      </p:graphicFrame>
      <p:graphicFrame>
        <p:nvGraphicFramePr>
          <p:cNvPr id="13316" name="Object 3"/>
          <p:cNvGraphicFramePr>
            <a:graphicFrameLocks noGrp="1" noChangeAspect="1"/>
          </p:cNvGraphicFramePr>
          <p:nvPr>
            <p:ph sz="half" idx="2"/>
          </p:nvPr>
        </p:nvGraphicFramePr>
        <p:xfrm>
          <a:off x="2209801" y="2565400"/>
          <a:ext cx="2092325" cy="635000"/>
        </p:xfrm>
        <a:graphic>
          <a:graphicData uri="http://schemas.openxmlformats.org/presentationml/2006/ole">
            <mc:AlternateContent xmlns:mc="http://schemas.openxmlformats.org/markup-compatibility/2006">
              <mc:Choice xmlns:v="urn:schemas-microsoft-com:vml" Requires="v">
                <p:oleObj name="Equation" r:id="rId4" imgW="710891" imgH="215806" progId="Equation.3">
                  <p:embed/>
                </p:oleObj>
              </mc:Choice>
              <mc:Fallback>
                <p:oleObj name="Equation" r:id="rId4" imgW="710891" imgH="215806" progId="Equation.3">
                  <p:embed/>
                  <p:pic>
                    <p:nvPicPr>
                      <p:cNvPr id="1331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1" y="2565400"/>
                        <a:ext cx="2092325"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 name="Text Box 5"/>
          <p:cNvSpPr txBox="1">
            <a:spLocks noChangeArrowheads="1"/>
          </p:cNvSpPr>
          <p:nvPr/>
        </p:nvSpPr>
        <p:spPr bwMode="auto">
          <a:xfrm>
            <a:off x="7010400" y="2346326"/>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XOR Data</a:t>
            </a:r>
          </a:p>
        </p:txBody>
      </p:sp>
      <p:sp>
        <p:nvSpPr>
          <p:cNvPr id="2" name="Rectangle 1"/>
          <p:cNvSpPr/>
          <p:nvPr/>
        </p:nvSpPr>
        <p:spPr>
          <a:xfrm>
            <a:off x="2057400" y="1143001"/>
            <a:ext cx="8229600" cy="1089529"/>
          </a:xfrm>
          <a:prstGeom prst="rect">
            <a:avLst/>
          </a:prstGeom>
        </p:spPr>
        <p:txBody>
          <a:bodyPr wrap="square">
            <a:spAutoFit/>
          </a:bodyPr>
          <a:lstStyle/>
          <a:p>
            <a:pPr>
              <a:lnSpc>
                <a:spcPct val="90000"/>
              </a:lnSpc>
            </a:pPr>
            <a:r>
              <a:rPr lang="en-US" altLang="en-US" sz="2400" dirty="0"/>
              <a:t>For nonlinearly separable problems, perceptron learning algorithm will fail because no linear hyperplane can separate the data perfectly </a:t>
            </a:r>
          </a:p>
        </p:txBody>
      </p:sp>
      <p:sp>
        <p:nvSpPr>
          <p:cNvPr id="3" name="Slide Number Placeholder 2">
            <a:extLst>
              <a:ext uri="{FF2B5EF4-FFF2-40B4-BE49-F238E27FC236}">
                <a16:creationId xmlns:a16="http://schemas.microsoft.com/office/drawing/2014/main" id="{D8737A1B-CF57-0E27-DA46-A292031F695E}"/>
              </a:ext>
            </a:extLst>
          </p:cNvPr>
          <p:cNvSpPr>
            <a:spLocks noGrp="1"/>
          </p:cNvSpPr>
          <p:nvPr>
            <p:ph type="sldNum" sz="quarter" idx="12"/>
          </p:nvPr>
        </p:nvSpPr>
        <p:spPr/>
        <p:txBody>
          <a:bodyPr/>
          <a:lstStyle/>
          <a:p>
            <a:fld id="{C3CACD4E-8C52-004E-9A96-AD0BCBF3CA39}" type="slidenum">
              <a:rPr lang="en-US" smtClean="0"/>
              <a:t>39</a:t>
            </a:fld>
            <a:endParaRPr lang="en-US"/>
          </a:p>
        </p:txBody>
      </p:sp>
    </p:spTree>
    <p:extLst>
      <p:ext uri="{BB962C8B-B14F-4D97-AF65-F5344CB8AC3E}">
        <p14:creationId xmlns:p14="http://schemas.microsoft.com/office/powerpoint/2010/main" val="3814617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t>Multi-layer Neural Network</a:t>
            </a:r>
          </a:p>
        </p:txBody>
      </p:sp>
      <p:graphicFrame>
        <p:nvGraphicFramePr>
          <p:cNvPr id="6148" name="Object 3"/>
          <p:cNvGraphicFramePr>
            <a:graphicFrameLocks noGrp="1" noChangeAspect="1"/>
          </p:cNvGraphicFramePr>
          <p:nvPr>
            <p:ph sz="half" idx="2"/>
          </p:nvPr>
        </p:nvGraphicFramePr>
        <p:xfrm>
          <a:off x="1676401" y="1371601"/>
          <a:ext cx="3688729" cy="4462463"/>
        </p:xfrm>
        <a:graphic>
          <a:graphicData uri="http://schemas.openxmlformats.org/presentationml/2006/ole">
            <mc:AlternateContent xmlns:mc="http://schemas.openxmlformats.org/markup-compatibility/2006">
              <mc:Choice xmlns:v="urn:schemas-microsoft-com:vml" Requires="v">
                <p:oleObj name="Visio" r:id="rId3" imgW="5417922" imgH="6555254" progId="Visio.Drawing.6">
                  <p:embed/>
                </p:oleObj>
              </mc:Choice>
              <mc:Fallback>
                <p:oleObj name="Visio" r:id="rId3" imgW="5417922" imgH="6555254" progId="Visio.Drawing.6">
                  <p:embed/>
                  <p:pic>
                    <p:nvPicPr>
                      <p:cNvPr id="614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1" y="1371601"/>
                        <a:ext cx="3688729" cy="4462463"/>
                      </a:xfrm>
                      <a:prstGeom prst="rect">
                        <a:avLst/>
                      </a:prstGeom>
                      <a:noFill/>
                      <a:ln>
                        <a:noFill/>
                      </a:ln>
                      <a:effectLst/>
                    </p:spPr>
                  </p:pic>
                </p:oleObj>
              </mc:Fallback>
            </mc:AlternateContent>
          </a:graphicData>
        </a:graphic>
      </p:graphicFrame>
      <p:sp>
        <p:nvSpPr>
          <p:cNvPr id="3" name="Content Placeholder 2">
            <a:extLst>
              <a:ext uri="{FF2B5EF4-FFF2-40B4-BE49-F238E27FC236}">
                <a16:creationId xmlns:a16="http://schemas.microsoft.com/office/drawing/2014/main" id="{82B266B7-FD3F-5845-88CF-7C691A622FBD}"/>
              </a:ext>
            </a:extLst>
          </p:cNvPr>
          <p:cNvSpPr>
            <a:spLocks noGrp="1"/>
          </p:cNvSpPr>
          <p:nvPr>
            <p:ph sz="half" idx="1"/>
          </p:nvPr>
        </p:nvSpPr>
        <p:spPr>
          <a:xfrm>
            <a:off x="5715000" y="1524000"/>
            <a:ext cx="4724400" cy="5181600"/>
          </a:xfrm>
        </p:spPr>
        <p:txBody>
          <a:bodyPr/>
          <a:lstStyle/>
          <a:p>
            <a:r>
              <a:rPr lang="en-US" sz="2400" dirty="0"/>
              <a:t>More than one </a:t>
            </a:r>
            <a:r>
              <a:rPr lang="en-US" sz="2400" i="1" dirty="0"/>
              <a:t>hidden layer </a:t>
            </a:r>
            <a:r>
              <a:rPr lang="en-US" sz="2400" dirty="0"/>
              <a:t>of computing nodes</a:t>
            </a:r>
          </a:p>
          <a:p>
            <a:endParaRPr lang="en-US" sz="1000" dirty="0"/>
          </a:p>
          <a:p>
            <a:r>
              <a:rPr lang="en-US" sz="2400" dirty="0"/>
              <a:t>Every node in a hidden layer operates on activations from preceding layer and transmits activations forward to nodes of next layer</a:t>
            </a:r>
          </a:p>
          <a:p>
            <a:pPr lvl="0"/>
            <a:endParaRPr lang="en-US" sz="1000" dirty="0">
              <a:solidFill>
                <a:srgbClr val="000000"/>
              </a:solidFill>
            </a:endParaRPr>
          </a:p>
          <a:p>
            <a:r>
              <a:rPr lang="en-US" sz="2400" dirty="0"/>
              <a:t>Also referred to as “feedforward neural networks”</a:t>
            </a:r>
          </a:p>
          <a:p>
            <a:pPr lvl="0"/>
            <a:endParaRPr lang="en-US" sz="1000" dirty="0">
              <a:solidFill>
                <a:srgbClr val="000000"/>
              </a:solidFill>
            </a:endParaRPr>
          </a:p>
          <a:p>
            <a:pPr lvl="0"/>
            <a:endParaRPr lang="en-US" sz="1000" dirty="0">
              <a:solidFill>
                <a:srgbClr val="000000"/>
              </a:solidFill>
            </a:endParaRPr>
          </a:p>
          <a:p>
            <a:endParaRPr lang="en-US" sz="2400" dirty="0"/>
          </a:p>
          <a:p>
            <a:endParaRPr lang="en-US" sz="2400" dirty="0"/>
          </a:p>
        </p:txBody>
      </p:sp>
      <p:sp>
        <p:nvSpPr>
          <p:cNvPr id="2" name="Slide Number Placeholder 1">
            <a:extLst>
              <a:ext uri="{FF2B5EF4-FFF2-40B4-BE49-F238E27FC236}">
                <a16:creationId xmlns:a16="http://schemas.microsoft.com/office/drawing/2014/main" id="{7D5EEC79-7F0B-5C4A-FE4F-F3B03F2EA991}"/>
              </a:ext>
            </a:extLst>
          </p:cNvPr>
          <p:cNvSpPr>
            <a:spLocks noGrp="1"/>
          </p:cNvSpPr>
          <p:nvPr>
            <p:ph type="sldNum" sz="quarter" idx="12"/>
          </p:nvPr>
        </p:nvSpPr>
        <p:spPr/>
        <p:txBody>
          <a:bodyPr/>
          <a:lstStyle/>
          <a:p>
            <a:fld id="{C3CACD4E-8C52-004E-9A96-AD0BCBF3CA39}" type="slidenum">
              <a:rPr lang="en-US" smtClean="0"/>
              <a:t>40</a:t>
            </a:fld>
            <a:endParaRPr lang="en-US"/>
          </a:p>
        </p:txBody>
      </p:sp>
    </p:spTree>
    <p:extLst>
      <p:ext uri="{BB962C8B-B14F-4D97-AF65-F5344CB8AC3E}">
        <p14:creationId xmlns:p14="http://schemas.microsoft.com/office/powerpoint/2010/main" val="499122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a:t>Multi-layer Neural Network</a:t>
            </a:r>
          </a:p>
        </p:txBody>
      </p:sp>
      <p:sp>
        <p:nvSpPr>
          <p:cNvPr id="15363" name="Rectangle 3"/>
          <p:cNvSpPr>
            <a:spLocks noGrp="1" noChangeArrowheads="1"/>
          </p:cNvSpPr>
          <p:nvPr>
            <p:ph type="body" idx="1"/>
          </p:nvPr>
        </p:nvSpPr>
        <p:spPr/>
        <p:txBody>
          <a:bodyPr/>
          <a:lstStyle/>
          <a:p>
            <a:r>
              <a:rPr lang="en-US" altLang="en-US" dirty="0"/>
              <a:t>Multi-layer neural networks with at least one hidden layer can solve any type of classification task involving nonlinear decision surfaces</a:t>
            </a:r>
          </a:p>
        </p:txBody>
      </p:sp>
      <p:graphicFrame>
        <p:nvGraphicFramePr>
          <p:cNvPr id="15364" name="Object 2"/>
          <p:cNvGraphicFramePr>
            <a:graphicFrameLocks noGrp="1" noChangeAspect="1"/>
          </p:cNvGraphicFramePr>
          <p:nvPr>
            <p:ph sz="quarter" idx="4294967295"/>
          </p:nvPr>
        </p:nvGraphicFramePr>
        <p:xfrm>
          <a:off x="1981200" y="3276600"/>
          <a:ext cx="3981450" cy="2514600"/>
        </p:xfrm>
        <a:graphic>
          <a:graphicData uri="http://schemas.openxmlformats.org/presentationml/2006/ole">
            <mc:AlternateContent xmlns:mc="http://schemas.openxmlformats.org/markup-compatibility/2006">
              <mc:Choice xmlns:v="urn:schemas-microsoft-com:vml" Requires="v">
                <p:oleObj name="Visio" r:id="rId2" imgW="6980428" imgH="4408899" progId="Visio.Drawing.6">
                  <p:embed/>
                </p:oleObj>
              </mc:Choice>
              <mc:Fallback>
                <p:oleObj name="Visio" r:id="rId2" imgW="6980428" imgH="4408899" progId="Visio.Drawing.6">
                  <p:embed/>
                  <p:pic>
                    <p:nvPicPr>
                      <p:cNvPr id="1536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276600"/>
                        <a:ext cx="39814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5365" name="Picture 5"/>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6172200" y="2838450"/>
            <a:ext cx="4343400" cy="3257550"/>
          </a:xfrm>
          <a:noFill/>
        </p:spPr>
      </p:pic>
      <p:sp>
        <p:nvSpPr>
          <p:cNvPr id="15366" name="Text Box 6"/>
          <p:cNvSpPr txBox="1">
            <a:spLocks noChangeArrowheads="1"/>
          </p:cNvSpPr>
          <p:nvPr/>
        </p:nvSpPr>
        <p:spPr bwMode="auto">
          <a:xfrm>
            <a:off x="7239000" y="2514601"/>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XOR Data</a:t>
            </a:r>
          </a:p>
        </p:txBody>
      </p:sp>
      <p:sp>
        <p:nvSpPr>
          <p:cNvPr id="2" name="Slide Number Placeholder 1">
            <a:extLst>
              <a:ext uri="{FF2B5EF4-FFF2-40B4-BE49-F238E27FC236}">
                <a16:creationId xmlns:a16="http://schemas.microsoft.com/office/drawing/2014/main" id="{BE605D03-CD72-C924-0005-207E1FB16632}"/>
              </a:ext>
            </a:extLst>
          </p:cNvPr>
          <p:cNvSpPr>
            <a:spLocks noGrp="1"/>
          </p:cNvSpPr>
          <p:nvPr>
            <p:ph type="sldNum" sz="quarter" idx="12"/>
          </p:nvPr>
        </p:nvSpPr>
        <p:spPr/>
        <p:txBody>
          <a:bodyPr/>
          <a:lstStyle/>
          <a:p>
            <a:fld id="{C3CACD4E-8C52-004E-9A96-AD0BCBF3CA39}" type="slidenum">
              <a:rPr lang="en-US" smtClean="0"/>
              <a:t>41</a:t>
            </a:fld>
            <a:endParaRPr lang="en-US"/>
          </a:p>
        </p:txBody>
      </p:sp>
    </p:spTree>
    <p:extLst>
      <p:ext uri="{BB962C8B-B14F-4D97-AF65-F5344CB8AC3E}">
        <p14:creationId xmlns:p14="http://schemas.microsoft.com/office/powerpoint/2010/main" val="3360328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A6D5-4CE0-E64D-92AB-1005F1EFBACB}"/>
              </a:ext>
            </a:extLst>
          </p:cNvPr>
          <p:cNvSpPr>
            <a:spLocks noGrp="1"/>
          </p:cNvSpPr>
          <p:nvPr>
            <p:ph type="title"/>
          </p:nvPr>
        </p:nvSpPr>
        <p:spPr/>
        <p:txBody>
          <a:bodyPr/>
          <a:lstStyle/>
          <a:p>
            <a:r>
              <a:rPr lang="en-US" dirty="0"/>
              <a:t>Why Multiple Hidden Layers?</a:t>
            </a:r>
          </a:p>
        </p:txBody>
      </p:sp>
      <p:sp>
        <p:nvSpPr>
          <p:cNvPr id="5" name="Content Placeholder 4">
            <a:extLst>
              <a:ext uri="{FF2B5EF4-FFF2-40B4-BE49-F238E27FC236}">
                <a16:creationId xmlns:a16="http://schemas.microsoft.com/office/drawing/2014/main" id="{1654C092-07C7-8747-A0B6-A7AE4E6A6CC7}"/>
              </a:ext>
            </a:extLst>
          </p:cNvPr>
          <p:cNvSpPr>
            <a:spLocks noGrp="1"/>
          </p:cNvSpPr>
          <p:nvPr>
            <p:ph idx="1"/>
          </p:nvPr>
        </p:nvSpPr>
        <p:spPr>
          <a:xfrm>
            <a:off x="1700214" y="1143000"/>
            <a:ext cx="8619815" cy="5181600"/>
          </a:xfrm>
        </p:spPr>
        <p:txBody>
          <a:bodyPr/>
          <a:lstStyle/>
          <a:p>
            <a:r>
              <a:rPr lang="en-US" sz="2600" dirty="0"/>
              <a:t>Activations at hidden layers can be viewed as features extracted as functions of inputs</a:t>
            </a:r>
          </a:p>
          <a:p>
            <a:r>
              <a:rPr lang="en-US" sz="2600" dirty="0"/>
              <a:t>Every hidden layer represents a level of abstraction</a:t>
            </a:r>
          </a:p>
          <a:p>
            <a:pPr lvl="1"/>
            <a:r>
              <a:rPr lang="en-US" i="1" dirty="0"/>
              <a:t>Complex features are compositions of simpler features</a:t>
            </a:r>
          </a:p>
          <a:p>
            <a:pPr lvl="1"/>
            <a:endParaRPr lang="en-US" i="1" dirty="0"/>
          </a:p>
          <a:p>
            <a:pPr lvl="1"/>
            <a:endParaRPr lang="en-US" i="1" dirty="0"/>
          </a:p>
          <a:p>
            <a:pPr lvl="1"/>
            <a:endParaRPr lang="en-US" i="1" dirty="0"/>
          </a:p>
          <a:p>
            <a:pPr lvl="1"/>
            <a:endParaRPr lang="en-US" i="1" dirty="0"/>
          </a:p>
          <a:p>
            <a:pPr marL="457200" lvl="1" indent="0">
              <a:buNone/>
            </a:pPr>
            <a:endParaRPr lang="en-US" sz="2000" i="1" dirty="0"/>
          </a:p>
          <a:p>
            <a:r>
              <a:rPr lang="en-US" sz="2600" dirty="0"/>
              <a:t>Number of layers is known as </a:t>
            </a:r>
            <a:r>
              <a:rPr lang="en-US" sz="2600" b="1" dirty="0"/>
              <a:t>depth</a:t>
            </a:r>
            <a:r>
              <a:rPr lang="en-US" sz="2600" dirty="0"/>
              <a:t> of ANN</a:t>
            </a:r>
          </a:p>
          <a:p>
            <a:pPr lvl="1"/>
            <a:r>
              <a:rPr lang="en-US" i="1" dirty="0"/>
              <a:t>Deeper networks express complex hierarchy of features</a:t>
            </a:r>
          </a:p>
        </p:txBody>
      </p:sp>
      <p:pic>
        <p:nvPicPr>
          <p:cNvPr id="6" name="Picture 5">
            <a:extLst>
              <a:ext uri="{FF2B5EF4-FFF2-40B4-BE49-F238E27FC236}">
                <a16:creationId xmlns:a16="http://schemas.microsoft.com/office/drawing/2014/main" id="{DF9113C5-5C10-8B40-B87A-3A5769A526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595" t="19235" r="8582" b="48436"/>
          <a:stretch>
            <a:fillRect/>
          </a:stretch>
        </p:blipFill>
        <p:spPr bwMode="auto">
          <a:xfrm>
            <a:off x="2133600" y="3124201"/>
            <a:ext cx="7931634" cy="183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35C4BE3D-77F6-D2C0-1F57-E60419BF28AF}"/>
              </a:ext>
            </a:extLst>
          </p:cNvPr>
          <p:cNvSpPr>
            <a:spLocks noGrp="1"/>
          </p:cNvSpPr>
          <p:nvPr>
            <p:ph type="sldNum" sz="quarter" idx="12"/>
          </p:nvPr>
        </p:nvSpPr>
        <p:spPr/>
        <p:txBody>
          <a:bodyPr/>
          <a:lstStyle/>
          <a:p>
            <a:fld id="{C3CACD4E-8C52-004E-9A96-AD0BCBF3CA39}" type="slidenum">
              <a:rPr lang="en-US" smtClean="0"/>
              <a:t>42</a:t>
            </a:fld>
            <a:endParaRPr lang="en-US"/>
          </a:p>
        </p:txBody>
      </p:sp>
    </p:spTree>
    <p:extLst>
      <p:ext uri="{BB962C8B-B14F-4D97-AF65-F5344CB8AC3E}">
        <p14:creationId xmlns:p14="http://schemas.microsoft.com/office/powerpoint/2010/main" val="23860800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05000" y="152400"/>
            <a:ext cx="8280400" cy="533400"/>
          </a:xfrm>
        </p:spPr>
        <p:txBody>
          <a:bodyPr>
            <a:normAutofit fontScale="90000"/>
          </a:bodyPr>
          <a:lstStyle/>
          <a:p>
            <a:r>
              <a:rPr lang="en-US" altLang="en-US" dirty="0"/>
              <a:t>Multi-Layer Network Architecture</a:t>
            </a:r>
          </a:p>
        </p:txBody>
      </p:sp>
      <p:pic>
        <p:nvPicPr>
          <p:cNvPr id="6" name="Picture 5">
            <a:extLst>
              <a:ext uri="{FF2B5EF4-FFF2-40B4-BE49-F238E27FC236}">
                <a16:creationId xmlns:a16="http://schemas.microsoft.com/office/drawing/2014/main" id="{9E5773F0-1697-5E4A-AA84-F3F3FADA5FAD}"/>
              </a:ext>
            </a:extLst>
          </p:cNvPr>
          <p:cNvPicPr>
            <a:picLocks noChangeAspect="1"/>
          </p:cNvPicPr>
          <p:nvPr/>
        </p:nvPicPr>
        <p:blipFill>
          <a:blip r:embed="rId2"/>
          <a:stretch>
            <a:fillRect/>
          </a:stretch>
        </p:blipFill>
        <p:spPr>
          <a:xfrm>
            <a:off x="4648201" y="4495801"/>
            <a:ext cx="3967201" cy="813785"/>
          </a:xfrm>
          <a:prstGeom prst="rect">
            <a:avLst/>
          </a:prstGeom>
        </p:spPr>
      </p:pic>
      <p:sp>
        <p:nvSpPr>
          <p:cNvPr id="7" name="TextBox 6">
            <a:extLst>
              <a:ext uri="{FF2B5EF4-FFF2-40B4-BE49-F238E27FC236}">
                <a16:creationId xmlns:a16="http://schemas.microsoft.com/office/drawing/2014/main" id="{F4A827D4-9138-A840-A783-818CD574AC2C}"/>
              </a:ext>
            </a:extLst>
          </p:cNvPr>
          <p:cNvSpPr txBox="1"/>
          <p:nvPr/>
        </p:nvSpPr>
        <p:spPr>
          <a:xfrm>
            <a:off x="2291952" y="5466650"/>
            <a:ext cx="2057400" cy="646331"/>
          </a:xfrm>
          <a:prstGeom prst="rect">
            <a:avLst/>
          </a:prstGeom>
          <a:noFill/>
        </p:spPr>
        <p:txBody>
          <a:bodyPr wrap="square" rtlCol="0">
            <a:spAutoFit/>
          </a:bodyPr>
          <a:lstStyle/>
          <a:p>
            <a:pPr algn="ctr"/>
            <a:r>
              <a:rPr lang="en-US" dirty="0"/>
              <a:t>Activation value at node </a:t>
            </a:r>
            <a:r>
              <a:rPr lang="en-US" dirty="0" err="1"/>
              <a:t>i</a:t>
            </a:r>
            <a:r>
              <a:rPr lang="en-US" dirty="0"/>
              <a:t> at layer l</a:t>
            </a:r>
            <a:endParaRPr lang="en-US" baseline="30000" dirty="0"/>
          </a:p>
        </p:txBody>
      </p:sp>
      <p:pic>
        <p:nvPicPr>
          <p:cNvPr id="8" name="Picture 7">
            <a:extLst>
              <a:ext uri="{FF2B5EF4-FFF2-40B4-BE49-F238E27FC236}">
                <a16:creationId xmlns:a16="http://schemas.microsoft.com/office/drawing/2014/main" id="{745CD011-69BC-4247-9F1B-945CC10CB89E}"/>
              </a:ext>
            </a:extLst>
          </p:cNvPr>
          <p:cNvPicPr>
            <a:picLocks noChangeAspect="1"/>
          </p:cNvPicPr>
          <p:nvPr/>
        </p:nvPicPr>
        <p:blipFill>
          <a:blip r:embed="rId3"/>
          <a:stretch>
            <a:fillRect/>
          </a:stretch>
        </p:blipFill>
        <p:spPr>
          <a:xfrm>
            <a:off x="3135720" y="1143000"/>
            <a:ext cx="5942419" cy="3048000"/>
          </a:xfrm>
          <a:prstGeom prst="rect">
            <a:avLst/>
          </a:prstGeom>
        </p:spPr>
      </p:pic>
      <p:sp>
        <p:nvSpPr>
          <p:cNvPr id="17" name="TextBox 16">
            <a:extLst>
              <a:ext uri="{FF2B5EF4-FFF2-40B4-BE49-F238E27FC236}">
                <a16:creationId xmlns:a16="http://schemas.microsoft.com/office/drawing/2014/main" id="{0D71096E-E36F-5D44-820D-E7C5629E1326}"/>
              </a:ext>
            </a:extLst>
          </p:cNvPr>
          <p:cNvSpPr txBox="1"/>
          <p:nvPr/>
        </p:nvSpPr>
        <p:spPr>
          <a:xfrm>
            <a:off x="4702969" y="5506326"/>
            <a:ext cx="1414463" cy="646331"/>
          </a:xfrm>
          <a:prstGeom prst="rect">
            <a:avLst/>
          </a:prstGeom>
          <a:solidFill>
            <a:schemeClr val="accent5"/>
          </a:solidFill>
        </p:spPr>
        <p:txBody>
          <a:bodyPr wrap="square" rtlCol="0">
            <a:spAutoFit/>
          </a:bodyPr>
          <a:lstStyle/>
          <a:p>
            <a:pPr algn="ctr"/>
            <a:r>
              <a:rPr lang="en-US" dirty="0"/>
              <a:t>Activation Function</a:t>
            </a:r>
            <a:endParaRPr lang="en-US" baseline="30000" dirty="0"/>
          </a:p>
        </p:txBody>
      </p:sp>
      <p:sp>
        <p:nvSpPr>
          <p:cNvPr id="18" name="TextBox 17">
            <a:extLst>
              <a:ext uri="{FF2B5EF4-FFF2-40B4-BE49-F238E27FC236}">
                <a16:creationId xmlns:a16="http://schemas.microsoft.com/office/drawing/2014/main" id="{A8BCFEC9-9B75-E746-BF88-46AB15A1E6A5}"/>
              </a:ext>
            </a:extLst>
          </p:cNvPr>
          <p:cNvSpPr txBox="1"/>
          <p:nvPr/>
        </p:nvSpPr>
        <p:spPr>
          <a:xfrm>
            <a:off x="6333550" y="5705557"/>
            <a:ext cx="2425302" cy="369332"/>
          </a:xfrm>
          <a:prstGeom prst="rect">
            <a:avLst/>
          </a:prstGeom>
          <a:noFill/>
        </p:spPr>
        <p:txBody>
          <a:bodyPr wrap="square" rtlCol="0">
            <a:spAutoFit/>
          </a:bodyPr>
          <a:lstStyle/>
          <a:p>
            <a:pPr algn="ctr"/>
            <a:r>
              <a:rPr lang="en-US" dirty="0"/>
              <a:t>Linear Predictor</a:t>
            </a:r>
            <a:endParaRPr lang="en-US" baseline="30000" dirty="0"/>
          </a:p>
        </p:txBody>
      </p:sp>
      <p:cxnSp>
        <p:nvCxnSpPr>
          <p:cNvPr id="19" name="Straight Arrow Connector 18">
            <a:extLst>
              <a:ext uri="{FF2B5EF4-FFF2-40B4-BE49-F238E27FC236}">
                <a16:creationId xmlns:a16="http://schemas.microsoft.com/office/drawing/2014/main" id="{F2C5C300-99C5-E840-948E-FD739FCE3F87}"/>
              </a:ext>
            </a:extLst>
          </p:cNvPr>
          <p:cNvCxnSpPr>
            <a:cxnSpLocks/>
          </p:cNvCxnSpPr>
          <p:nvPr/>
        </p:nvCxnSpPr>
        <p:spPr bwMode="auto">
          <a:xfrm flipV="1">
            <a:off x="5410200" y="4993180"/>
            <a:ext cx="0" cy="50898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0440F1F1-3044-8341-9270-AE57716A4843}"/>
              </a:ext>
            </a:extLst>
          </p:cNvPr>
          <p:cNvCxnSpPr>
            <a:cxnSpLocks/>
            <a:stCxn id="7" idx="0"/>
            <a:endCxn id="6" idx="1"/>
          </p:cNvCxnSpPr>
          <p:nvPr/>
        </p:nvCxnSpPr>
        <p:spPr bwMode="auto">
          <a:xfrm flipV="1">
            <a:off x="3320652" y="4902693"/>
            <a:ext cx="1327548" cy="56395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2" name="Left Brace 21">
            <a:extLst>
              <a:ext uri="{FF2B5EF4-FFF2-40B4-BE49-F238E27FC236}">
                <a16:creationId xmlns:a16="http://schemas.microsoft.com/office/drawing/2014/main" id="{947B9E7E-13C8-4343-B9D4-615E29005245}"/>
              </a:ext>
            </a:extLst>
          </p:cNvPr>
          <p:cNvSpPr/>
          <p:nvPr/>
        </p:nvSpPr>
        <p:spPr bwMode="auto">
          <a:xfrm rot="16200000">
            <a:off x="7342437" y="4550469"/>
            <a:ext cx="407531" cy="1828802"/>
          </a:xfrm>
          <a:prstGeom prst="leftBrace">
            <a:avLst>
              <a:gd name="adj1" fmla="val 110003"/>
              <a:gd name="adj2" fmla="val 52091"/>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00" b="1">
              <a:latin typeface="Arial" charset="0"/>
            </a:endParaRPr>
          </a:p>
        </p:txBody>
      </p:sp>
      <p:sp>
        <p:nvSpPr>
          <p:cNvPr id="2" name="Slide Number Placeholder 1">
            <a:extLst>
              <a:ext uri="{FF2B5EF4-FFF2-40B4-BE49-F238E27FC236}">
                <a16:creationId xmlns:a16="http://schemas.microsoft.com/office/drawing/2014/main" id="{6A179A1E-347E-3290-81E7-F92ABAC74E26}"/>
              </a:ext>
            </a:extLst>
          </p:cNvPr>
          <p:cNvSpPr>
            <a:spLocks noGrp="1"/>
          </p:cNvSpPr>
          <p:nvPr>
            <p:ph type="sldNum" sz="quarter" idx="12"/>
          </p:nvPr>
        </p:nvSpPr>
        <p:spPr/>
        <p:txBody>
          <a:bodyPr/>
          <a:lstStyle/>
          <a:p>
            <a:fld id="{C3CACD4E-8C52-004E-9A96-AD0BCBF3CA39}" type="slidenum">
              <a:rPr lang="en-US" smtClean="0"/>
              <a:t>43</a:t>
            </a:fld>
            <a:endParaRPr lang="en-US"/>
          </a:p>
        </p:txBody>
      </p:sp>
    </p:spTree>
    <p:extLst>
      <p:ext uri="{BB962C8B-B14F-4D97-AF65-F5344CB8AC3E}">
        <p14:creationId xmlns:p14="http://schemas.microsoft.com/office/powerpoint/2010/main" val="215513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P spid="18" grpId="0"/>
      <p:bldP spid="2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A9B4-1ED2-1F4D-B518-3C9BF55F8FE6}"/>
              </a:ext>
            </a:extLst>
          </p:cNvPr>
          <p:cNvSpPr>
            <a:spLocks noGrp="1"/>
          </p:cNvSpPr>
          <p:nvPr>
            <p:ph type="title"/>
          </p:nvPr>
        </p:nvSpPr>
        <p:spPr/>
        <p:txBody>
          <a:bodyPr/>
          <a:lstStyle/>
          <a:p>
            <a:r>
              <a:rPr lang="en-US" dirty="0"/>
              <a:t>Activation Functions</a:t>
            </a:r>
          </a:p>
        </p:txBody>
      </p:sp>
      <p:pic>
        <p:nvPicPr>
          <p:cNvPr id="4" name="Picture 5">
            <a:extLst>
              <a:ext uri="{FF2B5EF4-FFF2-40B4-BE49-F238E27FC236}">
                <a16:creationId xmlns:a16="http://schemas.microsoft.com/office/drawing/2014/main" id="{F87F4F65-24C3-E744-9C6A-D9A72C2C5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362201"/>
            <a:ext cx="5302250" cy="397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 name="Picture 4">
            <a:extLst>
              <a:ext uri="{FF2B5EF4-FFF2-40B4-BE49-F238E27FC236}">
                <a16:creationId xmlns:a16="http://schemas.microsoft.com/office/drawing/2014/main" id="{711E6844-0913-974D-B1F6-7F6DEB7497B4}"/>
              </a:ext>
            </a:extLst>
          </p:cNvPr>
          <p:cNvPicPr>
            <a:picLocks noChangeAspect="1"/>
          </p:cNvPicPr>
          <p:nvPr/>
        </p:nvPicPr>
        <p:blipFill>
          <a:blip r:embed="rId4"/>
          <a:stretch>
            <a:fillRect/>
          </a:stretch>
        </p:blipFill>
        <p:spPr>
          <a:xfrm>
            <a:off x="4191001" y="1091216"/>
            <a:ext cx="3967201" cy="813785"/>
          </a:xfrm>
          <a:prstGeom prst="rect">
            <a:avLst/>
          </a:prstGeom>
        </p:spPr>
      </p:pic>
      <p:pic>
        <p:nvPicPr>
          <p:cNvPr id="3" name="Picture 2"/>
          <p:cNvPicPr>
            <a:picLocks noChangeAspect="1"/>
          </p:cNvPicPr>
          <p:nvPr/>
        </p:nvPicPr>
        <p:blipFill>
          <a:blip r:embed="rId5"/>
          <a:stretch>
            <a:fillRect/>
          </a:stretch>
        </p:blipFill>
        <p:spPr>
          <a:xfrm>
            <a:off x="7467600" y="2362201"/>
            <a:ext cx="2863800" cy="1057275"/>
          </a:xfrm>
          <a:prstGeom prst="rect">
            <a:avLst/>
          </a:prstGeom>
        </p:spPr>
      </p:pic>
      <p:pic>
        <p:nvPicPr>
          <p:cNvPr id="6" name="Picture 5">
            <a:extLst>
              <a:ext uri="{FF2B5EF4-FFF2-40B4-BE49-F238E27FC236}">
                <a16:creationId xmlns:a16="http://schemas.microsoft.com/office/drawing/2014/main" id="{8D878394-7F36-CD48-991E-F0151F8A1892}"/>
              </a:ext>
            </a:extLst>
          </p:cNvPr>
          <p:cNvPicPr>
            <a:picLocks noChangeAspect="1"/>
          </p:cNvPicPr>
          <p:nvPr/>
        </p:nvPicPr>
        <p:blipFill>
          <a:blip r:embed="rId6"/>
          <a:stretch>
            <a:fillRect/>
          </a:stretch>
        </p:blipFill>
        <p:spPr>
          <a:xfrm>
            <a:off x="7706892" y="3276601"/>
            <a:ext cx="2351509" cy="651187"/>
          </a:xfrm>
          <a:prstGeom prst="rect">
            <a:avLst/>
          </a:prstGeom>
        </p:spPr>
      </p:pic>
      <p:sp>
        <p:nvSpPr>
          <p:cNvPr id="7" name="Slide Number Placeholder 6">
            <a:extLst>
              <a:ext uri="{FF2B5EF4-FFF2-40B4-BE49-F238E27FC236}">
                <a16:creationId xmlns:a16="http://schemas.microsoft.com/office/drawing/2014/main" id="{7D31F17A-490C-993D-3B80-BC08F3DB4EFB}"/>
              </a:ext>
            </a:extLst>
          </p:cNvPr>
          <p:cNvSpPr>
            <a:spLocks noGrp="1"/>
          </p:cNvSpPr>
          <p:nvPr>
            <p:ph type="sldNum" sz="quarter" idx="12"/>
          </p:nvPr>
        </p:nvSpPr>
        <p:spPr/>
        <p:txBody>
          <a:bodyPr/>
          <a:lstStyle/>
          <a:p>
            <a:fld id="{C3CACD4E-8C52-004E-9A96-AD0BCBF3CA39}" type="slidenum">
              <a:rPr lang="en-US" smtClean="0"/>
              <a:t>44</a:t>
            </a:fld>
            <a:endParaRPr lang="en-US"/>
          </a:p>
        </p:txBody>
      </p:sp>
    </p:spTree>
    <p:extLst>
      <p:ext uri="{BB962C8B-B14F-4D97-AF65-F5344CB8AC3E}">
        <p14:creationId xmlns:p14="http://schemas.microsoft.com/office/powerpoint/2010/main" val="32356587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t>Learning Multi-layer Neural Network</a:t>
            </a:r>
          </a:p>
        </p:txBody>
      </p:sp>
      <mc:AlternateContent xmlns:mc="http://schemas.openxmlformats.org/markup-compatibility/2006" xmlns:a14="http://schemas.microsoft.com/office/drawing/2010/main">
        <mc:Choice Requires="a14">
          <p:sp>
            <p:nvSpPr>
              <p:cNvPr id="16387" name="Rectangle 3"/>
              <p:cNvSpPr>
                <a:spLocks noGrp="1" noChangeArrowheads="1"/>
              </p:cNvSpPr>
              <p:nvPr>
                <p:ph type="body" idx="1"/>
              </p:nvPr>
            </p:nvSpPr>
            <p:spPr/>
            <p:txBody>
              <a:bodyPr/>
              <a:lstStyle/>
              <a:p>
                <a:pPr>
                  <a:lnSpc>
                    <a:spcPct val="90000"/>
                  </a:lnSpc>
                </a:pPr>
                <a:r>
                  <a:rPr lang="en-US" altLang="en-US" dirty="0"/>
                  <a:t>Can we apply perceptron learning rule to each node, including hidden nodes?</a:t>
                </a:r>
              </a:p>
              <a:p>
                <a:pPr lvl="1">
                  <a:lnSpc>
                    <a:spcPct val="90000"/>
                  </a:lnSpc>
                </a:pPr>
                <a:r>
                  <a:rPr lang="en-US" altLang="en-US" dirty="0"/>
                  <a:t>Perceptron learning rule computes error term e = y -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and updates weights accordingly</a:t>
                </a:r>
              </a:p>
              <a:p>
                <a:pPr marL="1254125" lvl="2" indent="-339725"/>
                <a:r>
                  <a:rPr lang="en-US" altLang="en-US" dirty="0"/>
                  <a:t>Problem: how to determine the true value of y for hidden nodes?</a:t>
                </a:r>
              </a:p>
              <a:p>
                <a:pPr lvl="1">
                  <a:lnSpc>
                    <a:spcPct val="90000"/>
                  </a:lnSpc>
                </a:pPr>
                <a:r>
                  <a:rPr lang="en-US" altLang="en-US" dirty="0"/>
                  <a:t>Approximate error in hidden nodes by error in the output nodes</a:t>
                </a:r>
              </a:p>
              <a:p>
                <a:pPr lvl="2">
                  <a:lnSpc>
                    <a:spcPct val="90000"/>
                  </a:lnSpc>
                </a:pPr>
                <a:r>
                  <a:rPr lang="en-US" altLang="en-US" dirty="0"/>
                  <a:t> Problem: </a:t>
                </a:r>
              </a:p>
              <a:p>
                <a:pPr lvl="3">
                  <a:lnSpc>
                    <a:spcPct val="90000"/>
                  </a:lnSpc>
                </a:pPr>
                <a:r>
                  <a:rPr lang="en-US" altLang="en-US" dirty="0"/>
                  <a:t>Not clear how adjustment in the hidden nodes affect overall error </a:t>
                </a:r>
              </a:p>
              <a:p>
                <a:pPr lvl="3">
                  <a:lnSpc>
                    <a:spcPct val="90000"/>
                  </a:lnSpc>
                </a:pPr>
                <a:r>
                  <a:rPr lang="en-US" altLang="en-US" dirty="0"/>
                  <a:t>No guarantee of convergence to optimal solution</a:t>
                </a:r>
              </a:p>
            </p:txBody>
          </p:sp>
        </mc:Choice>
        <mc:Fallback xmlns="">
          <p:sp>
            <p:nvSpPr>
              <p:cNvPr id="16387" name="Rectangle 3"/>
              <p:cNvSpPr>
                <a:spLocks noGrp="1" noRot="1" noChangeAspect="1" noMove="1" noResize="1" noEditPoints="1" noAdjustHandles="1" noChangeArrowheads="1" noChangeShapeType="1" noTextEdit="1"/>
              </p:cNvSpPr>
              <p:nvPr>
                <p:ph type="body" idx="1"/>
              </p:nvPr>
            </p:nvSpPr>
            <p:spPr>
              <a:blipFill>
                <a:blip r:embed="rId2"/>
                <a:stretch>
                  <a:fillRect l="-457" t="-1956" r="-762"/>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4118C04F-6224-4756-A238-4C5101F85982}"/>
              </a:ext>
            </a:extLst>
          </p:cNvPr>
          <p:cNvSpPr>
            <a:spLocks noGrp="1"/>
          </p:cNvSpPr>
          <p:nvPr>
            <p:ph type="sldNum" sz="quarter" idx="12"/>
          </p:nvPr>
        </p:nvSpPr>
        <p:spPr/>
        <p:txBody>
          <a:bodyPr/>
          <a:lstStyle/>
          <a:p>
            <a:fld id="{C3CACD4E-8C52-004E-9A96-AD0BCBF3CA39}" type="slidenum">
              <a:rPr lang="en-US" smtClean="0"/>
              <a:t>45</a:t>
            </a:fld>
            <a:endParaRPr lang="en-US"/>
          </a:p>
        </p:txBody>
      </p:sp>
    </p:spTree>
    <p:extLst>
      <p:ext uri="{BB962C8B-B14F-4D97-AF65-F5344CB8AC3E}">
        <p14:creationId xmlns:p14="http://schemas.microsoft.com/office/powerpoint/2010/main" val="25682494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p:sp>
        <p:nvSpPr>
          <p:cNvPr id="3" name="Content Placeholder 2"/>
          <p:cNvSpPr>
            <a:spLocks noGrp="1"/>
          </p:cNvSpPr>
          <p:nvPr>
            <p:ph idx="1"/>
          </p:nvPr>
        </p:nvSpPr>
        <p:spPr/>
        <p:txBody>
          <a:bodyPr>
            <a:normAutofit fontScale="92500" lnSpcReduction="10000"/>
          </a:bodyPr>
          <a:lstStyle/>
          <a:p>
            <a:r>
              <a:rPr lang="en-US" sz="2400" dirty="0"/>
              <a:t>Loss Function to measure errors across all training points</a:t>
            </a:r>
          </a:p>
          <a:p>
            <a:endParaRPr lang="en-US" sz="2400" dirty="0"/>
          </a:p>
          <a:p>
            <a:endParaRPr lang="en-US" sz="2400" dirty="0"/>
          </a:p>
          <a:p>
            <a:pPr lvl="1"/>
            <a:endParaRPr lang="en-US" sz="1200" dirty="0"/>
          </a:p>
          <a:p>
            <a:pPr lvl="0"/>
            <a:r>
              <a:rPr lang="en-US" sz="2400" dirty="0">
                <a:solidFill>
                  <a:srgbClr val="000000"/>
                </a:solidFill>
              </a:rPr>
              <a:t>Gradient descent: Update parameters in the direction of “maximum descent” in the loss function across all points</a:t>
            </a:r>
          </a:p>
          <a:p>
            <a:pPr lvl="0"/>
            <a:endParaRPr lang="en-US" sz="2400" dirty="0">
              <a:solidFill>
                <a:srgbClr val="000000"/>
              </a:solidFill>
            </a:endParaRPr>
          </a:p>
          <a:p>
            <a:pPr lvl="0"/>
            <a:endParaRPr lang="en-US" sz="2400" dirty="0">
              <a:solidFill>
                <a:srgbClr val="000000"/>
              </a:solidFill>
            </a:endParaRPr>
          </a:p>
          <a:p>
            <a:pPr lvl="0"/>
            <a:endParaRPr lang="en-US" sz="2400" dirty="0">
              <a:solidFill>
                <a:srgbClr val="000000"/>
              </a:solidFill>
            </a:endParaRPr>
          </a:p>
          <a:p>
            <a:pPr lvl="0"/>
            <a:endParaRPr lang="en-US" sz="2400" dirty="0">
              <a:solidFill>
                <a:srgbClr val="000000"/>
              </a:solidFill>
            </a:endParaRPr>
          </a:p>
          <a:p>
            <a:pPr lvl="0"/>
            <a:r>
              <a:rPr lang="en-US" altLang="en-US" sz="2000" dirty="0"/>
              <a:t>Stochastic gradient descent (SGD): update the weight for every instance (minibatch SGD: update over min-batches of instances)</a:t>
            </a:r>
            <a:endParaRPr lang="en-US" sz="2000" dirty="0">
              <a:solidFill>
                <a:srgbClr val="000000"/>
              </a:solidFill>
            </a:endParaRPr>
          </a:p>
          <a:p>
            <a:pPr lvl="1"/>
            <a:endParaRPr lang="en-US" dirty="0"/>
          </a:p>
        </p:txBody>
      </p:sp>
      <p:pic>
        <p:nvPicPr>
          <p:cNvPr id="4" name="Picture 3"/>
          <p:cNvPicPr>
            <a:picLocks noChangeAspect="1"/>
          </p:cNvPicPr>
          <p:nvPr/>
        </p:nvPicPr>
        <p:blipFill>
          <a:blip r:embed="rId2"/>
          <a:stretch>
            <a:fillRect/>
          </a:stretch>
        </p:blipFill>
        <p:spPr>
          <a:xfrm>
            <a:off x="2248352" y="1672023"/>
            <a:ext cx="3386137" cy="1039224"/>
          </a:xfrm>
          <a:prstGeom prst="rect">
            <a:avLst/>
          </a:prstGeom>
        </p:spPr>
      </p:pic>
      <p:pic>
        <p:nvPicPr>
          <p:cNvPr id="5" name="Picture 4"/>
          <p:cNvPicPr>
            <a:picLocks noChangeAspect="1"/>
          </p:cNvPicPr>
          <p:nvPr/>
        </p:nvPicPr>
        <p:blipFill>
          <a:blip r:embed="rId3"/>
          <a:stretch>
            <a:fillRect/>
          </a:stretch>
        </p:blipFill>
        <p:spPr>
          <a:xfrm>
            <a:off x="6048514" y="2195022"/>
            <a:ext cx="3419475" cy="514350"/>
          </a:xfrm>
          <a:prstGeom prst="rect">
            <a:avLst/>
          </a:prstGeom>
        </p:spPr>
      </p:pic>
      <p:pic>
        <p:nvPicPr>
          <p:cNvPr id="6" name="Picture 5"/>
          <p:cNvPicPr>
            <a:picLocks noChangeAspect="1"/>
          </p:cNvPicPr>
          <p:nvPr/>
        </p:nvPicPr>
        <p:blipFill>
          <a:blip r:embed="rId4"/>
          <a:stretch>
            <a:fillRect/>
          </a:stretch>
        </p:blipFill>
        <p:spPr>
          <a:xfrm>
            <a:off x="3382265" y="3761394"/>
            <a:ext cx="3048000" cy="1651760"/>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7327998" y="4200485"/>
                <a:ext cx="1888209" cy="400110"/>
              </a:xfrm>
              <a:prstGeom prst="rect">
                <a:avLst/>
              </a:prstGeom>
              <a:noFill/>
            </p:spPr>
            <p:txBody>
              <a:bodyPr wrap="none" rtlCol="0">
                <a:spAutoFit/>
              </a:bodyPr>
              <a:lstStyle/>
              <a:p>
                <a14:m>
                  <m:oMath xmlns:m="http://schemas.openxmlformats.org/officeDocument/2006/math">
                    <m:r>
                      <a:rPr lang="en-US" sz="2000" i="1">
                        <a:latin typeface="Cambria Math" panose="02040503050406030204" pitchFamily="18" charset="0"/>
                      </a:rPr>
                      <m:t>𝜆</m:t>
                    </m:r>
                  </m:oMath>
                </a14:m>
                <a:r>
                  <a:rPr lang="en-US" sz="2000" dirty="0"/>
                  <a:t>: learning rate</a:t>
                </a:r>
              </a:p>
            </p:txBody>
          </p:sp>
        </mc:Choice>
        <mc:Fallback xmlns="">
          <p:sp>
            <p:nvSpPr>
              <p:cNvPr id="7" name="TextBox 6"/>
              <p:cNvSpPr txBox="1">
                <a:spLocks noRot="1" noChangeAspect="1" noMove="1" noResize="1" noEditPoints="1" noAdjustHandles="1" noChangeArrowheads="1" noChangeShapeType="1" noTextEdit="1"/>
              </p:cNvSpPr>
              <p:nvPr/>
            </p:nvSpPr>
            <p:spPr>
              <a:xfrm>
                <a:off x="7327998" y="4200485"/>
                <a:ext cx="1888209" cy="400110"/>
              </a:xfrm>
              <a:prstGeom prst="rect">
                <a:avLst/>
              </a:prstGeom>
              <a:blipFill>
                <a:blip r:embed="rId5"/>
                <a:stretch>
                  <a:fillRect t="-3030" b="-27273"/>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C16DCFCB-C9DA-FB4D-99BE-50FC2D0A59F4}"/>
              </a:ext>
            </a:extLst>
          </p:cNvPr>
          <p:cNvSpPr/>
          <p:nvPr/>
        </p:nvSpPr>
        <p:spPr>
          <a:xfrm>
            <a:off x="7789337" y="1580327"/>
            <a:ext cx="2299027" cy="400110"/>
          </a:xfrm>
          <a:prstGeom prst="rect">
            <a:avLst/>
          </a:prstGeom>
        </p:spPr>
        <p:txBody>
          <a:bodyPr wrap="none">
            <a:spAutoFit/>
          </a:bodyPr>
          <a:lstStyle/>
          <a:p>
            <a:pPr lvl="1">
              <a:spcBef>
                <a:spcPct val="10000"/>
              </a:spcBef>
              <a:spcAft>
                <a:spcPts val="400"/>
              </a:spcAft>
              <a:buClr>
                <a:srgbClr val="0C7B9C"/>
              </a:buClr>
              <a:buSzPct val="100000"/>
            </a:pPr>
            <a:r>
              <a:rPr lang="en-US" sz="2000" kern="0" dirty="0">
                <a:solidFill>
                  <a:srgbClr val="000000"/>
                </a:solidFill>
                <a:latin typeface="Arial"/>
              </a:rPr>
              <a:t>Squared Loss:</a:t>
            </a:r>
          </a:p>
        </p:txBody>
      </p:sp>
      <p:sp>
        <p:nvSpPr>
          <p:cNvPr id="9" name="Slide Number Placeholder 8">
            <a:extLst>
              <a:ext uri="{FF2B5EF4-FFF2-40B4-BE49-F238E27FC236}">
                <a16:creationId xmlns:a16="http://schemas.microsoft.com/office/drawing/2014/main" id="{4519C296-CB0D-2B23-0C1E-55FF3FC02EA9}"/>
              </a:ext>
            </a:extLst>
          </p:cNvPr>
          <p:cNvSpPr>
            <a:spLocks noGrp="1"/>
          </p:cNvSpPr>
          <p:nvPr>
            <p:ph type="sldNum" sz="quarter" idx="12"/>
          </p:nvPr>
        </p:nvSpPr>
        <p:spPr/>
        <p:txBody>
          <a:bodyPr/>
          <a:lstStyle/>
          <a:p>
            <a:fld id="{C3CACD4E-8C52-004E-9A96-AD0BCBF3CA39}" type="slidenum">
              <a:rPr lang="en-US" smtClean="0"/>
              <a:t>46</a:t>
            </a:fld>
            <a:endParaRPr lang="en-US"/>
          </a:p>
        </p:txBody>
      </p:sp>
    </p:spTree>
    <p:extLst>
      <p:ext uri="{BB962C8B-B14F-4D97-AF65-F5344CB8AC3E}">
        <p14:creationId xmlns:p14="http://schemas.microsoft.com/office/powerpoint/2010/main" val="273074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Computing Gradients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endParaRPr lang="en-US" sz="2400" dirty="0"/>
              </a:p>
              <a:p>
                <a:endParaRPr lang="en-US" sz="2400" dirty="0"/>
              </a:p>
              <a:p>
                <a:r>
                  <a:rPr lang="en-US" sz="2400" dirty="0"/>
                  <a:t>Using chain rule of differentiation (on a single instance):</a:t>
                </a:r>
              </a:p>
              <a:p>
                <a:endParaRPr lang="en-US" sz="2400" dirty="0"/>
              </a:p>
              <a:p>
                <a:endParaRPr lang="en-US" sz="3200" dirty="0"/>
              </a:p>
              <a:p>
                <a:r>
                  <a:rPr lang="en-US" sz="2400" dirty="0"/>
                  <a:t>For sigmoid activation function:</a:t>
                </a:r>
              </a:p>
              <a:p>
                <a:endParaRPr lang="en-US" sz="2400" dirty="0"/>
              </a:p>
              <a:p>
                <a:endParaRPr lang="en-US" sz="2400" dirty="0"/>
              </a:p>
              <a:p>
                <a:endParaRPr lang="en-US" sz="2400" dirty="0"/>
              </a:p>
              <a:p>
                <a:endParaRPr lang="en-US" sz="2400" dirty="0"/>
              </a:p>
              <a:p>
                <a:r>
                  <a:rPr lang="en-US" sz="2400" dirty="0"/>
                  <a:t>How can we compute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𝛿</m:t>
                        </m:r>
                      </m:e>
                      <m:sub>
                        <m:r>
                          <a:rPr lang="en-US" sz="2400" i="1">
                            <a:latin typeface="Cambria Math" panose="02040503050406030204" pitchFamily="18" charset="0"/>
                          </a:rPr>
                          <m:t>𝑖</m:t>
                        </m:r>
                      </m:sub>
                      <m:sup>
                        <m:r>
                          <a:rPr lang="en-US" sz="2400" i="1">
                            <a:latin typeface="Cambria Math" panose="02040503050406030204" pitchFamily="18" charset="0"/>
                          </a:rPr>
                          <m:t>𝑙</m:t>
                        </m:r>
                      </m:sup>
                    </m:sSubSup>
                  </m:oMath>
                </a14:m>
                <a:r>
                  <a:rPr lang="en-US" sz="2400" dirty="0"/>
                  <a:t> for every layer?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24"/>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2200832" y="1371600"/>
            <a:ext cx="3116494" cy="1006620"/>
          </a:xfrm>
          <a:prstGeom prst="rect">
            <a:avLst/>
          </a:prstGeom>
        </p:spPr>
      </p:pic>
      <p:pic>
        <p:nvPicPr>
          <p:cNvPr id="5" name="Picture 4"/>
          <p:cNvPicPr>
            <a:picLocks noChangeAspect="1"/>
          </p:cNvPicPr>
          <p:nvPr/>
        </p:nvPicPr>
        <p:blipFill>
          <a:blip r:embed="rId4"/>
          <a:stretch>
            <a:fillRect/>
          </a:stretch>
        </p:blipFill>
        <p:spPr>
          <a:xfrm>
            <a:off x="4105656" y="2851915"/>
            <a:ext cx="3543300" cy="789190"/>
          </a:xfrm>
          <a:prstGeom prst="rect">
            <a:avLst/>
          </a:prstGeom>
        </p:spPr>
      </p:pic>
      <p:pic>
        <p:nvPicPr>
          <p:cNvPr id="6" name="Picture 5">
            <a:extLst>
              <a:ext uri="{FF2B5EF4-FFF2-40B4-BE49-F238E27FC236}">
                <a16:creationId xmlns:a16="http://schemas.microsoft.com/office/drawing/2014/main" id="{711E6844-0913-974D-B1F6-7F6DEB7497B4}"/>
              </a:ext>
            </a:extLst>
          </p:cNvPr>
          <p:cNvPicPr>
            <a:picLocks noChangeAspect="1"/>
          </p:cNvPicPr>
          <p:nvPr/>
        </p:nvPicPr>
        <p:blipFill>
          <a:blip r:embed="rId5"/>
          <a:stretch>
            <a:fillRect/>
          </a:stretch>
        </p:blipFill>
        <p:spPr>
          <a:xfrm>
            <a:off x="6333660" y="1371600"/>
            <a:ext cx="3506130" cy="719206"/>
          </a:xfrm>
          <a:prstGeom prst="rect">
            <a:avLst/>
          </a:prstGeom>
        </p:spPr>
      </p:pic>
      <p:pic>
        <p:nvPicPr>
          <p:cNvPr id="7" name="Picture 6"/>
          <p:cNvPicPr>
            <a:picLocks noChangeAspect="1"/>
          </p:cNvPicPr>
          <p:nvPr/>
        </p:nvPicPr>
        <p:blipFill>
          <a:blip r:embed="rId6"/>
          <a:stretch>
            <a:fillRect/>
          </a:stretch>
        </p:blipFill>
        <p:spPr>
          <a:xfrm>
            <a:off x="3352801" y="4114800"/>
            <a:ext cx="4733925" cy="1733550"/>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7417485" y="1033046"/>
                <a:ext cx="900568"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200" i="1">
                              <a:latin typeface="Cambria Math" panose="02040503050406030204" pitchFamily="18" charset="0"/>
                            </a:rPr>
                          </m:ctrlPr>
                        </m:accPr>
                        <m:e>
                          <m:r>
                            <a:rPr lang="en-US" sz="2200" i="1">
                              <a:latin typeface="Cambria Math" panose="02040503050406030204" pitchFamily="18" charset="0"/>
                            </a:rPr>
                            <m:t>𝑦</m:t>
                          </m:r>
                        </m:e>
                      </m:acc>
                      <m:r>
                        <a:rPr lang="en-US" sz="2200" i="1">
                          <a:latin typeface="Cambria Math" panose="02040503050406030204" pitchFamily="18" charset="0"/>
                        </a:rPr>
                        <m:t>=</m:t>
                      </m:r>
                      <m:sSup>
                        <m:sSupPr>
                          <m:ctrlPr>
                            <a:rPr lang="en-US" sz="2200" i="1">
                              <a:latin typeface="Cambria Math" panose="02040503050406030204" pitchFamily="18" charset="0"/>
                            </a:rPr>
                          </m:ctrlPr>
                        </m:sSupPr>
                        <m:e>
                          <m:r>
                            <a:rPr lang="en-US" sz="2200" i="1">
                              <a:latin typeface="Cambria Math" panose="02040503050406030204" pitchFamily="18" charset="0"/>
                            </a:rPr>
                            <m:t>𝑎</m:t>
                          </m:r>
                        </m:e>
                        <m:sup>
                          <m:r>
                            <a:rPr lang="en-US" sz="2200" i="1">
                              <a:latin typeface="Cambria Math" panose="02040503050406030204" pitchFamily="18" charset="0"/>
                            </a:rPr>
                            <m:t>𝐿</m:t>
                          </m:r>
                        </m:sup>
                      </m:sSup>
                    </m:oMath>
                  </m:oMathPara>
                </a14:m>
                <a:endParaRPr lang="en-US" sz="2200" dirty="0"/>
              </a:p>
            </p:txBody>
          </p:sp>
        </mc:Choice>
        <mc:Fallback xmlns="">
          <p:sp>
            <p:nvSpPr>
              <p:cNvPr id="8" name="TextBox 7"/>
              <p:cNvSpPr txBox="1">
                <a:spLocks noRot="1" noChangeAspect="1" noMove="1" noResize="1" noEditPoints="1" noAdjustHandles="1" noChangeArrowheads="1" noChangeShapeType="1" noTextEdit="1"/>
              </p:cNvSpPr>
              <p:nvPr/>
            </p:nvSpPr>
            <p:spPr>
              <a:xfrm>
                <a:off x="7417485" y="1033046"/>
                <a:ext cx="900568" cy="338554"/>
              </a:xfrm>
              <a:prstGeom prst="rect">
                <a:avLst/>
              </a:prstGeom>
              <a:blipFill>
                <a:blip r:embed="rId7"/>
                <a:stretch>
                  <a:fillRect l="-6944" t="-14286"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A4EA5B6-A84A-4A4A-AF25-EA098DBC3D25}"/>
                  </a:ext>
                </a:extLst>
              </p:cNvPr>
              <p:cNvSpPr txBox="1"/>
              <p:nvPr/>
            </p:nvSpPr>
            <p:spPr>
              <a:xfrm>
                <a:off x="4495801" y="1689557"/>
                <a:ext cx="207557"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𝑖𝑗</m:t>
                      </m:r>
                    </m:oMath>
                  </m:oMathPara>
                </a14:m>
                <a:endParaRPr lang="en-US" dirty="0"/>
              </a:p>
            </p:txBody>
          </p:sp>
        </mc:Choice>
        <mc:Fallback xmlns="">
          <p:sp>
            <p:nvSpPr>
              <p:cNvPr id="10" name="TextBox 9">
                <a:extLst>
                  <a:ext uri="{FF2B5EF4-FFF2-40B4-BE49-F238E27FC236}">
                    <a16:creationId xmlns:a16="http://schemas.microsoft.com/office/drawing/2014/main" id="{5A4EA5B6-A84A-4A4A-AF25-EA098DBC3D25}"/>
                  </a:ext>
                </a:extLst>
              </p:cNvPr>
              <p:cNvSpPr txBox="1">
                <a:spLocks noRot="1" noChangeAspect="1" noMove="1" noResize="1" noEditPoints="1" noAdjustHandles="1" noChangeArrowheads="1" noChangeShapeType="1" noTextEdit="1"/>
              </p:cNvSpPr>
              <p:nvPr/>
            </p:nvSpPr>
            <p:spPr>
              <a:xfrm>
                <a:off x="4495801" y="1689557"/>
                <a:ext cx="207557" cy="276999"/>
              </a:xfrm>
              <a:prstGeom prst="rect">
                <a:avLst/>
              </a:prstGeom>
              <a:blipFill>
                <a:blip r:embed="rId8"/>
                <a:stretch>
                  <a:fillRect l="-41176" r="-35294" b="-29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45125F8-19BD-D44A-B0F9-67081967AD4A}"/>
                  </a:ext>
                </a:extLst>
              </p:cNvPr>
              <p:cNvSpPr txBox="1"/>
              <p:nvPr/>
            </p:nvSpPr>
            <p:spPr>
              <a:xfrm>
                <a:off x="2667001" y="1705044"/>
                <a:ext cx="207557"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𝑖𝑗</m:t>
                      </m:r>
                    </m:oMath>
                  </m:oMathPara>
                </a14:m>
                <a:endParaRPr lang="en-US" dirty="0"/>
              </a:p>
            </p:txBody>
          </p:sp>
        </mc:Choice>
        <mc:Fallback xmlns="">
          <p:sp>
            <p:nvSpPr>
              <p:cNvPr id="11" name="TextBox 10">
                <a:extLst>
                  <a:ext uri="{FF2B5EF4-FFF2-40B4-BE49-F238E27FC236}">
                    <a16:creationId xmlns:a16="http://schemas.microsoft.com/office/drawing/2014/main" id="{C45125F8-19BD-D44A-B0F9-67081967AD4A}"/>
                  </a:ext>
                </a:extLst>
              </p:cNvPr>
              <p:cNvSpPr txBox="1">
                <a:spLocks noRot="1" noChangeAspect="1" noMove="1" noResize="1" noEditPoints="1" noAdjustHandles="1" noChangeArrowheads="1" noChangeShapeType="1" noTextEdit="1"/>
              </p:cNvSpPr>
              <p:nvPr/>
            </p:nvSpPr>
            <p:spPr>
              <a:xfrm>
                <a:off x="2667001" y="1705044"/>
                <a:ext cx="207557" cy="276999"/>
              </a:xfrm>
              <a:prstGeom prst="rect">
                <a:avLst/>
              </a:prstGeom>
              <a:blipFill>
                <a:blip r:embed="rId9"/>
                <a:stretch>
                  <a:fillRect l="-41176" r="-35294" b="-36364"/>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3C243FB6-C119-CF86-5DE6-DE9C13746390}"/>
              </a:ext>
            </a:extLst>
          </p:cNvPr>
          <p:cNvSpPr>
            <a:spLocks noGrp="1"/>
          </p:cNvSpPr>
          <p:nvPr>
            <p:ph type="sldNum" sz="quarter" idx="12"/>
          </p:nvPr>
        </p:nvSpPr>
        <p:spPr/>
        <p:txBody>
          <a:bodyPr/>
          <a:lstStyle/>
          <a:p>
            <a:fld id="{C3CACD4E-8C52-004E-9A96-AD0BCBF3CA39}" type="slidenum">
              <a:rPr lang="en-US" smtClean="0"/>
              <a:t>47</a:t>
            </a:fld>
            <a:endParaRPr lang="en-US"/>
          </a:p>
        </p:txBody>
      </p:sp>
    </p:spTree>
    <p:extLst>
      <p:ext uri="{BB962C8B-B14F-4D97-AF65-F5344CB8AC3E}">
        <p14:creationId xmlns:p14="http://schemas.microsoft.com/office/powerpoint/2010/main" val="45733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360" y="78034"/>
            <a:ext cx="10515600" cy="1325563"/>
          </a:xfrm>
        </p:spPr>
        <p:txBody>
          <a:bodyPr/>
          <a:lstStyle/>
          <a:p>
            <a:r>
              <a:rPr lang="en-US" dirty="0"/>
              <a:t>Backpropagation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52600" y="1066800"/>
                <a:ext cx="8686800" cy="5257800"/>
              </a:xfrm>
            </p:spPr>
            <p:txBody>
              <a:bodyPr/>
              <a:lstStyle/>
              <a:p>
                <a:r>
                  <a:rPr lang="en-US" sz="2400" dirty="0"/>
                  <a:t>At output layer L:</a:t>
                </a:r>
              </a:p>
              <a:p>
                <a:endParaRPr lang="en-US" sz="2400" dirty="0"/>
              </a:p>
              <a:p>
                <a:pPr marL="0" indent="0">
                  <a:buNone/>
                </a:pPr>
                <a:endParaRPr lang="en-US" sz="3200" dirty="0"/>
              </a:p>
              <a:p>
                <a:r>
                  <a:rPr lang="en-US" sz="2400" dirty="0"/>
                  <a:t>At a hidden layer </a:t>
                </a:r>
                <a14:m>
                  <m:oMath xmlns:m="http://schemas.openxmlformats.org/officeDocument/2006/math">
                    <m:r>
                      <a:rPr lang="en-US" sz="2400" i="1">
                        <a:latin typeface="Cambria Math" panose="02040503050406030204" pitchFamily="18" charset="0"/>
                      </a:rPr>
                      <m:t>𝑙</m:t>
                    </m:r>
                  </m:oMath>
                </a14:m>
                <a:r>
                  <a:rPr lang="en-US" sz="2400" dirty="0"/>
                  <a:t> (using chain rule):</a:t>
                </a:r>
              </a:p>
              <a:p>
                <a:endParaRPr lang="en-US" sz="2400" dirty="0"/>
              </a:p>
              <a:p>
                <a:endParaRPr lang="en-US" sz="2400" dirty="0"/>
              </a:p>
              <a:p>
                <a:pPr lvl="1"/>
                <a:r>
                  <a:rPr lang="en-US" sz="2000" dirty="0"/>
                  <a:t>Gradients at layer l can be computed using gradients at layer l + 1</a:t>
                </a:r>
              </a:p>
              <a:p>
                <a:pPr lvl="1"/>
                <a:r>
                  <a:rPr lang="en-US" sz="2000" dirty="0"/>
                  <a:t>Start from layer L and “backpropagate” gradients to all previous layers</a:t>
                </a:r>
              </a:p>
              <a:p>
                <a:pPr lvl="1"/>
                <a:endParaRPr lang="en-US" sz="100" dirty="0"/>
              </a:p>
              <a:p>
                <a:r>
                  <a:rPr lang="en-US" altLang="en-US" sz="2000" dirty="0"/>
                  <a:t>Use gradient descent to update weights at every epoch</a:t>
                </a:r>
              </a:p>
              <a:p>
                <a:r>
                  <a:rPr lang="en-US" altLang="en-US" sz="2000" dirty="0"/>
                  <a:t>For next epoch, use updated weights to compute loss fn. and its gradient</a:t>
                </a:r>
              </a:p>
              <a:p>
                <a:r>
                  <a:rPr lang="en-US" altLang="en-US" sz="2000" dirty="0"/>
                  <a:t>Iterate until convergence (loss does not change)</a:t>
                </a:r>
                <a:r>
                  <a:rPr lang="en-US" altLang="en-US" sz="2400" dirty="0"/>
                  <a:t> </a:t>
                </a:r>
              </a:p>
              <a:p>
                <a:endParaRPr lang="en-US" sz="2400" dirty="0"/>
              </a:p>
              <a:p>
                <a:endParaRPr lang="en-US" sz="2400" dirty="0"/>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52600" y="1066800"/>
                <a:ext cx="8686800" cy="5257800"/>
              </a:xfrm>
              <a:blipFill>
                <a:blip r:embed="rId2"/>
                <a:stretch>
                  <a:fillRect l="-1022" t="-1687"/>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3547845" y="1649754"/>
            <a:ext cx="5090631" cy="1010708"/>
          </a:xfrm>
          <a:prstGeom prst="rect">
            <a:avLst/>
          </a:prstGeom>
        </p:spPr>
      </p:pic>
      <p:pic>
        <p:nvPicPr>
          <p:cNvPr id="6" name="Picture 5"/>
          <p:cNvPicPr>
            <a:picLocks noChangeAspect="1"/>
          </p:cNvPicPr>
          <p:nvPr/>
        </p:nvPicPr>
        <p:blipFill rotWithShape="1">
          <a:blip r:embed="rId4"/>
          <a:srcRect t="69314"/>
          <a:stretch/>
        </p:blipFill>
        <p:spPr>
          <a:xfrm>
            <a:off x="3429001" y="3152776"/>
            <a:ext cx="5534025" cy="809625"/>
          </a:xfrm>
          <a:prstGeom prst="rect">
            <a:avLst/>
          </a:prstGeom>
        </p:spPr>
      </p:pic>
      <p:pic>
        <p:nvPicPr>
          <p:cNvPr id="5" name="Picture 4"/>
          <p:cNvPicPr>
            <a:picLocks noChangeAspect="1"/>
          </p:cNvPicPr>
          <p:nvPr/>
        </p:nvPicPr>
        <p:blipFill rotWithShape="1">
          <a:blip r:embed="rId4"/>
          <a:srcRect t="2887" r="91738" b="74008"/>
          <a:stretch/>
        </p:blipFill>
        <p:spPr>
          <a:xfrm>
            <a:off x="3536270" y="3167063"/>
            <a:ext cx="457201" cy="609600"/>
          </a:xfrm>
          <a:prstGeom prst="rect">
            <a:avLst/>
          </a:prstGeom>
        </p:spPr>
      </p:pic>
      <p:sp>
        <p:nvSpPr>
          <p:cNvPr id="7" name="Slide Number Placeholder 6">
            <a:extLst>
              <a:ext uri="{FF2B5EF4-FFF2-40B4-BE49-F238E27FC236}">
                <a16:creationId xmlns:a16="http://schemas.microsoft.com/office/drawing/2014/main" id="{F7BA07FA-FABD-F164-4E2D-ACCD7F5B7099}"/>
              </a:ext>
            </a:extLst>
          </p:cNvPr>
          <p:cNvSpPr>
            <a:spLocks noGrp="1"/>
          </p:cNvSpPr>
          <p:nvPr>
            <p:ph type="sldNum" sz="quarter" idx="12"/>
          </p:nvPr>
        </p:nvSpPr>
        <p:spPr/>
        <p:txBody>
          <a:bodyPr/>
          <a:lstStyle/>
          <a:p>
            <a:fld id="{C3CACD4E-8C52-004E-9A96-AD0BCBF3CA39}" type="slidenum">
              <a:rPr lang="en-US" smtClean="0"/>
              <a:t>48</a:t>
            </a:fld>
            <a:endParaRPr lang="en-US"/>
          </a:p>
        </p:txBody>
      </p:sp>
    </p:spTree>
    <p:extLst>
      <p:ext uri="{BB962C8B-B14F-4D97-AF65-F5344CB8AC3E}">
        <p14:creationId xmlns:p14="http://schemas.microsoft.com/office/powerpoint/2010/main" val="11614051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a:t>Design Issues in ANN</a:t>
            </a:r>
          </a:p>
        </p:txBody>
      </p:sp>
      <p:sp>
        <p:nvSpPr>
          <p:cNvPr id="19459" name="Rectangle 3"/>
          <p:cNvSpPr>
            <a:spLocks noGrp="1" noChangeArrowheads="1"/>
          </p:cNvSpPr>
          <p:nvPr>
            <p:ph type="body" idx="1"/>
          </p:nvPr>
        </p:nvSpPr>
        <p:spPr/>
        <p:txBody>
          <a:bodyPr/>
          <a:lstStyle/>
          <a:p>
            <a:r>
              <a:rPr lang="en-US" altLang="en-US" sz="2400" dirty="0"/>
              <a:t>Number of nodes in input layer </a:t>
            </a:r>
          </a:p>
          <a:p>
            <a:pPr lvl="1"/>
            <a:r>
              <a:rPr lang="en-US" altLang="en-US" sz="2000" dirty="0"/>
              <a:t>One input node per </a:t>
            </a:r>
            <a:r>
              <a:rPr lang="en-US" altLang="en-US" sz="2000" b="1" dirty="0"/>
              <a:t>binary/continuous</a:t>
            </a:r>
            <a:r>
              <a:rPr lang="en-US" altLang="en-US" sz="2000" dirty="0"/>
              <a:t> attribute</a:t>
            </a:r>
          </a:p>
          <a:p>
            <a:pPr lvl="1"/>
            <a:r>
              <a:rPr lang="en-US" altLang="en-US" sz="2000" dirty="0"/>
              <a:t>k or log</a:t>
            </a:r>
            <a:r>
              <a:rPr lang="en-US" altLang="en-US" sz="2000" baseline="-25000" dirty="0"/>
              <a:t>2</a:t>
            </a:r>
            <a:r>
              <a:rPr lang="en-US" altLang="en-US" sz="2000" dirty="0"/>
              <a:t> k nodes for each </a:t>
            </a:r>
            <a:r>
              <a:rPr lang="en-US" altLang="en-US" sz="2000" b="1" dirty="0"/>
              <a:t>categorical</a:t>
            </a:r>
            <a:r>
              <a:rPr lang="en-US" altLang="en-US" sz="2000" dirty="0"/>
              <a:t> attribute with k values</a:t>
            </a:r>
          </a:p>
          <a:p>
            <a:r>
              <a:rPr lang="en-US" altLang="en-US" sz="2400" dirty="0"/>
              <a:t>Number of nodes in output layer</a:t>
            </a:r>
          </a:p>
          <a:p>
            <a:pPr lvl="1"/>
            <a:r>
              <a:rPr lang="en-US" altLang="en-US" sz="2000" dirty="0"/>
              <a:t>One output for binary class problem</a:t>
            </a:r>
          </a:p>
          <a:p>
            <a:pPr lvl="1"/>
            <a:r>
              <a:rPr lang="en-US" altLang="en-US" sz="2000" dirty="0"/>
              <a:t>k or log</a:t>
            </a:r>
            <a:r>
              <a:rPr lang="en-US" altLang="en-US" sz="2000" baseline="-25000" dirty="0"/>
              <a:t>2</a:t>
            </a:r>
            <a:r>
              <a:rPr lang="en-US" altLang="en-US" sz="2000" dirty="0"/>
              <a:t> k nodes for k-class problem</a:t>
            </a:r>
          </a:p>
          <a:p>
            <a:r>
              <a:rPr lang="en-US" altLang="en-US" sz="2400" dirty="0"/>
              <a:t>Number of hidden layers and nodes per layer</a:t>
            </a:r>
          </a:p>
          <a:p>
            <a:r>
              <a:rPr lang="en-US" altLang="en-US" sz="2400" dirty="0"/>
              <a:t>Initial weights and biases</a:t>
            </a:r>
          </a:p>
          <a:p>
            <a:r>
              <a:rPr lang="en-US" altLang="en-US" sz="2400" dirty="0"/>
              <a:t>Learning rate, max. number of epochs, mini-batch size for mini-batch SGD, …</a:t>
            </a:r>
          </a:p>
          <a:p>
            <a:endParaRPr lang="en-US" altLang="en-US" sz="2400" dirty="0"/>
          </a:p>
          <a:p>
            <a:endParaRPr lang="en-US" altLang="en-US" sz="2400" dirty="0"/>
          </a:p>
        </p:txBody>
      </p:sp>
      <p:sp>
        <p:nvSpPr>
          <p:cNvPr id="2" name="Slide Number Placeholder 1">
            <a:extLst>
              <a:ext uri="{FF2B5EF4-FFF2-40B4-BE49-F238E27FC236}">
                <a16:creationId xmlns:a16="http://schemas.microsoft.com/office/drawing/2014/main" id="{7979AF67-26A4-21D5-496B-D4456F0C08BC}"/>
              </a:ext>
            </a:extLst>
          </p:cNvPr>
          <p:cNvSpPr>
            <a:spLocks noGrp="1"/>
          </p:cNvSpPr>
          <p:nvPr>
            <p:ph type="sldNum" sz="quarter" idx="12"/>
          </p:nvPr>
        </p:nvSpPr>
        <p:spPr/>
        <p:txBody>
          <a:bodyPr/>
          <a:lstStyle/>
          <a:p>
            <a:fld id="{C3CACD4E-8C52-004E-9A96-AD0BCBF3CA39}" type="slidenum">
              <a:rPr lang="en-US" smtClean="0"/>
              <a:t>49</a:t>
            </a:fld>
            <a:endParaRPr lang="en-US"/>
          </a:p>
        </p:txBody>
      </p:sp>
    </p:spTree>
    <p:extLst>
      <p:ext uri="{BB962C8B-B14F-4D97-AF65-F5344CB8AC3E}">
        <p14:creationId xmlns:p14="http://schemas.microsoft.com/office/powerpoint/2010/main" val="29606057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a:t>Characteristics of ANN</a:t>
            </a:r>
          </a:p>
        </p:txBody>
      </p:sp>
      <p:sp>
        <p:nvSpPr>
          <p:cNvPr id="20483" name="Rectangle 3"/>
          <p:cNvSpPr>
            <a:spLocks noGrp="1" noChangeArrowheads="1"/>
          </p:cNvSpPr>
          <p:nvPr>
            <p:ph type="body" idx="1"/>
          </p:nvPr>
        </p:nvSpPr>
        <p:spPr/>
        <p:txBody>
          <a:bodyPr/>
          <a:lstStyle/>
          <a:p>
            <a:r>
              <a:rPr lang="en-US" altLang="en-US" sz="2400" dirty="0"/>
              <a:t>Multilayer ANN are universal </a:t>
            </a:r>
            <a:r>
              <a:rPr lang="en-US" altLang="en-US" sz="2400" dirty="0" err="1"/>
              <a:t>approximators</a:t>
            </a:r>
            <a:r>
              <a:rPr lang="en-US" altLang="en-US" sz="2400" dirty="0"/>
              <a:t> but could suffer from overfitting if the network is too large</a:t>
            </a:r>
          </a:p>
          <a:p>
            <a:pPr lvl="1"/>
            <a:r>
              <a:rPr lang="en-US" altLang="en-US" sz="2000" dirty="0"/>
              <a:t>Naturally represents a hierarchy of features at multiple levels of abstractions</a:t>
            </a:r>
          </a:p>
          <a:p>
            <a:r>
              <a:rPr lang="en-US" altLang="en-US" sz="2400" dirty="0"/>
              <a:t>Gradient descent may converge to local minimum</a:t>
            </a:r>
          </a:p>
          <a:p>
            <a:r>
              <a:rPr lang="en-US" altLang="en-US" sz="2400" dirty="0"/>
              <a:t>Model building is compute intensive, but testing is fast </a:t>
            </a:r>
          </a:p>
          <a:p>
            <a:r>
              <a:rPr lang="en-US" altLang="en-US" sz="2400" dirty="0"/>
              <a:t>Can handle redundant and irrelevant attributes because weights are automatically learnt for all attributes</a:t>
            </a:r>
          </a:p>
          <a:p>
            <a:r>
              <a:rPr lang="en-US" altLang="en-US" sz="2400" dirty="0"/>
              <a:t>Sensitive to noise in training data</a:t>
            </a:r>
          </a:p>
          <a:p>
            <a:pPr lvl="1"/>
            <a:r>
              <a:rPr lang="en-US" altLang="en-US" sz="2000" dirty="0"/>
              <a:t>This issue can be addressed by incorporating model complexity in the loss function</a:t>
            </a:r>
          </a:p>
          <a:p>
            <a:r>
              <a:rPr lang="en-US" altLang="en-US" sz="2400" dirty="0"/>
              <a:t>Difficult to handle missing attributes</a:t>
            </a:r>
          </a:p>
        </p:txBody>
      </p:sp>
      <p:sp>
        <p:nvSpPr>
          <p:cNvPr id="2" name="Slide Number Placeholder 1">
            <a:extLst>
              <a:ext uri="{FF2B5EF4-FFF2-40B4-BE49-F238E27FC236}">
                <a16:creationId xmlns:a16="http://schemas.microsoft.com/office/drawing/2014/main" id="{4D9079EB-6E89-487A-8704-651F31D4FAFA}"/>
              </a:ext>
            </a:extLst>
          </p:cNvPr>
          <p:cNvSpPr>
            <a:spLocks noGrp="1"/>
          </p:cNvSpPr>
          <p:nvPr>
            <p:ph type="sldNum" sz="quarter" idx="12"/>
          </p:nvPr>
        </p:nvSpPr>
        <p:spPr/>
        <p:txBody>
          <a:bodyPr/>
          <a:lstStyle/>
          <a:p>
            <a:fld id="{C3CACD4E-8C52-004E-9A96-AD0BCBF3CA39}" type="slidenum">
              <a:rPr lang="en-US" smtClean="0"/>
              <a:t>50</a:t>
            </a:fld>
            <a:endParaRPr lang="en-US"/>
          </a:p>
        </p:txBody>
      </p:sp>
    </p:spTree>
    <p:extLst>
      <p:ext uri="{BB962C8B-B14F-4D97-AF65-F5344CB8AC3E}">
        <p14:creationId xmlns:p14="http://schemas.microsoft.com/office/powerpoint/2010/main" val="15716689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64535-8FF5-1F4D-8D58-A47BB9E21170}"/>
              </a:ext>
            </a:extLst>
          </p:cNvPr>
          <p:cNvSpPr>
            <a:spLocks noGrp="1"/>
          </p:cNvSpPr>
          <p:nvPr>
            <p:ph type="title"/>
          </p:nvPr>
        </p:nvSpPr>
        <p:spPr/>
        <p:txBody>
          <a:bodyPr/>
          <a:lstStyle/>
          <a:p>
            <a:r>
              <a:rPr lang="en-US" dirty="0"/>
              <a:t>Deep Learning Trends</a:t>
            </a:r>
          </a:p>
        </p:txBody>
      </p:sp>
      <p:sp>
        <p:nvSpPr>
          <p:cNvPr id="3" name="Content Placeholder 2">
            <a:extLst>
              <a:ext uri="{FF2B5EF4-FFF2-40B4-BE49-F238E27FC236}">
                <a16:creationId xmlns:a16="http://schemas.microsoft.com/office/drawing/2014/main" id="{2C759B39-65D2-AF46-8295-BC1EC3A78BC7}"/>
              </a:ext>
            </a:extLst>
          </p:cNvPr>
          <p:cNvSpPr>
            <a:spLocks noGrp="1"/>
          </p:cNvSpPr>
          <p:nvPr>
            <p:ph idx="1"/>
          </p:nvPr>
        </p:nvSpPr>
        <p:spPr/>
        <p:txBody>
          <a:bodyPr>
            <a:normAutofit lnSpcReduction="10000"/>
          </a:bodyPr>
          <a:lstStyle/>
          <a:p>
            <a:r>
              <a:rPr lang="en-US" sz="2000" dirty="0"/>
              <a:t>Training </a:t>
            </a:r>
            <a:r>
              <a:rPr lang="en-US" sz="2000" b="1" dirty="0"/>
              <a:t>deep</a:t>
            </a:r>
            <a:r>
              <a:rPr lang="en-US" sz="2000" dirty="0"/>
              <a:t> neural networks (more than 5-10 layers) could only be possible in recent times with:</a:t>
            </a:r>
          </a:p>
          <a:p>
            <a:pPr lvl="1"/>
            <a:r>
              <a:rPr lang="en-US" sz="1800" dirty="0"/>
              <a:t>Faster computing resources (GPU)</a:t>
            </a:r>
          </a:p>
          <a:p>
            <a:pPr lvl="1"/>
            <a:r>
              <a:rPr lang="en-US" sz="1800" dirty="0"/>
              <a:t>Larger labeled training sets</a:t>
            </a:r>
          </a:p>
          <a:p>
            <a:r>
              <a:rPr lang="en-US" sz="2000" dirty="0"/>
              <a:t>Algorithmic Improvements in Deep Learning</a:t>
            </a:r>
          </a:p>
          <a:p>
            <a:pPr lvl="1"/>
            <a:r>
              <a:rPr lang="en-US" sz="1800" dirty="0"/>
              <a:t>Responsive activation functions (e.g., RELU)</a:t>
            </a:r>
          </a:p>
          <a:p>
            <a:pPr lvl="1"/>
            <a:r>
              <a:rPr lang="en-US" sz="1800" dirty="0"/>
              <a:t>Regularization (e.g., Dropout)</a:t>
            </a:r>
          </a:p>
          <a:p>
            <a:pPr lvl="1"/>
            <a:r>
              <a:rPr lang="en-US" sz="1800" dirty="0"/>
              <a:t>Supervised pre-training</a:t>
            </a:r>
          </a:p>
          <a:p>
            <a:pPr lvl="1"/>
            <a:r>
              <a:rPr lang="en-US" sz="1800" dirty="0"/>
              <a:t>Unsupervised pre-training (auto-encoders)</a:t>
            </a:r>
            <a:endParaRPr lang="en-US" sz="2000" dirty="0"/>
          </a:p>
          <a:p>
            <a:r>
              <a:rPr lang="en-US" sz="2000" dirty="0"/>
              <a:t>Specialized ANN Architectures: </a:t>
            </a:r>
          </a:p>
          <a:p>
            <a:pPr lvl="1"/>
            <a:r>
              <a:rPr lang="en-US" sz="1800" dirty="0"/>
              <a:t>Convolutional Neural Networks (for image data)</a:t>
            </a:r>
          </a:p>
          <a:p>
            <a:pPr lvl="1"/>
            <a:r>
              <a:rPr lang="en-US" sz="1800" dirty="0"/>
              <a:t>Recurrent Neural Networks (for sequence data)</a:t>
            </a:r>
          </a:p>
          <a:p>
            <a:pPr lvl="1"/>
            <a:r>
              <a:rPr lang="en-US" sz="1800" dirty="0"/>
              <a:t>Residual Networks (with skip connections)</a:t>
            </a:r>
            <a:endParaRPr lang="en-US" sz="2000" dirty="0"/>
          </a:p>
          <a:p>
            <a:r>
              <a:rPr lang="en-US" sz="2000" dirty="0"/>
              <a:t>Generative Models: Generative Adversarial Networks</a:t>
            </a:r>
          </a:p>
        </p:txBody>
      </p:sp>
      <p:sp>
        <p:nvSpPr>
          <p:cNvPr id="4" name="Slide Number Placeholder 3">
            <a:extLst>
              <a:ext uri="{FF2B5EF4-FFF2-40B4-BE49-F238E27FC236}">
                <a16:creationId xmlns:a16="http://schemas.microsoft.com/office/drawing/2014/main" id="{1C8E8BCA-C67D-D569-14B1-1D3934D2FA4D}"/>
              </a:ext>
            </a:extLst>
          </p:cNvPr>
          <p:cNvSpPr>
            <a:spLocks noGrp="1"/>
          </p:cNvSpPr>
          <p:nvPr>
            <p:ph type="sldNum" sz="quarter" idx="12"/>
          </p:nvPr>
        </p:nvSpPr>
        <p:spPr/>
        <p:txBody>
          <a:bodyPr/>
          <a:lstStyle/>
          <a:p>
            <a:fld id="{C3CACD4E-8C52-004E-9A96-AD0BCBF3CA39}" type="slidenum">
              <a:rPr lang="en-US" smtClean="0"/>
              <a:t>51</a:t>
            </a:fld>
            <a:endParaRPr lang="en-US"/>
          </a:p>
        </p:txBody>
      </p:sp>
    </p:spTree>
    <p:extLst>
      <p:ext uri="{BB962C8B-B14F-4D97-AF65-F5344CB8AC3E}">
        <p14:creationId xmlns:p14="http://schemas.microsoft.com/office/powerpoint/2010/main" val="214993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1026">
            <a:extLst>
              <a:ext uri="{FF2B5EF4-FFF2-40B4-BE49-F238E27FC236}">
                <a16:creationId xmlns:a16="http://schemas.microsoft.com/office/drawing/2014/main" id="{641D69BE-E087-4F6E-CE0B-4302DF280DCE}"/>
              </a:ext>
            </a:extLst>
          </p:cNvPr>
          <p:cNvSpPr>
            <a:spLocks noGrp="1" noChangeArrowheads="1"/>
          </p:cNvSpPr>
          <p:nvPr>
            <p:ph type="title"/>
          </p:nvPr>
        </p:nvSpPr>
        <p:spPr/>
        <p:txBody>
          <a:bodyPr/>
          <a:lstStyle/>
          <a:p>
            <a:pPr eaLnBrk="1" hangingPunct="1"/>
            <a:r>
              <a:rPr lang="en-US" altLang="en-US"/>
              <a:t>Classification by Backpropagation</a:t>
            </a:r>
          </a:p>
        </p:txBody>
      </p:sp>
      <p:sp>
        <p:nvSpPr>
          <p:cNvPr id="9220" name="Rectangle 1027">
            <a:extLst>
              <a:ext uri="{FF2B5EF4-FFF2-40B4-BE49-F238E27FC236}">
                <a16:creationId xmlns:a16="http://schemas.microsoft.com/office/drawing/2014/main" id="{42113550-8B2D-1A7C-7CCB-0524E43C5BF1}"/>
              </a:ext>
            </a:extLst>
          </p:cNvPr>
          <p:cNvSpPr>
            <a:spLocks noGrp="1" noChangeArrowheads="1"/>
          </p:cNvSpPr>
          <p:nvPr>
            <p:ph type="body" idx="1"/>
          </p:nvPr>
        </p:nvSpPr>
        <p:spPr>
          <a:xfrm>
            <a:off x="609600" y="1447800"/>
            <a:ext cx="10515600" cy="4876800"/>
          </a:xfrm>
        </p:spPr>
        <p:txBody>
          <a:bodyPr>
            <a:normAutofit/>
          </a:bodyPr>
          <a:lstStyle/>
          <a:p>
            <a:pPr eaLnBrk="1" hangingPunct="1">
              <a:lnSpc>
                <a:spcPct val="120000"/>
              </a:lnSpc>
            </a:pPr>
            <a:r>
              <a:rPr lang="en-US" altLang="en-US" sz="2400" dirty="0"/>
              <a:t>Backpropagation: A </a:t>
            </a:r>
            <a:r>
              <a:rPr lang="en-US" altLang="en-US" sz="2400" b="1" dirty="0"/>
              <a:t>neural network </a:t>
            </a:r>
            <a:r>
              <a:rPr lang="en-US" altLang="en-US" sz="2400" dirty="0"/>
              <a:t>learning algorithm </a:t>
            </a:r>
          </a:p>
          <a:p>
            <a:pPr eaLnBrk="1" hangingPunct="1">
              <a:lnSpc>
                <a:spcPct val="120000"/>
              </a:lnSpc>
            </a:pPr>
            <a:r>
              <a:rPr lang="en-US" altLang="en-US" sz="2400" dirty="0"/>
              <a:t>Started by psychologists and neurobiologists to develop and test computational analogues of neurons</a:t>
            </a:r>
          </a:p>
          <a:p>
            <a:pPr eaLnBrk="1" hangingPunct="1">
              <a:lnSpc>
                <a:spcPct val="120000"/>
              </a:lnSpc>
            </a:pPr>
            <a:r>
              <a:rPr lang="en-US" altLang="en-US" sz="2400" dirty="0"/>
              <a:t>A neural network: A set of connected input/output units where each connection has a </a:t>
            </a:r>
            <a:r>
              <a:rPr lang="en-US" altLang="en-US" sz="2400" b="1" dirty="0"/>
              <a:t>weight</a:t>
            </a:r>
            <a:r>
              <a:rPr lang="en-US" altLang="en-US" sz="2400" dirty="0"/>
              <a:t> associated with it</a:t>
            </a:r>
          </a:p>
          <a:p>
            <a:pPr eaLnBrk="1" hangingPunct="1">
              <a:lnSpc>
                <a:spcPct val="120000"/>
              </a:lnSpc>
            </a:pPr>
            <a:r>
              <a:rPr lang="en-US" altLang="en-US" sz="2400" dirty="0"/>
              <a:t>During the learning phase, the </a:t>
            </a:r>
            <a:r>
              <a:rPr lang="en-US" altLang="en-US" sz="2400" b="1" dirty="0"/>
              <a:t>network learns by adjusting the weights</a:t>
            </a:r>
            <a:r>
              <a:rPr lang="en-US" altLang="en-US" sz="2400" dirty="0"/>
              <a:t> so as to be able to predict the correct class label of the input tuples</a:t>
            </a:r>
          </a:p>
          <a:p>
            <a:pPr eaLnBrk="1" hangingPunct="1">
              <a:lnSpc>
                <a:spcPct val="120000"/>
              </a:lnSpc>
            </a:pPr>
            <a:r>
              <a:rPr lang="en-US" altLang="en-US" sz="2400" dirty="0"/>
              <a:t>Also referred to as </a:t>
            </a:r>
            <a:r>
              <a:rPr lang="en-US" altLang="en-US" sz="2400" b="1" dirty="0"/>
              <a:t>connectionist learning</a:t>
            </a:r>
            <a:r>
              <a:rPr lang="en-US" altLang="en-US" sz="2400" dirty="0"/>
              <a:t> due to the connections between units</a:t>
            </a:r>
          </a:p>
        </p:txBody>
      </p:sp>
      <p:sp>
        <p:nvSpPr>
          <p:cNvPr id="2" name="Slide Number Placeholder 1">
            <a:extLst>
              <a:ext uri="{FF2B5EF4-FFF2-40B4-BE49-F238E27FC236}">
                <a16:creationId xmlns:a16="http://schemas.microsoft.com/office/drawing/2014/main" id="{078D9BB4-82BF-A4A0-46D3-BB7D193566DB}"/>
              </a:ext>
            </a:extLst>
          </p:cNvPr>
          <p:cNvSpPr>
            <a:spLocks noGrp="1"/>
          </p:cNvSpPr>
          <p:nvPr>
            <p:ph type="sldNum" sz="quarter" idx="12"/>
          </p:nvPr>
        </p:nvSpPr>
        <p:spPr/>
        <p:txBody>
          <a:bodyPr/>
          <a:lstStyle/>
          <a:p>
            <a:fld id="{C3CACD4E-8C52-004E-9A96-AD0BCBF3CA39}"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8FA79538-C8E4-63AB-17E0-1C0579380E7D}"/>
              </a:ext>
            </a:extLst>
          </p:cNvPr>
          <p:cNvSpPr>
            <a:spLocks noGrp="1" noChangeArrowheads="1"/>
          </p:cNvSpPr>
          <p:nvPr>
            <p:ph type="title"/>
          </p:nvPr>
        </p:nvSpPr>
        <p:spPr/>
        <p:txBody>
          <a:bodyPr/>
          <a:lstStyle/>
          <a:p>
            <a:pPr eaLnBrk="1" hangingPunct="1"/>
            <a:r>
              <a:rPr lang="en-US" altLang="en-US"/>
              <a:t>Neural Network as a Classifier</a:t>
            </a:r>
          </a:p>
        </p:txBody>
      </p:sp>
      <p:sp>
        <p:nvSpPr>
          <p:cNvPr id="10244" name="Rectangle 3">
            <a:extLst>
              <a:ext uri="{FF2B5EF4-FFF2-40B4-BE49-F238E27FC236}">
                <a16:creationId xmlns:a16="http://schemas.microsoft.com/office/drawing/2014/main" id="{30114974-E9CB-2657-99FA-7A3BE889D544}"/>
              </a:ext>
            </a:extLst>
          </p:cNvPr>
          <p:cNvSpPr>
            <a:spLocks noGrp="1" noChangeArrowheads="1"/>
          </p:cNvSpPr>
          <p:nvPr>
            <p:ph type="body" idx="1"/>
          </p:nvPr>
        </p:nvSpPr>
        <p:spPr>
          <a:xfrm>
            <a:off x="451945" y="1219200"/>
            <a:ext cx="11466786" cy="5334000"/>
          </a:xfrm>
        </p:spPr>
        <p:txBody>
          <a:bodyPr>
            <a:normAutofit/>
          </a:bodyPr>
          <a:lstStyle/>
          <a:p>
            <a:pPr eaLnBrk="1" hangingPunct="1">
              <a:lnSpc>
                <a:spcPct val="110000"/>
              </a:lnSpc>
            </a:pPr>
            <a:r>
              <a:rPr lang="en-US" altLang="en-US" sz="2000" dirty="0"/>
              <a:t>Weakness</a:t>
            </a:r>
          </a:p>
          <a:p>
            <a:pPr lvl="1" eaLnBrk="1" hangingPunct="1">
              <a:lnSpc>
                <a:spcPct val="110000"/>
              </a:lnSpc>
            </a:pPr>
            <a:r>
              <a:rPr lang="en-US" altLang="en-US" sz="2000" dirty="0"/>
              <a:t>Long training time </a:t>
            </a:r>
          </a:p>
          <a:p>
            <a:pPr lvl="1" eaLnBrk="1" hangingPunct="1">
              <a:lnSpc>
                <a:spcPct val="110000"/>
              </a:lnSpc>
            </a:pPr>
            <a:r>
              <a:rPr lang="en-US" altLang="en-US" sz="2000" dirty="0"/>
              <a:t>Require a number of parameters typically best determined empirically, e.g., the network topology or “structure.”</a:t>
            </a:r>
          </a:p>
          <a:p>
            <a:pPr lvl="1" eaLnBrk="1" hangingPunct="1">
              <a:lnSpc>
                <a:spcPct val="110000"/>
              </a:lnSpc>
            </a:pPr>
            <a:r>
              <a:rPr lang="en-US" altLang="en-US" sz="2000" dirty="0"/>
              <a:t>Poor interpretability: Difficult to interpret the symbolic meaning behind the learned weights and of “hidden units” in the network</a:t>
            </a:r>
          </a:p>
          <a:p>
            <a:pPr eaLnBrk="1" hangingPunct="1">
              <a:lnSpc>
                <a:spcPct val="110000"/>
              </a:lnSpc>
            </a:pPr>
            <a:r>
              <a:rPr lang="en-US" altLang="en-US" sz="2000" dirty="0"/>
              <a:t>Strength</a:t>
            </a:r>
          </a:p>
          <a:p>
            <a:pPr lvl="1" eaLnBrk="1" hangingPunct="1">
              <a:lnSpc>
                <a:spcPct val="110000"/>
              </a:lnSpc>
            </a:pPr>
            <a:r>
              <a:rPr lang="en-US" altLang="en-US" sz="2000" dirty="0"/>
              <a:t>High tolerance to noisy data </a:t>
            </a:r>
          </a:p>
          <a:p>
            <a:pPr lvl="1" eaLnBrk="1" hangingPunct="1">
              <a:lnSpc>
                <a:spcPct val="110000"/>
              </a:lnSpc>
            </a:pPr>
            <a:r>
              <a:rPr lang="en-US" altLang="en-US" sz="2000" dirty="0"/>
              <a:t>Ability to classify untrained patterns </a:t>
            </a:r>
          </a:p>
          <a:p>
            <a:pPr lvl="1" eaLnBrk="1" hangingPunct="1">
              <a:lnSpc>
                <a:spcPct val="110000"/>
              </a:lnSpc>
            </a:pPr>
            <a:r>
              <a:rPr lang="en-US" altLang="en-US" sz="2000" dirty="0"/>
              <a:t>Well-suited for continuous-valued inputs </a:t>
            </a:r>
            <a:r>
              <a:rPr lang="en-US" altLang="en-US" sz="2000" i="1" dirty="0"/>
              <a:t>and outputs</a:t>
            </a:r>
          </a:p>
          <a:p>
            <a:pPr lvl="1" eaLnBrk="1" hangingPunct="1">
              <a:lnSpc>
                <a:spcPct val="110000"/>
              </a:lnSpc>
            </a:pPr>
            <a:r>
              <a:rPr lang="en-US" altLang="en-US" sz="2000" dirty="0"/>
              <a:t>Successful on an array of real-world data, e.g., hand-written letters</a:t>
            </a:r>
          </a:p>
          <a:p>
            <a:pPr lvl="1" eaLnBrk="1" hangingPunct="1">
              <a:lnSpc>
                <a:spcPct val="110000"/>
              </a:lnSpc>
            </a:pPr>
            <a:r>
              <a:rPr lang="en-US" altLang="en-US" sz="2000" dirty="0"/>
              <a:t>Algorithms are inherently parallel</a:t>
            </a:r>
          </a:p>
          <a:p>
            <a:pPr lvl="1" eaLnBrk="1" hangingPunct="1">
              <a:lnSpc>
                <a:spcPct val="110000"/>
              </a:lnSpc>
            </a:pPr>
            <a:r>
              <a:rPr lang="en-US" altLang="en-US" sz="2000" dirty="0"/>
              <a:t>Techniques have recently been developed for the extraction of rules from trained neural networks</a:t>
            </a:r>
          </a:p>
        </p:txBody>
      </p:sp>
      <p:sp>
        <p:nvSpPr>
          <p:cNvPr id="2" name="Slide Number Placeholder 1">
            <a:extLst>
              <a:ext uri="{FF2B5EF4-FFF2-40B4-BE49-F238E27FC236}">
                <a16:creationId xmlns:a16="http://schemas.microsoft.com/office/drawing/2014/main" id="{F4F73E47-38A7-806D-D966-276A66C98D85}"/>
              </a:ext>
            </a:extLst>
          </p:cNvPr>
          <p:cNvSpPr>
            <a:spLocks noGrp="1"/>
          </p:cNvSpPr>
          <p:nvPr>
            <p:ph type="sldNum" sz="quarter" idx="12"/>
          </p:nvPr>
        </p:nvSpPr>
        <p:spPr/>
        <p:txBody>
          <a:bodyPr/>
          <a:lstStyle/>
          <a:p>
            <a:fld id="{C3CACD4E-8C52-004E-9A96-AD0BCBF3CA39}"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128DA3AF-79B3-CCC6-6335-F8B9C93C1F94}"/>
              </a:ext>
            </a:extLst>
          </p:cNvPr>
          <p:cNvSpPr>
            <a:spLocks noGrp="1" noChangeArrowheads="1"/>
          </p:cNvSpPr>
          <p:nvPr>
            <p:ph type="title"/>
          </p:nvPr>
        </p:nvSpPr>
        <p:spPr>
          <a:xfrm>
            <a:off x="1447800" y="304800"/>
            <a:ext cx="9372600" cy="685800"/>
          </a:xfrm>
          <a:noFill/>
        </p:spPr>
        <p:txBody>
          <a:bodyPr vert="horz" lIns="92075" tIns="46038" rIns="92075" bIns="46038" rtlCol="0" anchor="ctr">
            <a:normAutofit/>
          </a:bodyPr>
          <a:lstStyle/>
          <a:p>
            <a:pPr eaLnBrk="1" hangingPunct="1"/>
            <a:r>
              <a:rPr lang="en-US" altLang="en-US" sz="3200"/>
              <a:t>A Multi-Layer Feed-Forward Neural Network </a:t>
            </a:r>
          </a:p>
        </p:txBody>
      </p:sp>
      <p:grpSp>
        <p:nvGrpSpPr>
          <p:cNvPr id="11268" name="Group 3">
            <a:extLst>
              <a:ext uri="{FF2B5EF4-FFF2-40B4-BE49-F238E27FC236}">
                <a16:creationId xmlns:a16="http://schemas.microsoft.com/office/drawing/2014/main" id="{084084EF-2F6B-E111-1D64-CD06F8DB061A}"/>
              </a:ext>
            </a:extLst>
          </p:cNvPr>
          <p:cNvGrpSpPr>
            <a:grpSpLocks/>
          </p:cNvGrpSpPr>
          <p:nvPr/>
        </p:nvGrpSpPr>
        <p:grpSpPr bwMode="auto">
          <a:xfrm>
            <a:off x="3962400" y="1701800"/>
            <a:ext cx="3409950" cy="4948238"/>
            <a:chOff x="1536" y="1072"/>
            <a:chExt cx="2148" cy="3117"/>
          </a:xfrm>
        </p:grpSpPr>
        <p:sp>
          <p:nvSpPr>
            <p:cNvPr id="11277" name="Oval 4">
              <a:extLst>
                <a:ext uri="{FF2B5EF4-FFF2-40B4-BE49-F238E27FC236}">
                  <a16:creationId xmlns:a16="http://schemas.microsoft.com/office/drawing/2014/main" id="{179C1214-5739-0810-6113-FA356A57E251}"/>
                </a:ext>
              </a:extLst>
            </p:cNvPr>
            <p:cNvSpPr>
              <a:spLocks noChangeArrowheads="1"/>
            </p:cNvSpPr>
            <p:nvPr/>
          </p:nvSpPr>
          <p:spPr bwMode="auto">
            <a:xfrm>
              <a:off x="1730" y="1625"/>
              <a:ext cx="340" cy="31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1278" name="Oval 5">
              <a:extLst>
                <a:ext uri="{FF2B5EF4-FFF2-40B4-BE49-F238E27FC236}">
                  <a16:creationId xmlns:a16="http://schemas.microsoft.com/office/drawing/2014/main" id="{69146781-AFA3-A4C4-3DB0-565EB6E86F60}"/>
                </a:ext>
              </a:extLst>
            </p:cNvPr>
            <p:cNvSpPr>
              <a:spLocks noChangeArrowheads="1"/>
            </p:cNvSpPr>
            <p:nvPr/>
          </p:nvSpPr>
          <p:spPr bwMode="auto">
            <a:xfrm>
              <a:off x="2430" y="1642"/>
              <a:ext cx="340" cy="31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1279" name="Oval 6">
              <a:extLst>
                <a:ext uri="{FF2B5EF4-FFF2-40B4-BE49-F238E27FC236}">
                  <a16:creationId xmlns:a16="http://schemas.microsoft.com/office/drawing/2014/main" id="{F49311FD-4B1A-F487-3AC7-AC071C1E63EE}"/>
                </a:ext>
              </a:extLst>
            </p:cNvPr>
            <p:cNvSpPr>
              <a:spLocks noChangeArrowheads="1"/>
            </p:cNvSpPr>
            <p:nvPr/>
          </p:nvSpPr>
          <p:spPr bwMode="auto">
            <a:xfrm>
              <a:off x="3094" y="1642"/>
              <a:ext cx="340" cy="31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1280" name="Oval 7">
              <a:extLst>
                <a:ext uri="{FF2B5EF4-FFF2-40B4-BE49-F238E27FC236}">
                  <a16:creationId xmlns:a16="http://schemas.microsoft.com/office/drawing/2014/main" id="{A87FED74-3315-7769-04E9-487F946CFA80}"/>
                </a:ext>
              </a:extLst>
            </p:cNvPr>
            <p:cNvSpPr>
              <a:spLocks noChangeArrowheads="1"/>
            </p:cNvSpPr>
            <p:nvPr/>
          </p:nvSpPr>
          <p:spPr bwMode="auto">
            <a:xfrm>
              <a:off x="2449" y="2432"/>
              <a:ext cx="339" cy="316"/>
            </a:xfrm>
            <a:prstGeom prst="ellipse">
              <a:avLst/>
            </a:prstGeom>
            <a:solidFill>
              <a:schemeClr val="tx1"/>
            </a:solidFill>
            <a:ln w="12700">
              <a:solidFill>
                <a:srgbClr val="000000"/>
              </a:solidFill>
              <a:round/>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1281" name="Oval 8">
              <a:extLst>
                <a:ext uri="{FF2B5EF4-FFF2-40B4-BE49-F238E27FC236}">
                  <a16:creationId xmlns:a16="http://schemas.microsoft.com/office/drawing/2014/main" id="{9CA1F62D-5964-8651-4914-4FBE08E02361}"/>
                </a:ext>
              </a:extLst>
            </p:cNvPr>
            <p:cNvSpPr>
              <a:spLocks noChangeArrowheads="1"/>
            </p:cNvSpPr>
            <p:nvPr/>
          </p:nvSpPr>
          <p:spPr bwMode="auto">
            <a:xfrm>
              <a:off x="3344" y="2432"/>
              <a:ext cx="340" cy="316"/>
            </a:xfrm>
            <a:prstGeom prst="ellipse">
              <a:avLst/>
            </a:prstGeom>
            <a:solidFill>
              <a:schemeClr val="tx1"/>
            </a:solidFill>
            <a:ln w="12700">
              <a:solidFill>
                <a:srgbClr val="000000"/>
              </a:solidFill>
              <a:round/>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1282" name="Oval 9">
              <a:extLst>
                <a:ext uri="{FF2B5EF4-FFF2-40B4-BE49-F238E27FC236}">
                  <a16:creationId xmlns:a16="http://schemas.microsoft.com/office/drawing/2014/main" id="{B99059F1-CE34-191D-63BD-B24079F4169E}"/>
                </a:ext>
              </a:extLst>
            </p:cNvPr>
            <p:cNvSpPr>
              <a:spLocks noChangeArrowheads="1"/>
            </p:cNvSpPr>
            <p:nvPr/>
          </p:nvSpPr>
          <p:spPr bwMode="auto">
            <a:xfrm>
              <a:off x="1536" y="2448"/>
              <a:ext cx="340" cy="316"/>
            </a:xfrm>
            <a:prstGeom prst="ellipse">
              <a:avLst/>
            </a:prstGeom>
            <a:solidFill>
              <a:schemeClr val="tx1"/>
            </a:solidFill>
            <a:ln w="12700">
              <a:solidFill>
                <a:srgbClr val="000000"/>
              </a:solidFill>
              <a:round/>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1283" name="Oval 10">
              <a:extLst>
                <a:ext uri="{FF2B5EF4-FFF2-40B4-BE49-F238E27FC236}">
                  <a16:creationId xmlns:a16="http://schemas.microsoft.com/office/drawing/2014/main" id="{C35AD625-A213-30AB-AD83-972DBFBE9900}"/>
                </a:ext>
              </a:extLst>
            </p:cNvPr>
            <p:cNvSpPr>
              <a:spLocks noChangeArrowheads="1"/>
            </p:cNvSpPr>
            <p:nvPr/>
          </p:nvSpPr>
          <p:spPr bwMode="auto">
            <a:xfrm>
              <a:off x="2055" y="3288"/>
              <a:ext cx="339" cy="31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1284" name="Oval 11">
              <a:extLst>
                <a:ext uri="{FF2B5EF4-FFF2-40B4-BE49-F238E27FC236}">
                  <a16:creationId xmlns:a16="http://schemas.microsoft.com/office/drawing/2014/main" id="{208892E4-0B43-90EB-4C7F-E813725AD448}"/>
                </a:ext>
              </a:extLst>
            </p:cNvPr>
            <p:cNvSpPr>
              <a:spLocks noChangeArrowheads="1"/>
            </p:cNvSpPr>
            <p:nvPr/>
          </p:nvSpPr>
          <p:spPr bwMode="auto">
            <a:xfrm>
              <a:off x="2897" y="3269"/>
              <a:ext cx="339" cy="31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1285" name="Line 12">
              <a:extLst>
                <a:ext uri="{FF2B5EF4-FFF2-40B4-BE49-F238E27FC236}">
                  <a16:creationId xmlns:a16="http://schemas.microsoft.com/office/drawing/2014/main" id="{C49471B1-4947-7BDB-066F-DA5DDCFB84DA}"/>
                </a:ext>
              </a:extLst>
            </p:cNvPr>
            <p:cNvSpPr>
              <a:spLocks noChangeShapeType="1"/>
            </p:cNvSpPr>
            <p:nvPr/>
          </p:nvSpPr>
          <p:spPr bwMode="auto">
            <a:xfrm flipH="1" flipV="1">
              <a:off x="1768" y="2781"/>
              <a:ext cx="320" cy="537"/>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86" name="Line 13">
              <a:extLst>
                <a:ext uri="{FF2B5EF4-FFF2-40B4-BE49-F238E27FC236}">
                  <a16:creationId xmlns:a16="http://schemas.microsoft.com/office/drawing/2014/main" id="{4C1F80A5-D96C-3094-205A-B57421791646}"/>
                </a:ext>
              </a:extLst>
            </p:cNvPr>
            <p:cNvSpPr>
              <a:spLocks noChangeShapeType="1"/>
            </p:cNvSpPr>
            <p:nvPr/>
          </p:nvSpPr>
          <p:spPr bwMode="auto">
            <a:xfrm flipV="1">
              <a:off x="2217" y="2732"/>
              <a:ext cx="303" cy="551"/>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87" name="Line 14">
              <a:extLst>
                <a:ext uri="{FF2B5EF4-FFF2-40B4-BE49-F238E27FC236}">
                  <a16:creationId xmlns:a16="http://schemas.microsoft.com/office/drawing/2014/main" id="{A5ADCB44-0A35-A33A-93C6-9534D6AB1DD3}"/>
                </a:ext>
              </a:extLst>
            </p:cNvPr>
            <p:cNvSpPr>
              <a:spLocks noChangeShapeType="1"/>
            </p:cNvSpPr>
            <p:nvPr/>
          </p:nvSpPr>
          <p:spPr bwMode="auto">
            <a:xfrm flipV="1">
              <a:off x="2358" y="2715"/>
              <a:ext cx="1022" cy="619"/>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88" name="Line 15">
              <a:extLst>
                <a:ext uri="{FF2B5EF4-FFF2-40B4-BE49-F238E27FC236}">
                  <a16:creationId xmlns:a16="http://schemas.microsoft.com/office/drawing/2014/main" id="{EA0558DB-1F65-30B7-AE9B-189DAC289F80}"/>
                </a:ext>
              </a:extLst>
            </p:cNvPr>
            <p:cNvSpPr>
              <a:spLocks noChangeShapeType="1"/>
            </p:cNvSpPr>
            <p:nvPr/>
          </p:nvSpPr>
          <p:spPr bwMode="auto">
            <a:xfrm flipH="1" flipV="1">
              <a:off x="1875" y="2714"/>
              <a:ext cx="1020" cy="586"/>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89" name="Line 16">
              <a:extLst>
                <a:ext uri="{FF2B5EF4-FFF2-40B4-BE49-F238E27FC236}">
                  <a16:creationId xmlns:a16="http://schemas.microsoft.com/office/drawing/2014/main" id="{E680D8D4-88CA-7274-5C8A-4DCF89288059}"/>
                </a:ext>
              </a:extLst>
            </p:cNvPr>
            <p:cNvSpPr>
              <a:spLocks noChangeShapeType="1"/>
            </p:cNvSpPr>
            <p:nvPr/>
          </p:nvSpPr>
          <p:spPr bwMode="auto">
            <a:xfrm flipH="1" flipV="1">
              <a:off x="2735" y="2765"/>
              <a:ext cx="322" cy="502"/>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0" name="Line 17">
              <a:extLst>
                <a:ext uri="{FF2B5EF4-FFF2-40B4-BE49-F238E27FC236}">
                  <a16:creationId xmlns:a16="http://schemas.microsoft.com/office/drawing/2014/main" id="{A18479CC-94F7-C5AE-9226-C849013EE819}"/>
                </a:ext>
              </a:extLst>
            </p:cNvPr>
            <p:cNvSpPr>
              <a:spLocks noChangeShapeType="1"/>
            </p:cNvSpPr>
            <p:nvPr/>
          </p:nvSpPr>
          <p:spPr bwMode="auto">
            <a:xfrm flipV="1">
              <a:off x="3219" y="2799"/>
              <a:ext cx="287" cy="469"/>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1" name="Line 18">
              <a:extLst>
                <a:ext uri="{FF2B5EF4-FFF2-40B4-BE49-F238E27FC236}">
                  <a16:creationId xmlns:a16="http://schemas.microsoft.com/office/drawing/2014/main" id="{29395ECD-A9B3-9686-4660-FCC13026EC50}"/>
                </a:ext>
              </a:extLst>
            </p:cNvPr>
            <p:cNvSpPr>
              <a:spLocks noChangeShapeType="1"/>
            </p:cNvSpPr>
            <p:nvPr/>
          </p:nvSpPr>
          <p:spPr bwMode="auto">
            <a:xfrm flipV="1">
              <a:off x="1606" y="1943"/>
              <a:ext cx="268" cy="519"/>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2" name="Line 19">
              <a:extLst>
                <a:ext uri="{FF2B5EF4-FFF2-40B4-BE49-F238E27FC236}">
                  <a16:creationId xmlns:a16="http://schemas.microsoft.com/office/drawing/2014/main" id="{3A7ED0CA-2884-A5F0-CE1F-1103194D61FC}"/>
                </a:ext>
              </a:extLst>
            </p:cNvPr>
            <p:cNvSpPr>
              <a:spLocks noChangeShapeType="1"/>
            </p:cNvSpPr>
            <p:nvPr/>
          </p:nvSpPr>
          <p:spPr bwMode="auto">
            <a:xfrm flipV="1">
              <a:off x="1767" y="1940"/>
              <a:ext cx="787" cy="504"/>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3" name="Line 20">
              <a:extLst>
                <a:ext uri="{FF2B5EF4-FFF2-40B4-BE49-F238E27FC236}">
                  <a16:creationId xmlns:a16="http://schemas.microsoft.com/office/drawing/2014/main" id="{C00B01F5-7844-FF7C-9977-0C15814A3D39}"/>
                </a:ext>
              </a:extLst>
            </p:cNvPr>
            <p:cNvSpPr>
              <a:spLocks noChangeShapeType="1"/>
            </p:cNvSpPr>
            <p:nvPr/>
          </p:nvSpPr>
          <p:spPr bwMode="auto">
            <a:xfrm flipV="1">
              <a:off x="1858" y="1959"/>
              <a:ext cx="1380" cy="502"/>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4" name="Line 21">
              <a:extLst>
                <a:ext uri="{FF2B5EF4-FFF2-40B4-BE49-F238E27FC236}">
                  <a16:creationId xmlns:a16="http://schemas.microsoft.com/office/drawing/2014/main" id="{30D485AB-F565-36FE-9F41-D7FD1E50BA39}"/>
                </a:ext>
              </a:extLst>
            </p:cNvPr>
            <p:cNvSpPr>
              <a:spLocks noChangeShapeType="1"/>
            </p:cNvSpPr>
            <p:nvPr/>
          </p:nvSpPr>
          <p:spPr bwMode="auto">
            <a:xfrm flipH="1" flipV="1">
              <a:off x="2017" y="1905"/>
              <a:ext cx="1342" cy="572"/>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5" name="Line 22">
              <a:extLst>
                <a:ext uri="{FF2B5EF4-FFF2-40B4-BE49-F238E27FC236}">
                  <a16:creationId xmlns:a16="http://schemas.microsoft.com/office/drawing/2014/main" id="{DEC2D775-2344-26C0-A774-90F2550D9A28}"/>
                </a:ext>
              </a:extLst>
            </p:cNvPr>
            <p:cNvSpPr>
              <a:spLocks noChangeShapeType="1"/>
            </p:cNvSpPr>
            <p:nvPr/>
          </p:nvSpPr>
          <p:spPr bwMode="auto">
            <a:xfrm flipH="1" flipV="1">
              <a:off x="3341" y="1940"/>
              <a:ext cx="197" cy="504"/>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6" name="Line 23">
              <a:extLst>
                <a:ext uri="{FF2B5EF4-FFF2-40B4-BE49-F238E27FC236}">
                  <a16:creationId xmlns:a16="http://schemas.microsoft.com/office/drawing/2014/main" id="{F713C502-9745-10C0-DAF2-29611CAC66D1}"/>
                </a:ext>
              </a:extLst>
            </p:cNvPr>
            <p:cNvSpPr>
              <a:spLocks noChangeShapeType="1"/>
            </p:cNvSpPr>
            <p:nvPr/>
          </p:nvSpPr>
          <p:spPr bwMode="auto">
            <a:xfrm flipH="1" flipV="1">
              <a:off x="2679" y="1990"/>
              <a:ext cx="734" cy="453"/>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7" name="Line 24">
              <a:extLst>
                <a:ext uri="{FF2B5EF4-FFF2-40B4-BE49-F238E27FC236}">
                  <a16:creationId xmlns:a16="http://schemas.microsoft.com/office/drawing/2014/main" id="{3D77E812-DAC7-31AD-0004-CBC3CF745254}"/>
                </a:ext>
              </a:extLst>
            </p:cNvPr>
            <p:cNvSpPr>
              <a:spLocks noChangeShapeType="1"/>
            </p:cNvSpPr>
            <p:nvPr/>
          </p:nvSpPr>
          <p:spPr bwMode="auto">
            <a:xfrm flipH="1" flipV="1">
              <a:off x="1965" y="1960"/>
              <a:ext cx="537" cy="469"/>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8" name="Line 25">
              <a:extLst>
                <a:ext uri="{FF2B5EF4-FFF2-40B4-BE49-F238E27FC236}">
                  <a16:creationId xmlns:a16="http://schemas.microsoft.com/office/drawing/2014/main" id="{41B11AAF-C947-ACC6-E02F-38806239C66D}"/>
                </a:ext>
              </a:extLst>
            </p:cNvPr>
            <p:cNvSpPr>
              <a:spLocks noChangeShapeType="1"/>
            </p:cNvSpPr>
            <p:nvPr/>
          </p:nvSpPr>
          <p:spPr bwMode="auto">
            <a:xfrm flipV="1">
              <a:off x="2610" y="1977"/>
              <a:ext cx="0" cy="434"/>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9" name="Line 26">
              <a:extLst>
                <a:ext uri="{FF2B5EF4-FFF2-40B4-BE49-F238E27FC236}">
                  <a16:creationId xmlns:a16="http://schemas.microsoft.com/office/drawing/2014/main" id="{629C5278-45A2-7FAA-ED61-AF4EB00DFCC6}"/>
                </a:ext>
              </a:extLst>
            </p:cNvPr>
            <p:cNvSpPr>
              <a:spLocks noChangeShapeType="1"/>
            </p:cNvSpPr>
            <p:nvPr/>
          </p:nvSpPr>
          <p:spPr bwMode="auto">
            <a:xfrm flipV="1">
              <a:off x="2736" y="2011"/>
              <a:ext cx="501" cy="451"/>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00" name="Line 27">
              <a:extLst>
                <a:ext uri="{FF2B5EF4-FFF2-40B4-BE49-F238E27FC236}">
                  <a16:creationId xmlns:a16="http://schemas.microsoft.com/office/drawing/2014/main" id="{40B3C658-6D9E-18ED-0121-550E834E28C3}"/>
                </a:ext>
              </a:extLst>
            </p:cNvPr>
            <p:cNvSpPr>
              <a:spLocks noChangeShapeType="1"/>
            </p:cNvSpPr>
            <p:nvPr/>
          </p:nvSpPr>
          <p:spPr bwMode="auto">
            <a:xfrm flipV="1">
              <a:off x="2179" y="3604"/>
              <a:ext cx="0" cy="569"/>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01" name="Line 28">
              <a:extLst>
                <a:ext uri="{FF2B5EF4-FFF2-40B4-BE49-F238E27FC236}">
                  <a16:creationId xmlns:a16="http://schemas.microsoft.com/office/drawing/2014/main" id="{5CBD460D-B909-6233-2F95-85594909DB65}"/>
                </a:ext>
              </a:extLst>
            </p:cNvPr>
            <p:cNvSpPr>
              <a:spLocks noChangeShapeType="1"/>
            </p:cNvSpPr>
            <p:nvPr/>
          </p:nvSpPr>
          <p:spPr bwMode="auto">
            <a:xfrm flipV="1">
              <a:off x="3075" y="3621"/>
              <a:ext cx="0" cy="56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02" name="Line 29">
              <a:extLst>
                <a:ext uri="{FF2B5EF4-FFF2-40B4-BE49-F238E27FC236}">
                  <a16:creationId xmlns:a16="http://schemas.microsoft.com/office/drawing/2014/main" id="{5C449079-0490-F05F-014A-32D284BCD628}"/>
                </a:ext>
              </a:extLst>
            </p:cNvPr>
            <p:cNvSpPr>
              <a:spLocks noChangeShapeType="1"/>
            </p:cNvSpPr>
            <p:nvPr/>
          </p:nvSpPr>
          <p:spPr bwMode="auto">
            <a:xfrm flipV="1">
              <a:off x="1875" y="1088"/>
              <a:ext cx="0" cy="56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03" name="Line 30">
              <a:extLst>
                <a:ext uri="{FF2B5EF4-FFF2-40B4-BE49-F238E27FC236}">
                  <a16:creationId xmlns:a16="http://schemas.microsoft.com/office/drawing/2014/main" id="{9C1C5611-30FE-0BF0-0748-C352436F4594}"/>
                </a:ext>
              </a:extLst>
            </p:cNvPr>
            <p:cNvSpPr>
              <a:spLocks noChangeShapeType="1"/>
            </p:cNvSpPr>
            <p:nvPr/>
          </p:nvSpPr>
          <p:spPr bwMode="auto">
            <a:xfrm flipV="1">
              <a:off x="2591" y="1072"/>
              <a:ext cx="0" cy="56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04" name="Line 31">
              <a:extLst>
                <a:ext uri="{FF2B5EF4-FFF2-40B4-BE49-F238E27FC236}">
                  <a16:creationId xmlns:a16="http://schemas.microsoft.com/office/drawing/2014/main" id="{45C4B263-0328-49E7-5982-7E5845883B14}"/>
                </a:ext>
              </a:extLst>
            </p:cNvPr>
            <p:cNvSpPr>
              <a:spLocks noChangeShapeType="1"/>
            </p:cNvSpPr>
            <p:nvPr/>
          </p:nvSpPr>
          <p:spPr bwMode="auto">
            <a:xfrm flipV="1">
              <a:off x="3235" y="1072"/>
              <a:ext cx="0" cy="56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1269" name="Rectangle 32">
            <a:extLst>
              <a:ext uri="{FF2B5EF4-FFF2-40B4-BE49-F238E27FC236}">
                <a16:creationId xmlns:a16="http://schemas.microsoft.com/office/drawing/2014/main" id="{6E1C019C-C662-E09C-BD60-6505C59CCEED}"/>
              </a:ext>
            </a:extLst>
          </p:cNvPr>
          <p:cNvSpPr>
            <a:spLocks noChangeArrowheads="1"/>
          </p:cNvSpPr>
          <p:nvPr/>
        </p:nvSpPr>
        <p:spPr bwMode="auto">
          <a:xfrm>
            <a:off x="2067746" y="2514600"/>
            <a:ext cx="1800173"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000" b="1"/>
              <a:t>Output layer</a:t>
            </a:r>
            <a:endParaRPr lang="en-US" altLang="en-US" sz="2000"/>
          </a:p>
        </p:txBody>
      </p:sp>
      <p:sp>
        <p:nvSpPr>
          <p:cNvPr id="11270" name="Rectangle 33">
            <a:extLst>
              <a:ext uri="{FF2B5EF4-FFF2-40B4-BE49-F238E27FC236}">
                <a16:creationId xmlns:a16="http://schemas.microsoft.com/office/drawing/2014/main" id="{105E35C1-8A2D-5550-D848-0DC2650F3E13}"/>
              </a:ext>
            </a:extLst>
          </p:cNvPr>
          <p:cNvSpPr>
            <a:spLocks noChangeArrowheads="1"/>
          </p:cNvSpPr>
          <p:nvPr/>
        </p:nvSpPr>
        <p:spPr bwMode="auto">
          <a:xfrm>
            <a:off x="2033689" y="5191125"/>
            <a:ext cx="162063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000" b="1"/>
              <a:t>Input layer</a:t>
            </a:r>
          </a:p>
        </p:txBody>
      </p:sp>
      <p:sp>
        <p:nvSpPr>
          <p:cNvPr id="11271" name="Rectangle 34">
            <a:extLst>
              <a:ext uri="{FF2B5EF4-FFF2-40B4-BE49-F238E27FC236}">
                <a16:creationId xmlns:a16="http://schemas.microsoft.com/office/drawing/2014/main" id="{C508DCE6-1ACA-4545-F779-77FF3EBB9B21}"/>
              </a:ext>
            </a:extLst>
          </p:cNvPr>
          <p:cNvSpPr>
            <a:spLocks noChangeArrowheads="1"/>
          </p:cNvSpPr>
          <p:nvPr/>
        </p:nvSpPr>
        <p:spPr bwMode="auto">
          <a:xfrm>
            <a:off x="1927977" y="3946525"/>
            <a:ext cx="1814599"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000" b="1"/>
              <a:t>Hidden layer</a:t>
            </a:r>
            <a:endParaRPr lang="en-US" altLang="en-US" sz="2000"/>
          </a:p>
        </p:txBody>
      </p:sp>
      <p:sp>
        <p:nvSpPr>
          <p:cNvPr id="11272" name="Rectangle 35">
            <a:extLst>
              <a:ext uri="{FF2B5EF4-FFF2-40B4-BE49-F238E27FC236}">
                <a16:creationId xmlns:a16="http://schemas.microsoft.com/office/drawing/2014/main" id="{216A6211-FCF4-D8FD-6F92-AE031AAD2FA8}"/>
              </a:ext>
            </a:extLst>
          </p:cNvPr>
          <p:cNvSpPr>
            <a:spLocks noChangeArrowheads="1"/>
          </p:cNvSpPr>
          <p:nvPr/>
        </p:nvSpPr>
        <p:spPr bwMode="auto">
          <a:xfrm>
            <a:off x="1952625" y="1600200"/>
            <a:ext cx="197009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000" b="1"/>
              <a:t>Output vector</a:t>
            </a:r>
            <a:endParaRPr lang="en-US" altLang="en-US" sz="2000"/>
          </a:p>
        </p:txBody>
      </p:sp>
      <p:sp>
        <p:nvSpPr>
          <p:cNvPr id="11273" name="Rectangle 36">
            <a:extLst>
              <a:ext uri="{FF2B5EF4-FFF2-40B4-BE49-F238E27FC236}">
                <a16:creationId xmlns:a16="http://schemas.microsoft.com/office/drawing/2014/main" id="{DAB98879-4A90-BE2D-7CB5-FC4EA27B412B}"/>
              </a:ext>
            </a:extLst>
          </p:cNvPr>
          <p:cNvSpPr>
            <a:spLocks noChangeArrowheads="1"/>
          </p:cNvSpPr>
          <p:nvPr/>
        </p:nvSpPr>
        <p:spPr bwMode="auto">
          <a:xfrm>
            <a:off x="1967700" y="6076950"/>
            <a:ext cx="21352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000" b="1"/>
              <a:t>Input vector: </a:t>
            </a:r>
            <a:r>
              <a:rPr lang="en-US" altLang="en-US" sz="2000" b="1" i="1"/>
              <a:t>X</a:t>
            </a:r>
            <a:endParaRPr lang="en-US" altLang="en-US" sz="2000" b="1" i="1" baseline="-25000"/>
          </a:p>
        </p:txBody>
      </p:sp>
      <p:sp>
        <p:nvSpPr>
          <p:cNvPr id="11274" name="Rectangle 37">
            <a:extLst>
              <a:ext uri="{FF2B5EF4-FFF2-40B4-BE49-F238E27FC236}">
                <a16:creationId xmlns:a16="http://schemas.microsoft.com/office/drawing/2014/main" id="{2105E36A-A209-43FE-33C7-A63C3FED32A6}"/>
              </a:ext>
            </a:extLst>
          </p:cNvPr>
          <p:cNvSpPr>
            <a:spLocks noChangeArrowheads="1"/>
          </p:cNvSpPr>
          <p:nvPr/>
        </p:nvSpPr>
        <p:spPr bwMode="auto">
          <a:xfrm>
            <a:off x="7504840" y="4521201"/>
            <a:ext cx="506549"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2400" i="1">
                <a:latin typeface="Times New Roman" panose="02020603050405020304" pitchFamily="18" charset="0"/>
              </a:rPr>
              <a:t>w</a:t>
            </a:r>
            <a:r>
              <a:rPr lang="en-US" altLang="en-US" sz="2400" i="1" baseline="-25000">
                <a:latin typeface="Times New Roman" panose="02020603050405020304" pitchFamily="18" charset="0"/>
              </a:rPr>
              <a:t>ij</a:t>
            </a:r>
          </a:p>
        </p:txBody>
      </p:sp>
      <p:sp>
        <p:nvSpPr>
          <p:cNvPr id="11275" name="Freeform 38">
            <a:extLst>
              <a:ext uri="{FF2B5EF4-FFF2-40B4-BE49-F238E27FC236}">
                <a16:creationId xmlns:a16="http://schemas.microsoft.com/office/drawing/2014/main" id="{173D041D-63E7-4722-E589-60EC1C2BF662}"/>
              </a:ext>
            </a:extLst>
          </p:cNvPr>
          <p:cNvSpPr>
            <a:spLocks/>
          </p:cNvSpPr>
          <p:nvPr/>
        </p:nvSpPr>
        <p:spPr bwMode="auto">
          <a:xfrm>
            <a:off x="6773864" y="4808539"/>
            <a:ext cx="611187" cy="160337"/>
          </a:xfrm>
          <a:custGeom>
            <a:avLst/>
            <a:gdLst>
              <a:gd name="T0" fmla="*/ 2147483647 w 385"/>
              <a:gd name="T1" fmla="*/ 0 h 101"/>
              <a:gd name="T2" fmla="*/ 2147483647 w 385"/>
              <a:gd name="T3" fmla="*/ 2147483647 h 101"/>
              <a:gd name="T4" fmla="*/ 2147483647 w 385"/>
              <a:gd name="T5" fmla="*/ 2147483647 h 101"/>
              <a:gd name="T6" fmla="*/ 2147483647 w 385"/>
              <a:gd name="T7" fmla="*/ 2147483647 h 101"/>
              <a:gd name="T8" fmla="*/ 2147483647 w 385"/>
              <a:gd name="T9" fmla="*/ 2147483647 h 101"/>
              <a:gd name="T10" fmla="*/ 2147483647 w 385"/>
              <a:gd name="T11" fmla="*/ 2147483647 h 101"/>
              <a:gd name="T12" fmla="*/ 2147483647 w 385"/>
              <a:gd name="T13" fmla="*/ 2147483647 h 101"/>
              <a:gd name="T14" fmla="*/ 2147483647 w 385"/>
              <a:gd name="T15" fmla="*/ 2147483647 h 101"/>
              <a:gd name="T16" fmla="*/ 2147483647 w 385"/>
              <a:gd name="T17" fmla="*/ 2147483647 h 101"/>
              <a:gd name="T18" fmla="*/ 2147483647 w 385"/>
              <a:gd name="T19" fmla="*/ 2147483647 h 101"/>
              <a:gd name="T20" fmla="*/ 2147483647 w 385"/>
              <a:gd name="T21" fmla="*/ 2147483647 h 101"/>
              <a:gd name="T22" fmla="*/ 2147483647 w 385"/>
              <a:gd name="T23" fmla="*/ 2147483647 h 101"/>
              <a:gd name="T24" fmla="*/ 0 w 385"/>
              <a:gd name="T25" fmla="*/ 2147483647 h 10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5"/>
              <a:gd name="T40" fmla="*/ 0 h 101"/>
              <a:gd name="T41" fmla="*/ 385 w 385"/>
              <a:gd name="T42" fmla="*/ 101 h 10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5" h="101">
                <a:moveTo>
                  <a:pt x="384" y="0"/>
                </a:moveTo>
                <a:lnTo>
                  <a:pt x="313" y="5"/>
                </a:lnTo>
                <a:lnTo>
                  <a:pt x="254" y="15"/>
                </a:lnTo>
                <a:lnTo>
                  <a:pt x="230" y="25"/>
                </a:lnTo>
                <a:lnTo>
                  <a:pt x="213" y="30"/>
                </a:lnTo>
                <a:lnTo>
                  <a:pt x="201" y="40"/>
                </a:lnTo>
                <a:lnTo>
                  <a:pt x="195" y="50"/>
                </a:lnTo>
                <a:lnTo>
                  <a:pt x="189" y="60"/>
                </a:lnTo>
                <a:lnTo>
                  <a:pt x="177" y="70"/>
                </a:lnTo>
                <a:lnTo>
                  <a:pt x="160" y="75"/>
                </a:lnTo>
                <a:lnTo>
                  <a:pt x="136" y="85"/>
                </a:lnTo>
                <a:lnTo>
                  <a:pt x="71" y="95"/>
                </a:lnTo>
                <a:lnTo>
                  <a:pt x="0" y="100"/>
                </a:lnTo>
              </a:path>
            </a:pathLst>
          </a:custGeom>
          <a:noFill/>
          <a:ln w="12700" cap="rnd">
            <a:solidFill>
              <a:srgbClr val="000000"/>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en-US"/>
          </a:p>
        </p:txBody>
      </p:sp>
      <p:graphicFrame>
        <p:nvGraphicFramePr>
          <p:cNvPr id="11276" name="Object 42">
            <a:extLst>
              <a:ext uri="{FF2B5EF4-FFF2-40B4-BE49-F238E27FC236}">
                <a16:creationId xmlns:a16="http://schemas.microsoft.com/office/drawing/2014/main" id="{04A9D66F-3613-626B-566C-1DAB2B906788}"/>
              </a:ext>
            </a:extLst>
          </p:cNvPr>
          <p:cNvGraphicFramePr>
            <a:graphicFrameLocks noChangeAspect="1"/>
          </p:cNvGraphicFramePr>
          <p:nvPr/>
        </p:nvGraphicFramePr>
        <p:xfrm>
          <a:off x="6781801" y="1905001"/>
          <a:ext cx="3705225" cy="544513"/>
        </p:xfrm>
        <a:graphic>
          <a:graphicData uri="http://schemas.openxmlformats.org/presentationml/2006/ole">
            <mc:AlternateContent xmlns:mc="http://schemas.openxmlformats.org/markup-compatibility/2006">
              <mc:Choice xmlns:v="urn:schemas-microsoft-com:vml" Requires="v">
                <p:oleObj name="Equation" r:id="rId3" imgW="39789100" imgH="5854700" progId="Equation.3">
                  <p:embed/>
                </p:oleObj>
              </mc:Choice>
              <mc:Fallback>
                <p:oleObj name="Equation" r:id="rId3" imgW="39789100" imgH="5854700" progId="Equation.3">
                  <p:embed/>
                  <p:pic>
                    <p:nvPicPr>
                      <p:cNvPr id="11276" name="Object 42">
                        <a:extLst>
                          <a:ext uri="{FF2B5EF4-FFF2-40B4-BE49-F238E27FC236}">
                            <a16:creationId xmlns:a16="http://schemas.microsoft.com/office/drawing/2014/main" id="{04A9D66F-3613-626B-566C-1DAB2B9067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1" y="1905001"/>
                        <a:ext cx="3705225" cy="544513"/>
                      </a:xfrm>
                      <a:prstGeom prst="rect">
                        <a:avLst/>
                      </a:prstGeom>
                      <a:solidFill>
                        <a:srgbClr val="008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EAA3F9FF-171A-1AAD-2A67-58921777F0BC}"/>
              </a:ext>
            </a:extLst>
          </p:cNvPr>
          <p:cNvSpPr>
            <a:spLocks noGrp="1"/>
          </p:cNvSpPr>
          <p:nvPr>
            <p:ph type="sldNum" sz="quarter" idx="12"/>
          </p:nvPr>
        </p:nvSpPr>
        <p:spPr/>
        <p:txBody>
          <a:bodyPr/>
          <a:lstStyle/>
          <a:p>
            <a:fld id="{C3CACD4E-8C52-004E-9A96-AD0BCBF3CA39}"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155C1635-6B77-9211-81CC-8BC4B616C120}"/>
              </a:ext>
            </a:extLst>
          </p:cNvPr>
          <p:cNvSpPr>
            <a:spLocks noGrp="1" noChangeArrowheads="1"/>
          </p:cNvSpPr>
          <p:nvPr>
            <p:ph type="title"/>
          </p:nvPr>
        </p:nvSpPr>
        <p:spPr>
          <a:xfrm>
            <a:off x="1524000" y="228600"/>
            <a:ext cx="9144000" cy="762000"/>
          </a:xfrm>
          <a:noFill/>
        </p:spPr>
        <p:txBody>
          <a:bodyPr vert="horz" lIns="92075" tIns="46038" rIns="92075" bIns="46038" rtlCol="0" anchor="ctr">
            <a:normAutofit/>
          </a:bodyPr>
          <a:lstStyle/>
          <a:p>
            <a:pPr eaLnBrk="1" hangingPunct="1"/>
            <a:r>
              <a:rPr lang="en-US" altLang="en-US" sz="3200"/>
              <a:t>How A Multi-Layer Neural Network Works</a:t>
            </a:r>
          </a:p>
        </p:txBody>
      </p:sp>
      <p:sp>
        <p:nvSpPr>
          <p:cNvPr id="12292" name="Rectangle 3">
            <a:extLst>
              <a:ext uri="{FF2B5EF4-FFF2-40B4-BE49-F238E27FC236}">
                <a16:creationId xmlns:a16="http://schemas.microsoft.com/office/drawing/2014/main" id="{EE96EB36-5358-5BE7-6155-42037E7B5594}"/>
              </a:ext>
            </a:extLst>
          </p:cNvPr>
          <p:cNvSpPr>
            <a:spLocks noGrp="1" noChangeArrowheads="1"/>
          </p:cNvSpPr>
          <p:nvPr>
            <p:ph type="body" idx="1"/>
          </p:nvPr>
        </p:nvSpPr>
        <p:spPr>
          <a:xfrm>
            <a:off x="420414" y="1295400"/>
            <a:ext cx="11161986" cy="5181600"/>
          </a:xfrm>
          <a:noFill/>
        </p:spPr>
        <p:txBody>
          <a:bodyPr vert="horz" lIns="92075" tIns="46038" rIns="92075" bIns="46038" rtlCol="0">
            <a:normAutofit/>
          </a:bodyPr>
          <a:lstStyle/>
          <a:p>
            <a:pPr eaLnBrk="1" hangingPunct="1">
              <a:lnSpc>
                <a:spcPct val="120000"/>
              </a:lnSpc>
            </a:pPr>
            <a:r>
              <a:rPr lang="en-US" altLang="en-US" sz="2000" dirty="0"/>
              <a:t>The </a:t>
            </a:r>
            <a:r>
              <a:rPr lang="en-US" altLang="en-US" sz="2000" b="1" dirty="0"/>
              <a:t>inputs</a:t>
            </a:r>
            <a:r>
              <a:rPr lang="en-US" altLang="en-US" sz="2000" dirty="0"/>
              <a:t> to the network correspond to the attributes measured for each training tuple </a:t>
            </a:r>
          </a:p>
          <a:p>
            <a:pPr eaLnBrk="1" hangingPunct="1">
              <a:lnSpc>
                <a:spcPct val="120000"/>
              </a:lnSpc>
            </a:pPr>
            <a:r>
              <a:rPr lang="en-US" altLang="en-US" sz="2000" dirty="0"/>
              <a:t>Inputs are fed simultaneously into the units making up the </a:t>
            </a:r>
            <a:r>
              <a:rPr lang="en-US" altLang="en-US" sz="2000" b="1" dirty="0"/>
              <a:t>input layer</a:t>
            </a:r>
          </a:p>
          <a:p>
            <a:pPr eaLnBrk="1" hangingPunct="1">
              <a:lnSpc>
                <a:spcPct val="120000"/>
              </a:lnSpc>
            </a:pPr>
            <a:r>
              <a:rPr lang="en-US" altLang="en-US" sz="2000" dirty="0"/>
              <a:t>They are then weighted and fed simultaneously to a </a:t>
            </a:r>
            <a:r>
              <a:rPr lang="en-US" altLang="en-US" sz="2000" b="1" dirty="0"/>
              <a:t>hidden layer</a:t>
            </a:r>
          </a:p>
          <a:p>
            <a:pPr eaLnBrk="1" hangingPunct="1">
              <a:lnSpc>
                <a:spcPct val="120000"/>
              </a:lnSpc>
            </a:pPr>
            <a:r>
              <a:rPr lang="en-US" altLang="en-US" sz="2000" dirty="0"/>
              <a:t>The number of hidden layers is arbitrary, although usually only one </a:t>
            </a:r>
          </a:p>
          <a:p>
            <a:pPr eaLnBrk="1" hangingPunct="1">
              <a:lnSpc>
                <a:spcPct val="120000"/>
              </a:lnSpc>
            </a:pPr>
            <a:r>
              <a:rPr lang="en-US" altLang="en-US" sz="2000" dirty="0"/>
              <a:t>The weighted outputs of the last hidden layer are input to units making up the </a:t>
            </a:r>
            <a:r>
              <a:rPr lang="en-US" altLang="en-US" sz="2000" b="1" dirty="0"/>
              <a:t>output layer</a:t>
            </a:r>
            <a:r>
              <a:rPr lang="en-US" altLang="en-US" sz="2000" dirty="0"/>
              <a:t>, which emits the network's prediction</a:t>
            </a:r>
          </a:p>
          <a:p>
            <a:pPr eaLnBrk="1" hangingPunct="1">
              <a:lnSpc>
                <a:spcPct val="120000"/>
              </a:lnSpc>
            </a:pPr>
            <a:r>
              <a:rPr lang="en-US" altLang="en-US" sz="2000" dirty="0"/>
              <a:t>The network is </a:t>
            </a:r>
            <a:r>
              <a:rPr lang="en-US" altLang="en-US" sz="2000" b="1" dirty="0"/>
              <a:t>feed-forward</a:t>
            </a:r>
            <a:r>
              <a:rPr lang="en-US" altLang="en-US" sz="2000" dirty="0"/>
              <a:t>: None of the weights cycles back to an input unit or to an output unit of a previous layer</a:t>
            </a:r>
          </a:p>
          <a:p>
            <a:pPr eaLnBrk="1" hangingPunct="1">
              <a:lnSpc>
                <a:spcPct val="120000"/>
              </a:lnSpc>
            </a:pPr>
            <a:r>
              <a:rPr lang="en-US" altLang="en-US" sz="2000" dirty="0"/>
              <a:t>From a statistical point of view, networks perform </a:t>
            </a:r>
            <a:r>
              <a:rPr lang="en-US" altLang="en-US" sz="2000" b="1" dirty="0"/>
              <a:t>nonlinear regression</a:t>
            </a:r>
            <a:r>
              <a:rPr lang="en-US" altLang="en-US" sz="2000" dirty="0"/>
              <a:t>: Given enough hidden units and enough training samples, they can closely approximate any function</a:t>
            </a:r>
          </a:p>
        </p:txBody>
      </p:sp>
      <p:sp>
        <p:nvSpPr>
          <p:cNvPr id="2" name="Slide Number Placeholder 1">
            <a:extLst>
              <a:ext uri="{FF2B5EF4-FFF2-40B4-BE49-F238E27FC236}">
                <a16:creationId xmlns:a16="http://schemas.microsoft.com/office/drawing/2014/main" id="{23FA8099-0D06-8071-5D1A-96F23F40961F}"/>
              </a:ext>
            </a:extLst>
          </p:cNvPr>
          <p:cNvSpPr>
            <a:spLocks noGrp="1"/>
          </p:cNvSpPr>
          <p:nvPr>
            <p:ph type="sldNum" sz="quarter" idx="12"/>
          </p:nvPr>
        </p:nvSpPr>
        <p:spPr/>
        <p:txBody>
          <a:bodyPr/>
          <a:lstStyle/>
          <a:p>
            <a:fld id="{C3CACD4E-8C52-004E-9A96-AD0BCBF3CA39}"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2B251DFC-A3BD-54C8-00E3-32170CA943BB}"/>
              </a:ext>
            </a:extLst>
          </p:cNvPr>
          <p:cNvSpPr>
            <a:spLocks noGrp="1" noChangeArrowheads="1"/>
          </p:cNvSpPr>
          <p:nvPr>
            <p:ph type="title"/>
          </p:nvPr>
        </p:nvSpPr>
        <p:spPr>
          <a:xfrm>
            <a:off x="1981200" y="381000"/>
            <a:ext cx="8229600" cy="609600"/>
          </a:xfrm>
          <a:noFill/>
        </p:spPr>
        <p:txBody>
          <a:bodyPr vert="horz" lIns="92075" tIns="46038" rIns="92075" bIns="46038" rtlCol="0" anchor="ctr">
            <a:normAutofit fontScale="90000"/>
          </a:bodyPr>
          <a:lstStyle/>
          <a:p>
            <a:pPr eaLnBrk="1" hangingPunct="1"/>
            <a:r>
              <a:rPr lang="en-US" altLang="en-US"/>
              <a:t>Defining a Network Topology</a:t>
            </a:r>
          </a:p>
        </p:txBody>
      </p:sp>
      <p:sp>
        <p:nvSpPr>
          <p:cNvPr id="13316" name="Rectangle 3">
            <a:extLst>
              <a:ext uri="{FF2B5EF4-FFF2-40B4-BE49-F238E27FC236}">
                <a16:creationId xmlns:a16="http://schemas.microsoft.com/office/drawing/2014/main" id="{D17AFC9A-484D-9017-E6ED-FA34D9838BD9}"/>
              </a:ext>
            </a:extLst>
          </p:cNvPr>
          <p:cNvSpPr>
            <a:spLocks noGrp="1" noChangeArrowheads="1"/>
          </p:cNvSpPr>
          <p:nvPr>
            <p:ph type="body" idx="1"/>
          </p:nvPr>
        </p:nvSpPr>
        <p:spPr>
          <a:xfrm>
            <a:off x="504497" y="1371600"/>
            <a:ext cx="11004331" cy="5181600"/>
          </a:xfrm>
          <a:noFill/>
        </p:spPr>
        <p:txBody>
          <a:bodyPr vert="horz" lIns="92075" tIns="46038" rIns="92075" bIns="46038" rtlCol="0">
            <a:normAutofit/>
          </a:bodyPr>
          <a:lstStyle/>
          <a:p>
            <a:pPr eaLnBrk="1" hangingPunct="1">
              <a:lnSpc>
                <a:spcPct val="110000"/>
              </a:lnSpc>
            </a:pPr>
            <a:r>
              <a:rPr lang="en-US" altLang="en-US" sz="2400" dirty="0"/>
              <a:t>Decide the </a:t>
            </a:r>
            <a:r>
              <a:rPr lang="en-US" altLang="en-US" sz="2400" b="1" dirty="0"/>
              <a:t>network topology: </a:t>
            </a:r>
            <a:r>
              <a:rPr lang="en-US" altLang="en-US" sz="2400" dirty="0"/>
              <a:t>Specify # of units in the </a:t>
            </a:r>
            <a:r>
              <a:rPr lang="en-US" altLang="en-US" sz="2400" i="1" dirty="0"/>
              <a:t>input layer</a:t>
            </a:r>
            <a:r>
              <a:rPr lang="en-US" altLang="en-US" sz="2400" dirty="0"/>
              <a:t>, # of </a:t>
            </a:r>
            <a:r>
              <a:rPr lang="en-US" altLang="en-US" sz="2400" i="1" dirty="0"/>
              <a:t>hidden layers</a:t>
            </a:r>
            <a:r>
              <a:rPr lang="en-US" altLang="en-US" sz="2400" dirty="0"/>
              <a:t> (if &gt; 1), # of units in </a:t>
            </a:r>
            <a:r>
              <a:rPr lang="en-US" altLang="en-US" sz="2400" i="1" dirty="0"/>
              <a:t>each hidden layer</a:t>
            </a:r>
            <a:r>
              <a:rPr lang="en-US" altLang="en-US" sz="2400" dirty="0"/>
              <a:t>, and # of units in the </a:t>
            </a:r>
            <a:r>
              <a:rPr lang="en-US" altLang="en-US" sz="2400" i="1" dirty="0"/>
              <a:t>output layer</a:t>
            </a:r>
          </a:p>
          <a:p>
            <a:pPr eaLnBrk="1" hangingPunct="1">
              <a:lnSpc>
                <a:spcPct val="110000"/>
              </a:lnSpc>
            </a:pPr>
            <a:r>
              <a:rPr lang="en-US" altLang="en-US" sz="2400" dirty="0"/>
              <a:t>Normalize the input values for each attribute measured in the training tuples to [0.0—1.0]</a:t>
            </a:r>
          </a:p>
          <a:p>
            <a:pPr eaLnBrk="1" hangingPunct="1">
              <a:lnSpc>
                <a:spcPct val="110000"/>
              </a:lnSpc>
            </a:pPr>
            <a:r>
              <a:rPr lang="en-US" altLang="en-US" sz="2400" dirty="0"/>
              <a:t>One </a:t>
            </a:r>
            <a:r>
              <a:rPr lang="en-US" altLang="en-US" sz="2400" b="1" dirty="0"/>
              <a:t>input</a:t>
            </a:r>
            <a:r>
              <a:rPr lang="en-US" altLang="en-US" sz="2400" dirty="0"/>
              <a:t> unit per domain value, each initialized to 0</a:t>
            </a:r>
          </a:p>
          <a:p>
            <a:pPr eaLnBrk="1" hangingPunct="1">
              <a:lnSpc>
                <a:spcPct val="110000"/>
              </a:lnSpc>
            </a:pPr>
            <a:r>
              <a:rPr lang="en-US" altLang="en-US" sz="2400" b="1" dirty="0"/>
              <a:t>Output</a:t>
            </a:r>
            <a:r>
              <a:rPr lang="en-US" altLang="en-US" sz="2400" dirty="0"/>
              <a:t>, if for classification and more than two classes, one output unit per class is used</a:t>
            </a:r>
          </a:p>
          <a:p>
            <a:pPr eaLnBrk="1" hangingPunct="1">
              <a:lnSpc>
                <a:spcPct val="110000"/>
              </a:lnSpc>
            </a:pPr>
            <a:r>
              <a:rPr lang="en-US" altLang="en-US" sz="2400" dirty="0"/>
              <a:t>Once a network has been trained and its accuracy is </a:t>
            </a:r>
            <a:r>
              <a:rPr lang="en-US" altLang="en-US" sz="2400" b="1" dirty="0"/>
              <a:t>unacceptable</a:t>
            </a:r>
            <a:r>
              <a:rPr lang="en-US" altLang="en-US" sz="2400" dirty="0"/>
              <a:t>, repeat the training process with a </a:t>
            </a:r>
            <a:r>
              <a:rPr lang="en-US" altLang="en-US" sz="2400" i="1" dirty="0"/>
              <a:t>different network topology</a:t>
            </a:r>
            <a:r>
              <a:rPr lang="en-US" altLang="en-US" sz="2400" dirty="0"/>
              <a:t> or a </a:t>
            </a:r>
            <a:r>
              <a:rPr lang="en-US" altLang="en-US" sz="2400" i="1" dirty="0"/>
              <a:t>different set of initial weights</a:t>
            </a:r>
          </a:p>
        </p:txBody>
      </p:sp>
      <p:sp>
        <p:nvSpPr>
          <p:cNvPr id="2" name="Slide Number Placeholder 1">
            <a:extLst>
              <a:ext uri="{FF2B5EF4-FFF2-40B4-BE49-F238E27FC236}">
                <a16:creationId xmlns:a16="http://schemas.microsoft.com/office/drawing/2014/main" id="{2F919CA7-8733-B2E2-65E2-5E8C90BE4A1F}"/>
              </a:ext>
            </a:extLst>
          </p:cNvPr>
          <p:cNvSpPr>
            <a:spLocks noGrp="1"/>
          </p:cNvSpPr>
          <p:nvPr>
            <p:ph type="sldNum" sz="quarter" idx="12"/>
          </p:nvPr>
        </p:nvSpPr>
        <p:spPr/>
        <p:txBody>
          <a:bodyPr/>
          <a:lstStyle/>
          <a:p>
            <a:fld id="{C3CACD4E-8C52-004E-9A96-AD0BCBF3CA39}"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A6D03CFB-137B-56B9-EFF1-12837AC1A2F4}"/>
              </a:ext>
            </a:extLst>
          </p:cNvPr>
          <p:cNvSpPr>
            <a:spLocks noGrp="1" noChangeArrowheads="1"/>
          </p:cNvSpPr>
          <p:nvPr>
            <p:ph type="title"/>
          </p:nvPr>
        </p:nvSpPr>
        <p:spPr>
          <a:xfrm>
            <a:off x="1981200" y="381000"/>
            <a:ext cx="7924800" cy="609600"/>
          </a:xfrm>
          <a:noFill/>
        </p:spPr>
        <p:txBody>
          <a:bodyPr vert="horz" lIns="92075" tIns="46038" rIns="92075" bIns="46038" rtlCol="0" anchor="ctr">
            <a:normAutofit fontScale="90000"/>
          </a:bodyPr>
          <a:lstStyle/>
          <a:p>
            <a:pPr eaLnBrk="1" hangingPunct="1"/>
            <a:r>
              <a:rPr lang="en-US" altLang="en-US"/>
              <a:t>Backpropagation</a:t>
            </a:r>
          </a:p>
        </p:txBody>
      </p:sp>
      <p:sp>
        <p:nvSpPr>
          <p:cNvPr id="14340" name="Rectangle 3">
            <a:extLst>
              <a:ext uri="{FF2B5EF4-FFF2-40B4-BE49-F238E27FC236}">
                <a16:creationId xmlns:a16="http://schemas.microsoft.com/office/drawing/2014/main" id="{21BB7543-3B6F-0C03-DA67-D42FC31FF228}"/>
              </a:ext>
            </a:extLst>
          </p:cNvPr>
          <p:cNvSpPr>
            <a:spLocks noGrp="1" noChangeArrowheads="1"/>
          </p:cNvSpPr>
          <p:nvPr>
            <p:ph type="body" idx="1"/>
          </p:nvPr>
        </p:nvSpPr>
        <p:spPr>
          <a:xfrm>
            <a:off x="357352" y="1219200"/>
            <a:ext cx="11288110" cy="5486400"/>
          </a:xfrm>
          <a:noFill/>
        </p:spPr>
        <p:txBody>
          <a:bodyPr vert="horz" lIns="92075" tIns="46038" rIns="92075" bIns="46038" rtlCol="0">
            <a:normAutofit/>
          </a:bodyPr>
          <a:lstStyle/>
          <a:p>
            <a:pPr eaLnBrk="1" hangingPunct="1">
              <a:lnSpc>
                <a:spcPct val="130000"/>
              </a:lnSpc>
            </a:pPr>
            <a:r>
              <a:rPr lang="en-US" altLang="en-US" sz="2000" dirty="0"/>
              <a:t>Iteratively process a set of training tuples &amp; compare the network's prediction with the actual known target value</a:t>
            </a:r>
          </a:p>
          <a:p>
            <a:pPr eaLnBrk="1" hangingPunct="1">
              <a:lnSpc>
                <a:spcPct val="130000"/>
              </a:lnSpc>
            </a:pPr>
            <a:r>
              <a:rPr lang="en-US" altLang="en-US" sz="2000" dirty="0"/>
              <a:t>For each training tuple, the weights are modified to </a:t>
            </a:r>
            <a:r>
              <a:rPr lang="en-US" altLang="en-US" sz="2000" b="1" dirty="0"/>
              <a:t>minimize the mean squared error</a:t>
            </a:r>
            <a:r>
              <a:rPr lang="en-US" altLang="en-US" sz="2000" dirty="0"/>
              <a:t> between the network's prediction and the actual target value </a:t>
            </a:r>
          </a:p>
          <a:p>
            <a:pPr eaLnBrk="1" hangingPunct="1">
              <a:lnSpc>
                <a:spcPct val="130000"/>
              </a:lnSpc>
            </a:pPr>
            <a:r>
              <a:rPr lang="en-US" altLang="en-US" sz="2000" dirty="0"/>
              <a:t>Modifications are made in the “</a:t>
            </a:r>
            <a:r>
              <a:rPr lang="en-US" altLang="en-US" sz="2000" b="1" dirty="0"/>
              <a:t>backwards</a:t>
            </a:r>
            <a:r>
              <a:rPr lang="en-US" altLang="en-US" sz="2000" dirty="0"/>
              <a:t>” direction: from the output layer, through each hidden layer down to the first hidden layer, hence “</a:t>
            </a:r>
            <a:r>
              <a:rPr lang="en-US" altLang="en-US" sz="2000" b="1" dirty="0"/>
              <a:t>backpropagation</a:t>
            </a:r>
            <a:r>
              <a:rPr lang="en-US" altLang="en-US" sz="2000" dirty="0"/>
              <a:t>”</a:t>
            </a:r>
          </a:p>
          <a:p>
            <a:pPr eaLnBrk="1" hangingPunct="1">
              <a:lnSpc>
                <a:spcPct val="130000"/>
              </a:lnSpc>
            </a:pPr>
            <a:r>
              <a:rPr lang="en-US" altLang="en-US" sz="2000" dirty="0"/>
              <a:t>Steps</a:t>
            </a:r>
          </a:p>
          <a:p>
            <a:pPr lvl="1" eaLnBrk="1" hangingPunct="1">
              <a:lnSpc>
                <a:spcPct val="130000"/>
              </a:lnSpc>
              <a:spcBef>
                <a:spcPct val="0"/>
              </a:spcBef>
            </a:pPr>
            <a:r>
              <a:rPr lang="en-US" altLang="en-US" sz="2000" dirty="0"/>
              <a:t>Initialize weights to small random numbers, associated with biases </a:t>
            </a:r>
          </a:p>
          <a:p>
            <a:pPr lvl="1" eaLnBrk="1" hangingPunct="1">
              <a:lnSpc>
                <a:spcPct val="130000"/>
              </a:lnSpc>
              <a:spcBef>
                <a:spcPct val="0"/>
              </a:spcBef>
            </a:pPr>
            <a:r>
              <a:rPr lang="en-US" altLang="en-US" sz="2000" dirty="0"/>
              <a:t>Propagate the inputs forward (by applying activation function) </a:t>
            </a:r>
          </a:p>
          <a:p>
            <a:pPr lvl="1" eaLnBrk="1" hangingPunct="1">
              <a:lnSpc>
                <a:spcPct val="130000"/>
              </a:lnSpc>
              <a:spcBef>
                <a:spcPct val="0"/>
              </a:spcBef>
            </a:pPr>
            <a:r>
              <a:rPr lang="en-US" altLang="en-US" sz="2000" dirty="0"/>
              <a:t>Backpropagate the error (by updating weights and biases)</a:t>
            </a:r>
          </a:p>
          <a:p>
            <a:pPr lvl="1" eaLnBrk="1" hangingPunct="1">
              <a:lnSpc>
                <a:spcPct val="130000"/>
              </a:lnSpc>
              <a:spcBef>
                <a:spcPct val="0"/>
              </a:spcBef>
            </a:pPr>
            <a:r>
              <a:rPr lang="en-US" altLang="en-US" sz="2000" dirty="0"/>
              <a:t>Terminating condition (when error is very small, etc.)</a:t>
            </a:r>
          </a:p>
        </p:txBody>
      </p:sp>
      <p:sp>
        <p:nvSpPr>
          <p:cNvPr id="2" name="Slide Number Placeholder 1">
            <a:extLst>
              <a:ext uri="{FF2B5EF4-FFF2-40B4-BE49-F238E27FC236}">
                <a16:creationId xmlns:a16="http://schemas.microsoft.com/office/drawing/2014/main" id="{C9D4E8E1-EE46-B8A6-E554-25D4AB57C765}"/>
              </a:ext>
            </a:extLst>
          </p:cNvPr>
          <p:cNvSpPr>
            <a:spLocks noGrp="1"/>
          </p:cNvSpPr>
          <p:nvPr>
            <p:ph type="sldNum" sz="quarter" idx="12"/>
          </p:nvPr>
        </p:nvSpPr>
        <p:spPr/>
        <p:txBody>
          <a:bodyPr/>
          <a:lstStyle/>
          <a:p>
            <a:fld id="{C3CACD4E-8C52-004E-9A96-AD0BCBF3CA39}"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6">
            <a:extLst>
              <a:ext uri="{FF2B5EF4-FFF2-40B4-BE49-F238E27FC236}">
                <a16:creationId xmlns:a16="http://schemas.microsoft.com/office/drawing/2014/main" id="{9532C565-BEC5-3CBD-A97F-44A9AE09A7BE}"/>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74D09279-C140-154F-A90E-11D1D2AF99C9}" type="slidenum">
              <a:rPr lang="en-US" altLang="en-US" sz="1200"/>
              <a:pPr algn="r" eaLnBrk="1" hangingPunct="1"/>
              <a:t>58</a:t>
            </a:fld>
            <a:endParaRPr lang="en-US" altLang="en-US" sz="1200"/>
          </a:p>
        </p:txBody>
      </p:sp>
      <p:sp>
        <p:nvSpPr>
          <p:cNvPr id="15363" name="Rectangle 4098">
            <a:extLst>
              <a:ext uri="{FF2B5EF4-FFF2-40B4-BE49-F238E27FC236}">
                <a16:creationId xmlns:a16="http://schemas.microsoft.com/office/drawing/2014/main" id="{9D58AD14-0D17-5CC5-924E-C1BB9EAAE653}"/>
              </a:ext>
            </a:extLst>
          </p:cNvPr>
          <p:cNvSpPr>
            <a:spLocks noGrp="1" noChangeArrowheads="1"/>
          </p:cNvSpPr>
          <p:nvPr>
            <p:ph type="title" idx="4294967295"/>
          </p:nvPr>
        </p:nvSpPr>
        <p:spPr>
          <a:xfrm>
            <a:off x="1524000" y="381000"/>
            <a:ext cx="9144000" cy="609600"/>
          </a:xfrm>
          <a:noFill/>
        </p:spPr>
        <p:txBody>
          <a:bodyPr vert="horz" lIns="92075" tIns="46038" rIns="92075" bIns="46038" rtlCol="0" anchor="ctr">
            <a:normAutofit fontScale="90000"/>
          </a:bodyPr>
          <a:lstStyle/>
          <a:p>
            <a:pPr eaLnBrk="1" hangingPunct="1"/>
            <a:r>
              <a:rPr lang="en-US" altLang="en-US"/>
              <a:t>Neuron: A Hidden/Output Layer Unit</a:t>
            </a:r>
            <a:r>
              <a:rPr lang="en-US" altLang="en-US" sz="4000"/>
              <a:t> </a:t>
            </a:r>
          </a:p>
        </p:txBody>
      </p:sp>
      <p:sp>
        <p:nvSpPr>
          <p:cNvPr id="15364" name="Rectangle 4099">
            <a:extLst>
              <a:ext uri="{FF2B5EF4-FFF2-40B4-BE49-F238E27FC236}">
                <a16:creationId xmlns:a16="http://schemas.microsoft.com/office/drawing/2014/main" id="{0E40B9D2-D1D4-A931-E7A5-6BC6256E6ACC}"/>
              </a:ext>
            </a:extLst>
          </p:cNvPr>
          <p:cNvSpPr>
            <a:spLocks noGrp="1" noChangeArrowheads="1"/>
          </p:cNvSpPr>
          <p:nvPr>
            <p:ph type="body" sz="half" idx="4294967295"/>
          </p:nvPr>
        </p:nvSpPr>
        <p:spPr>
          <a:xfrm>
            <a:off x="420633" y="4876800"/>
            <a:ext cx="11214319" cy="1524000"/>
          </a:xfrm>
          <a:noFill/>
        </p:spPr>
        <p:txBody>
          <a:bodyPr vert="horz" lIns="92075" tIns="46038" rIns="92075" bIns="46038" rtlCol="0">
            <a:normAutofit lnSpcReduction="10000"/>
          </a:bodyPr>
          <a:lstStyle/>
          <a:p>
            <a:pPr eaLnBrk="1" hangingPunct="1">
              <a:lnSpc>
                <a:spcPct val="90000"/>
              </a:lnSpc>
            </a:pPr>
            <a:r>
              <a:rPr lang="en-US" altLang="en-US" sz="2000" dirty="0">
                <a:latin typeface="Calibri" panose="020F0502020204030204" pitchFamily="34" charset="0"/>
              </a:rPr>
              <a:t>An </a:t>
            </a:r>
            <a:r>
              <a:rPr lang="en-US" altLang="en-US" sz="2000" i="1" dirty="0">
                <a:latin typeface="Calibri" panose="020F0502020204030204" pitchFamily="34" charset="0"/>
              </a:rPr>
              <a:t>n</a:t>
            </a:r>
            <a:r>
              <a:rPr lang="en-US" altLang="en-US" sz="2000" dirty="0">
                <a:latin typeface="Calibri" panose="020F0502020204030204" pitchFamily="34" charset="0"/>
              </a:rPr>
              <a:t>-dimensional input vector </a:t>
            </a:r>
            <a:r>
              <a:rPr lang="en-US" altLang="en-US" sz="2000" b="1" dirty="0">
                <a:latin typeface="Calibri" panose="020F0502020204030204" pitchFamily="34" charset="0"/>
                <a:ea typeface="HYGungSo-Bold" pitchFamily="18" charset="-127"/>
              </a:rPr>
              <a:t>x</a:t>
            </a:r>
            <a:r>
              <a:rPr lang="en-US" altLang="en-US" sz="2000" dirty="0">
                <a:latin typeface="Calibri" panose="020F0502020204030204" pitchFamily="34" charset="0"/>
              </a:rPr>
              <a:t> is mapped into variable y by means of the scalar product and a nonlinear function mapping</a:t>
            </a:r>
          </a:p>
          <a:p>
            <a:r>
              <a:rPr lang="en-US" altLang="en-US" sz="2000" dirty="0">
                <a:latin typeface="Calibri" panose="020F0502020204030204" pitchFamily="34" charset="0"/>
              </a:rPr>
              <a:t>The inputs to unit are outputs from the previous layer. They are multiplied by their corresponding weights to form a weighted sum, which is added to the bias associated with unit. Then a nonlinear activation function is applied to it.</a:t>
            </a:r>
          </a:p>
        </p:txBody>
      </p:sp>
      <p:grpSp>
        <p:nvGrpSpPr>
          <p:cNvPr id="15365" name="Group 42">
            <a:extLst>
              <a:ext uri="{FF2B5EF4-FFF2-40B4-BE49-F238E27FC236}">
                <a16:creationId xmlns:a16="http://schemas.microsoft.com/office/drawing/2014/main" id="{2AB46FBC-7FA1-6001-E17F-C33DC08B7E26}"/>
              </a:ext>
            </a:extLst>
          </p:cNvPr>
          <p:cNvGrpSpPr>
            <a:grpSpLocks/>
          </p:cNvGrpSpPr>
          <p:nvPr/>
        </p:nvGrpSpPr>
        <p:grpSpPr bwMode="auto">
          <a:xfrm>
            <a:off x="1857376" y="1219201"/>
            <a:ext cx="8734425" cy="3590925"/>
            <a:chOff x="210" y="768"/>
            <a:chExt cx="5502" cy="2262"/>
          </a:xfrm>
        </p:grpSpPr>
        <p:sp>
          <p:nvSpPr>
            <p:cNvPr id="15366" name="Rectangle 4101">
              <a:extLst>
                <a:ext uri="{FF2B5EF4-FFF2-40B4-BE49-F238E27FC236}">
                  <a16:creationId xmlns:a16="http://schemas.microsoft.com/office/drawing/2014/main" id="{FAB2C934-5A22-6DDD-F50A-87B4B0532836}"/>
                </a:ext>
              </a:extLst>
            </p:cNvPr>
            <p:cNvSpPr>
              <a:spLocks noChangeArrowheads="1"/>
            </p:cNvSpPr>
            <p:nvPr/>
          </p:nvSpPr>
          <p:spPr bwMode="auto">
            <a:xfrm>
              <a:off x="3072" y="864"/>
              <a:ext cx="41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3600">
                  <a:latin typeface="Symbol" pitchFamily="2" charset="2"/>
                </a:rPr>
                <a:t>m</a:t>
              </a:r>
              <a:r>
                <a:rPr lang="en-US" altLang="en-US" sz="3600" i="1" baseline="-25000">
                  <a:latin typeface="Times New Roman" panose="02020603050405020304" pitchFamily="18" charset="0"/>
                </a:rPr>
                <a:t>k </a:t>
              </a:r>
            </a:p>
          </p:txBody>
        </p:sp>
        <p:sp>
          <p:nvSpPr>
            <p:cNvPr id="15367" name="Oval 4104">
              <a:extLst>
                <a:ext uri="{FF2B5EF4-FFF2-40B4-BE49-F238E27FC236}">
                  <a16:creationId xmlns:a16="http://schemas.microsoft.com/office/drawing/2014/main" id="{BE5B5834-BD67-98DC-618D-7DB387E6B2CA}"/>
                </a:ext>
              </a:extLst>
            </p:cNvPr>
            <p:cNvSpPr>
              <a:spLocks noChangeArrowheads="1"/>
            </p:cNvSpPr>
            <p:nvPr/>
          </p:nvSpPr>
          <p:spPr bwMode="auto">
            <a:xfrm>
              <a:off x="1180" y="810"/>
              <a:ext cx="480" cy="1584"/>
            </a:xfrm>
            <a:prstGeom prst="ellipse">
              <a:avLst/>
            </a:pr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5368" name="Oval 4105">
              <a:extLst>
                <a:ext uri="{FF2B5EF4-FFF2-40B4-BE49-F238E27FC236}">
                  <a16:creationId xmlns:a16="http://schemas.microsoft.com/office/drawing/2014/main" id="{C000AD6F-4CFC-64AB-3064-3E8B0B23D8F9}"/>
                </a:ext>
              </a:extLst>
            </p:cNvPr>
            <p:cNvSpPr>
              <a:spLocks noChangeArrowheads="1"/>
            </p:cNvSpPr>
            <p:nvPr/>
          </p:nvSpPr>
          <p:spPr bwMode="auto">
            <a:xfrm>
              <a:off x="356" y="801"/>
              <a:ext cx="478" cy="1582"/>
            </a:xfrm>
            <a:prstGeom prst="ellipse">
              <a:avLst/>
            </a:prstGeom>
            <a:solidFill>
              <a:srgbClr val="66FFFF"/>
            </a:solidFill>
            <a:ln w="12700">
              <a:solidFill>
                <a:srgbClr val="66FFFF"/>
              </a:solidFill>
              <a:round/>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5369" name="Line 4106">
              <a:extLst>
                <a:ext uri="{FF2B5EF4-FFF2-40B4-BE49-F238E27FC236}">
                  <a16:creationId xmlns:a16="http://schemas.microsoft.com/office/drawing/2014/main" id="{74673FFC-8507-BD08-3DCD-7F6EFF872F60}"/>
                </a:ext>
              </a:extLst>
            </p:cNvPr>
            <p:cNvSpPr>
              <a:spLocks noChangeShapeType="1"/>
            </p:cNvSpPr>
            <p:nvPr/>
          </p:nvSpPr>
          <p:spPr bwMode="auto">
            <a:xfrm>
              <a:off x="2661" y="1615"/>
              <a:ext cx="681" cy="1"/>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0" name="Rectangle 4107">
              <a:extLst>
                <a:ext uri="{FF2B5EF4-FFF2-40B4-BE49-F238E27FC236}">
                  <a16:creationId xmlns:a16="http://schemas.microsoft.com/office/drawing/2014/main" id="{107F293A-B476-ACD1-24AC-6EEB5713DAE4}"/>
                </a:ext>
              </a:extLst>
            </p:cNvPr>
            <p:cNvSpPr>
              <a:spLocks noChangeArrowheads="1"/>
            </p:cNvSpPr>
            <p:nvPr/>
          </p:nvSpPr>
          <p:spPr bwMode="auto">
            <a:xfrm>
              <a:off x="3328" y="1373"/>
              <a:ext cx="515" cy="488"/>
            </a:xfrm>
            <a:prstGeom prst="rect">
              <a:avLst/>
            </a:prstGeom>
            <a:solidFill>
              <a:srgbClr val="00FF99"/>
            </a:solidFill>
            <a:ln w="12700">
              <a:solidFill>
                <a:srgbClr val="00FF99"/>
              </a:solidFill>
              <a:miter lim="800000"/>
              <a:headEnd/>
              <a:tailEnd/>
            </a:ln>
          </p:spPr>
          <p:txBody>
            <a:bodyPr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4400" i="1">
                  <a:latin typeface="Times New Roman" panose="02020603050405020304" pitchFamily="18" charset="0"/>
                </a:rPr>
                <a:t>f</a:t>
              </a:r>
            </a:p>
          </p:txBody>
        </p:sp>
        <p:sp>
          <p:nvSpPr>
            <p:cNvPr id="15371" name="Line 4108">
              <a:extLst>
                <a:ext uri="{FF2B5EF4-FFF2-40B4-BE49-F238E27FC236}">
                  <a16:creationId xmlns:a16="http://schemas.microsoft.com/office/drawing/2014/main" id="{D948575A-D83B-22E1-5B61-5F86DB3B2F07}"/>
                </a:ext>
              </a:extLst>
            </p:cNvPr>
            <p:cNvSpPr>
              <a:spLocks noChangeShapeType="1"/>
            </p:cNvSpPr>
            <p:nvPr/>
          </p:nvSpPr>
          <p:spPr bwMode="auto">
            <a:xfrm>
              <a:off x="3851" y="1625"/>
              <a:ext cx="911" cy="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2" name="Rectangle 4109">
              <a:extLst>
                <a:ext uri="{FF2B5EF4-FFF2-40B4-BE49-F238E27FC236}">
                  <a16:creationId xmlns:a16="http://schemas.microsoft.com/office/drawing/2014/main" id="{F19F0625-F466-C30C-6DD8-C4887DA52EB8}"/>
                </a:ext>
              </a:extLst>
            </p:cNvPr>
            <p:cNvSpPr>
              <a:spLocks noChangeArrowheads="1"/>
            </p:cNvSpPr>
            <p:nvPr/>
          </p:nvSpPr>
          <p:spPr bwMode="auto">
            <a:xfrm>
              <a:off x="1940" y="2506"/>
              <a:ext cx="910"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b="1">
                  <a:latin typeface="Calibri" panose="020F0502020204030204" pitchFamily="34" charset="0"/>
                </a:rPr>
                <a:t>weighted </a:t>
              </a:r>
            </a:p>
            <a:p>
              <a:pPr algn="ctr"/>
              <a:r>
                <a:rPr lang="en-US" altLang="en-US" sz="2400" b="1">
                  <a:latin typeface="Calibri" panose="020F0502020204030204" pitchFamily="34" charset="0"/>
                </a:rPr>
                <a:t>sum</a:t>
              </a:r>
              <a:endParaRPr lang="en-US" altLang="en-US" sz="2400">
                <a:latin typeface="Calibri" panose="020F0502020204030204" pitchFamily="34" charset="0"/>
              </a:endParaRPr>
            </a:p>
          </p:txBody>
        </p:sp>
        <p:sp>
          <p:nvSpPr>
            <p:cNvPr id="15373" name="Rectangle 4110">
              <a:extLst>
                <a:ext uri="{FF2B5EF4-FFF2-40B4-BE49-F238E27FC236}">
                  <a16:creationId xmlns:a16="http://schemas.microsoft.com/office/drawing/2014/main" id="{73411654-2614-BF2E-C800-29E2E270D161}"/>
                </a:ext>
              </a:extLst>
            </p:cNvPr>
            <p:cNvSpPr>
              <a:spLocks noChangeArrowheads="1"/>
            </p:cNvSpPr>
            <p:nvPr/>
          </p:nvSpPr>
          <p:spPr bwMode="auto">
            <a:xfrm>
              <a:off x="210" y="2506"/>
              <a:ext cx="757"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b="1">
                  <a:latin typeface="Calibri" panose="020F0502020204030204" pitchFamily="34" charset="0"/>
                </a:rPr>
                <a:t>Input</a:t>
              </a:r>
            </a:p>
            <a:p>
              <a:pPr algn="ctr"/>
              <a:r>
                <a:rPr lang="en-US" altLang="en-US" sz="2400" b="1">
                  <a:latin typeface="Calibri" panose="020F0502020204030204" pitchFamily="34" charset="0"/>
                </a:rPr>
                <a:t>vector </a:t>
              </a:r>
              <a:r>
                <a:rPr lang="en-US" altLang="en-US" sz="2400" b="1">
                  <a:latin typeface="Calibri" panose="020F0502020204030204" pitchFamily="34" charset="0"/>
                  <a:ea typeface="HYGungSo-Bold" pitchFamily="18" charset="-127"/>
                </a:rPr>
                <a:t>x</a:t>
              </a:r>
            </a:p>
          </p:txBody>
        </p:sp>
        <p:sp>
          <p:nvSpPr>
            <p:cNvPr id="15374" name="Rectangle 4111">
              <a:extLst>
                <a:ext uri="{FF2B5EF4-FFF2-40B4-BE49-F238E27FC236}">
                  <a16:creationId xmlns:a16="http://schemas.microsoft.com/office/drawing/2014/main" id="{816AE249-5CBE-963B-BE37-655A0B118347}"/>
                </a:ext>
              </a:extLst>
            </p:cNvPr>
            <p:cNvSpPr>
              <a:spLocks noChangeArrowheads="1"/>
            </p:cNvSpPr>
            <p:nvPr/>
          </p:nvSpPr>
          <p:spPr bwMode="auto">
            <a:xfrm>
              <a:off x="4546" y="1584"/>
              <a:ext cx="80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b="1">
                  <a:latin typeface="Calibri" panose="020F0502020204030204" pitchFamily="34" charset="0"/>
                </a:rPr>
                <a:t>output </a:t>
              </a:r>
              <a:r>
                <a:rPr lang="en-US" altLang="en-US" sz="2400" b="1" i="1">
                  <a:latin typeface="Calibri" panose="020F0502020204030204" pitchFamily="34" charset="0"/>
                </a:rPr>
                <a:t>y</a:t>
              </a:r>
              <a:endParaRPr lang="en-US" altLang="en-US" sz="2400" i="1">
                <a:latin typeface="Calibri" panose="020F0502020204030204" pitchFamily="34" charset="0"/>
              </a:endParaRPr>
            </a:p>
          </p:txBody>
        </p:sp>
        <p:sp>
          <p:nvSpPr>
            <p:cNvPr id="15375" name="Rectangle 4112">
              <a:extLst>
                <a:ext uri="{FF2B5EF4-FFF2-40B4-BE49-F238E27FC236}">
                  <a16:creationId xmlns:a16="http://schemas.microsoft.com/office/drawing/2014/main" id="{3624CCF7-3D5E-D341-F2CB-7002455A190C}"/>
                </a:ext>
              </a:extLst>
            </p:cNvPr>
            <p:cNvSpPr>
              <a:spLocks noChangeArrowheads="1"/>
            </p:cNvSpPr>
            <p:nvPr/>
          </p:nvSpPr>
          <p:spPr bwMode="auto">
            <a:xfrm>
              <a:off x="3098" y="2506"/>
              <a:ext cx="936"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b="1">
                  <a:latin typeface="Calibri" panose="020F0502020204030204" pitchFamily="34" charset="0"/>
                </a:rPr>
                <a:t>Activation</a:t>
              </a:r>
              <a:endParaRPr lang="en-US" altLang="en-US" sz="2400">
                <a:latin typeface="Calibri" panose="020F0502020204030204" pitchFamily="34" charset="0"/>
              </a:endParaRPr>
            </a:p>
            <a:p>
              <a:pPr algn="ctr"/>
              <a:r>
                <a:rPr lang="en-US" altLang="en-US" sz="2400" b="1">
                  <a:latin typeface="Calibri" panose="020F0502020204030204" pitchFamily="34" charset="0"/>
                </a:rPr>
                <a:t>function</a:t>
              </a:r>
              <a:endParaRPr lang="en-US" altLang="en-US" sz="2400">
                <a:latin typeface="Calibri" panose="020F0502020204030204" pitchFamily="34" charset="0"/>
              </a:endParaRPr>
            </a:p>
          </p:txBody>
        </p:sp>
        <p:sp>
          <p:nvSpPr>
            <p:cNvPr id="15376" name="Oval 4113">
              <a:extLst>
                <a:ext uri="{FF2B5EF4-FFF2-40B4-BE49-F238E27FC236}">
                  <a16:creationId xmlns:a16="http://schemas.microsoft.com/office/drawing/2014/main" id="{3B72EBAB-6C85-C96B-035F-24AD28CDF8F0}"/>
                </a:ext>
              </a:extLst>
            </p:cNvPr>
            <p:cNvSpPr>
              <a:spLocks noChangeArrowheads="1"/>
            </p:cNvSpPr>
            <p:nvPr/>
          </p:nvSpPr>
          <p:spPr bwMode="auto">
            <a:xfrm>
              <a:off x="2719" y="798"/>
              <a:ext cx="401" cy="402"/>
            </a:xfrm>
            <a:prstGeom prst="ellipse">
              <a:avLst/>
            </a:prstGeom>
            <a:solidFill>
              <a:srgbClr val="00FFCC"/>
            </a:solidFill>
            <a:ln w="12700">
              <a:solidFill>
                <a:srgbClr val="000000"/>
              </a:solidFill>
              <a:round/>
              <a:headEnd/>
              <a:tailEnd/>
            </a:ln>
          </p:spPr>
          <p:txBody>
            <a:bodyPr wrap="none" lIns="92075" tIns="46038" rIns="92075" bIns="46038"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endParaRPr lang="en-US" altLang="en-US" sz="2400">
                <a:latin typeface="Times New Roman" panose="02020603050405020304" pitchFamily="18" charset="0"/>
              </a:endParaRPr>
            </a:p>
          </p:txBody>
        </p:sp>
        <p:sp>
          <p:nvSpPr>
            <p:cNvPr id="15377" name="Line 4114">
              <a:extLst>
                <a:ext uri="{FF2B5EF4-FFF2-40B4-BE49-F238E27FC236}">
                  <a16:creationId xmlns:a16="http://schemas.microsoft.com/office/drawing/2014/main" id="{B2C10EF4-D964-2A9A-9E67-26BE5F2EED54}"/>
                </a:ext>
              </a:extLst>
            </p:cNvPr>
            <p:cNvSpPr>
              <a:spLocks noChangeShapeType="1"/>
            </p:cNvSpPr>
            <p:nvPr/>
          </p:nvSpPr>
          <p:spPr bwMode="auto">
            <a:xfrm flipH="1">
              <a:off x="2918" y="1200"/>
              <a:ext cx="10" cy="435"/>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8" name="Rectangle 4115">
              <a:extLst>
                <a:ext uri="{FF2B5EF4-FFF2-40B4-BE49-F238E27FC236}">
                  <a16:creationId xmlns:a16="http://schemas.microsoft.com/office/drawing/2014/main" id="{ED8BBF6A-1F72-4C86-32D7-1604E1AAAED1}"/>
                </a:ext>
              </a:extLst>
            </p:cNvPr>
            <p:cNvSpPr>
              <a:spLocks noChangeArrowheads="1"/>
            </p:cNvSpPr>
            <p:nvPr/>
          </p:nvSpPr>
          <p:spPr bwMode="auto">
            <a:xfrm>
              <a:off x="990" y="2506"/>
              <a:ext cx="81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b="1">
                  <a:latin typeface="Calibri" panose="020F0502020204030204" pitchFamily="34" charset="0"/>
                </a:rPr>
                <a:t>weight</a:t>
              </a:r>
            </a:p>
            <a:p>
              <a:pPr algn="ctr"/>
              <a:r>
                <a:rPr lang="en-US" altLang="en-US" sz="2400" b="1">
                  <a:latin typeface="Calibri" panose="020F0502020204030204" pitchFamily="34" charset="0"/>
                </a:rPr>
                <a:t>vector </a:t>
              </a:r>
              <a:r>
                <a:rPr lang="en-US" altLang="en-US" sz="2400" b="1">
                  <a:latin typeface="Calibri" panose="020F0502020204030204" pitchFamily="34" charset="0"/>
                  <a:ea typeface="HYGungSo-Bold" pitchFamily="18" charset="-127"/>
                </a:rPr>
                <a:t>w</a:t>
              </a:r>
              <a:endParaRPr lang="en-US" altLang="en-US" sz="2400">
                <a:latin typeface="Calibri" panose="020F0502020204030204" pitchFamily="34" charset="0"/>
                <a:ea typeface="HYGungSo-Bold" pitchFamily="18" charset="-127"/>
              </a:endParaRPr>
            </a:p>
          </p:txBody>
        </p:sp>
        <p:sp>
          <p:nvSpPr>
            <p:cNvPr id="15379" name="Freeform 4116">
              <a:extLst>
                <a:ext uri="{FF2B5EF4-FFF2-40B4-BE49-F238E27FC236}">
                  <a16:creationId xmlns:a16="http://schemas.microsoft.com/office/drawing/2014/main" id="{6DC67F60-938A-7F71-72C5-C8EA9346ADFB}"/>
                </a:ext>
              </a:extLst>
            </p:cNvPr>
            <p:cNvSpPr>
              <a:spLocks/>
            </p:cNvSpPr>
            <p:nvPr/>
          </p:nvSpPr>
          <p:spPr bwMode="auto">
            <a:xfrm>
              <a:off x="2064" y="991"/>
              <a:ext cx="568" cy="1220"/>
            </a:xfrm>
            <a:custGeom>
              <a:avLst/>
              <a:gdLst>
                <a:gd name="T0" fmla="*/ 0 w 568"/>
                <a:gd name="T1" fmla="*/ 0 h 1220"/>
                <a:gd name="T2" fmla="*/ 0 w 568"/>
                <a:gd name="T3" fmla="*/ 1219 h 1220"/>
                <a:gd name="T4" fmla="*/ 254 w 568"/>
                <a:gd name="T5" fmla="*/ 1219 h 1220"/>
                <a:gd name="T6" fmla="*/ 567 w 568"/>
                <a:gd name="T7" fmla="*/ 632 h 1220"/>
                <a:gd name="T8" fmla="*/ 254 w 568"/>
                <a:gd name="T9" fmla="*/ 14 h 1220"/>
                <a:gd name="T10" fmla="*/ 0 w 568"/>
                <a:gd name="T11" fmla="*/ 0 h 1220"/>
                <a:gd name="T12" fmla="*/ 0 60000 65536"/>
                <a:gd name="T13" fmla="*/ 0 60000 65536"/>
                <a:gd name="T14" fmla="*/ 0 60000 65536"/>
                <a:gd name="T15" fmla="*/ 0 60000 65536"/>
                <a:gd name="T16" fmla="*/ 0 60000 65536"/>
                <a:gd name="T17" fmla="*/ 0 60000 65536"/>
                <a:gd name="T18" fmla="*/ 0 w 568"/>
                <a:gd name="T19" fmla="*/ 0 h 1220"/>
                <a:gd name="T20" fmla="*/ 568 w 568"/>
                <a:gd name="T21" fmla="*/ 1220 h 1220"/>
              </a:gdLst>
              <a:ahLst/>
              <a:cxnLst>
                <a:cxn ang="T12">
                  <a:pos x="T0" y="T1"/>
                </a:cxn>
                <a:cxn ang="T13">
                  <a:pos x="T2" y="T3"/>
                </a:cxn>
                <a:cxn ang="T14">
                  <a:pos x="T4" y="T5"/>
                </a:cxn>
                <a:cxn ang="T15">
                  <a:pos x="T6" y="T7"/>
                </a:cxn>
                <a:cxn ang="T16">
                  <a:pos x="T8" y="T9"/>
                </a:cxn>
                <a:cxn ang="T17">
                  <a:pos x="T10" y="T11"/>
                </a:cxn>
              </a:cxnLst>
              <a:rect l="T18" t="T19" r="T20" b="T21"/>
              <a:pathLst>
                <a:path w="568" h="1220">
                  <a:moveTo>
                    <a:pt x="0" y="0"/>
                  </a:moveTo>
                  <a:lnTo>
                    <a:pt x="0" y="1219"/>
                  </a:lnTo>
                  <a:lnTo>
                    <a:pt x="254" y="1219"/>
                  </a:lnTo>
                  <a:lnTo>
                    <a:pt x="567" y="632"/>
                  </a:lnTo>
                  <a:lnTo>
                    <a:pt x="254" y="14"/>
                  </a:lnTo>
                  <a:lnTo>
                    <a:pt x="0" y="0"/>
                  </a:lnTo>
                </a:path>
              </a:pathLst>
            </a:custGeom>
            <a:solidFill>
              <a:srgbClr val="99CCFF"/>
            </a:solidFill>
            <a:ln w="12700" cap="rnd">
              <a:solidFill>
                <a:srgbClr val="000000"/>
              </a:solidFill>
              <a:round/>
              <a:headEnd/>
              <a:tailEnd/>
            </a:ln>
          </p:spPr>
          <p:txBody>
            <a:bodyPr/>
            <a:lstStyle/>
            <a:p>
              <a:endParaRPr lang="en-US"/>
            </a:p>
          </p:txBody>
        </p:sp>
        <p:sp>
          <p:nvSpPr>
            <p:cNvPr id="15380" name="Rectangle 4117">
              <a:extLst>
                <a:ext uri="{FF2B5EF4-FFF2-40B4-BE49-F238E27FC236}">
                  <a16:creationId xmlns:a16="http://schemas.microsoft.com/office/drawing/2014/main" id="{0C78C483-E48A-E405-88ED-B8B44A8E3D7B}"/>
                </a:ext>
              </a:extLst>
            </p:cNvPr>
            <p:cNvSpPr>
              <a:spLocks noChangeArrowheads="1"/>
            </p:cNvSpPr>
            <p:nvPr/>
          </p:nvSpPr>
          <p:spPr bwMode="auto">
            <a:xfrm>
              <a:off x="2116" y="1387"/>
              <a:ext cx="32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3600">
                  <a:latin typeface="Symbol" pitchFamily="2" charset="2"/>
                </a:rPr>
                <a:t>å</a:t>
              </a:r>
            </a:p>
          </p:txBody>
        </p:sp>
        <p:sp>
          <p:nvSpPr>
            <p:cNvPr id="15381" name="Line 4118">
              <a:extLst>
                <a:ext uri="{FF2B5EF4-FFF2-40B4-BE49-F238E27FC236}">
                  <a16:creationId xmlns:a16="http://schemas.microsoft.com/office/drawing/2014/main" id="{6F201AC7-4312-545B-4FA7-8F333A092FE6}"/>
                </a:ext>
              </a:extLst>
            </p:cNvPr>
            <p:cNvSpPr>
              <a:spLocks noChangeShapeType="1"/>
            </p:cNvSpPr>
            <p:nvPr/>
          </p:nvSpPr>
          <p:spPr bwMode="auto">
            <a:xfrm>
              <a:off x="1643" y="1126"/>
              <a:ext cx="430" cy="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2" name="Rectangle 4119">
              <a:extLst>
                <a:ext uri="{FF2B5EF4-FFF2-40B4-BE49-F238E27FC236}">
                  <a16:creationId xmlns:a16="http://schemas.microsoft.com/office/drawing/2014/main" id="{2BF22899-02D0-200B-0B9E-FCA3092A4ECA}"/>
                </a:ext>
              </a:extLst>
            </p:cNvPr>
            <p:cNvSpPr>
              <a:spLocks noChangeArrowheads="1"/>
            </p:cNvSpPr>
            <p:nvPr/>
          </p:nvSpPr>
          <p:spPr bwMode="auto">
            <a:xfrm>
              <a:off x="1275" y="979"/>
              <a:ext cx="31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i="1">
                  <a:latin typeface="Times New Roman" panose="02020603050405020304" pitchFamily="18" charset="0"/>
                </a:rPr>
                <a:t>w</a:t>
              </a:r>
              <a:r>
                <a:rPr lang="en-US" altLang="en-US" sz="2400" i="1" baseline="-25000">
                  <a:latin typeface="Times New Roman" panose="02020603050405020304" pitchFamily="18" charset="0"/>
                </a:rPr>
                <a:t>0</a:t>
              </a:r>
            </a:p>
          </p:txBody>
        </p:sp>
        <p:sp>
          <p:nvSpPr>
            <p:cNvPr id="15383" name="Line 4120">
              <a:extLst>
                <a:ext uri="{FF2B5EF4-FFF2-40B4-BE49-F238E27FC236}">
                  <a16:creationId xmlns:a16="http://schemas.microsoft.com/office/drawing/2014/main" id="{A49EA54C-8381-B2AA-3CD3-90D683CD9919}"/>
                </a:ext>
              </a:extLst>
            </p:cNvPr>
            <p:cNvSpPr>
              <a:spLocks noChangeShapeType="1"/>
            </p:cNvSpPr>
            <p:nvPr/>
          </p:nvSpPr>
          <p:spPr bwMode="auto">
            <a:xfrm>
              <a:off x="817" y="1126"/>
              <a:ext cx="431" cy="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4" name="Line 4121">
              <a:extLst>
                <a:ext uri="{FF2B5EF4-FFF2-40B4-BE49-F238E27FC236}">
                  <a16:creationId xmlns:a16="http://schemas.microsoft.com/office/drawing/2014/main" id="{2980BBEE-1875-71D3-CE54-40F173929076}"/>
                </a:ext>
              </a:extLst>
            </p:cNvPr>
            <p:cNvSpPr>
              <a:spLocks noChangeShapeType="1"/>
            </p:cNvSpPr>
            <p:nvPr/>
          </p:nvSpPr>
          <p:spPr bwMode="auto">
            <a:xfrm>
              <a:off x="1634" y="1482"/>
              <a:ext cx="430" cy="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5" name="Rectangle 4122">
              <a:extLst>
                <a:ext uri="{FF2B5EF4-FFF2-40B4-BE49-F238E27FC236}">
                  <a16:creationId xmlns:a16="http://schemas.microsoft.com/office/drawing/2014/main" id="{98999828-C955-6437-4377-5AC72D3C0B7D}"/>
                </a:ext>
              </a:extLst>
            </p:cNvPr>
            <p:cNvSpPr>
              <a:spLocks noChangeArrowheads="1"/>
            </p:cNvSpPr>
            <p:nvPr/>
          </p:nvSpPr>
          <p:spPr bwMode="auto">
            <a:xfrm>
              <a:off x="1266" y="1335"/>
              <a:ext cx="31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i="1">
                  <a:latin typeface="Times New Roman" panose="02020603050405020304" pitchFamily="18" charset="0"/>
                </a:rPr>
                <a:t>w</a:t>
              </a:r>
              <a:r>
                <a:rPr lang="en-US" altLang="en-US" sz="2400" i="1" baseline="-25000">
                  <a:latin typeface="Times New Roman" panose="02020603050405020304" pitchFamily="18" charset="0"/>
                </a:rPr>
                <a:t>1</a:t>
              </a:r>
            </a:p>
          </p:txBody>
        </p:sp>
        <p:sp>
          <p:nvSpPr>
            <p:cNvPr id="15386" name="Line 4123">
              <a:extLst>
                <a:ext uri="{FF2B5EF4-FFF2-40B4-BE49-F238E27FC236}">
                  <a16:creationId xmlns:a16="http://schemas.microsoft.com/office/drawing/2014/main" id="{633FB01B-2DEE-5C56-EABF-6C37AAF7DE00}"/>
                </a:ext>
              </a:extLst>
            </p:cNvPr>
            <p:cNvSpPr>
              <a:spLocks noChangeShapeType="1"/>
            </p:cNvSpPr>
            <p:nvPr/>
          </p:nvSpPr>
          <p:spPr bwMode="auto">
            <a:xfrm>
              <a:off x="808" y="1482"/>
              <a:ext cx="431" cy="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7" name="Line 4124">
              <a:extLst>
                <a:ext uri="{FF2B5EF4-FFF2-40B4-BE49-F238E27FC236}">
                  <a16:creationId xmlns:a16="http://schemas.microsoft.com/office/drawing/2014/main" id="{2958222C-9DC6-39C8-E572-79BDED63975C}"/>
                </a:ext>
              </a:extLst>
            </p:cNvPr>
            <p:cNvSpPr>
              <a:spLocks noChangeShapeType="1"/>
            </p:cNvSpPr>
            <p:nvPr/>
          </p:nvSpPr>
          <p:spPr bwMode="auto">
            <a:xfrm>
              <a:off x="1633" y="2066"/>
              <a:ext cx="43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8" name="Rectangle 4125">
              <a:extLst>
                <a:ext uri="{FF2B5EF4-FFF2-40B4-BE49-F238E27FC236}">
                  <a16:creationId xmlns:a16="http://schemas.microsoft.com/office/drawing/2014/main" id="{AB5DD6E4-92F3-274B-E3C2-E068B4F87258}"/>
                </a:ext>
              </a:extLst>
            </p:cNvPr>
            <p:cNvSpPr>
              <a:spLocks noChangeArrowheads="1"/>
            </p:cNvSpPr>
            <p:nvPr/>
          </p:nvSpPr>
          <p:spPr bwMode="auto">
            <a:xfrm>
              <a:off x="1265" y="1919"/>
              <a:ext cx="31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i="1">
                  <a:latin typeface="Times New Roman" panose="02020603050405020304" pitchFamily="18" charset="0"/>
                </a:rPr>
                <a:t>w</a:t>
              </a:r>
              <a:r>
                <a:rPr lang="en-US" altLang="en-US" sz="2400" i="1" baseline="-25000">
                  <a:latin typeface="Times New Roman" panose="02020603050405020304" pitchFamily="18" charset="0"/>
                </a:rPr>
                <a:t>n</a:t>
              </a:r>
            </a:p>
          </p:txBody>
        </p:sp>
        <p:sp>
          <p:nvSpPr>
            <p:cNvPr id="15389" name="Line 4126">
              <a:extLst>
                <a:ext uri="{FF2B5EF4-FFF2-40B4-BE49-F238E27FC236}">
                  <a16:creationId xmlns:a16="http://schemas.microsoft.com/office/drawing/2014/main" id="{95324C2B-7A55-E852-97D0-E773DFCC1B0D}"/>
                </a:ext>
              </a:extLst>
            </p:cNvPr>
            <p:cNvSpPr>
              <a:spLocks noChangeShapeType="1"/>
            </p:cNvSpPr>
            <p:nvPr/>
          </p:nvSpPr>
          <p:spPr bwMode="auto">
            <a:xfrm>
              <a:off x="807" y="2066"/>
              <a:ext cx="431"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90" name="Rectangle 4127">
              <a:extLst>
                <a:ext uri="{FF2B5EF4-FFF2-40B4-BE49-F238E27FC236}">
                  <a16:creationId xmlns:a16="http://schemas.microsoft.com/office/drawing/2014/main" id="{C334CD03-5A38-748E-8DE0-F609C80FABC3}"/>
                </a:ext>
              </a:extLst>
            </p:cNvPr>
            <p:cNvSpPr>
              <a:spLocks noChangeArrowheads="1"/>
            </p:cNvSpPr>
            <p:nvPr/>
          </p:nvSpPr>
          <p:spPr bwMode="auto">
            <a:xfrm>
              <a:off x="433" y="951"/>
              <a:ext cx="2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i="1">
                  <a:latin typeface="Times New Roman" panose="02020603050405020304" pitchFamily="18" charset="0"/>
                </a:rPr>
                <a:t>x</a:t>
              </a:r>
              <a:r>
                <a:rPr lang="en-US" altLang="en-US" sz="2400" i="1" baseline="-25000">
                  <a:latin typeface="Times New Roman" panose="02020603050405020304" pitchFamily="18" charset="0"/>
                </a:rPr>
                <a:t>0</a:t>
              </a:r>
            </a:p>
          </p:txBody>
        </p:sp>
        <p:sp>
          <p:nvSpPr>
            <p:cNvPr id="15391" name="Rectangle 4128">
              <a:extLst>
                <a:ext uri="{FF2B5EF4-FFF2-40B4-BE49-F238E27FC236}">
                  <a16:creationId xmlns:a16="http://schemas.microsoft.com/office/drawing/2014/main" id="{409216BD-358F-5AF9-74A9-BCEE90E15AAD}"/>
                </a:ext>
              </a:extLst>
            </p:cNvPr>
            <p:cNvSpPr>
              <a:spLocks noChangeArrowheads="1"/>
            </p:cNvSpPr>
            <p:nvPr/>
          </p:nvSpPr>
          <p:spPr bwMode="auto">
            <a:xfrm>
              <a:off x="452" y="1326"/>
              <a:ext cx="2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i="1">
                  <a:latin typeface="Times New Roman" panose="02020603050405020304" pitchFamily="18" charset="0"/>
                </a:rPr>
                <a:t>x</a:t>
              </a:r>
              <a:r>
                <a:rPr lang="en-US" altLang="en-US" sz="2400" i="1" baseline="-25000">
                  <a:latin typeface="Times New Roman" panose="02020603050405020304" pitchFamily="18" charset="0"/>
                </a:rPr>
                <a:t>1</a:t>
              </a:r>
            </a:p>
          </p:txBody>
        </p:sp>
        <p:sp>
          <p:nvSpPr>
            <p:cNvPr id="15392" name="Rectangle 4129">
              <a:extLst>
                <a:ext uri="{FF2B5EF4-FFF2-40B4-BE49-F238E27FC236}">
                  <a16:creationId xmlns:a16="http://schemas.microsoft.com/office/drawing/2014/main" id="{97B04013-ECA5-80BC-C8FD-1EF8113E2D2B}"/>
                </a:ext>
              </a:extLst>
            </p:cNvPr>
            <p:cNvSpPr>
              <a:spLocks noChangeArrowheads="1"/>
            </p:cNvSpPr>
            <p:nvPr/>
          </p:nvSpPr>
          <p:spPr bwMode="auto">
            <a:xfrm>
              <a:off x="471" y="1883"/>
              <a:ext cx="2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i="1">
                  <a:latin typeface="Times New Roman" panose="02020603050405020304" pitchFamily="18" charset="0"/>
                </a:rPr>
                <a:t>x</a:t>
              </a:r>
              <a:r>
                <a:rPr lang="en-US" altLang="en-US" sz="2400" i="1" baseline="-25000">
                  <a:latin typeface="Times New Roman" panose="02020603050405020304" pitchFamily="18" charset="0"/>
                </a:rPr>
                <a:t>n</a:t>
              </a:r>
            </a:p>
          </p:txBody>
        </p:sp>
        <p:grpSp>
          <p:nvGrpSpPr>
            <p:cNvPr id="15393" name="Group 41">
              <a:extLst>
                <a:ext uri="{FF2B5EF4-FFF2-40B4-BE49-F238E27FC236}">
                  <a16:creationId xmlns:a16="http://schemas.microsoft.com/office/drawing/2014/main" id="{B14A96CB-3C77-9B0E-268C-376632E4D1FA}"/>
                </a:ext>
              </a:extLst>
            </p:cNvPr>
            <p:cNvGrpSpPr>
              <a:grpSpLocks/>
            </p:cNvGrpSpPr>
            <p:nvPr/>
          </p:nvGrpSpPr>
          <p:grpSpPr bwMode="auto">
            <a:xfrm>
              <a:off x="3360" y="2016"/>
              <a:ext cx="528" cy="384"/>
              <a:chOff x="3408" y="2352"/>
              <a:chExt cx="528" cy="384"/>
            </a:xfrm>
          </p:grpSpPr>
          <p:sp>
            <p:nvSpPr>
              <p:cNvPr id="15396" name="Rectangle 4130">
                <a:extLst>
                  <a:ext uri="{FF2B5EF4-FFF2-40B4-BE49-F238E27FC236}">
                    <a16:creationId xmlns:a16="http://schemas.microsoft.com/office/drawing/2014/main" id="{809354CD-D97F-0AAB-4450-476040814852}"/>
                  </a:ext>
                </a:extLst>
              </p:cNvPr>
              <p:cNvSpPr>
                <a:spLocks noChangeArrowheads="1"/>
              </p:cNvSpPr>
              <p:nvPr/>
            </p:nvSpPr>
            <p:spPr bwMode="auto">
              <a:xfrm>
                <a:off x="3408" y="2352"/>
                <a:ext cx="528" cy="384"/>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5397" name="Line 4131">
                <a:extLst>
                  <a:ext uri="{FF2B5EF4-FFF2-40B4-BE49-F238E27FC236}">
                    <a16:creationId xmlns:a16="http://schemas.microsoft.com/office/drawing/2014/main" id="{C5D52570-7B4D-CEDC-2EC0-91E60A0AB32F}"/>
                  </a:ext>
                </a:extLst>
              </p:cNvPr>
              <p:cNvSpPr>
                <a:spLocks noChangeShapeType="1"/>
              </p:cNvSpPr>
              <p:nvPr/>
            </p:nvSpPr>
            <p:spPr bwMode="auto">
              <a:xfrm>
                <a:off x="3408" y="2736"/>
                <a:ext cx="240" cy="0"/>
              </a:xfrm>
              <a:prstGeom prst="line">
                <a:avLst/>
              </a:prstGeom>
              <a:noFill/>
              <a:ln w="3810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5398" name="Line 4132">
                <a:extLst>
                  <a:ext uri="{FF2B5EF4-FFF2-40B4-BE49-F238E27FC236}">
                    <a16:creationId xmlns:a16="http://schemas.microsoft.com/office/drawing/2014/main" id="{E01DA9BF-06DE-337C-D3F7-73CAED80823E}"/>
                  </a:ext>
                </a:extLst>
              </p:cNvPr>
              <p:cNvSpPr>
                <a:spLocks noChangeShapeType="1"/>
              </p:cNvSpPr>
              <p:nvPr/>
            </p:nvSpPr>
            <p:spPr bwMode="auto">
              <a:xfrm flipV="1">
                <a:off x="3648" y="2352"/>
                <a:ext cx="0" cy="384"/>
              </a:xfrm>
              <a:prstGeom prst="line">
                <a:avLst/>
              </a:prstGeom>
              <a:noFill/>
              <a:ln w="3810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5399" name="Line 4133">
                <a:extLst>
                  <a:ext uri="{FF2B5EF4-FFF2-40B4-BE49-F238E27FC236}">
                    <a16:creationId xmlns:a16="http://schemas.microsoft.com/office/drawing/2014/main" id="{2CC2168C-A6A2-5750-FAAF-73146318FACC}"/>
                  </a:ext>
                </a:extLst>
              </p:cNvPr>
              <p:cNvSpPr>
                <a:spLocks noChangeShapeType="1"/>
              </p:cNvSpPr>
              <p:nvPr/>
            </p:nvSpPr>
            <p:spPr bwMode="auto">
              <a:xfrm>
                <a:off x="3648" y="2352"/>
                <a:ext cx="240" cy="0"/>
              </a:xfrm>
              <a:prstGeom prst="line">
                <a:avLst/>
              </a:prstGeom>
              <a:noFill/>
              <a:ln w="3810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15394" name="Object 4134">
              <a:extLst>
                <a:ext uri="{FF2B5EF4-FFF2-40B4-BE49-F238E27FC236}">
                  <a16:creationId xmlns:a16="http://schemas.microsoft.com/office/drawing/2014/main" id="{1B33B55B-9A51-16A8-3F6F-6E95B95FB0F5}"/>
                </a:ext>
              </a:extLst>
            </p:cNvPr>
            <p:cNvGraphicFramePr>
              <a:graphicFrameLocks noChangeAspect="1"/>
            </p:cNvGraphicFramePr>
            <p:nvPr/>
          </p:nvGraphicFramePr>
          <p:xfrm>
            <a:off x="4224" y="2016"/>
            <a:ext cx="1488" cy="716"/>
          </p:xfrm>
          <a:graphic>
            <a:graphicData uri="http://schemas.openxmlformats.org/presentationml/2006/ole">
              <mc:AlternateContent xmlns:mc="http://schemas.openxmlformats.org/markup-compatibility/2006">
                <mc:Choice xmlns:v="urn:schemas-microsoft-com:vml" Requires="v">
                  <p:oleObj name="Equation" r:id="rId3" imgW="31597600" imgH="15214600" progId="Equation.3">
                    <p:embed/>
                  </p:oleObj>
                </mc:Choice>
                <mc:Fallback>
                  <p:oleObj name="Equation" r:id="rId3" imgW="31597600" imgH="15214600" progId="Equation.3">
                    <p:embed/>
                    <p:pic>
                      <p:nvPicPr>
                        <p:cNvPr id="15394" name="Object 4134">
                          <a:extLst>
                            <a:ext uri="{FF2B5EF4-FFF2-40B4-BE49-F238E27FC236}">
                              <a16:creationId xmlns:a16="http://schemas.microsoft.com/office/drawing/2014/main" id="{1B33B55B-9A51-16A8-3F6F-6E95B95FB0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4" y="2016"/>
                          <a:ext cx="1488" cy="7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95" name="Text Box 43">
              <a:extLst>
                <a:ext uri="{FF2B5EF4-FFF2-40B4-BE49-F238E27FC236}">
                  <a16:creationId xmlns:a16="http://schemas.microsoft.com/office/drawing/2014/main" id="{B24FDA4D-8073-2B2D-8B05-ABDF35FE32C9}"/>
                </a:ext>
              </a:extLst>
            </p:cNvPr>
            <p:cNvSpPr txBox="1">
              <a:spLocks noChangeArrowheads="1"/>
            </p:cNvSpPr>
            <p:nvPr/>
          </p:nvSpPr>
          <p:spPr bwMode="auto">
            <a:xfrm>
              <a:off x="3024" y="768"/>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000">
                  <a:latin typeface="Calibri" panose="020F0502020204030204" pitchFamily="34" charset="0"/>
                </a:rPr>
                <a:t>bias</a:t>
              </a:r>
            </a:p>
          </p:txBody>
        </p:sp>
      </p:grpSp>
      <p:sp>
        <p:nvSpPr>
          <p:cNvPr id="2" name="Slide Number Placeholder 1">
            <a:extLst>
              <a:ext uri="{FF2B5EF4-FFF2-40B4-BE49-F238E27FC236}">
                <a16:creationId xmlns:a16="http://schemas.microsoft.com/office/drawing/2014/main" id="{1B4D84C9-BC33-6090-EA11-844DED7D3310}"/>
              </a:ext>
            </a:extLst>
          </p:cNvPr>
          <p:cNvSpPr>
            <a:spLocks noGrp="1"/>
          </p:cNvSpPr>
          <p:nvPr>
            <p:ph type="sldNum" sz="quarter" idx="12"/>
          </p:nvPr>
        </p:nvSpPr>
        <p:spPr/>
        <p:txBody>
          <a:bodyPr/>
          <a:lstStyle/>
          <a:p>
            <a:fld id="{C3CACD4E-8C52-004E-9A96-AD0BCBF3CA39}"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334DDE20-9398-BAA0-423F-F1FE12F0F71F}"/>
              </a:ext>
            </a:extLst>
          </p:cNvPr>
          <p:cNvSpPr>
            <a:spLocks noGrp="1" noChangeArrowheads="1"/>
          </p:cNvSpPr>
          <p:nvPr>
            <p:ph type="title"/>
          </p:nvPr>
        </p:nvSpPr>
        <p:spPr>
          <a:xfrm>
            <a:off x="1524000" y="381000"/>
            <a:ext cx="9144000" cy="609600"/>
          </a:xfrm>
          <a:noFill/>
        </p:spPr>
        <p:txBody>
          <a:bodyPr vert="horz" lIns="92075" tIns="46038" rIns="92075" bIns="46038" rtlCol="0" anchor="ctr">
            <a:normAutofit fontScale="90000"/>
          </a:bodyPr>
          <a:lstStyle/>
          <a:p>
            <a:pPr eaLnBrk="1" hangingPunct="1"/>
            <a:r>
              <a:rPr lang="en-US" altLang="en-US"/>
              <a:t>Efficiency and Interpretability</a:t>
            </a:r>
          </a:p>
        </p:txBody>
      </p:sp>
      <p:sp>
        <p:nvSpPr>
          <p:cNvPr id="16388" name="Rectangle 3">
            <a:extLst>
              <a:ext uri="{FF2B5EF4-FFF2-40B4-BE49-F238E27FC236}">
                <a16:creationId xmlns:a16="http://schemas.microsoft.com/office/drawing/2014/main" id="{A5A69710-F8BE-ACA6-0510-478B25ABCCE7}"/>
              </a:ext>
            </a:extLst>
          </p:cNvPr>
          <p:cNvSpPr>
            <a:spLocks noGrp="1" noChangeArrowheads="1"/>
          </p:cNvSpPr>
          <p:nvPr>
            <p:ph type="body" idx="1"/>
          </p:nvPr>
        </p:nvSpPr>
        <p:spPr>
          <a:xfrm>
            <a:off x="315310" y="1295400"/>
            <a:ext cx="11435256" cy="5181600"/>
          </a:xfrm>
          <a:noFill/>
        </p:spPr>
        <p:txBody>
          <a:bodyPr vert="horz" lIns="92075" tIns="46038" rIns="92075" bIns="46038" rtlCol="0">
            <a:normAutofit/>
          </a:bodyPr>
          <a:lstStyle/>
          <a:p>
            <a:pPr eaLnBrk="1" hangingPunct="1">
              <a:lnSpc>
                <a:spcPct val="120000"/>
              </a:lnSpc>
            </a:pPr>
            <a:r>
              <a:rPr lang="en-US" altLang="en-US" sz="2000" b="1" u="sng" dirty="0"/>
              <a:t>Efficiency</a:t>
            </a:r>
            <a:r>
              <a:rPr lang="en-US" altLang="en-US" sz="2000" dirty="0"/>
              <a:t> of backpropagation: Each epoch (one iteration through the training set) takes O(|D| * </a:t>
            </a:r>
            <a:r>
              <a:rPr lang="en-US" altLang="en-US" sz="2000" i="1" dirty="0"/>
              <a:t>w</a:t>
            </a:r>
            <a:r>
              <a:rPr lang="en-US" altLang="en-US" sz="2000" dirty="0"/>
              <a:t>), with |D| tuples and </a:t>
            </a:r>
            <a:r>
              <a:rPr lang="en-US" altLang="en-US" sz="2000" i="1" dirty="0"/>
              <a:t>w</a:t>
            </a:r>
            <a:r>
              <a:rPr lang="en-US" altLang="en-US" sz="2000" dirty="0"/>
              <a:t> weights, but # of epochs can be exponential to n, the number of inputs, in worst case</a:t>
            </a:r>
          </a:p>
          <a:p>
            <a:pPr eaLnBrk="1" hangingPunct="1">
              <a:lnSpc>
                <a:spcPct val="120000"/>
              </a:lnSpc>
            </a:pPr>
            <a:r>
              <a:rPr lang="en-US" altLang="en-US" sz="2000" dirty="0"/>
              <a:t>For easier comprehension: </a:t>
            </a:r>
            <a:r>
              <a:rPr lang="en-US" altLang="en-US" sz="2000" b="1" u="sng" dirty="0"/>
              <a:t>Rule extraction</a:t>
            </a:r>
            <a:r>
              <a:rPr lang="en-US" altLang="en-US" sz="2000" dirty="0"/>
              <a:t> by network pruning</a:t>
            </a:r>
          </a:p>
          <a:p>
            <a:pPr lvl="1" eaLnBrk="1" hangingPunct="1">
              <a:lnSpc>
                <a:spcPct val="120000"/>
              </a:lnSpc>
            </a:pPr>
            <a:r>
              <a:rPr lang="en-US" altLang="en-US" sz="2000" dirty="0"/>
              <a:t>Simplify the network structure by removing weighted links that have the least effect on the trained network</a:t>
            </a:r>
          </a:p>
          <a:p>
            <a:pPr lvl="1" eaLnBrk="1" hangingPunct="1">
              <a:lnSpc>
                <a:spcPct val="120000"/>
              </a:lnSpc>
            </a:pPr>
            <a:r>
              <a:rPr lang="en-US" altLang="en-US" sz="2000" dirty="0"/>
              <a:t>Then perform link, unit, or activation value clustering</a:t>
            </a:r>
          </a:p>
          <a:p>
            <a:pPr lvl="1" eaLnBrk="1" hangingPunct="1">
              <a:lnSpc>
                <a:spcPct val="120000"/>
              </a:lnSpc>
            </a:pPr>
            <a:r>
              <a:rPr lang="en-US" altLang="en-US" sz="2000" dirty="0"/>
              <a:t>The set of input and activation values are studied to derive rules describing the relationship between the input and hidden unit layers</a:t>
            </a:r>
          </a:p>
          <a:p>
            <a:pPr eaLnBrk="1" hangingPunct="1">
              <a:lnSpc>
                <a:spcPct val="120000"/>
              </a:lnSpc>
            </a:pPr>
            <a:r>
              <a:rPr lang="en-US" altLang="en-US" sz="2000" b="1" u="sng" dirty="0"/>
              <a:t>Sensitivity analysis</a:t>
            </a:r>
            <a:r>
              <a:rPr lang="en-US" altLang="en-US" sz="2000" dirty="0"/>
              <a:t>: assess the impact that a given input variable has on a network output.  The knowledge gained from this analysis can be represented in rules</a:t>
            </a:r>
            <a:endParaRPr lang="en-US" altLang="en-US" sz="2400" dirty="0"/>
          </a:p>
        </p:txBody>
      </p:sp>
      <p:sp>
        <p:nvSpPr>
          <p:cNvPr id="2" name="Slide Number Placeholder 1">
            <a:extLst>
              <a:ext uri="{FF2B5EF4-FFF2-40B4-BE49-F238E27FC236}">
                <a16:creationId xmlns:a16="http://schemas.microsoft.com/office/drawing/2014/main" id="{4F30C351-133C-71B6-79A5-67AC2BDA65DD}"/>
              </a:ext>
            </a:extLst>
          </p:cNvPr>
          <p:cNvSpPr>
            <a:spLocks noGrp="1"/>
          </p:cNvSpPr>
          <p:nvPr>
            <p:ph type="sldNum" sz="quarter" idx="12"/>
          </p:nvPr>
        </p:nvSpPr>
        <p:spPr/>
        <p:txBody>
          <a:bodyPr/>
          <a:lstStyle/>
          <a:p>
            <a:fld id="{C3CACD4E-8C52-004E-9A96-AD0BCBF3CA39}"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08E005B7-030B-B9D5-C531-CF61A3A0D7AB}"/>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254B1EED-A589-354C-B628-5B994EB364D3}" type="slidenum">
              <a:rPr lang="en-US" altLang="en-US" sz="1200"/>
              <a:pPr algn="r" eaLnBrk="1" hangingPunct="1"/>
              <a:t>60</a:t>
            </a:fld>
            <a:endParaRPr lang="en-US" altLang="en-US" sz="1200"/>
          </a:p>
        </p:txBody>
      </p:sp>
      <p:sp>
        <p:nvSpPr>
          <p:cNvPr id="18435" name="Rectangle 2">
            <a:extLst>
              <a:ext uri="{FF2B5EF4-FFF2-40B4-BE49-F238E27FC236}">
                <a16:creationId xmlns:a16="http://schemas.microsoft.com/office/drawing/2014/main" id="{D5239C36-1D6B-A375-3A77-EAF03B5B94B8}"/>
              </a:ext>
            </a:extLst>
          </p:cNvPr>
          <p:cNvSpPr>
            <a:spLocks noGrp="1" noChangeArrowheads="1"/>
          </p:cNvSpPr>
          <p:nvPr>
            <p:ph type="title" idx="4294967295"/>
          </p:nvPr>
        </p:nvSpPr>
        <p:spPr/>
        <p:txBody>
          <a:bodyPr/>
          <a:lstStyle/>
          <a:p>
            <a:pPr eaLnBrk="1" hangingPunct="1"/>
            <a:r>
              <a:rPr lang="en-US" altLang="en-US" sz="3200"/>
              <a:t>Classification: A Mathematical Mapping</a:t>
            </a:r>
          </a:p>
        </p:txBody>
      </p:sp>
      <p:sp>
        <p:nvSpPr>
          <p:cNvPr id="18436" name="Rectangle 3">
            <a:extLst>
              <a:ext uri="{FF2B5EF4-FFF2-40B4-BE49-F238E27FC236}">
                <a16:creationId xmlns:a16="http://schemas.microsoft.com/office/drawing/2014/main" id="{6E29C662-0159-83D8-B5B5-BBE3A66F5387}"/>
              </a:ext>
            </a:extLst>
          </p:cNvPr>
          <p:cNvSpPr>
            <a:spLocks noGrp="1" noChangeArrowheads="1"/>
          </p:cNvSpPr>
          <p:nvPr>
            <p:ph type="body" idx="4294967295"/>
          </p:nvPr>
        </p:nvSpPr>
        <p:spPr>
          <a:xfrm>
            <a:off x="1828800" y="1371600"/>
            <a:ext cx="8686800" cy="5105400"/>
          </a:xfrm>
        </p:spPr>
        <p:txBody>
          <a:bodyPr/>
          <a:lstStyle/>
          <a:p>
            <a:pPr eaLnBrk="1" hangingPunct="1"/>
            <a:r>
              <a:rPr lang="en-US" altLang="en-US" sz="2400">
                <a:solidFill>
                  <a:schemeClr val="hlink"/>
                </a:solidFill>
                <a:latin typeface="Calibri" panose="020F0502020204030204" pitchFamily="34" charset="0"/>
              </a:rPr>
              <a:t>Classification:</a:t>
            </a:r>
            <a:r>
              <a:rPr lang="en-US" altLang="en-US" sz="2400">
                <a:latin typeface="Calibri" panose="020F0502020204030204" pitchFamily="34" charset="0"/>
              </a:rPr>
              <a:t> predicts categorical class labels</a:t>
            </a:r>
          </a:p>
          <a:p>
            <a:pPr lvl="1" eaLnBrk="1" hangingPunct="1"/>
            <a:r>
              <a:rPr lang="en-US" altLang="en-US">
                <a:latin typeface="Calibri" panose="020F0502020204030204" pitchFamily="34" charset="0"/>
              </a:rPr>
              <a:t>E.g., Personal homepage classification</a:t>
            </a:r>
          </a:p>
          <a:p>
            <a:pPr lvl="2" eaLnBrk="1" hangingPunct="1"/>
            <a:r>
              <a:rPr lang="en-US" altLang="en-US">
                <a:latin typeface="Calibri" panose="020F0502020204030204" pitchFamily="34" charset="0"/>
                <a:ea typeface="HYGungSo-Bold" pitchFamily="18" charset="-127"/>
              </a:rPr>
              <a:t>x</a:t>
            </a:r>
            <a:r>
              <a:rPr lang="en-US" altLang="en-US" baseline="-25000">
                <a:latin typeface="Calibri" panose="020F0502020204030204" pitchFamily="34" charset="0"/>
                <a:ea typeface="HYGungSo-Bold" pitchFamily="18" charset="-127"/>
              </a:rPr>
              <a:t>i</a:t>
            </a:r>
            <a:r>
              <a:rPr lang="en-US" altLang="en-US">
                <a:latin typeface="Calibri" panose="020F0502020204030204" pitchFamily="34" charset="0"/>
              </a:rPr>
              <a:t> = (x</a:t>
            </a:r>
            <a:r>
              <a:rPr lang="en-US" altLang="en-US" baseline="-25000">
                <a:latin typeface="Calibri" panose="020F0502020204030204" pitchFamily="34" charset="0"/>
              </a:rPr>
              <a:t>1</a:t>
            </a:r>
            <a:r>
              <a:rPr lang="en-US" altLang="en-US">
                <a:latin typeface="Calibri" panose="020F0502020204030204" pitchFamily="34" charset="0"/>
              </a:rPr>
              <a:t>, x</a:t>
            </a:r>
            <a:r>
              <a:rPr lang="en-US" altLang="en-US" baseline="-25000">
                <a:latin typeface="Calibri" panose="020F0502020204030204" pitchFamily="34" charset="0"/>
              </a:rPr>
              <a:t>2</a:t>
            </a:r>
            <a:r>
              <a:rPr lang="en-US" altLang="en-US">
                <a:latin typeface="Calibri" panose="020F0502020204030204" pitchFamily="34" charset="0"/>
              </a:rPr>
              <a:t>, x</a:t>
            </a:r>
            <a:r>
              <a:rPr lang="en-US" altLang="en-US" baseline="-25000">
                <a:latin typeface="Calibri" panose="020F0502020204030204" pitchFamily="34" charset="0"/>
              </a:rPr>
              <a:t>3</a:t>
            </a:r>
            <a:r>
              <a:rPr lang="en-US" altLang="en-US">
                <a:latin typeface="Calibri" panose="020F0502020204030204" pitchFamily="34" charset="0"/>
              </a:rPr>
              <a:t>, …), y</a:t>
            </a:r>
            <a:r>
              <a:rPr lang="en-US" altLang="en-US" baseline="-25000">
                <a:latin typeface="Calibri" panose="020F0502020204030204" pitchFamily="34" charset="0"/>
              </a:rPr>
              <a:t>i</a:t>
            </a:r>
            <a:r>
              <a:rPr lang="en-US" altLang="en-US">
                <a:latin typeface="Calibri" panose="020F0502020204030204" pitchFamily="34" charset="0"/>
              </a:rPr>
              <a:t> = +1 or –1</a:t>
            </a:r>
          </a:p>
          <a:p>
            <a:pPr lvl="2" eaLnBrk="1" hangingPunct="1"/>
            <a:r>
              <a:rPr lang="en-US" altLang="en-US">
                <a:latin typeface="Calibri" panose="020F0502020204030204" pitchFamily="34" charset="0"/>
              </a:rPr>
              <a:t>x</a:t>
            </a:r>
            <a:r>
              <a:rPr lang="en-US" altLang="en-US" baseline="-25000">
                <a:latin typeface="Calibri" panose="020F0502020204030204" pitchFamily="34" charset="0"/>
              </a:rPr>
              <a:t>1</a:t>
            </a:r>
            <a:r>
              <a:rPr lang="en-US" altLang="en-US">
                <a:latin typeface="Calibri" panose="020F0502020204030204" pitchFamily="34" charset="0"/>
              </a:rPr>
              <a:t> : # of word “homepage”</a:t>
            </a:r>
          </a:p>
          <a:p>
            <a:pPr lvl="2" eaLnBrk="1" hangingPunct="1"/>
            <a:r>
              <a:rPr lang="en-US" altLang="en-US">
                <a:latin typeface="Calibri" panose="020F0502020204030204" pitchFamily="34" charset="0"/>
              </a:rPr>
              <a:t>x</a:t>
            </a:r>
            <a:r>
              <a:rPr lang="en-US" altLang="en-US" baseline="-25000">
                <a:latin typeface="Calibri" panose="020F0502020204030204" pitchFamily="34" charset="0"/>
              </a:rPr>
              <a:t>2</a:t>
            </a:r>
            <a:r>
              <a:rPr lang="en-US" altLang="en-US">
                <a:latin typeface="Calibri" panose="020F0502020204030204" pitchFamily="34" charset="0"/>
              </a:rPr>
              <a:t> : # of word “welcome”</a:t>
            </a:r>
          </a:p>
          <a:p>
            <a:pPr eaLnBrk="1" hangingPunct="1"/>
            <a:r>
              <a:rPr lang="en-US" altLang="en-US" sz="2400">
                <a:latin typeface="Calibri" panose="020F0502020204030204" pitchFamily="34" charset="0"/>
              </a:rPr>
              <a:t>Mathematically, </a:t>
            </a:r>
            <a:r>
              <a:rPr lang="en-US" altLang="en-US" sz="2400">
                <a:latin typeface="Calibri" panose="020F0502020204030204" pitchFamily="34" charset="0"/>
                <a:ea typeface="HYGungSo-Bold" pitchFamily="18" charset="-127"/>
              </a:rPr>
              <a:t>x</a:t>
            </a:r>
            <a:r>
              <a:rPr lang="en-US" altLang="en-US" sz="2400">
                <a:latin typeface="Calibri" panose="020F0502020204030204" pitchFamily="34" charset="0"/>
                <a:sym typeface="Symbol" pitchFamily="2" charset="2"/>
              </a:rPr>
              <a:t>  </a:t>
            </a:r>
            <a:r>
              <a:rPr lang="en-US" altLang="en-US" sz="2400">
                <a:latin typeface="Calibri" panose="020F0502020204030204" pitchFamily="34" charset="0"/>
              </a:rPr>
              <a:t>X = </a:t>
            </a:r>
            <a:r>
              <a:rPr lang="en-US" altLang="en-US" sz="2400">
                <a:latin typeface="Calibri" panose="020F0502020204030204" pitchFamily="34" charset="0"/>
                <a:sym typeface="Symbol" pitchFamily="2" charset="2"/>
              </a:rPr>
              <a:t></a:t>
            </a:r>
            <a:r>
              <a:rPr lang="en-US" altLang="en-US" sz="2400" baseline="30000">
                <a:latin typeface="Calibri" panose="020F0502020204030204" pitchFamily="34" charset="0"/>
                <a:sym typeface="Symbol" pitchFamily="2" charset="2"/>
              </a:rPr>
              <a:t>n</a:t>
            </a:r>
            <a:r>
              <a:rPr lang="en-US" altLang="en-US" sz="2400">
                <a:latin typeface="Calibri" panose="020F0502020204030204" pitchFamily="34" charset="0"/>
                <a:sym typeface="Symbol" pitchFamily="2" charset="2"/>
              </a:rPr>
              <a:t>, y  Y = {+1, </a:t>
            </a:r>
            <a:r>
              <a:rPr lang="en-US" altLang="en-US" sz="2400">
                <a:latin typeface="Calibri" panose="020F0502020204030204" pitchFamily="34" charset="0"/>
              </a:rPr>
              <a:t>–</a:t>
            </a:r>
            <a:r>
              <a:rPr lang="en-US" altLang="en-US" sz="2400">
                <a:latin typeface="Calibri" panose="020F0502020204030204" pitchFamily="34" charset="0"/>
                <a:sym typeface="Symbol" pitchFamily="2" charset="2"/>
              </a:rPr>
              <a:t>1}, </a:t>
            </a:r>
          </a:p>
          <a:p>
            <a:pPr lvl="1" eaLnBrk="1" hangingPunct="1"/>
            <a:r>
              <a:rPr lang="en-US" altLang="en-US">
                <a:latin typeface="Calibri" panose="020F0502020204030204" pitchFamily="34" charset="0"/>
                <a:sym typeface="Symbol" pitchFamily="2" charset="2"/>
              </a:rPr>
              <a:t>We want to derive a function f: </a:t>
            </a:r>
            <a:r>
              <a:rPr lang="en-US" altLang="en-US">
                <a:latin typeface="Calibri" panose="020F0502020204030204" pitchFamily="34" charset="0"/>
              </a:rPr>
              <a:t>X </a:t>
            </a:r>
            <a:r>
              <a:rPr lang="en-US" altLang="en-US">
                <a:latin typeface="Calibri" panose="020F0502020204030204" pitchFamily="34" charset="0"/>
                <a:sym typeface="Wingdings" pitchFamily="2" charset="2"/>
              </a:rPr>
              <a:t></a:t>
            </a:r>
            <a:r>
              <a:rPr lang="en-US" altLang="en-US">
                <a:latin typeface="Calibri" panose="020F0502020204030204" pitchFamily="34" charset="0"/>
              </a:rPr>
              <a:t> Y</a:t>
            </a:r>
            <a:r>
              <a:rPr lang="en-US" altLang="en-US">
                <a:latin typeface="Calibri" panose="020F0502020204030204" pitchFamily="34" charset="0"/>
                <a:sym typeface="Symbol" pitchFamily="2" charset="2"/>
              </a:rPr>
              <a:t> </a:t>
            </a:r>
          </a:p>
          <a:p>
            <a:pPr eaLnBrk="1" hangingPunct="1"/>
            <a:r>
              <a:rPr lang="en-US" altLang="en-US" sz="2400">
                <a:latin typeface="Calibri" panose="020F0502020204030204" pitchFamily="34" charset="0"/>
              </a:rPr>
              <a:t>Linear Classification</a:t>
            </a:r>
          </a:p>
          <a:p>
            <a:pPr lvl="1" eaLnBrk="1" hangingPunct="1"/>
            <a:r>
              <a:rPr lang="en-US" altLang="en-US">
                <a:latin typeface="Calibri" panose="020F0502020204030204" pitchFamily="34" charset="0"/>
              </a:rPr>
              <a:t>Binary Classification problem</a:t>
            </a:r>
          </a:p>
          <a:p>
            <a:pPr lvl="1" eaLnBrk="1" hangingPunct="1"/>
            <a:r>
              <a:rPr lang="en-US" altLang="en-US">
                <a:latin typeface="Calibri" panose="020F0502020204030204" pitchFamily="34" charset="0"/>
              </a:rPr>
              <a:t>Data above the red line belongs to class ‘x’</a:t>
            </a:r>
          </a:p>
          <a:p>
            <a:pPr lvl="1" eaLnBrk="1" hangingPunct="1"/>
            <a:r>
              <a:rPr lang="en-US" altLang="en-US">
                <a:latin typeface="Calibri" panose="020F0502020204030204" pitchFamily="34" charset="0"/>
              </a:rPr>
              <a:t>Data below red line belongs to class ‘o’</a:t>
            </a:r>
          </a:p>
          <a:p>
            <a:pPr lvl="1" eaLnBrk="1" hangingPunct="1"/>
            <a:r>
              <a:rPr lang="en-US" altLang="en-US">
                <a:latin typeface="Calibri" panose="020F0502020204030204" pitchFamily="34" charset="0"/>
              </a:rPr>
              <a:t>Examples: SVM, Perceptron, Probabilistic Classifiers</a:t>
            </a:r>
          </a:p>
        </p:txBody>
      </p:sp>
      <p:grpSp>
        <p:nvGrpSpPr>
          <p:cNvPr id="18437" name="Group 5">
            <a:extLst>
              <a:ext uri="{FF2B5EF4-FFF2-40B4-BE49-F238E27FC236}">
                <a16:creationId xmlns:a16="http://schemas.microsoft.com/office/drawing/2014/main" id="{C83CF78B-3617-3CAF-E4CE-0765FD21B707}"/>
              </a:ext>
            </a:extLst>
          </p:cNvPr>
          <p:cNvGrpSpPr>
            <a:grpSpLocks/>
          </p:cNvGrpSpPr>
          <p:nvPr/>
        </p:nvGrpSpPr>
        <p:grpSpPr bwMode="auto">
          <a:xfrm>
            <a:off x="7696200" y="2667000"/>
            <a:ext cx="2971800" cy="2743200"/>
            <a:chOff x="432" y="1584"/>
            <a:chExt cx="2448" cy="2208"/>
          </a:xfrm>
        </p:grpSpPr>
        <p:sp>
          <p:nvSpPr>
            <p:cNvPr id="18438" name="Rectangle 4">
              <a:extLst>
                <a:ext uri="{FF2B5EF4-FFF2-40B4-BE49-F238E27FC236}">
                  <a16:creationId xmlns:a16="http://schemas.microsoft.com/office/drawing/2014/main" id="{18CBB677-479C-49FE-8111-0DFC775F5748}"/>
                </a:ext>
              </a:extLst>
            </p:cNvPr>
            <p:cNvSpPr>
              <a:spLocks noChangeArrowheads="1"/>
            </p:cNvSpPr>
            <p:nvPr/>
          </p:nvSpPr>
          <p:spPr bwMode="auto">
            <a:xfrm>
              <a:off x="432" y="1584"/>
              <a:ext cx="2448" cy="2208"/>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endParaRPr lang="en-US" altLang="en-US" sz="2400"/>
            </a:p>
          </p:txBody>
        </p:sp>
        <p:sp>
          <p:nvSpPr>
            <p:cNvPr id="18439" name="Line 5">
              <a:extLst>
                <a:ext uri="{FF2B5EF4-FFF2-40B4-BE49-F238E27FC236}">
                  <a16:creationId xmlns:a16="http://schemas.microsoft.com/office/drawing/2014/main" id="{87A43096-5850-E9C9-F802-5A80B7B37C52}"/>
                </a:ext>
              </a:extLst>
            </p:cNvPr>
            <p:cNvSpPr>
              <a:spLocks noChangeShapeType="1"/>
            </p:cNvSpPr>
            <p:nvPr/>
          </p:nvSpPr>
          <p:spPr bwMode="auto">
            <a:xfrm flipV="1">
              <a:off x="432" y="2016"/>
              <a:ext cx="2448" cy="1536"/>
            </a:xfrm>
            <a:prstGeom prst="line">
              <a:avLst/>
            </a:prstGeom>
            <a:noFill/>
            <a:ln w="2857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8440" name="Text Box 6">
              <a:extLst>
                <a:ext uri="{FF2B5EF4-FFF2-40B4-BE49-F238E27FC236}">
                  <a16:creationId xmlns:a16="http://schemas.microsoft.com/office/drawing/2014/main" id="{7BB7EDAB-86ED-18A0-736F-B293E65F054A}"/>
                </a:ext>
              </a:extLst>
            </p:cNvPr>
            <p:cNvSpPr txBox="1">
              <a:spLocks noChangeArrowheads="1"/>
            </p:cNvSpPr>
            <p:nvPr/>
          </p:nvSpPr>
          <p:spPr bwMode="auto">
            <a:xfrm>
              <a:off x="565" y="2517"/>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41" name="Text Box 7">
              <a:extLst>
                <a:ext uri="{FF2B5EF4-FFF2-40B4-BE49-F238E27FC236}">
                  <a16:creationId xmlns:a16="http://schemas.microsoft.com/office/drawing/2014/main" id="{998F4BC5-4358-7B5A-6730-2F6DCA718232}"/>
                </a:ext>
              </a:extLst>
            </p:cNvPr>
            <p:cNvSpPr txBox="1">
              <a:spLocks noChangeArrowheads="1"/>
            </p:cNvSpPr>
            <p:nvPr/>
          </p:nvSpPr>
          <p:spPr bwMode="auto">
            <a:xfrm>
              <a:off x="2256" y="1969"/>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42" name="Text Box 8">
              <a:extLst>
                <a:ext uri="{FF2B5EF4-FFF2-40B4-BE49-F238E27FC236}">
                  <a16:creationId xmlns:a16="http://schemas.microsoft.com/office/drawing/2014/main" id="{CF8C7F38-65D4-1808-A8FC-5C21AA6D9AB7}"/>
                </a:ext>
              </a:extLst>
            </p:cNvPr>
            <p:cNvSpPr txBox="1">
              <a:spLocks noChangeArrowheads="1"/>
            </p:cNvSpPr>
            <p:nvPr/>
          </p:nvSpPr>
          <p:spPr bwMode="auto">
            <a:xfrm>
              <a:off x="1104" y="2064"/>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43" name="Text Box 9">
              <a:extLst>
                <a:ext uri="{FF2B5EF4-FFF2-40B4-BE49-F238E27FC236}">
                  <a16:creationId xmlns:a16="http://schemas.microsoft.com/office/drawing/2014/main" id="{92A88738-DEE6-929E-9142-AD49EC68317F}"/>
                </a:ext>
              </a:extLst>
            </p:cNvPr>
            <p:cNvSpPr txBox="1">
              <a:spLocks noChangeArrowheads="1"/>
            </p:cNvSpPr>
            <p:nvPr/>
          </p:nvSpPr>
          <p:spPr bwMode="auto">
            <a:xfrm>
              <a:off x="1343" y="2496"/>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44" name="Text Box 10">
              <a:extLst>
                <a:ext uri="{FF2B5EF4-FFF2-40B4-BE49-F238E27FC236}">
                  <a16:creationId xmlns:a16="http://schemas.microsoft.com/office/drawing/2014/main" id="{EBD8481F-A105-BC79-9FA8-C37E38EFB6B7}"/>
                </a:ext>
              </a:extLst>
            </p:cNvPr>
            <p:cNvSpPr txBox="1">
              <a:spLocks noChangeArrowheads="1"/>
            </p:cNvSpPr>
            <p:nvPr/>
          </p:nvSpPr>
          <p:spPr bwMode="auto">
            <a:xfrm>
              <a:off x="1728" y="2112"/>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45" name="Text Box 11">
              <a:extLst>
                <a:ext uri="{FF2B5EF4-FFF2-40B4-BE49-F238E27FC236}">
                  <a16:creationId xmlns:a16="http://schemas.microsoft.com/office/drawing/2014/main" id="{E2BBBFCE-A130-5700-9F16-43CDFF6C5939}"/>
                </a:ext>
              </a:extLst>
            </p:cNvPr>
            <p:cNvSpPr txBox="1">
              <a:spLocks noChangeArrowheads="1"/>
            </p:cNvSpPr>
            <p:nvPr/>
          </p:nvSpPr>
          <p:spPr bwMode="auto">
            <a:xfrm>
              <a:off x="720" y="2112"/>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46" name="Text Box 12">
              <a:extLst>
                <a:ext uri="{FF2B5EF4-FFF2-40B4-BE49-F238E27FC236}">
                  <a16:creationId xmlns:a16="http://schemas.microsoft.com/office/drawing/2014/main" id="{AEEEFE6E-66D5-7C78-B2C0-5DD6D22A6538}"/>
                </a:ext>
              </a:extLst>
            </p:cNvPr>
            <p:cNvSpPr txBox="1">
              <a:spLocks noChangeArrowheads="1"/>
            </p:cNvSpPr>
            <p:nvPr/>
          </p:nvSpPr>
          <p:spPr bwMode="auto">
            <a:xfrm>
              <a:off x="912" y="2593"/>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47" name="Text Box 13">
              <a:extLst>
                <a:ext uri="{FF2B5EF4-FFF2-40B4-BE49-F238E27FC236}">
                  <a16:creationId xmlns:a16="http://schemas.microsoft.com/office/drawing/2014/main" id="{BE64BE38-73DF-6438-63BF-3F8632DE8933}"/>
                </a:ext>
              </a:extLst>
            </p:cNvPr>
            <p:cNvSpPr txBox="1">
              <a:spLocks noChangeArrowheads="1"/>
            </p:cNvSpPr>
            <p:nvPr/>
          </p:nvSpPr>
          <p:spPr bwMode="auto">
            <a:xfrm>
              <a:off x="1489" y="1826"/>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48" name="Text Box 14">
              <a:extLst>
                <a:ext uri="{FF2B5EF4-FFF2-40B4-BE49-F238E27FC236}">
                  <a16:creationId xmlns:a16="http://schemas.microsoft.com/office/drawing/2014/main" id="{46327330-47BE-EF6F-D520-ED4C659157B2}"/>
                </a:ext>
              </a:extLst>
            </p:cNvPr>
            <p:cNvSpPr txBox="1">
              <a:spLocks noChangeArrowheads="1"/>
            </p:cNvSpPr>
            <p:nvPr/>
          </p:nvSpPr>
          <p:spPr bwMode="auto">
            <a:xfrm>
              <a:off x="1200" y="2352"/>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49" name="Text Box 15">
              <a:extLst>
                <a:ext uri="{FF2B5EF4-FFF2-40B4-BE49-F238E27FC236}">
                  <a16:creationId xmlns:a16="http://schemas.microsoft.com/office/drawing/2014/main" id="{FC1E2EBE-B9B0-6F8B-8A5A-9D93B3896759}"/>
                </a:ext>
              </a:extLst>
            </p:cNvPr>
            <p:cNvSpPr txBox="1">
              <a:spLocks noChangeArrowheads="1"/>
            </p:cNvSpPr>
            <p:nvPr/>
          </p:nvSpPr>
          <p:spPr bwMode="auto">
            <a:xfrm>
              <a:off x="624" y="2930"/>
              <a:ext cx="2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x</a:t>
              </a:r>
            </a:p>
          </p:txBody>
        </p:sp>
        <p:sp>
          <p:nvSpPr>
            <p:cNvPr id="18450" name="Text Box 16">
              <a:extLst>
                <a:ext uri="{FF2B5EF4-FFF2-40B4-BE49-F238E27FC236}">
                  <a16:creationId xmlns:a16="http://schemas.microsoft.com/office/drawing/2014/main" id="{B7417604-3B8F-1045-2FCB-938A3CAFFC5A}"/>
                </a:ext>
              </a:extLst>
            </p:cNvPr>
            <p:cNvSpPr txBox="1">
              <a:spLocks noChangeArrowheads="1"/>
            </p:cNvSpPr>
            <p:nvPr/>
          </p:nvSpPr>
          <p:spPr bwMode="auto">
            <a:xfrm>
              <a:off x="1564" y="3024"/>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51" name="Text Box 17">
              <a:extLst>
                <a:ext uri="{FF2B5EF4-FFF2-40B4-BE49-F238E27FC236}">
                  <a16:creationId xmlns:a16="http://schemas.microsoft.com/office/drawing/2014/main" id="{0C4BB399-7DCE-10AF-992D-B89AFE9EB1AB}"/>
                </a:ext>
              </a:extLst>
            </p:cNvPr>
            <p:cNvSpPr txBox="1">
              <a:spLocks noChangeArrowheads="1"/>
            </p:cNvSpPr>
            <p:nvPr/>
          </p:nvSpPr>
          <p:spPr bwMode="auto">
            <a:xfrm>
              <a:off x="1661" y="3120"/>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52" name="Text Box 18">
              <a:extLst>
                <a:ext uri="{FF2B5EF4-FFF2-40B4-BE49-F238E27FC236}">
                  <a16:creationId xmlns:a16="http://schemas.microsoft.com/office/drawing/2014/main" id="{7C5C6F91-22DD-1607-657C-01EF479B49B6}"/>
                </a:ext>
              </a:extLst>
            </p:cNvPr>
            <p:cNvSpPr txBox="1">
              <a:spLocks noChangeArrowheads="1"/>
            </p:cNvSpPr>
            <p:nvPr/>
          </p:nvSpPr>
          <p:spPr bwMode="auto">
            <a:xfrm>
              <a:off x="1757" y="2930"/>
              <a:ext cx="28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53" name="Text Box 19">
              <a:extLst>
                <a:ext uri="{FF2B5EF4-FFF2-40B4-BE49-F238E27FC236}">
                  <a16:creationId xmlns:a16="http://schemas.microsoft.com/office/drawing/2014/main" id="{88726729-ED61-7111-3322-28A93FDF9163}"/>
                </a:ext>
              </a:extLst>
            </p:cNvPr>
            <p:cNvSpPr txBox="1">
              <a:spLocks noChangeArrowheads="1"/>
            </p:cNvSpPr>
            <p:nvPr/>
          </p:nvSpPr>
          <p:spPr bwMode="auto">
            <a:xfrm>
              <a:off x="1248" y="3216"/>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54" name="Text Box 20">
              <a:extLst>
                <a:ext uri="{FF2B5EF4-FFF2-40B4-BE49-F238E27FC236}">
                  <a16:creationId xmlns:a16="http://schemas.microsoft.com/office/drawing/2014/main" id="{504D5D12-8FB5-3539-D419-E6B39A671EBE}"/>
                </a:ext>
              </a:extLst>
            </p:cNvPr>
            <p:cNvSpPr txBox="1">
              <a:spLocks noChangeArrowheads="1"/>
            </p:cNvSpPr>
            <p:nvPr/>
          </p:nvSpPr>
          <p:spPr bwMode="auto">
            <a:xfrm>
              <a:off x="1757" y="3360"/>
              <a:ext cx="28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55" name="Text Box 21">
              <a:extLst>
                <a:ext uri="{FF2B5EF4-FFF2-40B4-BE49-F238E27FC236}">
                  <a16:creationId xmlns:a16="http://schemas.microsoft.com/office/drawing/2014/main" id="{9B0CD680-1986-DC16-C09B-C40F6C5DEDC2}"/>
                </a:ext>
              </a:extLst>
            </p:cNvPr>
            <p:cNvSpPr txBox="1">
              <a:spLocks noChangeArrowheads="1"/>
            </p:cNvSpPr>
            <p:nvPr/>
          </p:nvSpPr>
          <p:spPr bwMode="auto">
            <a:xfrm>
              <a:off x="2276" y="3216"/>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56" name="Text Box 22">
              <a:extLst>
                <a:ext uri="{FF2B5EF4-FFF2-40B4-BE49-F238E27FC236}">
                  <a16:creationId xmlns:a16="http://schemas.microsoft.com/office/drawing/2014/main" id="{2944684E-9CD7-6D8A-3B64-CC2A14C281EE}"/>
                </a:ext>
              </a:extLst>
            </p:cNvPr>
            <p:cNvSpPr txBox="1">
              <a:spLocks noChangeArrowheads="1"/>
            </p:cNvSpPr>
            <p:nvPr/>
          </p:nvSpPr>
          <p:spPr bwMode="auto">
            <a:xfrm>
              <a:off x="2420" y="2496"/>
              <a:ext cx="28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57" name="Text Box 23">
              <a:extLst>
                <a:ext uri="{FF2B5EF4-FFF2-40B4-BE49-F238E27FC236}">
                  <a16:creationId xmlns:a16="http://schemas.microsoft.com/office/drawing/2014/main" id="{B476E1ED-63E0-E8B2-F09C-6FFF441EDC4E}"/>
                </a:ext>
              </a:extLst>
            </p:cNvPr>
            <p:cNvSpPr txBox="1">
              <a:spLocks noChangeArrowheads="1"/>
            </p:cNvSpPr>
            <p:nvPr/>
          </p:nvSpPr>
          <p:spPr bwMode="auto">
            <a:xfrm>
              <a:off x="2084" y="2880"/>
              <a:ext cx="28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58" name="Text Box 24">
              <a:extLst>
                <a:ext uri="{FF2B5EF4-FFF2-40B4-BE49-F238E27FC236}">
                  <a16:creationId xmlns:a16="http://schemas.microsoft.com/office/drawing/2014/main" id="{9C02846F-A045-3544-492D-41876B7778A8}"/>
                </a:ext>
              </a:extLst>
            </p:cNvPr>
            <p:cNvSpPr txBox="1">
              <a:spLocks noChangeArrowheads="1"/>
            </p:cNvSpPr>
            <p:nvPr/>
          </p:nvSpPr>
          <p:spPr bwMode="auto">
            <a:xfrm>
              <a:off x="960" y="3360"/>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59" name="Text Box 25">
              <a:extLst>
                <a:ext uri="{FF2B5EF4-FFF2-40B4-BE49-F238E27FC236}">
                  <a16:creationId xmlns:a16="http://schemas.microsoft.com/office/drawing/2014/main" id="{C6D530CD-D425-7B28-B04C-164796D87241}"/>
                </a:ext>
              </a:extLst>
            </p:cNvPr>
            <p:cNvSpPr txBox="1">
              <a:spLocks noChangeArrowheads="1"/>
            </p:cNvSpPr>
            <p:nvPr/>
          </p:nvSpPr>
          <p:spPr bwMode="auto">
            <a:xfrm>
              <a:off x="1392" y="3360"/>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60" name="Text Box 26">
              <a:extLst>
                <a:ext uri="{FF2B5EF4-FFF2-40B4-BE49-F238E27FC236}">
                  <a16:creationId xmlns:a16="http://schemas.microsoft.com/office/drawing/2014/main" id="{2DA79C3D-9C00-56C1-757E-0B48580B9E5F}"/>
                </a:ext>
              </a:extLst>
            </p:cNvPr>
            <p:cNvSpPr txBox="1">
              <a:spLocks noChangeArrowheads="1"/>
            </p:cNvSpPr>
            <p:nvPr/>
          </p:nvSpPr>
          <p:spPr bwMode="auto">
            <a:xfrm>
              <a:off x="2468" y="2976"/>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61" name="Text Box 27">
              <a:extLst>
                <a:ext uri="{FF2B5EF4-FFF2-40B4-BE49-F238E27FC236}">
                  <a16:creationId xmlns:a16="http://schemas.microsoft.com/office/drawing/2014/main" id="{1E806EA9-8A4F-B329-A163-910F8638C21E}"/>
                </a:ext>
              </a:extLst>
            </p:cNvPr>
            <p:cNvSpPr txBox="1">
              <a:spLocks noChangeArrowheads="1"/>
            </p:cNvSpPr>
            <p:nvPr/>
          </p:nvSpPr>
          <p:spPr bwMode="auto">
            <a:xfrm>
              <a:off x="2324" y="2737"/>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62" name="Text Box 28">
              <a:extLst>
                <a:ext uri="{FF2B5EF4-FFF2-40B4-BE49-F238E27FC236}">
                  <a16:creationId xmlns:a16="http://schemas.microsoft.com/office/drawing/2014/main" id="{97032738-2060-2665-1E46-F4A6BC1C617C}"/>
                </a:ext>
              </a:extLst>
            </p:cNvPr>
            <p:cNvSpPr txBox="1">
              <a:spLocks noChangeArrowheads="1"/>
            </p:cNvSpPr>
            <p:nvPr/>
          </p:nvSpPr>
          <p:spPr bwMode="auto">
            <a:xfrm>
              <a:off x="2516" y="3407"/>
              <a:ext cx="2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400"/>
                <a:t>o</a:t>
              </a:r>
            </a:p>
          </p:txBody>
        </p:sp>
        <p:sp>
          <p:nvSpPr>
            <p:cNvPr id="18463" name="Line 29">
              <a:extLst>
                <a:ext uri="{FF2B5EF4-FFF2-40B4-BE49-F238E27FC236}">
                  <a16:creationId xmlns:a16="http://schemas.microsoft.com/office/drawing/2014/main" id="{A3319D89-1A52-C282-399F-0E53E7B5D48D}"/>
                </a:ext>
              </a:extLst>
            </p:cNvPr>
            <p:cNvSpPr>
              <a:spLocks noChangeShapeType="1"/>
            </p:cNvSpPr>
            <p:nvPr/>
          </p:nvSpPr>
          <p:spPr bwMode="auto">
            <a:xfrm flipH="1" flipV="1">
              <a:off x="1680" y="2448"/>
              <a:ext cx="144" cy="192"/>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8464" name="Line 30">
              <a:extLst>
                <a:ext uri="{FF2B5EF4-FFF2-40B4-BE49-F238E27FC236}">
                  <a16:creationId xmlns:a16="http://schemas.microsoft.com/office/drawing/2014/main" id="{8580554A-C98F-3D59-F3E2-7FC17CFB9CE5}"/>
                </a:ext>
              </a:extLst>
            </p:cNvPr>
            <p:cNvSpPr>
              <a:spLocks noChangeShapeType="1"/>
            </p:cNvSpPr>
            <p:nvPr/>
          </p:nvSpPr>
          <p:spPr bwMode="auto">
            <a:xfrm>
              <a:off x="1680" y="2784"/>
              <a:ext cx="144" cy="192"/>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 name="Slide Number Placeholder 1">
            <a:extLst>
              <a:ext uri="{FF2B5EF4-FFF2-40B4-BE49-F238E27FC236}">
                <a16:creationId xmlns:a16="http://schemas.microsoft.com/office/drawing/2014/main" id="{6B8EC4CB-FA35-2A1E-606E-0F612C2188A5}"/>
              </a:ext>
            </a:extLst>
          </p:cNvPr>
          <p:cNvSpPr>
            <a:spLocks noGrp="1"/>
          </p:cNvSpPr>
          <p:nvPr>
            <p:ph type="sldNum" sz="quarter" idx="12"/>
          </p:nvPr>
        </p:nvSpPr>
        <p:spPr/>
        <p:txBody>
          <a:bodyPr/>
          <a:lstStyle/>
          <a:p>
            <a:fld id="{C3CACD4E-8C52-004E-9A96-AD0BCBF3CA39}"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EF09930F-BEB3-68A6-DEF4-57F1ACACACFD}"/>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1AE884EB-1390-2949-98C3-5AB0B8243257}" type="slidenum">
              <a:rPr lang="en-US" altLang="en-US" sz="1200"/>
              <a:pPr algn="r" eaLnBrk="1" hangingPunct="1"/>
              <a:t>61</a:t>
            </a:fld>
            <a:endParaRPr lang="en-US" altLang="en-US" sz="1200"/>
          </a:p>
        </p:txBody>
      </p:sp>
      <p:sp>
        <p:nvSpPr>
          <p:cNvPr id="19459" name="Rectangle 2">
            <a:extLst>
              <a:ext uri="{FF2B5EF4-FFF2-40B4-BE49-F238E27FC236}">
                <a16:creationId xmlns:a16="http://schemas.microsoft.com/office/drawing/2014/main" id="{FE813AE0-873C-0988-AD5D-6BBF424413A9}"/>
              </a:ext>
            </a:extLst>
          </p:cNvPr>
          <p:cNvSpPr>
            <a:spLocks noGrp="1" noChangeArrowheads="1"/>
          </p:cNvSpPr>
          <p:nvPr>
            <p:ph type="title" idx="4294967295"/>
          </p:nvPr>
        </p:nvSpPr>
        <p:spPr>
          <a:xfrm>
            <a:off x="1906588" y="436564"/>
            <a:ext cx="8380412" cy="498475"/>
          </a:xfrm>
          <a:noFill/>
        </p:spPr>
        <p:txBody>
          <a:bodyPr vert="horz" lIns="92075" tIns="46038" rIns="92075" bIns="46038" rtlCol="0" anchor="ctr">
            <a:normAutofit fontScale="90000"/>
          </a:bodyPr>
          <a:lstStyle/>
          <a:p>
            <a:pPr eaLnBrk="1" hangingPunct="1"/>
            <a:r>
              <a:rPr lang="en-US" altLang="en-US"/>
              <a:t>Discriminative Classifiers</a:t>
            </a:r>
          </a:p>
        </p:txBody>
      </p:sp>
      <p:sp>
        <p:nvSpPr>
          <p:cNvPr id="19460" name="Rectangle 3">
            <a:extLst>
              <a:ext uri="{FF2B5EF4-FFF2-40B4-BE49-F238E27FC236}">
                <a16:creationId xmlns:a16="http://schemas.microsoft.com/office/drawing/2014/main" id="{13802B60-D9E8-960D-50CF-D06384121AEB}"/>
              </a:ext>
            </a:extLst>
          </p:cNvPr>
          <p:cNvSpPr>
            <a:spLocks noGrp="1" noChangeArrowheads="1"/>
          </p:cNvSpPr>
          <p:nvPr>
            <p:ph type="body" idx="4294967295"/>
          </p:nvPr>
        </p:nvSpPr>
        <p:spPr>
          <a:xfrm>
            <a:off x="1752600" y="1371600"/>
            <a:ext cx="8686800" cy="5105400"/>
          </a:xfrm>
          <a:noFill/>
        </p:spPr>
        <p:txBody>
          <a:bodyPr vert="horz" lIns="92075" tIns="46038" rIns="92075" bIns="46038" rtlCol="0">
            <a:normAutofit/>
          </a:bodyPr>
          <a:lstStyle/>
          <a:p>
            <a:pPr eaLnBrk="1" hangingPunct="1">
              <a:lnSpc>
                <a:spcPct val="90000"/>
              </a:lnSpc>
            </a:pPr>
            <a:r>
              <a:rPr lang="en-US" altLang="en-US" sz="2400"/>
              <a:t>Advantages</a:t>
            </a:r>
          </a:p>
          <a:p>
            <a:pPr lvl="1" eaLnBrk="1" hangingPunct="1">
              <a:lnSpc>
                <a:spcPct val="90000"/>
              </a:lnSpc>
            </a:pPr>
            <a:r>
              <a:rPr lang="en-US" altLang="en-US"/>
              <a:t>Prediction accuracy is generally high </a:t>
            </a:r>
          </a:p>
          <a:p>
            <a:pPr lvl="2" eaLnBrk="1" hangingPunct="1">
              <a:lnSpc>
                <a:spcPct val="90000"/>
              </a:lnSpc>
            </a:pPr>
            <a:r>
              <a:rPr lang="en-US" altLang="en-US">
                <a:solidFill>
                  <a:schemeClr val="folHlink"/>
                </a:solidFill>
              </a:rPr>
              <a:t>As compared to Bayesian methods – in general</a:t>
            </a:r>
          </a:p>
          <a:p>
            <a:pPr lvl="1" eaLnBrk="1" hangingPunct="1">
              <a:lnSpc>
                <a:spcPct val="90000"/>
              </a:lnSpc>
            </a:pPr>
            <a:r>
              <a:rPr lang="en-US" altLang="en-US"/>
              <a:t>Robust, works when training examples contain errors</a:t>
            </a:r>
          </a:p>
          <a:p>
            <a:pPr lvl="1" eaLnBrk="1" hangingPunct="1">
              <a:lnSpc>
                <a:spcPct val="90000"/>
              </a:lnSpc>
            </a:pPr>
            <a:r>
              <a:rPr lang="en-US" altLang="en-US"/>
              <a:t>Fast evaluation of the learned target function</a:t>
            </a:r>
          </a:p>
          <a:p>
            <a:pPr lvl="2" eaLnBrk="1" hangingPunct="1">
              <a:lnSpc>
                <a:spcPct val="90000"/>
              </a:lnSpc>
            </a:pPr>
            <a:r>
              <a:rPr lang="en-US" altLang="en-US">
                <a:solidFill>
                  <a:schemeClr val="folHlink"/>
                </a:solidFill>
              </a:rPr>
              <a:t>Bayesian networks are normally slow </a:t>
            </a:r>
          </a:p>
          <a:p>
            <a:pPr eaLnBrk="1" hangingPunct="1">
              <a:lnSpc>
                <a:spcPct val="90000"/>
              </a:lnSpc>
            </a:pPr>
            <a:r>
              <a:rPr lang="en-US" altLang="en-US" sz="2400"/>
              <a:t>Criticism</a:t>
            </a:r>
          </a:p>
          <a:p>
            <a:pPr lvl="1" eaLnBrk="1" hangingPunct="1">
              <a:lnSpc>
                <a:spcPct val="90000"/>
              </a:lnSpc>
            </a:pPr>
            <a:r>
              <a:rPr lang="en-US" altLang="en-US"/>
              <a:t>Long training time</a:t>
            </a:r>
          </a:p>
          <a:p>
            <a:pPr lvl="1" eaLnBrk="1" hangingPunct="1">
              <a:lnSpc>
                <a:spcPct val="90000"/>
              </a:lnSpc>
            </a:pPr>
            <a:r>
              <a:rPr lang="en-US" altLang="en-US"/>
              <a:t>Difficult to understand the learned function (weights)</a:t>
            </a:r>
          </a:p>
          <a:p>
            <a:pPr lvl="2" eaLnBrk="1" hangingPunct="1">
              <a:lnSpc>
                <a:spcPct val="90000"/>
              </a:lnSpc>
            </a:pPr>
            <a:r>
              <a:rPr lang="en-US" altLang="en-US">
                <a:solidFill>
                  <a:schemeClr val="folHlink"/>
                </a:solidFill>
              </a:rPr>
              <a:t>Bayesian networks can be used easily for pattern discovery</a:t>
            </a:r>
          </a:p>
          <a:p>
            <a:pPr lvl="1" eaLnBrk="1" hangingPunct="1">
              <a:lnSpc>
                <a:spcPct val="90000"/>
              </a:lnSpc>
            </a:pPr>
            <a:r>
              <a:rPr lang="en-US" altLang="en-US"/>
              <a:t>Not easy to incorporate domain knowledge</a:t>
            </a:r>
          </a:p>
          <a:p>
            <a:pPr lvl="2" eaLnBrk="1" hangingPunct="1">
              <a:lnSpc>
                <a:spcPct val="90000"/>
              </a:lnSpc>
            </a:pPr>
            <a:r>
              <a:rPr lang="en-US" altLang="en-US">
                <a:solidFill>
                  <a:schemeClr val="folHlink"/>
                </a:solidFill>
              </a:rPr>
              <a:t>Easy in the form of priors on the data or distributions</a:t>
            </a:r>
          </a:p>
        </p:txBody>
      </p:sp>
      <p:sp>
        <p:nvSpPr>
          <p:cNvPr id="2" name="Slide Number Placeholder 1">
            <a:extLst>
              <a:ext uri="{FF2B5EF4-FFF2-40B4-BE49-F238E27FC236}">
                <a16:creationId xmlns:a16="http://schemas.microsoft.com/office/drawing/2014/main" id="{C33310E8-9507-5118-6151-32D3080D41D4}"/>
              </a:ext>
            </a:extLst>
          </p:cNvPr>
          <p:cNvSpPr>
            <a:spLocks noGrp="1"/>
          </p:cNvSpPr>
          <p:nvPr>
            <p:ph type="sldNum" sz="quarter" idx="12"/>
          </p:nvPr>
        </p:nvSpPr>
        <p:spPr/>
        <p:txBody>
          <a:bodyPr/>
          <a:lstStyle/>
          <a:p>
            <a:fld id="{C3CACD4E-8C52-004E-9A96-AD0BCBF3CA39}" type="slidenum">
              <a:rPr lang="en-US" smtClean="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87309E44-1078-F8DD-B807-B24128DE7E6C}"/>
              </a:ext>
            </a:extLst>
          </p:cNvPr>
          <p:cNvSpPr>
            <a:spLocks noGrp="1" noChangeArrowheads="1"/>
          </p:cNvSpPr>
          <p:nvPr>
            <p:ph type="title"/>
          </p:nvPr>
        </p:nvSpPr>
        <p:spPr>
          <a:xfrm>
            <a:off x="1828800" y="304800"/>
            <a:ext cx="8534400" cy="609600"/>
          </a:xfrm>
        </p:spPr>
        <p:txBody>
          <a:bodyPr>
            <a:normAutofit fontScale="90000"/>
          </a:bodyPr>
          <a:lstStyle/>
          <a:p>
            <a:pPr eaLnBrk="1" hangingPunct="1"/>
            <a:r>
              <a:rPr lang="en-US" altLang="en-US"/>
              <a:t>SVM—Support Vector Machines</a:t>
            </a:r>
          </a:p>
        </p:txBody>
      </p:sp>
      <p:sp>
        <p:nvSpPr>
          <p:cNvPr id="20484" name="Rectangle 3">
            <a:extLst>
              <a:ext uri="{FF2B5EF4-FFF2-40B4-BE49-F238E27FC236}">
                <a16:creationId xmlns:a16="http://schemas.microsoft.com/office/drawing/2014/main" id="{F567EE1F-C55A-D7F0-511A-B5E48C38BE4C}"/>
              </a:ext>
            </a:extLst>
          </p:cNvPr>
          <p:cNvSpPr>
            <a:spLocks noGrp="1" noChangeArrowheads="1"/>
          </p:cNvSpPr>
          <p:nvPr>
            <p:ph type="body" idx="1"/>
          </p:nvPr>
        </p:nvSpPr>
        <p:spPr>
          <a:xfrm>
            <a:off x="365760" y="1295400"/>
            <a:ext cx="11283696" cy="5181600"/>
          </a:xfrm>
        </p:spPr>
        <p:txBody>
          <a:bodyPr/>
          <a:lstStyle/>
          <a:p>
            <a:pPr eaLnBrk="1" hangingPunct="1">
              <a:lnSpc>
                <a:spcPct val="110000"/>
              </a:lnSpc>
            </a:pPr>
            <a:r>
              <a:rPr lang="en-US" altLang="en-US" sz="2400" dirty="0"/>
              <a:t>A relatively new classification method for both </a:t>
            </a:r>
            <a:r>
              <a:rPr lang="en-US" altLang="en-US" sz="2400" u="sng" dirty="0"/>
              <a:t>linear and nonlinear</a:t>
            </a:r>
            <a:r>
              <a:rPr lang="en-US" altLang="en-US" sz="2400" dirty="0"/>
              <a:t> data</a:t>
            </a:r>
          </a:p>
          <a:p>
            <a:pPr eaLnBrk="1" hangingPunct="1">
              <a:lnSpc>
                <a:spcPct val="110000"/>
              </a:lnSpc>
            </a:pPr>
            <a:r>
              <a:rPr lang="en-US" altLang="en-US" sz="2400" dirty="0"/>
              <a:t>It uses a </a:t>
            </a:r>
            <a:r>
              <a:rPr lang="en-US" altLang="en-US" sz="2400" u="sng" dirty="0"/>
              <a:t>nonlinear mapping</a:t>
            </a:r>
            <a:r>
              <a:rPr lang="en-US" altLang="en-US" sz="2400" dirty="0"/>
              <a:t> to transform the original training data into a higher dimension</a:t>
            </a:r>
          </a:p>
          <a:p>
            <a:pPr eaLnBrk="1" hangingPunct="1">
              <a:lnSpc>
                <a:spcPct val="110000"/>
              </a:lnSpc>
            </a:pPr>
            <a:r>
              <a:rPr lang="en-US" altLang="en-US" sz="2400" dirty="0"/>
              <a:t>With the new dimension, it searches for the linear optimal separating </a:t>
            </a:r>
            <a:r>
              <a:rPr lang="en-US" altLang="en-US" sz="2400" b="1" dirty="0"/>
              <a:t>hyperplane</a:t>
            </a:r>
            <a:r>
              <a:rPr lang="en-US" altLang="en-US" sz="2400" dirty="0"/>
              <a:t> (i.e., “decision boundary”)</a:t>
            </a:r>
          </a:p>
          <a:p>
            <a:pPr eaLnBrk="1" hangingPunct="1">
              <a:lnSpc>
                <a:spcPct val="110000"/>
              </a:lnSpc>
            </a:pPr>
            <a:r>
              <a:rPr lang="en-US" altLang="en-US" sz="2400" dirty="0"/>
              <a:t>With an appropriate nonlinear mapping to a sufficiently high dimension, data from two classes can always be separated by a hyperplane</a:t>
            </a:r>
          </a:p>
          <a:p>
            <a:pPr eaLnBrk="1" hangingPunct="1">
              <a:lnSpc>
                <a:spcPct val="110000"/>
              </a:lnSpc>
            </a:pPr>
            <a:r>
              <a:rPr lang="en-US" altLang="en-US" sz="2400" dirty="0"/>
              <a:t>SVM finds this hyperplane using </a:t>
            </a:r>
            <a:r>
              <a:rPr lang="en-US" altLang="en-US" sz="2400" b="1" dirty="0"/>
              <a:t>support vectors</a:t>
            </a:r>
            <a:r>
              <a:rPr lang="en-US" altLang="en-US" sz="2400" dirty="0"/>
              <a:t> (“essential” training tuples) and </a:t>
            </a:r>
            <a:r>
              <a:rPr lang="en-US" altLang="en-US" sz="2400" b="1" dirty="0"/>
              <a:t>margins</a:t>
            </a:r>
            <a:r>
              <a:rPr lang="en-US" altLang="en-US" sz="2400" dirty="0"/>
              <a:t> (defined by the support vectors)</a:t>
            </a:r>
          </a:p>
        </p:txBody>
      </p:sp>
      <p:sp>
        <p:nvSpPr>
          <p:cNvPr id="2" name="Slide Number Placeholder 1">
            <a:extLst>
              <a:ext uri="{FF2B5EF4-FFF2-40B4-BE49-F238E27FC236}">
                <a16:creationId xmlns:a16="http://schemas.microsoft.com/office/drawing/2014/main" id="{A3FD5DFE-78F3-000B-FB31-A8C666C5C3D0}"/>
              </a:ext>
            </a:extLst>
          </p:cNvPr>
          <p:cNvSpPr>
            <a:spLocks noGrp="1"/>
          </p:cNvSpPr>
          <p:nvPr>
            <p:ph type="sldNum" sz="quarter" idx="12"/>
          </p:nvPr>
        </p:nvSpPr>
        <p:spPr/>
        <p:txBody>
          <a:bodyPr/>
          <a:lstStyle/>
          <a:p>
            <a:fld id="{C3CACD4E-8C52-004E-9A96-AD0BCBF3CA39}"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0D8AECD0-44B6-C9D1-691A-C1611AA32144}"/>
              </a:ext>
            </a:extLst>
          </p:cNvPr>
          <p:cNvSpPr>
            <a:spLocks noGrp="1" noChangeArrowheads="1"/>
          </p:cNvSpPr>
          <p:nvPr>
            <p:ph type="title"/>
          </p:nvPr>
        </p:nvSpPr>
        <p:spPr/>
        <p:txBody>
          <a:bodyPr/>
          <a:lstStyle/>
          <a:p>
            <a:pPr eaLnBrk="1" hangingPunct="1"/>
            <a:r>
              <a:rPr lang="en-US" altLang="en-US"/>
              <a:t>SVM—History and Applications</a:t>
            </a:r>
          </a:p>
        </p:txBody>
      </p:sp>
      <p:sp>
        <p:nvSpPr>
          <p:cNvPr id="21508" name="Rectangle 3">
            <a:extLst>
              <a:ext uri="{FF2B5EF4-FFF2-40B4-BE49-F238E27FC236}">
                <a16:creationId xmlns:a16="http://schemas.microsoft.com/office/drawing/2014/main" id="{EC5CCA7E-C6D3-66E2-D437-0FE06478E41C}"/>
              </a:ext>
            </a:extLst>
          </p:cNvPr>
          <p:cNvSpPr>
            <a:spLocks noGrp="1" noChangeArrowheads="1"/>
          </p:cNvSpPr>
          <p:nvPr>
            <p:ph type="body" idx="1"/>
          </p:nvPr>
        </p:nvSpPr>
        <p:spPr>
          <a:xfrm>
            <a:off x="576072" y="1295400"/>
            <a:ext cx="10680192" cy="5181600"/>
          </a:xfrm>
        </p:spPr>
        <p:txBody>
          <a:bodyPr/>
          <a:lstStyle/>
          <a:p>
            <a:pPr eaLnBrk="1" hangingPunct="1">
              <a:lnSpc>
                <a:spcPct val="130000"/>
              </a:lnSpc>
            </a:pPr>
            <a:r>
              <a:rPr lang="en-US" altLang="en-US" sz="2400" dirty="0" err="1"/>
              <a:t>Vapnik</a:t>
            </a:r>
            <a:r>
              <a:rPr lang="en-US" altLang="en-US" sz="2400" dirty="0"/>
              <a:t> and colleagues (1992)—groundwork from </a:t>
            </a:r>
            <a:r>
              <a:rPr lang="en-US" altLang="en-US" sz="2400" dirty="0" err="1"/>
              <a:t>Vapnik</a:t>
            </a:r>
            <a:r>
              <a:rPr lang="en-US" altLang="en-US" sz="2400" dirty="0"/>
              <a:t> &amp; </a:t>
            </a:r>
            <a:r>
              <a:rPr lang="en-US" altLang="en-US" sz="2400" dirty="0" err="1"/>
              <a:t>Chervonenkis</a:t>
            </a:r>
            <a:r>
              <a:rPr lang="en-US" altLang="en-US" sz="2400" dirty="0"/>
              <a:t>’ statistical learning theory in 1960s</a:t>
            </a:r>
          </a:p>
          <a:p>
            <a:pPr eaLnBrk="1" hangingPunct="1">
              <a:lnSpc>
                <a:spcPct val="130000"/>
              </a:lnSpc>
            </a:pPr>
            <a:r>
              <a:rPr lang="en-US" altLang="en-US" sz="2400" u="sng" dirty="0"/>
              <a:t>Features</a:t>
            </a:r>
            <a:r>
              <a:rPr lang="en-US" altLang="en-US" sz="2400" dirty="0"/>
              <a:t>: training can be slow but accuracy is high owing to their ability to model complex nonlinear decision boundaries (margin maximization</a:t>
            </a:r>
            <a:r>
              <a:rPr lang="en-US" altLang="en-US" sz="2000" dirty="0"/>
              <a:t>)</a:t>
            </a:r>
          </a:p>
          <a:p>
            <a:pPr eaLnBrk="1" hangingPunct="1">
              <a:lnSpc>
                <a:spcPct val="130000"/>
              </a:lnSpc>
            </a:pPr>
            <a:r>
              <a:rPr lang="en-US" altLang="en-US" sz="2400" u="sng" dirty="0"/>
              <a:t>Used for</a:t>
            </a:r>
            <a:r>
              <a:rPr lang="en-US" altLang="en-US" sz="2400" dirty="0"/>
              <a:t>: classification and numeric prediction</a:t>
            </a:r>
          </a:p>
          <a:p>
            <a:pPr eaLnBrk="1" hangingPunct="1">
              <a:lnSpc>
                <a:spcPct val="130000"/>
              </a:lnSpc>
            </a:pPr>
            <a:r>
              <a:rPr lang="en-US" altLang="en-US" sz="2400" u="sng" dirty="0"/>
              <a:t>Applications</a:t>
            </a:r>
            <a:r>
              <a:rPr lang="en-US" altLang="en-US" sz="2400" dirty="0"/>
              <a:t>: </a:t>
            </a:r>
          </a:p>
          <a:p>
            <a:pPr lvl="1" eaLnBrk="1" hangingPunct="1">
              <a:lnSpc>
                <a:spcPct val="130000"/>
              </a:lnSpc>
            </a:pPr>
            <a:r>
              <a:rPr lang="en-US" altLang="en-US" dirty="0"/>
              <a:t>handwritten digit recognition, object recognition, speaker identification, benchmarking time-series prediction tests </a:t>
            </a:r>
          </a:p>
        </p:txBody>
      </p:sp>
      <p:sp>
        <p:nvSpPr>
          <p:cNvPr id="2" name="Slide Number Placeholder 1">
            <a:extLst>
              <a:ext uri="{FF2B5EF4-FFF2-40B4-BE49-F238E27FC236}">
                <a16:creationId xmlns:a16="http://schemas.microsoft.com/office/drawing/2014/main" id="{5C647B91-2F1A-B2FE-70C6-5C264906D1D1}"/>
              </a:ext>
            </a:extLst>
          </p:cNvPr>
          <p:cNvSpPr>
            <a:spLocks noGrp="1"/>
          </p:cNvSpPr>
          <p:nvPr>
            <p:ph type="sldNum" sz="quarter" idx="12"/>
          </p:nvPr>
        </p:nvSpPr>
        <p:spPr/>
        <p:txBody>
          <a:bodyPr/>
          <a:lstStyle/>
          <a:p>
            <a:fld id="{C3CACD4E-8C52-004E-9A96-AD0BCBF3CA39}" type="slidenum">
              <a:rPr lang="en-US" smtClean="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34039360-9F31-E314-C609-C228FD5B409F}"/>
              </a:ext>
            </a:extLst>
          </p:cNvPr>
          <p:cNvSpPr>
            <a:spLocks noGrp="1" noChangeArrowheads="1"/>
          </p:cNvSpPr>
          <p:nvPr>
            <p:ph type="title"/>
          </p:nvPr>
        </p:nvSpPr>
        <p:spPr/>
        <p:txBody>
          <a:bodyPr/>
          <a:lstStyle/>
          <a:p>
            <a:pPr eaLnBrk="1" hangingPunct="1"/>
            <a:r>
              <a:rPr lang="en-US" altLang="en-US"/>
              <a:t>SVM vs. Neural Network</a:t>
            </a:r>
          </a:p>
        </p:txBody>
      </p:sp>
      <p:sp>
        <p:nvSpPr>
          <p:cNvPr id="34820" name="Rectangle 3">
            <a:extLst>
              <a:ext uri="{FF2B5EF4-FFF2-40B4-BE49-F238E27FC236}">
                <a16:creationId xmlns:a16="http://schemas.microsoft.com/office/drawing/2014/main" id="{FA0DBFDA-47D3-160B-0432-C17A05A0A9B2}"/>
              </a:ext>
            </a:extLst>
          </p:cNvPr>
          <p:cNvSpPr>
            <a:spLocks noGrp="1" noChangeArrowheads="1"/>
          </p:cNvSpPr>
          <p:nvPr>
            <p:ph type="body" sz="half" idx="1"/>
          </p:nvPr>
        </p:nvSpPr>
        <p:spPr>
          <a:xfrm>
            <a:off x="1752600" y="1524000"/>
            <a:ext cx="4191000" cy="4953000"/>
          </a:xfrm>
        </p:spPr>
        <p:txBody>
          <a:bodyPr/>
          <a:lstStyle/>
          <a:p>
            <a:pPr eaLnBrk="1" hangingPunct="1">
              <a:lnSpc>
                <a:spcPct val="120000"/>
              </a:lnSpc>
            </a:pPr>
            <a:r>
              <a:rPr lang="en-US" altLang="en-US" sz="2400" b="1" dirty="0"/>
              <a:t>SVM</a:t>
            </a:r>
            <a:r>
              <a:rPr lang="en-US" altLang="en-US" sz="2400" dirty="0"/>
              <a:t>	</a:t>
            </a:r>
          </a:p>
          <a:p>
            <a:pPr lvl="1" eaLnBrk="1" hangingPunct="1">
              <a:lnSpc>
                <a:spcPct val="120000"/>
              </a:lnSpc>
            </a:pPr>
            <a:r>
              <a:rPr lang="en-US" altLang="en-US" dirty="0"/>
              <a:t>Deterministic algorithm</a:t>
            </a:r>
          </a:p>
          <a:p>
            <a:pPr lvl="1" eaLnBrk="1" hangingPunct="1">
              <a:lnSpc>
                <a:spcPct val="120000"/>
              </a:lnSpc>
            </a:pPr>
            <a:r>
              <a:rPr lang="en-US" altLang="en-US" dirty="0"/>
              <a:t>Nice generalization properties</a:t>
            </a:r>
          </a:p>
          <a:p>
            <a:pPr lvl="1" eaLnBrk="1" hangingPunct="1">
              <a:lnSpc>
                <a:spcPct val="120000"/>
              </a:lnSpc>
            </a:pPr>
            <a:r>
              <a:rPr lang="en-US" altLang="en-US" dirty="0"/>
              <a:t>Hard to learn – learned in batch mode using quadratic programming techniques</a:t>
            </a:r>
          </a:p>
          <a:p>
            <a:pPr lvl="1" eaLnBrk="1" hangingPunct="1">
              <a:lnSpc>
                <a:spcPct val="120000"/>
              </a:lnSpc>
            </a:pPr>
            <a:r>
              <a:rPr lang="en-US" altLang="en-US" dirty="0"/>
              <a:t>Using kernels can learn very complex functions</a:t>
            </a:r>
          </a:p>
        </p:txBody>
      </p:sp>
      <p:sp>
        <p:nvSpPr>
          <p:cNvPr id="34821" name="Rectangle 4">
            <a:extLst>
              <a:ext uri="{FF2B5EF4-FFF2-40B4-BE49-F238E27FC236}">
                <a16:creationId xmlns:a16="http://schemas.microsoft.com/office/drawing/2014/main" id="{7C662B1A-F6DE-5030-A03F-43DC1632E4C6}"/>
              </a:ext>
            </a:extLst>
          </p:cNvPr>
          <p:cNvSpPr>
            <a:spLocks noGrp="1" noChangeArrowheads="1"/>
          </p:cNvSpPr>
          <p:nvPr>
            <p:ph type="body" sz="half" idx="2"/>
          </p:nvPr>
        </p:nvSpPr>
        <p:spPr>
          <a:xfrm>
            <a:off x="6019800" y="1600200"/>
            <a:ext cx="4343400" cy="4800600"/>
          </a:xfrm>
        </p:spPr>
        <p:txBody>
          <a:bodyPr/>
          <a:lstStyle/>
          <a:p>
            <a:pPr eaLnBrk="1" hangingPunct="1">
              <a:lnSpc>
                <a:spcPct val="110000"/>
              </a:lnSpc>
            </a:pPr>
            <a:r>
              <a:rPr lang="en-US" altLang="en-US" sz="2400" b="1"/>
              <a:t>Neural Network</a:t>
            </a:r>
          </a:p>
          <a:p>
            <a:pPr lvl="1" eaLnBrk="1" hangingPunct="1">
              <a:lnSpc>
                <a:spcPct val="110000"/>
              </a:lnSpc>
            </a:pPr>
            <a:r>
              <a:rPr lang="en-US" altLang="en-US"/>
              <a:t>Nondeterministic algorithm</a:t>
            </a:r>
          </a:p>
          <a:p>
            <a:pPr lvl="1" eaLnBrk="1" hangingPunct="1">
              <a:lnSpc>
                <a:spcPct val="110000"/>
              </a:lnSpc>
            </a:pPr>
            <a:r>
              <a:rPr lang="en-US" altLang="en-US"/>
              <a:t>Generalizes well but doesn’t have strong mathematical foundation</a:t>
            </a:r>
          </a:p>
          <a:p>
            <a:pPr lvl="1" eaLnBrk="1" hangingPunct="1">
              <a:lnSpc>
                <a:spcPct val="110000"/>
              </a:lnSpc>
            </a:pPr>
            <a:r>
              <a:rPr lang="en-US" altLang="en-US"/>
              <a:t>Can easily be learned in incremental fashion</a:t>
            </a:r>
          </a:p>
          <a:p>
            <a:pPr lvl="1" eaLnBrk="1" hangingPunct="1">
              <a:lnSpc>
                <a:spcPct val="110000"/>
              </a:lnSpc>
            </a:pPr>
            <a:r>
              <a:rPr lang="en-US" altLang="en-US"/>
              <a:t>To learn complex functions—use multilayer perceptron (nontrivial)</a:t>
            </a:r>
          </a:p>
        </p:txBody>
      </p:sp>
      <p:sp>
        <p:nvSpPr>
          <p:cNvPr id="2" name="Slide Number Placeholder 1">
            <a:extLst>
              <a:ext uri="{FF2B5EF4-FFF2-40B4-BE49-F238E27FC236}">
                <a16:creationId xmlns:a16="http://schemas.microsoft.com/office/drawing/2014/main" id="{D95E5721-84B0-C8EC-D5E1-42E384CCE9AA}"/>
              </a:ext>
            </a:extLst>
          </p:cNvPr>
          <p:cNvSpPr>
            <a:spLocks noGrp="1"/>
          </p:cNvSpPr>
          <p:nvPr>
            <p:ph type="sldNum" sz="quarter" idx="12"/>
          </p:nvPr>
        </p:nvSpPr>
        <p:spPr/>
        <p:txBody>
          <a:bodyPr/>
          <a:lstStyle/>
          <a:p>
            <a:fld id="{C3CACD4E-8C52-004E-9A96-AD0BCBF3CA39}" type="slidenum">
              <a:rPr lang="en-US" smtClean="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a:extLst>
              <a:ext uri="{FF2B5EF4-FFF2-40B4-BE49-F238E27FC236}">
                <a16:creationId xmlns:a16="http://schemas.microsoft.com/office/drawing/2014/main" id="{8C9083B4-67E1-3845-7AF7-E01B7117E8FF}"/>
              </a:ext>
            </a:extLst>
          </p:cNvPr>
          <p:cNvSpPr>
            <a:spLocks noGrp="1" noChangeArrowheads="1"/>
          </p:cNvSpPr>
          <p:nvPr>
            <p:ph type="title"/>
          </p:nvPr>
        </p:nvSpPr>
        <p:spPr>
          <a:xfrm>
            <a:off x="1676400" y="381000"/>
            <a:ext cx="8839200" cy="609600"/>
          </a:xfrm>
          <a:noFill/>
        </p:spPr>
        <p:txBody>
          <a:bodyPr vert="horz" lIns="92075" tIns="46038" rIns="92075" bIns="46038" rtlCol="0" anchor="ctr">
            <a:normAutofit fontScale="90000"/>
          </a:bodyPr>
          <a:lstStyle/>
          <a:p>
            <a:pPr eaLnBrk="1" hangingPunct="1"/>
            <a:r>
              <a:rPr lang="en-US" altLang="en-US" dirty="0"/>
              <a:t>Lazy vs. Eager Learning</a:t>
            </a:r>
          </a:p>
        </p:txBody>
      </p:sp>
      <p:sp>
        <p:nvSpPr>
          <p:cNvPr id="49156" name="Rectangle 3">
            <a:extLst>
              <a:ext uri="{FF2B5EF4-FFF2-40B4-BE49-F238E27FC236}">
                <a16:creationId xmlns:a16="http://schemas.microsoft.com/office/drawing/2014/main" id="{ABFE8662-D06C-C56D-0A2D-36F7BBCF6B51}"/>
              </a:ext>
            </a:extLst>
          </p:cNvPr>
          <p:cNvSpPr>
            <a:spLocks noGrp="1" noChangeArrowheads="1"/>
          </p:cNvSpPr>
          <p:nvPr>
            <p:ph type="body" idx="1"/>
          </p:nvPr>
        </p:nvSpPr>
        <p:spPr>
          <a:xfrm>
            <a:off x="1828800" y="1371600"/>
            <a:ext cx="8534400" cy="5181600"/>
          </a:xfrm>
          <a:noFill/>
        </p:spPr>
        <p:txBody>
          <a:bodyPr vert="horz" lIns="92075" tIns="46038" rIns="92075" bIns="46038" rtlCol="0">
            <a:normAutofit lnSpcReduction="10000"/>
          </a:bodyPr>
          <a:lstStyle/>
          <a:p>
            <a:pPr eaLnBrk="1" hangingPunct="1">
              <a:lnSpc>
                <a:spcPct val="90000"/>
              </a:lnSpc>
            </a:pPr>
            <a:r>
              <a:rPr lang="en-US" altLang="en-US" sz="2400" u="sng"/>
              <a:t>Lazy vs. eager learning</a:t>
            </a:r>
          </a:p>
          <a:p>
            <a:pPr lvl="1" eaLnBrk="1" hangingPunct="1">
              <a:lnSpc>
                <a:spcPct val="90000"/>
              </a:lnSpc>
            </a:pPr>
            <a:r>
              <a:rPr lang="en-US" altLang="en-US" b="1"/>
              <a:t>Lazy learning</a:t>
            </a:r>
            <a:r>
              <a:rPr lang="en-US" altLang="en-US"/>
              <a:t> (e.g., instance-based learning): Simply stores training data (or only minor processing) and waits until it is given a test tuple</a:t>
            </a:r>
          </a:p>
          <a:p>
            <a:pPr lvl="1" eaLnBrk="1" hangingPunct="1">
              <a:lnSpc>
                <a:spcPct val="90000"/>
              </a:lnSpc>
            </a:pPr>
            <a:r>
              <a:rPr lang="en-US" altLang="en-US" b="1"/>
              <a:t>Eager learning</a:t>
            </a:r>
            <a:r>
              <a:rPr lang="en-US" altLang="en-US"/>
              <a:t> (the above discussed methods): Given a set of training tuples, constructs a classification model before receiving new (e.g., test) data to classify</a:t>
            </a:r>
          </a:p>
          <a:p>
            <a:pPr eaLnBrk="1" hangingPunct="1">
              <a:lnSpc>
                <a:spcPct val="90000"/>
              </a:lnSpc>
            </a:pPr>
            <a:r>
              <a:rPr lang="en-US" altLang="en-US" sz="2400"/>
              <a:t>Lazy: less time in training but more time in predicting</a:t>
            </a:r>
          </a:p>
          <a:p>
            <a:pPr eaLnBrk="1" hangingPunct="1">
              <a:lnSpc>
                <a:spcPct val="90000"/>
              </a:lnSpc>
            </a:pPr>
            <a:r>
              <a:rPr lang="en-US" altLang="en-US" sz="2400"/>
              <a:t>Accuracy</a:t>
            </a:r>
          </a:p>
          <a:p>
            <a:pPr lvl="1" eaLnBrk="1" hangingPunct="1">
              <a:lnSpc>
                <a:spcPct val="90000"/>
              </a:lnSpc>
            </a:pPr>
            <a:r>
              <a:rPr lang="en-US" altLang="en-US"/>
              <a:t>Lazy method effectively uses a richer hypothesis space since it uses many local linear functions to form an implicit global approximation to the target function</a:t>
            </a:r>
          </a:p>
          <a:p>
            <a:pPr lvl="1" eaLnBrk="1" hangingPunct="1">
              <a:lnSpc>
                <a:spcPct val="90000"/>
              </a:lnSpc>
            </a:pPr>
            <a:r>
              <a:rPr lang="en-US" altLang="en-US"/>
              <a:t>Eager: must commit to a single hypothesis that covers the entire instance space</a:t>
            </a:r>
          </a:p>
        </p:txBody>
      </p:sp>
      <p:sp>
        <p:nvSpPr>
          <p:cNvPr id="2" name="Slide Number Placeholder 1">
            <a:extLst>
              <a:ext uri="{FF2B5EF4-FFF2-40B4-BE49-F238E27FC236}">
                <a16:creationId xmlns:a16="http://schemas.microsoft.com/office/drawing/2014/main" id="{E3CD670C-49FE-B831-52AB-D6D73780D3BF}"/>
              </a:ext>
            </a:extLst>
          </p:cNvPr>
          <p:cNvSpPr>
            <a:spLocks noGrp="1"/>
          </p:cNvSpPr>
          <p:nvPr>
            <p:ph type="sldNum" sz="quarter" idx="12"/>
          </p:nvPr>
        </p:nvSpPr>
        <p:spPr/>
        <p:txBody>
          <a:bodyPr/>
          <a:lstStyle/>
          <a:p>
            <a:fld id="{C3CACD4E-8C52-004E-9A96-AD0BCBF3CA39}" type="slidenum">
              <a:rPr lang="en-US" smtClean="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6F05CAEB-A719-D507-4D57-04DDDEE1A6F1}"/>
              </a:ext>
            </a:extLst>
          </p:cNvPr>
          <p:cNvSpPr>
            <a:spLocks noGrp="1" noChangeArrowheads="1"/>
          </p:cNvSpPr>
          <p:nvPr>
            <p:ph type="title"/>
          </p:nvPr>
        </p:nvSpPr>
        <p:spPr>
          <a:xfrm>
            <a:off x="1828800" y="228600"/>
            <a:ext cx="8382000" cy="762000"/>
          </a:xfrm>
          <a:noFill/>
        </p:spPr>
        <p:txBody>
          <a:bodyPr vert="horz" lIns="92075" tIns="46038" rIns="92075" bIns="46038" rtlCol="0" anchor="ctr">
            <a:normAutofit/>
          </a:bodyPr>
          <a:lstStyle/>
          <a:p>
            <a:pPr eaLnBrk="1" hangingPunct="1"/>
            <a:r>
              <a:rPr lang="en-US" altLang="en-US" sz="3200"/>
              <a:t>Lazy Learner: Instance-Based Methods</a:t>
            </a:r>
          </a:p>
        </p:txBody>
      </p:sp>
      <p:sp>
        <p:nvSpPr>
          <p:cNvPr id="50180" name="Rectangle 3">
            <a:extLst>
              <a:ext uri="{FF2B5EF4-FFF2-40B4-BE49-F238E27FC236}">
                <a16:creationId xmlns:a16="http://schemas.microsoft.com/office/drawing/2014/main" id="{B888E07D-835F-3599-0198-68368F973E3C}"/>
              </a:ext>
            </a:extLst>
          </p:cNvPr>
          <p:cNvSpPr>
            <a:spLocks noGrp="1" noChangeArrowheads="1"/>
          </p:cNvSpPr>
          <p:nvPr>
            <p:ph type="body" idx="1"/>
          </p:nvPr>
        </p:nvSpPr>
        <p:spPr>
          <a:xfrm>
            <a:off x="1981200" y="1371600"/>
            <a:ext cx="8077200" cy="5029200"/>
          </a:xfrm>
          <a:noFill/>
        </p:spPr>
        <p:txBody>
          <a:bodyPr vert="horz" lIns="92075" tIns="46038" rIns="92075" bIns="46038" rtlCol="0">
            <a:normAutofit/>
          </a:bodyPr>
          <a:lstStyle/>
          <a:p>
            <a:pPr eaLnBrk="1" hangingPunct="1">
              <a:lnSpc>
                <a:spcPct val="90000"/>
              </a:lnSpc>
            </a:pPr>
            <a:r>
              <a:rPr lang="en-US" altLang="en-US" sz="2400"/>
              <a:t>Instance-based learning: </a:t>
            </a:r>
          </a:p>
          <a:p>
            <a:pPr lvl="1" eaLnBrk="1" hangingPunct="1">
              <a:lnSpc>
                <a:spcPct val="90000"/>
              </a:lnSpc>
            </a:pPr>
            <a:r>
              <a:rPr lang="en-US" altLang="en-US"/>
              <a:t>Store training examples and delay the processing (“lazy evaluation”) until a new instance must be classified</a:t>
            </a:r>
          </a:p>
          <a:p>
            <a:pPr eaLnBrk="1" hangingPunct="1">
              <a:lnSpc>
                <a:spcPct val="90000"/>
              </a:lnSpc>
            </a:pPr>
            <a:r>
              <a:rPr lang="en-US" altLang="en-US" sz="2400"/>
              <a:t>Typical approaches</a:t>
            </a:r>
            <a:endParaRPr lang="en-US" altLang="en-US" sz="2400" u="sng"/>
          </a:p>
          <a:p>
            <a:pPr lvl="1" eaLnBrk="1" hangingPunct="1">
              <a:lnSpc>
                <a:spcPct val="90000"/>
              </a:lnSpc>
            </a:pPr>
            <a:r>
              <a:rPr lang="en-US" altLang="en-US" i="1" u="sng"/>
              <a:t>k</a:t>
            </a:r>
            <a:r>
              <a:rPr lang="en-US" altLang="en-US" u="sng"/>
              <a:t>-nearest neighbor approach</a:t>
            </a:r>
            <a:endParaRPr lang="en-US" altLang="en-US"/>
          </a:p>
          <a:p>
            <a:pPr lvl="2" eaLnBrk="1" hangingPunct="1">
              <a:lnSpc>
                <a:spcPct val="90000"/>
              </a:lnSpc>
            </a:pPr>
            <a:r>
              <a:rPr lang="en-US" altLang="en-US"/>
              <a:t>Instances represented as points in a Euclidean space.</a:t>
            </a:r>
          </a:p>
          <a:p>
            <a:pPr lvl="1" eaLnBrk="1" hangingPunct="1">
              <a:lnSpc>
                <a:spcPct val="90000"/>
              </a:lnSpc>
            </a:pPr>
            <a:r>
              <a:rPr lang="en-US" altLang="en-US" u="sng"/>
              <a:t>Locally weighted regression</a:t>
            </a:r>
            <a:endParaRPr lang="en-US" altLang="en-US"/>
          </a:p>
          <a:p>
            <a:pPr lvl="2" eaLnBrk="1" hangingPunct="1">
              <a:lnSpc>
                <a:spcPct val="90000"/>
              </a:lnSpc>
            </a:pPr>
            <a:r>
              <a:rPr lang="en-US" altLang="en-US"/>
              <a:t>Constructs local approximation</a:t>
            </a:r>
          </a:p>
          <a:p>
            <a:pPr lvl="1" eaLnBrk="1" hangingPunct="1">
              <a:lnSpc>
                <a:spcPct val="90000"/>
              </a:lnSpc>
            </a:pPr>
            <a:r>
              <a:rPr lang="en-US" altLang="en-US" u="sng"/>
              <a:t>Case-based reasoning</a:t>
            </a:r>
            <a:endParaRPr lang="en-US" altLang="en-US"/>
          </a:p>
          <a:p>
            <a:pPr lvl="2" eaLnBrk="1" hangingPunct="1">
              <a:lnSpc>
                <a:spcPct val="90000"/>
              </a:lnSpc>
            </a:pPr>
            <a:r>
              <a:rPr lang="en-US" altLang="en-US"/>
              <a:t>Uses symbolic representations and knowledge-based inference</a:t>
            </a:r>
          </a:p>
        </p:txBody>
      </p:sp>
      <p:sp>
        <p:nvSpPr>
          <p:cNvPr id="2" name="Slide Number Placeholder 1">
            <a:extLst>
              <a:ext uri="{FF2B5EF4-FFF2-40B4-BE49-F238E27FC236}">
                <a16:creationId xmlns:a16="http://schemas.microsoft.com/office/drawing/2014/main" id="{700AB0B3-6BBC-1069-971C-5ED9B0F0EB5D}"/>
              </a:ext>
            </a:extLst>
          </p:cNvPr>
          <p:cNvSpPr>
            <a:spLocks noGrp="1"/>
          </p:cNvSpPr>
          <p:nvPr>
            <p:ph type="sldNum" sz="quarter" idx="12"/>
          </p:nvPr>
        </p:nvSpPr>
        <p:spPr/>
        <p:txBody>
          <a:bodyPr/>
          <a:lstStyle/>
          <a:p>
            <a:fld id="{C3CACD4E-8C52-004E-9A96-AD0BCBF3CA39}" type="slidenum">
              <a:rPr lang="en-US" smtClean="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7557AF61-4176-1030-4943-43C75D2B7A99}"/>
              </a:ext>
            </a:extLst>
          </p:cNvPr>
          <p:cNvSpPr>
            <a:spLocks noGrp="1" noChangeArrowheads="1"/>
          </p:cNvSpPr>
          <p:nvPr>
            <p:ph type="title"/>
          </p:nvPr>
        </p:nvSpPr>
        <p:spPr/>
        <p:txBody>
          <a:bodyPr/>
          <a:lstStyle/>
          <a:p>
            <a:r>
              <a:rPr lang="en-US" altLang="en-US" sz="3200"/>
              <a:t>Multiclass Classification</a:t>
            </a:r>
          </a:p>
        </p:txBody>
      </p:sp>
      <p:sp>
        <p:nvSpPr>
          <p:cNvPr id="59395" name="Rectangle 3">
            <a:extLst>
              <a:ext uri="{FF2B5EF4-FFF2-40B4-BE49-F238E27FC236}">
                <a16:creationId xmlns:a16="http://schemas.microsoft.com/office/drawing/2014/main" id="{BAAD4DBF-F22F-3C8E-A18F-5FB50B1462D4}"/>
              </a:ext>
            </a:extLst>
          </p:cNvPr>
          <p:cNvSpPr>
            <a:spLocks noGrp="1" noChangeArrowheads="1"/>
          </p:cNvSpPr>
          <p:nvPr>
            <p:ph type="body" idx="1"/>
          </p:nvPr>
        </p:nvSpPr>
        <p:spPr>
          <a:xfrm>
            <a:off x="1828800" y="1295400"/>
            <a:ext cx="8610600" cy="5257800"/>
          </a:xfrm>
        </p:spPr>
        <p:txBody>
          <a:bodyPr>
            <a:normAutofit lnSpcReduction="10000"/>
          </a:bodyPr>
          <a:lstStyle/>
          <a:p>
            <a:pPr>
              <a:lnSpc>
                <a:spcPct val="110000"/>
              </a:lnSpc>
            </a:pPr>
            <a:r>
              <a:rPr lang="en-US" altLang="en-US" sz="2000"/>
              <a:t>Classification involving more than two classes (i.e., &gt; 2 Classes) </a:t>
            </a:r>
          </a:p>
          <a:p>
            <a:pPr>
              <a:lnSpc>
                <a:spcPct val="110000"/>
              </a:lnSpc>
            </a:pPr>
            <a:r>
              <a:rPr lang="en-US" altLang="en-US" sz="2000"/>
              <a:t>Method 1. </a:t>
            </a:r>
            <a:r>
              <a:rPr lang="en-US" altLang="en-US" sz="2000" b="1"/>
              <a:t>One-vs.-all</a:t>
            </a:r>
            <a:r>
              <a:rPr lang="en-US" altLang="en-US" sz="2000"/>
              <a:t> (OVA): Learn a classifier one at a time </a:t>
            </a:r>
          </a:p>
          <a:p>
            <a:pPr lvl="1">
              <a:lnSpc>
                <a:spcPct val="110000"/>
              </a:lnSpc>
            </a:pPr>
            <a:r>
              <a:rPr lang="en-US" altLang="en-US" sz="2000"/>
              <a:t>Given m classes, train m classifiers: one for each class</a:t>
            </a:r>
          </a:p>
          <a:p>
            <a:pPr lvl="1">
              <a:lnSpc>
                <a:spcPct val="110000"/>
              </a:lnSpc>
            </a:pPr>
            <a:r>
              <a:rPr lang="en-US" altLang="en-US" sz="2000"/>
              <a:t>Classifier j: treat tuples in class j as </a:t>
            </a:r>
            <a:r>
              <a:rPr lang="en-US" altLang="en-US" sz="2000" i="1"/>
              <a:t>positive</a:t>
            </a:r>
            <a:r>
              <a:rPr lang="en-US" altLang="en-US" sz="2000"/>
              <a:t> &amp; all others as </a:t>
            </a:r>
            <a:r>
              <a:rPr lang="en-US" altLang="en-US" sz="2000" i="1"/>
              <a:t>negative</a:t>
            </a:r>
          </a:p>
          <a:p>
            <a:pPr lvl="1">
              <a:lnSpc>
                <a:spcPct val="110000"/>
              </a:lnSpc>
            </a:pPr>
            <a:r>
              <a:rPr lang="en-US" altLang="en-US" sz="2000"/>
              <a:t>To classify a tuple </a:t>
            </a:r>
            <a:r>
              <a:rPr lang="en-US" altLang="en-US" sz="2000" b="1"/>
              <a:t>X</a:t>
            </a:r>
            <a:r>
              <a:rPr lang="en-US" altLang="en-US" sz="2000"/>
              <a:t>, the set of classifiers vote as an ensemble </a:t>
            </a:r>
          </a:p>
          <a:p>
            <a:pPr>
              <a:lnSpc>
                <a:spcPct val="110000"/>
              </a:lnSpc>
            </a:pPr>
            <a:r>
              <a:rPr lang="en-US" altLang="en-US" sz="2000"/>
              <a:t>Method 2. </a:t>
            </a:r>
            <a:r>
              <a:rPr lang="en-US" altLang="en-US" sz="2000" b="1"/>
              <a:t>All-vs.-all</a:t>
            </a:r>
            <a:r>
              <a:rPr lang="en-US" altLang="en-US" sz="2000"/>
              <a:t> (AVA): Learn a classifier for each pair of classes</a:t>
            </a:r>
          </a:p>
          <a:p>
            <a:pPr lvl="1">
              <a:lnSpc>
                <a:spcPct val="110000"/>
              </a:lnSpc>
            </a:pPr>
            <a:r>
              <a:rPr lang="en-US" altLang="en-US" sz="2000"/>
              <a:t>Given m classes, construct m(m-1)/2 binary classifiers</a:t>
            </a:r>
          </a:p>
          <a:p>
            <a:pPr lvl="1">
              <a:lnSpc>
                <a:spcPct val="110000"/>
              </a:lnSpc>
            </a:pPr>
            <a:r>
              <a:rPr lang="en-US" altLang="en-US" sz="2000"/>
              <a:t>A classifier is trained using tuples of the two classes</a:t>
            </a:r>
          </a:p>
          <a:p>
            <a:pPr lvl="1">
              <a:lnSpc>
                <a:spcPct val="110000"/>
              </a:lnSpc>
            </a:pPr>
            <a:r>
              <a:rPr lang="en-US" altLang="en-US" sz="2000"/>
              <a:t>To classify a tuple </a:t>
            </a:r>
            <a:r>
              <a:rPr lang="en-US" altLang="en-US" sz="2000" b="1"/>
              <a:t>X</a:t>
            </a:r>
            <a:r>
              <a:rPr lang="en-US" altLang="en-US" sz="2000"/>
              <a:t>, each classifier votes.  X is assigned to the class with maximal vote</a:t>
            </a:r>
          </a:p>
          <a:p>
            <a:pPr>
              <a:lnSpc>
                <a:spcPct val="110000"/>
              </a:lnSpc>
            </a:pPr>
            <a:r>
              <a:rPr lang="en-US" altLang="en-US" sz="2000"/>
              <a:t>Comparison</a:t>
            </a:r>
          </a:p>
          <a:p>
            <a:pPr lvl="1">
              <a:lnSpc>
                <a:spcPct val="110000"/>
              </a:lnSpc>
            </a:pPr>
            <a:r>
              <a:rPr lang="en-US" altLang="en-US" sz="2000"/>
              <a:t>All-vs.-all tends to be superior to one-vs.-all</a:t>
            </a:r>
          </a:p>
          <a:p>
            <a:pPr lvl="1">
              <a:lnSpc>
                <a:spcPct val="110000"/>
              </a:lnSpc>
            </a:pPr>
            <a:r>
              <a:rPr lang="en-US" altLang="en-US" sz="2000"/>
              <a:t>Problem: Binary classifier is sensitive to errors, and errors affect vote count</a:t>
            </a:r>
          </a:p>
        </p:txBody>
      </p:sp>
      <p:sp>
        <p:nvSpPr>
          <p:cNvPr id="59396" name="Slide Number Placeholder 6">
            <a:extLst>
              <a:ext uri="{FF2B5EF4-FFF2-40B4-BE49-F238E27FC236}">
                <a16:creationId xmlns:a16="http://schemas.microsoft.com/office/drawing/2014/main" id="{32B3CFFC-CBBB-4E6B-4442-28B865FB2296}"/>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BC73FBE4-C2A2-634A-9366-D5FE861B9C4B}" type="slidenum">
              <a:rPr lang="en-US" altLang="en-US" sz="1200" b="1"/>
              <a:pPr algn="r" eaLnBrk="1" hangingPunct="1"/>
              <a:t>67</a:t>
            </a:fld>
            <a:endParaRPr lang="en-US" altLang="en-US" sz="1200" b="1"/>
          </a:p>
        </p:txBody>
      </p:sp>
      <p:sp>
        <p:nvSpPr>
          <p:cNvPr id="2" name="Slide Number Placeholder 1">
            <a:extLst>
              <a:ext uri="{FF2B5EF4-FFF2-40B4-BE49-F238E27FC236}">
                <a16:creationId xmlns:a16="http://schemas.microsoft.com/office/drawing/2014/main" id="{04A5802A-8687-4239-61F7-ABE1D1A09C20}"/>
              </a:ext>
            </a:extLst>
          </p:cNvPr>
          <p:cNvSpPr>
            <a:spLocks noGrp="1"/>
          </p:cNvSpPr>
          <p:nvPr>
            <p:ph type="sldNum" sz="quarter" idx="12"/>
          </p:nvPr>
        </p:nvSpPr>
        <p:spPr/>
        <p:txBody>
          <a:bodyPr/>
          <a:lstStyle/>
          <a:p>
            <a:fld id="{C3CACD4E-8C52-004E-9A96-AD0BCBF3CA39}" type="slidenum">
              <a:rPr lang="en-US" smtClean="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7710AF2-15DF-91D5-ECF9-103A571A2360}"/>
              </a:ext>
            </a:extLst>
          </p:cNvPr>
          <p:cNvSpPr>
            <a:spLocks noGrp="1" noChangeArrowheads="1"/>
          </p:cNvSpPr>
          <p:nvPr>
            <p:ph type="title"/>
          </p:nvPr>
        </p:nvSpPr>
        <p:spPr/>
        <p:txBody>
          <a:bodyPr/>
          <a:lstStyle/>
          <a:p>
            <a:r>
              <a:rPr lang="en-US" altLang="en-US" sz="3200"/>
              <a:t>Semi-Supervised Classification</a:t>
            </a:r>
          </a:p>
        </p:txBody>
      </p:sp>
      <p:sp>
        <p:nvSpPr>
          <p:cNvPr id="61443" name="Rectangle 3">
            <a:extLst>
              <a:ext uri="{FF2B5EF4-FFF2-40B4-BE49-F238E27FC236}">
                <a16:creationId xmlns:a16="http://schemas.microsoft.com/office/drawing/2014/main" id="{73427FE2-BBD3-3254-190E-729F098F6D5B}"/>
              </a:ext>
            </a:extLst>
          </p:cNvPr>
          <p:cNvSpPr>
            <a:spLocks noGrp="1" noChangeArrowheads="1"/>
          </p:cNvSpPr>
          <p:nvPr>
            <p:ph type="body" idx="1"/>
          </p:nvPr>
        </p:nvSpPr>
        <p:spPr>
          <a:xfrm>
            <a:off x="1828800" y="1371600"/>
            <a:ext cx="8686800" cy="5105400"/>
          </a:xfrm>
        </p:spPr>
        <p:txBody>
          <a:bodyPr/>
          <a:lstStyle/>
          <a:p>
            <a:r>
              <a:rPr lang="en-US" altLang="en-US" sz="2000"/>
              <a:t>Semi-supervised: Uses labeled and unlabeled data to build a classifier</a:t>
            </a:r>
          </a:p>
          <a:p>
            <a:r>
              <a:rPr lang="en-US" altLang="en-US" sz="2000"/>
              <a:t>Self-training: </a:t>
            </a:r>
          </a:p>
          <a:p>
            <a:pPr lvl="1"/>
            <a:r>
              <a:rPr lang="en-US" altLang="en-US" sz="2000"/>
              <a:t>Build a classifier using the labeled data</a:t>
            </a:r>
          </a:p>
          <a:p>
            <a:pPr lvl="1"/>
            <a:r>
              <a:rPr lang="en-US" altLang="en-US" sz="2000"/>
              <a:t>Use it to label the unlabeled data, and those with the most confident label prediction are added to the set of labeled data</a:t>
            </a:r>
          </a:p>
          <a:p>
            <a:pPr lvl="1"/>
            <a:r>
              <a:rPr lang="en-US" altLang="en-US" sz="2000"/>
              <a:t>Repeat the above process</a:t>
            </a:r>
          </a:p>
          <a:p>
            <a:pPr lvl="1"/>
            <a:r>
              <a:rPr lang="en-US" altLang="en-US" sz="2000"/>
              <a:t>Adv: easy to understand; disadv: may reinforce errors</a:t>
            </a:r>
          </a:p>
          <a:p>
            <a:r>
              <a:rPr lang="en-US" altLang="en-US" sz="2000"/>
              <a:t>Co-training: Use two or more classifiers to teach each other</a:t>
            </a:r>
          </a:p>
          <a:p>
            <a:pPr lvl="1"/>
            <a:r>
              <a:rPr lang="en-US" altLang="en-US" sz="2000"/>
              <a:t>Each learner uses a mutually independent set of features of each tuple to train a good classifier, say f</a:t>
            </a:r>
            <a:r>
              <a:rPr lang="en-US" altLang="en-US" sz="2000" baseline="-25000"/>
              <a:t>1</a:t>
            </a:r>
          </a:p>
          <a:p>
            <a:pPr lvl="1"/>
            <a:r>
              <a:rPr lang="en-US" altLang="en-US" sz="2000"/>
              <a:t>Then f</a:t>
            </a:r>
            <a:r>
              <a:rPr lang="en-US" altLang="en-US" sz="2000" baseline="-25000"/>
              <a:t>1</a:t>
            </a:r>
            <a:r>
              <a:rPr lang="en-US" altLang="en-US" sz="2000"/>
              <a:t> and f</a:t>
            </a:r>
            <a:r>
              <a:rPr lang="en-US" altLang="en-US" sz="2000" baseline="-25000"/>
              <a:t>2</a:t>
            </a:r>
            <a:r>
              <a:rPr lang="en-US" altLang="en-US" sz="2000"/>
              <a:t> are used to predict the class label for unlabeled data X</a:t>
            </a:r>
          </a:p>
          <a:p>
            <a:pPr lvl="1"/>
            <a:r>
              <a:rPr lang="en-US" altLang="en-US" sz="2000"/>
              <a:t>Teach each other: The tuple having the most confident prediction from f</a:t>
            </a:r>
            <a:r>
              <a:rPr lang="en-US" altLang="en-US" sz="2000" baseline="-25000"/>
              <a:t>1</a:t>
            </a:r>
            <a:r>
              <a:rPr lang="en-US" altLang="en-US" sz="2000"/>
              <a:t> is added to the set of labeled data for f</a:t>
            </a:r>
            <a:r>
              <a:rPr lang="en-US" altLang="en-US" sz="2000" baseline="-25000"/>
              <a:t>2</a:t>
            </a:r>
            <a:r>
              <a:rPr lang="en-US" altLang="en-US" sz="2000"/>
              <a:t>, &amp; vice versa </a:t>
            </a:r>
          </a:p>
          <a:p>
            <a:r>
              <a:rPr lang="en-US" altLang="en-US" sz="2000"/>
              <a:t>Other methods, e.g., joint probability distribution of features and labels</a:t>
            </a:r>
          </a:p>
        </p:txBody>
      </p:sp>
      <p:sp>
        <p:nvSpPr>
          <p:cNvPr id="61444" name="Slide Number Placeholder 6">
            <a:extLst>
              <a:ext uri="{FF2B5EF4-FFF2-40B4-BE49-F238E27FC236}">
                <a16:creationId xmlns:a16="http://schemas.microsoft.com/office/drawing/2014/main" id="{3FD4CE73-ABA0-8B09-68DD-A0880623914E}"/>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1A3E49C6-1F4A-7F4C-A2A3-013B32FE03D6}" type="slidenum">
              <a:rPr lang="en-US" altLang="en-US" sz="1200" b="1"/>
              <a:pPr algn="r" eaLnBrk="1" hangingPunct="1"/>
              <a:t>68</a:t>
            </a:fld>
            <a:endParaRPr lang="en-US" altLang="en-US" sz="1200" b="1"/>
          </a:p>
        </p:txBody>
      </p:sp>
      <p:sp>
        <p:nvSpPr>
          <p:cNvPr id="2" name="Slide Number Placeholder 1">
            <a:extLst>
              <a:ext uri="{FF2B5EF4-FFF2-40B4-BE49-F238E27FC236}">
                <a16:creationId xmlns:a16="http://schemas.microsoft.com/office/drawing/2014/main" id="{9DE4DEE3-4AD3-6F7B-05CE-46C274630FFC}"/>
              </a:ext>
            </a:extLst>
          </p:cNvPr>
          <p:cNvSpPr>
            <a:spLocks noGrp="1"/>
          </p:cNvSpPr>
          <p:nvPr>
            <p:ph type="sldNum" sz="quarter" idx="12"/>
          </p:nvPr>
        </p:nvSpPr>
        <p:spPr/>
        <p:txBody>
          <a:bodyPr/>
          <a:lstStyle/>
          <a:p>
            <a:fld id="{C3CACD4E-8C52-004E-9A96-AD0BCBF3CA39}" type="slidenum">
              <a:rPr lang="en-US" smtClean="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466" name="Object 3">
            <a:extLst>
              <a:ext uri="{FF2B5EF4-FFF2-40B4-BE49-F238E27FC236}">
                <a16:creationId xmlns:a16="http://schemas.microsoft.com/office/drawing/2014/main" id="{497C3CB0-C383-4863-D293-0CDECFEAE500}"/>
              </a:ext>
            </a:extLst>
          </p:cNvPr>
          <p:cNvGraphicFramePr>
            <a:graphicFrameLocks noGrp="1" noChangeAspect="1"/>
          </p:cNvGraphicFramePr>
          <p:nvPr>
            <p:ph idx="4294967295"/>
          </p:nvPr>
        </p:nvGraphicFramePr>
        <p:xfrm>
          <a:off x="7162800" y="1"/>
          <a:ext cx="3429000" cy="2016125"/>
        </p:xfrm>
        <a:graphic>
          <a:graphicData uri="http://schemas.openxmlformats.org/presentationml/2006/ole">
            <mc:AlternateContent xmlns:mc="http://schemas.openxmlformats.org/markup-compatibility/2006">
              <mc:Choice xmlns:v="urn:schemas-microsoft-com:vml" Requires="v">
                <p:oleObj name="SmartDraw" r:id="rId3" imgW="32232600" imgH="18948400" progId="SmartDraw.2">
                  <p:embed/>
                </p:oleObj>
              </mc:Choice>
              <mc:Fallback>
                <p:oleObj name="SmartDraw" r:id="rId3" imgW="32232600" imgH="18948400" progId="SmartDraw.2">
                  <p:embed/>
                  <p:pic>
                    <p:nvPicPr>
                      <p:cNvPr id="62466" name="Object 3">
                        <a:extLst>
                          <a:ext uri="{FF2B5EF4-FFF2-40B4-BE49-F238E27FC236}">
                            <a16:creationId xmlns:a16="http://schemas.microsoft.com/office/drawing/2014/main" id="{497C3CB0-C383-4863-D293-0CDECFEAE5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1"/>
                        <a:ext cx="3429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67" name="Rectangle 2">
            <a:extLst>
              <a:ext uri="{FF2B5EF4-FFF2-40B4-BE49-F238E27FC236}">
                <a16:creationId xmlns:a16="http://schemas.microsoft.com/office/drawing/2014/main" id="{37B0BA61-99C9-6DAA-B415-A7B43D496447}"/>
              </a:ext>
            </a:extLst>
          </p:cNvPr>
          <p:cNvSpPr>
            <a:spLocks noGrp="1" noChangeArrowheads="1"/>
          </p:cNvSpPr>
          <p:nvPr>
            <p:ph type="title"/>
          </p:nvPr>
        </p:nvSpPr>
        <p:spPr>
          <a:xfrm>
            <a:off x="1828800" y="304800"/>
            <a:ext cx="6172200" cy="609600"/>
          </a:xfrm>
        </p:spPr>
        <p:txBody>
          <a:bodyPr/>
          <a:lstStyle/>
          <a:p>
            <a:r>
              <a:rPr lang="en-US" altLang="en-US" sz="3200"/>
              <a:t>Active Learning</a:t>
            </a:r>
          </a:p>
        </p:txBody>
      </p:sp>
      <p:sp>
        <p:nvSpPr>
          <p:cNvPr id="62468" name="Rectangle 5">
            <a:extLst>
              <a:ext uri="{FF2B5EF4-FFF2-40B4-BE49-F238E27FC236}">
                <a16:creationId xmlns:a16="http://schemas.microsoft.com/office/drawing/2014/main" id="{065DC4B2-BF2E-992E-3D9C-3C55AFFAD787}"/>
              </a:ext>
            </a:extLst>
          </p:cNvPr>
          <p:cNvSpPr>
            <a:spLocks noGrp="1" noChangeArrowheads="1"/>
          </p:cNvSpPr>
          <p:nvPr>
            <p:ph type="body" idx="1"/>
          </p:nvPr>
        </p:nvSpPr>
        <p:spPr/>
        <p:txBody>
          <a:bodyPr>
            <a:normAutofit fontScale="92500" lnSpcReduction="20000"/>
          </a:bodyPr>
          <a:lstStyle/>
          <a:p>
            <a:pPr>
              <a:lnSpc>
                <a:spcPct val="90000"/>
              </a:lnSpc>
            </a:pPr>
            <a:r>
              <a:rPr lang="en-US" altLang="en-US" sz="2000"/>
              <a:t>Class labels are expensive to obtain</a:t>
            </a:r>
          </a:p>
          <a:p>
            <a:pPr>
              <a:lnSpc>
                <a:spcPct val="90000"/>
              </a:lnSpc>
            </a:pPr>
            <a:r>
              <a:rPr lang="en-US" altLang="en-US" sz="2000"/>
              <a:t>Active learner: query human (oracle) for labels</a:t>
            </a:r>
          </a:p>
          <a:p>
            <a:pPr>
              <a:lnSpc>
                <a:spcPct val="90000"/>
              </a:lnSpc>
            </a:pPr>
            <a:r>
              <a:rPr lang="en-US" altLang="en-US" sz="2000"/>
              <a:t>Pool-based approach: Uses a pool of unlabeled data</a:t>
            </a:r>
          </a:p>
          <a:p>
            <a:pPr lvl="1">
              <a:lnSpc>
                <a:spcPct val="90000"/>
              </a:lnSpc>
            </a:pPr>
            <a:r>
              <a:rPr lang="en-US" altLang="en-US" sz="2000"/>
              <a:t>L: a small subset of D is labeled, U: a pool of unlabeled data in D</a:t>
            </a:r>
          </a:p>
          <a:p>
            <a:pPr lvl="1">
              <a:lnSpc>
                <a:spcPct val="90000"/>
              </a:lnSpc>
            </a:pPr>
            <a:r>
              <a:rPr lang="en-US" altLang="en-US" sz="2000"/>
              <a:t>Use a query function to carefully select one or more tuples from U and request labels from an oracle (a human annotator)</a:t>
            </a:r>
          </a:p>
          <a:p>
            <a:pPr lvl="1">
              <a:lnSpc>
                <a:spcPct val="90000"/>
              </a:lnSpc>
            </a:pPr>
            <a:r>
              <a:rPr lang="en-US" altLang="en-US" sz="2000"/>
              <a:t>The newly labeled samples are added to L, and learn a model</a:t>
            </a:r>
          </a:p>
          <a:p>
            <a:pPr lvl="1">
              <a:lnSpc>
                <a:spcPct val="90000"/>
              </a:lnSpc>
            </a:pPr>
            <a:r>
              <a:rPr lang="en-US" altLang="en-US" sz="2000"/>
              <a:t>Goal: Achieve high accuracy using as few labeled data as possible</a:t>
            </a:r>
          </a:p>
          <a:p>
            <a:pPr>
              <a:lnSpc>
                <a:spcPct val="90000"/>
              </a:lnSpc>
            </a:pPr>
            <a:r>
              <a:rPr lang="en-US" altLang="en-US" sz="2000"/>
              <a:t>Evaluated using </a:t>
            </a:r>
            <a:r>
              <a:rPr lang="en-US" altLang="en-US" sz="2000" i="1"/>
              <a:t>learning curves</a:t>
            </a:r>
            <a:r>
              <a:rPr lang="en-US" altLang="en-US" sz="2000"/>
              <a:t>: Accuracy as a function of the number of instances queried (# of tuples to be queried should be small)</a:t>
            </a:r>
          </a:p>
          <a:p>
            <a:pPr>
              <a:lnSpc>
                <a:spcPct val="90000"/>
              </a:lnSpc>
            </a:pPr>
            <a:r>
              <a:rPr lang="en-US" altLang="en-US" sz="2000"/>
              <a:t>Research issue: How to choose the data tuples to be queried?</a:t>
            </a:r>
          </a:p>
          <a:p>
            <a:pPr lvl="1">
              <a:lnSpc>
                <a:spcPct val="90000"/>
              </a:lnSpc>
            </a:pPr>
            <a:r>
              <a:rPr lang="en-US" altLang="en-US" sz="2000"/>
              <a:t>Uncertainty sampling: choose the least certain ones</a:t>
            </a:r>
          </a:p>
          <a:p>
            <a:pPr lvl="1">
              <a:lnSpc>
                <a:spcPct val="90000"/>
              </a:lnSpc>
            </a:pPr>
            <a:r>
              <a:rPr lang="en-US" altLang="en-US" sz="2000"/>
              <a:t>Reduce </a:t>
            </a:r>
            <a:r>
              <a:rPr lang="en-US" altLang="en-US" sz="2000" i="1"/>
              <a:t>version space</a:t>
            </a:r>
            <a:r>
              <a:rPr lang="en-US" altLang="en-US" sz="2000"/>
              <a:t>, the subset of hypotheses consistent w. the training data</a:t>
            </a:r>
          </a:p>
          <a:p>
            <a:pPr lvl="1">
              <a:lnSpc>
                <a:spcPct val="90000"/>
              </a:lnSpc>
            </a:pPr>
            <a:r>
              <a:rPr lang="en-US" altLang="en-US" sz="2000"/>
              <a:t>Reduce expected entropy over U: Find the greatest reduction in the total number of incorrect predictions</a:t>
            </a:r>
          </a:p>
        </p:txBody>
      </p:sp>
      <p:sp>
        <p:nvSpPr>
          <p:cNvPr id="62469" name="Slide Number Placeholder 6">
            <a:extLst>
              <a:ext uri="{FF2B5EF4-FFF2-40B4-BE49-F238E27FC236}">
                <a16:creationId xmlns:a16="http://schemas.microsoft.com/office/drawing/2014/main" id="{7451C948-CBE4-0088-12D4-47044E05096D}"/>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17612220-309E-2144-A3F9-4A1C2133ABE6}" type="slidenum">
              <a:rPr lang="en-US" altLang="en-US" sz="1200" b="1"/>
              <a:pPr algn="r" eaLnBrk="1" hangingPunct="1"/>
              <a:t>69</a:t>
            </a:fld>
            <a:endParaRPr lang="en-US" altLang="en-US" sz="1200" b="1"/>
          </a:p>
        </p:txBody>
      </p:sp>
      <p:sp>
        <p:nvSpPr>
          <p:cNvPr id="2" name="Slide Number Placeholder 1">
            <a:extLst>
              <a:ext uri="{FF2B5EF4-FFF2-40B4-BE49-F238E27FC236}">
                <a16:creationId xmlns:a16="http://schemas.microsoft.com/office/drawing/2014/main" id="{211BC600-2FE9-020D-D814-5AED8A8F0241}"/>
              </a:ext>
            </a:extLst>
          </p:cNvPr>
          <p:cNvSpPr>
            <a:spLocks noGrp="1"/>
          </p:cNvSpPr>
          <p:nvPr>
            <p:ph type="sldNum" sz="quarter" idx="12"/>
          </p:nvPr>
        </p:nvSpPr>
        <p:spPr/>
        <p:txBody>
          <a:bodyPr/>
          <a:lstStyle/>
          <a:p>
            <a:fld id="{C3CACD4E-8C52-004E-9A96-AD0BCBF3CA39}" type="slidenum">
              <a:rPr lang="en-US" smtClean="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90DFC07-D3B9-7BBB-88EF-CD998EF38A33}"/>
              </a:ext>
            </a:extLst>
          </p:cNvPr>
          <p:cNvSpPr>
            <a:spLocks noGrp="1" noChangeArrowheads="1"/>
          </p:cNvSpPr>
          <p:nvPr>
            <p:ph type="title"/>
          </p:nvPr>
        </p:nvSpPr>
        <p:spPr>
          <a:xfrm>
            <a:off x="1600200" y="381000"/>
            <a:ext cx="8991600" cy="609600"/>
          </a:xfrm>
        </p:spPr>
        <p:txBody>
          <a:bodyPr/>
          <a:lstStyle/>
          <a:p>
            <a:r>
              <a:rPr lang="en-US" altLang="en-US" sz="3200"/>
              <a:t>Transfer Learning: Conceptual Framework</a:t>
            </a:r>
          </a:p>
        </p:txBody>
      </p:sp>
      <p:sp>
        <p:nvSpPr>
          <p:cNvPr id="63491" name="Rectangle 3">
            <a:extLst>
              <a:ext uri="{FF2B5EF4-FFF2-40B4-BE49-F238E27FC236}">
                <a16:creationId xmlns:a16="http://schemas.microsoft.com/office/drawing/2014/main" id="{DCE11D67-1984-C9D2-EB51-0876E6BDBAB3}"/>
              </a:ext>
            </a:extLst>
          </p:cNvPr>
          <p:cNvSpPr>
            <a:spLocks noGrp="1" noChangeArrowheads="1"/>
          </p:cNvSpPr>
          <p:nvPr>
            <p:ph type="body" sz="half" idx="1"/>
          </p:nvPr>
        </p:nvSpPr>
        <p:spPr>
          <a:xfrm>
            <a:off x="1828800" y="1371600"/>
            <a:ext cx="8610600" cy="1981200"/>
          </a:xfrm>
        </p:spPr>
        <p:txBody>
          <a:bodyPr>
            <a:normAutofit lnSpcReduction="10000"/>
          </a:bodyPr>
          <a:lstStyle/>
          <a:p>
            <a:pPr>
              <a:lnSpc>
                <a:spcPct val="110000"/>
              </a:lnSpc>
            </a:pPr>
            <a:r>
              <a:rPr lang="en-US" altLang="en-US" sz="2000"/>
              <a:t>Transfer learning: Extract knowledge from one or more source tasks and apply the knowledge to a target task</a:t>
            </a:r>
          </a:p>
          <a:p>
            <a:pPr>
              <a:lnSpc>
                <a:spcPct val="110000"/>
              </a:lnSpc>
            </a:pPr>
            <a:r>
              <a:rPr lang="en-US" altLang="en-US" sz="2000"/>
              <a:t>Traditional learning: Build a new classifier for each new task</a:t>
            </a:r>
          </a:p>
          <a:p>
            <a:pPr>
              <a:lnSpc>
                <a:spcPct val="110000"/>
              </a:lnSpc>
            </a:pPr>
            <a:r>
              <a:rPr lang="en-US" altLang="en-US" sz="2000"/>
              <a:t>Transfer learning: Build new classifier by applying existing knowledge learned from source tasks</a:t>
            </a:r>
          </a:p>
        </p:txBody>
      </p:sp>
      <p:graphicFrame>
        <p:nvGraphicFramePr>
          <p:cNvPr id="63492" name="Object 5">
            <a:extLst>
              <a:ext uri="{FF2B5EF4-FFF2-40B4-BE49-F238E27FC236}">
                <a16:creationId xmlns:a16="http://schemas.microsoft.com/office/drawing/2014/main" id="{EEE121D3-BF23-2F13-EA65-5A854E25E836}"/>
              </a:ext>
            </a:extLst>
          </p:cNvPr>
          <p:cNvGraphicFramePr>
            <a:graphicFrameLocks noGrp="1" noChangeAspect="1"/>
          </p:cNvGraphicFramePr>
          <p:nvPr>
            <p:ph sz="quarter" idx="2"/>
          </p:nvPr>
        </p:nvGraphicFramePr>
        <p:xfrm>
          <a:off x="1524001" y="3521076"/>
          <a:ext cx="4576763" cy="2803525"/>
        </p:xfrm>
        <a:graphic>
          <a:graphicData uri="http://schemas.openxmlformats.org/presentationml/2006/ole">
            <mc:AlternateContent xmlns:mc="http://schemas.openxmlformats.org/markup-compatibility/2006">
              <mc:Choice xmlns:v="urn:schemas-microsoft-com:vml" Requires="v">
                <p:oleObj name="SmartDraw" r:id="rId3" imgW="24434800" imgH="14960600" progId="SmartDraw.2">
                  <p:embed/>
                </p:oleObj>
              </mc:Choice>
              <mc:Fallback>
                <p:oleObj name="SmartDraw" r:id="rId3" imgW="24434800" imgH="14960600" progId="SmartDraw.2">
                  <p:embed/>
                  <p:pic>
                    <p:nvPicPr>
                      <p:cNvPr id="63492" name="Object 5">
                        <a:extLst>
                          <a:ext uri="{FF2B5EF4-FFF2-40B4-BE49-F238E27FC236}">
                            <a16:creationId xmlns:a16="http://schemas.microsoft.com/office/drawing/2014/main" id="{EEE121D3-BF23-2F13-EA65-5A854E25E8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3521076"/>
                        <a:ext cx="4576763" cy="280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3" name="Slide Number Placeholder 6">
            <a:extLst>
              <a:ext uri="{FF2B5EF4-FFF2-40B4-BE49-F238E27FC236}">
                <a16:creationId xmlns:a16="http://schemas.microsoft.com/office/drawing/2014/main" id="{EBDA4CC4-8E3B-9169-FA78-0A436860C51C}"/>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75A926A2-B82A-9F47-8E52-AFFAA7938F75}" type="slidenum">
              <a:rPr lang="en-US" altLang="en-US" sz="1200" b="1"/>
              <a:pPr algn="r" eaLnBrk="1" hangingPunct="1"/>
              <a:t>70</a:t>
            </a:fld>
            <a:endParaRPr lang="en-US" altLang="en-US" sz="1200" b="1"/>
          </a:p>
        </p:txBody>
      </p:sp>
      <p:sp>
        <p:nvSpPr>
          <p:cNvPr id="63494" name="Text Box 9">
            <a:extLst>
              <a:ext uri="{FF2B5EF4-FFF2-40B4-BE49-F238E27FC236}">
                <a16:creationId xmlns:a16="http://schemas.microsoft.com/office/drawing/2014/main" id="{67F5E1FE-9700-E69B-0FFD-D5F4C550CD47}"/>
              </a:ext>
            </a:extLst>
          </p:cNvPr>
          <p:cNvSpPr txBox="1">
            <a:spLocks noChangeArrowheads="1"/>
          </p:cNvSpPr>
          <p:nvPr/>
        </p:nvSpPr>
        <p:spPr bwMode="auto">
          <a:xfrm>
            <a:off x="1981200" y="6262688"/>
            <a:ext cx="3962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b="1"/>
              <a:t>Traditional Learning Framework</a:t>
            </a:r>
          </a:p>
        </p:txBody>
      </p:sp>
      <p:sp>
        <p:nvSpPr>
          <p:cNvPr id="63495" name="Text Box 10">
            <a:extLst>
              <a:ext uri="{FF2B5EF4-FFF2-40B4-BE49-F238E27FC236}">
                <a16:creationId xmlns:a16="http://schemas.microsoft.com/office/drawing/2014/main" id="{A4C60749-D5D0-FCA9-125E-D60E402C2442}"/>
              </a:ext>
            </a:extLst>
          </p:cNvPr>
          <p:cNvSpPr txBox="1">
            <a:spLocks noChangeArrowheads="1"/>
          </p:cNvSpPr>
          <p:nvPr/>
        </p:nvSpPr>
        <p:spPr bwMode="auto">
          <a:xfrm>
            <a:off x="6705600" y="6262688"/>
            <a:ext cx="3657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en-US" b="1"/>
              <a:t>Transfer Learning Framework</a:t>
            </a:r>
          </a:p>
        </p:txBody>
      </p:sp>
      <p:graphicFrame>
        <p:nvGraphicFramePr>
          <p:cNvPr id="63496" name="Object 11">
            <a:extLst>
              <a:ext uri="{FF2B5EF4-FFF2-40B4-BE49-F238E27FC236}">
                <a16:creationId xmlns:a16="http://schemas.microsoft.com/office/drawing/2014/main" id="{9F0E2A4D-D027-845D-1E31-676C03E8A3F1}"/>
              </a:ext>
            </a:extLst>
          </p:cNvPr>
          <p:cNvGraphicFramePr>
            <a:graphicFrameLocks noGrp="1" noChangeAspect="1"/>
          </p:cNvGraphicFramePr>
          <p:nvPr>
            <p:ph sz="quarter" idx="3"/>
          </p:nvPr>
        </p:nvGraphicFramePr>
        <p:xfrm>
          <a:off x="5943600" y="3616326"/>
          <a:ext cx="4762500" cy="2708275"/>
        </p:xfrm>
        <a:graphic>
          <a:graphicData uri="http://schemas.openxmlformats.org/presentationml/2006/ole">
            <mc:AlternateContent xmlns:mc="http://schemas.openxmlformats.org/markup-compatibility/2006">
              <mc:Choice xmlns:v="urn:schemas-microsoft-com:vml" Requires="v">
                <p:oleObj name="SmartDraw" r:id="rId5" imgW="24434800" imgH="13893800" progId="SmartDraw.2">
                  <p:embed/>
                </p:oleObj>
              </mc:Choice>
              <mc:Fallback>
                <p:oleObj name="SmartDraw" r:id="rId5" imgW="24434800" imgH="13893800" progId="SmartDraw.2">
                  <p:embed/>
                  <p:pic>
                    <p:nvPicPr>
                      <p:cNvPr id="63496" name="Object 11">
                        <a:extLst>
                          <a:ext uri="{FF2B5EF4-FFF2-40B4-BE49-F238E27FC236}">
                            <a16:creationId xmlns:a16="http://schemas.microsoft.com/office/drawing/2014/main" id="{9F0E2A4D-D027-845D-1E31-676C03E8A3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3616326"/>
                        <a:ext cx="47625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Slide Number Placeholder 1">
            <a:extLst>
              <a:ext uri="{FF2B5EF4-FFF2-40B4-BE49-F238E27FC236}">
                <a16:creationId xmlns:a16="http://schemas.microsoft.com/office/drawing/2014/main" id="{6030D918-F562-972F-78EB-0CAE3A5FDEE3}"/>
              </a:ext>
            </a:extLst>
          </p:cNvPr>
          <p:cNvSpPr>
            <a:spLocks noGrp="1"/>
          </p:cNvSpPr>
          <p:nvPr>
            <p:ph type="sldNum" sz="quarter" idx="12"/>
          </p:nvPr>
        </p:nvSpPr>
        <p:spPr/>
        <p:txBody>
          <a:bodyPr/>
          <a:lstStyle/>
          <a:p>
            <a:fld id="{D7A0510B-FE2B-8E40-82B8-38A5E776FA58}" type="slidenum">
              <a:rPr lang="en-US" altLang="en-US" smtClean="0"/>
              <a:pPr/>
              <a:t>70</a:t>
            </a:fld>
            <a:endParaRPr lang="en-US" altLang="en-US"/>
          </a:p>
        </p:txBody>
      </p:sp>
    </p:spTree>
  </p:cSld>
  <p:clrMapOvr>
    <a:masterClrMapping/>
  </p:clrMapOvr>
  <p:transition>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31BD430D-2046-2BAD-7939-FBFBFAA2DBD1}"/>
              </a:ext>
            </a:extLst>
          </p:cNvPr>
          <p:cNvSpPr>
            <a:spLocks noGrp="1" noChangeArrowheads="1"/>
          </p:cNvSpPr>
          <p:nvPr>
            <p:ph type="title"/>
          </p:nvPr>
        </p:nvSpPr>
        <p:spPr>
          <a:xfrm>
            <a:off x="1371600" y="304800"/>
            <a:ext cx="9372600" cy="609600"/>
          </a:xfrm>
        </p:spPr>
        <p:txBody>
          <a:bodyPr/>
          <a:lstStyle/>
          <a:p>
            <a:r>
              <a:rPr lang="en-US" altLang="en-US" sz="3200"/>
              <a:t>Transfer Learning: Methods and Applications</a:t>
            </a:r>
          </a:p>
        </p:txBody>
      </p:sp>
      <p:sp>
        <p:nvSpPr>
          <p:cNvPr id="64515" name="Rectangle 3">
            <a:extLst>
              <a:ext uri="{FF2B5EF4-FFF2-40B4-BE49-F238E27FC236}">
                <a16:creationId xmlns:a16="http://schemas.microsoft.com/office/drawing/2014/main" id="{26DC5DBB-5485-AFB8-A052-1E767187838E}"/>
              </a:ext>
            </a:extLst>
          </p:cNvPr>
          <p:cNvSpPr>
            <a:spLocks noGrp="1" noChangeArrowheads="1"/>
          </p:cNvSpPr>
          <p:nvPr>
            <p:ph type="body" idx="1"/>
          </p:nvPr>
        </p:nvSpPr>
        <p:spPr>
          <a:xfrm>
            <a:off x="1676400" y="1371600"/>
            <a:ext cx="8839200" cy="5105400"/>
          </a:xfrm>
        </p:spPr>
        <p:txBody>
          <a:bodyPr>
            <a:normAutofit lnSpcReduction="10000"/>
          </a:bodyPr>
          <a:lstStyle/>
          <a:p>
            <a:pPr>
              <a:lnSpc>
                <a:spcPct val="90000"/>
              </a:lnSpc>
            </a:pPr>
            <a:r>
              <a:rPr lang="en-US" altLang="en-US" sz="2000"/>
              <a:t>Applications: Especially useful when data is outdated or distribution changes, e.g., Web document classification, e-mail spam filtering</a:t>
            </a:r>
          </a:p>
          <a:p>
            <a:pPr>
              <a:lnSpc>
                <a:spcPct val="90000"/>
              </a:lnSpc>
            </a:pPr>
            <a:r>
              <a:rPr lang="en-US" altLang="en-US" sz="2000" i="1"/>
              <a:t>Instance-based transfer learning</a:t>
            </a:r>
            <a:r>
              <a:rPr lang="en-US" altLang="en-US" sz="2000"/>
              <a:t>:  Reweight some of the data from source tasks and use it to learn the target task</a:t>
            </a:r>
          </a:p>
          <a:p>
            <a:pPr>
              <a:lnSpc>
                <a:spcPct val="90000"/>
              </a:lnSpc>
            </a:pPr>
            <a:r>
              <a:rPr lang="en-US" altLang="en-US" sz="2000"/>
              <a:t>TrAdaBoost (Transfer AdaBoost)</a:t>
            </a:r>
          </a:p>
          <a:p>
            <a:pPr lvl="1">
              <a:lnSpc>
                <a:spcPct val="90000"/>
              </a:lnSpc>
            </a:pPr>
            <a:r>
              <a:rPr lang="en-US" altLang="en-US" sz="2000"/>
              <a:t>Assume source and target data each described by the same set of attributes (features) &amp; class labels, but rather diff. distributions</a:t>
            </a:r>
          </a:p>
          <a:p>
            <a:pPr lvl="1">
              <a:lnSpc>
                <a:spcPct val="90000"/>
              </a:lnSpc>
            </a:pPr>
            <a:r>
              <a:rPr lang="en-US" altLang="en-US" sz="2000"/>
              <a:t>Require only labeling a small amount of target data</a:t>
            </a:r>
          </a:p>
          <a:p>
            <a:pPr lvl="1">
              <a:lnSpc>
                <a:spcPct val="90000"/>
              </a:lnSpc>
            </a:pPr>
            <a:r>
              <a:rPr lang="en-US" altLang="en-US" sz="2000"/>
              <a:t>Use source data in training: When a source tuple is misclassified, reduce the weight of such tupels so that they will have less effect on the subsequent classifier</a:t>
            </a:r>
          </a:p>
          <a:p>
            <a:pPr>
              <a:lnSpc>
                <a:spcPct val="90000"/>
              </a:lnSpc>
            </a:pPr>
            <a:r>
              <a:rPr lang="en-US" altLang="en-US" sz="2000"/>
              <a:t>Research issues</a:t>
            </a:r>
          </a:p>
          <a:p>
            <a:pPr lvl="1">
              <a:lnSpc>
                <a:spcPct val="90000"/>
              </a:lnSpc>
            </a:pPr>
            <a:r>
              <a:rPr lang="en-US" altLang="en-US" sz="2000"/>
              <a:t>Negative transfer: When it performs worse than no transfer at all</a:t>
            </a:r>
          </a:p>
          <a:p>
            <a:pPr lvl="1">
              <a:lnSpc>
                <a:spcPct val="90000"/>
              </a:lnSpc>
            </a:pPr>
            <a:r>
              <a:rPr lang="en-US" altLang="en-US" sz="2000"/>
              <a:t>Heterogeneous transfer learning: Transfer knowledge from different feature space or multiple source domains</a:t>
            </a:r>
          </a:p>
          <a:p>
            <a:pPr lvl="1">
              <a:lnSpc>
                <a:spcPct val="90000"/>
              </a:lnSpc>
            </a:pPr>
            <a:r>
              <a:rPr lang="en-US" altLang="en-US" sz="2000"/>
              <a:t>Large-scale transfer learning</a:t>
            </a:r>
          </a:p>
        </p:txBody>
      </p:sp>
      <p:sp>
        <p:nvSpPr>
          <p:cNvPr id="64516" name="Slide Number Placeholder 6">
            <a:extLst>
              <a:ext uri="{FF2B5EF4-FFF2-40B4-BE49-F238E27FC236}">
                <a16:creationId xmlns:a16="http://schemas.microsoft.com/office/drawing/2014/main" id="{4A7785C1-30D4-69A2-6D3E-27536493C722}"/>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6FF9C5B6-DCFF-6547-BDB5-3645591FF8FA}" type="slidenum">
              <a:rPr lang="en-US" altLang="en-US" sz="1200" b="1"/>
              <a:pPr algn="r" eaLnBrk="1" hangingPunct="1"/>
              <a:t>71</a:t>
            </a:fld>
            <a:endParaRPr lang="en-US" altLang="en-US" sz="1200" b="1"/>
          </a:p>
        </p:txBody>
      </p:sp>
      <p:sp>
        <p:nvSpPr>
          <p:cNvPr id="2" name="Slide Number Placeholder 1">
            <a:extLst>
              <a:ext uri="{FF2B5EF4-FFF2-40B4-BE49-F238E27FC236}">
                <a16:creationId xmlns:a16="http://schemas.microsoft.com/office/drawing/2014/main" id="{E8DE2AF2-7730-D044-B745-672D95ADF732}"/>
              </a:ext>
            </a:extLst>
          </p:cNvPr>
          <p:cNvSpPr>
            <a:spLocks noGrp="1"/>
          </p:cNvSpPr>
          <p:nvPr>
            <p:ph type="sldNum" sz="quarter" idx="12"/>
          </p:nvPr>
        </p:nvSpPr>
        <p:spPr/>
        <p:txBody>
          <a:bodyPr/>
          <a:lstStyle/>
          <a:p>
            <a:fld id="{C3CACD4E-8C52-004E-9A96-AD0BCBF3CA39}" type="slidenum">
              <a:rPr lang="en-US" smtClean="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5B1F0D2-9F5A-4BBF-A0A7-5A3A991C7D0A}"/>
              </a:ext>
            </a:extLst>
          </p:cNvPr>
          <p:cNvSpPr>
            <a:spLocks noGrp="1" noChangeArrowheads="1"/>
          </p:cNvSpPr>
          <p:nvPr>
            <p:ph type="title"/>
          </p:nvPr>
        </p:nvSpPr>
        <p:spPr/>
        <p:txBody>
          <a:bodyPr/>
          <a:lstStyle/>
          <a:p>
            <a:r>
              <a:rPr lang="en-US" altLang="en-US" dirty="0"/>
              <a:t>Ensemble Methods</a:t>
            </a:r>
          </a:p>
        </p:txBody>
      </p:sp>
      <p:sp>
        <p:nvSpPr>
          <p:cNvPr id="6147" name="Rectangle 3">
            <a:extLst>
              <a:ext uri="{FF2B5EF4-FFF2-40B4-BE49-F238E27FC236}">
                <a16:creationId xmlns:a16="http://schemas.microsoft.com/office/drawing/2014/main" id="{71C89AE9-2F86-4419-BB4E-E4AE6E2327DD}"/>
              </a:ext>
            </a:extLst>
          </p:cNvPr>
          <p:cNvSpPr>
            <a:spLocks noGrp="1" noChangeArrowheads="1"/>
          </p:cNvSpPr>
          <p:nvPr>
            <p:ph type="body" idx="1"/>
          </p:nvPr>
        </p:nvSpPr>
        <p:spPr/>
        <p:txBody>
          <a:bodyPr/>
          <a:lstStyle/>
          <a:p>
            <a:r>
              <a:rPr lang="en-US" altLang="en-US"/>
              <a:t>Construct a set of base classifiers learned from the training data</a:t>
            </a:r>
          </a:p>
          <a:p>
            <a:endParaRPr lang="en-US" altLang="en-US"/>
          </a:p>
          <a:p>
            <a:r>
              <a:rPr lang="en-US" altLang="en-US"/>
              <a:t>Predict class label of test records by combining the predictions made by multiple classifiers (e.g., by taking majority vote)</a:t>
            </a:r>
          </a:p>
        </p:txBody>
      </p:sp>
      <p:sp>
        <p:nvSpPr>
          <p:cNvPr id="5" name="Slide Number Placeholder 4">
            <a:extLst>
              <a:ext uri="{FF2B5EF4-FFF2-40B4-BE49-F238E27FC236}">
                <a16:creationId xmlns:a16="http://schemas.microsoft.com/office/drawing/2014/main" id="{1165C96F-E04B-ADB6-410D-F87938BB0148}"/>
              </a:ext>
            </a:extLst>
          </p:cNvPr>
          <p:cNvSpPr>
            <a:spLocks noGrp="1"/>
          </p:cNvSpPr>
          <p:nvPr>
            <p:ph type="sldNum" sz="quarter" idx="12"/>
          </p:nvPr>
        </p:nvSpPr>
        <p:spPr/>
        <p:txBody>
          <a:bodyPr/>
          <a:lstStyle/>
          <a:p>
            <a:fld id="{C3CACD4E-8C52-004E-9A96-AD0BCBF3CA39}" type="slidenum">
              <a:rPr lang="en-US" smtClean="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65C3339-41A0-41C4-9773-3785BC5EF970}"/>
              </a:ext>
            </a:extLst>
          </p:cNvPr>
          <p:cNvSpPr>
            <a:spLocks noGrp="1" noChangeArrowheads="1"/>
          </p:cNvSpPr>
          <p:nvPr>
            <p:ph type="title"/>
          </p:nvPr>
        </p:nvSpPr>
        <p:spPr/>
        <p:txBody>
          <a:bodyPr/>
          <a:lstStyle/>
          <a:p>
            <a:r>
              <a:rPr lang="en-US" altLang="en-US" sz="2800"/>
              <a:t>Example: Why Do Ensemble Methods Work?</a:t>
            </a:r>
          </a:p>
        </p:txBody>
      </p:sp>
      <p:pic>
        <p:nvPicPr>
          <p:cNvPr id="8195" name="Rectangle 3">
            <a:extLst>
              <a:ext uri="{FF2B5EF4-FFF2-40B4-BE49-F238E27FC236}">
                <a16:creationId xmlns:a16="http://schemas.microsoft.com/office/drawing/2014/main" id="{69A20DE4-0B8B-4B99-A87D-020BBB71EF0E}"/>
              </a:ext>
            </a:extLst>
          </p:cNvPr>
          <p:cNvPicPr>
            <a:picLocks noGrp="1" noRot="1" noChangeAspect="1" noMove="1" noResize="1" noEditPoints="1" noAdjustHandles="1" noChangeArrowheads="1"/>
          </p:cNvPicPr>
          <p:nvPr>
            <p:ph type="body" sz="half" idx="1"/>
          </p:nvPr>
        </p:nvPicPr>
        <p:blipFill>
          <a:blip r:embed="rId2">
            <a:extLst>
              <a:ext uri="{28A0092B-C50C-407E-A947-70E740481C1C}">
                <a14:useLocalDpi xmlns:a14="http://schemas.microsoft.com/office/drawing/2010/main" val="0"/>
              </a:ext>
            </a:extLst>
          </a:blip>
          <a:srcRect/>
          <a:stretch>
            <a:fillRect/>
          </a:stretch>
        </p:blipFill>
        <p:spPr>
          <a:xfrm>
            <a:off x="1879600" y="1130300"/>
            <a:ext cx="8407400" cy="5194300"/>
          </a:xfrm>
        </p:spPr>
      </p:pic>
      <p:pic>
        <p:nvPicPr>
          <p:cNvPr id="7" name="Picture 6">
            <a:extLst>
              <a:ext uri="{FF2B5EF4-FFF2-40B4-BE49-F238E27FC236}">
                <a16:creationId xmlns:a16="http://schemas.microsoft.com/office/drawing/2014/main" id="{BD6D6FA5-9C77-4143-9A4E-94401FF28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4239" y="5105400"/>
            <a:ext cx="54768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519CCD75-7C80-530C-803C-4E9AC88BC3A5}"/>
              </a:ext>
            </a:extLst>
          </p:cNvPr>
          <p:cNvSpPr>
            <a:spLocks noGrp="1"/>
          </p:cNvSpPr>
          <p:nvPr>
            <p:ph type="sldNum" sz="quarter" idx="12"/>
          </p:nvPr>
        </p:nvSpPr>
        <p:spPr/>
        <p:txBody>
          <a:bodyPr/>
          <a:lstStyle/>
          <a:p>
            <a:fld id="{C4A3972B-046A-7B4E-8ACB-D94E6385DD27}" type="slidenum">
              <a:rPr lang="en-US" altLang="en-US" smtClean="0"/>
              <a:pPr/>
              <a:t>73</a:t>
            </a:fld>
            <a:endParaRPr lang="en-US"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3986E40-BDFB-4C73-B450-6B4C8B860B15}"/>
              </a:ext>
            </a:extLst>
          </p:cNvPr>
          <p:cNvSpPr>
            <a:spLocks noGrp="1" noChangeArrowheads="1"/>
          </p:cNvSpPr>
          <p:nvPr>
            <p:ph type="title"/>
          </p:nvPr>
        </p:nvSpPr>
        <p:spPr/>
        <p:txBody>
          <a:bodyPr/>
          <a:lstStyle/>
          <a:p>
            <a:r>
              <a:rPr lang="en-US" altLang="en-US" sz="2800"/>
              <a:t>Necessary Conditions for Ensemble Methods</a:t>
            </a:r>
          </a:p>
        </p:txBody>
      </p:sp>
      <p:sp>
        <p:nvSpPr>
          <p:cNvPr id="9219" name="Rectangle 3">
            <a:extLst>
              <a:ext uri="{FF2B5EF4-FFF2-40B4-BE49-F238E27FC236}">
                <a16:creationId xmlns:a16="http://schemas.microsoft.com/office/drawing/2014/main" id="{DFA4EC1F-C8DF-4052-B7EE-8744BA235330}"/>
              </a:ext>
            </a:extLst>
          </p:cNvPr>
          <p:cNvSpPr>
            <a:spLocks noGrp="1" noChangeArrowheads="1"/>
          </p:cNvSpPr>
          <p:nvPr>
            <p:ph type="body" sz="half" idx="1"/>
          </p:nvPr>
        </p:nvSpPr>
        <p:spPr>
          <a:xfrm>
            <a:off x="1676400" y="1143000"/>
            <a:ext cx="8839200" cy="5181600"/>
          </a:xfrm>
        </p:spPr>
        <p:txBody>
          <a:bodyPr/>
          <a:lstStyle/>
          <a:p>
            <a:r>
              <a:rPr lang="en-US" altLang="en-US" sz="2400"/>
              <a:t>Ensemble Methods work better than a single base classifier if:</a:t>
            </a:r>
          </a:p>
          <a:p>
            <a:pPr marL="965200" lvl="1" indent="-457200">
              <a:buFont typeface="Tahoma" panose="020B0604030504040204" pitchFamily="34" charset="0"/>
              <a:buAutoNum type="arabicPeriod"/>
            </a:pPr>
            <a:r>
              <a:rPr lang="en-US" altLang="en-US"/>
              <a:t>All base classifiers are independent of each other</a:t>
            </a:r>
          </a:p>
          <a:p>
            <a:pPr marL="965200" lvl="1" indent="-457200">
              <a:buFont typeface="Tahoma" panose="020B0604030504040204" pitchFamily="34" charset="0"/>
              <a:buAutoNum type="arabicPeriod"/>
            </a:pPr>
            <a:r>
              <a:rPr lang="en-US" altLang="en-US"/>
              <a:t>All base classifiers perform better than random guessing (error rate &lt; 0.5 for binary classification)</a:t>
            </a:r>
          </a:p>
          <a:p>
            <a:pPr marL="965200" lvl="1" indent="-457200">
              <a:buFont typeface="Tahoma" panose="020B0604030504040204" pitchFamily="34" charset="0"/>
              <a:buAutoNum type="arabicPeriod"/>
            </a:pPr>
            <a:endParaRPr lang="en-US" altLang="en-US"/>
          </a:p>
          <a:p>
            <a:endParaRPr lang="en-US" altLang="en-US" sz="2400"/>
          </a:p>
        </p:txBody>
      </p:sp>
      <p:pic>
        <p:nvPicPr>
          <p:cNvPr id="9220" name="Picture 6">
            <a:extLst>
              <a:ext uri="{FF2B5EF4-FFF2-40B4-BE49-F238E27FC236}">
                <a16:creationId xmlns:a16="http://schemas.microsoft.com/office/drawing/2014/main" id="{514BBE49-D5CB-4CE0-96B4-294DB21CF0E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743200" y="3124200"/>
            <a:ext cx="4083050" cy="3062288"/>
          </a:xfrm>
          <a:noFill/>
        </p:spPr>
      </p:pic>
      <p:sp>
        <p:nvSpPr>
          <p:cNvPr id="9222" name="TextBox 4">
            <a:extLst>
              <a:ext uri="{FF2B5EF4-FFF2-40B4-BE49-F238E27FC236}">
                <a16:creationId xmlns:a16="http://schemas.microsoft.com/office/drawing/2014/main" id="{9A6366A3-EDDE-4507-9712-D8A580F23EDC}"/>
              </a:ext>
            </a:extLst>
          </p:cNvPr>
          <p:cNvSpPr txBox="1">
            <a:spLocks noChangeArrowheads="1"/>
          </p:cNvSpPr>
          <p:nvPr/>
        </p:nvSpPr>
        <p:spPr bwMode="auto">
          <a:xfrm>
            <a:off x="7162800" y="3886201"/>
            <a:ext cx="32004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r>
              <a:rPr lang="en-US" altLang="en-US" sz="1600"/>
              <a:t>Classification error for an ensemble of 25 base classifiers, assuming their errors are uncorrelated. </a:t>
            </a:r>
          </a:p>
        </p:txBody>
      </p:sp>
      <p:sp>
        <p:nvSpPr>
          <p:cNvPr id="5" name="Slide Number Placeholder 4">
            <a:extLst>
              <a:ext uri="{FF2B5EF4-FFF2-40B4-BE49-F238E27FC236}">
                <a16:creationId xmlns:a16="http://schemas.microsoft.com/office/drawing/2014/main" id="{0932E39B-166A-32A3-16A8-02F1F1C6D92D}"/>
              </a:ext>
            </a:extLst>
          </p:cNvPr>
          <p:cNvSpPr>
            <a:spLocks noGrp="1"/>
          </p:cNvSpPr>
          <p:nvPr>
            <p:ph type="sldNum" sz="quarter" idx="12"/>
          </p:nvPr>
        </p:nvSpPr>
        <p:spPr/>
        <p:txBody>
          <a:bodyPr/>
          <a:lstStyle/>
          <a:p>
            <a:fld id="{C4A3972B-046A-7B4E-8ACB-D94E6385DD27}" type="slidenum">
              <a:rPr lang="en-US" altLang="en-US" smtClean="0"/>
              <a:pPr/>
              <a:t>74</a:t>
            </a:fld>
            <a:endParaRPr lang="en-US" altLang="en-US"/>
          </a:p>
        </p:txBody>
      </p:sp>
    </p:spTree>
  </p:cSld>
  <p:clrMapOvr>
    <a:masterClrMapping/>
  </p:clrMapOvr>
  <p:transition>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F4B0C44D-5683-46A4-A364-AC91BD3FFD21}"/>
              </a:ext>
            </a:extLst>
          </p:cNvPr>
          <p:cNvSpPr>
            <a:spLocks noGrp="1" noChangeArrowheads="1"/>
          </p:cNvSpPr>
          <p:nvPr>
            <p:ph type="title"/>
          </p:nvPr>
        </p:nvSpPr>
        <p:spPr/>
        <p:txBody>
          <a:bodyPr/>
          <a:lstStyle/>
          <a:p>
            <a:r>
              <a:rPr lang="en-US" altLang="en-US"/>
              <a:t>Rationale for Ensemble Learning</a:t>
            </a:r>
          </a:p>
        </p:txBody>
      </p:sp>
      <p:sp>
        <p:nvSpPr>
          <p:cNvPr id="10243" name="Content Placeholder 2">
            <a:extLst>
              <a:ext uri="{FF2B5EF4-FFF2-40B4-BE49-F238E27FC236}">
                <a16:creationId xmlns:a16="http://schemas.microsoft.com/office/drawing/2014/main" id="{7851C7A2-7205-4908-A040-4FBDFB97C200}"/>
              </a:ext>
            </a:extLst>
          </p:cNvPr>
          <p:cNvSpPr>
            <a:spLocks noGrp="1" noChangeArrowheads="1"/>
          </p:cNvSpPr>
          <p:nvPr>
            <p:ph idx="1"/>
          </p:nvPr>
        </p:nvSpPr>
        <p:spPr>
          <a:xfrm>
            <a:off x="1905000" y="1174750"/>
            <a:ext cx="8280400" cy="5181600"/>
          </a:xfrm>
        </p:spPr>
        <p:txBody>
          <a:bodyPr/>
          <a:lstStyle/>
          <a:p>
            <a:r>
              <a:rPr lang="en-US" altLang="en-US" dirty="0"/>
              <a:t>Ensemble Methods work best with </a:t>
            </a:r>
            <a:r>
              <a:rPr lang="en-US" altLang="en-US" b="1" dirty="0"/>
              <a:t>unstable</a:t>
            </a:r>
            <a:r>
              <a:rPr lang="en-US" altLang="en-US" dirty="0"/>
              <a:t> </a:t>
            </a:r>
            <a:r>
              <a:rPr lang="en-US" altLang="en-US" b="1" dirty="0"/>
              <a:t>base classifiers</a:t>
            </a:r>
          </a:p>
          <a:p>
            <a:pPr lvl="1"/>
            <a:r>
              <a:rPr lang="en-US" altLang="en-US" dirty="0"/>
              <a:t>Classifiers that are sensitive to minor perturbations in training set, due to </a:t>
            </a:r>
            <a:r>
              <a:rPr lang="en-US" altLang="en-US" i="1" dirty="0"/>
              <a:t>high model complexity</a:t>
            </a:r>
          </a:p>
          <a:p>
            <a:pPr lvl="1"/>
            <a:r>
              <a:rPr lang="en-US" altLang="en-US" dirty="0"/>
              <a:t>Examples: Unpruned decision trees, ANNs, …</a:t>
            </a:r>
          </a:p>
          <a:p>
            <a:pPr lvl="1"/>
            <a:endParaRPr lang="en-US" altLang="en-US" dirty="0"/>
          </a:p>
        </p:txBody>
      </p:sp>
      <p:sp>
        <p:nvSpPr>
          <p:cNvPr id="4" name="Slide Number Placeholder 3">
            <a:extLst>
              <a:ext uri="{FF2B5EF4-FFF2-40B4-BE49-F238E27FC236}">
                <a16:creationId xmlns:a16="http://schemas.microsoft.com/office/drawing/2014/main" id="{634FC98D-9E0F-4259-13A5-928CE43B9BC7}"/>
              </a:ext>
            </a:extLst>
          </p:cNvPr>
          <p:cNvSpPr>
            <a:spLocks noGrp="1"/>
          </p:cNvSpPr>
          <p:nvPr>
            <p:ph type="sldNum" sz="quarter" idx="12"/>
          </p:nvPr>
        </p:nvSpPr>
        <p:spPr/>
        <p:txBody>
          <a:bodyPr/>
          <a:lstStyle/>
          <a:p>
            <a:fld id="{C3CACD4E-8C52-004E-9A96-AD0BCBF3CA39}" type="slidenum">
              <a:rPr lang="en-US" smtClean="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A24A3D2-153C-417A-9747-EC9DD9274BC5}"/>
              </a:ext>
            </a:extLst>
          </p:cNvPr>
          <p:cNvSpPr>
            <a:spLocks noGrp="1" noChangeArrowheads="1"/>
          </p:cNvSpPr>
          <p:nvPr>
            <p:ph type="title"/>
          </p:nvPr>
        </p:nvSpPr>
        <p:spPr/>
        <p:txBody>
          <a:bodyPr/>
          <a:lstStyle/>
          <a:p>
            <a:r>
              <a:rPr lang="en-US" altLang="en-US"/>
              <a:t>Bias-Variance Decomposition</a:t>
            </a:r>
          </a:p>
        </p:txBody>
      </p:sp>
      <mc:AlternateContent xmlns:mc="http://schemas.openxmlformats.org/markup-compatibility/2006" xmlns:a14="http://schemas.microsoft.com/office/drawing/2010/main">
        <mc:Choice Requires="a14">
          <p:sp>
            <p:nvSpPr>
              <p:cNvPr id="11267" name="Content Placeholder 2">
                <a:extLst>
                  <a:ext uri="{FF2B5EF4-FFF2-40B4-BE49-F238E27FC236}">
                    <a16:creationId xmlns:a16="http://schemas.microsoft.com/office/drawing/2014/main" id="{5026013A-4F88-480C-99A7-0591A9A97209}"/>
                  </a:ext>
                </a:extLst>
              </p:cNvPr>
              <p:cNvSpPr>
                <a:spLocks noGrp="1" noChangeArrowheads="1"/>
              </p:cNvSpPr>
              <p:nvPr>
                <p:ph idx="1"/>
              </p:nvPr>
            </p:nvSpPr>
            <p:spPr/>
            <p:txBody>
              <a:bodyPr>
                <a:normAutofit lnSpcReduction="10000"/>
              </a:bodyPr>
              <a:lstStyle/>
              <a:p>
                <a:r>
                  <a:rPr lang="en-US" altLang="en-US" sz="2400" dirty="0"/>
                  <a:t>Analogous problem of reaching a target y by firing projectiles from x (regression problem)</a:t>
                </a:r>
              </a:p>
              <a:p>
                <a:endParaRPr lang="en-US" altLang="en-US" sz="2400" dirty="0"/>
              </a:p>
              <a:p>
                <a:endParaRPr lang="en-US" altLang="en-US" sz="2400" dirty="0"/>
              </a:p>
              <a:p>
                <a:endParaRPr lang="en-US" altLang="en-US" sz="2400" dirty="0"/>
              </a:p>
              <a:p>
                <a:endParaRPr lang="en-US" altLang="en-US" sz="2400" dirty="0"/>
              </a:p>
              <a:p>
                <a:endParaRPr lang="en-US" altLang="en-US" sz="2400" dirty="0"/>
              </a:p>
              <a:p>
                <a:endParaRPr lang="en-US" altLang="en-US" sz="2400" dirty="0"/>
              </a:p>
              <a:p>
                <a:r>
                  <a:rPr lang="en-US" altLang="en-US" sz="2400" dirty="0"/>
                  <a:t>For classification, the generalization error of model </a:t>
                </a:r>
                <a14:m>
                  <m:oMath xmlns:m="http://schemas.openxmlformats.org/officeDocument/2006/math">
                    <m:r>
                      <a:rPr lang="en-US" altLang="en-US" sz="2400" i="1">
                        <a:latin typeface="Cambria Math" panose="02040503050406030204" pitchFamily="18" charset="0"/>
                      </a:rPr>
                      <m:t>𝑚</m:t>
                    </m:r>
                  </m:oMath>
                </a14:m>
                <a:r>
                  <a:rPr lang="en-US" altLang="en-US" sz="2400" dirty="0"/>
                  <a:t> can be given by:</a:t>
                </a:r>
              </a:p>
              <a:p>
                <a:endParaRPr lang="en-US" altLang="en-US" sz="1000" dirty="0"/>
              </a:p>
              <a:p>
                <a:pPr marL="0" indent="0">
                  <a:buNone/>
                </a:pPr>
                <a14:m>
                  <m:oMathPara xmlns:m="http://schemas.openxmlformats.org/officeDocument/2006/math">
                    <m:oMathParaPr>
                      <m:jc m:val="centerGroup"/>
                    </m:oMathParaPr>
                    <m:oMath xmlns:m="http://schemas.openxmlformats.org/officeDocument/2006/math">
                      <m:r>
                        <a:rPr lang="en-US" altLang="en-US" sz="2400" i="1">
                          <a:latin typeface="Cambria Math" panose="02040503050406030204" pitchFamily="18" charset="0"/>
                        </a:rPr>
                        <m:t>𝑔𝑒𝑛</m:t>
                      </m:r>
                      <m:r>
                        <a:rPr lang="en-US" altLang="en-US" sz="2400" i="1">
                          <a:latin typeface="Cambria Math" panose="02040503050406030204" pitchFamily="18" charset="0"/>
                        </a:rPr>
                        <m:t>.</m:t>
                      </m:r>
                      <m:r>
                        <a:rPr lang="en-US" altLang="en-US" sz="2400" i="1">
                          <a:latin typeface="Cambria Math" panose="02040503050406030204" pitchFamily="18" charset="0"/>
                        </a:rPr>
                        <m:t>𝑒𝑟𝑟𝑜𝑟</m:t>
                      </m:r>
                      <m:d>
                        <m:dPr>
                          <m:ctrlPr>
                            <a:rPr lang="en-US" altLang="en-US" sz="2400" i="1">
                              <a:latin typeface="Cambria Math" panose="02040503050406030204" pitchFamily="18" charset="0"/>
                            </a:rPr>
                          </m:ctrlPr>
                        </m:dPr>
                        <m:e>
                          <m:r>
                            <a:rPr lang="en-US" altLang="en-US" sz="2400" i="1">
                              <a:latin typeface="Cambria Math" panose="02040503050406030204" pitchFamily="18" charset="0"/>
                            </a:rPr>
                            <m:t>𝑚</m:t>
                          </m:r>
                        </m:e>
                      </m:d>
                      <m:r>
                        <a:rPr lang="en-US" altLang="en-US" sz="2400" i="1">
                          <a:latin typeface="Cambria Math" panose="02040503050406030204" pitchFamily="18" charset="0"/>
                        </a:rPr>
                        <m:t>=</m:t>
                      </m:r>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𝑐</m:t>
                          </m:r>
                        </m:e>
                        <m:sub>
                          <m:r>
                            <a:rPr lang="en-US" altLang="en-US" sz="2400" i="1">
                              <a:latin typeface="Cambria Math" panose="02040503050406030204" pitchFamily="18" charset="0"/>
                            </a:rPr>
                            <m:t>1</m:t>
                          </m:r>
                        </m:sub>
                      </m:sSub>
                      <m:r>
                        <a:rPr lang="en-US" altLang="en-US" sz="2400" i="1">
                          <a:latin typeface="Cambria Math" panose="02040503050406030204" pitchFamily="18" charset="0"/>
                        </a:rPr>
                        <m:t>+</m:t>
                      </m:r>
                      <m:r>
                        <a:rPr lang="en-US" altLang="en-US" sz="2400" i="1">
                          <a:latin typeface="Cambria Math" panose="02040503050406030204" pitchFamily="18" charset="0"/>
                        </a:rPr>
                        <m:t>𝑏𝑖𝑎𝑠</m:t>
                      </m:r>
                      <m:d>
                        <m:dPr>
                          <m:ctrlPr>
                            <a:rPr lang="en-US" altLang="en-US" sz="2400" i="1">
                              <a:latin typeface="Cambria Math" panose="02040503050406030204" pitchFamily="18" charset="0"/>
                            </a:rPr>
                          </m:ctrlPr>
                        </m:dPr>
                        <m:e>
                          <m:r>
                            <a:rPr lang="en-US" altLang="en-US" sz="2400" i="1">
                              <a:latin typeface="Cambria Math" panose="02040503050406030204" pitchFamily="18" charset="0"/>
                            </a:rPr>
                            <m:t>𝑚</m:t>
                          </m:r>
                        </m:e>
                      </m:d>
                      <m:r>
                        <a:rPr lang="en-US" altLang="en-US" sz="2400" i="1">
                          <a:latin typeface="Cambria Math" panose="02040503050406030204" pitchFamily="18" charset="0"/>
                        </a:rPr>
                        <m:t>+</m:t>
                      </m:r>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𝑐</m:t>
                          </m:r>
                        </m:e>
                        <m:sub>
                          <m:r>
                            <a:rPr lang="en-US" altLang="en-US" sz="2400" i="1">
                              <a:latin typeface="Cambria Math" panose="02040503050406030204" pitchFamily="18" charset="0"/>
                            </a:rPr>
                            <m:t>2</m:t>
                          </m:r>
                        </m:sub>
                      </m:sSub>
                      <m:r>
                        <a:rPr lang="en-US" altLang="en-US" sz="2400" i="1">
                          <a:latin typeface="Cambria Math" panose="02040503050406030204" pitchFamily="18" charset="0"/>
                        </a:rPr>
                        <m:t>×</m:t>
                      </m:r>
                      <m:r>
                        <a:rPr lang="en-US" altLang="en-US" sz="2400" i="1">
                          <a:latin typeface="Cambria Math" panose="02040503050406030204" pitchFamily="18" charset="0"/>
                        </a:rPr>
                        <m:t>𝑣𝑎𝑟𝑖𝑎𝑛𝑐𝑒</m:t>
                      </m:r>
                      <m:r>
                        <a:rPr lang="en-US" altLang="en-US" sz="2400" i="1">
                          <a:latin typeface="Cambria Math" panose="02040503050406030204" pitchFamily="18" charset="0"/>
                        </a:rPr>
                        <m:t>(</m:t>
                      </m:r>
                      <m:r>
                        <a:rPr lang="en-US" altLang="en-US" sz="2400" i="1">
                          <a:latin typeface="Cambria Math" panose="02040503050406030204" pitchFamily="18" charset="0"/>
                        </a:rPr>
                        <m:t>𝑚</m:t>
                      </m:r>
                      <m:r>
                        <a:rPr lang="en-US" altLang="en-US" sz="2400" i="1">
                          <a:latin typeface="Cambria Math" panose="02040503050406030204" pitchFamily="18" charset="0"/>
                        </a:rPr>
                        <m:t>)</m:t>
                      </m:r>
                    </m:oMath>
                  </m:oMathPara>
                </a14:m>
                <a:endParaRPr lang="en-US" altLang="en-US" sz="2400" dirty="0"/>
              </a:p>
            </p:txBody>
          </p:sp>
        </mc:Choice>
        <mc:Fallback xmlns="">
          <p:sp>
            <p:nvSpPr>
              <p:cNvPr id="11267" name="Content Placeholder 2">
                <a:extLst>
                  <a:ext uri="{FF2B5EF4-FFF2-40B4-BE49-F238E27FC236}">
                    <a16:creationId xmlns:a16="http://schemas.microsoft.com/office/drawing/2014/main" id="{5026013A-4F88-480C-99A7-0591A9A97209}"/>
                  </a:ext>
                </a:extLst>
              </p:cNvPr>
              <p:cNvSpPr>
                <a:spLocks noGrp="1" noRot="1" noChangeAspect="1" noMove="1" noResize="1" noEditPoints="1" noAdjustHandles="1" noChangeArrowheads="1" noChangeShapeType="1" noTextEdit="1"/>
              </p:cNvSpPr>
              <p:nvPr>
                <p:ph idx="1"/>
              </p:nvPr>
            </p:nvSpPr>
            <p:spPr>
              <a:blipFill>
                <a:blip r:embed="rId2"/>
                <a:stretch>
                  <a:fillRect l="-844" t="-2616"/>
                </a:stretch>
              </a:blipFill>
            </p:spPr>
            <p:txBody>
              <a:bodyPr/>
              <a:lstStyle/>
              <a:p>
                <a:r>
                  <a:rPr lang="en-US">
                    <a:noFill/>
                  </a:rPr>
                  <a:t> </a:t>
                </a:r>
              </a:p>
            </p:txBody>
          </p:sp>
        </mc:Fallback>
      </mc:AlternateContent>
      <p:pic>
        <p:nvPicPr>
          <p:cNvPr id="11269" name="Picture 6">
            <a:extLst>
              <a:ext uri="{FF2B5EF4-FFF2-40B4-BE49-F238E27FC236}">
                <a16:creationId xmlns:a16="http://schemas.microsoft.com/office/drawing/2014/main" id="{DEDB8E34-F0C0-4287-A586-F6E639A490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214" y="2219325"/>
            <a:ext cx="722312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E185A711-CE60-1E07-8B1A-582D3ACF1B9E}"/>
              </a:ext>
            </a:extLst>
          </p:cNvPr>
          <p:cNvSpPr>
            <a:spLocks noGrp="1"/>
          </p:cNvSpPr>
          <p:nvPr>
            <p:ph type="sldNum" sz="quarter" idx="12"/>
          </p:nvPr>
        </p:nvSpPr>
        <p:spPr/>
        <p:txBody>
          <a:bodyPr/>
          <a:lstStyle/>
          <a:p>
            <a:fld id="{C3CACD4E-8C52-004E-9A96-AD0BCBF3CA39}" type="slidenum">
              <a:rPr lang="en-US" smtClean="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9609185C-C09E-42DA-9A93-583717B5D52F}"/>
              </a:ext>
            </a:extLst>
          </p:cNvPr>
          <p:cNvSpPr>
            <a:spLocks noGrp="1" noChangeArrowheads="1"/>
          </p:cNvSpPr>
          <p:nvPr>
            <p:ph type="title"/>
          </p:nvPr>
        </p:nvSpPr>
        <p:spPr/>
        <p:txBody>
          <a:bodyPr/>
          <a:lstStyle/>
          <a:p>
            <a:r>
              <a:rPr lang="en-US" altLang="en-US"/>
              <a:t>Bias-Variance Trade-off and Overfitting </a:t>
            </a:r>
          </a:p>
        </p:txBody>
      </p:sp>
      <p:sp>
        <p:nvSpPr>
          <p:cNvPr id="12291" name="Content Placeholder 2">
            <a:extLst>
              <a:ext uri="{FF2B5EF4-FFF2-40B4-BE49-F238E27FC236}">
                <a16:creationId xmlns:a16="http://schemas.microsoft.com/office/drawing/2014/main" id="{61B90608-EC45-43B3-BFAF-D0CC633F4C01}"/>
              </a:ext>
            </a:extLst>
          </p:cNvPr>
          <p:cNvSpPr>
            <a:spLocks noGrp="1" noChangeArrowheads="1"/>
          </p:cNvSpPr>
          <p:nvPr>
            <p:ph idx="1"/>
          </p:nvPr>
        </p:nvSpPr>
        <p:spPr>
          <a:xfrm>
            <a:off x="1866900" y="5140325"/>
            <a:ext cx="8318500" cy="1143000"/>
          </a:xfrm>
        </p:spPr>
        <p:txBody>
          <a:bodyPr/>
          <a:lstStyle/>
          <a:p>
            <a:r>
              <a:rPr lang="en-US" altLang="en-US" sz="2400"/>
              <a:t>Ensemble methods try to reduce the variance of complex models (with low bias) by </a:t>
            </a:r>
            <a:r>
              <a:rPr lang="en-US" altLang="en-US" sz="2400" i="1"/>
              <a:t>aggregating </a:t>
            </a:r>
            <a:r>
              <a:rPr lang="en-US" altLang="en-US" sz="2400"/>
              <a:t>responses of multiple base classifiers</a:t>
            </a:r>
          </a:p>
        </p:txBody>
      </p:sp>
      <p:pic>
        <p:nvPicPr>
          <p:cNvPr id="12293" name="Picture 6">
            <a:extLst>
              <a:ext uri="{FF2B5EF4-FFF2-40B4-BE49-F238E27FC236}">
                <a16:creationId xmlns:a16="http://schemas.microsoft.com/office/drawing/2014/main" id="{A7892FA9-2B7A-4D16-886E-1797799455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7387"/>
          <a:stretch>
            <a:fillRect/>
          </a:stretch>
        </p:blipFill>
        <p:spPr bwMode="auto">
          <a:xfrm>
            <a:off x="2286001" y="835026"/>
            <a:ext cx="7191375"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7">
            <a:extLst>
              <a:ext uri="{FF2B5EF4-FFF2-40B4-BE49-F238E27FC236}">
                <a16:creationId xmlns:a16="http://schemas.microsoft.com/office/drawing/2014/main" id="{01CFEFAB-44C9-4D76-89D2-4F041801CA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67" t="53481" r="-2167" b="8223"/>
          <a:stretch>
            <a:fillRect/>
          </a:stretch>
        </p:blipFill>
        <p:spPr bwMode="auto">
          <a:xfrm>
            <a:off x="2590801" y="2895600"/>
            <a:ext cx="71913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TextBox 8">
            <a:extLst>
              <a:ext uri="{FF2B5EF4-FFF2-40B4-BE49-F238E27FC236}">
                <a16:creationId xmlns:a16="http://schemas.microsoft.com/office/drawing/2014/main" id="{0E9F248A-63F2-4079-A10C-FA13D42F809A}"/>
              </a:ext>
            </a:extLst>
          </p:cNvPr>
          <p:cNvSpPr txBox="1">
            <a:spLocks noChangeArrowheads="1"/>
          </p:cNvSpPr>
          <p:nvPr/>
        </p:nvSpPr>
        <p:spPr bwMode="auto">
          <a:xfrm>
            <a:off x="2843213" y="4279900"/>
            <a:ext cx="14959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r>
              <a:rPr lang="en-US" altLang="en-US" sz="2000"/>
              <a:t>Underfitting</a:t>
            </a:r>
          </a:p>
        </p:txBody>
      </p:sp>
      <p:sp>
        <p:nvSpPr>
          <p:cNvPr id="12296" name="TextBox 10">
            <a:extLst>
              <a:ext uri="{FF2B5EF4-FFF2-40B4-BE49-F238E27FC236}">
                <a16:creationId xmlns:a16="http://schemas.microsoft.com/office/drawing/2014/main" id="{5094D364-7081-40AD-88FB-F0813BF7837B}"/>
              </a:ext>
            </a:extLst>
          </p:cNvPr>
          <p:cNvSpPr txBox="1">
            <a:spLocks noChangeArrowheads="1"/>
          </p:cNvSpPr>
          <p:nvPr/>
        </p:nvSpPr>
        <p:spPr bwMode="auto">
          <a:xfrm>
            <a:off x="2814638" y="2308225"/>
            <a:ext cx="13516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r>
              <a:rPr lang="en-US" altLang="en-US" sz="2000"/>
              <a:t>Overfitting</a:t>
            </a:r>
          </a:p>
        </p:txBody>
      </p:sp>
      <p:sp>
        <p:nvSpPr>
          <p:cNvPr id="4" name="Slide Number Placeholder 3">
            <a:extLst>
              <a:ext uri="{FF2B5EF4-FFF2-40B4-BE49-F238E27FC236}">
                <a16:creationId xmlns:a16="http://schemas.microsoft.com/office/drawing/2014/main" id="{7E6F1D56-B884-1F0F-69EA-9996C7304100}"/>
              </a:ext>
            </a:extLst>
          </p:cNvPr>
          <p:cNvSpPr>
            <a:spLocks noGrp="1"/>
          </p:cNvSpPr>
          <p:nvPr>
            <p:ph type="sldNum" sz="quarter" idx="12"/>
          </p:nvPr>
        </p:nvSpPr>
        <p:spPr/>
        <p:txBody>
          <a:bodyPr/>
          <a:lstStyle/>
          <a:p>
            <a:fld id="{C3CACD4E-8C52-004E-9A96-AD0BCBF3CA39}" type="slidenum">
              <a:rPr lang="en-US" smtClean="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B826B1C-E191-4B17-94A4-204D7E95AB57}"/>
              </a:ext>
            </a:extLst>
          </p:cNvPr>
          <p:cNvSpPr>
            <a:spLocks noGrp="1" noChangeArrowheads="1"/>
          </p:cNvSpPr>
          <p:nvPr>
            <p:ph type="title"/>
          </p:nvPr>
        </p:nvSpPr>
        <p:spPr>
          <a:xfrm>
            <a:off x="1752600" y="152400"/>
            <a:ext cx="8432800" cy="533400"/>
          </a:xfrm>
        </p:spPr>
        <p:txBody>
          <a:bodyPr>
            <a:normAutofit fontScale="90000"/>
          </a:bodyPr>
          <a:lstStyle/>
          <a:p>
            <a:r>
              <a:rPr lang="en-US" altLang="en-US"/>
              <a:t>General Approach of Ensemble Learning</a:t>
            </a:r>
          </a:p>
        </p:txBody>
      </p:sp>
      <p:pic>
        <p:nvPicPr>
          <p:cNvPr id="13316" name="Picture 6">
            <a:extLst>
              <a:ext uri="{FF2B5EF4-FFF2-40B4-BE49-F238E27FC236}">
                <a16:creationId xmlns:a16="http://schemas.microsoft.com/office/drawing/2014/main" id="{9A257B3B-C337-4D47-8C42-FB02E31D4A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990600"/>
            <a:ext cx="7224713"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7">
            <a:extLst>
              <a:ext uri="{FF2B5EF4-FFF2-40B4-BE49-F238E27FC236}">
                <a16:creationId xmlns:a16="http://schemas.microsoft.com/office/drawing/2014/main" id="{374BC95F-9831-470B-93A5-1C7C53FCB62A}"/>
              </a:ext>
            </a:extLst>
          </p:cNvPr>
          <p:cNvSpPr txBox="1">
            <a:spLocks noChangeArrowheads="1"/>
          </p:cNvSpPr>
          <p:nvPr/>
        </p:nvSpPr>
        <p:spPr bwMode="auto">
          <a:xfrm>
            <a:off x="6915150" y="4419600"/>
            <a:ext cx="312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en-US" sz="1800"/>
              <a:t>Using majority vote or weighted majority vote </a:t>
            </a:r>
          </a:p>
          <a:p>
            <a:pPr algn="ctr">
              <a:spcBef>
                <a:spcPct val="0"/>
              </a:spcBef>
              <a:spcAft>
                <a:spcPct val="0"/>
              </a:spcAft>
              <a:buClrTx/>
              <a:buSzTx/>
              <a:buFontTx/>
              <a:buNone/>
            </a:pPr>
            <a:r>
              <a:rPr lang="en-US" altLang="en-US" sz="1800"/>
              <a:t>(weighted according to their accuracy or relevance)</a:t>
            </a:r>
          </a:p>
        </p:txBody>
      </p:sp>
      <p:sp>
        <p:nvSpPr>
          <p:cNvPr id="5" name="Slide Number Placeholder 4">
            <a:extLst>
              <a:ext uri="{FF2B5EF4-FFF2-40B4-BE49-F238E27FC236}">
                <a16:creationId xmlns:a16="http://schemas.microsoft.com/office/drawing/2014/main" id="{BFDD8EFB-DB63-C62C-2E28-7E31F8D0281F}"/>
              </a:ext>
            </a:extLst>
          </p:cNvPr>
          <p:cNvSpPr>
            <a:spLocks noGrp="1"/>
          </p:cNvSpPr>
          <p:nvPr>
            <p:ph type="sldNum" sz="quarter" idx="12"/>
          </p:nvPr>
        </p:nvSpPr>
        <p:spPr/>
        <p:txBody>
          <a:bodyPr/>
          <a:lstStyle/>
          <a:p>
            <a:fld id="{C3CACD4E-8C52-004E-9A96-AD0BCBF3CA39}" type="slidenum">
              <a:rPr lang="en-US" smtClean="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5A7FBA3-7AD0-4A9C-947B-6CE14CEF64B5}"/>
              </a:ext>
            </a:extLst>
          </p:cNvPr>
          <p:cNvSpPr>
            <a:spLocks noGrp="1" noChangeArrowheads="1"/>
          </p:cNvSpPr>
          <p:nvPr>
            <p:ph type="title"/>
          </p:nvPr>
        </p:nvSpPr>
        <p:spPr/>
        <p:txBody>
          <a:bodyPr/>
          <a:lstStyle/>
          <a:p>
            <a:r>
              <a:rPr lang="en-US" altLang="en-US"/>
              <a:t>Constructing Ensemble Classifiers</a:t>
            </a:r>
          </a:p>
        </p:txBody>
      </p:sp>
      <p:sp>
        <p:nvSpPr>
          <p:cNvPr id="6147" name="Rectangle 3">
            <a:extLst>
              <a:ext uri="{FF2B5EF4-FFF2-40B4-BE49-F238E27FC236}">
                <a16:creationId xmlns:a16="http://schemas.microsoft.com/office/drawing/2014/main" id="{0DD13D8E-96D8-0C4F-AB84-90437D9ABF5E}"/>
              </a:ext>
            </a:extLst>
          </p:cNvPr>
          <p:cNvSpPr>
            <a:spLocks noGrp="1" noChangeArrowheads="1"/>
          </p:cNvSpPr>
          <p:nvPr>
            <p:ph type="body" idx="1"/>
          </p:nvPr>
        </p:nvSpPr>
        <p:spPr>
          <a:xfrm>
            <a:off x="1752601" y="1143000"/>
            <a:ext cx="8501063" cy="5181600"/>
          </a:xfrm>
        </p:spPr>
        <p:txBody>
          <a:bodyPr/>
          <a:lstStyle/>
          <a:p>
            <a:pPr marL="0" indent="0">
              <a:buNone/>
              <a:defRPr/>
            </a:pPr>
            <a:endParaRPr lang="en-US" altLang="en-US" dirty="0"/>
          </a:p>
          <a:p>
            <a:pPr>
              <a:lnSpc>
                <a:spcPct val="90000"/>
              </a:lnSpc>
              <a:defRPr/>
            </a:pPr>
            <a:r>
              <a:rPr lang="en-US" altLang="en-US" dirty="0"/>
              <a:t>By manipulating training set</a:t>
            </a:r>
          </a:p>
          <a:p>
            <a:pPr lvl="1">
              <a:lnSpc>
                <a:spcPct val="90000"/>
              </a:lnSpc>
              <a:defRPr/>
            </a:pPr>
            <a:r>
              <a:rPr lang="en-US" altLang="en-US" sz="2000" dirty="0"/>
              <a:t>Example: bagging, boosting, random forests</a:t>
            </a:r>
          </a:p>
          <a:p>
            <a:pPr>
              <a:lnSpc>
                <a:spcPct val="90000"/>
              </a:lnSpc>
              <a:defRPr/>
            </a:pPr>
            <a:endParaRPr lang="en-US" altLang="en-US" sz="1000" dirty="0"/>
          </a:p>
          <a:p>
            <a:pPr>
              <a:lnSpc>
                <a:spcPct val="90000"/>
              </a:lnSpc>
              <a:defRPr/>
            </a:pPr>
            <a:r>
              <a:rPr lang="en-US" altLang="en-US" dirty="0"/>
              <a:t>By manipulating input features</a:t>
            </a:r>
          </a:p>
          <a:p>
            <a:pPr lvl="1">
              <a:lnSpc>
                <a:spcPct val="90000"/>
              </a:lnSpc>
              <a:defRPr/>
            </a:pPr>
            <a:r>
              <a:rPr lang="en-US" altLang="en-US" sz="2000" dirty="0"/>
              <a:t>Example: random forests</a:t>
            </a:r>
          </a:p>
          <a:p>
            <a:pPr>
              <a:lnSpc>
                <a:spcPct val="90000"/>
              </a:lnSpc>
              <a:defRPr/>
            </a:pPr>
            <a:endParaRPr lang="en-US" altLang="en-US" sz="1000" dirty="0">
              <a:solidFill>
                <a:srgbClr val="000000"/>
              </a:solidFill>
            </a:endParaRPr>
          </a:p>
          <a:p>
            <a:pPr>
              <a:lnSpc>
                <a:spcPct val="90000"/>
              </a:lnSpc>
              <a:defRPr/>
            </a:pPr>
            <a:r>
              <a:rPr lang="en-US" altLang="en-US" dirty="0"/>
              <a:t>By manipulating class labels</a:t>
            </a:r>
          </a:p>
          <a:p>
            <a:pPr lvl="1">
              <a:lnSpc>
                <a:spcPct val="90000"/>
              </a:lnSpc>
              <a:defRPr/>
            </a:pPr>
            <a:r>
              <a:rPr lang="en-US" altLang="en-US" sz="2000" dirty="0"/>
              <a:t>Example: error-correcting output coding</a:t>
            </a:r>
          </a:p>
          <a:p>
            <a:pPr marL="457200" lvl="1" indent="0">
              <a:buNone/>
              <a:defRPr/>
            </a:pPr>
            <a:r>
              <a:rPr lang="en-US" altLang="en-US" sz="1000" dirty="0"/>
              <a:t> </a:t>
            </a:r>
            <a:endParaRPr lang="en-US" altLang="en-US" sz="1000" dirty="0">
              <a:solidFill>
                <a:srgbClr val="000000"/>
              </a:solidFill>
            </a:endParaRPr>
          </a:p>
          <a:p>
            <a:pPr>
              <a:lnSpc>
                <a:spcPct val="90000"/>
              </a:lnSpc>
              <a:defRPr/>
            </a:pPr>
            <a:r>
              <a:rPr lang="en-US" altLang="en-US" dirty="0"/>
              <a:t>By manipulating learning algorithm</a:t>
            </a:r>
          </a:p>
          <a:p>
            <a:pPr lvl="1">
              <a:lnSpc>
                <a:spcPct val="90000"/>
              </a:lnSpc>
              <a:defRPr/>
            </a:pPr>
            <a:r>
              <a:rPr lang="en-US" altLang="en-US" sz="2000" dirty="0"/>
              <a:t>Example: injecting randomness in the initial weights of  ANN</a:t>
            </a:r>
            <a:endParaRPr lang="en-US" altLang="en-US" dirty="0"/>
          </a:p>
        </p:txBody>
      </p:sp>
      <p:sp>
        <p:nvSpPr>
          <p:cNvPr id="5" name="Slide Number Placeholder 4">
            <a:extLst>
              <a:ext uri="{FF2B5EF4-FFF2-40B4-BE49-F238E27FC236}">
                <a16:creationId xmlns:a16="http://schemas.microsoft.com/office/drawing/2014/main" id="{5908EEE3-E1E5-C031-4B10-9C995361E9F1}"/>
              </a:ext>
            </a:extLst>
          </p:cNvPr>
          <p:cNvSpPr>
            <a:spLocks noGrp="1"/>
          </p:cNvSpPr>
          <p:nvPr>
            <p:ph type="sldNum" sz="quarter" idx="12"/>
          </p:nvPr>
        </p:nvSpPr>
        <p:spPr/>
        <p:txBody>
          <a:bodyPr/>
          <a:lstStyle/>
          <a:p>
            <a:fld id="{C3CACD4E-8C52-004E-9A96-AD0BCBF3CA39}" type="slidenum">
              <a:rPr lang="en-US" smtClean="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CEBE6F2-EA68-4B04-AA31-6E0DA60C840C}"/>
              </a:ext>
            </a:extLst>
          </p:cNvPr>
          <p:cNvSpPr>
            <a:spLocks noGrp="1" noChangeArrowheads="1"/>
          </p:cNvSpPr>
          <p:nvPr>
            <p:ph type="title"/>
          </p:nvPr>
        </p:nvSpPr>
        <p:spPr/>
        <p:txBody>
          <a:bodyPr/>
          <a:lstStyle/>
          <a:p>
            <a:r>
              <a:rPr lang="en-US" altLang="en-US"/>
              <a:t>Bagging (Bootstrap AGGregatING)</a:t>
            </a:r>
          </a:p>
        </p:txBody>
      </p:sp>
      <p:sp>
        <p:nvSpPr>
          <p:cNvPr id="15363" name="Rectangle 3">
            <a:extLst>
              <a:ext uri="{FF2B5EF4-FFF2-40B4-BE49-F238E27FC236}">
                <a16:creationId xmlns:a16="http://schemas.microsoft.com/office/drawing/2014/main" id="{8715C23C-06AB-4189-A0C9-F40880131140}"/>
              </a:ext>
            </a:extLst>
          </p:cNvPr>
          <p:cNvSpPr>
            <a:spLocks noGrp="1" noChangeArrowheads="1"/>
          </p:cNvSpPr>
          <p:nvPr>
            <p:ph type="body" idx="1"/>
          </p:nvPr>
        </p:nvSpPr>
        <p:spPr/>
        <p:txBody>
          <a:bodyPr>
            <a:normAutofit fontScale="92500" lnSpcReduction="10000"/>
          </a:bodyPr>
          <a:lstStyle/>
          <a:p>
            <a:r>
              <a:rPr lang="en-US" altLang="en-US"/>
              <a:t>Bootstrap sampling: sampling with replacement</a:t>
            </a:r>
          </a:p>
          <a:p>
            <a:endParaRPr lang="en-US" altLang="en-US"/>
          </a:p>
          <a:p>
            <a:endParaRPr lang="en-US" altLang="en-US"/>
          </a:p>
          <a:p>
            <a:endParaRPr lang="en-US" altLang="en-US"/>
          </a:p>
          <a:p>
            <a:endParaRPr lang="en-US" altLang="en-US"/>
          </a:p>
          <a:p>
            <a:r>
              <a:rPr lang="en-US" altLang="en-US"/>
              <a:t>Build classifier on each bootstrap sample</a:t>
            </a:r>
          </a:p>
          <a:p>
            <a:endParaRPr lang="en-US" altLang="en-US" sz="1000"/>
          </a:p>
          <a:p>
            <a:r>
              <a:rPr lang="en-US" altLang="en-US"/>
              <a:t>Probability of a training instance being selected in a bootstrap sample is:</a:t>
            </a:r>
          </a:p>
          <a:p>
            <a:pPr lvl="1">
              <a:buFont typeface="Wingdings" panose="05000000000000000000" pitchFamily="2" charset="2"/>
              <a:buChar char="Ø"/>
            </a:pPr>
            <a:r>
              <a:rPr lang="en-US" altLang="en-US"/>
              <a:t>1 – (1 - 1/n)</a:t>
            </a:r>
            <a:r>
              <a:rPr lang="en-US" altLang="en-US" baseline="30000"/>
              <a:t>n </a:t>
            </a:r>
            <a:r>
              <a:rPr lang="en-US" altLang="en-US"/>
              <a:t> (n: number of training instances)</a:t>
            </a:r>
          </a:p>
          <a:p>
            <a:pPr lvl="1">
              <a:buFont typeface="Wingdings" panose="05000000000000000000" pitchFamily="2" charset="2"/>
              <a:buChar char="Ø"/>
            </a:pPr>
            <a:r>
              <a:rPr lang="en-US" altLang="en-US"/>
              <a:t>~0.632 when n is large </a:t>
            </a:r>
          </a:p>
          <a:p>
            <a:pPr lvl="1"/>
            <a:endParaRPr lang="en-US" altLang="en-US" baseline="30000"/>
          </a:p>
        </p:txBody>
      </p:sp>
      <p:pic>
        <p:nvPicPr>
          <p:cNvPr id="15364" name="Picture 289">
            <a:extLst>
              <a:ext uri="{FF2B5EF4-FFF2-40B4-BE49-F238E27FC236}">
                <a16:creationId xmlns:a16="http://schemas.microsoft.com/office/drawing/2014/main" id="{9190130D-032C-4DB7-A8E0-BBF883865269}"/>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2362200" y="2271714"/>
            <a:ext cx="7239000" cy="852487"/>
          </a:xfrm>
          <a:noFill/>
        </p:spPr>
      </p:pic>
      <p:sp>
        <p:nvSpPr>
          <p:cNvPr id="5" name="Slide Number Placeholder 4">
            <a:extLst>
              <a:ext uri="{FF2B5EF4-FFF2-40B4-BE49-F238E27FC236}">
                <a16:creationId xmlns:a16="http://schemas.microsoft.com/office/drawing/2014/main" id="{C49DD224-93D7-92B6-57B8-A8EE988AE457}"/>
              </a:ext>
            </a:extLst>
          </p:cNvPr>
          <p:cNvSpPr>
            <a:spLocks noGrp="1"/>
          </p:cNvSpPr>
          <p:nvPr>
            <p:ph type="sldNum" sz="quarter" idx="12"/>
          </p:nvPr>
        </p:nvSpPr>
        <p:spPr/>
        <p:txBody>
          <a:bodyPr/>
          <a:lstStyle/>
          <a:p>
            <a:fld id="{C3CACD4E-8C52-004E-9A96-AD0BCBF3CA39}" type="slidenum">
              <a:rPr lang="en-US" smtClean="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3EFEAAC-4BAE-4298-9C7C-5BE3598B04EF}"/>
              </a:ext>
            </a:extLst>
          </p:cNvPr>
          <p:cNvSpPr>
            <a:spLocks noGrp="1" noChangeArrowheads="1"/>
          </p:cNvSpPr>
          <p:nvPr>
            <p:ph type="title"/>
          </p:nvPr>
        </p:nvSpPr>
        <p:spPr/>
        <p:txBody>
          <a:bodyPr/>
          <a:lstStyle/>
          <a:p>
            <a:r>
              <a:rPr lang="en-US" altLang="en-US"/>
              <a:t>Bagging Example</a:t>
            </a:r>
          </a:p>
        </p:txBody>
      </p:sp>
      <p:sp>
        <p:nvSpPr>
          <p:cNvPr id="26626" name="Rectangle 9">
            <a:extLst>
              <a:ext uri="{FF2B5EF4-FFF2-40B4-BE49-F238E27FC236}">
                <a16:creationId xmlns:a16="http://schemas.microsoft.com/office/drawing/2014/main" id="{7BBD9E51-9546-9242-BBB5-A4467432CA5B}"/>
              </a:ext>
            </a:extLst>
          </p:cNvPr>
          <p:cNvSpPr>
            <a:spLocks noGrp="1" noChangeArrowheads="1"/>
          </p:cNvSpPr>
          <p:nvPr>
            <p:ph type="body" idx="1"/>
          </p:nvPr>
        </p:nvSpPr>
        <p:spPr/>
        <p:txBody>
          <a:bodyPr/>
          <a:lstStyle/>
          <a:p>
            <a:pPr>
              <a:defRPr/>
            </a:pPr>
            <a:r>
              <a:rPr lang="en-US" altLang="en-US" sz="2400" dirty="0"/>
              <a:t>Consider 1-dimensional data set:</a:t>
            </a:r>
          </a:p>
          <a:p>
            <a:pPr>
              <a:defRPr/>
            </a:pPr>
            <a:endParaRPr lang="en-US" altLang="en-US" sz="2400" dirty="0"/>
          </a:p>
          <a:p>
            <a:pPr>
              <a:defRPr/>
            </a:pPr>
            <a:endParaRPr lang="en-US" altLang="en-US" sz="2400" dirty="0"/>
          </a:p>
          <a:p>
            <a:pPr marL="0" indent="0">
              <a:buNone/>
              <a:defRPr/>
            </a:pPr>
            <a:endParaRPr lang="en-US" altLang="en-US" sz="2400" dirty="0"/>
          </a:p>
          <a:p>
            <a:pPr>
              <a:defRPr/>
            </a:pPr>
            <a:endParaRPr lang="en-US" altLang="en-US" sz="2400" dirty="0"/>
          </a:p>
          <a:p>
            <a:pPr>
              <a:defRPr/>
            </a:pPr>
            <a:r>
              <a:rPr lang="en-US" altLang="en-US" sz="2400" dirty="0"/>
              <a:t>Classifier is a decision stump (decision tree of size 1)</a:t>
            </a:r>
          </a:p>
          <a:p>
            <a:pPr lvl="1">
              <a:defRPr/>
            </a:pPr>
            <a:r>
              <a:rPr lang="en-US" altLang="en-US" dirty="0"/>
              <a:t>Decision rule:  	x </a:t>
            </a:r>
            <a:r>
              <a:rPr lang="en-US" altLang="en-US" dirty="0">
                <a:sym typeface="Symbol" pitchFamily="2" charset="2"/>
              </a:rPr>
              <a:t> k</a:t>
            </a:r>
            <a:r>
              <a:rPr lang="en-US" altLang="en-US" dirty="0"/>
              <a:t> </a:t>
            </a:r>
            <a:r>
              <a:rPr lang="en-US" altLang="en-US" dirty="0">
                <a:sym typeface="Symbol" pitchFamily="2" charset="2"/>
              </a:rPr>
              <a:t>versus </a:t>
            </a:r>
            <a:r>
              <a:rPr lang="en-US" altLang="en-US" dirty="0"/>
              <a:t>x &gt; k</a:t>
            </a:r>
          </a:p>
          <a:p>
            <a:pPr lvl="1">
              <a:defRPr/>
            </a:pPr>
            <a:r>
              <a:rPr lang="en-US" altLang="en-US" dirty="0"/>
              <a:t>Split point k is chosen based on entropy</a:t>
            </a:r>
          </a:p>
        </p:txBody>
      </p:sp>
      <p:graphicFrame>
        <p:nvGraphicFramePr>
          <p:cNvPr id="17412" name="Object 2">
            <a:extLst>
              <a:ext uri="{FF2B5EF4-FFF2-40B4-BE49-F238E27FC236}">
                <a16:creationId xmlns:a16="http://schemas.microsoft.com/office/drawing/2014/main" id="{AA6DEC1B-2B6C-46F9-8797-253A852F941A}"/>
              </a:ext>
            </a:extLst>
          </p:cNvPr>
          <p:cNvGraphicFramePr>
            <a:graphicFrameLocks noGrp="1" noChangeAspect="1"/>
          </p:cNvGraphicFramePr>
          <p:nvPr>
            <p:ph idx="4294967295"/>
            <p:extLst>
              <p:ext uri="{D42A27DB-BD31-4B8C-83A1-F6EECF244321}">
                <p14:modId xmlns:p14="http://schemas.microsoft.com/office/powerpoint/2010/main" val="3332826259"/>
              </p:ext>
            </p:extLst>
          </p:nvPr>
        </p:nvGraphicFramePr>
        <p:xfrm>
          <a:off x="2106931" y="2158207"/>
          <a:ext cx="7491413" cy="1200150"/>
        </p:xfrm>
        <a:graphic>
          <a:graphicData uri="http://schemas.openxmlformats.org/presentationml/2006/ole">
            <mc:AlternateContent xmlns:mc="http://schemas.openxmlformats.org/markup-compatibility/2006">
              <mc:Choice xmlns:v="urn:schemas-microsoft-com:vml" Requires="v">
                <p:oleObj name="Visio" r:id="rId2" imgW="6270295" imgH="1004995" progId="Visio.Drawing.6">
                  <p:embed/>
                </p:oleObj>
              </mc:Choice>
              <mc:Fallback>
                <p:oleObj name="Visio" r:id="rId2" imgW="6270295" imgH="1004995" progId="Visio.Drawing.6">
                  <p:embed/>
                  <p:pic>
                    <p:nvPicPr>
                      <p:cNvPr id="17412" name="Object 2">
                        <a:extLst>
                          <a:ext uri="{FF2B5EF4-FFF2-40B4-BE49-F238E27FC236}">
                            <a16:creationId xmlns:a16="http://schemas.microsoft.com/office/drawing/2014/main" id="{AA6DEC1B-2B6C-46F9-8797-253A852F9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6931" y="2158207"/>
                        <a:ext cx="749141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3" name="Oval 10">
            <a:extLst>
              <a:ext uri="{FF2B5EF4-FFF2-40B4-BE49-F238E27FC236}">
                <a16:creationId xmlns:a16="http://schemas.microsoft.com/office/drawing/2014/main" id="{CB1E402A-B70E-438B-AA64-AE6AF294A937}"/>
              </a:ext>
            </a:extLst>
          </p:cNvPr>
          <p:cNvSpPr>
            <a:spLocks noChangeArrowheads="1"/>
          </p:cNvSpPr>
          <p:nvPr/>
        </p:nvSpPr>
        <p:spPr bwMode="auto">
          <a:xfrm>
            <a:off x="4953000" y="4891088"/>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en-US" sz="1400"/>
              <a:t>x </a:t>
            </a:r>
            <a:r>
              <a:rPr lang="en-US" altLang="en-US" sz="1400">
                <a:sym typeface="Symbol" panose="05050102010706020507" pitchFamily="18" charset="2"/>
              </a:rPr>
              <a:t> k</a:t>
            </a:r>
          </a:p>
        </p:txBody>
      </p:sp>
      <p:sp>
        <p:nvSpPr>
          <p:cNvPr id="17414" name="Line 11">
            <a:extLst>
              <a:ext uri="{FF2B5EF4-FFF2-40B4-BE49-F238E27FC236}">
                <a16:creationId xmlns:a16="http://schemas.microsoft.com/office/drawing/2014/main" id="{4E886F02-2684-4848-9023-1FEFE7972E13}"/>
              </a:ext>
            </a:extLst>
          </p:cNvPr>
          <p:cNvSpPr>
            <a:spLocks noChangeShapeType="1"/>
          </p:cNvSpPr>
          <p:nvPr/>
        </p:nvSpPr>
        <p:spPr bwMode="auto">
          <a:xfrm flipH="1">
            <a:off x="4800600" y="5576888"/>
            <a:ext cx="7620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15" name="Line 12">
            <a:extLst>
              <a:ext uri="{FF2B5EF4-FFF2-40B4-BE49-F238E27FC236}">
                <a16:creationId xmlns:a16="http://schemas.microsoft.com/office/drawing/2014/main" id="{238B140D-85D9-4BFE-A728-5981B361F63B}"/>
              </a:ext>
            </a:extLst>
          </p:cNvPr>
          <p:cNvSpPr>
            <a:spLocks noChangeShapeType="1"/>
          </p:cNvSpPr>
          <p:nvPr/>
        </p:nvSpPr>
        <p:spPr bwMode="auto">
          <a:xfrm>
            <a:off x="5562600" y="5576888"/>
            <a:ext cx="8382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16" name="Text Box 13">
            <a:extLst>
              <a:ext uri="{FF2B5EF4-FFF2-40B4-BE49-F238E27FC236}">
                <a16:creationId xmlns:a16="http://schemas.microsoft.com/office/drawing/2014/main" id="{E716B233-E0C6-40B3-A5B8-F4B22D9FE882}"/>
              </a:ext>
            </a:extLst>
          </p:cNvPr>
          <p:cNvSpPr txBox="1">
            <a:spLocks noChangeArrowheads="1"/>
          </p:cNvSpPr>
          <p:nvPr/>
        </p:nvSpPr>
        <p:spPr bwMode="auto">
          <a:xfrm>
            <a:off x="4495800" y="59578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50000"/>
              </a:spcAft>
              <a:buClrTx/>
              <a:buSzTx/>
              <a:buFontTx/>
              <a:buNone/>
            </a:pPr>
            <a:r>
              <a:rPr lang="en-US" altLang="en-US" sz="1800"/>
              <a:t>y</a:t>
            </a:r>
            <a:r>
              <a:rPr lang="en-US" altLang="en-US" sz="1800" baseline="-25000"/>
              <a:t>left</a:t>
            </a:r>
            <a:endParaRPr lang="en-US" altLang="en-US" sz="1800"/>
          </a:p>
        </p:txBody>
      </p:sp>
      <p:sp>
        <p:nvSpPr>
          <p:cNvPr id="17417" name="Text Box 14">
            <a:extLst>
              <a:ext uri="{FF2B5EF4-FFF2-40B4-BE49-F238E27FC236}">
                <a16:creationId xmlns:a16="http://schemas.microsoft.com/office/drawing/2014/main" id="{D7CC8EED-2893-4B48-AE69-81A347510792}"/>
              </a:ext>
            </a:extLst>
          </p:cNvPr>
          <p:cNvSpPr txBox="1">
            <a:spLocks noChangeArrowheads="1"/>
          </p:cNvSpPr>
          <p:nvPr/>
        </p:nvSpPr>
        <p:spPr bwMode="auto">
          <a:xfrm>
            <a:off x="6096000" y="59578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50000"/>
              </a:spcAft>
              <a:buClrTx/>
              <a:buSzTx/>
              <a:buFontTx/>
              <a:buNone/>
            </a:pPr>
            <a:r>
              <a:rPr lang="en-US" altLang="en-US" sz="1800"/>
              <a:t>y</a:t>
            </a:r>
            <a:r>
              <a:rPr lang="en-US" altLang="en-US" sz="1800" baseline="-25000"/>
              <a:t>right</a:t>
            </a:r>
            <a:endParaRPr lang="en-US" altLang="en-US" sz="1800"/>
          </a:p>
        </p:txBody>
      </p:sp>
      <p:sp>
        <p:nvSpPr>
          <p:cNvPr id="17418" name="Text Box 15">
            <a:extLst>
              <a:ext uri="{FF2B5EF4-FFF2-40B4-BE49-F238E27FC236}">
                <a16:creationId xmlns:a16="http://schemas.microsoft.com/office/drawing/2014/main" id="{7112105F-6692-4F2C-A2ED-32183B886A98}"/>
              </a:ext>
            </a:extLst>
          </p:cNvPr>
          <p:cNvSpPr txBox="1">
            <a:spLocks noChangeArrowheads="1"/>
          </p:cNvSpPr>
          <p:nvPr/>
        </p:nvSpPr>
        <p:spPr bwMode="auto">
          <a:xfrm>
            <a:off x="4495800" y="5486400"/>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50000"/>
              </a:spcAft>
              <a:buClrTx/>
              <a:buSzTx/>
              <a:buFontTx/>
              <a:buNone/>
            </a:pPr>
            <a:r>
              <a:rPr lang="en-US" altLang="en-US" sz="1600"/>
              <a:t>True</a:t>
            </a:r>
          </a:p>
        </p:txBody>
      </p:sp>
      <p:sp>
        <p:nvSpPr>
          <p:cNvPr id="17419" name="Text Box 16">
            <a:extLst>
              <a:ext uri="{FF2B5EF4-FFF2-40B4-BE49-F238E27FC236}">
                <a16:creationId xmlns:a16="http://schemas.microsoft.com/office/drawing/2014/main" id="{4A090B32-F234-4212-9A2C-2D6D4B584F4E}"/>
              </a:ext>
            </a:extLst>
          </p:cNvPr>
          <p:cNvSpPr txBox="1">
            <a:spLocks noChangeArrowheads="1"/>
          </p:cNvSpPr>
          <p:nvPr/>
        </p:nvSpPr>
        <p:spPr bwMode="auto">
          <a:xfrm>
            <a:off x="6019800" y="5486400"/>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50000"/>
              </a:spcAft>
              <a:buClrTx/>
              <a:buSzTx/>
              <a:buFontTx/>
              <a:buNone/>
            </a:pPr>
            <a:r>
              <a:rPr lang="en-US" altLang="en-US" sz="1600"/>
              <a:t>False</a:t>
            </a:r>
          </a:p>
        </p:txBody>
      </p:sp>
      <p:sp>
        <p:nvSpPr>
          <p:cNvPr id="5" name="Slide Number Placeholder 4">
            <a:extLst>
              <a:ext uri="{FF2B5EF4-FFF2-40B4-BE49-F238E27FC236}">
                <a16:creationId xmlns:a16="http://schemas.microsoft.com/office/drawing/2014/main" id="{EEC01235-0BE5-6128-D952-A728B189A30F}"/>
              </a:ext>
            </a:extLst>
          </p:cNvPr>
          <p:cNvSpPr>
            <a:spLocks noGrp="1"/>
          </p:cNvSpPr>
          <p:nvPr>
            <p:ph type="sldNum" sz="quarter" idx="12"/>
          </p:nvPr>
        </p:nvSpPr>
        <p:spPr/>
        <p:txBody>
          <a:bodyPr/>
          <a:lstStyle/>
          <a:p>
            <a:fld id="{C3CACD4E-8C52-004E-9A96-AD0BCBF3CA39}" type="slidenum">
              <a:rPr lang="en-US" smtClean="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B5EDC04-6719-4C0F-A15A-9121AE6F7224}"/>
              </a:ext>
            </a:extLst>
          </p:cNvPr>
          <p:cNvSpPr>
            <a:spLocks noGrp="1" noChangeArrowheads="1"/>
          </p:cNvSpPr>
          <p:nvPr>
            <p:ph type="title" sz="quarter"/>
          </p:nvPr>
        </p:nvSpPr>
        <p:spPr/>
        <p:txBody>
          <a:bodyPr>
            <a:normAutofit fontScale="90000"/>
          </a:bodyPr>
          <a:lstStyle/>
          <a:p>
            <a:r>
              <a:rPr lang="en-US" altLang="en-US"/>
              <a:t>Bagging Example</a:t>
            </a:r>
          </a:p>
        </p:txBody>
      </p:sp>
      <p:pic>
        <p:nvPicPr>
          <p:cNvPr id="18435" name="Picture 866">
            <a:extLst>
              <a:ext uri="{FF2B5EF4-FFF2-40B4-BE49-F238E27FC236}">
                <a16:creationId xmlns:a16="http://schemas.microsoft.com/office/drawing/2014/main" id="{BCE32D27-92DA-4639-9634-5C81EFFD23A0}"/>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05000" y="1219201"/>
            <a:ext cx="6705600" cy="4778375"/>
          </a:xfrm>
          <a:noFill/>
        </p:spPr>
      </p:pic>
      <p:graphicFrame>
        <p:nvGraphicFramePr>
          <p:cNvPr id="18436" name="Object 2">
            <a:extLst>
              <a:ext uri="{FF2B5EF4-FFF2-40B4-BE49-F238E27FC236}">
                <a16:creationId xmlns:a16="http://schemas.microsoft.com/office/drawing/2014/main" id="{C2268AE7-F6FF-4F1E-A642-BF698711DA44}"/>
              </a:ext>
            </a:extLst>
          </p:cNvPr>
          <p:cNvGraphicFramePr>
            <a:graphicFrameLocks noGrp="1" noChangeAspect="1"/>
          </p:cNvGraphicFramePr>
          <p:nvPr>
            <p:ph sz="quarter" idx="2"/>
          </p:nvPr>
        </p:nvGraphicFramePr>
        <p:xfrm>
          <a:off x="8839200" y="1447800"/>
          <a:ext cx="1500188" cy="484188"/>
        </p:xfrm>
        <a:graphic>
          <a:graphicData uri="http://schemas.openxmlformats.org/presentationml/2006/ole">
            <mc:AlternateContent xmlns:mc="http://schemas.openxmlformats.org/markup-compatibility/2006">
              <mc:Choice xmlns:v="urn:schemas-microsoft-com:vml" Requires="v">
                <p:oleObj name="Visio" r:id="rId3" imgW="0" imgH="0" progId="Visio.Drawing.6">
                  <p:embed/>
                </p:oleObj>
              </mc:Choice>
              <mc:Fallback>
                <p:oleObj name="Visio" r:id="rId3" imgW="0" imgH="0" progId="Visio.Drawing.6">
                  <p:embed/>
                  <p:pic>
                    <p:nvPicPr>
                      <p:cNvPr id="18436" name="Object 2">
                        <a:extLst>
                          <a:ext uri="{FF2B5EF4-FFF2-40B4-BE49-F238E27FC236}">
                            <a16:creationId xmlns:a16="http://schemas.microsoft.com/office/drawing/2014/main" id="{C2268AE7-F6FF-4F1E-A642-BF698711DA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9200" y="1447800"/>
                        <a:ext cx="1500188"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7" name="Line 876">
            <a:extLst>
              <a:ext uri="{FF2B5EF4-FFF2-40B4-BE49-F238E27FC236}">
                <a16:creationId xmlns:a16="http://schemas.microsoft.com/office/drawing/2014/main" id="{BFEB687E-ED6C-41E1-8CDF-8BB7E888F5AE}"/>
              </a:ext>
            </a:extLst>
          </p:cNvPr>
          <p:cNvSpPr>
            <a:spLocks noChangeShapeType="1"/>
          </p:cNvSpPr>
          <p:nvPr/>
        </p:nvSpPr>
        <p:spPr bwMode="auto">
          <a:xfrm>
            <a:off x="4953000" y="12192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9114E08-3496-4264-8E5F-01DCF1260000}"/>
              </a:ext>
            </a:extLst>
          </p:cNvPr>
          <p:cNvSpPr>
            <a:spLocks noGrp="1" noChangeArrowheads="1"/>
          </p:cNvSpPr>
          <p:nvPr>
            <p:ph type="title" sz="quarter"/>
          </p:nvPr>
        </p:nvSpPr>
        <p:spPr/>
        <p:txBody>
          <a:bodyPr>
            <a:normAutofit fontScale="90000"/>
          </a:bodyPr>
          <a:lstStyle/>
          <a:p>
            <a:r>
              <a:rPr lang="en-US" altLang="en-US"/>
              <a:t>Bagging Example</a:t>
            </a:r>
          </a:p>
        </p:txBody>
      </p:sp>
      <p:pic>
        <p:nvPicPr>
          <p:cNvPr id="19459" name="Picture 866">
            <a:extLst>
              <a:ext uri="{FF2B5EF4-FFF2-40B4-BE49-F238E27FC236}">
                <a16:creationId xmlns:a16="http://schemas.microsoft.com/office/drawing/2014/main" id="{82B9D388-0DC9-4599-862F-EEBE85F5DB9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05000" y="1219201"/>
            <a:ext cx="6705600" cy="4778375"/>
          </a:xfrm>
          <a:noFill/>
        </p:spPr>
      </p:pic>
      <p:graphicFrame>
        <p:nvGraphicFramePr>
          <p:cNvPr id="19460" name="Object 2">
            <a:extLst>
              <a:ext uri="{FF2B5EF4-FFF2-40B4-BE49-F238E27FC236}">
                <a16:creationId xmlns:a16="http://schemas.microsoft.com/office/drawing/2014/main" id="{BD2D980F-1378-4E21-9111-BBE158FA3A56}"/>
              </a:ext>
            </a:extLst>
          </p:cNvPr>
          <p:cNvGraphicFramePr>
            <a:graphicFrameLocks noGrp="1" noChangeAspect="1"/>
          </p:cNvGraphicFramePr>
          <p:nvPr>
            <p:ph sz="quarter" idx="2"/>
          </p:nvPr>
        </p:nvGraphicFramePr>
        <p:xfrm>
          <a:off x="8839200" y="1447800"/>
          <a:ext cx="1500188" cy="484188"/>
        </p:xfrm>
        <a:graphic>
          <a:graphicData uri="http://schemas.openxmlformats.org/presentationml/2006/ole">
            <mc:AlternateContent xmlns:mc="http://schemas.openxmlformats.org/markup-compatibility/2006">
              <mc:Choice xmlns:v="urn:schemas-microsoft-com:vml" Requires="v">
                <p:oleObj name="Visio" r:id="rId3" imgW="0" imgH="0" progId="Visio.Drawing.6">
                  <p:embed/>
                </p:oleObj>
              </mc:Choice>
              <mc:Fallback>
                <p:oleObj name="Visio" r:id="rId3" imgW="0" imgH="0" progId="Visio.Drawing.6">
                  <p:embed/>
                  <p:pic>
                    <p:nvPicPr>
                      <p:cNvPr id="19460" name="Object 2">
                        <a:extLst>
                          <a:ext uri="{FF2B5EF4-FFF2-40B4-BE49-F238E27FC236}">
                            <a16:creationId xmlns:a16="http://schemas.microsoft.com/office/drawing/2014/main" id="{BD2D980F-1378-4E21-9111-BBE158FA3A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9200" y="1447800"/>
                        <a:ext cx="1500188"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1" name="Object 3">
            <a:extLst>
              <a:ext uri="{FF2B5EF4-FFF2-40B4-BE49-F238E27FC236}">
                <a16:creationId xmlns:a16="http://schemas.microsoft.com/office/drawing/2014/main" id="{5AAA9076-84B7-49B4-A447-AAFD7B40E5B7}"/>
              </a:ext>
            </a:extLst>
          </p:cNvPr>
          <p:cNvGraphicFramePr>
            <a:graphicFrameLocks noGrp="1" noChangeAspect="1"/>
          </p:cNvGraphicFramePr>
          <p:nvPr>
            <p:ph sz="quarter" idx="3"/>
          </p:nvPr>
        </p:nvGraphicFramePr>
        <p:xfrm>
          <a:off x="8839201" y="2438400"/>
          <a:ext cx="1400175" cy="484188"/>
        </p:xfrm>
        <a:graphic>
          <a:graphicData uri="http://schemas.openxmlformats.org/presentationml/2006/ole">
            <mc:AlternateContent xmlns:mc="http://schemas.openxmlformats.org/markup-compatibility/2006">
              <mc:Choice xmlns:v="urn:schemas-microsoft-com:vml" Requires="v">
                <p:oleObj name="Visio" r:id="rId5" imgW="0" imgH="0" progId="Visio.Drawing.6">
                  <p:embed/>
                </p:oleObj>
              </mc:Choice>
              <mc:Fallback>
                <p:oleObj name="Visio" r:id="rId5" imgW="0" imgH="0" progId="Visio.Drawing.6">
                  <p:embed/>
                  <p:pic>
                    <p:nvPicPr>
                      <p:cNvPr id="19461" name="Object 3">
                        <a:extLst>
                          <a:ext uri="{FF2B5EF4-FFF2-40B4-BE49-F238E27FC236}">
                            <a16:creationId xmlns:a16="http://schemas.microsoft.com/office/drawing/2014/main" id="{5AAA9076-84B7-49B4-A447-AAFD7B40E5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39201" y="2438400"/>
                        <a:ext cx="1400175"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2" name="Object 4">
            <a:extLst>
              <a:ext uri="{FF2B5EF4-FFF2-40B4-BE49-F238E27FC236}">
                <a16:creationId xmlns:a16="http://schemas.microsoft.com/office/drawing/2014/main" id="{DFFAA0F9-2B1C-4079-9B7F-CE34701E41F0}"/>
              </a:ext>
            </a:extLst>
          </p:cNvPr>
          <p:cNvGraphicFramePr>
            <a:graphicFrameLocks noGrp="1" noChangeAspect="1"/>
          </p:cNvGraphicFramePr>
          <p:nvPr>
            <p:ph sz="quarter" idx="4"/>
          </p:nvPr>
        </p:nvGraphicFramePr>
        <p:xfrm>
          <a:off x="8839200" y="3429000"/>
          <a:ext cx="1500188" cy="484188"/>
        </p:xfrm>
        <a:graphic>
          <a:graphicData uri="http://schemas.openxmlformats.org/presentationml/2006/ole">
            <mc:AlternateContent xmlns:mc="http://schemas.openxmlformats.org/markup-compatibility/2006">
              <mc:Choice xmlns:v="urn:schemas-microsoft-com:vml" Requires="v">
                <p:oleObj name="Visio" r:id="rId7" imgW="0" imgH="0" progId="Visio.Drawing.6">
                  <p:embed/>
                </p:oleObj>
              </mc:Choice>
              <mc:Fallback>
                <p:oleObj name="Visio" r:id="rId7" imgW="0" imgH="0" progId="Visio.Drawing.6">
                  <p:embed/>
                  <p:pic>
                    <p:nvPicPr>
                      <p:cNvPr id="19462" name="Object 4">
                        <a:extLst>
                          <a:ext uri="{FF2B5EF4-FFF2-40B4-BE49-F238E27FC236}">
                            <a16:creationId xmlns:a16="http://schemas.microsoft.com/office/drawing/2014/main" id="{DFFAA0F9-2B1C-4079-9B7F-CE34701E41F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39200" y="3429000"/>
                        <a:ext cx="1500188"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3" name="Object 5">
            <a:extLst>
              <a:ext uri="{FF2B5EF4-FFF2-40B4-BE49-F238E27FC236}">
                <a16:creationId xmlns:a16="http://schemas.microsoft.com/office/drawing/2014/main" id="{63A22DF1-6433-4687-BF1F-9DD5A07EA6C4}"/>
              </a:ext>
            </a:extLst>
          </p:cNvPr>
          <p:cNvGraphicFramePr>
            <a:graphicFrameLocks noChangeAspect="1"/>
          </p:cNvGraphicFramePr>
          <p:nvPr/>
        </p:nvGraphicFramePr>
        <p:xfrm>
          <a:off x="8839201" y="4419600"/>
          <a:ext cx="1400175" cy="484188"/>
        </p:xfrm>
        <a:graphic>
          <a:graphicData uri="http://schemas.openxmlformats.org/presentationml/2006/ole">
            <mc:AlternateContent xmlns:mc="http://schemas.openxmlformats.org/markup-compatibility/2006">
              <mc:Choice xmlns:v="urn:schemas-microsoft-com:vml" Requires="v">
                <p:oleObj name="Visio" r:id="rId9" imgW="0" imgH="0" progId="Visio.Drawing.6">
                  <p:embed/>
                </p:oleObj>
              </mc:Choice>
              <mc:Fallback>
                <p:oleObj name="Visio" r:id="rId9" imgW="0" imgH="0" progId="Visio.Drawing.6">
                  <p:embed/>
                  <p:pic>
                    <p:nvPicPr>
                      <p:cNvPr id="19463" name="Object 5">
                        <a:extLst>
                          <a:ext uri="{FF2B5EF4-FFF2-40B4-BE49-F238E27FC236}">
                            <a16:creationId xmlns:a16="http://schemas.microsoft.com/office/drawing/2014/main" id="{63A22DF1-6433-4687-BF1F-9DD5A07EA6C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39201" y="4419600"/>
                        <a:ext cx="1400175"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9464" name="Object 6">
            <a:extLst>
              <a:ext uri="{FF2B5EF4-FFF2-40B4-BE49-F238E27FC236}">
                <a16:creationId xmlns:a16="http://schemas.microsoft.com/office/drawing/2014/main" id="{BF36DF10-9DAD-4086-AB8D-0F4F3A43F559}"/>
              </a:ext>
            </a:extLst>
          </p:cNvPr>
          <p:cNvGraphicFramePr>
            <a:graphicFrameLocks noChangeAspect="1"/>
          </p:cNvGraphicFramePr>
          <p:nvPr/>
        </p:nvGraphicFramePr>
        <p:xfrm>
          <a:off x="8839200" y="5410200"/>
          <a:ext cx="1500188" cy="484188"/>
        </p:xfrm>
        <a:graphic>
          <a:graphicData uri="http://schemas.openxmlformats.org/presentationml/2006/ole">
            <mc:AlternateContent xmlns:mc="http://schemas.openxmlformats.org/markup-compatibility/2006">
              <mc:Choice xmlns:v="urn:schemas-microsoft-com:vml" Requires="v">
                <p:oleObj name="Visio" r:id="rId11" imgW="0" imgH="0" progId="Visio.Drawing.6">
                  <p:embed/>
                </p:oleObj>
              </mc:Choice>
              <mc:Fallback>
                <p:oleObj name="Visio" r:id="rId11" imgW="0" imgH="0" progId="Visio.Drawing.6">
                  <p:embed/>
                  <p:pic>
                    <p:nvPicPr>
                      <p:cNvPr id="19464" name="Object 6">
                        <a:extLst>
                          <a:ext uri="{FF2B5EF4-FFF2-40B4-BE49-F238E27FC236}">
                            <a16:creationId xmlns:a16="http://schemas.microsoft.com/office/drawing/2014/main" id="{BF36DF10-9DAD-4086-AB8D-0F4F3A43F55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39200" y="5410200"/>
                        <a:ext cx="1500188"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9465" name="Line 876">
            <a:extLst>
              <a:ext uri="{FF2B5EF4-FFF2-40B4-BE49-F238E27FC236}">
                <a16:creationId xmlns:a16="http://schemas.microsoft.com/office/drawing/2014/main" id="{F1C63A08-5133-43C9-B274-03209FB9B164}"/>
              </a:ext>
            </a:extLst>
          </p:cNvPr>
          <p:cNvSpPr>
            <a:spLocks noChangeShapeType="1"/>
          </p:cNvSpPr>
          <p:nvPr/>
        </p:nvSpPr>
        <p:spPr bwMode="auto">
          <a:xfrm>
            <a:off x="4953000" y="12192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6" name="Line 877">
            <a:extLst>
              <a:ext uri="{FF2B5EF4-FFF2-40B4-BE49-F238E27FC236}">
                <a16:creationId xmlns:a16="http://schemas.microsoft.com/office/drawing/2014/main" id="{C364D687-5925-476C-B4DC-E494FACAF9E3}"/>
              </a:ext>
            </a:extLst>
          </p:cNvPr>
          <p:cNvSpPr>
            <a:spLocks noChangeShapeType="1"/>
          </p:cNvSpPr>
          <p:nvPr/>
        </p:nvSpPr>
        <p:spPr bwMode="auto">
          <a:xfrm>
            <a:off x="6172200" y="22860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7" name="Line 878">
            <a:extLst>
              <a:ext uri="{FF2B5EF4-FFF2-40B4-BE49-F238E27FC236}">
                <a16:creationId xmlns:a16="http://schemas.microsoft.com/office/drawing/2014/main" id="{AC3FAB76-2B0F-4763-B924-213E2F6BCE53}"/>
              </a:ext>
            </a:extLst>
          </p:cNvPr>
          <p:cNvSpPr>
            <a:spLocks noChangeShapeType="1"/>
          </p:cNvSpPr>
          <p:nvPr/>
        </p:nvSpPr>
        <p:spPr bwMode="auto">
          <a:xfrm>
            <a:off x="4343400" y="32766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8" name="Line 879">
            <a:extLst>
              <a:ext uri="{FF2B5EF4-FFF2-40B4-BE49-F238E27FC236}">
                <a16:creationId xmlns:a16="http://schemas.microsoft.com/office/drawing/2014/main" id="{4060435C-90B0-4D3B-B380-9CC6262A4489}"/>
              </a:ext>
            </a:extLst>
          </p:cNvPr>
          <p:cNvSpPr>
            <a:spLocks noChangeShapeType="1"/>
          </p:cNvSpPr>
          <p:nvPr/>
        </p:nvSpPr>
        <p:spPr bwMode="auto">
          <a:xfrm>
            <a:off x="4343400" y="42672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9" name="Line 880">
            <a:extLst>
              <a:ext uri="{FF2B5EF4-FFF2-40B4-BE49-F238E27FC236}">
                <a16:creationId xmlns:a16="http://schemas.microsoft.com/office/drawing/2014/main" id="{EFFB2FA3-B01C-4E27-9902-DE0D3608FF7F}"/>
              </a:ext>
            </a:extLst>
          </p:cNvPr>
          <p:cNvSpPr>
            <a:spLocks noChangeShapeType="1"/>
          </p:cNvSpPr>
          <p:nvPr/>
        </p:nvSpPr>
        <p:spPr bwMode="auto">
          <a:xfrm>
            <a:off x="4343400" y="53340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9E61E88-6D17-4759-9D0B-994645820A24}"/>
              </a:ext>
            </a:extLst>
          </p:cNvPr>
          <p:cNvSpPr>
            <a:spLocks noGrp="1" noChangeArrowheads="1"/>
          </p:cNvSpPr>
          <p:nvPr>
            <p:ph type="title" sz="quarter"/>
          </p:nvPr>
        </p:nvSpPr>
        <p:spPr/>
        <p:txBody>
          <a:bodyPr>
            <a:normAutofit fontScale="90000"/>
          </a:bodyPr>
          <a:lstStyle/>
          <a:p>
            <a:r>
              <a:rPr lang="en-US" altLang="en-US"/>
              <a:t>Bagging Example</a:t>
            </a:r>
          </a:p>
        </p:txBody>
      </p:sp>
      <p:pic>
        <p:nvPicPr>
          <p:cNvPr id="20483" name="Picture 864">
            <a:extLst>
              <a:ext uri="{FF2B5EF4-FFF2-40B4-BE49-F238E27FC236}">
                <a16:creationId xmlns:a16="http://schemas.microsoft.com/office/drawing/2014/main" id="{EC0C5C91-07F9-4359-AF59-5BA4036E1684}"/>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05000" y="1219201"/>
            <a:ext cx="6705600" cy="4778375"/>
          </a:xfrm>
          <a:noFill/>
        </p:spPr>
      </p:pic>
      <p:graphicFrame>
        <p:nvGraphicFramePr>
          <p:cNvPr id="20484" name="Object 2">
            <a:extLst>
              <a:ext uri="{FF2B5EF4-FFF2-40B4-BE49-F238E27FC236}">
                <a16:creationId xmlns:a16="http://schemas.microsoft.com/office/drawing/2014/main" id="{6F9C5AF6-700D-431D-89E5-0EE75B6A761D}"/>
              </a:ext>
            </a:extLst>
          </p:cNvPr>
          <p:cNvGraphicFramePr>
            <a:graphicFrameLocks noGrp="1" noChangeAspect="1"/>
          </p:cNvGraphicFramePr>
          <p:nvPr>
            <p:ph sz="quarter" idx="2"/>
          </p:nvPr>
        </p:nvGraphicFramePr>
        <p:xfrm>
          <a:off x="8839201" y="1420814"/>
          <a:ext cx="1560513" cy="484187"/>
        </p:xfrm>
        <a:graphic>
          <a:graphicData uri="http://schemas.openxmlformats.org/presentationml/2006/ole">
            <mc:AlternateContent xmlns:mc="http://schemas.openxmlformats.org/markup-compatibility/2006">
              <mc:Choice xmlns:v="urn:schemas-microsoft-com:vml" Requires="v">
                <p:oleObj name="Visio" r:id="rId3" imgW="0" imgH="0" progId="Visio.Drawing.6">
                  <p:embed/>
                </p:oleObj>
              </mc:Choice>
              <mc:Fallback>
                <p:oleObj name="Visio" r:id="rId3" imgW="0" imgH="0" progId="Visio.Drawing.6">
                  <p:embed/>
                  <p:pic>
                    <p:nvPicPr>
                      <p:cNvPr id="20484" name="Object 2">
                        <a:extLst>
                          <a:ext uri="{FF2B5EF4-FFF2-40B4-BE49-F238E27FC236}">
                            <a16:creationId xmlns:a16="http://schemas.microsoft.com/office/drawing/2014/main" id="{6F9C5AF6-700D-431D-89E5-0EE75B6A76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9201" y="1420814"/>
                        <a:ext cx="1560513"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5" name="Object 3">
            <a:extLst>
              <a:ext uri="{FF2B5EF4-FFF2-40B4-BE49-F238E27FC236}">
                <a16:creationId xmlns:a16="http://schemas.microsoft.com/office/drawing/2014/main" id="{30302B9B-28A0-4255-954C-F8F93CFDE97B}"/>
              </a:ext>
            </a:extLst>
          </p:cNvPr>
          <p:cNvGraphicFramePr>
            <a:graphicFrameLocks noGrp="1" noChangeAspect="1"/>
          </p:cNvGraphicFramePr>
          <p:nvPr>
            <p:ph sz="quarter" idx="3"/>
          </p:nvPr>
        </p:nvGraphicFramePr>
        <p:xfrm>
          <a:off x="8839201" y="2438400"/>
          <a:ext cx="1560513" cy="484188"/>
        </p:xfrm>
        <a:graphic>
          <a:graphicData uri="http://schemas.openxmlformats.org/presentationml/2006/ole">
            <mc:AlternateContent xmlns:mc="http://schemas.openxmlformats.org/markup-compatibility/2006">
              <mc:Choice xmlns:v="urn:schemas-microsoft-com:vml" Requires="v">
                <p:oleObj name="Visio" r:id="rId5" imgW="0" imgH="0" progId="Visio.Drawing.6">
                  <p:embed/>
                </p:oleObj>
              </mc:Choice>
              <mc:Fallback>
                <p:oleObj name="Visio" r:id="rId5" imgW="0" imgH="0" progId="Visio.Drawing.6">
                  <p:embed/>
                  <p:pic>
                    <p:nvPicPr>
                      <p:cNvPr id="20485" name="Object 3">
                        <a:extLst>
                          <a:ext uri="{FF2B5EF4-FFF2-40B4-BE49-F238E27FC236}">
                            <a16:creationId xmlns:a16="http://schemas.microsoft.com/office/drawing/2014/main" id="{30302B9B-28A0-4255-954C-F8F93CFDE9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39201" y="2438400"/>
                        <a:ext cx="1560513"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6" name="Object 4">
            <a:extLst>
              <a:ext uri="{FF2B5EF4-FFF2-40B4-BE49-F238E27FC236}">
                <a16:creationId xmlns:a16="http://schemas.microsoft.com/office/drawing/2014/main" id="{FCE15F40-E3C5-4DF6-8F51-FDF3E1252768}"/>
              </a:ext>
            </a:extLst>
          </p:cNvPr>
          <p:cNvGraphicFramePr>
            <a:graphicFrameLocks noGrp="1" noChangeAspect="1"/>
          </p:cNvGraphicFramePr>
          <p:nvPr>
            <p:ph sz="quarter" idx="4"/>
          </p:nvPr>
        </p:nvGraphicFramePr>
        <p:xfrm>
          <a:off x="8839201" y="3429000"/>
          <a:ext cx="1560513" cy="484188"/>
        </p:xfrm>
        <a:graphic>
          <a:graphicData uri="http://schemas.openxmlformats.org/presentationml/2006/ole">
            <mc:AlternateContent xmlns:mc="http://schemas.openxmlformats.org/markup-compatibility/2006">
              <mc:Choice xmlns:v="urn:schemas-microsoft-com:vml" Requires="v">
                <p:oleObj name="Visio" r:id="rId7" imgW="0" imgH="0" progId="Visio.Drawing.6">
                  <p:embed/>
                </p:oleObj>
              </mc:Choice>
              <mc:Fallback>
                <p:oleObj name="Visio" r:id="rId7" imgW="0" imgH="0" progId="Visio.Drawing.6">
                  <p:embed/>
                  <p:pic>
                    <p:nvPicPr>
                      <p:cNvPr id="20486" name="Object 4">
                        <a:extLst>
                          <a:ext uri="{FF2B5EF4-FFF2-40B4-BE49-F238E27FC236}">
                            <a16:creationId xmlns:a16="http://schemas.microsoft.com/office/drawing/2014/main" id="{FCE15F40-E3C5-4DF6-8F51-FDF3E125276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39201" y="3429000"/>
                        <a:ext cx="1560513"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7" name="Object 5">
            <a:extLst>
              <a:ext uri="{FF2B5EF4-FFF2-40B4-BE49-F238E27FC236}">
                <a16:creationId xmlns:a16="http://schemas.microsoft.com/office/drawing/2014/main" id="{127F635E-B805-48C2-A6B6-38FE78CF8A08}"/>
              </a:ext>
            </a:extLst>
          </p:cNvPr>
          <p:cNvGraphicFramePr>
            <a:graphicFrameLocks noChangeAspect="1"/>
          </p:cNvGraphicFramePr>
          <p:nvPr/>
        </p:nvGraphicFramePr>
        <p:xfrm>
          <a:off x="8839201" y="4419600"/>
          <a:ext cx="1560513" cy="484188"/>
        </p:xfrm>
        <a:graphic>
          <a:graphicData uri="http://schemas.openxmlformats.org/presentationml/2006/ole">
            <mc:AlternateContent xmlns:mc="http://schemas.openxmlformats.org/markup-compatibility/2006">
              <mc:Choice xmlns:v="urn:schemas-microsoft-com:vml" Requires="v">
                <p:oleObj name="Visio" r:id="rId9" imgW="0" imgH="0" progId="Visio.Drawing.6">
                  <p:embed/>
                </p:oleObj>
              </mc:Choice>
              <mc:Fallback>
                <p:oleObj name="Visio" r:id="rId9" imgW="0" imgH="0" progId="Visio.Drawing.6">
                  <p:embed/>
                  <p:pic>
                    <p:nvPicPr>
                      <p:cNvPr id="20487" name="Object 5">
                        <a:extLst>
                          <a:ext uri="{FF2B5EF4-FFF2-40B4-BE49-F238E27FC236}">
                            <a16:creationId xmlns:a16="http://schemas.microsoft.com/office/drawing/2014/main" id="{127F635E-B805-48C2-A6B6-38FE78CF8A0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39201" y="4419600"/>
                        <a:ext cx="1560513"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0488" name="Object 6">
            <a:extLst>
              <a:ext uri="{FF2B5EF4-FFF2-40B4-BE49-F238E27FC236}">
                <a16:creationId xmlns:a16="http://schemas.microsoft.com/office/drawing/2014/main" id="{9E7EA60B-8CE0-4C12-9860-CA8FF2340F97}"/>
              </a:ext>
            </a:extLst>
          </p:cNvPr>
          <p:cNvGraphicFramePr>
            <a:graphicFrameLocks noChangeAspect="1"/>
          </p:cNvGraphicFramePr>
          <p:nvPr/>
        </p:nvGraphicFramePr>
        <p:xfrm>
          <a:off x="8839200" y="5410200"/>
          <a:ext cx="1500188" cy="484188"/>
        </p:xfrm>
        <a:graphic>
          <a:graphicData uri="http://schemas.openxmlformats.org/presentationml/2006/ole">
            <mc:AlternateContent xmlns:mc="http://schemas.openxmlformats.org/markup-compatibility/2006">
              <mc:Choice xmlns:v="urn:schemas-microsoft-com:vml" Requires="v">
                <p:oleObj name="Visio" r:id="rId11" imgW="0" imgH="0" progId="Visio.Drawing.6">
                  <p:embed/>
                </p:oleObj>
              </mc:Choice>
              <mc:Fallback>
                <p:oleObj name="Visio" r:id="rId11" imgW="0" imgH="0" progId="Visio.Drawing.6">
                  <p:embed/>
                  <p:pic>
                    <p:nvPicPr>
                      <p:cNvPr id="20488" name="Object 6">
                        <a:extLst>
                          <a:ext uri="{FF2B5EF4-FFF2-40B4-BE49-F238E27FC236}">
                            <a16:creationId xmlns:a16="http://schemas.microsoft.com/office/drawing/2014/main" id="{9E7EA60B-8CE0-4C12-9860-CA8FF2340F9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39200" y="5410200"/>
                        <a:ext cx="1500188"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0489" name="Line 874">
            <a:extLst>
              <a:ext uri="{FF2B5EF4-FFF2-40B4-BE49-F238E27FC236}">
                <a16:creationId xmlns:a16="http://schemas.microsoft.com/office/drawing/2014/main" id="{482849C7-0894-413F-BE70-7A19FBD5FC73}"/>
              </a:ext>
            </a:extLst>
          </p:cNvPr>
          <p:cNvSpPr>
            <a:spLocks noChangeShapeType="1"/>
          </p:cNvSpPr>
          <p:nvPr/>
        </p:nvSpPr>
        <p:spPr bwMode="auto">
          <a:xfrm>
            <a:off x="6781800" y="12954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0" name="Line 875">
            <a:extLst>
              <a:ext uri="{FF2B5EF4-FFF2-40B4-BE49-F238E27FC236}">
                <a16:creationId xmlns:a16="http://schemas.microsoft.com/office/drawing/2014/main" id="{F246C501-065D-4343-8F6F-411CB8689819}"/>
              </a:ext>
            </a:extLst>
          </p:cNvPr>
          <p:cNvSpPr>
            <a:spLocks noChangeShapeType="1"/>
          </p:cNvSpPr>
          <p:nvPr/>
        </p:nvSpPr>
        <p:spPr bwMode="auto">
          <a:xfrm>
            <a:off x="5562600" y="22860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1" name="Line 876">
            <a:extLst>
              <a:ext uri="{FF2B5EF4-FFF2-40B4-BE49-F238E27FC236}">
                <a16:creationId xmlns:a16="http://schemas.microsoft.com/office/drawing/2014/main" id="{98424ABC-DF40-4578-AFCA-86BA86A0A360}"/>
              </a:ext>
            </a:extLst>
          </p:cNvPr>
          <p:cNvSpPr>
            <a:spLocks noChangeShapeType="1"/>
          </p:cNvSpPr>
          <p:nvPr/>
        </p:nvSpPr>
        <p:spPr bwMode="auto">
          <a:xfrm>
            <a:off x="6781800" y="32766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2" name="Line 877">
            <a:extLst>
              <a:ext uri="{FF2B5EF4-FFF2-40B4-BE49-F238E27FC236}">
                <a16:creationId xmlns:a16="http://schemas.microsoft.com/office/drawing/2014/main" id="{31B19AA9-BB2B-4743-B286-3ECFD41B6DE4}"/>
              </a:ext>
            </a:extLst>
          </p:cNvPr>
          <p:cNvSpPr>
            <a:spLocks noChangeShapeType="1"/>
          </p:cNvSpPr>
          <p:nvPr/>
        </p:nvSpPr>
        <p:spPr bwMode="auto">
          <a:xfrm>
            <a:off x="6781800" y="42672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3" name="Line 878">
            <a:extLst>
              <a:ext uri="{FF2B5EF4-FFF2-40B4-BE49-F238E27FC236}">
                <a16:creationId xmlns:a16="http://schemas.microsoft.com/office/drawing/2014/main" id="{5215DD76-8B0E-41A1-BB27-E5008EBD32F5}"/>
              </a:ext>
            </a:extLst>
          </p:cNvPr>
          <p:cNvSpPr>
            <a:spLocks noChangeShapeType="1"/>
          </p:cNvSpPr>
          <p:nvPr/>
        </p:nvSpPr>
        <p:spPr bwMode="auto">
          <a:xfrm>
            <a:off x="2514600" y="54102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EBEA01A-0064-4F00-A11D-E87709C282D8}"/>
              </a:ext>
            </a:extLst>
          </p:cNvPr>
          <p:cNvSpPr>
            <a:spLocks noGrp="1" noChangeArrowheads="1"/>
          </p:cNvSpPr>
          <p:nvPr>
            <p:ph type="title"/>
          </p:nvPr>
        </p:nvSpPr>
        <p:spPr/>
        <p:txBody>
          <a:bodyPr/>
          <a:lstStyle/>
          <a:p>
            <a:r>
              <a:rPr lang="en-US" altLang="en-US"/>
              <a:t>Bagging Example</a:t>
            </a:r>
          </a:p>
        </p:txBody>
      </p:sp>
      <p:sp>
        <p:nvSpPr>
          <p:cNvPr id="21507" name="Rectangle 3">
            <a:extLst>
              <a:ext uri="{FF2B5EF4-FFF2-40B4-BE49-F238E27FC236}">
                <a16:creationId xmlns:a16="http://schemas.microsoft.com/office/drawing/2014/main" id="{965A2660-AF3E-4FE0-8754-FC5F278937BA}"/>
              </a:ext>
            </a:extLst>
          </p:cNvPr>
          <p:cNvSpPr>
            <a:spLocks noGrp="1" noChangeArrowheads="1"/>
          </p:cNvSpPr>
          <p:nvPr>
            <p:ph type="body" idx="1"/>
          </p:nvPr>
        </p:nvSpPr>
        <p:spPr/>
        <p:txBody>
          <a:bodyPr/>
          <a:lstStyle/>
          <a:p>
            <a:r>
              <a:rPr lang="en-US" altLang="en-US"/>
              <a:t>Summary of Trained Decision Stumps:</a:t>
            </a:r>
          </a:p>
        </p:txBody>
      </p:sp>
      <p:pic>
        <p:nvPicPr>
          <p:cNvPr id="21508" name="Picture 4">
            <a:extLst>
              <a:ext uri="{FF2B5EF4-FFF2-40B4-BE49-F238E27FC236}">
                <a16:creationId xmlns:a16="http://schemas.microsoft.com/office/drawing/2014/main" id="{B691935A-38C0-49D2-92BD-8FF5AFD38932}"/>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3276600" y="2286000"/>
            <a:ext cx="4495800" cy="3048000"/>
          </a:xfrm>
          <a:noFill/>
        </p:spPr>
      </p:pic>
      <p:sp>
        <p:nvSpPr>
          <p:cNvPr id="5" name="Slide Number Placeholder 4">
            <a:extLst>
              <a:ext uri="{FF2B5EF4-FFF2-40B4-BE49-F238E27FC236}">
                <a16:creationId xmlns:a16="http://schemas.microsoft.com/office/drawing/2014/main" id="{2C78431C-A0F2-9547-7C88-AF2248FF495B}"/>
              </a:ext>
            </a:extLst>
          </p:cNvPr>
          <p:cNvSpPr>
            <a:spLocks noGrp="1"/>
          </p:cNvSpPr>
          <p:nvPr>
            <p:ph type="sldNum" sz="quarter" idx="12"/>
          </p:nvPr>
        </p:nvSpPr>
        <p:spPr/>
        <p:txBody>
          <a:bodyPr/>
          <a:lstStyle/>
          <a:p>
            <a:fld id="{C3CACD4E-8C52-004E-9A96-AD0BCBF3CA39}" type="slidenum">
              <a:rPr lang="en-US" smtClean="0"/>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CD37C5D-CD38-438C-AAE5-C8477EBCD797}"/>
              </a:ext>
            </a:extLst>
          </p:cNvPr>
          <p:cNvSpPr>
            <a:spLocks noGrp="1" noChangeArrowheads="1"/>
          </p:cNvSpPr>
          <p:nvPr>
            <p:ph type="title"/>
          </p:nvPr>
        </p:nvSpPr>
        <p:spPr>
          <a:xfrm>
            <a:off x="633663" y="0"/>
            <a:ext cx="10515600" cy="1325563"/>
          </a:xfrm>
        </p:spPr>
        <p:txBody>
          <a:bodyPr/>
          <a:lstStyle/>
          <a:p>
            <a:r>
              <a:rPr lang="en-US" altLang="en-US" dirty="0"/>
              <a:t>Bagging Example</a:t>
            </a:r>
          </a:p>
        </p:txBody>
      </p:sp>
      <p:sp>
        <p:nvSpPr>
          <p:cNvPr id="31746" name="Rectangle 1257">
            <a:extLst>
              <a:ext uri="{FF2B5EF4-FFF2-40B4-BE49-F238E27FC236}">
                <a16:creationId xmlns:a16="http://schemas.microsoft.com/office/drawing/2014/main" id="{5E97BF5B-8484-46BB-BC90-7E46E7A6616E}"/>
              </a:ext>
            </a:extLst>
          </p:cNvPr>
          <p:cNvSpPr>
            <a:spLocks noGrp="1" noChangeArrowheads="1"/>
          </p:cNvSpPr>
          <p:nvPr>
            <p:ph type="body" idx="1"/>
          </p:nvPr>
        </p:nvSpPr>
        <p:spPr>
          <a:xfrm>
            <a:off x="1935163" y="914400"/>
            <a:ext cx="8318500" cy="5181600"/>
          </a:xfrm>
        </p:spPr>
        <p:txBody>
          <a:bodyPr>
            <a:normAutofit lnSpcReduction="10000"/>
          </a:bodyPr>
          <a:lstStyle/>
          <a:p>
            <a:r>
              <a:rPr lang="en-US" altLang="en-US" sz="2400" dirty="0"/>
              <a:t>Use majority vote (sign of sum of predictions) to determine class of ensemble classifier</a:t>
            </a:r>
          </a:p>
          <a:p>
            <a:endParaRPr lang="en-US" altLang="en-US" sz="2400" dirty="0"/>
          </a:p>
          <a:p>
            <a:endParaRPr lang="en-US" altLang="en-US" sz="2400" dirty="0"/>
          </a:p>
          <a:p>
            <a:endParaRPr lang="en-US" altLang="en-US" sz="2400" dirty="0"/>
          </a:p>
          <a:p>
            <a:endParaRPr lang="en-US" altLang="en-US" sz="2400" dirty="0"/>
          </a:p>
          <a:p>
            <a:endParaRPr lang="en-US" altLang="en-US" sz="2400" dirty="0"/>
          </a:p>
          <a:p>
            <a:endParaRPr lang="en-US" altLang="en-US" sz="2400" dirty="0"/>
          </a:p>
          <a:p>
            <a:endParaRPr lang="en-US" altLang="en-US" sz="2400" dirty="0"/>
          </a:p>
          <a:p>
            <a:endParaRPr lang="en-US" altLang="en-US" sz="3200" dirty="0"/>
          </a:p>
          <a:p>
            <a:r>
              <a:rPr lang="en-US" altLang="en-US" sz="2400" dirty="0"/>
              <a:t>Bagging can also increase the complexity (representation capacity) of simple classifiers such as decision stumps</a:t>
            </a:r>
          </a:p>
        </p:txBody>
      </p:sp>
      <p:pic>
        <p:nvPicPr>
          <p:cNvPr id="22532" name="Picture 1254">
            <a:extLst>
              <a:ext uri="{FF2B5EF4-FFF2-40B4-BE49-F238E27FC236}">
                <a16:creationId xmlns:a16="http://schemas.microsoft.com/office/drawing/2014/main" id="{7564F4A7-B9FC-4ACF-B029-29186AEF5981}"/>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2895600" y="1424781"/>
            <a:ext cx="6934200" cy="3346450"/>
          </a:xfrm>
          <a:noFill/>
        </p:spPr>
      </p:pic>
      <p:sp>
        <p:nvSpPr>
          <p:cNvPr id="22533" name="Rectangle 1258">
            <a:extLst>
              <a:ext uri="{FF2B5EF4-FFF2-40B4-BE49-F238E27FC236}">
                <a16:creationId xmlns:a16="http://schemas.microsoft.com/office/drawing/2014/main" id="{F6011B94-6E3B-4288-87D2-4480C04E3A39}"/>
              </a:ext>
            </a:extLst>
          </p:cNvPr>
          <p:cNvSpPr>
            <a:spLocks noChangeArrowheads="1"/>
          </p:cNvSpPr>
          <p:nvPr/>
        </p:nvSpPr>
        <p:spPr bwMode="auto">
          <a:xfrm>
            <a:off x="2895600" y="4491120"/>
            <a:ext cx="6934200" cy="304800"/>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22534" name="Text Box 1259">
            <a:extLst>
              <a:ext uri="{FF2B5EF4-FFF2-40B4-BE49-F238E27FC236}">
                <a16:creationId xmlns:a16="http://schemas.microsoft.com/office/drawing/2014/main" id="{46A35020-9452-46C0-AF51-0C0990361C3C}"/>
              </a:ext>
            </a:extLst>
          </p:cNvPr>
          <p:cNvSpPr txBox="1">
            <a:spLocks noChangeArrowheads="1"/>
          </p:cNvSpPr>
          <p:nvPr/>
        </p:nvSpPr>
        <p:spPr bwMode="auto">
          <a:xfrm>
            <a:off x="1455821" y="4414250"/>
            <a:ext cx="12352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1400"/>
              <a:t>Predicted Class</a:t>
            </a:r>
          </a:p>
        </p:txBody>
      </p:sp>
      <p:sp>
        <p:nvSpPr>
          <p:cNvPr id="5" name="Slide Number Placeholder 4">
            <a:extLst>
              <a:ext uri="{FF2B5EF4-FFF2-40B4-BE49-F238E27FC236}">
                <a16:creationId xmlns:a16="http://schemas.microsoft.com/office/drawing/2014/main" id="{EEC312DD-EED0-7F89-86A7-A29A5FA85F25}"/>
              </a:ext>
            </a:extLst>
          </p:cNvPr>
          <p:cNvSpPr>
            <a:spLocks noGrp="1"/>
          </p:cNvSpPr>
          <p:nvPr>
            <p:ph type="sldNum" sz="quarter" idx="12"/>
          </p:nvPr>
        </p:nvSpPr>
        <p:spPr/>
        <p:txBody>
          <a:bodyPr/>
          <a:lstStyle/>
          <a:p>
            <a:fld id="{C3CACD4E-8C52-004E-9A96-AD0BCBF3CA39}" type="slidenum">
              <a:rPr lang="en-US" smtClean="0"/>
              <a:t>86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E3783C3-BBA6-413C-B4B8-C8CA9782B69C}"/>
              </a:ext>
            </a:extLst>
          </p:cNvPr>
          <p:cNvSpPr>
            <a:spLocks noGrp="1" noChangeArrowheads="1"/>
          </p:cNvSpPr>
          <p:nvPr>
            <p:ph type="title"/>
          </p:nvPr>
        </p:nvSpPr>
        <p:spPr/>
        <p:txBody>
          <a:bodyPr/>
          <a:lstStyle/>
          <a:p>
            <a:r>
              <a:rPr lang="en-US" altLang="en-US"/>
              <a:t>Boosting</a:t>
            </a:r>
          </a:p>
        </p:txBody>
      </p:sp>
      <p:sp>
        <p:nvSpPr>
          <p:cNvPr id="23555" name="Rectangle 3">
            <a:extLst>
              <a:ext uri="{FF2B5EF4-FFF2-40B4-BE49-F238E27FC236}">
                <a16:creationId xmlns:a16="http://schemas.microsoft.com/office/drawing/2014/main" id="{AE831A9F-6A50-4338-B6BB-9792E093F9DA}"/>
              </a:ext>
            </a:extLst>
          </p:cNvPr>
          <p:cNvSpPr>
            <a:spLocks noGrp="1" noChangeArrowheads="1"/>
          </p:cNvSpPr>
          <p:nvPr>
            <p:ph type="body" idx="1"/>
          </p:nvPr>
        </p:nvSpPr>
        <p:spPr/>
        <p:txBody>
          <a:bodyPr/>
          <a:lstStyle/>
          <a:p>
            <a:r>
              <a:rPr lang="en-US" altLang="en-US"/>
              <a:t>An iterative procedure to adaptively change distribution of training data by focusing more on previously misclassified records</a:t>
            </a:r>
          </a:p>
          <a:p>
            <a:pPr lvl="1"/>
            <a:r>
              <a:rPr lang="en-US" altLang="en-US"/>
              <a:t>Initially, all N records are assigned equal weights (for being selected for training)</a:t>
            </a:r>
          </a:p>
          <a:p>
            <a:pPr lvl="1"/>
            <a:r>
              <a:rPr lang="en-US" altLang="en-US"/>
              <a:t>Unlike bagging, weights may change at the end of each boosting round</a:t>
            </a:r>
          </a:p>
        </p:txBody>
      </p:sp>
      <p:sp>
        <p:nvSpPr>
          <p:cNvPr id="5" name="Slide Number Placeholder 4">
            <a:extLst>
              <a:ext uri="{FF2B5EF4-FFF2-40B4-BE49-F238E27FC236}">
                <a16:creationId xmlns:a16="http://schemas.microsoft.com/office/drawing/2014/main" id="{1E8C512E-B350-FF4B-A2B5-FFE7703EDC8F}"/>
              </a:ext>
            </a:extLst>
          </p:cNvPr>
          <p:cNvSpPr>
            <a:spLocks noGrp="1"/>
          </p:cNvSpPr>
          <p:nvPr>
            <p:ph type="sldNum" sz="quarter" idx="12"/>
          </p:nvPr>
        </p:nvSpPr>
        <p:spPr/>
        <p:txBody>
          <a:bodyPr/>
          <a:lstStyle/>
          <a:p>
            <a:fld id="{C3CACD4E-8C52-004E-9A96-AD0BCBF3CA39}" type="slidenum">
              <a:rPr lang="en-US" smtClean="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9732B276-AD5D-4DB1-9AAC-E7B02F6F643D}"/>
              </a:ext>
            </a:extLst>
          </p:cNvPr>
          <p:cNvSpPr>
            <a:spLocks noGrp="1" noChangeArrowheads="1"/>
          </p:cNvSpPr>
          <p:nvPr>
            <p:ph type="title"/>
          </p:nvPr>
        </p:nvSpPr>
        <p:spPr/>
        <p:txBody>
          <a:bodyPr/>
          <a:lstStyle/>
          <a:p>
            <a:r>
              <a:rPr lang="en-US" altLang="en-US"/>
              <a:t>Boosting</a:t>
            </a:r>
          </a:p>
        </p:txBody>
      </p:sp>
      <p:sp>
        <p:nvSpPr>
          <p:cNvPr id="24579" name="Rectangle 13">
            <a:extLst>
              <a:ext uri="{FF2B5EF4-FFF2-40B4-BE49-F238E27FC236}">
                <a16:creationId xmlns:a16="http://schemas.microsoft.com/office/drawing/2014/main" id="{F36BE517-BE32-43C1-91A0-17D70E87E589}"/>
              </a:ext>
            </a:extLst>
          </p:cNvPr>
          <p:cNvSpPr>
            <a:spLocks noGrp="1" noChangeArrowheads="1"/>
          </p:cNvSpPr>
          <p:nvPr>
            <p:ph type="body" idx="1"/>
          </p:nvPr>
        </p:nvSpPr>
        <p:spPr/>
        <p:txBody>
          <a:bodyPr/>
          <a:lstStyle/>
          <a:p>
            <a:r>
              <a:rPr lang="en-US" altLang="en-US"/>
              <a:t>Records that are wrongly classified will have their weights increased in the next round</a:t>
            </a:r>
          </a:p>
          <a:p>
            <a:r>
              <a:rPr lang="en-US" altLang="en-US"/>
              <a:t>Records that are classified correctly will have their weights decreased in the next round</a:t>
            </a:r>
          </a:p>
        </p:txBody>
      </p:sp>
      <p:pic>
        <p:nvPicPr>
          <p:cNvPr id="24580" name="Picture 4">
            <a:extLst>
              <a:ext uri="{FF2B5EF4-FFF2-40B4-BE49-F238E27FC236}">
                <a16:creationId xmlns:a16="http://schemas.microsoft.com/office/drawing/2014/main" id="{AB545518-325B-4928-9A4A-15ACCE89D748}"/>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057400" y="3594100"/>
            <a:ext cx="8077200" cy="952500"/>
          </a:xfrm>
          <a:noFill/>
        </p:spPr>
      </p:pic>
      <p:sp>
        <p:nvSpPr>
          <p:cNvPr id="24581" name="Oval 7">
            <a:extLst>
              <a:ext uri="{FF2B5EF4-FFF2-40B4-BE49-F238E27FC236}">
                <a16:creationId xmlns:a16="http://schemas.microsoft.com/office/drawing/2014/main" id="{46DD3046-09FA-4E05-A54C-67A9E2CE1E0C}"/>
              </a:ext>
            </a:extLst>
          </p:cNvPr>
          <p:cNvSpPr>
            <a:spLocks noChangeArrowheads="1"/>
          </p:cNvSpPr>
          <p:nvPr/>
        </p:nvSpPr>
        <p:spPr bwMode="auto">
          <a:xfrm>
            <a:off x="4267200" y="4279900"/>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24582" name="Oval 8">
            <a:extLst>
              <a:ext uri="{FF2B5EF4-FFF2-40B4-BE49-F238E27FC236}">
                <a16:creationId xmlns:a16="http://schemas.microsoft.com/office/drawing/2014/main" id="{F3E96349-CE6D-405A-96B2-B53BBAFEDEC0}"/>
              </a:ext>
            </a:extLst>
          </p:cNvPr>
          <p:cNvSpPr>
            <a:spLocks noChangeArrowheads="1"/>
          </p:cNvSpPr>
          <p:nvPr/>
        </p:nvSpPr>
        <p:spPr bwMode="auto">
          <a:xfrm>
            <a:off x="4876800" y="4279900"/>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24583" name="Oval 9">
            <a:extLst>
              <a:ext uri="{FF2B5EF4-FFF2-40B4-BE49-F238E27FC236}">
                <a16:creationId xmlns:a16="http://schemas.microsoft.com/office/drawing/2014/main" id="{B3B7753E-F88C-4279-B87E-FD0AC0F05114}"/>
              </a:ext>
            </a:extLst>
          </p:cNvPr>
          <p:cNvSpPr>
            <a:spLocks noChangeArrowheads="1"/>
          </p:cNvSpPr>
          <p:nvPr/>
        </p:nvSpPr>
        <p:spPr bwMode="auto">
          <a:xfrm>
            <a:off x="6629400" y="4279900"/>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24584" name="Oval 10">
            <a:extLst>
              <a:ext uri="{FF2B5EF4-FFF2-40B4-BE49-F238E27FC236}">
                <a16:creationId xmlns:a16="http://schemas.microsoft.com/office/drawing/2014/main" id="{0C89075D-66F0-4F75-A37A-4803F1B881EE}"/>
              </a:ext>
            </a:extLst>
          </p:cNvPr>
          <p:cNvSpPr>
            <a:spLocks noChangeArrowheads="1"/>
          </p:cNvSpPr>
          <p:nvPr/>
        </p:nvSpPr>
        <p:spPr bwMode="auto">
          <a:xfrm>
            <a:off x="7848600" y="4279900"/>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24585" name="Oval 11">
            <a:extLst>
              <a:ext uri="{FF2B5EF4-FFF2-40B4-BE49-F238E27FC236}">
                <a16:creationId xmlns:a16="http://schemas.microsoft.com/office/drawing/2014/main" id="{CFE0E13B-5BD9-4B21-B274-C9EB52BAE8CB}"/>
              </a:ext>
            </a:extLst>
          </p:cNvPr>
          <p:cNvSpPr>
            <a:spLocks noChangeArrowheads="1"/>
          </p:cNvSpPr>
          <p:nvPr/>
        </p:nvSpPr>
        <p:spPr bwMode="auto">
          <a:xfrm>
            <a:off x="9677400" y="4279900"/>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24586" name="Text Box 12">
            <a:extLst>
              <a:ext uri="{FF2B5EF4-FFF2-40B4-BE49-F238E27FC236}">
                <a16:creationId xmlns:a16="http://schemas.microsoft.com/office/drawing/2014/main" id="{C5557D36-EF10-4B78-AEE5-2E707EAEF467}"/>
              </a:ext>
            </a:extLst>
          </p:cNvPr>
          <p:cNvSpPr txBox="1">
            <a:spLocks noChangeArrowheads="1"/>
          </p:cNvSpPr>
          <p:nvPr/>
        </p:nvSpPr>
        <p:spPr bwMode="auto">
          <a:xfrm>
            <a:off x="4953000" y="4813300"/>
            <a:ext cx="50292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Char char="•"/>
            </a:pPr>
            <a:r>
              <a:rPr lang="en-US" altLang="en-US" sz="1800"/>
              <a:t> Example 4 is hard to classify</a:t>
            </a:r>
          </a:p>
          <a:p>
            <a:pPr>
              <a:spcBef>
                <a:spcPct val="50000"/>
              </a:spcBef>
              <a:spcAft>
                <a:spcPct val="0"/>
              </a:spcAft>
              <a:buClrTx/>
              <a:buSzTx/>
              <a:buFontTx/>
              <a:buChar char="•"/>
            </a:pPr>
            <a:r>
              <a:rPr lang="en-US" altLang="en-US" sz="1800"/>
              <a:t> Its weight is increased, therefore it is more likely to be chosen again in subsequent rounds</a:t>
            </a:r>
          </a:p>
        </p:txBody>
      </p:sp>
      <p:sp>
        <p:nvSpPr>
          <p:cNvPr id="5" name="Slide Number Placeholder 4">
            <a:extLst>
              <a:ext uri="{FF2B5EF4-FFF2-40B4-BE49-F238E27FC236}">
                <a16:creationId xmlns:a16="http://schemas.microsoft.com/office/drawing/2014/main" id="{76324A11-C432-3E61-C58C-BBE2397D91B2}"/>
              </a:ext>
            </a:extLst>
          </p:cNvPr>
          <p:cNvSpPr>
            <a:spLocks noGrp="1"/>
          </p:cNvSpPr>
          <p:nvPr>
            <p:ph type="sldNum" sz="quarter" idx="12"/>
          </p:nvPr>
        </p:nvSpPr>
        <p:spPr/>
        <p:txBody>
          <a:bodyPr/>
          <a:lstStyle/>
          <a:p>
            <a:fld id="{C3CACD4E-8C52-004E-9A96-AD0BCBF3CA39}" type="slidenum">
              <a:rPr lang="en-US" smtClean="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F852B92-80B8-47CF-AB96-8489002FB4EE}"/>
              </a:ext>
            </a:extLst>
          </p:cNvPr>
          <p:cNvSpPr>
            <a:spLocks noGrp="1" noChangeArrowheads="1"/>
          </p:cNvSpPr>
          <p:nvPr>
            <p:ph type="title"/>
          </p:nvPr>
        </p:nvSpPr>
        <p:spPr/>
        <p:txBody>
          <a:bodyPr>
            <a:normAutofit fontScale="90000"/>
          </a:bodyPr>
          <a:lstStyle/>
          <a:p>
            <a:r>
              <a:rPr lang="en-US" altLang="en-US"/>
              <a:t>AdaBoost</a:t>
            </a:r>
          </a:p>
        </p:txBody>
      </p:sp>
      <p:sp>
        <p:nvSpPr>
          <p:cNvPr id="25603" name="Rectangle 3">
            <a:extLst>
              <a:ext uri="{FF2B5EF4-FFF2-40B4-BE49-F238E27FC236}">
                <a16:creationId xmlns:a16="http://schemas.microsoft.com/office/drawing/2014/main" id="{7954D60A-F6E8-4007-8E59-CED6DDA9DCF6}"/>
              </a:ext>
            </a:extLst>
          </p:cNvPr>
          <p:cNvSpPr>
            <a:spLocks noGrp="1" noChangeArrowheads="1"/>
          </p:cNvSpPr>
          <p:nvPr>
            <p:ph type="body" sz="half" idx="1"/>
          </p:nvPr>
        </p:nvSpPr>
        <p:spPr>
          <a:xfrm>
            <a:off x="1935164" y="1143000"/>
            <a:ext cx="4770437" cy="5181600"/>
          </a:xfrm>
        </p:spPr>
        <p:txBody>
          <a:bodyPr/>
          <a:lstStyle/>
          <a:p>
            <a:r>
              <a:rPr lang="en-US" altLang="en-US" sz="2400"/>
              <a:t>Base classifiers: C</a:t>
            </a:r>
            <a:r>
              <a:rPr lang="en-US" altLang="en-US" sz="2400" baseline="-25000"/>
              <a:t>1</a:t>
            </a:r>
            <a:r>
              <a:rPr lang="en-US" altLang="en-US" sz="2400"/>
              <a:t>, C</a:t>
            </a:r>
            <a:r>
              <a:rPr lang="en-US" altLang="en-US" sz="2400" baseline="-25000"/>
              <a:t>2</a:t>
            </a:r>
            <a:r>
              <a:rPr lang="en-US" altLang="en-US" sz="2400"/>
              <a:t>, …, C</a:t>
            </a:r>
            <a:r>
              <a:rPr lang="en-US" altLang="en-US" sz="2400" baseline="-25000"/>
              <a:t>T</a:t>
            </a:r>
          </a:p>
          <a:p>
            <a:pPr lvl="4"/>
            <a:endParaRPr lang="en-US" altLang="en-US"/>
          </a:p>
          <a:p>
            <a:r>
              <a:rPr lang="en-US" altLang="en-US" sz="2400"/>
              <a:t>Error rate of a base classifier:</a:t>
            </a:r>
          </a:p>
          <a:p>
            <a:endParaRPr lang="en-US" altLang="en-US" sz="2400"/>
          </a:p>
          <a:p>
            <a:endParaRPr lang="en-US" altLang="en-US" sz="2400"/>
          </a:p>
          <a:p>
            <a:endParaRPr lang="en-US" altLang="en-US" sz="2400"/>
          </a:p>
          <a:p>
            <a:pPr lvl="4"/>
            <a:endParaRPr lang="en-US" altLang="en-US"/>
          </a:p>
          <a:p>
            <a:r>
              <a:rPr lang="en-US" altLang="en-US" sz="2400"/>
              <a:t>Importance of a classifier: </a:t>
            </a:r>
          </a:p>
          <a:p>
            <a:pPr lvl="4"/>
            <a:endParaRPr lang="en-US" altLang="en-US"/>
          </a:p>
        </p:txBody>
      </p:sp>
      <p:graphicFrame>
        <p:nvGraphicFramePr>
          <p:cNvPr id="25604" name="Object 3">
            <a:extLst>
              <a:ext uri="{FF2B5EF4-FFF2-40B4-BE49-F238E27FC236}">
                <a16:creationId xmlns:a16="http://schemas.microsoft.com/office/drawing/2014/main" id="{938F91A0-BDE2-4A07-9206-DCA7E78C8A29}"/>
              </a:ext>
            </a:extLst>
          </p:cNvPr>
          <p:cNvGraphicFramePr>
            <a:graphicFrameLocks noChangeAspect="1"/>
          </p:cNvGraphicFramePr>
          <p:nvPr/>
        </p:nvGraphicFramePr>
        <p:xfrm>
          <a:off x="2743201" y="4724401"/>
          <a:ext cx="2492375" cy="1141413"/>
        </p:xfrm>
        <a:graphic>
          <a:graphicData uri="http://schemas.openxmlformats.org/presentationml/2006/ole">
            <mc:AlternateContent xmlns:mc="http://schemas.openxmlformats.org/markup-compatibility/2006">
              <mc:Choice xmlns:v="urn:schemas-microsoft-com:vml" Requires="v">
                <p:oleObj name="Equation" r:id="rId2" imgW="18211800" imgH="8334375" progId="Equation.3">
                  <p:embed/>
                </p:oleObj>
              </mc:Choice>
              <mc:Fallback>
                <p:oleObj name="Equation" r:id="rId2" imgW="18211800" imgH="8334375" progId="Equation.3">
                  <p:embed/>
                  <p:pic>
                    <p:nvPicPr>
                      <p:cNvPr id="25604" name="Object 3">
                        <a:extLst>
                          <a:ext uri="{FF2B5EF4-FFF2-40B4-BE49-F238E27FC236}">
                            <a16:creationId xmlns:a16="http://schemas.microsoft.com/office/drawing/2014/main" id="{938F91A0-BDE2-4A07-9206-DCA7E78C8A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4724401"/>
                        <a:ext cx="2492375" cy="1141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25605" name="Picture 12">
            <a:extLst>
              <a:ext uri="{FF2B5EF4-FFF2-40B4-BE49-F238E27FC236}">
                <a16:creationId xmlns:a16="http://schemas.microsoft.com/office/drawing/2014/main" id="{53DE4BA0-833E-4E68-BAD3-ABED56A03E06}"/>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r="6688"/>
          <a:stretch>
            <a:fillRect/>
          </a:stretch>
        </p:blipFill>
        <p:spPr>
          <a:xfrm>
            <a:off x="6324600" y="2514601"/>
            <a:ext cx="4191000" cy="3641725"/>
          </a:xfrm>
          <a:noFill/>
        </p:spPr>
      </p:pic>
      <p:pic>
        <p:nvPicPr>
          <p:cNvPr id="25607" name="TextBox 4">
            <a:extLst>
              <a:ext uri="{FF2B5EF4-FFF2-40B4-BE49-F238E27FC236}">
                <a16:creationId xmlns:a16="http://schemas.microsoft.com/office/drawing/2014/main" id="{B8D69C3E-708F-4A78-B181-426AEFCC6BB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2100" y="1219200"/>
            <a:ext cx="49403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DB72DDBF-F275-ACE4-560A-E13F11AB4AF3}"/>
              </a:ext>
            </a:extLst>
          </p:cNvPr>
          <p:cNvSpPr>
            <a:spLocks noGrp="1"/>
          </p:cNvSpPr>
          <p:nvPr>
            <p:ph type="sldNum" sz="quarter" idx="12"/>
          </p:nvPr>
        </p:nvSpPr>
        <p:spPr/>
        <p:txBody>
          <a:bodyPr/>
          <a:lstStyle/>
          <a:p>
            <a:fld id="{C4A3972B-046A-7B4E-8ACB-D94E6385DD27}" type="slidenum">
              <a:rPr lang="en-US" altLang="en-US" smtClean="0"/>
              <a:pPr/>
              <a:t>89</a:t>
            </a:fld>
            <a:endParaRPr lang="en-US" altLang="en-US"/>
          </a:p>
        </p:txBody>
      </p:sp>
    </p:spTree>
  </p:cSld>
  <p:clrMapOvr>
    <a:masterClrMapping/>
  </p:clrMapOvr>
  <p:transition>
    <p:zo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41A2547-6621-4F6A-A174-05A2D3D2C71D}"/>
              </a:ext>
            </a:extLst>
          </p:cNvPr>
          <p:cNvSpPr>
            <a:spLocks noGrp="1" noChangeArrowheads="1"/>
          </p:cNvSpPr>
          <p:nvPr>
            <p:ph type="title"/>
          </p:nvPr>
        </p:nvSpPr>
        <p:spPr/>
        <p:txBody>
          <a:bodyPr/>
          <a:lstStyle/>
          <a:p>
            <a:r>
              <a:rPr lang="en-US" altLang="en-US"/>
              <a:t>AdaBoost Algorithm</a:t>
            </a:r>
          </a:p>
        </p:txBody>
      </p:sp>
      <p:sp>
        <p:nvSpPr>
          <p:cNvPr id="26627" name="Rectangle 3">
            <a:extLst>
              <a:ext uri="{FF2B5EF4-FFF2-40B4-BE49-F238E27FC236}">
                <a16:creationId xmlns:a16="http://schemas.microsoft.com/office/drawing/2014/main" id="{B9155E0D-5A3D-4A67-AB22-87106EE0EEC8}"/>
              </a:ext>
            </a:extLst>
          </p:cNvPr>
          <p:cNvSpPr>
            <a:spLocks noGrp="1" noChangeArrowheads="1"/>
          </p:cNvSpPr>
          <p:nvPr>
            <p:ph type="body" idx="1"/>
          </p:nvPr>
        </p:nvSpPr>
        <p:spPr/>
        <p:txBody>
          <a:bodyPr/>
          <a:lstStyle/>
          <a:p>
            <a:r>
              <a:rPr lang="en-US" altLang="en-US"/>
              <a:t>Weight update:</a:t>
            </a:r>
          </a:p>
          <a:p>
            <a:endParaRPr lang="en-US" altLang="en-US"/>
          </a:p>
          <a:p>
            <a:endParaRPr lang="en-US" altLang="en-US"/>
          </a:p>
          <a:p>
            <a:endParaRPr lang="en-US" altLang="en-US"/>
          </a:p>
          <a:p>
            <a:pPr lvl="4"/>
            <a:endParaRPr lang="en-US" altLang="en-US"/>
          </a:p>
          <a:p>
            <a:r>
              <a:rPr lang="en-US" altLang="en-US"/>
              <a:t>If any intermediate rounds produce error rate higher than 50%, the weights are reverted back to 1/n and the resampling procedure is repeated</a:t>
            </a:r>
          </a:p>
          <a:p>
            <a:r>
              <a:rPr lang="en-US" altLang="en-US"/>
              <a:t>Classification:</a:t>
            </a:r>
          </a:p>
        </p:txBody>
      </p:sp>
      <p:pic>
        <p:nvPicPr>
          <p:cNvPr id="26629" name="TextBox 8">
            <a:extLst>
              <a:ext uri="{FF2B5EF4-FFF2-40B4-BE49-F238E27FC236}">
                <a16:creationId xmlns:a16="http://schemas.microsoft.com/office/drawing/2014/main" id="{62F97FB4-706B-4DB9-A50B-5D0739D718C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498600"/>
            <a:ext cx="6083300" cy="915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TextBox 9">
            <a:extLst>
              <a:ext uri="{FF2B5EF4-FFF2-40B4-BE49-F238E27FC236}">
                <a16:creationId xmlns:a16="http://schemas.microsoft.com/office/drawing/2014/main" id="{348BF833-621C-431B-B7C7-735DE8822D3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6800" y="3797300"/>
            <a:ext cx="5715000" cy="471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890CBDC8-23B8-FF7A-066C-B2E9FDEA4E2F}"/>
              </a:ext>
            </a:extLst>
          </p:cNvPr>
          <p:cNvSpPr>
            <a:spLocks noGrp="1"/>
          </p:cNvSpPr>
          <p:nvPr>
            <p:ph type="sldNum" sz="quarter" idx="12"/>
          </p:nvPr>
        </p:nvSpPr>
        <p:spPr/>
        <p:txBody>
          <a:bodyPr/>
          <a:lstStyle/>
          <a:p>
            <a:fld id="{C3CACD4E-8C52-004E-9A96-AD0BCBF3CA39}" type="slidenum">
              <a:rPr lang="en-US" smtClean="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12CD175-0674-40FB-B5C4-101E7C7EB2C7}"/>
              </a:ext>
            </a:extLst>
          </p:cNvPr>
          <p:cNvSpPr>
            <a:spLocks noGrp="1" noChangeArrowheads="1"/>
          </p:cNvSpPr>
          <p:nvPr>
            <p:ph type="title"/>
          </p:nvPr>
        </p:nvSpPr>
        <p:spPr/>
        <p:txBody>
          <a:bodyPr/>
          <a:lstStyle/>
          <a:p>
            <a:r>
              <a:rPr lang="en-US" altLang="en-US"/>
              <a:t>AdaBoost Example</a:t>
            </a:r>
          </a:p>
        </p:txBody>
      </p:sp>
      <p:sp>
        <p:nvSpPr>
          <p:cNvPr id="28675" name="Rectangle 3">
            <a:extLst>
              <a:ext uri="{FF2B5EF4-FFF2-40B4-BE49-F238E27FC236}">
                <a16:creationId xmlns:a16="http://schemas.microsoft.com/office/drawing/2014/main" id="{3C31CB6E-EC00-461B-A711-6726BAEC6AFD}"/>
              </a:ext>
            </a:extLst>
          </p:cNvPr>
          <p:cNvSpPr>
            <a:spLocks noGrp="1" noChangeArrowheads="1"/>
          </p:cNvSpPr>
          <p:nvPr>
            <p:ph type="body" idx="1"/>
          </p:nvPr>
        </p:nvSpPr>
        <p:spPr/>
        <p:txBody>
          <a:bodyPr/>
          <a:lstStyle/>
          <a:p>
            <a:r>
              <a:rPr lang="en-US" altLang="en-US"/>
              <a:t>Consider 1-dimensional data set:</a:t>
            </a:r>
          </a:p>
          <a:p>
            <a:endParaRPr lang="en-US" altLang="en-US"/>
          </a:p>
          <a:p>
            <a:endParaRPr lang="en-US" altLang="en-US"/>
          </a:p>
          <a:p>
            <a:endParaRPr lang="en-US" altLang="en-US"/>
          </a:p>
          <a:p>
            <a:r>
              <a:rPr lang="en-US" altLang="en-US"/>
              <a:t>Classifier is a decision stump</a:t>
            </a:r>
          </a:p>
          <a:p>
            <a:pPr lvl="1"/>
            <a:r>
              <a:rPr lang="en-US" altLang="en-US"/>
              <a:t>Decision rule:  	x </a:t>
            </a:r>
            <a:r>
              <a:rPr lang="en-US" altLang="en-US">
                <a:sym typeface="Symbol" panose="05050102010706020507" pitchFamily="18" charset="2"/>
              </a:rPr>
              <a:t> k</a:t>
            </a:r>
            <a:r>
              <a:rPr lang="en-US" altLang="en-US"/>
              <a:t> </a:t>
            </a:r>
            <a:r>
              <a:rPr lang="en-US" altLang="en-US">
                <a:sym typeface="Symbol" panose="05050102010706020507" pitchFamily="18" charset="2"/>
              </a:rPr>
              <a:t>versus </a:t>
            </a:r>
            <a:r>
              <a:rPr lang="en-US" altLang="en-US"/>
              <a:t>x &gt; k</a:t>
            </a:r>
          </a:p>
          <a:p>
            <a:pPr lvl="1"/>
            <a:r>
              <a:rPr lang="en-US" altLang="en-US"/>
              <a:t>Split point k is chosen based on entropy</a:t>
            </a:r>
          </a:p>
        </p:txBody>
      </p:sp>
      <p:graphicFrame>
        <p:nvGraphicFramePr>
          <p:cNvPr id="28676" name="Object 2">
            <a:extLst>
              <a:ext uri="{FF2B5EF4-FFF2-40B4-BE49-F238E27FC236}">
                <a16:creationId xmlns:a16="http://schemas.microsoft.com/office/drawing/2014/main" id="{65DADCFE-23A9-4E61-ABFA-4AFC2866A921}"/>
              </a:ext>
            </a:extLst>
          </p:cNvPr>
          <p:cNvGraphicFramePr>
            <a:graphicFrameLocks noGrp="1" noChangeAspect="1"/>
          </p:cNvGraphicFramePr>
          <p:nvPr>
            <p:ph idx="4294967295"/>
          </p:nvPr>
        </p:nvGraphicFramePr>
        <p:xfrm>
          <a:off x="2133601" y="1828800"/>
          <a:ext cx="7491413" cy="1200150"/>
        </p:xfrm>
        <a:graphic>
          <a:graphicData uri="http://schemas.openxmlformats.org/presentationml/2006/ole">
            <mc:AlternateContent xmlns:mc="http://schemas.openxmlformats.org/markup-compatibility/2006">
              <mc:Choice xmlns:v="urn:schemas-microsoft-com:vml" Requires="v">
                <p:oleObj name="Visio" r:id="rId2" imgW="6270295" imgH="1004995" progId="Visio.Drawing.6">
                  <p:embed/>
                </p:oleObj>
              </mc:Choice>
              <mc:Fallback>
                <p:oleObj name="Visio" r:id="rId2" imgW="6270295" imgH="1004995" progId="Visio.Drawing.6">
                  <p:embed/>
                  <p:pic>
                    <p:nvPicPr>
                      <p:cNvPr id="28676" name="Object 2">
                        <a:extLst>
                          <a:ext uri="{FF2B5EF4-FFF2-40B4-BE49-F238E27FC236}">
                            <a16:creationId xmlns:a16="http://schemas.microsoft.com/office/drawing/2014/main" id="{65DADCFE-23A9-4E61-ABFA-4AFC2866A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1" y="1828800"/>
                        <a:ext cx="749141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7" name="Oval 5">
            <a:extLst>
              <a:ext uri="{FF2B5EF4-FFF2-40B4-BE49-F238E27FC236}">
                <a16:creationId xmlns:a16="http://schemas.microsoft.com/office/drawing/2014/main" id="{CB758B22-DE11-45E7-97FD-C996883891AB}"/>
              </a:ext>
            </a:extLst>
          </p:cNvPr>
          <p:cNvSpPr>
            <a:spLocks noChangeArrowheads="1"/>
          </p:cNvSpPr>
          <p:nvPr/>
        </p:nvSpPr>
        <p:spPr bwMode="auto">
          <a:xfrm>
            <a:off x="4953000" y="4891088"/>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en-US" sz="1400"/>
              <a:t>x </a:t>
            </a:r>
            <a:r>
              <a:rPr lang="en-US" altLang="en-US" sz="1400">
                <a:sym typeface="Symbol" panose="05050102010706020507" pitchFamily="18" charset="2"/>
              </a:rPr>
              <a:t> k</a:t>
            </a:r>
          </a:p>
        </p:txBody>
      </p:sp>
      <p:sp>
        <p:nvSpPr>
          <p:cNvPr id="28678" name="Line 6">
            <a:extLst>
              <a:ext uri="{FF2B5EF4-FFF2-40B4-BE49-F238E27FC236}">
                <a16:creationId xmlns:a16="http://schemas.microsoft.com/office/drawing/2014/main" id="{02BA9675-DC02-4140-82D2-0522AD368BB2}"/>
              </a:ext>
            </a:extLst>
          </p:cNvPr>
          <p:cNvSpPr>
            <a:spLocks noChangeShapeType="1"/>
          </p:cNvSpPr>
          <p:nvPr/>
        </p:nvSpPr>
        <p:spPr bwMode="auto">
          <a:xfrm flipH="1">
            <a:off x="4800600" y="5576888"/>
            <a:ext cx="7620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79" name="Line 7">
            <a:extLst>
              <a:ext uri="{FF2B5EF4-FFF2-40B4-BE49-F238E27FC236}">
                <a16:creationId xmlns:a16="http://schemas.microsoft.com/office/drawing/2014/main" id="{EF83825C-A326-43B8-8A74-AD471B2C8CBB}"/>
              </a:ext>
            </a:extLst>
          </p:cNvPr>
          <p:cNvSpPr>
            <a:spLocks noChangeShapeType="1"/>
          </p:cNvSpPr>
          <p:nvPr/>
        </p:nvSpPr>
        <p:spPr bwMode="auto">
          <a:xfrm>
            <a:off x="5562600" y="5576888"/>
            <a:ext cx="8382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0" name="Text Box 8">
            <a:extLst>
              <a:ext uri="{FF2B5EF4-FFF2-40B4-BE49-F238E27FC236}">
                <a16:creationId xmlns:a16="http://schemas.microsoft.com/office/drawing/2014/main" id="{839F340E-D249-4B7A-832D-C87C05BE839E}"/>
              </a:ext>
            </a:extLst>
          </p:cNvPr>
          <p:cNvSpPr txBox="1">
            <a:spLocks noChangeArrowheads="1"/>
          </p:cNvSpPr>
          <p:nvPr/>
        </p:nvSpPr>
        <p:spPr bwMode="auto">
          <a:xfrm>
            <a:off x="4495800" y="59578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50000"/>
              </a:spcAft>
              <a:buClrTx/>
              <a:buSzTx/>
              <a:buFontTx/>
              <a:buNone/>
            </a:pPr>
            <a:r>
              <a:rPr lang="en-US" altLang="en-US" sz="1800"/>
              <a:t>y</a:t>
            </a:r>
            <a:r>
              <a:rPr lang="en-US" altLang="en-US" sz="1800" baseline="-25000"/>
              <a:t>left</a:t>
            </a:r>
            <a:endParaRPr lang="en-US" altLang="en-US" sz="1800"/>
          </a:p>
        </p:txBody>
      </p:sp>
      <p:sp>
        <p:nvSpPr>
          <p:cNvPr id="28681" name="Text Box 9">
            <a:extLst>
              <a:ext uri="{FF2B5EF4-FFF2-40B4-BE49-F238E27FC236}">
                <a16:creationId xmlns:a16="http://schemas.microsoft.com/office/drawing/2014/main" id="{4A855A4F-3D62-45AF-A88B-494C501D6474}"/>
              </a:ext>
            </a:extLst>
          </p:cNvPr>
          <p:cNvSpPr txBox="1">
            <a:spLocks noChangeArrowheads="1"/>
          </p:cNvSpPr>
          <p:nvPr/>
        </p:nvSpPr>
        <p:spPr bwMode="auto">
          <a:xfrm>
            <a:off x="6096000" y="59578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50000"/>
              </a:spcAft>
              <a:buClrTx/>
              <a:buSzTx/>
              <a:buFontTx/>
              <a:buNone/>
            </a:pPr>
            <a:r>
              <a:rPr lang="en-US" altLang="en-US" sz="1800"/>
              <a:t>y</a:t>
            </a:r>
            <a:r>
              <a:rPr lang="en-US" altLang="en-US" sz="1800" baseline="-25000"/>
              <a:t>right</a:t>
            </a:r>
            <a:endParaRPr lang="en-US" altLang="en-US" sz="1800"/>
          </a:p>
        </p:txBody>
      </p:sp>
      <p:sp>
        <p:nvSpPr>
          <p:cNvPr id="28682" name="Text Box 10">
            <a:extLst>
              <a:ext uri="{FF2B5EF4-FFF2-40B4-BE49-F238E27FC236}">
                <a16:creationId xmlns:a16="http://schemas.microsoft.com/office/drawing/2014/main" id="{4B8547C0-79C0-4F5A-ADA5-A73EB050F1DE}"/>
              </a:ext>
            </a:extLst>
          </p:cNvPr>
          <p:cNvSpPr txBox="1">
            <a:spLocks noChangeArrowheads="1"/>
          </p:cNvSpPr>
          <p:nvPr/>
        </p:nvSpPr>
        <p:spPr bwMode="auto">
          <a:xfrm>
            <a:off x="4495800" y="5486400"/>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50000"/>
              </a:spcAft>
              <a:buClrTx/>
              <a:buSzTx/>
              <a:buFontTx/>
              <a:buNone/>
            </a:pPr>
            <a:r>
              <a:rPr lang="en-US" altLang="en-US" sz="1600"/>
              <a:t>True</a:t>
            </a:r>
          </a:p>
        </p:txBody>
      </p:sp>
      <p:sp>
        <p:nvSpPr>
          <p:cNvPr id="28683" name="Text Box 11">
            <a:extLst>
              <a:ext uri="{FF2B5EF4-FFF2-40B4-BE49-F238E27FC236}">
                <a16:creationId xmlns:a16="http://schemas.microsoft.com/office/drawing/2014/main" id="{9E343018-CD3F-4A41-8D26-31BB7B1360D3}"/>
              </a:ext>
            </a:extLst>
          </p:cNvPr>
          <p:cNvSpPr txBox="1">
            <a:spLocks noChangeArrowheads="1"/>
          </p:cNvSpPr>
          <p:nvPr/>
        </p:nvSpPr>
        <p:spPr bwMode="auto">
          <a:xfrm>
            <a:off x="6019800" y="5486400"/>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50000"/>
              </a:spcAft>
              <a:buClrTx/>
              <a:buSzTx/>
              <a:buFontTx/>
              <a:buNone/>
            </a:pPr>
            <a:r>
              <a:rPr lang="en-US" altLang="en-US" sz="1600"/>
              <a:t>False</a:t>
            </a:r>
          </a:p>
        </p:txBody>
      </p:sp>
      <p:sp>
        <p:nvSpPr>
          <p:cNvPr id="5" name="Slide Number Placeholder 4">
            <a:extLst>
              <a:ext uri="{FF2B5EF4-FFF2-40B4-BE49-F238E27FC236}">
                <a16:creationId xmlns:a16="http://schemas.microsoft.com/office/drawing/2014/main" id="{1BA7CC43-697A-E2FC-15D1-29BE9EFBF99E}"/>
              </a:ext>
            </a:extLst>
          </p:cNvPr>
          <p:cNvSpPr>
            <a:spLocks noGrp="1"/>
          </p:cNvSpPr>
          <p:nvPr>
            <p:ph type="sldNum" sz="quarter" idx="12"/>
          </p:nvPr>
        </p:nvSpPr>
        <p:spPr/>
        <p:txBody>
          <a:bodyPr/>
          <a:lstStyle/>
          <a:p>
            <a:fld id="{C3CACD4E-8C52-004E-9A96-AD0BCBF3CA39}" type="slidenum">
              <a:rPr lang="en-US" smtClean="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F641395-E8FA-46C5-9914-EABBFF2B6760}"/>
              </a:ext>
            </a:extLst>
          </p:cNvPr>
          <p:cNvSpPr>
            <a:spLocks noGrp="1" noChangeArrowheads="1"/>
          </p:cNvSpPr>
          <p:nvPr>
            <p:ph type="title"/>
          </p:nvPr>
        </p:nvSpPr>
        <p:spPr/>
        <p:txBody>
          <a:bodyPr/>
          <a:lstStyle/>
          <a:p>
            <a:r>
              <a:rPr lang="en-US" altLang="en-US"/>
              <a:t>AdaBoost Example</a:t>
            </a:r>
          </a:p>
        </p:txBody>
      </p:sp>
      <p:sp>
        <p:nvSpPr>
          <p:cNvPr id="29699" name="Rectangle 6">
            <a:extLst>
              <a:ext uri="{FF2B5EF4-FFF2-40B4-BE49-F238E27FC236}">
                <a16:creationId xmlns:a16="http://schemas.microsoft.com/office/drawing/2014/main" id="{7DA00226-F7EA-4A93-901A-172FE6A950D7}"/>
              </a:ext>
            </a:extLst>
          </p:cNvPr>
          <p:cNvSpPr>
            <a:spLocks noGrp="1" noChangeArrowheads="1"/>
          </p:cNvSpPr>
          <p:nvPr>
            <p:ph type="body" idx="1"/>
          </p:nvPr>
        </p:nvSpPr>
        <p:spPr/>
        <p:txBody>
          <a:bodyPr/>
          <a:lstStyle/>
          <a:p>
            <a:r>
              <a:rPr lang="en-US" altLang="en-US"/>
              <a:t>Training sets for the first 3 boosting rounds:</a:t>
            </a:r>
          </a:p>
          <a:p>
            <a:endParaRPr lang="en-US" altLang="en-US"/>
          </a:p>
          <a:p>
            <a:endParaRPr lang="en-US" altLang="en-US"/>
          </a:p>
          <a:p>
            <a:endParaRPr lang="en-US" altLang="en-US"/>
          </a:p>
          <a:p>
            <a:endParaRPr lang="en-US" altLang="en-US"/>
          </a:p>
          <a:p>
            <a:endParaRPr lang="en-US" altLang="en-US"/>
          </a:p>
          <a:p>
            <a:endParaRPr lang="en-US" altLang="en-US"/>
          </a:p>
          <a:p>
            <a:r>
              <a:rPr lang="en-US" altLang="en-US"/>
              <a:t>Summary:</a:t>
            </a:r>
          </a:p>
        </p:txBody>
      </p:sp>
      <p:pic>
        <p:nvPicPr>
          <p:cNvPr id="29700" name="Picture 4">
            <a:extLst>
              <a:ext uri="{FF2B5EF4-FFF2-40B4-BE49-F238E27FC236}">
                <a16:creationId xmlns:a16="http://schemas.microsoft.com/office/drawing/2014/main" id="{818561EA-F77E-4F68-AD4D-256013F2E4BC}"/>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438400" y="1905001"/>
            <a:ext cx="6553200" cy="2714625"/>
          </a:xfrm>
          <a:noFill/>
        </p:spPr>
      </p:pic>
      <p:sp>
        <p:nvSpPr>
          <p:cNvPr id="29701" name="Line 7">
            <a:extLst>
              <a:ext uri="{FF2B5EF4-FFF2-40B4-BE49-F238E27FC236}">
                <a16:creationId xmlns:a16="http://schemas.microsoft.com/office/drawing/2014/main" id="{7FE58E1A-A0B8-4D3B-9B78-917DC8E0AF5E}"/>
              </a:ext>
            </a:extLst>
          </p:cNvPr>
          <p:cNvSpPr>
            <a:spLocks noChangeShapeType="1"/>
          </p:cNvSpPr>
          <p:nvPr/>
        </p:nvSpPr>
        <p:spPr bwMode="auto">
          <a:xfrm>
            <a:off x="7772400" y="19050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2" name="Line 8">
            <a:extLst>
              <a:ext uri="{FF2B5EF4-FFF2-40B4-BE49-F238E27FC236}">
                <a16:creationId xmlns:a16="http://schemas.microsoft.com/office/drawing/2014/main" id="{E0EBFCEA-D238-401E-987B-66AC84F38D95}"/>
              </a:ext>
            </a:extLst>
          </p:cNvPr>
          <p:cNvSpPr>
            <a:spLocks noChangeShapeType="1"/>
          </p:cNvSpPr>
          <p:nvPr/>
        </p:nvSpPr>
        <p:spPr bwMode="auto">
          <a:xfrm>
            <a:off x="3048000" y="3124200"/>
            <a:ext cx="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3" name="Line 9">
            <a:extLst>
              <a:ext uri="{FF2B5EF4-FFF2-40B4-BE49-F238E27FC236}">
                <a16:creationId xmlns:a16="http://schemas.microsoft.com/office/drawing/2014/main" id="{BE3354F1-15E7-4ADA-8E07-C106BAFDA6FD}"/>
              </a:ext>
            </a:extLst>
          </p:cNvPr>
          <p:cNvSpPr>
            <a:spLocks noChangeShapeType="1"/>
          </p:cNvSpPr>
          <p:nvPr/>
        </p:nvSpPr>
        <p:spPr bwMode="auto">
          <a:xfrm>
            <a:off x="4267200" y="3886200"/>
            <a:ext cx="0" cy="914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9704" name="Picture 140">
            <a:extLst>
              <a:ext uri="{FF2B5EF4-FFF2-40B4-BE49-F238E27FC236}">
                <a16:creationId xmlns:a16="http://schemas.microsoft.com/office/drawing/2014/main" id="{118B6DF9-2E87-4E76-8F2D-674C9ACD2772}"/>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3962400" y="5257800"/>
            <a:ext cx="5486400" cy="1074738"/>
          </a:xfrm>
          <a:noFill/>
        </p:spPr>
      </p:pic>
      <p:sp>
        <p:nvSpPr>
          <p:cNvPr id="5" name="Slide Number Placeholder 4">
            <a:extLst>
              <a:ext uri="{FF2B5EF4-FFF2-40B4-BE49-F238E27FC236}">
                <a16:creationId xmlns:a16="http://schemas.microsoft.com/office/drawing/2014/main" id="{BFE1E1B1-DC88-35A8-FFAE-F0B291FE10B3}"/>
              </a:ext>
            </a:extLst>
          </p:cNvPr>
          <p:cNvSpPr>
            <a:spLocks noGrp="1"/>
          </p:cNvSpPr>
          <p:nvPr>
            <p:ph type="sldNum" sz="quarter" idx="12"/>
          </p:nvPr>
        </p:nvSpPr>
        <p:spPr/>
        <p:txBody>
          <a:bodyPr/>
          <a:lstStyle/>
          <a:p>
            <a:fld id="{C3CACD4E-8C52-004E-9A96-AD0BCBF3CA39}" type="slidenum">
              <a:rPr lang="en-US" smtClean="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366EC3C-3A0C-4273-A552-0800A6D9DA9B}"/>
              </a:ext>
            </a:extLst>
          </p:cNvPr>
          <p:cNvSpPr>
            <a:spLocks noGrp="1" noChangeArrowheads="1"/>
          </p:cNvSpPr>
          <p:nvPr>
            <p:ph type="title"/>
          </p:nvPr>
        </p:nvSpPr>
        <p:spPr/>
        <p:txBody>
          <a:bodyPr/>
          <a:lstStyle/>
          <a:p>
            <a:r>
              <a:rPr lang="en-US" altLang="en-US"/>
              <a:t>AdaBoost Example</a:t>
            </a:r>
          </a:p>
        </p:txBody>
      </p:sp>
      <p:sp>
        <p:nvSpPr>
          <p:cNvPr id="30723" name="Rectangle 3">
            <a:extLst>
              <a:ext uri="{FF2B5EF4-FFF2-40B4-BE49-F238E27FC236}">
                <a16:creationId xmlns:a16="http://schemas.microsoft.com/office/drawing/2014/main" id="{60E405C7-1BCE-4A89-BFC2-B181F050BC43}"/>
              </a:ext>
            </a:extLst>
          </p:cNvPr>
          <p:cNvSpPr>
            <a:spLocks noGrp="1" noChangeArrowheads="1"/>
          </p:cNvSpPr>
          <p:nvPr>
            <p:ph type="body" idx="1"/>
          </p:nvPr>
        </p:nvSpPr>
        <p:spPr/>
        <p:txBody>
          <a:bodyPr/>
          <a:lstStyle/>
          <a:p>
            <a:r>
              <a:rPr lang="en-US" altLang="en-US"/>
              <a:t>Weights</a:t>
            </a:r>
          </a:p>
          <a:p>
            <a:endParaRPr lang="en-US" altLang="en-US"/>
          </a:p>
          <a:p>
            <a:endParaRPr lang="en-US" altLang="en-US"/>
          </a:p>
          <a:p>
            <a:endParaRPr lang="en-US" altLang="en-US"/>
          </a:p>
          <a:p>
            <a:r>
              <a:rPr lang="en-US" altLang="en-US"/>
              <a:t>Classification</a:t>
            </a:r>
          </a:p>
        </p:txBody>
      </p:sp>
      <p:pic>
        <p:nvPicPr>
          <p:cNvPr id="30724" name="Picture 4">
            <a:extLst>
              <a:ext uri="{FF2B5EF4-FFF2-40B4-BE49-F238E27FC236}">
                <a16:creationId xmlns:a16="http://schemas.microsoft.com/office/drawing/2014/main" id="{30A50516-DD77-4974-9FF7-8C14793F461E}"/>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3048000" y="1798638"/>
            <a:ext cx="6781800" cy="1020762"/>
          </a:xfrm>
          <a:noFill/>
        </p:spPr>
      </p:pic>
      <p:pic>
        <p:nvPicPr>
          <p:cNvPr id="30725" name="Picture 443">
            <a:extLst>
              <a:ext uri="{FF2B5EF4-FFF2-40B4-BE49-F238E27FC236}">
                <a16:creationId xmlns:a16="http://schemas.microsoft.com/office/drawing/2014/main" id="{E6A83B52-0E70-4143-9EFF-D3E79107AC2A}"/>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2971800" y="4086226"/>
            <a:ext cx="6934200" cy="1552575"/>
          </a:xfrm>
          <a:noFill/>
        </p:spPr>
      </p:pic>
      <p:sp>
        <p:nvSpPr>
          <p:cNvPr id="30726" name="Rectangle 445">
            <a:extLst>
              <a:ext uri="{FF2B5EF4-FFF2-40B4-BE49-F238E27FC236}">
                <a16:creationId xmlns:a16="http://schemas.microsoft.com/office/drawing/2014/main" id="{2EDA0966-0145-4433-A7AD-D385ECD53538}"/>
              </a:ext>
            </a:extLst>
          </p:cNvPr>
          <p:cNvSpPr>
            <a:spLocks noChangeArrowheads="1"/>
          </p:cNvSpPr>
          <p:nvPr/>
        </p:nvSpPr>
        <p:spPr bwMode="auto">
          <a:xfrm>
            <a:off x="2971800" y="5334000"/>
            <a:ext cx="6934200" cy="304800"/>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30727" name="Text Box 446">
            <a:extLst>
              <a:ext uri="{FF2B5EF4-FFF2-40B4-BE49-F238E27FC236}">
                <a16:creationId xmlns:a16="http://schemas.microsoft.com/office/drawing/2014/main" id="{59F079A7-C0D7-45D2-9878-337B0C583501}"/>
              </a:ext>
            </a:extLst>
          </p:cNvPr>
          <p:cNvSpPr txBox="1">
            <a:spLocks noChangeArrowheads="1"/>
          </p:cNvSpPr>
          <p:nvPr/>
        </p:nvSpPr>
        <p:spPr bwMode="auto">
          <a:xfrm>
            <a:off x="1752600" y="5257800"/>
            <a:ext cx="1143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1400"/>
              <a:t>Predicted Class</a:t>
            </a:r>
          </a:p>
        </p:txBody>
      </p:sp>
      <p:sp>
        <p:nvSpPr>
          <p:cNvPr id="5" name="Slide Number Placeholder 4">
            <a:extLst>
              <a:ext uri="{FF2B5EF4-FFF2-40B4-BE49-F238E27FC236}">
                <a16:creationId xmlns:a16="http://schemas.microsoft.com/office/drawing/2014/main" id="{B37AFAD8-6D2A-6FEB-2F77-762B81D58D83}"/>
              </a:ext>
            </a:extLst>
          </p:cNvPr>
          <p:cNvSpPr>
            <a:spLocks noGrp="1"/>
          </p:cNvSpPr>
          <p:nvPr>
            <p:ph type="sldNum" sz="quarter" idx="12"/>
          </p:nvPr>
        </p:nvSpPr>
        <p:spPr/>
        <p:txBody>
          <a:bodyPr/>
          <a:lstStyle/>
          <a:p>
            <a:fld id="{C3CACD4E-8C52-004E-9A96-AD0BCBF3CA39}" type="slidenum">
              <a:rPr lang="en-US" smtClean="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a:t>Random Forest Algorithm</a:t>
            </a:r>
          </a:p>
        </p:txBody>
      </p:sp>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p:txBody>
          <a:bodyPr/>
          <a:lstStyle/>
          <a:p>
            <a:r>
              <a:rPr lang="en-US" altLang="en-US" dirty="0"/>
              <a:t>Construct an ensemble of decision trees by manipulating training set as well as features</a:t>
            </a:r>
          </a:p>
          <a:p>
            <a:endParaRPr lang="en-US" altLang="en-US" sz="1000" dirty="0"/>
          </a:p>
          <a:p>
            <a:pPr lvl="1"/>
            <a:r>
              <a:rPr lang="en-US" altLang="en-US" dirty="0"/>
              <a:t>Use bootstrap sample to train every decision tree (similar to Bagging)</a:t>
            </a:r>
          </a:p>
          <a:p>
            <a:pPr lvl="1"/>
            <a:r>
              <a:rPr lang="en-US" altLang="en-US" dirty="0"/>
              <a:t>Use the following tree induction algorithm:</a:t>
            </a:r>
          </a:p>
          <a:p>
            <a:pPr lvl="2"/>
            <a:r>
              <a:rPr lang="en-US" altLang="en-US" dirty="0"/>
              <a:t> At every internal node of decision tree, randomly sample p attributes for selecting split criterion</a:t>
            </a:r>
          </a:p>
          <a:p>
            <a:pPr lvl="2"/>
            <a:r>
              <a:rPr lang="en-US" altLang="en-US" dirty="0"/>
              <a:t> Repeat this procedure until all leaves are pure (unpruned tree)</a:t>
            </a:r>
          </a:p>
          <a:p>
            <a:pPr lvl="1"/>
            <a:endParaRPr lang="en-US" altLang="en-US" dirty="0"/>
          </a:p>
          <a:p>
            <a:pPr lvl="1"/>
            <a:endParaRPr lang="en-US" altLang="en-US" dirty="0"/>
          </a:p>
          <a:p>
            <a:pPr lvl="2"/>
            <a:endParaRPr lang="en-US" altLang="en-US" dirty="0"/>
          </a:p>
        </p:txBody>
      </p:sp>
      <p:sp>
        <p:nvSpPr>
          <p:cNvPr id="4" name="Slide Number Placeholder 3">
            <a:extLst>
              <a:ext uri="{FF2B5EF4-FFF2-40B4-BE49-F238E27FC236}">
                <a16:creationId xmlns:a16="http://schemas.microsoft.com/office/drawing/2014/main" id="{3E22D2AC-446C-FAFD-C720-7D02096C27CE}"/>
              </a:ext>
            </a:extLst>
          </p:cNvPr>
          <p:cNvSpPr>
            <a:spLocks noGrp="1"/>
          </p:cNvSpPr>
          <p:nvPr>
            <p:ph type="sldNum" sz="quarter" idx="12"/>
          </p:nvPr>
        </p:nvSpPr>
        <p:spPr/>
        <p:txBody>
          <a:bodyPr/>
          <a:lstStyle/>
          <a:p>
            <a:fld id="{C3CACD4E-8C52-004E-9A96-AD0BCBF3CA39}" type="slidenum">
              <a:rPr lang="en-US" smtClean="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86DF237F-F572-473E-890F-0FC9EDA81C7E}"/>
              </a:ext>
            </a:extLst>
          </p:cNvPr>
          <p:cNvSpPr>
            <a:spLocks noGrp="1" noChangeArrowheads="1"/>
          </p:cNvSpPr>
          <p:nvPr>
            <p:ph type="title"/>
          </p:nvPr>
        </p:nvSpPr>
        <p:spPr/>
        <p:txBody>
          <a:bodyPr/>
          <a:lstStyle/>
          <a:p>
            <a:r>
              <a:rPr lang="en-US" altLang="en-US"/>
              <a:t>Characteristics of Random Forest</a:t>
            </a:r>
          </a:p>
        </p:txBody>
      </p:sp>
      <p:pic>
        <p:nvPicPr>
          <p:cNvPr id="32771" name="Content Placeholder 2">
            <a:extLst>
              <a:ext uri="{FF2B5EF4-FFF2-40B4-BE49-F238E27FC236}">
                <a16:creationId xmlns:a16="http://schemas.microsoft.com/office/drawing/2014/main" id="{9C58C699-0ADA-4039-960C-4E188EEF6DC4}"/>
              </a:ext>
            </a:extLst>
          </p:cNvPr>
          <p:cNvPicPr>
            <a:picLocks noGrp="1" noRot="1" noChangeAspect="1" noMove="1" noResize="1" noEditPoints="1" noAdjustHandles="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79600" y="1130300"/>
            <a:ext cx="8369300" cy="5194300"/>
          </a:xfrm>
        </p:spPr>
      </p:pic>
      <p:sp>
        <p:nvSpPr>
          <p:cNvPr id="4" name="Slide Number Placeholder 3">
            <a:extLst>
              <a:ext uri="{FF2B5EF4-FFF2-40B4-BE49-F238E27FC236}">
                <a16:creationId xmlns:a16="http://schemas.microsoft.com/office/drawing/2014/main" id="{CBD11532-00AE-38E1-4E9B-58DD13BDDFE3}"/>
              </a:ext>
            </a:extLst>
          </p:cNvPr>
          <p:cNvSpPr>
            <a:spLocks noGrp="1"/>
          </p:cNvSpPr>
          <p:nvPr>
            <p:ph type="sldNum" sz="quarter" idx="12"/>
          </p:nvPr>
        </p:nvSpPr>
        <p:spPr/>
        <p:txBody>
          <a:bodyPr/>
          <a:lstStyle/>
          <a:p>
            <a:fld id="{C3CACD4E-8C52-004E-9A96-AD0BCBF3CA39}" type="slidenum">
              <a:rPr lang="en-US" smtClean="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dirty="0"/>
              <a:t>Gradient Boosting</a:t>
            </a:r>
          </a:p>
        </p:txBody>
      </p:sp>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p:txBody>
          <a:bodyPr/>
          <a:lstStyle/>
          <a:p>
            <a:r>
              <a:rPr lang="en-US" altLang="en-US" dirty="0"/>
              <a:t>Constructs a series of models </a:t>
            </a:r>
          </a:p>
          <a:p>
            <a:pPr lvl="1"/>
            <a:r>
              <a:rPr lang="en-US" altLang="en-US" dirty="0"/>
              <a:t>Models can be any predictive model that has a differentiable loss function</a:t>
            </a:r>
          </a:p>
          <a:p>
            <a:pPr lvl="1"/>
            <a:r>
              <a:rPr lang="en-US" altLang="en-US"/>
              <a:t>Commonly, </a:t>
            </a:r>
            <a:r>
              <a:rPr lang="en-US" altLang="en-US" dirty="0"/>
              <a:t>trees are the chosen model</a:t>
            </a:r>
          </a:p>
          <a:p>
            <a:pPr lvl="2"/>
            <a:r>
              <a:rPr lang="en-US" altLang="en-US" dirty="0"/>
              <a:t> </a:t>
            </a:r>
            <a:r>
              <a:rPr lang="en-US" altLang="en-US" dirty="0" err="1"/>
              <a:t>XGboost</a:t>
            </a:r>
            <a:r>
              <a:rPr lang="en-US" altLang="en-US" dirty="0"/>
              <a:t> (extreme gradient boosting) is a popular package because of its impressive performance</a:t>
            </a:r>
          </a:p>
          <a:p>
            <a:r>
              <a:rPr lang="en-US" altLang="en-US" dirty="0"/>
              <a:t>Boosting can be viewed as optimizing the loss function by iterative functional gradient descent.</a:t>
            </a:r>
          </a:p>
          <a:p>
            <a:r>
              <a:rPr lang="en-US" altLang="en-US" dirty="0"/>
              <a:t>Implementations of various boosted algorithms are available in Python, R, Matlab, and more.</a:t>
            </a:r>
          </a:p>
          <a:p>
            <a:pPr lvl="1"/>
            <a:endParaRPr lang="en-US" altLang="en-US" dirty="0"/>
          </a:p>
          <a:p>
            <a:pPr lvl="2"/>
            <a:endParaRPr lang="en-US" altLang="en-US" dirty="0"/>
          </a:p>
        </p:txBody>
      </p:sp>
      <p:sp>
        <p:nvSpPr>
          <p:cNvPr id="4" name="Slide Number Placeholder 3">
            <a:extLst>
              <a:ext uri="{FF2B5EF4-FFF2-40B4-BE49-F238E27FC236}">
                <a16:creationId xmlns:a16="http://schemas.microsoft.com/office/drawing/2014/main" id="{F153D361-EDBE-F18A-94C8-C57409FA2E52}"/>
              </a:ext>
            </a:extLst>
          </p:cNvPr>
          <p:cNvSpPr>
            <a:spLocks noGrp="1"/>
          </p:cNvSpPr>
          <p:nvPr>
            <p:ph type="sldNum" sz="quarter" idx="12"/>
          </p:nvPr>
        </p:nvSpPr>
        <p:spPr/>
        <p:txBody>
          <a:bodyPr/>
          <a:lstStyle/>
          <a:p>
            <a:fld id="{C3CACD4E-8C52-004E-9A96-AD0BCBF3CA39}" type="slidenum">
              <a:rPr lang="en-US" smtClean="0"/>
              <a:t>96</a:t>
            </a:fld>
            <a:endParaRPr lang="en-US"/>
          </a:p>
        </p:txBody>
      </p:sp>
    </p:spTree>
    <p:extLst>
      <p:ext uri="{BB962C8B-B14F-4D97-AF65-F5344CB8AC3E}">
        <p14:creationId xmlns:p14="http://schemas.microsoft.com/office/powerpoint/2010/main" val="648959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5163</Words>
  <Application>Microsoft Macintosh PowerPoint</Application>
  <PresentationFormat>Widescreen</PresentationFormat>
  <Paragraphs>801</Paragraphs>
  <Slides>96</Slides>
  <Notes>24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5</vt:i4>
      </vt:variant>
      <vt:variant>
        <vt:lpstr>Slide Titles</vt:lpstr>
      </vt:variant>
      <vt:variant>
        <vt:i4>96</vt:i4>
      </vt:variant>
    </vt:vector>
  </HeadingPairs>
  <TitlesOfParts>
    <vt:vector size="112" baseType="lpstr">
      <vt:lpstr>Aptos</vt:lpstr>
      <vt:lpstr>Aptos Display</vt:lpstr>
      <vt:lpstr>Arial</vt:lpstr>
      <vt:lpstr>Calibri</vt:lpstr>
      <vt:lpstr>Cambria Math</vt:lpstr>
      <vt:lpstr>Monotype Sorts</vt:lpstr>
      <vt:lpstr>Symbol</vt:lpstr>
      <vt:lpstr>Tahoma</vt:lpstr>
      <vt:lpstr>Times New Roman</vt:lpstr>
      <vt:lpstr>Wingdings</vt:lpstr>
      <vt:lpstr>Office Theme</vt:lpstr>
      <vt:lpstr>Visio</vt:lpstr>
      <vt:lpstr>Equation</vt:lpstr>
      <vt:lpstr>Worksheet</vt:lpstr>
      <vt:lpstr>VISIO</vt:lpstr>
      <vt:lpstr>SmartDraw</vt:lpstr>
      <vt:lpstr>Classification: Advanced Methods</vt:lpstr>
      <vt:lpstr>Nearest Neighbor Classifiers</vt:lpstr>
      <vt:lpstr>Nearest-Neighbor Classifiers</vt:lpstr>
      <vt:lpstr>How to Determine the class label of a Test Sample?</vt:lpstr>
      <vt:lpstr>Nearest Neighbor Classification…</vt:lpstr>
      <vt:lpstr>Nearest Neighbor Classification…</vt:lpstr>
      <vt:lpstr>Improving KNN Efficiency</vt:lpstr>
      <vt:lpstr>Support Vector Machines</vt:lpstr>
      <vt:lpstr>Support Vector Machines</vt:lpstr>
      <vt:lpstr>Support Vector Machines</vt:lpstr>
      <vt:lpstr>Support Vector Machines</vt:lpstr>
      <vt:lpstr>Support Vector Machines</vt:lpstr>
      <vt:lpstr>Support Vector Machines</vt:lpstr>
      <vt:lpstr>Support Vector Machines</vt:lpstr>
      <vt:lpstr>Linear SVM</vt:lpstr>
      <vt:lpstr>Learning Linear SVM</vt:lpstr>
      <vt:lpstr>Example of Linear SVM</vt:lpstr>
      <vt:lpstr>Learning Linear SVM</vt:lpstr>
      <vt:lpstr>Support Vector Machines</vt:lpstr>
      <vt:lpstr>Support Vector Machines</vt:lpstr>
      <vt:lpstr>Support Vector Machines</vt:lpstr>
      <vt:lpstr>Nonlinear Support Vector Machines</vt:lpstr>
      <vt:lpstr>Nonlinear Support Vector Machines</vt:lpstr>
      <vt:lpstr>Learning Nonlinear SVM</vt:lpstr>
      <vt:lpstr>Learning NonLinear SVM</vt:lpstr>
      <vt:lpstr>Learning Nonlinear SVM</vt:lpstr>
      <vt:lpstr>Example of Nonlinear SVM</vt:lpstr>
      <vt:lpstr>Learning Nonlinear SVM</vt:lpstr>
      <vt:lpstr>Characteristics of SVM</vt:lpstr>
      <vt:lpstr>Support Vector Machines</vt:lpstr>
      <vt:lpstr>Artificial Neural Networks (ANN)</vt:lpstr>
      <vt:lpstr>Basic Architecture of Perceptron</vt:lpstr>
      <vt:lpstr>Perceptron Example</vt:lpstr>
      <vt:lpstr>Perceptron Example</vt:lpstr>
      <vt:lpstr>Perceptron Learning Rule</vt:lpstr>
      <vt:lpstr>Perceptron Learning Rule</vt:lpstr>
      <vt:lpstr>Example of Perceptron Learning</vt:lpstr>
      <vt:lpstr>Perceptron Learning</vt:lpstr>
      <vt:lpstr>Nonlinearly Separable Data</vt:lpstr>
      <vt:lpstr>Multi-layer Neural Network</vt:lpstr>
      <vt:lpstr>Multi-layer Neural Network</vt:lpstr>
      <vt:lpstr>Why Multiple Hidden Layers?</vt:lpstr>
      <vt:lpstr>Multi-Layer Network Architecture</vt:lpstr>
      <vt:lpstr>Activation Functions</vt:lpstr>
      <vt:lpstr>Learning Multi-layer Neural Network</vt:lpstr>
      <vt:lpstr>Gradient Descent</vt:lpstr>
      <vt:lpstr>Computing Gradients</vt:lpstr>
      <vt:lpstr>Backpropagation Algorithm</vt:lpstr>
      <vt:lpstr>Design Issues in ANN</vt:lpstr>
      <vt:lpstr>Characteristics of ANN</vt:lpstr>
      <vt:lpstr>Deep Learning Trends</vt:lpstr>
      <vt:lpstr>Classification by Backpropagation</vt:lpstr>
      <vt:lpstr>Neural Network as a Classifier</vt:lpstr>
      <vt:lpstr>A Multi-Layer Feed-Forward Neural Network </vt:lpstr>
      <vt:lpstr>How A Multi-Layer Neural Network Works</vt:lpstr>
      <vt:lpstr>Defining a Network Topology</vt:lpstr>
      <vt:lpstr>Backpropagation</vt:lpstr>
      <vt:lpstr>Neuron: A Hidden/Output Layer Unit </vt:lpstr>
      <vt:lpstr>Efficiency and Interpretability</vt:lpstr>
      <vt:lpstr>Classification: A Mathematical Mapping</vt:lpstr>
      <vt:lpstr>Discriminative Classifiers</vt:lpstr>
      <vt:lpstr>SVM—Support Vector Machines</vt:lpstr>
      <vt:lpstr>SVM—History and Applications</vt:lpstr>
      <vt:lpstr>SVM vs. Neural Network</vt:lpstr>
      <vt:lpstr>Lazy vs. Eager Learning</vt:lpstr>
      <vt:lpstr>Lazy Learner: Instance-Based Methods</vt:lpstr>
      <vt:lpstr>Multiclass Classification</vt:lpstr>
      <vt:lpstr>Semi-Supervised Classification</vt:lpstr>
      <vt:lpstr>Active Learning</vt:lpstr>
      <vt:lpstr>Transfer Learning: Conceptual Framework</vt:lpstr>
      <vt:lpstr>Transfer Learning: Methods and Applications</vt:lpstr>
      <vt:lpstr>Ensemble Methods</vt:lpstr>
      <vt:lpstr>Example: Why Do Ensemble Methods Work?</vt:lpstr>
      <vt:lpstr>Necessary Conditions for Ensemble Methods</vt:lpstr>
      <vt:lpstr>Rationale for Ensemble Learning</vt:lpstr>
      <vt:lpstr>Bias-Variance Decomposition</vt:lpstr>
      <vt:lpstr>Bias-Variance Trade-off and Overfitting </vt:lpstr>
      <vt:lpstr>General Approach of Ensemble Learning</vt:lpstr>
      <vt:lpstr>Constructing Ensemble Classifiers</vt:lpstr>
      <vt:lpstr>Bagging (Bootstrap AGGregatING)</vt:lpstr>
      <vt:lpstr>Bagging Example</vt:lpstr>
      <vt:lpstr>Bagging Example</vt:lpstr>
      <vt:lpstr>Bagging Example</vt:lpstr>
      <vt:lpstr>Bagging Example</vt:lpstr>
      <vt:lpstr>Bagging Example</vt:lpstr>
      <vt:lpstr>Bagging Example</vt:lpstr>
      <vt:lpstr>Boosting</vt:lpstr>
      <vt:lpstr>Boosting</vt:lpstr>
      <vt:lpstr>AdaBoost</vt:lpstr>
      <vt:lpstr>AdaBoost Algorithm</vt:lpstr>
      <vt:lpstr>AdaBoost Example</vt:lpstr>
      <vt:lpstr>AdaBoost Example</vt:lpstr>
      <vt:lpstr>AdaBoost Example</vt:lpstr>
      <vt:lpstr>Random Forest Algorithm</vt:lpstr>
      <vt:lpstr>Characteristics of Random Forest</vt:lpstr>
      <vt:lpstr>Gradient Boosting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Prof. Mostafa</dc:creator>
  <cp:lastModifiedBy>Mostafa Omar</cp:lastModifiedBy>
  <cp:revision>7</cp:revision>
  <dcterms:created xsi:type="dcterms:W3CDTF">2025-10-07T18:50:41Z</dcterms:created>
  <dcterms:modified xsi:type="dcterms:W3CDTF">2025-10-14T22:14:30Z</dcterms:modified>
</cp:coreProperties>
</file>