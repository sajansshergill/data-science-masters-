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5"/>
  </p:notesMasterIdLst>
  <p:sldIdLst>
    <p:sldId id="257" r:id="rId2"/>
    <p:sldId id="1404" r:id="rId3"/>
    <p:sldId id="912" r:id="rId4"/>
    <p:sldId id="907" r:id="rId5"/>
    <p:sldId id="908" r:id="rId6"/>
    <p:sldId id="909" r:id="rId7"/>
    <p:sldId id="910" r:id="rId8"/>
    <p:sldId id="1443" r:id="rId9"/>
    <p:sldId id="918" r:id="rId10"/>
    <p:sldId id="1048" r:id="rId11"/>
    <p:sldId id="1458" r:id="rId12"/>
    <p:sldId id="1456" r:id="rId13"/>
    <p:sldId id="1125" r:id="rId14"/>
    <p:sldId id="1460" r:id="rId15"/>
    <p:sldId id="1014" r:id="rId16"/>
    <p:sldId id="1462" r:id="rId17"/>
    <p:sldId id="1049" r:id="rId18"/>
    <p:sldId id="1223" r:id="rId19"/>
    <p:sldId id="1040" r:id="rId20"/>
    <p:sldId id="1457" r:id="rId21"/>
    <p:sldId id="932" r:id="rId22"/>
    <p:sldId id="1346" r:id="rId23"/>
    <p:sldId id="1345" r:id="rId24"/>
    <p:sldId id="1018" r:id="rId25"/>
    <p:sldId id="939" r:id="rId26"/>
    <p:sldId id="1444" r:id="rId27"/>
    <p:sldId id="953" r:id="rId28"/>
    <p:sldId id="1153" r:id="rId29"/>
    <p:sldId id="1154" r:id="rId30"/>
    <p:sldId id="1156" r:id="rId31"/>
    <p:sldId id="1348" r:id="rId32"/>
    <p:sldId id="1157" r:id="rId33"/>
    <p:sldId id="1158" r:id="rId34"/>
    <p:sldId id="1347" r:id="rId35"/>
    <p:sldId id="1159" r:id="rId36"/>
    <p:sldId id="1445" r:id="rId37"/>
    <p:sldId id="1017" r:id="rId38"/>
    <p:sldId id="1349" r:id="rId39"/>
    <p:sldId id="1350" r:id="rId40"/>
    <p:sldId id="1375" r:id="rId41"/>
    <p:sldId id="1376" r:id="rId42"/>
    <p:sldId id="1351" r:id="rId43"/>
    <p:sldId id="1446" r:id="rId44"/>
    <p:sldId id="1423" r:id="rId45"/>
    <p:sldId id="1415" r:id="rId46"/>
    <p:sldId id="1418" r:id="rId47"/>
    <p:sldId id="1419" r:id="rId48"/>
    <p:sldId id="1422" r:id="rId49"/>
    <p:sldId id="1365" r:id="rId50"/>
    <p:sldId id="1366" r:id="rId51"/>
    <p:sldId id="1433" r:id="rId52"/>
    <p:sldId id="1434" r:id="rId53"/>
    <p:sldId id="1435" r:id="rId54"/>
    <p:sldId id="1436" r:id="rId55"/>
    <p:sldId id="1437" r:id="rId56"/>
    <p:sldId id="1412" r:id="rId57"/>
    <p:sldId id="1430" r:id="rId58"/>
    <p:sldId id="1447" r:id="rId59"/>
    <p:sldId id="1368" r:id="rId60"/>
    <p:sldId id="1188" r:id="rId61"/>
    <p:sldId id="1189" r:id="rId62"/>
    <p:sldId id="1370" r:id="rId63"/>
    <p:sldId id="1452" r:id="rId64"/>
    <p:sldId id="1453" r:id="rId65"/>
    <p:sldId id="568" r:id="rId66"/>
    <p:sldId id="598" r:id="rId67"/>
    <p:sldId id="599" r:id="rId68"/>
    <p:sldId id="600" r:id="rId69"/>
    <p:sldId id="601" r:id="rId70"/>
    <p:sldId id="602" r:id="rId71"/>
    <p:sldId id="603" r:id="rId72"/>
    <p:sldId id="606" r:id="rId73"/>
    <p:sldId id="611" r:id="rId74"/>
    <p:sldId id="597" r:id="rId75"/>
    <p:sldId id="569" r:id="rId76"/>
    <p:sldId id="571" r:id="rId77"/>
    <p:sldId id="572" r:id="rId78"/>
    <p:sldId id="604" r:id="rId79"/>
    <p:sldId id="534" r:id="rId80"/>
    <p:sldId id="521" r:id="rId81"/>
    <p:sldId id="607" r:id="rId82"/>
    <p:sldId id="574" r:id="rId83"/>
    <p:sldId id="608" r:id="rId84"/>
    <p:sldId id="609" r:id="rId85"/>
    <p:sldId id="573" r:id="rId86"/>
    <p:sldId id="523" r:id="rId87"/>
    <p:sldId id="524" r:id="rId88"/>
    <p:sldId id="525" r:id="rId89"/>
    <p:sldId id="526" r:id="rId90"/>
    <p:sldId id="535" r:id="rId91"/>
    <p:sldId id="596" r:id="rId92"/>
    <p:sldId id="610" r:id="rId93"/>
    <p:sldId id="612" r:id="rId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60"/>
    <p:restoredTop sz="94789"/>
  </p:normalViewPr>
  <p:slideViewPr>
    <p:cSldViewPr snapToGrid="0">
      <p:cViewPr varScale="1">
        <p:scale>
          <a:sx n="142" d="100"/>
          <a:sy n="142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E8631-1A40-C84B-9759-FDDD3EF6DFAC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4A4F7-3D63-274B-9DE7-2E841CD19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37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83183432-9C1F-B0E8-4755-3A9AF826FFE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8CC8557B-042A-AA40-A716-2D4CD4952508}" type="slidenum">
              <a:rPr lang="en-US" altLang="en-US" sz="1200">
                <a:latin typeface="Times New Roman" panose="02020603050405020304" pitchFamily="18" charset="0"/>
              </a:rPr>
              <a:pPr algn="r"/>
              <a:t>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8F5E99D2-DB17-F993-4653-55E4F1185A6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72067648-FF54-0A0C-B72F-493A369508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686257C6-59F7-0AF6-27CA-81F11B7B05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5459647-C009-CE4C-B428-924D562A0040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39320B60-83C5-EB2F-28D2-435FD04725A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 cap="flat">
            <a:solidFill>
              <a:schemeClr val="tx1"/>
            </a:solidFill>
          </a:ln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EFC8FAEB-8225-27FE-85FD-7BBD6D33528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5C8226B5-F06E-3702-7034-C684E2081A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B205E83-D56D-E64F-B645-2A9B15D70C1C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8C391ADC-50FB-902D-D670-4DD75F66439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 cap="flat">
            <a:solidFill>
              <a:schemeClr val="tx1"/>
            </a:solidFill>
          </a:ln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20984355-47EE-1CB7-999B-034F9B42FEA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1C9D984D-05C3-5235-8417-EDEBFB0FB1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5AF9436-0340-454F-AB9E-329FB89A446E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A4FDFB12-0FFA-76E2-6CD4-04D91BBFC65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33D61D43-A5F0-F352-B7CB-A0D91FA621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136850E2-E1D1-D4AF-4D43-EBBB365128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8735576-B405-7E4D-82BA-D4271475CB4F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574A274F-52AE-1463-DD18-A3744604E8F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624D8AD-7CC0-B316-8671-2C659F1175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ACBC9354-1FE1-B622-D51C-B636D1C6A1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3214776-68E5-7042-85C3-445723355214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EBEE0E19-3C97-A32C-2175-057CA8F1ED4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7D17D46-54A2-4CD5-A85C-6C06CA1D15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7B589FDC-3FA8-83EE-3EB0-3A2C2CC5EC7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BCDD82A7-BC1C-D24F-A043-790054FD7A80}" type="slidenum">
              <a:rPr lang="en-US" altLang="en-US" sz="1200">
                <a:latin typeface="Times New Roman" panose="02020603050405020304" pitchFamily="18" charset="0"/>
              </a:rPr>
              <a:pPr algn="r"/>
              <a:t>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ECF2C682-7B4F-8395-2C28-9E0AFE92AFA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5AB410C8-B967-D817-3D0C-3A396EC59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2831188-35CB-55D3-C079-F9D3D0F666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46FE07E-C902-324E-A552-DBF59C53AAF2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0400142C-6255-106C-0863-69B91352805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33129F4B-F78D-8E7D-21F8-A2EA4F2F11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11DDADB1-A21B-BE6D-1A4F-D1205D473E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E644CF7-AC8A-6F41-84D8-D1C5E3F77A04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29ACDE4F-CFCE-B56D-452A-EF32CF7ED4F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8871492F-153D-5921-40FF-6C9D6EB14D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22B730FB-D4FE-CDF4-8089-FC0100676C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67E13F84-9D42-705C-E9D3-AF42AF578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7284" name="Slide Number Placeholder 3">
            <a:extLst>
              <a:ext uri="{FF2B5EF4-FFF2-40B4-BE49-F238E27FC236}">
                <a16:creationId xmlns:a16="http://schemas.microsoft.com/office/drawing/2014/main" id="{ECCD80DB-F258-6D91-AB45-3929D377F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07B8E34-AA7B-E740-A078-10A136CF1548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FB9977EB-A06C-BFF0-AE7E-075299983C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76A657D-1590-6A43-AABB-4B3F5A4919D3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AD44CF92-79BB-45AC-BCF0-2014F1A37F6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20BF7890-B337-DA3B-14D5-498AAE972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I : the expected information needed to classify a given sample</a:t>
            </a:r>
          </a:p>
          <a:p>
            <a:r>
              <a:rPr lang="en-US" altLang="en-US"/>
              <a:t>E (entropy) : expected information based on the partitioning into subsets by A</a:t>
            </a:r>
          </a:p>
          <a:p>
            <a:r>
              <a:rPr lang="en-US" altLang="en-US"/>
              <a:t> 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7C630860-1D8C-D526-4D0C-FF7AB214C0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9DC4FFC-B5D7-0C43-A028-DD4A6ADC8AA9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F91E37DB-E682-4A3A-1F4C-09EA6A637BB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77A44F55-FDB8-FD62-4D98-9E2DA067A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FAE4C0D6-493C-BF07-E3AF-152D5E5CEE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0ED3E31-099E-EB40-9BED-5D0A430BABCC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18719763-F116-3AE3-1D41-CD6C212270A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C3B9845F-FF33-6638-576D-4BEFBD64A3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C60D4B61-8D83-F51C-CBA5-79A81B033A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63D02CE-95C9-C643-80A4-31C9F4BE09CA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4811F190-B459-A15F-FA45-49C916B2BEB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3A541CD1-272A-1D7F-58F1-3E083D743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13A472DB-C4F6-CAB6-E1C3-BC006D9148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0416C5B-AA57-9744-8361-88CF73A8E748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8AC96E00-7372-43F4-B115-5DCA0ED421A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41AEA75D-CF02-AE5F-13DD-DFACEE593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3402B1B8-73E1-6462-0DD9-100DD27D55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72BAE1D-C13C-684F-9AA2-80326ABD8897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E52D6D7D-2572-B0B3-DEA7-A8F17426A3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4B6E2D5D-0E5E-6B65-8AA8-19D39D51B4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04C60600-B99B-C0C9-5052-F0DE1EA299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EACEAA3-F60F-9946-8E1F-6B76367C07A8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25BF2F3C-152A-EA6A-8276-330F33FDAF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45CF765-60F5-3D4E-9A7B-5DA460005937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CB507168-F308-94A8-F03D-87DB475D5E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B0C77FC-781F-F245-955D-5D9F1F6011A5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06BCE677-6579-5284-1DEB-DC8E0EC3BC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295381C-D5B6-9D4C-ADEC-9683936827EE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BA71E1CD-7895-5604-6C46-53E90A3D558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7DF8686F-1B4F-1877-89B2-F0AD10E124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F934071C-2B06-649B-7EA2-548C639D85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513B589-D317-1645-8339-61A7C7A77A18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8B9C8BB6-DF3E-EECA-E70F-58B5659052E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 cap="flat">
            <a:solidFill>
              <a:schemeClr val="tx1"/>
            </a:solidFill>
          </a:ln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0F3656AE-0D1C-50B3-5A6D-45682106980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6C2C0643-0F15-9D3B-00F9-E59D4DCF786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E4796E7A-2289-9F48-A28D-8D645C8ACE7F}" type="slidenum">
              <a:rPr lang="en-US" altLang="en-US" sz="1200">
                <a:latin typeface="Times New Roman" panose="02020603050405020304" pitchFamily="18" charset="0"/>
              </a:rPr>
              <a:pPr algn="r"/>
              <a:t>26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A72DEFAF-EDEE-5137-ACAA-BE132F8091C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91906D09-1E93-0780-0077-B3C14E357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C40A6F48-92FE-DF92-144E-8F7C062CD5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EEDF7CF-A3DB-F74A-96BB-53706F36D2AE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C5FA67B2-1504-9B60-3F54-87A3B593C0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C5C74AD-46AC-3249-833E-31C91D70EDE9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EF3C3535-E7AE-5D44-1BAA-0D29DFD6E1A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0BEFBECB-FCD7-902E-F066-B8DF3452F8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EC232428-BD5E-4D45-E797-0CEC94261C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4EA141E-0185-5D4B-B39A-89560D66A87D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99F4F591-6D7F-F4E6-4D83-4BC7A318CAC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C472AE83-D203-1409-8F17-A816BD0624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5EB19F5A-7399-08F9-6473-B3F05F6F88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4A3BC91-AC5B-674F-8A6F-6AE472787B92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B2A43A0B-6537-47DD-B443-F10674FCC67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CCC740A-67E6-60C5-B129-29446445E4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66D04AA3-FC28-AC81-B38A-A7854AB0D6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D7A3FB8-6146-CA4F-BCD0-ED808DCABA8F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854AA433-9989-C271-ADD2-31756D3789B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DAAC3B0B-EA1C-EB3D-4EE4-84F4AFF0DD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D662838B-BC16-5753-A46F-E60111C344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6CD7C-52E2-E348-BBD6-816B379E2BC8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C4AB8527-1EED-E3C6-EF02-5ADF6E90524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05506678-6595-A4B6-925B-EE147CF0B1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0F3774BF-09AF-4B2F-43C1-4640D16E04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FA1CF7E-1EE7-5245-B50D-AC6BD592B3AF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969402FE-7B37-54D1-9D86-37A5F6C7828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EC40B6C-C51D-2FE4-37DA-B9C4C8635F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69A43986-C8B7-09D2-C915-169A6C6A7B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FE256C1-6FA1-0F41-9505-67F46368F95B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CD480E73-6B4F-CE99-9878-F72467BAE74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E70CBF39-92FE-A68B-1C52-3D55BA3A07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9EC296B7-BA44-7E29-210F-759A0A0DB4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0DE4447-E915-5F47-A7AD-378308130CDA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9ED73339-2C4C-7CCA-CA0C-1744D7A4559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732B4DAF-3FE6-A64A-672D-75135E7933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4A1C5EAB-2124-E727-FD47-E14E0EFC458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5A316BE1-F3EF-E046-B641-907B5E6DFD1D}" type="slidenum">
              <a:rPr lang="en-US" altLang="en-US" sz="1200">
                <a:latin typeface="Times New Roman" panose="02020603050405020304" pitchFamily="18" charset="0"/>
              </a:rPr>
              <a:pPr algn="r"/>
              <a:t>36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A5E40103-BEF4-2116-2795-22C76092A30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65E9B837-994E-21B6-22CD-633B495D8C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6E8FDFF3-B36B-9DC3-ECA6-25EEB9E476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50266EA-3692-3E45-8969-490FE32F8954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13CE7EFD-0A74-4597-E438-394C0A7EA32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116D9417-B743-F9BF-C8C3-76BFA83955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7FEAEAA5-CB56-90CE-1B21-DF8B62A96A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E1A5219-7271-F540-AD7B-7E4AEC2D484D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5E03F71C-EEB7-52E8-167D-0F1A148EBA0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48FCC88E-8CD1-AF88-DAFD-03CC63E96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5F42D835-4967-1F12-0675-63A4C462B0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C75F161-881E-8242-9F37-B7EEBDBE350D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9391651-629B-7644-95E4-8B62CB93BA5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73CF20C5-8148-ECDC-2965-4D0D4AF7A7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60A4B70C-871E-6823-AC22-63D98F830F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C656A5C-FCAA-BB41-B063-1076F29B1C28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4AAB1F2C-AA21-E087-1289-A2341298509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3410353F-8049-BC21-3420-4BAF7438AD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387850"/>
            <a:ext cx="5607050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F4EEBF06-9055-D9B8-7A24-7A759910D2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070803B-C1B8-2140-834C-0C3FD3170952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6E810426-2039-CBA9-FE3F-9694070035D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0E6AF3A2-5C2F-EC4D-5EB0-DC34BC117C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387850"/>
            <a:ext cx="5607050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3BE42347-D3D6-3BC3-EA10-7DE16811E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761E5B4-8A51-FA4B-A725-67CA4359DC77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CBCFFDC8-FD33-5530-CAA3-12C6F01D5D5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50BB550D-64D7-4472-0D04-8EE5BE120C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2AE0E56E-EAF5-26AD-9837-E6498DFCAE6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D2CB1043-3C56-AA4C-B312-A2CDB6E319DA}" type="slidenum">
              <a:rPr lang="en-US" altLang="en-US" sz="1200">
                <a:latin typeface="Times New Roman" panose="02020603050405020304" pitchFamily="18" charset="0"/>
              </a:rPr>
              <a:pPr algn="r"/>
              <a:t>43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E1C11246-957B-37F7-CDAE-7309AFC6683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A444603C-5D43-9066-3184-A7401D0B58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31FEB7CA-85E9-3EFD-8B9E-E3217B57CC9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FC5FC20C-9DC4-10D9-BF16-AB62A0F444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847188B1-172B-DF27-E149-439B46EF987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5369F329-B724-9F39-0F9B-8787B18A9E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48D26824-29A9-9FC6-9C26-ABE6EEF0DA2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06E950B2-CAE7-D807-1DB5-C63C4EC57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422A2517-7F89-D387-FB83-D3E289C50DC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D7A6351D-6759-555D-E355-4F2B74AE9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438597B6-D73A-6800-707F-2ECC2CA334B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9B179C9F-BC88-9A03-5701-87E8AFFC3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0DF9E5B2-5630-DBD7-5C3C-BFBB660265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4141D69-73BD-DB48-9F0D-11C532844A41}" type="slidenum">
              <a:rPr lang="en-US" altLang="en-US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3BC43DEF-1ADA-48F9-ECC3-BB2A4FC4C3F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 cap="flat">
            <a:solidFill>
              <a:schemeClr val="tx1"/>
            </a:solidFill>
          </a:ln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51A9FD8D-E401-CA92-6239-EBDCB7DB9D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63B9ECDE-7984-2B2E-893C-A43370629E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3C4C9FF-BA8F-4A47-BDBC-B2931FCA0480}" type="slidenum">
              <a:rPr lang="en-US" altLang="en-US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91CED903-6CE0-0B09-C17F-86B896578EE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 cap="flat">
            <a:solidFill>
              <a:schemeClr val="tx1"/>
            </a:solidFill>
          </a:ln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B4C5AF96-432B-14FF-7AC0-B6E80DA11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730584AC-041A-D213-EF43-73CCAE14BC9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EE0BE36B-2A25-1CF4-B04E-BF066029AA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76339516-E137-B91D-8283-A2B8E32AB46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9C5ADA9C-CA0E-D25D-8063-A8BD5D75C4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4F37FE6C-1C84-5AD9-0D58-28CA021600D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6DF2C769-BF9A-1387-7439-DB8A0409A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5DC3051B-2C37-3B07-9FF2-4280C8AE537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C0D280F5-EEBB-2B0D-FA50-C8C7ABAA7A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DB90406E-DC39-F1C2-C4BE-E42668D7007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43396639-188C-DBB7-643D-3360D2C6B2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60FB8D0F-939A-33B1-BDB5-C51D1AA1533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13E9D521-4EB0-ADE8-6613-5E82CA9124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429E5051-0564-552E-A4F8-D7B5B2577ED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ACBB3552-91B9-ED43-8DFF-4A8F88BFB98C}" type="slidenum">
              <a:rPr lang="en-US" altLang="en-US" sz="1200">
                <a:latin typeface="Times New Roman" panose="02020603050405020304" pitchFamily="18" charset="0"/>
              </a:rPr>
              <a:pPr algn="r"/>
              <a:t>57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45642C12-7CE0-1CA5-AD3C-2BE231C98E7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6500" y="698500"/>
            <a:ext cx="4602163" cy="3451225"/>
          </a:xfrm>
          <a:ln w="12700" cap="flat">
            <a:solidFill>
              <a:schemeClr val="tx1"/>
            </a:solidFill>
          </a:ln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48DF0DEF-F902-276D-A41D-57DA4E0C46E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2EF732D1-D4CB-15EE-C2E7-896D851E4CF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1AAF1D02-6C49-094C-AA1B-CA80490D6EDA}" type="slidenum">
              <a:rPr lang="en-US" altLang="en-US" sz="1200">
                <a:latin typeface="Times New Roman" panose="02020603050405020304" pitchFamily="18" charset="0"/>
              </a:rPr>
              <a:pPr algn="r"/>
              <a:t>58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21E2442D-A4CB-D452-8F88-913130E80A4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29CC08F4-36E9-DEF5-D721-6D7C6EA2A7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514A3E8C-126B-1CA0-4D10-11D6798A344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5DBDC1F0-0A3D-12B0-2BA7-C35C4B66FF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6915396E-36E2-0241-0CA7-79733A7D875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C06456DA-523B-1BB7-9AA5-8CEE55B4FA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93F42296-69C0-20A5-21B1-01B41EFAD5E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B6E89921-057D-2EFB-E71E-9E44F1A7DE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D759296A-7797-9BAB-E7DF-77E9CE4B4F1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4E752492-B10C-C422-2C32-173D3CF4B2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D466AE2E-1798-B242-20FA-CA69F77CDF9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442F4314-A07C-F5F7-FAAB-3EF07679A3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5BAB6316-5412-F1D2-0E54-A1CC6228040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06768C54-3E5E-CF71-CFF0-69161F9699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306631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39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0A134-921F-E991-EEF5-D711C2CA8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D687A2-DBF0-F15E-0D25-CF45FCC93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B142A-C23E-DAC8-E5D7-5998FBBE3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CB7E-D8BC-DA42-ADC9-409DAC2F1A2F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06F66-73F2-FEF3-A3CD-167129C4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F8439-8CDB-D80E-83C0-AE3C080B7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4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1407-D565-D3CD-C5E6-DA29273B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A32F3-CF0A-7BFA-8A5C-A871D3DB6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B567F-4DA7-C615-D9A4-38298CC52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88C7D-5AFD-EC46-96EE-5E36BDC6290B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E62AE-7734-6E5A-B4BD-2BE7B0A90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7741B-FC1F-B89E-23B2-9EF1EE0A1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32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2F6BC-E78E-9FD6-5838-2670AABFF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C0973-5CD6-5EDF-4BA8-988D26351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54461-52B9-1585-31A8-0B00244D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87D2-54E7-9149-8F76-38BBB6E74D0A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A1CB0-9CC0-9BAD-5774-B3DCCFDA3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6DA35-AF15-12DD-08C5-F7218320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5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2F2FF-00B8-FF20-6F2B-C5AE4C8E2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65EC2-403B-8718-98B3-F83F0113D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FE9EE-0657-3E68-0829-EA5AACB9F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339C9-8CA3-006C-6BF3-963617015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48B0-8586-4A48-B615-4DE1F12E9342}" type="datetime1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BB343-27EF-E24B-16E3-41775DE22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157FD-1656-0B76-3624-FC1C869A7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8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63AA-7F7A-063C-6296-0A01D57B2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D6E18-8D56-1241-2860-C71A4108A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09BB7-958A-CEE9-DF29-508FB6D0B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610AF5-91C8-BFA5-CCE6-FB3A0BF077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0A935A-0DE8-742A-5771-F42338B6B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3BE380-FD0D-7107-F25B-54B619ECF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191A-808C-8E44-BAD5-C053EA547F1C}" type="datetime1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EFC3A9-7F64-A533-C21B-1B6BD44EF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0B9A5E-23CD-17A4-586A-72118169B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83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1F7BC-413C-38CE-898B-0EFD1E49E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EBFF9-7505-F245-E0FB-06F0C7A4B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F98C-1D29-A24C-B3E2-AE7E29B10DD7}" type="datetime1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2BAB0-5A79-6791-E7D1-891A63F6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6753B-B48E-0E1F-B075-25218F33D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2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BB0A0-497A-9FC5-6E6D-AEB9E7BF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C2B4-82C2-134E-A537-B660C1340B8F}" type="datetime1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F05A1-5962-145A-0410-703C9EA6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B5CD4-5E7B-6481-1D9D-B37F17416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07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03FAE-7D17-8290-0D46-FD3F6B9EF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85942-E582-941A-2D88-9E8BEDBE7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FEA76-A7D3-C5C9-1327-11D2340E1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C330-871F-CDA0-C267-AF53086B4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B15B5-FC7A-1E4C-B10E-EB9927F5C68F}" type="datetime1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7793E-7E4F-29F8-3C1A-3798A95CF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61C91-788C-A127-459E-38C4DC387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67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39486-288C-821E-E439-C403540C4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01DBF2-9043-0006-873A-1B5334F85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7F9259-F532-364D-3B60-F6ABD37C5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5276C-B4BD-9016-935C-1371771A9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78664-0501-8043-AB97-997437F09A68}" type="datetime1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E9A07-7AF0-075D-D61D-BF2AED73D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35EF1-73D1-9B73-AC80-6270C7BF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2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5E421-CDFC-8660-8978-B64279575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B751D-1F68-AB3F-05BC-BC7260C50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D6F36-9C4D-EE0C-33A2-B64B4DFD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06C54-D464-7B4F-8579-3AC85785E923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4625C-9DD5-4C11-EDD4-B60E2586D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5CF12-526E-2BC5-1B14-2CE1536F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10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E36A44-9D57-759A-B509-151249C8BC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D0C959-0C99-FC0A-2E44-6E5C0BB50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95E10-DAFE-DA33-796E-BB609D3B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E7914-C584-7143-B409-091905912469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D5703-3E9F-410A-0931-94D0BBE6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603FD-53CE-0321-8AB2-99D6E0498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55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5484" y="1143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5484" y="3810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77725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381000"/>
            <a:ext cx="11203517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371600"/>
            <a:ext cx="55372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5372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70E51616-9C44-28EF-B493-78CA7DE3AEF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4DA13E-7108-3D49-A31B-8A729609C4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7863929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381000"/>
            <a:ext cx="11203517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1371600"/>
            <a:ext cx="112776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4000500"/>
            <a:ext cx="112776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DA63DBD2-0C41-E2A3-5F06-78221E4B16C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D10799-04FA-0B42-BC2D-9CA94F0F77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6797176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DDA2DA-772E-9C04-7094-E77B59A8A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93D6D-E5AB-9C24-B2B6-6A0BCE4A1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52C7C-2FC1-1E00-ACB3-FC36CFE59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62C34F-A6A8-F745-A9DA-F4A0D39675DE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C3455-EDFD-1018-97D4-05B9E9DE2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AB46C-D279-ABE0-79CA-C5436CC16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FE1FC-FA28-434A-A119-28ECEC0D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24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4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20.emf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2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9.e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21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jpeg"/><Relationship Id="rId4" Type="http://schemas.openxmlformats.org/officeDocument/2006/relationships/image" Target="../media/image23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8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3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5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0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7" Type="http://schemas.openxmlformats.org/officeDocument/2006/relationships/image" Target="../media/image51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7.jpeg"/><Relationship Id="rId4" Type="http://schemas.openxmlformats.org/officeDocument/2006/relationships/image" Target="../media/image48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3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56.em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2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1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emf"/><Relationship Id="rId4" Type="http://schemas.openxmlformats.org/officeDocument/2006/relationships/image" Target="../media/image68.emf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5.tiff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image" Target="../media/image78.wmf"/><Relationship Id="rId7" Type="http://schemas.openxmlformats.org/officeDocument/2006/relationships/image" Target="../media/image80.e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79.emf"/><Relationship Id="rId4" Type="http://schemas.openxmlformats.org/officeDocument/2006/relationships/oleObject" Target="../embeddings/oleObject39.bin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tif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788D51-241A-D77D-81F5-CC6537B6B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 fontAlgn="base"/>
            <a:r>
              <a:rPr lang="en-US" sz="4800">
                <a:solidFill>
                  <a:srgbClr val="FFFFFF"/>
                </a:solidFill>
              </a:rPr>
              <a:t>Classification: Basic Concepts and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FA36F-F43E-C1EB-58AA-DA375C653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Lecture 4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902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6">
            <a:extLst>
              <a:ext uri="{FF2B5EF4-FFF2-40B4-BE49-F238E27FC236}">
                <a16:creationId xmlns:a16="http://schemas.microsoft.com/office/drawing/2014/main" id="{999E05EB-76DC-08C7-7A65-FEFEBE29061D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F4EE90DC-A057-4047-B535-96239A5C58B7}" type="slidenum">
              <a:rPr lang="en-US" altLang="en-US" sz="1400" b="1">
                <a:latin typeface="Calibri" panose="020F0502020204030204" pitchFamily="34" charset="0"/>
              </a:rPr>
              <a:pPr algn="r" eaLnBrk="1" hangingPunct="1"/>
              <a:t>2</a:t>
            </a:fld>
            <a:endParaRPr lang="en-US" altLang="en-US" sz="1400" b="1">
              <a:latin typeface="Calibri" panose="020F050202020403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03315740-B2C8-7157-A503-67143310E0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91440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Chapter 8. Classification: Basic Concepts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BCDA10B8-C8B1-BD5E-E88C-EFDC8F2CD59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447800"/>
            <a:ext cx="8382000" cy="5105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en-US" dirty="0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Bayes Classification Methods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Model Evaluation and Selection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Techniques to Improve Classification Accuracy: Ensemble Methods</a:t>
            </a:r>
          </a:p>
        </p:txBody>
      </p:sp>
      <p:sp>
        <p:nvSpPr>
          <p:cNvPr id="5125" name="AutoShape 8">
            <a:extLst>
              <a:ext uri="{FF2B5EF4-FFF2-40B4-BE49-F238E27FC236}">
                <a16:creationId xmlns:a16="http://schemas.microsoft.com/office/drawing/2014/main" id="{E332AE44-1C69-FB21-71DD-A09C44897BA8}"/>
              </a:ext>
            </a:extLst>
          </p:cNvPr>
          <p:cNvSpPr>
            <a:spLocks noChangeArrowheads="1"/>
          </p:cNvSpPr>
          <p:nvPr/>
        </p:nvSpPr>
        <p:spPr bwMode="auto">
          <a:xfrm rot="9803581">
            <a:off x="6781800" y="13716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12E295F4-FFE2-1318-9921-555A96EE64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4DA9B47-248D-8549-A506-19795685146C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3A6FE0AC-CD5B-D292-B8D6-CE539CED90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228600"/>
            <a:ext cx="8783638" cy="7620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/>
              <a:t>Supervised vs. Unsupervised Learning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41096E57-BFB7-968A-44CA-FCF5F701CB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1915" y="1371600"/>
            <a:ext cx="11232290" cy="51816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en-US" sz="2400" dirty="0">
                <a:solidFill>
                  <a:srgbClr val="F83F24"/>
                </a:solidFill>
              </a:rPr>
              <a:t>Supervised learning (classification)</a:t>
            </a:r>
            <a:endParaRPr lang="en-US" altLang="en-US" sz="2400" dirty="0"/>
          </a:p>
          <a:p>
            <a:pPr lvl="1" eaLnBrk="1" hangingPunct="1">
              <a:lnSpc>
                <a:spcPct val="130000"/>
              </a:lnSpc>
            </a:pPr>
            <a:r>
              <a:rPr lang="en-US" altLang="en-US" dirty="0"/>
              <a:t>Supervision: The training data (observations, measurements, etc.) are accompanied by </a:t>
            </a:r>
            <a:r>
              <a:rPr lang="en-US" altLang="en-US" b="1" dirty="0"/>
              <a:t>labels</a:t>
            </a:r>
            <a:r>
              <a:rPr lang="en-US" altLang="en-US" dirty="0"/>
              <a:t> indicating the class of the observations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dirty="0"/>
              <a:t>New data is classified based on the training set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400" dirty="0">
                <a:solidFill>
                  <a:srgbClr val="F83F24"/>
                </a:solidFill>
              </a:rPr>
              <a:t>Unsupervised learning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rgbClr val="FF3300"/>
                </a:solidFill>
              </a:rPr>
              <a:t>(clustering)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dirty="0"/>
              <a:t>The class labels of training data is unknown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dirty="0"/>
              <a:t>Given a set of measurements, observations, etc. with the aim of establishing the existence of classes or clusters in the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D5050FCD-4ACB-1668-E54F-EEFBF45CF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6A2B8BC-C2AD-114D-91CF-9E0B862E68CD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49D94BFA-E7D7-A6E2-B040-1DF5256DA1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2485" y="1447800"/>
            <a:ext cx="11207579" cy="50292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hlink"/>
                </a:solidFill>
              </a:rPr>
              <a:t>Classification</a:t>
            </a:r>
            <a:r>
              <a:rPr lang="en-US" altLang="en-US" sz="2000" dirty="0"/>
              <a:t>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predicts categorical class labels (discrete or nominal)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classifies data (constructs a model) based on the training set and the values (</a:t>
            </a:r>
            <a:r>
              <a:rPr lang="en-US" altLang="en-US" dirty="0">
                <a:solidFill>
                  <a:schemeClr val="hlink"/>
                </a:solidFill>
              </a:rPr>
              <a:t>class labels</a:t>
            </a:r>
            <a:r>
              <a:rPr lang="en-US" altLang="en-US" dirty="0"/>
              <a:t>) in a classifying attribute and uses it in classifying new 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hlink"/>
                </a:solidFill>
              </a:rPr>
              <a:t>Numeric Prediction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models continuous-valued functions, i.e., predicts unknown or missing values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Typical applications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altLang="en-US" dirty="0"/>
              <a:t>Credit/loan approval: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altLang="en-US" dirty="0"/>
              <a:t>Medical diagnosis: if a tumor is cancerous or benign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altLang="en-US" dirty="0"/>
              <a:t>Fraud detection: if a transaction is fraudulent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altLang="en-US" dirty="0"/>
              <a:t>Web page categorization: which category it is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768C4C1F-8A93-439D-3B17-3A351A987F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9471" y="155575"/>
            <a:ext cx="9144000" cy="104775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 dirty="0"/>
              <a:t>Prediction Problems: Classification vs. Numeric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0113D914-B1EE-3162-7DAD-3F6AD9D77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63AF02A-0277-AD41-84C4-5D86021C489B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463777AF-41A9-3DBF-0661-4613BD5E2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80010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Classification—A Two-Step Process</a:t>
            </a:r>
            <a:r>
              <a:rPr lang="en-US" altLang="en-US" sz="2800"/>
              <a:t> </a:t>
            </a:r>
            <a:endParaRPr lang="en-US" altLang="en-US" sz="3200"/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BDAFC3CE-DFD6-3D9E-7266-75AC877AA8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5989" y="1371600"/>
            <a:ext cx="10799806" cy="5257800"/>
          </a:xfrm>
        </p:spPr>
        <p:txBody>
          <a:bodyPr/>
          <a:lstStyle/>
          <a:p>
            <a:pPr eaLnBrk="1" hangingPunct="1"/>
            <a:r>
              <a:rPr lang="en-US" altLang="en-US" sz="2000" dirty="0">
                <a:solidFill>
                  <a:schemeClr val="hlink"/>
                </a:solidFill>
              </a:rPr>
              <a:t>Model construction</a:t>
            </a:r>
            <a:r>
              <a:rPr lang="en-US" altLang="en-US" sz="2000" dirty="0"/>
              <a:t>: describing a set of predetermined classes</a:t>
            </a:r>
          </a:p>
          <a:p>
            <a:pPr lvl="1" eaLnBrk="1" hangingPunct="1"/>
            <a:r>
              <a:rPr lang="en-US" altLang="en-US" sz="2000" dirty="0"/>
              <a:t>Each tuple/sample is assumed to belong to a predefined class, as determined by the </a:t>
            </a:r>
            <a:r>
              <a:rPr lang="en-US" altLang="en-US" sz="2000" dirty="0">
                <a:solidFill>
                  <a:schemeClr val="hlink"/>
                </a:solidFill>
              </a:rPr>
              <a:t>class label attribute</a:t>
            </a:r>
          </a:p>
          <a:p>
            <a:pPr lvl="1" eaLnBrk="1" hangingPunct="1"/>
            <a:r>
              <a:rPr lang="en-US" altLang="en-US" sz="2000" dirty="0"/>
              <a:t>The set of tuples used for model construction is </a:t>
            </a:r>
            <a:r>
              <a:rPr lang="en-US" altLang="en-US" sz="2000" dirty="0">
                <a:solidFill>
                  <a:schemeClr val="hlink"/>
                </a:solidFill>
              </a:rPr>
              <a:t>training set</a:t>
            </a:r>
          </a:p>
          <a:p>
            <a:pPr lvl="1" eaLnBrk="1" hangingPunct="1"/>
            <a:r>
              <a:rPr lang="en-US" altLang="en-US" sz="2000" dirty="0"/>
              <a:t>The model is represented as classification rules, decision trees, or mathematical formulae</a:t>
            </a:r>
          </a:p>
          <a:p>
            <a:pPr eaLnBrk="1" hangingPunct="1"/>
            <a:r>
              <a:rPr lang="en-US" altLang="en-US" sz="2000" dirty="0">
                <a:solidFill>
                  <a:schemeClr val="hlink"/>
                </a:solidFill>
              </a:rPr>
              <a:t>Model usage</a:t>
            </a:r>
            <a:r>
              <a:rPr lang="en-US" altLang="en-US" sz="2000" dirty="0"/>
              <a:t>: for classifying future or unknown objects</a:t>
            </a:r>
          </a:p>
          <a:p>
            <a:pPr lvl="1" eaLnBrk="1" hangingPunct="1"/>
            <a:r>
              <a:rPr lang="en-US" altLang="en-US" sz="2000" dirty="0">
                <a:solidFill>
                  <a:schemeClr val="hlink"/>
                </a:solidFill>
              </a:rPr>
              <a:t>Estimate accuracy</a:t>
            </a:r>
            <a:r>
              <a:rPr lang="en-US" altLang="en-US" sz="2000" dirty="0"/>
              <a:t> of the model</a:t>
            </a:r>
          </a:p>
          <a:p>
            <a:pPr lvl="2" eaLnBrk="1" hangingPunct="1"/>
            <a:r>
              <a:rPr lang="en-US" altLang="en-US" dirty="0"/>
              <a:t>The known label of test sample is compared with the classified result from the model</a:t>
            </a:r>
          </a:p>
          <a:p>
            <a:pPr lvl="2" eaLnBrk="1" hangingPunct="1"/>
            <a:r>
              <a:rPr lang="en-US" altLang="en-US" dirty="0">
                <a:solidFill>
                  <a:schemeClr val="hlink"/>
                </a:solidFill>
              </a:rPr>
              <a:t>Accuracy</a:t>
            </a:r>
            <a:r>
              <a:rPr lang="en-US" altLang="en-US" dirty="0"/>
              <a:t> rate is the percentage of test set samples that are correctly classified by the model</a:t>
            </a:r>
          </a:p>
          <a:p>
            <a:pPr lvl="2" eaLnBrk="1" hangingPunct="1"/>
            <a:r>
              <a:rPr lang="en-US" altLang="en-US" dirty="0">
                <a:solidFill>
                  <a:schemeClr val="hlink"/>
                </a:solidFill>
              </a:rPr>
              <a:t>Test set</a:t>
            </a:r>
            <a:r>
              <a:rPr lang="en-US" altLang="en-US" dirty="0"/>
              <a:t> is independent of training set (otherwise overfitting) </a:t>
            </a:r>
          </a:p>
          <a:p>
            <a:pPr lvl="1" eaLnBrk="1" hangingPunct="1"/>
            <a:r>
              <a:rPr lang="en-US" altLang="en-US" sz="2000" dirty="0"/>
              <a:t>If the accuracy is acceptable, use the model to </a:t>
            </a:r>
            <a:r>
              <a:rPr lang="en-US" altLang="en-US" sz="2000" dirty="0">
                <a:solidFill>
                  <a:schemeClr val="hlink"/>
                </a:solidFill>
              </a:rPr>
              <a:t>classify new data</a:t>
            </a:r>
          </a:p>
          <a:p>
            <a:pPr eaLnBrk="1" hangingPunct="1"/>
            <a:r>
              <a:rPr lang="en-US" altLang="en-US" sz="2000" dirty="0"/>
              <a:t>Note: If </a:t>
            </a:r>
            <a:r>
              <a:rPr lang="en-US" altLang="en-US" sz="2000" i="1" dirty="0"/>
              <a:t>the test set </a:t>
            </a:r>
            <a:r>
              <a:rPr lang="en-US" altLang="en-US" sz="2000" dirty="0"/>
              <a:t>is used to select models, it is called </a:t>
            </a:r>
            <a:r>
              <a:rPr lang="en-US" altLang="en-US" sz="2000" dirty="0">
                <a:solidFill>
                  <a:srgbClr val="C00000"/>
                </a:solidFill>
              </a:rPr>
              <a:t>validation (test)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D65ECCB1-3B69-9095-4A75-58E097D6DF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369DFC4-7DBF-9447-A16F-59F005ADBC99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8ADC9C0-AEBA-7B9E-C3DC-F209947A36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8077200" cy="7620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/>
              <a:t>Process (1): Model Construction</a:t>
            </a:r>
          </a:p>
        </p:txBody>
      </p:sp>
      <p:grpSp>
        <p:nvGrpSpPr>
          <p:cNvPr id="9220" name="Group 3">
            <a:extLst>
              <a:ext uri="{FF2B5EF4-FFF2-40B4-BE49-F238E27FC236}">
                <a16:creationId xmlns:a16="http://schemas.microsoft.com/office/drawing/2014/main" id="{3B5A6B1C-0D1E-E3ED-06B3-1460E2219D79}"/>
              </a:ext>
            </a:extLst>
          </p:cNvPr>
          <p:cNvGrpSpPr>
            <a:grpSpLocks/>
          </p:cNvGrpSpPr>
          <p:nvPr/>
        </p:nvGrpSpPr>
        <p:grpSpPr bwMode="auto">
          <a:xfrm>
            <a:off x="3560764" y="1774825"/>
            <a:ext cx="1698625" cy="1506538"/>
            <a:chOff x="1283" y="1118"/>
            <a:chExt cx="1070" cy="949"/>
          </a:xfrm>
        </p:grpSpPr>
        <p:pic>
          <p:nvPicPr>
            <p:cNvPr id="9233" name="Picture 4">
              <a:extLst>
                <a:ext uri="{FF2B5EF4-FFF2-40B4-BE49-F238E27FC236}">
                  <a16:creationId xmlns:a16="http://schemas.microsoft.com/office/drawing/2014/main" id="{FC88C858-2973-EBC7-312E-21C4F75457CC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3" y="1118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4" name="Rectangle 5">
              <a:extLst>
                <a:ext uri="{FF2B5EF4-FFF2-40B4-BE49-F238E27FC236}">
                  <a16:creationId xmlns:a16="http://schemas.microsoft.com/office/drawing/2014/main" id="{0EEDE0F6-E577-5B05-92A0-C7782428D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7" y="1395"/>
              <a:ext cx="93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Training</a:t>
              </a:r>
            </a:p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Data</a:t>
              </a:r>
            </a:p>
          </p:txBody>
        </p:sp>
      </p:grpSp>
      <p:graphicFrame>
        <p:nvGraphicFramePr>
          <p:cNvPr id="9221" name="Object 0">
            <a:extLst>
              <a:ext uri="{FF2B5EF4-FFF2-40B4-BE49-F238E27FC236}">
                <a16:creationId xmlns:a16="http://schemas.microsoft.com/office/drawing/2014/main" id="{B15A8C08-FEBC-2ECE-CA0A-2608B6D927BC}"/>
              </a:ext>
            </a:extLst>
          </p:cNvPr>
          <p:cNvGraphicFramePr>
            <a:graphicFrameLocks/>
          </p:cNvGraphicFramePr>
          <p:nvPr/>
        </p:nvGraphicFramePr>
        <p:xfrm>
          <a:off x="1812925" y="3825875"/>
          <a:ext cx="5437188" cy="249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1318200" imgH="14376400" progId="Excel.Sheet.8">
                  <p:embed/>
                </p:oleObj>
              </mc:Choice>
              <mc:Fallback>
                <p:oleObj name="Worksheet" r:id="rId4" imgW="31318200" imgH="14376400" progId="Excel.Sheet.8">
                  <p:embed/>
                  <p:pic>
                    <p:nvPicPr>
                      <p:cNvPr id="9221" name="Object 0">
                        <a:extLst>
                          <a:ext uri="{FF2B5EF4-FFF2-40B4-BE49-F238E27FC236}">
                            <a16:creationId xmlns:a16="http://schemas.microsoft.com/office/drawing/2014/main" id="{B15A8C08-FEBC-2ECE-CA0A-2608B6D927B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5" y="3825875"/>
                        <a:ext cx="5437188" cy="249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Line 7">
            <a:extLst>
              <a:ext uri="{FF2B5EF4-FFF2-40B4-BE49-F238E27FC236}">
                <a16:creationId xmlns:a16="http://schemas.microsoft.com/office/drawing/2014/main" id="{0F616F00-1454-0CF4-3666-AD4D79F9C4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0388" y="3111500"/>
            <a:ext cx="1644650" cy="700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3" name="Line 8">
            <a:extLst>
              <a:ext uri="{FF2B5EF4-FFF2-40B4-BE49-F238E27FC236}">
                <a16:creationId xmlns:a16="http://schemas.microsoft.com/office/drawing/2014/main" id="{48EFFB78-109E-746B-2899-C789A5142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0975" y="3111500"/>
            <a:ext cx="2025650" cy="700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Rectangle 9">
            <a:extLst>
              <a:ext uri="{FF2B5EF4-FFF2-40B4-BE49-F238E27FC236}">
                <a16:creationId xmlns:a16="http://schemas.microsoft.com/office/drawing/2014/main" id="{D84B31A2-BEFB-4B4A-A5E9-F23A0E7E5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5764" y="1622426"/>
            <a:ext cx="1870075" cy="835025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Classification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Algorithms</a:t>
            </a:r>
          </a:p>
        </p:txBody>
      </p:sp>
      <p:sp>
        <p:nvSpPr>
          <p:cNvPr id="9225" name="AutoShape 10">
            <a:extLst>
              <a:ext uri="{FF2B5EF4-FFF2-40B4-BE49-F238E27FC236}">
                <a16:creationId xmlns:a16="http://schemas.microsoft.com/office/drawing/2014/main" id="{FA608E50-5955-7A0E-BDAE-812C04FC3CCD}"/>
              </a:ext>
            </a:extLst>
          </p:cNvPr>
          <p:cNvSpPr>
            <a:spLocks noChangeArrowheads="1"/>
          </p:cNvSpPr>
          <p:nvPr/>
        </p:nvSpPr>
        <p:spPr bwMode="auto">
          <a:xfrm rot="20460000">
            <a:off x="5759450" y="2074864"/>
            <a:ext cx="1657350" cy="484187"/>
          </a:xfrm>
          <a:prstGeom prst="rightArrow">
            <a:avLst>
              <a:gd name="adj1" fmla="val 50000"/>
              <a:gd name="adj2" fmla="val 85606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6" name="Rectangle 11">
            <a:extLst>
              <a:ext uri="{FF2B5EF4-FFF2-40B4-BE49-F238E27FC236}">
                <a16:creationId xmlns:a16="http://schemas.microsoft.com/office/drawing/2014/main" id="{A296F6F1-5D20-4C4E-E7AF-B48F9309F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363" y="5311775"/>
            <a:ext cx="3008312" cy="120015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IF rank = ‘professor’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OR years &gt; 6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THEN tenured = ‘yes’ </a:t>
            </a:r>
          </a:p>
        </p:txBody>
      </p:sp>
      <p:grpSp>
        <p:nvGrpSpPr>
          <p:cNvPr id="9227" name="Group 12">
            <a:extLst>
              <a:ext uri="{FF2B5EF4-FFF2-40B4-BE49-F238E27FC236}">
                <a16:creationId xmlns:a16="http://schemas.microsoft.com/office/drawing/2014/main" id="{5CDE8CB4-A1EA-F339-8980-A30993D9B660}"/>
              </a:ext>
            </a:extLst>
          </p:cNvPr>
          <p:cNvGrpSpPr>
            <a:grpSpLocks/>
          </p:cNvGrpSpPr>
          <p:nvPr/>
        </p:nvGrpSpPr>
        <p:grpSpPr bwMode="auto">
          <a:xfrm>
            <a:off x="8002589" y="3216275"/>
            <a:ext cx="1889125" cy="1506538"/>
            <a:chOff x="4081" y="2026"/>
            <a:chExt cx="1190" cy="949"/>
          </a:xfrm>
        </p:grpSpPr>
        <p:pic>
          <p:nvPicPr>
            <p:cNvPr id="9231" name="Picture 13">
              <a:extLst>
                <a:ext uri="{FF2B5EF4-FFF2-40B4-BE49-F238E27FC236}">
                  <a16:creationId xmlns:a16="http://schemas.microsoft.com/office/drawing/2014/main" id="{D2D526F1-9362-8027-E0A3-5BD6D4E8C4CF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1" y="2026"/>
              <a:ext cx="119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2" name="Rectangle 14">
              <a:extLst>
                <a:ext uri="{FF2B5EF4-FFF2-40B4-BE49-F238E27FC236}">
                  <a16:creationId xmlns:a16="http://schemas.microsoft.com/office/drawing/2014/main" id="{B1FD8DD5-D718-F329-3066-F603DD0D3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2303"/>
              <a:ext cx="859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Classifier</a:t>
              </a:r>
            </a:p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(Model)</a:t>
              </a:r>
            </a:p>
          </p:txBody>
        </p:sp>
      </p:grpSp>
      <p:sp>
        <p:nvSpPr>
          <p:cNvPr id="9228" name="Line 15">
            <a:extLst>
              <a:ext uri="{FF2B5EF4-FFF2-40B4-BE49-F238E27FC236}">
                <a16:creationId xmlns:a16="http://schemas.microsoft.com/office/drawing/2014/main" id="{D3EE1F42-AE40-6693-6ACA-718449A5CD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70776" y="4621214"/>
            <a:ext cx="531813" cy="714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Line 16">
            <a:extLst>
              <a:ext uri="{FF2B5EF4-FFF2-40B4-BE49-F238E27FC236}">
                <a16:creationId xmlns:a16="http://schemas.microsoft.com/office/drawing/2014/main" id="{548F6DB3-99B9-53E5-490B-F8B4F213C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9893300" y="4543426"/>
            <a:ext cx="577850" cy="790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AutoShape 17">
            <a:extLst>
              <a:ext uri="{FF2B5EF4-FFF2-40B4-BE49-F238E27FC236}">
                <a16:creationId xmlns:a16="http://schemas.microsoft.com/office/drawing/2014/main" id="{4A3DDB94-8CDE-D051-0FD3-5C304DA54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0" y="2576514"/>
            <a:ext cx="546100" cy="592137"/>
          </a:xfrm>
          <a:prstGeom prst="downArrow">
            <a:avLst>
              <a:gd name="adj1" fmla="val 50000"/>
              <a:gd name="adj2" fmla="val 27118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D0229DF8-690B-F0F0-96F9-357072E70D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2C0C49A-6707-F244-8368-FC83AB486886}" type="slidenum">
              <a:rPr lang="en-US" altLang="en-US"/>
              <a:pPr eaLnBrk="1" hangingPunct="1"/>
              <a:t>7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AFEF2DF-24D5-B9B4-3003-3E2FDD4FD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9144000" cy="7620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Process (2): Using the Model in Prediction </a:t>
            </a:r>
          </a:p>
        </p:txBody>
      </p:sp>
      <p:grpSp>
        <p:nvGrpSpPr>
          <p:cNvPr id="10244" name="Group 3">
            <a:extLst>
              <a:ext uri="{FF2B5EF4-FFF2-40B4-BE49-F238E27FC236}">
                <a16:creationId xmlns:a16="http://schemas.microsoft.com/office/drawing/2014/main" id="{2D78A2CF-5CE0-1FD0-2FC7-EF630AB9ECF0}"/>
              </a:ext>
            </a:extLst>
          </p:cNvPr>
          <p:cNvGrpSpPr>
            <a:grpSpLocks/>
          </p:cNvGrpSpPr>
          <p:nvPr/>
        </p:nvGrpSpPr>
        <p:grpSpPr bwMode="auto">
          <a:xfrm>
            <a:off x="5969001" y="1570039"/>
            <a:ext cx="1889125" cy="1506537"/>
            <a:chOff x="2800" y="989"/>
            <a:chExt cx="1190" cy="949"/>
          </a:xfrm>
        </p:grpSpPr>
        <p:pic>
          <p:nvPicPr>
            <p:cNvPr id="10262" name="Picture 4">
              <a:extLst>
                <a:ext uri="{FF2B5EF4-FFF2-40B4-BE49-F238E27FC236}">
                  <a16:creationId xmlns:a16="http://schemas.microsoft.com/office/drawing/2014/main" id="{4CEFCC34-F2B1-664D-1085-E393FCE57C4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0" y="989"/>
              <a:ext cx="119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63" name="Rectangle 5">
              <a:extLst>
                <a:ext uri="{FF2B5EF4-FFF2-40B4-BE49-F238E27FC236}">
                  <a16:creationId xmlns:a16="http://schemas.microsoft.com/office/drawing/2014/main" id="{50948147-C847-3A2E-652E-2BB96A8D5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" y="1382"/>
              <a:ext cx="85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Classifier</a:t>
              </a:r>
            </a:p>
          </p:txBody>
        </p:sp>
      </p:grpSp>
      <p:grpSp>
        <p:nvGrpSpPr>
          <p:cNvPr id="10245" name="Group 6">
            <a:extLst>
              <a:ext uri="{FF2B5EF4-FFF2-40B4-BE49-F238E27FC236}">
                <a16:creationId xmlns:a16="http://schemas.microsoft.com/office/drawing/2014/main" id="{355DF2B8-22AB-2829-271F-3BDCA8A787B5}"/>
              </a:ext>
            </a:extLst>
          </p:cNvPr>
          <p:cNvGrpSpPr>
            <a:grpSpLocks/>
          </p:cNvGrpSpPr>
          <p:nvPr/>
        </p:nvGrpSpPr>
        <p:grpSpPr bwMode="auto">
          <a:xfrm>
            <a:off x="3681414" y="2735264"/>
            <a:ext cx="1698625" cy="1506537"/>
            <a:chOff x="1359" y="1723"/>
            <a:chExt cx="1070" cy="949"/>
          </a:xfrm>
        </p:grpSpPr>
        <p:pic>
          <p:nvPicPr>
            <p:cNvPr id="10260" name="Picture 7">
              <a:extLst>
                <a:ext uri="{FF2B5EF4-FFF2-40B4-BE49-F238E27FC236}">
                  <a16:creationId xmlns:a16="http://schemas.microsoft.com/office/drawing/2014/main" id="{51801C99-C5E0-4832-7F17-7DD4242C8D94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9" y="1723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61" name="Rectangle 8">
              <a:extLst>
                <a:ext uri="{FF2B5EF4-FFF2-40B4-BE49-F238E27FC236}">
                  <a16:creationId xmlns:a16="http://schemas.microsoft.com/office/drawing/2014/main" id="{49BFB376-0664-BCA8-97CE-83D89994F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3" y="2000"/>
              <a:ext cx="93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Testing</a:t>
              </a:r>
            </a:p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Data</a:t>
              </a:r>
            </a:p>
          </p:txBody>
        </p:sp>
      </p:grpSp>
      <p:graphicFrame>
        <p:nvGraphicFramePr>
          <p:cNvPr id="10246" name="Object 1024">
            <a:extLst>
              <a:ext uri="{FF2B5EF4-FFF2-40B4-BE49-F238E27FC236}">
                <a16:creationId xmlns:a16="http://schemas.microsoft.com/office/drawing/2014/main" id="{6BF23072-EB99-A71A-BD7A-854F4F7DB1D6}"/>
              </a:ext>
            </a:extLst>
          </p:cNvPr>
          <p:cNvGraphicFramePr>
            <a:graphicFrameLocks/>
          </p:cNvGraphicFramePr>
          <p:nvPr/>
        </p:nvGraphicFramePr>
        <p:xfrm>
          <a:off x="1981201" y="4800600"/>
          <a:ext cx="5438775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1318200" imgH="10172700" progId="Excel.Sheet.8">
                  <p:embed/>
                </p:oleObj>
              </mc:Choice>
              <mc:Fallback>
                <p:oleObj name="Worksheet" r:id="rId5" imgW="31318200" imgH="10172700" progId="Excel.Sheet.8">
                  <p:embed/>
                  <p:pic>
                    <p:nvPicPr>
                      <p:cNvPr id="10246" name="Object 1024">
                        <a:extLst>
                          <a:ext uri="{FF2B5EF4-FFF2-40B4-BE49-F238E27FC236}">
                            <a16:creationId xmlns:a16="http://schemas.microsoft.com/office/drawing/2014/main" id="{6BF23072-EB99-A71A-BD7A-854F4F7DB1D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1" y="4800600"/>
                        <a:ext cx="5438775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Line 10">
            <a:extLst>
              <a:ext uri="{FF2B5EF4-FFF2-40B4-BE49-F238E27FC236}">
                <a16:creationId xmlns:a16="http://schemas.microsoft.com/office/drawing/2014/main" id="{731DAE53-E487-133C-3DF4-94DF29BA05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51038" y="4071939"/>
            <a:ext cx="1644650" cy="7000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Line 11">
            <a:extLst>
              <a:ext uri="{FF2B5EF4-FFF2-40B4-BE49-F238E27FC236}">
                <a16:creationId xmlns:a16="http://schemas.microsoft.com/office/drawing/2014/main" id="{47C36664-A715-3FEB-4310-AE22DA2DC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1625" y="4071939"/>
            <a:ext cx="2025650" cy="7000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AutoShape 12">
            <a:extLst>
              <a:ext uri="{FF2B5EF4-FFF2-40B4-BE49-F238E27FC236}">
                <a16:creationId xmlns:a16="http://schemas.microsoft.com/office/drawing/2014/main" id="{6A526539-6E9B-5615-66C2-5F1E720D1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7038" y="5000625"/>
            <a:ext cx="546100" cy="592138"/>
          </a:xfrm>
          <a:prstGeom prst="downArrow">
            <a:avLst>
              <a:gd name="adj1" fmla="val 50000"/>
              <a:gd name="adj2" fmla="val 27118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50" name="Freeform 13">
            <a:extLst>
              <a:ext uri="{FF2B5EF4-FFF2-40B4-BE49-F238E27FC236}">
                <a16:creationId xmlns:a16="http://schemas.microsoft.com/office/drawing/2014/main" id="{0861FB30-F6C1-27EC-C0EC-5CC636CF65A9}"/>
              </a:ext>
            </a:extLst>
          </p:cNvPr>
          <p:cNvSpPr>
            <a:spLocks/>
          </p:cNvSpPr>
          <p:nvPr/>
        </p:nvSpPr>
        <p:spPr bwMode="auto">
          <a:xfrm>
            <a:off x="8047039" y="2173288"/>
            <a:ext cx="941387" cy="766762"/>
          </a:xfrm>
          <a:custGeom>
            <a:avLst/>
            <a:gdLst>
              <a:gd name="T0" fmla="*/ 0 w 593"/>
              <a:gd name="T1" fmla="*/ 2147483647 h 483"/>
              <a:gd name="T2" fmla="*/ 2147483647 w 593"/>
              <a:gd name="T3" fmla="*/ 0 h 483"/>
              <a:gd name="T4" fmla="*/ 2147483647 w 593"/>
              <a:gd name="T5" fmla="*/ 2147483647 h 483"/>
              <a:gd name="T6" fmla="*/ 2147483647 w 593"/>
              <a:gd name="T7" fmla="*/ 2147483647 h 483"/>
              <a:gd name="T8" fmla="*/ 2147483647 w 593"/>
              <a:gd name="T9" fmla="*/ 2147483647 h 483"/>
              <a:gd name="T10" fmla="*/ 2147483647 w 593"/>
              <a:gd name="T11" fmla="*/ 2147483647 h 483"/>
              <a:gd name="T12" fmla="*/ 2147483647 w 593"/>
              <a:gd name="T13" fmla="*/ 2147483647 h 483"/>
              <a:gd name="T14" fmla="*/ 2147483647 w 593"/>
              <a:gd name="T15" fmla="*/ 2147483647 h 483"/>
              <a:gd name="T16" fmla="*/ 2147483647 w 593"/>
              <a:gd name="T17" fmla="*/ 2147483647 h 483"/>
              <a:gd name="T18" fmla="*/ 2147483647 w 593"/>
              <a:gd name="T19" fmla="*/ 2147483647 h 483"/>
              <a:gd name="T20" fmla="*/ 0 w 593"/>
              <a:gd name="T21" fmla="*/ 2147483647 h 48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3"/>
              <a:gd name="T34" fmla="*/ 0 h 483"/>
              <a:gd name="T35" fmla="*/ 593 w 593"/>
              <a:gd name="T36" fmla="*/ 483 h 48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3" h="483">
                <a:moveTo>
                  <a:pt x="0" y="34"/>
                </a:moveTo>
                <a:lnTo>
                  <a:pt x="200" y="0"/>
                </a:lnTo>
                <a:lnTo>
                  <a:pt x="159" y="58"/>
                </a:lnTo>
                <a:lnTo>
                  <a:pt x="515" y="306"/>
                </a:lnTo>
                <a:lnTo>
                  <a:pt x="555" y="248"/>
                </a:lnTo>
                <a:lnTo>
                  <a:pt x="592" y="448"/>
                </a:lnTo>
                <a:lnTo>
                  <a:pt x="392" y="482"/>
                </a:lnTo>
                <a:lnTo>
                  <a:pt x="433" y="424"/>
                </a:lnTo>
                <a:lnTo>
                  <a:pt x="77" y="176"/>
                </a:lnTo>
                <a:lnTo>
                  <a:pt x="37" y="234"/>
                </a:lnTo>
                <a:lnTo>
                  <a:pt x="0" y="34"/>
                </a:lnTo>
              </a:path>
            </a:pathLst>
          </a:custGeom>
          <a:solidFill>
            <a:srgbClr val="2597B8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0251" name="Group 14">
            <a:extLst>
              <a:ext uri="{FF2B5EF4-FFF2-40B4-BE49-F238E27FC236}">
                <a16:creationId xmlns:a16="http://schemas.microsoft.com/office/drawing/2014/main" id="{F1F8AAB2-47A1-FBCA-C637-B334B14DBFF8}"/>
              </a:ext>
            </a:extLst>
          </p:cNvPr>
          <p:cNvGrpSpPr>
            <a:grpSpLocks/>
          </p:cNvGrpSpPr>
          <p:nvPr/>
        </p:nvGrpSpPr>
        <p:grpSpPr bwMode="auto">
          <a:xfrm>
            <a:off x="8170864" y="3187701"/>
            <a:ext cx="1781175" cy="815975"/>
            <a:chOff x="4187" y="2008"/>
            <a:chExt cx="1122" cy="514"/>
          </a:xfrm>
        </p:grpSpPr>
        <p:pic>
          <p:nvPicPr>
            <p:cNvPr id="10258" name="Picture 15">
              <a:extLst>
                <a:ext uri="{FF2B5EF4-FFF2-40B4-BE49-F238E27FC236}">
                  <a16:creationId xmlns:a16="http://schemas.microsoft.com/office/drawing/2014/main" id="{42410E33-2CE1-A659-005F-F8D36170A07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7" y="2008"/>
              <a:ext cx="1122" cy="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9" name="Rectangle 16">
              <a:extLst>
                <a:ext uri="{FF2B5EF4-FFF2-40B4-BE49-F238E27FC236}">
                  <a16:creationId xmlns:a16="http://schemas.microsoft.com/office/drawing/2014/main" id="{FD904BDF-456D-8CD6-0752-1FC7BA0AD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" y="2149"/>
              <a:ext cx="11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Unseen Data</a:t>
              </a:r>
            </a:p>
          </p:txBody>
        </p:sp>
      </p:grpSp>
      <p:sp>
        <p:nvSpPr>
          <p:cNvPr id="10252" name="Rectangle 17">
            <a:extLst>
              <a:ext uri="{FF2B5EF4-FFF2-40B4-BE49-F238E27FC236}">
                <a16:creationId xmlns:a16="http://schemas.microsoft.com/office/drawing/2014/main" id="{3B5D781D-13A4-2BB0-095C-89F540E28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512" y="4262439"/>
            <a:ext cx="2460353" cy="462307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(Jeff, Professor, 4)</a:t>
            </a:r>
          </a:p>
        </p:txBody>
      </p:sp>
      <p:sp>
        <p:nvSpPr>
          <p:cNvPr id="10253" name="Line 18">
            <a:extLst>
              <a:ext uri="{FF2B5EF4-FFF2-40B4-BE49-F238E27FC236}">
                <a16:creationId xmlns:a16="http://schemas.microsoft.com/office/drawing/2014/main" id="{9D8BFA57-366A-04D2-BE2F-6BF6EA04B7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91439" y="3903663"/>
            <a:ext cx="471487" cy="393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Line 19">
            <a:extLst>
              <a:ext uri="{FF2B5EF4-FFF2-40B4-BE49-F238E27FC236}">
                <a16:creationId xmlns:a16="http://schemas.microsoft.com/office/drawing/2014/main" id="{7653A599-3D1D-4B0D-D7E5-F59108231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72675" y="3903663"/>
            <a:ext cx="363538" cy="3492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Freeform 20">
            <a:extLst>
              <a:ext uri="{FF2B5EF4-FFF2-40B4-BE49-F238E27FC236}">
                <a16:creationId xmlns:a16="http://schemas.microsoft.com/office/drawing/2014/main" id="{3CA90B52-3C4D-2B0C-836F-FEB848AD1454}"/>
              </a:ext>
            </a:extLst>
          </p:cNvPr>
          <p:cNvSpPr>
            <a:spLocks/>
          </p:cNvSpPr>
          <p:nvPr/>
        </p:nvSpPr>
        <p:spPr bwMode="auto">
          <a:xfrm>
            <a:off x="4884738" y="2032001"/>
            <a:ext cx="901700" cy="593725"/>
          </a:xfrm>
          <a:custGeom>
            <a:avLst/>
            <a:gdLst>
              <a:gd name="T0" fmla="*/ 2147483647 w 568"/>
              <a:gd name="T1" fmla="*/ 2147483647 h 374"/>
              <a:gd name="T2" fmla="*/ 2147483647 w 568"/>
              <a:gd name="T3" fmla="*/ 2147483647 h 374"/>
              <a:gd name="T4" fmla="*/ 2147483647 w 568"/>
              <a:gd name="T5" fmla="*/ 2147483647 h 374"/>
              <a:gd name="T6" fmla="*/ 2147483647 w 568"/>
              <a:gd name="T7" fmla="*/ 2147483647 h 374"/>
              <a:gd name="T8" fmla="*/ 2147483647 w 568"/>
              <a:gd name="T9" fmla="*/ 2147483647 h 374"/>
              <a:gd name="T10" fmla="*/ 0 w 568"/>
              <a:gd name="T11" fmla="*/ 2147483647 h 374"/>
              <a:gd name="T12" fmla="*/ 2147483647 w 568"/>
              <a:gd name="T13" fmla="*/ 2147483647 h 374"/>
              <a:gd name="T14" fmla="*/ 2147483647 w 568"/>
              <a:gd name="T15" fmla="*/ 2147483647 h 374"/>
              <a:gd name="T16" fmla="*/ 2147483647 w 568"/>
              <a:gd name="T17" fmla="*/ 2147483647 h 374"/>
              <a:gd name="T18" fmla="*/ 2147483647 w 568"/>
              <a:gd name="T19" fmla="*/ 0 h 374"/>
              <a:gd name="T20" fmla="*/ 2147483647 w 568"/>
              <a:gd name="T21" fmla="*/ 2147483647 h 37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68"/>
              <a:gd name="T34" fmla="*/ 0 h 374"/>
              <a:gd name="T35" fmla="*/ 568 w 568"/>
              <a:gd name="T36" fmla="*/ 374 h 37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68" h="374">
                <a:moveTo>
                  <a:pt x="567" y="59"/>
                </a:moveTo>
                <a:lnTo>
                  <a:pt x="503" y="220"/>
                </a:lnTo>
                <a:lnTo>
                  <a:pt x="478" y="165"/>
                </a:lnTo>
                <a:lnTo>
                  <a:pt x="138" y="318"/>
                </a:lnTo>
                <a:lnTo>
                  <a:pt x="163" y="373"/>
                </a:lnTo>
                <a:lnTo>
                  <a:pt x="0" y="314"/>
                </a:lnTo>
                <a:lnTo>
                  <a:pt x="64" y="153"/>
                </a:lnTo>
                <a:lnTo>
                  <a:pt x="89" y="208"/>
                </a:lnTo>
                <a:lnTo>
                  <a:pt x="429" y="55"/>
                </a:lnTo>
                <a:lnTo>
                  <a:pt x="404" y="0"/>
                </a:lnTo>
                <a:lnTo>
                  <a:pt x="567" y="59"/>
                </a:lnTo>
              </a:path>
            </a:pathLst>
          </a:custGeom>
          <a:solidFill>
            <a:srgbClr val="2597B8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0256" name="Picture 21">
            <a:extLst>
              <a:ext uri="{FF2B5EF4-FFF2-40B4-BE49-F238E27FC236}">
                <a16:creationId xmlns:a16="http://schemas.microsoft.com/office/drawing/2014/main" id="{97C055BE-76A1-633C-7C09-58ED123B70B4}"/>
              </a:ext>
            </a:extLst>
          </p:cNvPr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014" y="5738813"/>
            <a:ext cx="7207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7" name="Rectangle 22">
            <a:extLst>
              <a:ext uri="{FF2B5EF4-FFF2-40B4-BE49-F238E27FC236}">
                <a16:creationId xmlns:a16="http://schemas.microsoft.com/office/drawing/2014/main" id="{79C17AFC-6D50-4B44-8CEB-C4A9604EE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5414" y="4959351"/>
            <a:ext cx="1525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sz="2800">
                <a:latin typeface="Times New Roman" panose="02020603050405020304" pitchFamily="18" charset="0"/>
              </a:rPr>
              <a:t>Tenured?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6">
            <a:extLst>
              <a:ext uri="{FF2B5EF4-FFF2-40B4-BE49-F238E27FC236}">
                <a16:creationId xmlns:a16="http://schemas.microsoft.com/office/drawing/2014/main" id="{382DE7BA-20C7-AB69-CA75-D7DD6B94CC66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41E0877F-267E-C740-9FFA-701A9ABFBA98}" type="slidenum">
              <a:rPr lang="en-US" altLang="en-US" sz="1400" b="1">
                <a:latin typeface="Calibri" panose="020F0502020204030204" pitchFamily="34" charset="0"/>
              </a:rPr>
              <a:pPr algn="r" eaLnBrk="1" hangingPunct="1"/>
              <a:t>8</a:t>
            </a:fld>
            <a:endParaRPr lang="en-US" altLang="en-US" sz="1400" b="1">
              <a:latin typeface="Calibri" panose="020F050202020403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F12A907D-3EF7-E3DC-F54C-957A9DCBB8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81000"/>
            <a:ext cx="91440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Chapter 8. Classification: Basic Concepts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F32E9D40-0BB5-E00E-1541-4EA7CDDA141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828800" y="1447800"/>
            <a:ext cx="8382000" cy="5105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en-US" dirty="0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Bayes Classification Methods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Model Evaluation and Selection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Techniques to Improve Classification Accuracy: Ensemble Methods</a:t>
            </a:r>
          </a:p>
          <a:p>
            <a:pPr>
              <a:lnSpc>
                <a:spcPct val="130000"/>
              </a:lnSpc>
            </a:pPr>
            <a:endParaRPr lang="en-US" altLang="en-US" dirty="0"/>
          </a:p>
        </p:txBody>
      </p:sp>
      <p:sp>
        <p:nvSpPr>
          <p:cNvPr id="11269" name="AutoShape 8">
            <a:extLst>
              <a:ext uri="{FF2B5EF4-FFF2-40B4-BE49-F238E27FC236}">
                <a16:creationId xmlns:a16="http://schemas.microsoft.com/office/drawing/2014/main" id="{FC6FC05A-6128-11ED-8934-24B81734D47D}"/>
              </a:ext>
            </a:extLst>
          </p:cNvPr>
          <p:cNvSpPr>
            <a:spLocks noChangeArrowheads="1"/>
          </p:cNvSpPr>
          <p:nvPr/>
        </p:nvSpPr>
        <p:spPr bwMode="auto">
          <a:xfrm rot="9803581">
            <a:off x="6096000" y="21336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259152C5-F411-4C34-CD4A-65B04BC1C8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772525" y="6477000"/>
            <a:ext cx="19050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3E2A8E1-BB48-814F-8B60-2BD1C9D3D9CE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11D9336B-43EC-163C-0006-46DB025BF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9144000" cy="8382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Decision Tree Induction: An Example</a:t>
            </a:r>
            <a:endParaRPr lang="en-US" altLang="en-US" i="1">
              <a:solidFill>
                <a:srgbClr val="170981"/>
              </a:solidFill>
            </a:endParaRPr>
          </a:p>
        </p:txBody>
      </p:sp>
      <p:grpSp>
        <p:nvGrpSpPr>
          <p:cNvPr id="12292" name="Group 63">
            <a:extLst>
              <a:ext uri="{FF2B5EF4-FFF2-40B4-BE49-F238E27FC236}">
                <a16:creationId xmlns:a16="http://schemas.microsoft.com/office/drawing/2014/main" id="{97624349-08EB-344D-1660-14955FA7440C}"/>
              </a:ext>
            </a:extLst>
          </p:cNvPr>
          <p:cNvGrpSpPr>
            <a:grpSpLocks/>
          </p:cNvGrpSpPr>
          <p:nvPr/>
        </p:nvGrpSpPr>
        <p:grpSpPr bwMode="auto">
          <a:xfrm>
            <a:off x="1616075" y="2819401"/>
            <a:ext cx="6311900" cy="3814763"/>
            <a:chOff x="766" y="1152"/>
            <a:chExt cx="3976" cy="2403"/>
          </a:xfrm>
        </p:grpSpPr>
        <p:sp>
          <p:nvSpPr>
            <p:cNvPr id="12295" name="Rectangle 3">
              <a:extLst>
                <a:ext uri="{FF2B5EF4-FFF2-40B4-BE49-F238E27FC236}">
                  <a16:creationId xmlns:a16="http://schemas.microsoft.com/office/drawing/2014/main" id="{0E77333E-9169-40CF-98C3-AD1D15F9E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7" y="1152"/>
              <a:ext cx="475" cy="296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age?</a:t>
              </a:r>
            </a:p>
          </p:txBody>
        </p:sp>
        <p:sp>
          <p:nvSpPr>
            <p:cNvPr id="12296" name="Rectangle 4">
              <a:extLst>
                <a:ext uri="{FF2B5EF4-FFF2-40B4-BE49-F238E27FC236}">
                  <a16:creationId xmlns:a16="http://schemas.microsoft.com/office/drawing/2014/main" id="{0F0A1531-0994-BFCA-EE94-B8D2B4B67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1" y="1766"/>
              <a:ext cx="7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overcast</a:t>
              </a:r>
            </a:p>
          </p:txBody>
        </p:sp>
        <p:sp>
          <p:nvSpPr>
            <p:cNvPr id="12297" name="Rectangle 5">
              <a:extLst>
                <a:ext uri="{FF2B5EF4-FFF2-40B4-BE49-F238E27FC236}">
                  <a16:creationId xmlns:a16="http://schemas.microsoft.com/office/drawing/2014/main" id="{D5C862B8-247B-877E-1668-F1B51E1E3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9" y="2342"/>
              <a:ext cx="763" cy="296"/>
            </a:xfrm>
            <a:prstGeom prst="rect">
              <a:avLst/>
            </a:prstGeom>
            <a:solidFill>
              <a:srgbClr val="00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student?</a:t>
              </a:r>
            </a:p>
          </p:txBody>
        </p:sp>
        <p:sp>
          <p:nvSpPr>
            <p:cNvPr id="12298" name="Rectangle 6">
              <a:extLst>
                <a:ext uri="{FF2B5EF4-FFF2-40B4-BE49-F238E27FC236}">
                  <a16:creationId xmlns:a16="http://schemas.microsoft.com/office/drawing/2014/main" id="{52971861-BB83-A425-5830-2929D1123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" y="2342"/>
              <a:ext cx="1140" cy="296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credit rating?</a:t>
              </a:r>
            </a:p>
          </p:txBody>
        </p:sp>
        <p:sp>
          <p:nvSpPr>
            <p:cNvPr id="12299" name="Line 11">
              <a:extLst>
                <a:ext uri="{FF2B5EF4-FFF2-40B4-BE49-F238E27FC236}">
                  <a16:creationId xmlns:a16="http://schemas.microsoft.com/office/drawing/2014/main" id="{E8904506-9CC6-52D2-2A05-A19DD521E8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9" y="1462"/>
              <a:ext cx="625" cy="8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0" name="Line 12">
              <a:extLst>
                <a:ext uri="{FF2B5EF4-FFF2-40B4-BE49-F238E27FC236}">
                  <a16:creationId xmlns:a16="http://schemas.microsoft.com/office/drawing/2014/main" id="{4C193B05-FF48-FD14-2E8C-41A438BC76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22" y="1491"/>
              <a:ext cx="1" cy="3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1" name="Line 13">
              <a:extLst>
                <a:ext uri="{FF2B5EF4-FFF2-40B4-BE49-F238E27FC236}">
                  <a16:creationId xmlns:a16="http://schemas.microsoft.com/office/drawing/2014/main" id="{EA29B32D-60DF-19AE-F7F1-C749E8AF0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440"/>
              <a:ext cx="1051" cy="8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2" name="Rectangle 14">
              <a:extLst>
                <a:ext uri="{FF2B5EF4-FFF2-40B4-BE49-F238E27FC236}">
                  <a16:creationId xmlns:a16="http://schemas.microsoft.com/office/drawing/2014/main" id="{3149BB8B-F3ED-DC99-42A8-F4471529A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3" y="1730"/>
              <a:ext cx="534" cy="296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 b="1">
                  <a:latin typeface="Times New Roman" panose="02020603050405020304" pitchFamily="18" charset="0"/>
                </a:rPr>
                <a:t>&lt;=30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303" name="Rectangle 15">
              <a:extLst>
                <a:ext uri="{FF2B5EF4-FFF2-40B4-BE49-F238E27FC236}">
                  <a16:creationId xmlns:a16="http://schemas.microsoft.com/office/drawing/2014/main" id="{9285FF38-E94C-94EB-9FA3-8C5031708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" y="1804"/>
              <a:ext cx="421" cy="2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 b="1">
                  <a:latin typeface="Times New Roman" panose="02020603050405020304" pitchFamily="18" charset="0"/>
                </a:rPr>
                <a:t>&gt;40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304" name="Line 16">
              <a:extLst>
                <a:ext uri="{FF2B5EF4-FFF2-40B4-BE49-F238E27FC236}">
                  <a16:creationId xmlns:a16="http://schemas.microsoft.com/office/drawing/2014/main" id="{90BA94DB-13D4-D6AA-4C3A-6B34B6A966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2640"/>
              <a:ext cx="528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5" name="Line 17">
              <a:extLst>
                <a:ext uri="{FF2B5EF4-FFF2-40B4-BE49-F238E27FC236}">
                  <a16:creationId xmlns:a16="http://schemas.microsoft.com/office/drawing/2014/main" id="{B136A665-DF2A-5B6B-FFEF-0E05C9953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640"/>
              <a:ext cx="480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6" name="Line 18">
              <a:extLst>
                <a:ext uri="{FF2B5EF4-FFF2-40B4-BE49-F238E27FC236}">
                  <a16:creationId xmlns:a16="http://schemas.microsoft.com/office/drawing/2014/main" id="{D84296F1-516A-7BDC-FA12-84EA0E2104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2640"/>
              <a:ext cx="480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7" name="Line 19">
              <a:extLst>
                <a:ext uri="{FF2B5EF4-FFF2-40B4-BE49-F238E27FC236}">
                  <a16:creationId xmlns:a16="http://schemas.microsoft.com/office/drawing/2014/main" id="{8EA5976F-801F-4688-87F5-0A5DC14FF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640"/>
              <a:ext cx="432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8" name="Line 24">
              <a:extLst>
                <a:ext uri="{FF2B5EF4-FFF2-40B4-BE49-F238E27FC236}">
                  <a16:creationId xmlns:a16="http://schemas.microsoft.com/office/drawing/2014/main" id="{505FE9D4-E385-DB20-2688-15C6EE7C2A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3" y="2029"/>
              <a:ext cx="0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9" name="Rectangle 25">
              <a:extLst>
                <a:ext uri="{FF2B5EF4-FFF2-40B4-BE49-F238E27FC236}">
                  <a16:creationId xmlns:a16="http://schemas.microsoft.com/office/drawing/2014/main" id="{1BEA1A3C-1D83-47AB-84B5-BE6A28945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" y="3264"/>
              <a:ext cx="311" cy="291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12310" name="Rectangle 27">
              <a:extLst>
                <a:ext uri="{FF2B5EF4-FFF2-40B4-BE49-F238E27FC236}">
                  <a16:creationId xmlns:a16="http://schemas.microsoft.com/office/drawing/2014/main" id="{4E1A78DE-314B-15BC-EBAA-0E13EA9B8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264"/>
              <a:ext cx="376" cy="291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311" name="Rectangle 28">
              <a:extLst>
                <a:ext uri="{FF2B5EF4-FFF2-40B4-BE49-F238E27FC236}">
                  <a16:creationId xmlns:a16="http://schemas.microsoft.com/office/drawing/2014/main" id="{C4D6D4C5-6A1E-D7CC-1C11-C44437411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6" y="3216"/>
              <a:ext cx="376" cy="291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312" name="Rectangle 29">
              <a:extLst>
                <a:ext uri="{FF2B5EF4-FFF2-40B4-BE49-F238E27FC236}">
                  <a16:creationId xmlns:a16="http://schemas.microsoft.com/office/drawing/2014/main" id="{01C336F0-7231-4BE8-32D4-CD50EA84C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5" y="2344"/>
              <a:ext cx="376" cy="291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313" name="Rectangle 30">
              <a:extLst>
                <a:ext uri="{FF2B5EF4-FFF2-40B4-BE49-F238E27FC236}">
                  <a16:creationId xmlns:a16="http://schemas.microsoft.com/office/drawing/2014/main" id="{44196D9D-C638-550D-2AB6-8C8C45101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824"/>
              <a:ext cx="67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000" b="1">
                  <a:latin typeface="Times New Roman" panose="02020603050405020304" pitchFamily="18" charset="0"/>
                </a:rPr>
                <a:t>31..40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314" name="Rectangle 62">
              <a:extLst>
                <a:ext uri="{FF2B5EF4-FFF2-40B4-BE49-F238E27FC236}">
                  <a16:creationId xmlns:a16="http://schemas.microsoft.com/office/drawing/2014/main" id="{9025169A-F8C3-9BCB-D1DA-44EA353AAAA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456844">
              <a:off x="3166" y="3214"/>
              <a:ext cx="311" cy="291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12315" name="Rectangle 9">
              <a:extLst>
                <a:ext uri="{FF2B5EF4-FFF2-40B4-BE49-F238E27FC236}">
                  <a16:creationId xmlns:a16="http://schemas.microsoft.com/office/drawing/2014/main" id="{33B72583-38CF-2BCE-8253-408B91C06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4" y="2784"/>
              <a:ext cx="386" cy="2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fair</a:t>
              </a:r>
            </a:p>
          </p:txBody>
        </p:sp>
        <p:sp>
          <p:nvSpPr>
            <p:cNvPr id="12316" name="Rectangle 10">
              <a:extLst>
                <a:ext uri="{FF2B5EF4-FFF2-40B4-BE49-F238E27FC236}">
                  <a16:creationId xmlns:a16="http://schemas.microsoft.com/office/drawing/2014/main" id="{C58D1ED8-7465-5212-4681-117C6CD09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" y="2784"/>
              <a:ext cx="815" cy="2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excellent</a:t>
              </a:r>
            </a:p>
          </p:txBody>
        </p:sp>
        <p:sp>
          <p:nvSpPr>
            <p:cNvPr id="12317" name="Rectangle 8">
              <a:extLst>
                <a:ext uri="{FF2B5EF4-FFF2-40B4-BE49-F238E27FC236}">
                  <a16:creationId xmlns:a16="http://schemas.microsoft.com/office/drawing/2014/main" id="{172F19FF-9D03-87AD-E6EA-BF9DEEB45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2832"/>
              <a:ext cx="376" cy="2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318" name="Rectangle 7">
              <a:extLst>
                <a:ext uri="{FF2B5EF4-FFF2-40B4-BE49-F238E27FC236}">
                  <a16:creationId xmlns:a16="http://schemas.microsoft.com/office/drawing/2014/main" id="{29F482A0-F164-FA93-5EAE-9AD7EBBD1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32"/>
              <a:ext cx="432" cy="2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</p:grpSp>
      <p:graphicFrame>
        <p:nvGraphicFramePr>
          <p:cNvPr id="12293" name="Object 1024">
            <a:extLst>
              <a:ext uri="{FF2B5EF4-FFF2-40B4-BE49-F238E27FC236}">
                <a16:creationId xmlns:a16="http://schemas.microsoft.com/office/drawing/2014/main" id="{35B1E6D9-E8B7-3EA5-1E4D-09A80E3E67B4}"/>
              </a:ext>
            </a:extLst>
          </p:cNvPr>
          <p:cNvGraphicFramePr>
            <a:graphicFrameLocks/>
          </p:cNvGraphicFramePr>
          <p:nvPr/>
        </p:nvGraphicFramePr>
        <p:xfrm>
          <a:off x="6716714" y="1143000"/>
          <a:ext cx="3951287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778500" imgH="4470400" progId="Excel.Sheet.8">
                  <p:embed/>
                </p:oleObj>
              </mc:Choice>
              <mc:Fallback>
                <p:oleObj name="Worksheet" r:id="rId3" imgW="5778500" imgH="4470400" progId="Excel.Sheet.8">
                  <p:embed/>
                  <p:pic>
                    <p:nvPicPr>
                      <p:cNvPr id="12293" name="Object 1024">
                        <a:extLst>
                          <a:ext uri="{FF2B5EF4-FFF2-40B4-BE49-F238E27FC236}">
                            <a16:creationId xmlns:a16="http://schemas.microsoft.com/office/drawing/2014/main" id="{35B1E6D9-E8B7-3EA5-1E4D-09A80E3E67B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6714" y="1143000"/>
                        <a:ext cx="3951287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Rectangle 1">
            <a:extLst>
              <a:ext uri="{FF2B5EF4-FFF2-40B4-BE49-F238E27FC236}">
                <a16:creationId xmlns:a16="http://schemas.microsoft.com/office/drawing/2014/main" id="{737A8892-0540-DE69-9238-E2647F291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371600"/>
            <a:ext cx="5173663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>
                <a:srgbClr val="170981"/>
              </a:buClr>
              <a:buSzPct val="75000"/>
              <a:buFont typeface="Wingdings" pitchFamily="2" charset="2"/>
              <a:buChar char="q"/>
            </a:pPr>
            <a:r>
              <a:rPr lang="en-US" altLang="en-US" sz="2400">
                <a:latin typeface="Calibri" panose="020F0502020204030204" pitchFamily="34" charset="0"/>
              </a:rPr>
              <a:t>Training data set: Buys_computer</a:t>
            </a:r>
          </a:p>
          <a:p>
            <a:pPr eaLnBrk="1" hangingPunct="1">
              <a:buClr>
                <a:srgbClr val="170981"/>
              </a:buClr>
              <a:buSzPct val="75000"/>
              <a:buFont typeface="Wingdings" pitchFamily="2" charset="2"/>
              <a:buChar char="q"/>
            </a:pPr>
            <a:r>
              <a:rPr lang="en-US" altLang="en-US" sz="2400">
                <a:latin typeface="Calibri" panose="020F0502020204030204" pitchFamily="34" charset="0"/>
              </a:rPr>
              <a:t>The data set follows an example of Quinlan’s ID3 (Playing Tennis)</a:t>
            </a:r>
          </a:p>
          <a:p>
            <a:pPr eaLnBrk="1" hangingPunct="1">
              <a:buClr>
                <a:srgbClr val="170981"/>
              </a:buClr>
              <a:buSzPct val="75000"/>
              <a:buFont typeface="Wingdings" pitchFamily="2" charset="2"/>
              <a:buChar char="q"/>
            </a:pPr>
            <a:r>
              <a:rPr lang="en-US" altLang="en-US" sz="2400">
                <a:latin typeface="Calibri" panose="020F0502020204030204" pitchFamily="34" charset="0"/>
              </a:rPr>
              <a:t>Resulting tree: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30BA223A-9777-1CB0-E647-29773BC29A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6DCD143-453D-A540-91C6-892B4A048A4E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  <p:sp>
        <p:nvSpPr>
          <p:cNvPr id="13315" name="Rectangle 1026">
            <a:extLst>
              <a:ext uri="{FF2B5EF4-FFF2-40B4-BE49-F238E27FC236}">
                <a16:creationId xmlns:a16="http://schemas.microsoft.com/office/drawing/2014/main" id="{3C83610D-781F-7D26-BDC6-2725AF72F6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Algorithm for Decision Tree Induction</a:t>
            </a:r>
          </a:p>
        </p:txBody>
      </p:sp>
      <p:sp>
        <p:nvSpPr>
          <p:cNvPr id="13316" name="Rectangle 1027">
            <a:extLst>
              <a:ext uri="{FF2B5EF4-FFF2-40B4-BE49-F238E27FC236}">
                <a16:creationId xmlns:a16="http://schemas.microsoft.com/office/drawing/2014/main" id="{9565F502-3DBB-51DA-9767-9E03867E39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3827" y="1219200"/>
            <a:ext cx="10824519" cy="5562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Basic algorithm (a greedy algorithm)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dirty="0"/>
              <a:t>Tree is constructed in a </a:t>
            </a:r>
            <a:r>
              <a:rPr lang="en-US" altLang="en-US" dirty="0">
                <a:solidFill>
                  <a:schemeClr val="hlink"/>
                </a:solidFill>
              </a:rPr>
              <a:t>top-down recursive divide-and-conquer manner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dirty="0"/>
              <a:t>At start, all the training examples are at the root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dirty="0"/>
              <a:t>Attributes are categorical (if continuous-valued, they are discretized in advance)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dirty="0"/>
              <a:t>Examples are partitioned recursively based on selected attributes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dirty="0"/>
              <a:t>Test attributes are selected on the basis of a heuristic or statistical measure (e.g., </a:t>
            </a:r>
            <a:r>
              <a:rPr lang="en-US" altLang="en-US" dirty="0">
                <a:solidFill>
                  <a:schemeClr val="hlink"/>
                </a:solidFill>
              </a:rPr>
              <a:t>information gain</a:t>
            </a:r>
            <a:r>
              <a:rPr lang="en-US" altLang="en-US" dirty="0"/>
              <a:t>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Conditions for stopping partitioning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dirty="0"/>
              <a:t>All samples for a given node belong to the same class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dirty="0"/>
              <a:t>There are no remaining attributes for further partitioning – </a:t>
            </a:r>
            <a:r>
              <a:rPr lang="en-US" altLang="en-US" dirty="0">
                <a:solidFill>
                  <a:schemeClr val="hlink"/>
                </a:solidFill>
              </a:rPr>
              <a:t>majority voting</a:t>
            </a:r>
            <a:r>
              <a:rPr lang="en-US" altLang="en-US" dirty="0"/>
              <a:t> is employed for classifying the leaf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dirty="0"/>
              <a:t>There are no samples left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8E9D6-9EFB-A8B0-7207-DCDBBE47C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in Classification (ML Context)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67DBA5-31C7-896C-069F-A4C88C41BE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In machine learning, </a:t>
                </a:r>
                <a:r>
                  <a:rPr lang="en-US" b="1" dirty="0"/>
                  <a:t>entropy</a:t>
                </a:r>
                <a:r>
                  <a:rPr lang="en-US" dirty="0"/>
                  <a:t> is used to measure the </a:t>
                </a:r>
                <a:r>
                  <a:rPr lang="en-US" b="1" dirty="0"/>
                  <a:t>impurity or uncertainty</a:t>
                </a:r>
                <a:r>
                  <a:rPr lang="en-US" dirty="0"/>
                  <a:t> in a dataset. It tells us how mixed the classes are.</a:t>
                </a:r>
              </a:p>
              <a:p>
                <a:r>
                  <a:rPr lang="en-US" dirty="0"/>
                  <a:t>The formula is: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𝐻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𝑆</m:t>
                        </m:r>
                      </m:e>
                    </m:d>
                    <m:r>
                      <a:rPr lang="ar-AE"/>
                      <m:t>=−</m:t>
                    </m:r>
                    <m:nary>
                      <m:naryPr>
                        <m:chr m:val="∑"/>
                        <m:grow m:val="on"/>
                        <m:ctrlPr>
                          <a:rPr lang="ar-AE" i="1"/>
                        </m:ctrlPr>
                      </m:naryPr>
                      <m:sub>
                        <m:r>
                          <a:rPr lang="ar-AE" i="1"/>
                          <m:t>𝑖</m:t>
                        </m:r>
                        <m:r>
                          <a:rPr lang="ar-AE"/>
                          <m:t>=1</m:t>
                        </m:r>
                      </m:sub>
                      <m:sup>
                        <m:r>
                          <a:rPr lang="ar-AE" i="1"/>
                          <m:t>𝑐</m:t>
                        </m:r>
                      </m:sup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𝑝</m:t>
                            </m:r>
                          </m:e>
                          <m:sub>
                            <m:r>
                              <a:rPr lang="ar-AE" i="1"/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𝑝</m:t>
                            </m:r>
                          </m:e>
                          <m:sub>
                            <m:r>
                              <a:rPr lang="ar-AE" i="1"/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/>
                      <m:t>𝑆</m:t>
                    </m:r>
                  </m:oMath>
                </a14:m>
                <a:r>
                  <a:rPr lang="ar-AE" dirty="0"/>
                  <a:t>: </a:t>
                </a:r>
                <a:r>
                  <a:rPr lang="en-US" dirty="0"/>
                  <a:t>the dataset (or node in a decision tree)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𝑐</m:t>
                    </m:r>
                  </m:oMath>
                </a14:m>
                <a:r>
                  <a:rPr lang="en-US" dirty="0"/>
                  <a:t>: number of classes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𝑝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proportion of samples in class </a:t>
                </a:r>
                <a14:m>
                  <m:oMath xmlns:m="http://schemas.openxmlformats.org/officeDocument/2006/math">
                    <m:r>
                      <a:rPr lang="en-US" i="1"/>
                      <m:t>𝑖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Low entropy (near 0):</a:t>
                </a:r>
                <a:r>
                  <a:rPr lang="en-US" dirty="0"/>
                  <a:t> Node is pure (most samples belong to one class).</a:t>
                </a:r>
              </a:p>
              <a:p>
                <a:r>
                  <a:rPr lang="en-US" b="1" dirty="0"/>
                  <a:t>High entropy (max = 1 for binary classes):</a:t>
                </a:r>
                <a:r>
                  <a:rPr lang="en-US" dirty="0"/>
                  <a:t> Node is highly mixed (classes equally distributed).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67DBA5-31C7-896C-069F-A4C88C41BE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176B0-A909-3D38-8155-62E69D766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37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6001A1F-0921-97FC-5796-FECD9C64C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Brief Review of Entropy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EC410-BF85-EEC3-0846-81138DFA72E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3" cstate="print"/>
            <a:stretch>
              <a:fillRect l="-288" t="-1043" r="-1513"/>
            </a:stretch>
          </a:blipFill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1BF92CD3-562F-813F-FECA-19E1C8CD40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5A63CC6-4EED-2641-9E3F-43C2D46E1653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  <p:pic>
        <p:nvPicPr>
          <p:cNvPr id="14341" name="Picture 2" descr="http://upload.wikimedia.org/wikipedia/commons/thumb/2/22/Binary_entropy_plot.svg/200px-Binary_entropy_plot.svg.png">
            <a:extLst>
              <a:ext uri="{FF2B5EF4-FFF2-40B4-BE49-F238E27FC236}">
                <a16:creationId xmlns:a16="http://schemas.microsoft.com/office/drawing/2014/main" id="{B2F4EF91-5EC7-0768-3C98-BC650D9E3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4191001"/>
            <a:ext cx="19050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TextBox 4">
            <a:extLst>
              <a:ext uri="{FF2B5EF4-FFF2-40B4-BE49-F238E27FC236}">
                <a16:creationId xmlns:a16="http://schemas.microsoft.com/office/drawing/2014/main" id="{84EBD25A-BD63-AC84-9A5C-13F4A5650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096000"/>
            <a:ext cx="8016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m =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>
            <a:extLst>
              <a:ext uri="{FF2B5EF4-FFF2-40B4-BE49-F238E27FC236}">
                <a16:creationId xmlns:a16="http://schemas.microsoft.com/office/drawing/2014/main" id="{D45E35B9-690C-578C-6580-3A49FD0F43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D1DFC12-D790-5141-A045-B94E8AB3236A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AFF01840-A9C4-4A7D-612C-9877184D0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762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3600" b="1" dirty="0">
                <a:solidFill>
                  <a:schemeClr val="tx2"/>
                </a:solidFill>
                <a:latin typeface="Berlin Sans FB Demi" panose="020F0502020204030204" pitchFamily="34" charset="0"/>
              </a:rPr>
              <a:t>Attribute Selection Measure: Information Gain (ID3/C4.5)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DC68E475-87D8-B442-2D86-7867EE31A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405" y="1524000"/>
            <a:ext cx="11108725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400" dirty="0">
                <a:latin typeface="Calibri" panose="020F0502020204030204" pitchFamily="34" charset="0"/>
              </a:rPr>
              <a:t>Select the attribute with the highest information gain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400" dirty="0">
                <a:latin typeface="Calibri" panose="020F0502020204030204" pitchFamily="34" charset="0"/>
              </a:rPr>
              <a:t>Let </a:t>
            </a:r>
            <a:r>
              <a:rPr lang="en-US" altLang="en-US" sz="2400" i="1" dirty="0">
                <a:latin typeface="Calibri" panose="020F0502020204030204" pitchFamily="34" charset="0"/>
              </a:rPr>
              <a:t>p</a:t>
            </a:r>
            <a:r>
              <a:rPr lang="en-US" altLang="en-US" sz="2400" i="1" baseline="-25000" dirty="0">
                <a:latin typeface="Calibri" panose="020F0502020204030204" pitchFamily="34" charset="0"/>
              </a:rPr>
              <a:t>i</a:t>
            </a:r>
            <a:r>
              <a:rPr lang="en-US" altLang="en-US" sz="2400" dirty="0">
                <a:latin typeface="Calibri" panose="020F0502020204030204" pitchFamily="34" charset="0"/>
              </a:rPr>
              <a:t> be the probability that an arbitrary tuple in D belongs to class C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i</a:t>
            </a:r>
            <a:r>
              <a:rPr lang="en-US" altLang="en-US" sz="2400" dirty="0">
                <a:latin typeface="Calibri" panose="020F0502020204030204" pitchFamily="34" charset="0"/>
              </a:rPr>
              <a:t>, estimated by |C</a:t>
            </a:r>
            <a:r>
              <a:rPr lang="en-US" altLang="en-US" sz="2400" i="1" baseline="-25000" dirty="0">
                <a:latin typeface="Calibri" panose="020F0502020204030204" pitchFamily="34" charset="0"/>
              </a:rPr>
              <a:t>i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, D</a:t>
            </a:r>
            <a:r>
              <a:rPr lang="en-US" altLang="en-US" sz="2400" dirty="0">
                <a:latin typeface="Calibri" panose="020F0502020204030204" pitchFamily="34" charset="0"/>
              </a:rPr>
              <a:t>|/|D|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400" dirty="0">
                <a:solidFill>
                  <a:schemeClr val="hlink"/>
                </a:solidFill>
                <a:latin typeface="Calibri" panose="020F0502020204030204" pitchFamily="34" charset="0"/>
              </a:rPr>
              <a:t>Expected information</a:t>
            </a:r>
            <a:r>
              <a:rPr lang="en-US" altLang="en-US" sz="2400" dirty="0">
                <a:latin typeface="Calibri" panose="020F0502020204030204" pitchFamily="34" charset="0"/>
              </a:rPr>
              <a:t> (entropy) needed to classify a tuple in D: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400" dirty="0">
                <a:solidFill>
                  <a:schemeClr val="hlink"/>
                </a:solidFill>
                <a:latin typeface="Calibri" panose="020F0502020204030204" pitchFamily="34" charset="0"/>
              </a:rPr>
              <a:t>Information</a:t>
            </a:r>
            <a:r>
              <a:rPr lang="en-US" altLang="en-US" sz="2400" dirty="0">
                <a:latin typeface="Calibri" panose="020F0502020204030204" pitchFamily="34" charset="0"/>
              </a:rPr>
              <a:t> needed (after using A to split D into v partitions) to classify D: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400" dirty="0">
                <a:solidFill>
                  <a:schemeClr val="hlink"/>
                </a:solidFill>
                <a:latin typeface="Calibri" panose="020F0502020204030204" pitchFamily="34" charset="0"/>
              </a:rPr>
              <a:t>Information gained</a:t>
            </a:r>
            <a:r>
              <a:rPr lang="en-US" altLang="en-US" sz="2400" dirty="0">
                <a:latin typeface="Calibri" panose="020F0502020204030204" pitchFamily="34" charset="0"/>
              </a:rPr>
              <a:t> by branching on attribute A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15365" name="Object 4">
            <a:extLst>
              <a:ext uri="{FF2B5EF4-FFF2-40B4-BE49-F238E27FC236}">
                <a16:creationId xmlns:a16="http://schemas.microsoft.com/office/drawing/2014/main" id="{AEFDDB1E-EA9E-1DC6-9AAD-3FFDF7347C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430398"/>
              </p:ext>
            </p:extLst>
          </p:nvPr>
        </p:nvGraphicFramePr>
        <p:xfrm>
          <a:off x="7838217" y="3149600"/>
          <a:ext cx="331787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160200" imgH="9944100" progId="Equation.3">
                  <p:embed/>
                </p:oleObj>
              </mc:Choice>
              <mc:Fallback>
                <p:oleObj name="Equation" r:id="rId3" imgW="37160200" imgH="9944100" progId="Equation.3">
                  <p:embed/>
                  <p:pic>
                    <p:nvPicPr>
                      <p:cNvPr id="15365" name="Object 4">
                        <a:extLst>
                          <a:ext uri="{FF2B5EF4-FFF2-40B4-BE49-F238E27FC236}">
                            <a16:creationId xmlns:a16="http://schemas.microsoft.com/office/drawing/2014/main" id="{AEFDDB1E-EA9E-1DC6-9AAD-3FFDF7347C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8217" y="3149600"/>
                        <a:ext cx="331787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5">
            <a:extLst>
              <a:ext uri="{FF2B5EF4-FFF2-40B4-BE49-F238E27FC236}">
                <a16:creationId xmlns:a16="http://schemas.microsoft.com/office/drawing/2014/main" id="{56DB9A46-94F9-0E74-334D-32D88D1B05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304812"/>
              </p:ext>
            </p:extLst>
          </p:nvPr>
        </p:nvGraphicFramePr>
        <p:xfrm>
          <a:off x="6660292" y="4208464"/>
          <a:ext cx="44958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599100" imgH="10528300" progId="Equation.3">
                  <p:embed/>
                </p:oleObj>
              </mc:Choice>
              <mc:Fallback>
                <p:oleObj name="Equation" r:id="rId5" imgW="43599100" imgH="10528300" progId="Equation.3">
                  <p:embed/>
                  <p:pic>
                    <p:nvPicPr>
                      <p:cNvPr id="15366" name="Object 5">
                        <a:extLst>
                          <a:ext uri="{FF2B5EF4-FFF2-40B4-BE49-F238E27FC236}">
                            <a16:creationId xmlns:a16="http://schemas.microsoft.com/office/drawing/2014/main" id="{56DB9A46-94F9-0E74-334D-32D88D1B05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292" y="4208464"/>
                        <a:ext cx="44958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6">
            <a:extLst>
              <a:ext uri="{FF2B5EF4-FFF2-40B4-BE49-F238E27FC236}">
                <a16:creationId xmlns:a16="http://schemas.microsoft.com/office/drawing/2014/main" id="{02698C58-F871-625A-3766-A12EBBAA5D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2738" y="5822951"/>
          <a:ext cx="45894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249600" imgH="4978400" progId="Equation.3">
                  <p:embed/>
                </p:oleObj>
              </mc:Choice>
              <mc:Fallback>
                <p:oleObj name="Equation" r:id="rId7" imgW="41249600" imgH="4978400" progId="Equation.3">
                  <p:embed/>
                  <p:pic>
                    <p:nvPicPr>
                      <p:cNvPr id="15367" name="Object 6">
                        <a:extLst>
                          <a:ext uri="{FF2B5EF4-FFF2-40B4-BE49-F238E27FC236}">
                            <a16:creationId xmlns:a16="http://schemas.microsoft.com/office/drawing/2014/main" id="{02698C58-F871-625A-3766-A12EBBAA5D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2738" y="5822951"/>
                        <a:ext cx="4589462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A848-A920-DE03-7B42-6A46129A2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b="1" dirty="0"/>
              <a:t>ID3</a:t>
            </a:r>
            <a:r>
              <a:rPr lang="en-US" sz="2600" dirty="0"/>
              <a:t> and </a:t>
            </a:r>
            <a:r>
              <a:rPr lang="en-US" sz="2600" b="1" dirty="0"/>
              <a:t>C4.5</a:t>
            </a:r>
            <a:r>
              <a:rPr lang="en-US" sz="2600" dirty="0"/>
              <a:t> — both are classic </a:t>
            </a:r>
            <a:r>
              <a:rPr lang="en-US" sz="2600" b="1" dirty="0"/>
              <a:t>decision tree algorithms</a:t>
            </a:r>
            <a:r>
              <a:rPr lang="en-US" sz="2600" dirty="0"/>
              <a:t> used in classification machine learning.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36406-2A61-1813-F994-A8363EA437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ID3 (Iterative </a:t>
            </a:r>
            <a:r>
              <a:rPr lang="en-US" b="1" dirty="0" err="1"/>
              <a:t>Dichotomiser</a:t>
            </a:r>
            <a:r>
              <a:rPr lang="en-US" b="1" dirty="0"/>
              <a:t> 3)</a:t>
            </a:r>
          </a:p>
          <a:p>
            <a:r>
              <a:rPr lang="en-US" dirty="0"/>
              <a:t>Developed by </a:t>
            </a:r>
            <a:r>
              <a:rPr lang="en-US" b="1" dirty="0"/>
              <a:t>Ross Quinlan (1986)</a:t>
            </a:r>
            <a:r>
              <a:rPr lang="en-US" dirty="0"/>
              <a:t>.</a:t>
            </a:r>
          </a:p>
          <a:p>
            <a:r>
              <a:rPr lang="en-US" dirty="0"/>
              <a:t>Purpose: Build a decision tree for classification.</a:t>
            </a:r>
          </a:p>
          <a:p>
            <a:r>
              <a:rPr lang="en-US" b="1" dirty="0"/>
              <a:t>Core idea:</a:t>
            </a:r>
            <a:r>
              <a:rPr lang="en-US" dirty="0"/>
              <a:t> Uses </a:t>
            </a:r>
            <a:r>
              <a:rPr lang="en-US" b="1" dirty="0"/>
              <a:t>entropy</a:t>
            </a:r>
            <a:r>
              <a:rPr lang="en-US" dirty="0"/>
              <a:t> and </a:t>
            </a:r>
            <a:r>
              <a:rPr lang="en-US" b="1" dirty="0"/>
              <a:t>information gain</a:t>
            </a:r>
            <a:r>
              <a:rPr lang="en-US" dirty="0"/>
              <a:t> to choose the best attribute to split data.</a:t>
            </a:r>
          </a:p>
          <a:p>
            <a:r>
              <a:rPr lang="en-US" dirty="0"/>
              <a:t>Steps:</a:t>
            </a:r>
          </a:p>
          <a:p>
            <a:pPr lvl="1"/>
            <a:r>
              <a:rPr lang="en-US" dirty="0"/>
              <a:t>Calculate entropy of the dataset.</a:t>
            </a:r>
          </a:p>
          <a:p>
            <a:pPr lvl="1"/>
            <a:r>
              <a:rPr lang="en-US" dirty="0"/>
              <a:t>For each attribute, calculate the </a:t>
            </a:r>
            <a:r>
              <a:rPr lang="en-US" b="1" dirty="0"/>
              <a:t>information gain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Choose the attribute with the </a:t>
            </a:r>
            <a:r>
              <a:rPr lang="en-US" b="1" dirty="0"/>
              <a:t>highest gain</a:t>
            </a:r>
            <a:r>
              <a:rPr lang="en-US" dirty="0"/>
              <a:t> to split.</a:t>
            </a:r>
          </a:p>
          <a:p>
            <a:pPr lvl="1"/>
            <a:r>
              <a:rPr lang="en-US" dirty="0"/>
              <a:t>Repeat recursively until all data is classified or no attributes left.</a:t>
            </a:r>
          </a:p>
          <a:p>
            <a:r>
              <a:rPr lang="en-US" b="1" dirty="0"/>
              <a:t>Limitations:</a:t>
            </a:r>
            <a:endParaRPr lang="en-US" dirty="0"/>
          </a:p>
          <a:p>
            <a:pPr lvl="1"/>
            <a:r>
              <a:rPr lang="en-US" dirty="0"/>
              <a:t>Works only with </a:t>
            </a:r>
            <a:r>
              <a:rPr lang="en-US" b="1" dirty="0"/>
              <a:t>categorical attributes</a:t>
            </a:r>
            <a:r>
              <a:rPr lang="en-US" dirty="0"/>
              <a:t> (not continuous values).</a:t>
            </a:r>
          </a:p>
          <a:p>
            <a:pPr lvl="1"/>
            <a:r>
              <a:rPr lang="en-US" dirty="0"/>
              <a:t>Can </a:t>
            </a:r>
            <a:r>
              <a:rPr lang="en-US" b="1" dirty="0"/>
              <a:t>overfit</a:t>
            </a:r>
            <a:r>
              <a:rPr lang="en-US" dirty="0"/>
              <a:t> training data.</a:t>
            </a:r>
          </a:p>
          <a:p>
            <a:pPr lvl="1"/>
            <a:r>
              <a:rPr lang="en-US" dirty="0"/>
              <a:t>Doesn’t handle missing values well.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036E4-C654-CE22-CFCF-2C28236664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C4.5 (Successor to ID3)</a:t>
            </a:r>
          </a:p>
          <a:p>
            <a:r>
              <a:rPr lang="en-US" dirty="0"/>
              <a:t>Also developed by </a:t>
            </a:r>
            <a:r>
              <a:rPr lang="en-US" b="1" dirty="0"/>
              <a:t>Ross Quinlan (1993)</a:t>
            </a:r>
            <a:r>
              <a:rPr lang="en-US" dirty="0"/>
              <a:t>.</a:t>
            </a:r>
          </a:p>
          <a:p>
            <a:r>
              <a:rPr lang="en-US" dirty="0"/>
              <a:t>Improvement over ID3 to handle practical issues.</a:t>
            </a:r>
          </a:p>
          <a:p>
            <a:r>
              <a:rPr lang="en-US" b="1" dirty="0"/>
              <a:t>Enhancements over ID3:</a:t>
            </a:r>
            <a:endParaRPr lang="en-US" dirty="0"/>
          </a:p>
          <a:p>
            <a:pPr lvl="1"/>
            <a:r>
              <a:rPr lang="en-US" dirty="0"/>
              <a:t>Works with </a:t>
            </a:r>
            <a:r>
              <a:rPr lang="en-US" b="1" dirty="0"/>
              <a:t>both categorical and continuous attributes</a:t>
            </a:r>
            <a:r>
              <a:rPr lang="en-US" dirty="0"/>
              <a:t> (by finding threshold splits).</a:t>
            </a:r>
          </a:p>
          <a:p>
            <a:pPr lvl="1"/>
            <a:r>
              <a:rPr lang="en-US" dirty="0"/>
              <a:t>Handles </a:t>
            </a:r>
            <a:r>
              <a:rPr lang="en-US" b="1" dirty="0"/>
              <a:t>missing attribute values</a:t>
            </a:r>
            <a:r>
              <a:rPr lang="en-US" dirty="0"/>
              <a:t> gracefully.</a:t>
            </a:r>
          </a:p>
          <a:p>
            <a:pPr lvl="1"/>
            <a:r>
              <a:rPr lang="en-US" dirty="0"/>
              <a:t>Uses </a:t>
            </a:r>
            <a:r>
              <a:rPr lang="en-US" b="1" dirty="0"/>
              <a:t>Gain Ratio</a:t>
            </a:r>
            <a:r>
              <a:rPr lang="en-US" dirty="0"/>
              <a:t> (a modification of information gain) to reduce bias toward attributes with many values.</a:t>
            </a:r>
          </a:p>
          <a:p>
            <a:pPr lvl="1"/>
            <a:r>
              <a:rPr lang="en-US" b="1" dirty="0"/>
              <a:t>Pruning:</a:t>
            </a:r>
            <a:r>
              <a:rPr lang="en-US" dirty="0"/>
              <a:t> After building the tree, C4.5 prunes branches that don’t add value (helps avoid overfitting).</a:t>
            </a:r>
          </a:p>
          <a:p>
            <a:pPr lvl="1"/>
            <a:r>
              <a:rPr lang="en-US" dirty="0"/>
              <a:t>Can handle larger datasets more efficiently.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AB839-9232-C065-0B02-B185D273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95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6">
            <a:extLst>
              <a:ext uri="{FF2B5EF4-FFF2-40B4-BE49-F238E27FC236}">
                <a16:creationId xmlns:a16="http://schemas.microsoft.com/office/drawing/2014/main" id="{0D1EC367-CF15-7891-B658-DFDD327DAC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5EC3FE2-7982-E746-9BC3-AEB8953FDCCB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D670D87-19B7-83CA-2D16-08BC95B1D3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304800"/>
            <a:ext cx="8763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Attribute Selection: Information Gain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8B6882F-5662-B33B-CC9D-88F071A8AF9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371600"/>
            <a:ext cx="4152900" cy="1600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30000"/>
              </a:spcBef>
              <a:buSzPct val="80000"/>
              <a:buFont typeface="Marlett" pitchFamily="2" charset="2"/>
              <a:buChar char="g"/>
            </a:pPr>
            <a:r>
              <a:rPr lang="en-US" altLang="en-US" sz="2000">
                <a:solidFill>
                  <a:srgbClr val="121328"/>
                </a:solidFill>
              </a:rPr>
              <a:t>Class P: buys_computer = “yes”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  <a:buSzPct val="80000"/>
              <a:buFont typeface="Marlett" pitchFamily="2" charset="2"/>
              <a:buChar char="g"/>
            </a:pPr>
            <a:r>
              <a:rPr lang="en-US" altLang="en-US" sz="2000">
                <a:solidFill>
                  <a:srgbClr val="121328"/>
                </a:solidFill>
              </a:rPr>
              <a:t>Class N: buys_computer = “no”</a:t>
            </a:r>
            <a:endParaRPr lang="en-US" altLang="en-US" sz="2000"/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992FAC77-446F-06D7-0FE1-51EBC9613D6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475412" y="3009900"/>
            <a:ext cx="4152900" cy="2209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en-US" sz="2000" dirty="0">
                <a:solidFill>
                  <a:srgbClr val="121328"/>
                </a:solidFill>
              </a:rPr>
              <a:t>            means “age &lt;=30” has 5 out of 14 samples, with 2 </a:t>
            </a:r>
            <a:r>
              <a:rPr lang="en-US" altLang="en-US" sz="2000" dirty="0" err="1">
                <a:solidFill>
                  <a:srgbClr val="121328"/>
                </a:solidFill>
              </a:rPr>
              <a:t>yes’es</a:t>
            </a:r>
            <a:r>
              <a:rPr lang="en-US" altLang="en-US" sz="2000" dirty="0">
                <a:solidFill>
                  <a:srgbClr val="121328"/>
                </a:solidFill>
              </a:rPr>
              <a:t>  and 3 no’s.   Hence</a:t>
            </a:r>
            <a:endParaRPr lang="en-US" altLang="en-US" sz="2000" dirty="0"/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Font typeface="Wingdings 2" pitchFamily="2" charset="2"/>
              <a:buNone/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Font typeface="Wingdings 2" pitchFamily="2" charset="2"/>
              <a:buNone/>
            </a:pPr>
            <a:endParaRPr lang="en-US" altLang="en-US" sz="2000" dirty="0">
              <a:solidFill>
                <a:srgbClr val="121328"/>
              </a:solidFill>
            </a:endParaRPr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121328"/>
                </a:solidFill>
              </a:rPr>
              <a:t>Similarly,</a:t>
            </a:r>
          </a:p>
        </p:txBody>
      </p:sp>
      <p:graphicFrame>
        <p:nvGraphicFramePr>
          <p:cNvPr id="16390" name="Object 5">
            <a:extLst>
              <a:ext uri="{FF2B5EF4-FFF2-40B4-BE49-F238E27FC236}">
                <a16:creationId xmlns:a16="http://schemas.microsoft.com/office/drawing/2014/main" id="{A7D45F30-8686-F8BE-74FE-AB466B6E26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590801"/>
          <a:ext cx="3354388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365500" imgH="1447800" progId="Excel.Sheet.8">
                  <p:embed/>
                </p:oleObj>
              </mc:Choice>
              <mc:Fallback>
                <p:oleObj name="Worksheet" r:id="rId3" imgW="3365500" imgH="1447800" progId="Excel.Sheet.8">
                  <p:embed/>
                  <p:pic>
                    <p:nvPicPr>
                      <p:cNvPr id="16390" name="Object 5">
                        <a:extLst>
                          <a:ext uri="{FF2B5EF4-FFF2-40B4-BE49-F238E27FC236}">
                            <a16:creationId xmlns:a16="http://schemas.microsoft.com/office/drawing/2014/main" id="{A7D45F30-8686-F8BE-74FE-AB466B6E26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590801"/>
                        <a:ext cx="3354388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6">
            <a:extLst>
              <a:ext uri="{FF2B5EF4-FFF2-40B4-BE49-F238E27FC236}">
                <a16:creationId xmlns:a16="http://schemas.microsoft.com/office/drawing/2014/main" id="{D895008A-96E5-F612-3FA2-6C045DD787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1295400"/>
          <a:ext cx="3754438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7104300" imgH="18719800" progId="Equation.3">
                  <p:embed/>
                </p:oleObj>
              </mc:Choice>
              <mc:Fallback>
                <p:oleObj name="Equation" r:id="rId5" imgW="47104300" imgH="18719800" progId="Equation.3">
                  <p:embed/>
                  <p:pic>
                    <p:nvPicPr>
                      <p:cNvPr id="16391" name="Object 6">
                        <a:extLst>
                          <a:ext uri="{FF2B5EF4-FFF2-40B4-BE49-F238E27FC236}">
                            <a16:creationId xmlns:a16="http://schemas.microsoft.com/office/drawing/2014/main" id="{D895008A-96E5-F612-3FA2-6C045DD787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295400"/>
                        <a:ext cx="3754438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7">
            <a:extLst>
              <a:ext uri="{FF2B5EF4-FFF2-40B4-BE49-F238E27FC236}">
                <a16:creationId xmlns:a16="http://schemas.microsoft.com/office/drawing/2014/main" id="{105993A2-F550-0106-CD93-C9E2CDD901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5257800"/>
          <a:ext cx="35941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2804000" imgH="27495500" progId="Equation.3">
                  <p:embed/>
                </p:oleObj>
              </mc:Choice>
              <mc:Fallback>
                <p:oleObj name="Equation" r:id="rId7" imgW="82804000" imgH="27495500" progId="Equation.3">
                  <p:embed/>
                  <p:pic>
                    <p:nvPicPr>
                      <p:cNvPr id="16392" name="Object 7">
                        <a:extLst>
                          <a:ext uri="{FF2B5EF4-FFF2-40B4-BE49-F238E27FC236}">
                            <a16:creationId xmlns:a16="http://schemas.microsoft.com/office/drawing/2014/main" id="{105993A2-F550-0106-CD93-C9E2CDD901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257800"/>
                        <a:ext cx="35941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8">
            <a:extLst>
              <a:ext uri="{FF2B5EF4-FFF2-40B4-BE49-F238E27FC236}">
                <a16:creationId xmlns:a16="http://schemas.microsoft.com/office/drawing/2014/main" id="{69583768-0688-4FA9-A114-89B3A05193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1" y="4114800"/>
          <a:ext cx="427196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8801000" imgH="5562600" progId="Equation.3">
                  <p:embed/>
                </p:oleObj>
              </mc:Choice>
              <mc:Fallback>
                <p:oleObj name="Equation" r:id="rId9" imgW="58801000" imgH="5562600" progId="Equation.3">
                  <p:embed/>
                  <p:pic>
                    <p:nvPicPr>
                      <p:cNvPr id="16393" name="Object 8">
                        <a:extLst>
                          <a:ext uri="{FF2B5EF4-FFF2-40B4-BE49-F238E27FC236}">
                            <a16:creationId xmlns:a16="http://schemas.microsoft.com/office/drawing/2014/main" id="{69583768-0688-4FA9-A114-89B3A05193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4114800"/>
                        <a:ext cx="4271963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9">
            <a:extLst>
              <a:ext uri="{FF2B5EF4-FFF2-40B4-BE49-F238E27FC236}">
                <a16:creationId xmlns:a16="http://schemas.microsoft.com/office/drawing/2014/main" id="{E1707527-871B-4B35-9B23-DEDF5278511D}"/>
              </a:ext>
            </a:extLst>
          </p:cNvPr>
          <p:cNvGraphicFramePr>
            <a:graphicFrameLocks/>
          </p:cNvGraphicFramePr>
          <p:nvPr/>
        </p:nvGraphicFramePr>
        <p:xfrm>
          <a:off x="1676400" y="4114800"/>
          <a:ext cx="44196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1" imgW="5791200" imgH="3962400" progId="Excel.Sheet.8">
                  <p:embed/>
                </p:oleObj>
              </mc:Choice>
              <mc:Fallback>
                <p:oleObj name="Worksheet" r:id="rId11" imgW="5791200" imgH="3962400" progId="Excel.Sheet.8">
                  <p:embed/>
                  <p:pic>
                    <p:nvPicPr>
                      <p:cNvPr id="16394" name="Object 9">
                        <a:extLst>
                          <a:ext uri="{FF2B5EF4-FFF2-40B4-BE49-F238E27FC236}">
                            <a16:creationId xmlns:a16="http://schemas.microsoft.com/office/drawing/2014/main" id="{E1707527-871B-4B35-9B23-DEDF5278511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114800"/>
                        <a:ext cx="441960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10">
            <a:extLst>
              <a:ext uri="{FF2B5EF4-FFF2-40B4-BE49-F238E27FC236}">
                <a16:creationId xmlns:a16="http://schemas.microsoft.com/office/drawing/2014/main" id="{F5FF47B1-F7BB-832C-67B2-52BE7C4DBF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2743201"/>
          <a:ext cx="107315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462000" imgH="9067800" progId="Equation.3">
                  <p:embed/>
                </p:oleObj>
              </mc:Choice>
              <mc:Fallback>
                <p:oleObj name="Equation" r:id="rId13" imgW="13462000" imgH="9067800" progId="Equation.3">
                  <p:embed/>
                  <p:pic>
                    <p:nvPicPr>
                      <p:cNvPr id="16395" name="Object 10">
                        <a:extLst>
                          <a:ext uri="{FF2B5EF4-FFF2-40B4-BE49-F238E27FC236}">
                            <a16:creationId xmlns:a16="http://schemas.microsoft.com/office/drawing/2014/main" id="{F5FF47B1-F7BB-832C-67B2-52BE7C4DBF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743201"/>
                        <a:ext cx="1073150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11">
            <a:extLst>
              <a:ext uri="{FF2B5EF4-FFF2-40B4-BE49-F238E27FC236}">
                <a16:creationId xmlns:a16="http://schemas.microsoft.com/office/drawing/2014/main" id="{16D29D2E-D8A2-B54E-2D2A-30DECE396A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2057401"/>
          <a:ext cx="48006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6365100" imgH="9067800" progId="Equation.3">
                  <p:embed/>
                </p:oleObj>
              </mc:Choice>
              <mc:Fallback>
                <p:oleObj name="Equation" r:id="rId15" imgW="76365100" imgH="9067800" progId="Equation.3">
                  <p:embed/>
                  <p:pic>
                    <p:nvPicPr>
                      <p:cNvPr id="16396" name="Object 11">
                        <a:extLst>
                          <a:ext uri="{FF2B5EF4-FFF2-40B4-BE49-F238E27FC236}">
                            <a16:creationId xmlns:a16="http://schemas.microsoft.com/office/drawing/2014/main" id="{16D29D2E-D8A2-B54E-2D2A-30DECE396A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057401"/>
                        <a:ext cx="48006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82128-1BF4-8A1A-5832-0A065A472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Information Gain (IG)?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914A-ACBE-EA19-B04E-0BFFDCE74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Information Gain</a:t>
            </a:r>
            <a:r>
              <a:rPr lang="en-US" dirty="0"/>
              <a:t> is a measure used in </a:t>
            </a:r>
            <a:r>
              <a:rPr lang="en-US" b="1" dirty="0"/>
              <a:t>decision tree algorithms</a:t>
            </a:r>
            <a:r>
              <a:rPr lang="en-US" dirty="0"/>
              <a:t> (like ID3 and C4.5) to decide </a:t>
            </a:r>
            <a:r>
              <a:rPr lang="en-US" b="1" dirty="0"/>
              <a:t>which feature to split on</a:t>
            </a:r>
            <a:r>
              <a:rPr lang="en-US" dirty="0"/>
              <a:t>.</a:t>
            </a:r>
          </a:p>
          <a:p>
            <a:r>
              <a:rPr lang="en-US" dirty="0"/>
              <a:t>It tells us </a:t>
            </a:r>
            <a:r>
              <a:rPr lang="en-US" b="1" dirty="0"/>
              <a:t>how much “uncertainty” (entropy) is reduced</a:t>
            </a:r>
            <a:r>
              <a:rPr lang="en-US" dirty="0"/>
              <a:t> after splitting a dataset based on a given attribute.</a:t>
            </a:r>
          </a:p>
          <a:p>
            <a:r>
              <a:rPr lang="en-US" dirty="0"/>
              <a:t> In short: </a:t>
            </a:r>
            <a:r>
              <a:rPr lang="en-US" b="1" dirty="0"/>
              <a:t>IG = reduction in entropy after a split.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93DFD-E9C3-DFD5-2EC3-0BFDABED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654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11CE3174-EAC2-6AE7-7BBF-48E704BD41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7BDCC77-141E-C442-B4E9-6DF0B820DD09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DCD54E40-DEA3-BEE6-06FE-4F5FA71FB7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152400"/>
            <a:ext cx="81534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Computing Information-Gain for Continuous-Valued Attributes</a:t>
            </a:r>
            <a:endParaRPr lang="en-US" altLang="en-US" i="1">
              <a:solidFill>
                <a:srgbClr val="CC0000"/>
              </a:solidFill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EFD10A13-28A0-8FA2-467A-29DF84E1D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3124" y="1295401"/>
            <a:ext cx="10760676" cy="5273675"/>
          </a:xfrm>
        </p:spPr>
        <p:txBody>
          <a:bodyPr/>
          <a:lstStyle/>
          <a:p>
            <a:pPr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dirty="0"/>
              <a:t>Let attribute A be a continuous-valued attribute</a:t>
            </a:r>
          </a:p>
          <a:p>
            <a:pPr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dirty="0"/>
              <a:t>Must determine the </a:t>
            </a:r>
            <a:r>
              <a:rPr lang="en-US" altLang="en-US" sz="2400" i="1" dirty="0">
                <a:solidFill>
                  <a:schemeClr val="hlink"/>
                </a:solidFill>
              </a:rPr>
              <a:t>best split point</a:t>
            </a:r>
            <a:r>
              <a:rPr lang="en-US" altLang="en-US" sz="2400" dirty="0"/>
              <a:t> for A</a:t>
            </a:r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dirty="0"/>
              <a:t>Sort the value A in increasing order</a:t>
            </a:r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dirty="0"/>
              <a:t>Typically, the midpoint between each pair of adjacent values is considered as a possible </a:t>
            </a:r>
            <a:r>
              <a:rPr lang="en-US" altLang="en-US" i="1" dirty="0"/>
              <a:t>split point</a:t>
            </a:r>
          </a:p>
          <a:p>
            <a:pPr lvl="2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dirty="0"/>
              <a:t>(a</a:t>
            </a:r>
            <a:r>
              <a:rPr lang="en-US" altLang="en-US" baseline="-25000" dirty="0"/>
              <a:t>i</a:t>
            </a:r>
            <a:r>
              <a:rPr lang="en-US" altLang="en-US" dirty="0"/>
              <a:t>+a</a:t>
            </a:r>
            <a:r>
              <a:rPr lang="en-US" altLang="en-US" baseline="-25000" dirty="0"/>
              <a:t>i+1</a:t>
            </a:r>
            <a:r>
              <a:rPr lang="en-US" altLang="en-US" dirty="0"/>
              <a:t>)/2 is the midpoint between the values of a</a:t>
            </a:r>
            <a:r>
              <a:rPr lang="en-US" altLang="en-US" baseline="-25000" dirty="0"/>
              <a:t>i</a:t>
            </a:r>
            <a:r>
              <a:rPr lang="en-US" altLang="en-US" dirty="0"/>
              <a:t> and a</a:t>
            </a:r>
            <a:r>
              <a:rPr lang="en-US" altLang="en-US" baseline="-25000" dirty="0"/>
              <a:t>i+1</a:t>
            </a:r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dirty="0"/>
              <a:t>The point with the </a:t>
            </a:r>
            <a:r>
              <a:rPr lang="en-US" altLang="en-US" i="1" dirty="0"/>
              <a:t>minimum expected information requirement</a:t>
            </a:r>
            <a:r>
              <a:rPr lang="en-US" altLang="en-US" dirty="0"/>
              <a:t> for A is selected as the split-point for A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en-US" sz="2400" dirty="0"/>
              <a:t>Split: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en-US" dirty="0"/>
              <a:t>D1 is the set of tuples in D satisfying A ≤ split-point, and D2 is the set of tuples in D satisfying A &gt; split-point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7">
            <a:extLst>
              <a:ext uri="{FF2B5EF4-FFF2-40B4-BE49-F238E27FC236}">
                <a16:creationId xmlns:a16="http://schemas.microsoft.com/office/drawing/2014/main" id="{017B4FC4-0E07-12A8-8576-78483FCDE2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8C8ED96C-2375-264E-AACF-9363AD642CCD}" type="slidenum">
              <a:rPr lang="en-US" altLang="en-US" smtClean="0"/>
              <a:pPr eaLnBrk="1" hangingPunct="1"/>
              <a:t>18</a:t>
            </a:fld>
            <a:endParaRPr lang="en-US" altLang="en-US"/>
          </a:p>
        </p:txBody>
      </p:sp>
      <p:sp>
        <p:nvSpPr>
          <p:cNvPr id="18435" name="Rectangle 2050">
            <a:extLst>
              <a:ext uri="{FF2B5EF4-FFF2-40B4-BE49-F238E27FC236}">
                <a16:creationId xmlns:a16="http://schemas.microsoft.com/office/drawing/2014/main" id="{00CA2A8C-A458-1040-2F93-D99DD52C2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8534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Gain Ratio for Attribute Selection (C4.5)</a:t>
            </a:r>
            <a:endParaRPr lang="en-US" altLang="en-US" i="1">
              <a:solidFill>
                <a:srgbClr val="CC0000"/>
              </a:solidFill>
            </a:endParaRPr>
          </a:p>
        </p:txBody>
      </p:sp>
      <p:sp>
        <p:nvSpPr>
          <p:cNvPr id="18436" name="Rectangle 2051">
            <a:extLst>
              <a:ext uri="{FF2B5EF4-FFF2-40B4-BE49-F238E27FC236}">
                <a16:creationId xmlns:a16="http://schemas.microsoft.com/office/drawing/2014/main" id="{707070D3-E11F-F51A-F8E1-D099A409C8E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371600"/>
            <a:ext cx="8458200" cy="5105400"/>
          </a:xfrm>
        </p:spPr>
        <p:txBody>
          <a:bodyPr/>
          <a:lstStyle/>
          <a:p>
            <a:pPr eaLnBrk="1" hangingPunct="1"/>
            <a:r>
              <a:rPr lang="en-US" altLang="en-US" sz="2400"/>
              <a:t>Information gain measure is biased towards attributes with a large number of values</a:t>
            </a:r>
          </a:p>
          <a:p>
            <a:pPr eaLnBrk="1" hangingPunct="1"/>
            <a:r>
              <a:rPr lang="en-US" altLang="en-US" sz="2400"/>
              <a:t>C4.5 (a successor of ID3) uses gain ratio to overcome the problem (normalization to information gain)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lvl="1" eaLnBrk="1" hangingPunct="1"/>
            <a:r>
              <a:rPr lang="en-US" altLang="en-US"/>
              <a:t>GainRatio(A) = Gain(A)/SplitInfo(A)</a:t>
            </a:r>
          </a:p>
          <a:p>
            <a:pPr eaLnBrk="1" hangingPunct="1"/>
            <a:r>
              <a:rPr lang="en-US" altLang="en-US" sz="2400"/>
              <a:t>Ex.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gain_ratio(income) = 0.029/1.557 = 0.019</a:t>
            </a:r>
          </a:p>
          <a:p>
            <a:pPr eaLnBrk="1" hangingPunct="1"/>
            <a:r>
              <a:rPr lang="en-US" altLang="en-US" sz="2400"/>
              <a:t>The attribute with the maximum gain ratio is selected as the splitting attribute</a:t>
            </a:r>
          </a:p>
        </p:txBody>
      </p:sp>
      <p:graphicFrame>
        <p:nvGraphicFramePr>
          <p:cNvPr id="18437" name="Object 2048">
            <a:extLst>
              <a:ext uri="{FF2B5EF4-FFF2-40B4-BE49-F238E27FC236}">
                <a16:creationId xmlns:a16="http://schemas.microsoft.com/office/drawing/2014/main" id="{4126EDA7-AAB9-6DB2-EFCE-9AB26D630C5F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3505200" y="2971800"/>
          <a:ext cx="43434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5003700" imgH="10528300" progId="Equation.3">
                  <p:embed/>
                </p:oleObj>
              </mc:Choice>
              <mc:Fallback>
                <p:oleObj name="Equation" r:id="rId3" imgW="55003700" imgH="10528300" progId="Equation.3">
                  <p:embed/>
                  <p:pic>
                    <p:nvPicPr>
                      <p:cNvPr id="18437" name="Object 2048">
                        <a:extLst>
                          <a:ext uri="{FF2B5EF4-FFF2-40B4-BE49-F238E27FC236}">
                            <a16:creationId xmlns:a16="http://schemas.microsoft.com/office/drawing/2014/main" id="{4126EDA7-AAB9-6DB2-EFCE-9AB26D630C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971800"/>
                        <a:ext cx="43434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8" name="Picture 10" descr="8splitinfo">
            <a:extLst>
              <a:ext uri="{FF2B5EF4-FFF2-40B4-BE49-F238E27FC236}">
                <a16:creationId xmlns:a16="http://schemas.microsoft.com/office/drawing/2014/main" id="{60632334-DBB1-AFF3-4B9C-7401F0851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495801"/>
            <a:ext cx="79248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6">
            <a:extLst>
              <a:ext uri="{FF2B5EF4-FFF2-40B4-BE49-F238E27FC236}">
                <a16:creationId xmlns:a16="http://schemas.microsoft.com/office/drawing/2014/main" id="{726C068D-C7DA-C2CF-58C7-F5DF0988E6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68EBA63-511D-4D4E-B94D-0BCCFE2BB591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  <p:sp>
        <p:nvSpPr>
          <p:cNvPr id="19459" name="Rectangle 1026">
            <a:extLst>
              <a:ext uri="{FF2B5EF4-FFF2-40B4-BE49-F238E27FC236}">
                <a16:creationId xmlns:a16="http://schemas.microsoft.com/office/drawing/2014/main" id="{ACDA2A9C-91A3-35DD-4B34-0A57AEF93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Gini Index (CART, IBM IntelligentMiner)</a:t>
            </a:r>
          </a:p>
        </p:txBody>
      </p:sp>
      <p:sp>
        <p:nvSpPr>
          <p:cNvPr id="19460" name="Rectangle 1027">
            <a:extLst>
              <a:ext uri="{FF2B5EF4-FFF2-40B4-BE49-F238E27FC236}">
                <a16:creationId xmlns:a16="http://schemas.microsoft.com/office/drawing/2014/main" id="{5FC9EEE2-6EB5-4963-B633-8FA6F8EC76B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371600"/>
            <a:ext cx="8534400" cy="5105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altLang="en-US" sz="2400"/>
              <a:t>If a data set </a:t>
            </a:r>
            <a:r>
              <a:rPr lang="en-US" altLang="en-US" sz="2400" i="1"/>
              <a:t>D </a:t>
            </a:r>
            <a:r>
              <a:rPr lang="en-US" altLang="en-US" sz="2400"/>
              <a:t>contains examples from </a:t>
            </a:r>
            <a:r>
              <a:rPr lang="en-US" altLang="en-US" sz="2400" i="1"/>
              <a:t>n</a:t>
            </a:r>
            <a:r>
              <a:rPr lang="en-US" altLang="en-US" sz="2400"/>
              <a:t> classes, gini index, </a:t>
            </a:r>
            <a:r>
              <a:rPr lang="en-US" altLang="en-US" sz="2400" i="1"/>
              <a:t>gini</a:t>
            </a:r>
            <a:r>
              <a:rPr lang="en-US" altLang="en-US" sz="2400"/>
              <a:t>(</a:t>
            </a:r>
            <a:r>
              <a:rPr lang="en-US" altLang="en-US" sz="2400" i="1"/>
              <a:t>D</a:t>
            </a:r>
            <a:r>
              <a:rPr lang="en-US" altLang="en-US" sz="2400"/>
              <a:t>) is defined as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endParaRPr lang="en-US" altLang="en-US" sz="2400"/>
          </a:p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lang="en-US" altLang="en-US" sz="2400"/>
              <a:t>    		where </a:t>
            </a:r>
            <a:r>
              <a:rPr lang="en-US" altLang="en-US" sz="2400" i="1"/>
              <a:t>p</a:t>
            </a:r>
            <a:r>
              <a:rPr lang="en-US" altLang="en-US" sz="2400" i="1" baseline="-25000"/>
              <a:t>j</a:t>
            </a:r>
            <a:r>
              <a:rPr lang="en-US" altLang="en-US" sz="2400"/>
              <a:t> is the relative frequency of class </a:t>
            </a:r>
            <a:r>
              <a:rPr lang="en-US" altLang="en-US" sz="2400" i="1"/>
              <a:t>j</a:t>
            </a:r>
            <a:r>
              <a:rPr lang="en-US" altLang="en-US" sz="2400"/>
              <a:t> in </a:t>
            </a:r>
            <a:r>
              <a:rPr lang="en-US" altLang="en-US" sz="2400" i="1"/>
              <a:t>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altLang="en-US" sz="2400"/>
              <a:t>If a data set </a:t>
            </a:r>
            <a:r>
              <a:rPr lang="en-US" altLang="en-US" sz="2400" i="1"/>
              <a:t>D</a:t>
            </a:r>
            <a:r>
              <a:rPr lang="en-US" altLang="en-US" sz="2400"/>
              <a:t>  is split on A into two subsets </a:t>
            </a:r>
            <a:r>
              <a:rPr lang="en-US" altLang="en-US" sz="2400" i="1"/>
              <a:t>D</a:t>
            </a:r>
            <a:r>
              <a:rPr lang="en-US" altLang="en-US" sz="2400" i="1" baseline="-25000"/>
              <a:t>1</a:t>
            </a:r>
            <a:r>
              <a:rPr lang="en-US" altLang="en-US" sz="2400"/>
              <a:t> and </a:t>
            </a:r>
            <a:r>
              <a:rPr lang="en-US" altLang="en-US" sz="2400" i="1"/>
              <a:t>D</a:t>
            </a:r>
            <a:r>
              <a:rPr lang="en-US" altLang="en-US" sz="2400" i="1" baseline="-25000"/>
              <a:t>2</a:t>
            </a:r>
            <a:r>
              <a:rPr lang="en-US" altLang="en-US" sz="2400"/>
              <a:t>, the </a:t>
            </a:r>
            <a:r>
              <a:rPr lang="en-US" altLang="en-US" sz="2400" i="1"/>
              <a:t>gini</a:t>
            </a:r>
            <a:r>
              <a:rPr lang="en-US" altLang="en-US" sz="2400"/>
              <a:t> index </a:t>
            </a:r>
            <a:r>
              <a:rPr lang="en-US" altLang="en-US" sz="2400" i="1"/>
              <a:t>gini</a:t>
            </a:r>
            <a:r>
              <a:rPr lang="en-US" altLang="en-US" sz="2400"/>
              <a:t>(</a:t>
            </a:r>
            <a:r>
              <a:rPr lang="en-US" altLang="en-US" sz="2400" i="1"/>
              <a:t>D</a:t>
            </a:r>
            <a:r>
              <a:rPr lang="en-US" altLang="en-US" sz="2400"/>
              <a:t>) is defined as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endParaRPr lang="en-US" altLang="en-US" sz="2400"/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altLang="en-US" sz="2400"/>
              <a:t>Reduction in Impurity: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endParaRPr lang="en-US" altLang="en-US" sz="2400"/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altLang="en-US" sz="2400"/>
              <a:t>The attribute provides the smallest </a:t>
            </a:r>
            <a:r>
              <a:rPr lang="en-US" altLang="en-US" sz="2400" i="1"/>
              <a:t>gini</a:t>
            </a:r>
            <a:r>
              <a:rPr lang="en-US" altLang="en-US" sz="2400" i="1" baseline="-25000"/>
              <a:t>split</a:t>
            </a:r>
            <a:r>
              <a:rPr lang="en-US" altLang="en-US" sz="2400"/>
              <a:t>(</a:t>
            </a:r>
            <a:r>
              <a:rPr lang="en-US" altLang="en-US" sz="2400" i="1"/>
              <a:t>D</a:t>
            </a:r>
            <a:r>
              <a:rPr lang="en-US" altLang="en-US" sz="2400"/>
              <a:t>) (or the largest reduction in impurity) is chosen to split the node (</a:t>
            </a:r>
            <a:r>
              <a:rPr lang="en-US" altLang="en-US" sz="2400" i="1">
                <a:solidFill>
                  <a:srgbClr val="CC0000"/>
                </a:solidFill>
              </a:rPr>
              <a:t>need to enumerate all the possible splitting points for each attribute</a:t>
            </a:r>
            <a:r>
              <a:rPr lang="en-US" altLang="en-US" sz="2400"/>
              <a:t>)</a:t>
            </a:r>
          </a:p>
        </p:txBody>
      </p:sp>
      <p:graphicFrame>
        <p:nvGraphicFramePr>
          <p:cNvPr id="19461" name="Object 1024">
            <a:extLst>
              <a:ext uri="{FF2B5EF4-FFF2-40B4-BE49-F238E27FC236}">
                <a16:creationId xmlns:a16="http://schemas.microsoft.com/office/drawing/2014/main" id="{2A606E78-1B55-12D9-0D3F-4DB9A268DA17}"/>
              </a:ext>
            </a:extLst>
          </p:cNvPr>
          <p:cNvGraphicFramePr>
            <a:graphicFrameLocks/>
          </p:cNvGraphicFramePr>
          <p:nvPr/>
        </p:nvGraphicFramePr>
        <p:xfrm>
          <a:off x="5410200" y="1828800"/>
          <a:ext cx="2895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957500" imgH="17551400" progId="Equation.3">
                  <p:embed/>
                </p:oleObj>
              </mc:Choice>
              <mc:Fallback>
                <p:oleObj name="Equation" r:id="rId3" imgW="40957500" imgH="17551400" progId="Equation.3">
                  <p:embed/>
                  <p:pic>
                    <p:nvPicPr>
                      <p:cNvPr id="19461" name="Object 1024">
                        <a:extLst>
                          <a:ext uri="{FF2B5EF4-FFF2-40B4-BE49-F238E27FC236}">
                            <a16:creationId xmlns:a16="http://schemas.microsoft.com/office/drawing/2014/main" id="{2A606E78-1B55-12D9-0D3F-4DB9A268DA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828800"/>
                        <a:ext cx="2895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1025">
            <a:extLst>
              <a:ext uri="{FF2B5EF4-FFF2-40B4-BE49-F238E27FC236}">
                <a16:creationId xmlns:a16="http://schemas.microsoft.com/office/drawing/2014/main" id="{39D0AA26-D1F1-1872-3239-C1A9D44D22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3717926"/>
          <a:ext cx="57038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9286100" imgH="13754100" progId="Equation.3">
                  <p:embed/>
                </p:oleObj>
              </mc:Choice>
              <mc:Fallback>
                <p:oleObj name="Equation" r:id="rId5" imgW="79286100" imgH="13754100" progId="Equation.3">
                  <p:embed/>
                  <p:pic>
                    <p:nvPicPr>
                      <p:cNvPr id="19462" name="Object 1025">
                        <a:extLst>
                          <a:ext uri="{FF2B5EF4-FFF2-40B4-BE49-F238E27FC236}">
                            <a16:creationId xmlns:a16="http://schemas.microsoft.com/office/drawing/2014/main" id="{39D0AA26-D1F1-1872-3239-C1A9D44D22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717926"/>
                        <a:ext cx="5703888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1026">
            <a:extLst>
              <a:ext uri="{FF2B5EF4-FFF2-40B4-BE49-F238E27FC236}">
                <a16:creationId xmlns:a16="http://schemas.microsoft.com/office/drawing/2014/main" id="{1B1D458B-27B1-D257-2FA9-1CCC73E3BE03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5181600" y="4811714"/>
          <a:ext cx="4618038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2026800" imgH="7023100" progId="Equation.3">
                  <p:embed/>
                </p:oleObj>
              </mc:Choice>
              <mc:Fallback>
                <p:oleObj name="Equation" r:id="rId7" imgW="62026800" imgH="7023100" progId="Equation.3">
                  <p:embed/>
                  <p:pic>
                    <p:nvPicPr>
                      <p:cNvPr id="19463" name="Object 1026">
                        <a:extLst>
                          <a:ext uri="{FF2B5EF4-FFF2-40B4-BE49-F238E27FC236}">
                            <a16:creationId xmlns:a16="http://schemas.microsoft.com/office/drawing/2014/main" id="{1B1D458B-27B1-D257-2FA9-1CCC73E3BE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811714"/>
                        <a:ext cx="4618038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7">
            <a:extLst>
              <a:ext uri="{FF2B5EF4-FFF2-40B4-BE49-F238E27FC236}">
                <a16:creationId xmlns:a16="http://schemas.microsoft.com/office/drawing/2014/main" id="{E2456447-35CD-B5CA-F201-F2AF1C6297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8C8ED96C-2375-264E-AACF-9363AD642CCD}" type="slidenum">
              <a:rPr lang="en-US" altLang="en-US" smtClean="0"/>
              <a:pPr eaLnBrk="1" hangingPunct="1"/>
              <a:t>20</a:t>
            </a:fld>
            <a:endParaRPr lang="en-US" altLang="en-US"/>
          </a:p>
        </p:txBody>
      </p:sp>
      <p:sp>
        <p:nvSpPr>
          <p:cNvPr id="20483" name="Rectangle 1026">
            <a:extLst>
              <a:ext uri="{FF2B5EF4-FFF2-40B4-BE49-F238E27FC236}">
                <a16:creationId xmlns:a16="http://schemas.microsoft.com/office/drawing/2014/main" id="{79039C3E-8C44-BC16-A341-003130BE32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Computation of Gini Index </a:t>
            </a:r>
          </a:p>
        </p:txBody>
      </p:sp>
      <p:sp>
        <p:nvSpPr>
          <p:cNvPr id="20484" name="Rectangle 1027">
            <a:extLst>
              <a:ext uri="{FF2B5EF4-FFF2-40B4-BE49-F238E27FC236}">
                <a16:creationId xmlns:a16="http://schemas.microsoft.com/office/drawing/2014/main" id="{3BE1AAA3-7638-F95E-DAD3-A534D8E4A11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95400"/>
            <a:ext cx="8686800" cy="5486400"/>
          </a:xfrm>
        </p:spPr>
        <p:txBody>
          <a:bodyPr/>
          <a:lstStyle/>
          <a:p>
            <a:pPr eaLnBrk="1" hangingPunct="1"/>
            <a:r>
              <a:rPr lang="en-US" altLang="en-US" sz="2400"/>
              <a:t>Ex.  D has 9 tuples in buys_computer = “yes” and 5 in “no”</a:t>
            </a:r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Suppose the attribute income partitions D into 10 in D</a:t>
            </a:r>
            <a:r>
              <a:rPr lang="en-US" altLang="en-US" sz="2400" baseline="-25000"/>
              <a:t>1</a:t>
            </a:r>
            <a:r>
              <a:rPr lang="en-US" altLang="en-US" sz="2400"/>
              <a:t>: {low, medium} and 4 in D</a:t>
            </a:r>
            <a:r>
              <a:rPr lang="en-US" altLang="en-US" sz="2400" baseline="-25000"/>
              <a:t>2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/>
              <a:t> Gini</a:t>
            </a:r>
            <a:r>
              <a:rPr lang="en-US" altLang="en-US" baseline="-25000"/>
              <a:t>{low,high}</a:t>
            </a:r>
            <a:r>
              <a:rPr lang="en-US" altLang="en-US"/>
              <a:t> is 0.458; Gini</a:t>
            </a:r>
            <a:r>
              <a:rPr lang="en-US" altLang="en-US" baseline="-25000"/>
              <a:t>{medium,high}</a:t>
            </a:r>
            <a:r>
              <a:rPr lang="en-US" altLang="en-US"/>
              <a:t> is 0.450.  Thus, split on the {low,medium} (and {high}) since it has the lowest Gini index</a:t>
            </a:r>
          </a:p>
          <a:p>
            <a:pPr eaLnBrk="1" hangingPunct="1"/>
            <a:r>
              <a:rPr lang="en-US" altLang="en-US" sz="2400"/>
              <a:t>All attributes are assumed continuous-valued</a:t>
            </a:r>
          </a:p>
          <a:p>
            <a:pPr eaLnBrk="1" hangingPunct="1"/>
            <a:r>
              <a:rPr lang="en-US" altLang="en-US" sz="2400"/>
              <a:t>May need other tools, e.g., clustering, to get the possible split values</a:t>
            </a:r>
          </a:p>
          <a:p>
            <a:pPr eaLnBrk="1" hangingPunct="1"/>
            <a:r>
              <a:rPr lang="en-US" altLang="en-US" sz="2400"/>
              <a:t>Can be modified for categorical attributes</a:t>
            </a:r>
          </a:p>
        </p:txBody>
      </p:sp>
      <p:graphicFrame>
        <p:nvGraphicFramePr>
          <p:cNvPr id="20485" name="Object 2">
            <a:extLst>
              <a:ext uri="{FF2B5EF4-FFF2-40B4-BE49-F238E27FC236}">
                <a16:creationId xmlns:a16="http://schemas.microsoft.com/office/drawing/2014/main" id="{5A4F041E-DB5C-A4C3-10BA-13122004AEDC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5334000" y="1600200"/>
          <a:ext cx="3581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1206400" imgH="10820400" progId="Equation.3">
                  <p:embed/>
                </p:oleObj>
              </mc:Choice>
              <mc:Fallback>
                <p:oleObj name="Equation" r:id="rId3" imgW="51206400" imgH="10820400" progId="Equation.3">
                  <p:embed/>
                  <p:pic>
                    <p:nvPicPr>
                      <p:cNvPr id="20485" name="Object 2">
                        <a:extLst>
                          <a:ext uri="{FF2B5EF4-FFF2-40B4-BE49-F238E27FC236}">
                            <a16:creationId xmlns:a16="http://schemas.microsoft.com/office/drawing/2014/main" id="{5A4F041E-DB5C-A4C3-10BA-13122004AE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600200"/>
                        <a:ext cx="3581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3">
            <a:extLst>
              <a:ext uri="{FF2B5EF4-FFF2-40B4-BE49-F238E27FC236}">
                <a16:creationId xmlns:a16="http://schemas.microsoft.com/office/drawing/2014/main" id="{CFA0443D-9A65-D248-E7FC-68C70A5BD9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6351" y="2514601"/>
          <a:ext cx="5040313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949300" imgH="9944100" progId="Equation.3">
                  <p:embed/>
                </p:oleObj>
              </mc:Choice>
              <mc:Fallback>
                <p:oleObj name="Equation" r:id="rId5" imgW="76949300" imgH="9944100" progId="Equation.3">
                  <p:embed/>
                  <p:pic>
                    <p:nvPicPr>
                      <p:cNvPr id="20486" name="Object 3">
                        <a:extLst>
                          <a:ext uri="{FF2B5EF4-FFF2-40B4-BE49-F238E27FC236}">
                            <a16:creationId xmlns:a16="http://schemas.microsoft.com/office/drawing/2014/main" id="{CFA0443D-9A65-D248-E7FC-68C70A5BD9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351" y="2514601"/>
                        <a:ext cx="5040313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7" name="Picture 14" descr="8gini">
            <a:extLst>
              <a:ext uri="{FF2B5EF4-FFF2-40B4-BE49-F238E27FC236}">
                <a16:creationId xmlns:a16="http://schemas.microsoft.com/office/drawing/2014/main" id="{0F1F7474-86C8-1371-8942-C39110245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124200"/>
            <a:ext cx="4419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5F7242D3-5C56-A235-CAD4-AEA9ED4AA9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2FE77A1-A01F-F04C-AB1F-5EF1185D8488}" type="slidenum">
              <a:rPr lang="en-US" altLang="en-US"/>
              <a:pPr eaLnBrk="1" hangingPunct="1"/>
              <a:t>21</a:t>
            </a:fld>
            <a:endParaRPr lang="en-U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325F80BF-FC47-C141-A307-9AA79064B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6858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3200"/>
              <a:t>Comparing Attribute Selection Measures</a:t>
            </a:r>
            <a:endParaRPr lang="en-US" altLang="en-US" sz="2800"/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8529DAA4-67F8-6664-986F-C05D36226E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371600"/>
            <a:ext cx="8458200" cy="52578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The three measures, in general, return good results but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b="1"/>
              <a:t>Information gain</a:t>
            </a:r>
            <a:r>
              <a:rPr lang="en-US" altLang="en-US"/>
              <a:t>: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biased towards multivalued attributes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b="1"/>
              <a:t>Gain ratio</a:t>
            </a:r>
            <a:r>
              <a:rPr lang="en-US" altLang="en-US"/>
              <a:t>: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tends to prefer unbalanced splits in which one partition is much smaller than the others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b="1"/>
              <a:t>Gini index</a:t>
            </a:r>
            <a:r>
              <a:rPr lang="en-US" altLang="en-US"/>
              <a:t>: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biased to multivalued attributes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has difficulty when # of classes is large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tends to favor tests that result in equal-sized partitions and purity in both partitions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9C4A12BB-DF7B-4657-EB25-0E828C46F2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8681D28-E375-3A4C-BA07-F38DACC3FA47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C8AAAB7A-A72B-99BB-17AD-2D3A0AADE4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6858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Other Attribute Selection Measures</a:t>
            </a:r>
            <a:endParaRPr lang="en-US" altLang="en-US" sz="3200"/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FAA44FC1-09B2-589D-7767-EE0767CB6C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8984" y="1295400"/>
            <a:ext cx="10834816" cy="52578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en-US" sz="2000" u="sng" dirty="0"/>
              <a:t>CHAID</a:t>
            </a:r>
            <a:r>
              <a:rPr lang="en-US" altLang="en-US" sz="2000" dirty="0"/>
              <a:t>: a popular decision tree algorithm, measure based on </a:t>
            </a:r>
            <a:r>
              <a:rPr lang="el-GR" altLang="en-US" sz="2000" dirty="0"/>
              <a:t>χ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test for independence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u="sng" dirty="0"/>
              <a:t>C-SEP</a:t>
            </a:r>
            <a:r>
              <a:rPr lang="en-US" altLang="en-US" sz="2000" dirty="0"/>
              <a:t>: performs better than info. gain and </a:t>
            </a:r>
            <a:r>
              <a:rPr lang="en-US" altLang="en-US" sz="2000" dirty="0" err="1"/>
              <a:t>gini</a:t>
            </a:r>
            <a:r>
              <a:rPr lang="en-US" altLang="en-US" sz="2000" dirty="0"/>
              <a:t> index in certain cases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u="sng" dirty="0"/>
              <a:t>G-statistic</a:t>
            </a:r>
            <a:r>
              <a:rPr lang="en-US" altLang="en-US" sz="2000" dirty="0"/>
              <a:t>: has a close approximation to </a:t>
            </a:r>
            <a:r>
              <a:rPr lang="el-GR" altLang="en-US" sz="2000" dirty="0"/>
              <a:t>χ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distribution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u="sng" dirty="0"/>
              <a:t>MDL (Minimal Description Length) principle</a:t>
            </a:r>
            <a:r>
              <a:rPr lang="en-US" altLang="en-US" sz="2000" dirty="0"/>
              <a:t> (i.e., the simplest solution is preferred):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/>
              <a:t>The best tree as the one that requires the fewest # of bits to both (1) encode the tree, and (2) encode the exceptions to the tree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dirty="0"/>
              <a:t>Multivariate splits (partition based on multiple variable combinations)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u="sng" dirty="0"/>
              <a:t>CART</a:t>
            </a:r>
            <a:r>
              <a:rPr lang="en-US" altLang="en-US" sz="2000" dirty="0"/>
              <a:t>: finds multivariate splits based on a linear comb. of </a:t>
            </a:r>
            <a:r>
              <a:rPr lang="en-US" altLang="en-US" sz="2000" dirty="0" err="1"/>
              <a:t>attrs</a:t>
            </a:r>
            <a:r>
              <a:rPr lang="en-US" altLang="en-US" sz="2000" dirty="0"/>
              <a:t>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dirty="0"/>
              <a:t>Which attribute selection measure is the best?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 dirty="0"/>
              <a:t> Most give good results, none is significantly superior than others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94720462-3A70-74B0-3503-63431D6EAE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8BAEC2F-FD9A-4C40-BDF9-4051EA06D399}" type="slidenum">
              <a:rPr lang="en-US" altLang="en-US"/>
              <a:pPr eaLnBrk="1" hangingPunct="1"/>
              <a:t>23</a:t>
            </a:fld>
            <a:endParaRPr lang="en-U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5B2363C4-08DB-2FD2-432E-966882CB72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304800"/>
            <a:ext cx="8305800" cy="6858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Overfitting and Tree Pruning</a:t>
            </a:r>
            <a:endParaRPr lang="en-US" altLang="en-US" sz="3200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FE6AFA3-CAF2-1121-BEE6-320880445F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371600"/>
            <a:ext cx="8458200" cy="52578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/>
            <a:r>
              <a:rPr lang="en-US" altLang="en-US" sz="2400" u="sng"/>
              <a:t>Overfitting</a:t>
            </a:r>
            <a:r>
              <a:rPr lang="en-US" altLang="en-US" sz="2400"/>
              <a:t>:  An induced tree may overfit the training data </a:t>
            </a:r>
          </a:p>
          <a:p>
            <a:pPr lvl="1" eaLnBrk="1" hangingPunct="1"/>
            <a:r>
              <a:rPr lang="en-US" altLang="en-US"/>
              <a:t>Too many branches, some may reflect anomalies due to noise or outliers</a:t>
            </a:r>
          </a:p>
          <a:p>
            <a:pPr lvl="1" eaLnBrk="1" hangingPunct="1"/>
            <a:r>
              <a:rPr lang="en-US" altLang="en-US"/>
              <a:t>Poor accuracy for unseen samples</a:t>
            </a:r>
          </a:p>
          <a:p>
            <a:pPr eaLnBrk="1" hangingPunct="1"/>
            <a:r>
              <a:rPr lang="en-US" altLang="en-US" sz="2400"/>
              <a:t>Two approaches to avoid overfitting </a:t>
            </a:r>
          </a:p>
          <a:p>
            <a:pPr lvl="1" eaLnBrk="1" hangingPunct="1"/>
            <a:r>
              <a:rPr lang="en-US" altLang="en-US" u="sng"/>
              <a:t>Prepruning</a:t>
            </a:r>
            <a:r>
              <a:rPr lang="en-US" altLang="en-US"/>
              <a:t>: </a:t>
            </a:r>
            <a:r>
              <a:rPr lang="en-US" altLang="en-US" i="1"/>
              <a:t>Halt tree construction early</a:t>
            </a:r>
            <a:r>
              <a:rPr lang="en-US" altLang="en-US"/>
              <a:t> </a:t>
            </a:r>
            <a:r>
              <a:rPr lang="en-US" altLang="en-US">
                <a:cs typeface="Tahoma" panose="020B0604030504040204" pitchFamily="34" charset="0"/>
              </a:rPr>
              <a:t>̵</a:t>
            </a:r>
            <a:r>
              <a:rPr lang="en-US" altLang="en-US"/>
              <a:t> do not split a node if this would result in the goodness measure falling below a threshold</a:t>
            </a:r>
          </a:p>
          <a:p>
            <a:pPr lvl="2" eaLnBrk="1" hangingPunct="1"/>
            <a:r>
              <a:rPr lang="en-US" altLang="en-US"/>
              <a:t>Difficult to choose an appropriate threshold</a:t>
            </a:r>
          </a:p>
          <a:p>
            <a:pPr lvl="1" eaLnBrk="1" hangingPunct="1"/>
            <a:r>
              <a:rPr lang="en-US" altLang="en-US" u="sng"/>
              <a:t>Postpruning</a:t>
            </a:r>
            <a:r>
              <a:rPr lang="en-US" altLang="en-US"/>
              <a:t>: </a:t>
            </a:r>
            <a:r>
              <a:rPr lang="en-US" altLang="en-US" i="1"/>
              <a:t>Remove branches</a:t>
            </a:r>
            <a:r>
              <a:rPr lang="en-US" altLang="en-US"/>
              <a:t> from a “fully grown” tree—get a sequence of progressively pruned trees</a:t>
            </a:r>
          </a:p>
          <a:p>
            <a:pPr lvl="2" eaLnBrk="1" hangingPunct="1"/>
            <a:r>
              <a:rPr lang="en-US" altLang="en-US"/>
              <a:t>Use a set of data different from the training data to decide which is the “best pruned tree”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E3545BDD-2DDB-ED20-A001-67E6384F8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93506D4-9E10-2F45-A5AF-00508310B57D}" type="slidenum">
              <a:rPr lang="en-US" altLang="en-US"/>
              <a:pPr eaLnBrk="1" hangingPunct="1"/>
              <a:t>24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553A4C8-3FCB-36F5-F36A-BB07AC91F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9144000" cy="1062038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3200"/>
              <a:t>Enhancements to Basic Decision Tree Induction</a:t>
            </a:r>
          </a:p>
        </p:txBody>
      </p:sp>
      <p:sp>
        <p:nvSpPr>
          <p:cNvPr id="24580" name="AutoShape 3">
            <a:extLst>
              <a:ext uri="{FF2B5EF4-FFF2-40B4-BE49-F238E27FC236}">
                <a16:creationId xmlns:a16="http://schemas.microsoft.com/office/drawing/2014/main" id="{8D9C28F0-3DD3-C73C-79B0-C103C70E1E9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714632" y="1250950"/>
            <a:ext cx="10639168" cy="5105400"/>
          </a:xfrm>
          <a:prstGeom prst="flowChartProcess">
            <a:avLst/>
          </a:prstGeo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sz="2400" dirty="0"/>
              <a:t>Allow for </a:t>
            </a:r>
            <a:r>
              <a:rPr lang="en-US" altLang="en-US" sz="2400" b="1" dirty="0"/>
              <a:t>continuous-valued attributes</a:t>
            </a:r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dirty="0"/>
              <a:t>Dynamically define new discrete-valued attributes that partition the continuous attribute value into a discrete set of intervals</a:t>
            </a:r>
          </a:p>
          <a:p>
            <a:pPr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sz="2400" dirty="0"/>
              <a:t>Handle </a:t>
            </a:r>
            <a:r>
              <a:rPr lang="en-US" altLang="en-US" sz="2400" b="1" dirty="0"/>
              <a:t>missing attribute values</a:t>
            </a:r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dirty="0"/>
              <a:t>Assign the most common value of the attribute</a:t>
            </a:r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dirty="0"/>
              <a:t>Assign probability to each of the possible values</a:t>
            </a:r>
          </a:p>
          <a:p>
            <a:pPr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sz="2400" b="1" dirty="0"/>
              <a:t>Attribute construction</a:t>
            </a:r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dirty="0"/>
              <a:t>Create new attributes based on existing ones that are sparsely represented</a:t>
            </a:r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lang="en-US" altLang="en-US" dirty="0"/>
              <a:t>This reduces fragmentation, repetition, and replication</a:t>
            </a:r>
          </a:p>
        </p:txBody>
      </p:sp>
      <p:sp>
        <p:nvSpPr>
          <p:cNvPr id="24581" name="AutoShape 4">
            <a:extLst>
              <a:ext uri="{FF2B5EF4-FFF2-40B4-BE49-F238E27FC236}">
                <a16:creationId xmlns:a16="http://schemas.microsoft.com/office/drawing/2014/main" id="{D8344BB2-7F25-B2BC-57C6-5576D42CD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352800"/>
            <a:ext cx="76200" cy="76200"/>
          </a:xfrm>
          <a:prstGeom prst="flowChartInternalStorag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2" name="Line 5">
            <a:extLst>
              <a:ext uri="{FF2B5EF4-FFF2-40B4-BE49-F238E27FC236}">
                <a16:creationId xmlns:a16="http://schemas.microsoft.com/office/drawing/2014/main" id="{30890E30-2E79-D3C5-0521-6697CBE905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581400"/>
            <a:ext cx="70866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24583" name="Line 6">
            <a:extLst>
              <a:ext uri="{FF2B5EF4-FFF2-40B4-BE49-F238E27FC236}">
                <a16:creationId xmlns:a16="http://schemas.microsoft.com/office/drawing/2014/main" id="{B7B8AD26-5D4D-A5AC-FBD6-63090ADDE5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505200"/>
            <a:ext cx="71628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20986183-6FEF-12E9-5327-37796056AC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1A56BB2-C5CE-3B43-9828-028D74D61064}" type="slidenum">
              <a:rPr lang="en-US" altLang="en-US"/>
              <a:pPr eaLnBrk="1" hangingPunct="1"/>
              <a:t>25</a:t>
            </a:fld>
            <a:endParaRPr lang="en-U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FF7A21ED-7B34-D53D-1C18-A1640A9781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8936038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Classification in Large Databases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562850B-3658-1C4A-16E3-1D1D6C935B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7838" y="1371600"/>
            <a:ext cx="9745362" cy="5151438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Classification—a classical problem extensively studied by statisticians and machine learning researchers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Scalability: Classifying data sets with millions of examples and hundreds of attributes with reasonable speed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Why is decision tree induction popular?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relatively faster learning speed (than other classification methods)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convertible to simple and easy to understand classification rules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can use SQL queries for accessing databases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comparable classification accuracy with other methods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err="1">
                <a:solidFill>
                  <a:srgbClr val="FF3300"/>
                </a:solidFill>
              </a:rPr>
              <a:t>RainForest</a:t>
            </a:r>
            <a:r>
              <a:rPr lang="en-US" altLang="en-US" sz="2400" dirty="0">
                <a:solidFill>
                  <a:srgbClr val="FF3300"/>
                </a:solidFill>
              </a:rPr>
              <a:t> </a:t>
            </a:r>
            <a:r>
              <a:rPr lang="en-US" altLang="en-US" sz="2400" dirty="0"/>
              <a:t>(VLDB’98 — Gehrke, Ramakrishnan &amp; Ganti)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Builds an AVC-list (attribute, value, class label)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6">
            <a:extLst>
              <a:ext uri="{FF2B5EF4-FFF2-40B4-BE49-F238E27FC236}">
                <a16:creationId xmlns:a16="http://schemas.microsoft.com/office/drawing/2014/main" id="{4C5F718F-9876-3954-4F36-A19BF3BB4CC6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63F7BB68-2B42-B947-A819-D5F8F9744D9E}" type="slidenum">
              <a:rPr lang="en-US" altLang="en-US" sz="1400" b="1">
                <a:latin typeface="Calibri" panose="020F0502020204030204" pitchFamily="34" charset="0"/>
              </a:rPr>
              <a:pPr algn="r" eaLnBrk="1" hangingPunct="1"/>
              <a:t>26</a:t>
            </a:fld>
            <a:endParaRPr lang="en-US" altLang="en-US" sz="1400" b="1">
              <a:latin typeface="Calibri" panose="020F050202020403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81F661D1-0B13-01F3-DA8F-8FEE9603CFE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04800"/>
            <a:ext cx="91440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Chapter 8. Classification: Basic Concepts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2C43E082-6C50-9764-9B71-3419B8976CE8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828800" y="1447800"/>
            <a:ext cx="8382000" cy="5105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en-US" dirty="0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Bayes Classification Methods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Model Evaluation and Selection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Techniques to Improve Classification Accuracy: Ensemble Methods</a:t>
            </a:r>
          </a:p>
          <a:p>
            <a:pPr>
              <a:lnSpc>
                <a:spcPct val="130000"/>
              </a:lnSpc>
            </a:pPr>
            <a:endParaRPr lang="en-US" altLang="en-US" dirty="0"/>
          </a:p>
        </p:txBody>
      </p:sp>
      <p:sp>
        <p:nvSpPr>
          <p:cNvPr id="32773" name="AutoShape 8">
            <a:extLst>
              <a:ext uri="{FF2B5EF4-FFF2-40B4-BE49-F238E27FC236}">
                <a16:creationId xmlns:a16="http://schemas.microsoft.com/office/drawing/2014/main" id="{5193275A-1E18-8D41-F35F-21F9B527AC94}"/>
              </a:ext>
            </a:extLst>
          </p:cNvPr>
          <p:cNvSpPr>
            <a:spLocks noChangeArrowheads="1"/>
          </p:cNvSpPr>
          <p:nvPr/>
        </p:nvSpPr>
        <p:spPr bwMode="auto">
          <a:xfrm rot="9803581">
            <a:off x="6858000" y="27432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>
            <a:extLst>
              <a:ext uri="{FF2B5EF4-FFF2-40B4-BE49-F238E27FC236}">
                <a16:creationId xmlns:a16="http://schemas.microsoft.com/office/drawing/2014/main" id="{D30B9D01-0C3D-5E74-714C-B2AA5E8F8E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E54EC18-2CE4-1C45-AE40-A5F3142BEBAD}" type="slidenum">
              <a:rPr lang="en-US" altLang="en-US"/>
              <a:pPr eaLnBrk="1" hangingPunct="1"/>
              <a:t>27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12C6C01A-460D-B1E3-38B7-AFDB36FEC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696200" cy="6858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Bayesian Classification: Why?</a:t>
            </a:r>
            <a:endParaRPr lang="en-US" altLang="en-US" sz="2400"/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F00A8DA6-085C-CB39-0E37-C6A5AF8B4A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199" y="1219200"/>
            <a:ext cx="10641227" cy="5257800"/>
          </a:xfrm>
          <a:noFill/>
        </p:spPr>
        <p:txBody>
          <a:bodyPr vert="horz" lIns="92075" tIns="46038" rIns="92075" bIns="46038" rtlCol="0"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u="sng" dirty="0"/>
              <a:t>A statistical classifier</a:t>
            </a:r>
            <a:r>
              <a:rPr lang="en-US" altLang="en-US" sz="2400" dirty="0"/>
              <a:t>: performs </a:t>
            </a:r>
            <a:r>
              <a:rPr lang="en-US" altLang="en-US" sz="2400" i="1" dirty="0"/>
              <a:t>probabilistic prediction, i.e.,</a:t>
            </a:r>
            <a:r>
              <a:rPr lang="en-US" altLang="en-US" sz="2400" dirty="0"/>
              <a:t> predicts class membership probabilities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u="sng" dirty="0"/>
              <a:t>Foundation:</a:t>
            </a:r>
            <a:r>
              <a:rPr lang="en-US" altLang="en-US" sz="2400" dirty="0"/>
              <a:t> Based on Bayes’ Theorem.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u="sng" dirty="0"/>
              <a:t>Performance:</a:t>
            </a:r>
            <a:r>
              <a:rPr lang="en-US" altLang="en-US" sz="2400" dirty="0"/>
              <a:t> A simple Bayesian classifier, </a:t>
            </a:r>
            <a:r>
              <a:rPr lang="en-US" altLang="en-US" sz="2400" i="1" dirty="0"/>
              <a:t>naïve Bayesian classifier</a:t>
            </a:r>
            <a:r>
              <a:rPr lang="en-US" altLang="en-US" sz="2400" dirty="0"/>
              <a:t>, has comparable performance with decision tree and selected neural network classifiers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u="sng" dirty="0"/>
              <a:t>Incremental</a:t>
            </a:r>
            <a:r>
              <a:rPr lang="en-US" altLang="en-US" sz="2400" dirty="0"/>
              <a:t>: Each training example can incrementally increase/decrease the probability that a hypothesis is correct — prior knowledge can be combined with observed data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u="sng" dirty="0"/>
              <a:t>Standard</a:t>
            </a:r>
            <a:r>
              <a:rPr lang="en-US" altLang="en-US" sz="2400" dirty="0"/>
              <a:t>: Even when Bayesian methods are computationally intractable, they can provide a standard of optimal decision making against which other methods can be measured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7AD5404A-06C9-3836-7673-2FFE65077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183EDE1-2549-EF46-9887-EAB15D933483}" type="slidenum">
              <a:rPr lang="en-US" altLang="en-US"/>
              <a:pPr eaLnBrk="1" hangingPunct="1"/>
              <a:t>28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AA896F88-E144-9A9E-4884-5CB7014545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848600" cy="762000"/>
          </a:xfrm>
        </p:spPr>
        <p:txBody>
          <a:bodyPr/>
          <a:lstStyle/>
          <a:p>
            <a:pPr eaLnBrk="1" hangingPunct="1"/>
            <a:r>
              <a:rPr lang="en-US" altLang="en-US"/>
              <a:t>Bayes’ Theorem: Basics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79140ABD-55BF-4252-984B-E74889B89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19200"/>
            <a:ext cx="8610600" cy="5410200"/>
          </a:xfrm>
        </p:spPr>
        <p:txBody>
          <a:bodyPr/>
          <a:lstStyle/>
          <a:p>
            <a:pPr eaLnBrk="1" hangingPunct="1"/>
            <a:r>
              <a:rPr lang="en-US" altLang="en-US" sz="2000"/>
              <a:t>Total probability Theorem: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Bayes’ Theorem:</a:t>
            </a:r>
          </a:p>
          <a:p>
            <a:pPr eaLnBrk="1" hangingPunct="1"/>
            <a:endParaRPr lang="en-US" altLang="en-US" sz="2000"/>
          </a:p>
          <a:p>
            <a:pPr lvl="1" eaLnBrk="1" hangingPunct="1"/>
            <a:r>
              <a:rPr lang="en-US" altLang="en-US" sz="2000"/>
              <a:t>Let </a:t>
            </a:r>
            <a:r>
              <a:rPr lang="en-US" altLang="en-US" sz="2000" b="1"/>
              <a:t>X</a:t>
            </a:r>
            <a:r>
              <a:rPr lang="en-US" altLang="en-US" sz="2000"/>
              <a:t> be a data sample (“</a:t>
            </a:r>
            <a:r>
              <a:rPr lang="en-US" altLang="en-US" sz="2000" i="1"/>
              <a:t>evidence</a:t>
            </a:r>
            <a:r>
              <a:rPr lang="en-US" altLang="en-US" sz="2000"/>
              <a:t>”): class label is unknown</a:t>
            </a:r>
          </a:p>
          <a:p>
            <a:pPr lvl="1" eaLnBrk="1" hangingPunct="1"/>
            <a:r>
              <a:rPr lang="en-US" altLang="en-US" sz="2000"/>
              <a:t>Let H be a </a:t>
            </a:r>
            <a:r>
              <a:rPr lang="en-US" altLang="en-US" sz="2000" i="1"/>
              <a:t>hypothesis</a:t>
            </a:r>
            <a:r>
              <a:rPr lang="en-US" altLang="en-US" sz="2000"/>
              <a:t> that X belongs to class C </a:t>
            </a:r>
          </a:p>
          <a:p>
            <a:pPr lvl="1" eaLnBrk="1" hangingPunct="1"/>
            <a:r>
              <a:rPr lang="en-US" altLang="en-US" sz="2000"/>
              <a:t>Classification is to determine P(H|</a:t>
            </a:r>
            <a:r>
              <a:rPr lang="en-US" altLang="en-US" sz="2000" b="1"/>
              <a:t>X</a:t>
            </a:r>
            <a:r>
              <a:rPr lang="en-US" altLang="en-US" sz="2000"/>
              <a:t>), (i.e., </a:t>
            </a:r>
            <a:r>
              <a:rPr lang="en-US" altLang="en-US" sz="2000" i="1"/>
              <a:t>posteriori probability): </a:t>
            </a:r>
            <a:r>
              <a:rPr lang="en-US" altLang="en-US" sz="2000"/>
              <a:t> the probability that the hypothesis holds given the observed data sample </a:t>
            </a:r>
            <a:r>
              <a:rPr lang="en-US" altLang="en-US" sz="2000" b="1"/>
              <a:t>X</a:t>
            </a:r>
          </a:p>
          <a:p>
            <a:pPr lvl="1" eaLnBrk="1" hangingPunct="1"/>
            <a:r>
              <a:rPr lang="en-US" altLang="en-US" sz="2000"/>
              <a:t>P(H) (</a:t>
            </a:r>
            <a:r>
              <a:rPr lang="en-US" altLang="en-US" sz="2000" i="1"/>
              <a:t>prior probability</a:t>
            </a:r>
            <a:r>
              <a:rPr lang="en-US" altLang="en-US" sz="2000"/>
              <a:t>): the initial probability</a:t>
            </a:r>
          </a:p>
          <a:p>
            <a:pPr lvl="2" eaLnBrk="1" hangingPunct="1"/>
            <a:r>
              <a:rPr lang="en-US" altLang="en-US"/>
              <a:t>E.g.,</a:t>
            </a:r>
            <a:r>
              <a:rPr lang="en-US" altLang="en-US" b="1"/>
              <a:t> X</a:t>
            </a:r>
            <a:r>
              <a:rPr lang="en-US" altLang="en-US"/>
              <a:t> will buy computer, regardless of age, income, …</a:t>
            </a:r>
          </a:p>
          <a:p>
            <a:pPr lvl="1" eaLnBrk="1" hangingPunct="1"/>
            <a:r>
              <a:rPr lang="en-US" altLang="en-US" sz="2000"/>
              <a:t>P(</a:t>
            </a:r>
            <a:r>
              <a:rPr lang="en-US" altLang="en-US" sz="2000" b="1"/>
              <a:t>X</a:t>
            </a:r>
            <a:r>
              <a:rPr lang="en-US" altLang="en-US" sz="2000"/>
              <a:t>): probability that sample data is observed</a:t>
            </a:r>
          </a:p>
          <a:p>
            <a:pPr lvl="1" eaLnBrk="1" hangingPunct="1"/>
            <a:r>
              <a:rPr lang="en-US" altLang="en-US" sz="2000"/>
              <a:t>P(</a:t>
            </a:r>
            <a:r>
              <a:rPr lang="en-US" altLang="en-US" sz="2000" b="1"/>
              <a:t>X</a:t>
            </a:r>
            <a:r>
              <a:rPr lang="en-US" altLang="en-US" sz="2000"/>
              <a:t>|H) (likelihood): the probability of observing the sample </a:t>
            </a:r>
            <a:r>
              <a:rPr lang="en-US" altLang="en-US" sz="2000" b="1"/>
              <a:t>X</a:t>
            </a:r>
            <a:r>
              <a:rPr lang="en-US" altLang="en-US" sz="2000"/>
              <a:t>, given that the hypothesis holds</a:t>
            </a:r>
          </a:p>
          <a:p>
            <a:pPr lvl="2" eaLnBrk="1" hangingPunct="1"/>
            <a:r>
              <a:rPr lang="en-US" altLang="en-US"/>
              <a:t>E.g.,</a:t>
            </a:r>
            <a:r>
              <a:rPr lang="en-US" altLang="en-US" b="1"/>
              <a:t> </a:t>
            </a:r>
            <a:r>
              <a:rPr lang="en-US" altLang="en-US"/>
              <a:t>Given that</a:t>
            </a:r>
            <a:r>
              <a:rPr lang="en-US" altLang="en-US" b="1"/>
              <a:t> X</a:t>
            </a:r>
            <a:r>
              <a:rPr lang="en-US" altLang="en-US"/>
              <a:t> will buy computer, the prob. that X is 31..40, medium income</a:t>
            </a:r>
          </a:p>
        </p:txBody>
      </p:sp>
      <p:graphicFrame>
        <p:nvGraphicFramePr>
          <p:cNvPr id="34821" name="Object 1">
            <a:extLst>
              <a:ext uri="{FF2B5EF4-FFF2-40B4-BE49-F238E27FC236}">
                <a16:creationId xmlns:a16="http://schemas.microsoft.com/office/drawing/2014/main" id="{5FA33585-FCF8-4C5C-FE4E-A8F94697EB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1143001"/>
          <a:ext cx="21653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7048400" imgH="15798800" progId="Equation.3">
                  <p:embed/>
                </p:oleObj>
              </mc:Choice>
              <mc:Fallback>
                <p:oleObj name="Equation" r:id="rId3" imgW="57048400" imgH="15798800" progId="Equation.3">
                  <p:embed/>
                  <p:pic>
                    <p:nvPicPr>
                      <p:cNvPr id="34821" name="Object 1">
                        <a:extLst>
                          <a:ext uri="{FF2B5EF4-FFF2-40B4-BE49-F238E27FC236}">
                            <a16:creationId xmlns:a16="http://schemas.microsoft.com/office/drawing/2014/main" id="{5FA33585-FCF8-4C5C-FE4E-A8F94697EB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143001"/>
                        <a:ext cx="21653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1">
            <a:extLst>
              <a:ext uri="{FF2B5EF4-FFF2-40B4-BE49-F238E27FC236}">
                <a16:creationId xmlns:a16="http://schemas.microsoft.com/office/drawing/2014/main" id="{C4078428-DF22-B035-7786-4E97614C90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1981200"/>
          <a:ext cx="60801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0883700" imgH="12877800" progId="Equation.3">
                  <p:embed/>
                </p:oleObj>
              </mc:Choice>
              <mc:Fallback>
                <p:oleObj name="Equation" r:id="rId5" imgW="110883700" imgH="12877800" progId="Equation.3">
                  <p:embed/>
                  <p:pic>
                    <p:nvPicPr>
                      <p:cNvPr id="34822" name="Object 1">
                        <a:extLst>
                          <a:ext uri="{FF2B5EF4-FFF2-40B4-BE49-F238E27FC236}">
                            <a16:creationId xmlns:a16="http://schemas.microsoft.com/office/drawing/2014/main" id="{C4078428-DF22-B035-7786-4E97614C90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1981200"/>
                        <a:ext cx="608012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E15C1AEC-9F0C-A28D-0458-EFC5015B24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F170305-D540-8F4F-8EDD-ACFEF61BB1C9}" type="slidenum">
              <a:rPr lang="en-US" altLang="en-US"/>
              <a:pPr eaLnBrk="1" hangingPunct="1"/>
              <a:t>29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912C87B0-B727-FEF6-727F-C33E3F2CC3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Prediction Based on Bayes’ Theorem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2790CD75-4820-6AA8-8A25-7C2A26F615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458200" cy="5029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Given training data</a:t>
            </a:r>
            <a:r>
              <a:rPr lang="en-US" altLang="en-US" sz="2400" i="1"/>
              <a:t> </a:t>
            </a:r>
            <a:r>
              <a:rPr lang="en-US" altLang="en-US" sz="2400" b="1"/>
              <a:t>X</a:t>
            </a:r>
            <a:r>
              <a:rPr lang="en-US" altLang="en-US" sz="2400" i="1"/>
              <a:t>, posteriori probability of a hypothesis </a:t>
            </a:r>
            <a:r>
              <a:rPr lang="en-US" altLang="en-US" sz="2400"/>
              <a:t>H</a:t>
            </a:r>
            <a:r>
              <a:rPr lang="en-US" altLang="en-US" sz="2400" i="1"/>
              <a:t>, </a:t>
            </a:r>
            <a:r>
              <a:rPr lang="en-US" altLang="en-US" sz="2400"/>
              <a:t>P(H|</a:t>
            </a:r>
            <a:r>
              <a:rPr lang="en-US" altLang="en-US" sz="2400" b="1"/>
              <a:t>X</a:t>
            </a:r>
            <a:r>
              <a:rPr lang="en-US" altLang="en-US" sz="2400"/>
              <a:t>)</a:t>
            </a:r>
            <a:r>
              <a:rPr lang="en-US" altLang="en-US" sz="2400" i="1"/>
              <a:t>, </a:t>
            </a:r>
            <a:r>
              <a:rPr lang="en-US" altLang="en-US" sz="2400"/>
              <a:t>follows the Bayes’ theorem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en-US" sz="2400"/>
              <a:t>			</a:t>
            </a:r>
          </a:p>
          <a:p>
            <a:pPr eaLnBrk="1" hangingPunct="1">
              <a:lnSpc>
                <a:spcPct val="120000"/>
              </a:lnSpc>
            </a:pPr>
            <a:endParaRPr lang="en-US" altLang="en-US" sz="2400"/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Informally, this can be viewed as 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en-US"/>
              <a:t>		posteriori = likelihood x prior/evidence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Predicts </a:t>
            </a:r>
            <a:r>
              <a:rPr lang="en-US" altLang="en-US" sz="2400" b="1"/>
              <a:t>X</a:t>
            </a:r>
            <a:r>
              <a:rPr lang="en-US" altLang="en-US" sz="2400"/>
              <a:t> belongs to C</a:t>
            </a:r>
            <a:r>
              <a:rPr lang="en-US" altLang="en-US" sz="2400" baseline="-25000"/>
              <a:t>i</a:t>
            </a:r>
            <a:r>
              <a:rPr lang="en-US" altLang="en-US" sz="2400"/>
              <a:t> iff the probability P(C</a:t>
            </a:r>
            <a:r>
              <a:rPr lang="en-US" altLang="en-US" sz="2400" baseline="-25000"/>
              <a:t>i</a:t>
            </a:r>
            <a:r>
              <a:rPr lang="en-US" altLang="en-US" sz="2400"/>
              <a:t>|</a:t>
            </a:r>
            <a:r>
              <a:rPr lang="en-US" altLang="en-US" sz="2400" b="1"/>
              <a:t>X</a:t>
            </a:r>
            <a:r>
              <a:rPr lang="en-US" altLang="en-US" sz="2400"/>
              <a:t>) is the highest among all the P(C</a:t>
            </a:r>
            <a:r>
              <a:rPr lang="en-US" altLang="en-US" sz="2400" baseline="-25000"/>
              <a:t>k</a:t>
            </a:r>
            <a:r>
              <a:rPr lang="en-US" altLang="en-US" sz="2400"/>
              <a:t>|X) for all the </a:t>
            </a:r>
            <a:r>
              <a:rPr lang="en-US" altLang="en-US" sz="2400" i="1"/>
              <a:t>k</a:t>
            </a:r>
            <a:r>
              <a:rPr lang="en-US" altLang="en-US" sz="2400"/>
              <a:t> classes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Practical difficulty:  It requires initial knowledge of many probabilities, involving significant computational cost</a:t>
            </a:r>
          </a:p>
        </p:txBody>
      </p:sp>
      <p:graphicFrame>
        <p:nvGraphicFramePr>
          <p:cNvPr id="35845" name="Object 4">
            <a:extLst>
              <a:ext uri="{FF2B5EF4-FFF2-40B4-BE49-F238E27FC236}">
                <a16:creationId xmlns:a16="http://schemas.microsoft.com/office/drawing/2014/main" id="{4509E995-ECDF-473A-57BA-615E5D2569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1" y="2438400"/>
          <a:ext cx="758507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0883700" imgH="12877800" progId="Equation.3">
                  <p:embed/>
                </p:oleObj>
              </mc:Choice>
              <mc:Fallback>
                <p:oleObj name="Equation" r:id="rId3" imgW="110883700" imgH="12877800" progId="Equation.3">
                  <p:embed/>
                  <p:pic>
                    <p:nvPicPr>
                      <p:cNvPr id="35845" name="Object 4">
                        <a:extLst>
                          <a:ext uri="{FF2B5EF4-FFF2-40B4-BE49-F238E27FC236}">
                            <a16:creationId xmlns:a16="http://schemas.microsoft.com/office/drawing/2014/main" id="{4509E995-ECDF-473A-57BA-615E5D2569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2438400"/>
                        <a:ext cx="7585075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7">
            <a:extLst>
              <a:ext uri="{FF2B5EF4-FFF2-40B4-BE49-F238E27FC236}">
                <a16:creationId xmlns:a16="http://schemas.microsoft.com/office/drawing/2014/main" id="{E42B8041-9C28-6721-F73A-109AA11FA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8C8ED96C-2375-264E-AACF-9363AD642CCD}" type="slidenum">
              <a:rPr lang="en-US" altLang="en-US" smtClean="0"/>
              <a:pPr eaLnBrk="1" hangingPunct="1"/>
              <a:t>30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01A4590B-0A86-77BB-BB9D-F68F3B2D7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304800"/>
            <a:ext cx="9601200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Classification Is to Derive the Maximum Posteriori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45EE2775-D20D-7CC8-6A9F-ED9DC3F9F6A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219200"/>
            <a:ext cx="8458200" cy="51816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Let D be a training set of tuples and their associated class labels, and each tuple is represented by an n-D attribute vector </a:t>
            </a:r>
            <a:r>
              <a:rPr lang="en-US" altLang="en-US" sz="2400" b="1" dirty="0"/>
              <a:t>X</a:t>
            </a:r>
            <a:r>
              <a:rPr lang="en-US" altLang="en-US" sz="2400" dirty="0"/>
              <a:t> = (x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x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</a:t>
            </a:r>
            <a:r>
              <a:rPr lang="en-US" altLang="en-US" sz="2400" dirty="0" err="1"/>
              <a:t>x</a:t>
            </a:r>
            <a:r>
              <a:rPr lang="en-US" altLang="en-US" sz="2400" baseline="-25000" dirty="0" err="1"/>
              <a:t>n</a:t>
            </a:r>
            <a:r>
              <a:rPr lang="en-US" altLang="en-US" sz="2400" dirty="0"/>
              <a:t>)</a:t>
            </a:r>
          </a:p>
          <a:p>
            <a:pPr eaLnBrk="1" hangingPunct="1"/>
            <a:r>
              <a:rPr lang="en-US" altLang="en-US" sz="2400" dirty="0"/>
              <a:t>Suppose there are </a:t>
            </a:r>
            <a:r>
              <a:rPr lang="en-US" altLang="en-US" sz="2400" i="1" dirty="0"/>
              <a:t>m</a:t>
            </a:r>
            <a:r>
              <a:rPr lang="en-US" altLang="en-US" sz="2400" dirty="0"/>
              <a:t> classes C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C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C</a:t>
            </a:r>
            <a:r>
              <a:rPr lang="en-US" altLang="en-US" sz="2400" baseline="-25000" dirty="0"/>
              <a:t>m</a:t>
            </a:r>
            <a:r>
              <a:rPr lang="en-US" altLang="en-US" sz="24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Classification is to derive the maximum posteriori, i.e., the maximal P(</a:t>
            </a:r>
            <a:r>
              <a:rPr lang="en-US" altLang="en-US" sz="2400" dirty="0" err="1"/>
              <a:t>C</a:t>
            </a:r>
            <a:r>
              <a:rPr lang="en-US" altLang="en-US" sz="2400" baseline="-25000" dirty="0" err="1"/>
              <a:t>i</a:t>
            </a:r>
            <a:r>
              <a:rPr lang="en-US" altLang="en-US" sz="2400" dirty="0" err="1"/>
              <a:t>|</a:t>
            </a:r>
            <a:r>
              <a:rPr lang="en-US" altLang="en-US" sz="2400" b="1" dirty="0" err="1"/>
              <a:t>X</a:t>
            </a:r>
            <a:r>
              <a:rPr lang="en-US" altLang="en-US" sz="2400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This can be derived from Bayes’ theorem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Since P(X) is constant for all classes, only                                       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/>
              <a:t>needs to be maximized</a:t>
            </a:r>
          </a:p>
        </p:txBody>
      </p:sp>
      <p:graphicFrame>
        <p:nvGraphicFramePr>
          <p:cNvPr id="36869" name="Object 5">
            <a:extLst>
              <a:ext uri="{FF2B5EF4-FFF2-40B4-BE49-F238E27FC236}">
                <a16:creationId xmlns:a16="http://schemas.microsoft.com/office/drawing/2014/main" id="{FF035143-CFF0-D231-39C4-19444AE03987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6172200" y="3962401"/>
          <a:ext cx="27432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7632600" imgH="14922500" progId="Equation.3">
                  <p:embed/>
                </p:oleObj>
              </mc:Choice>
              <mc:Fallback>
                <p:oleObj name="Equation" r:id="rId3" imgW="57632600" imgH="14922500" progId="Equation.3">
                  <p:embed/>
                  <p:pic>
                    <p:nvPicPr>
                      <p:cNvPr id="36869" name="Object 5">
                        <a:extLst>
                          <a:ext uri="{FF2B5EF4-FFF2-40B4-BE49-F238E27FC236}">
                            <a16:creationId xmlns:a16="http://schemas.microsoft.com/office/drawing/2014/main" id="{FF035143-CFF0-D231-39C4-19444AE039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962401"/>
                        <a:ext cx="27432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7">
            <a:extLst>
              <a:ext uri="{FF2B5EF4-FFF2-40B4-BE49-F238E27FC236}">
                <a16:creationId xmlns:a16="http://schemas.microsoft.com/office/drawing/2014/main" id="{6AB2D704-7F66-93E3-499B-6BBACD6BBF15}"/>
              </a:ext>
            </a:extLst>
          </p:cNvPr>
          <p:cNvGraphicFramePr>
            <a:graphicFrameLocks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86072852"/>
              </p:ext>
            </p:extLst>
          </p:nvPr>
        </p:nvGraphicFramePr>
        <p:xfrm>
          <a:off x="5791200" y="5313363"/>
          <a:ext cx="28956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7048400" imgH="8775700" progId="Equation.3">
                  <p:embed/>
                </p:oleObj>
              </mc:Choice>
              <mc:Fallback>
                <p:oleObj name="Equation" r:id="rId5" imgW="57048400" imgH="8775700" progId="Equation.3">
                  <p:embed/>
                  <p:pic>
                    <p:nvPicPr>
                      <p:cNvPr id="36870" name="Object 7">
                        <a:extLst>
                          <a:ext uri="{FF2B5EF4-FFF2-40B4-BE49-F238E27FC236}">
                            <a16:creationId xmlns:a16="http://schemas.microsoft.com/office/drawing/2014/main" id="{6AB2D704-7F66-93E3-499B-6BBACD6BBF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313363"/>
                        <a:ext cx="28956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7">
            <a:extLst>
              <a:ext uri="{FF2B5EF4-FFF2-40B4-BE49-F238E27FC236}">
                <a16:creationId xmlns:a16="http://schemas.microsoft.com/office/drawing/2014/main" id="{CDBAE3A4-5185-C314-A72E-5247884D0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8C8ED96C-2375-264E-AACF-9363AD642CCD}" type="slidenum">
              <a:rPr lang="en-US" altLang="en-US" smtClean="0"/>
              <a:pPr eaLnBrk="1" hangingPunct="1"/>
              <a:t>31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05C5F167-2DB7-D406-2FCB-22C7DC576B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8402638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Naïve Bayes Classifier 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46775EC-BD34-CDA0-7D53-2BF2BBE05D1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95400"/>
            <a:ext cx="8382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A simplified assumption: attributes are conditionally independent (i.e., no dependence relation between attributes):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This greatly reduces the computation cost: Only counts the class distribution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If A</a:t>
            </a:r>
            <a:r>
              <a:rPr lang="en-US" altLang="en-US" sz="2400" baseline="-25000"/>
              <a:t>k</a:t>
            </a:r>
            <a:r>
              <a:rPr lang="en-US" altLang="en-US" sz="2400"/>
              <a:t> is categorical, P(x</a:t>
            </a:r>
            <a:r>
              <a:rPr lang="en-US" altLang="en-US" sz="2400" baseline="-25000"/>
              <a:t>k</a:t>
            </a:r>
            <a:r>
              <a:rPr lang="en-US" altLang="en-US" sz="2400"/>
              <a:t>|C</a:t>
            </a:r>
            <a:r>
              <a:rPr lang="en-US" altLang="en-US" sz="2400" baseline="-25000"/>
              <a:t>i</a:t>
            </a:r>
            <a:r>
              <a:rPr lang="en-US" altLang="en-US" sz="2400"/>
              <a:t>) is the # of tuples in C</a:t>
            </a:r>
            <a:r>
              <a:rPr lang="en-US" altLang="en-US" sz="2400" baseline="-25000"/>
              <a:t>i</a:t>
            </a:r>
            <a:r>
              <a:rPr lang="en-US" altLang="en-US" sz="2400"/>
              <a:t> having value x</a:t>
            </a:r>
            <a:r>
              <a:rPr lang="en-US" altLang="en-US" sz="2400" baseline="-25000"/>
              <a:t>k</a:t>
            </a:r>
            <a:r>
              <a:rPr lang="en-US" altLang="en-US" sz="2400"/>
              <a:t> for A</a:t>
            </a:r>
            <a:r>
              <a:rPr lang="en-US" altLang="en-US" sz="2400" baseline="-25000"/>
              <a:t>k</a:t>
            </a:r>
            <a:r>
              <a:rPr lang="en-US" altLang="en-US" sz="2400"/>
              <a:t> divided by |C</a:t>
            </a:r>
            <a:r>
              <a:rPr lang="en-US" altLang="en-US" sz="2400" baseline="-25000"/>
              <a:t>i, D</a:t>
            </a:r>
            <a:r>
              <a:rPr lang="en-US" altLang="en-US" sz="2400"/>
              <a:t>| (# of tuples of C</a:t>
            </a:r>
            <a:r>
              <a:rPr lang="en-US" altLang="en-US" sz="2400" baseline="-25000"/>
              <a:t>i</a:t>
            </a:r>
            <a:r>
              <a:rPr lang="en-US" altLang="en-US" sz="2400"/>
              <a:t> in D)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If A</a:t>
            </a:r>
            <a:r>
              <a:rPr lang="en-US" altLang="en-US" sz="2400" baseline="-25000"/>
              <a:t>k</a:t>
            </a:r>
            <a:r>
              <a:rPr lang="en-US" altLang="en-US" sz="2400"/>
              <a:t> is continous-valued, P(x</a:t>
            </a:r>
            <a:r>
              <a:rPr lang="en-US" altLang="en-US" sz="2400" baseline="-25000"/>
              <a:t>k</a:t>
            </a:r>
            <a:r>
              <a:rPr lang="en-US" altLang="en-US" sz="2400"/>
              <a:t>|C</a:t>
            </a:r>
            <a:r>
              <a:rPr lang="en-US" altLang="en-US" sz="2400" baseline="-25000"/>
              <a:t>i</a:t>
            </a:r>
            <a:r>
              <a:rPr lang="en-US" altLang="en-US" sz="2400"/>
              <a:t>) is usually computed based on Gaussian distribution with a mean </a:t>
            </a:r>
            <a:r>
              <a:rPr lang="el-GR" altLang="en-US" sz="2400"/>
              <a:t>μ</a:t>
            </a:r>
            <a:r>
              <a:rPr lang="en-US" altLang="en-US" sz="2400"/>
              <a:t> and standard deviation </a:t>
            </a:r>
            <a:r>
              <a:rPr lang="el-GR" altLang="en-US" sz="2400"/>
              <a:t>σ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/>
              <a:t>and P(x</a:t>
            </a:r>
            <a:r>
              <a:rPr lang="en-US" altLang="en-US" baseline="-25000"/>
              <a:t>k</a:t>
            </a:r>
            <a:r>
              <a:rPr lang="en-US" altLang="en-US"/>
              <a:t>|C</a:t>
            </a:r>
            <a:r>
              <a:rPr lang="en-US" altLang="en-US" baseline="-25000"/>
              <a:t>i</a:t>
            </a:r>
            <a:r>
              <a:rPr lang="en-US" altLang="en-US"/>
              <a:t>) is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</p:txBody>
      </p:sp>
      <p:graphicFrame>
        <p:nvGraphicFramePr>
          <p:cNvPr id="37893" name="Object 10">
            <a:extLst>
              <a:ext uri="{FF2B5EF4-FFF2-40B4-BE49-F238E27FC236}">
                <a16:creationId xmlns:a16="http://schemas.microsoft.com/office/drawing/2014/main" id="{7481D1B8-B80A-7CE1-902D-6DDE248AB0C6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3962400" y="1905001"/>
          <a:ext cx="61722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4208600" imgH="11696700" progId="Equation.3">
                  <p:embed/>
                </p:oleObj>
              </mc:Choice>
              <mc:Fallback>
                <p:oleObj name="Equation" r:id="rId3" imgW="94208600" imgH="11696700" progId="Equation.3">
                  <p:embed/>
                  <p:pic>
                    <p:nvPicPr>
                      <p:cNvPr id="37893" name="Object 10">
                        <a:extLst>
                          <a:ext uri="{FF2B5EF4-FFF2-40B4-BE49-F238E27FC236}">
                            <a16:creationId xmlns:a16="http://schemas.microsoft.com/office/drawing/2014/main" id="{7481D1B8-B80A-7CE1-902D-6DDE248AB0C6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905001"/>
                        <a:ext cx="61722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12">
            <a:extLst>
              <a:ext uri="{FF2B5EF4-FFF2-40B4-BE49-F238E27FC236}">
                <a16:creationId xmlns:a16="http://schemas.microsoft.com/office/drawing/2014/main" id="{5FAC9C87-C8B8-E318-434F-9F249E9A5B8D}"/>
              </a:ext>
            </a:extLst>
          </p:cNvPr>
          <p:cNvGraphicFramePr>
            <a:graphicFrameLocks/>
          </p:cNvGraphicFramePr>
          <p:nvPr>
            <p:ph sz="quarter" idx="3"/>
          </p:nvPr>
        </p:nvGraphicFramePr>
        <p:xfrm>
          <a:off x="5715000" y="4953000"/>
          <a:ext cx="3276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328600" imgH="11112500" progId="Equation.3">
                  <p:embed/>
                </p:oleObj>
              </mc:Choice>
              <mc:Fallback>
                <p:oleObj name="Equation" r:id="rId5" imgW="38328600" imgH="11112500" progId="Equation.3">
                  <p:embed/>
                  <p:pic>
                    <p:nvPicPr>
                      <p:cNvPr id="37894" name="Object 12">
                        <a:extLst>
                          <a:ext uri="{FF2B5EF4-FFF2-40B4-BE49-F238E27FC236}">
                            <a16:creationId xmlns:a16="http://schemas.microsoft.com/office/drawing/2014/main" id="{5FAC9C87-C8B8-E318-434F-9F249E9A5B8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953000"/>
                        <a:ext cx="3276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14">
            <a:extLst>
              <a:ext uri="{FF2B5EF4-FFF2-40B4-BE49-F238E27FC236}">
                <a16:creationId xmlns:a16="http://schemas.microsoft.com/office/drawing/2014/main" id="{811AB54D-555C-F372-BF05-ED72AA1828F3}"/>
              </a:ext>
            </a:extLst>
          </p:cNvPr>
          <p:cNvGraphicFramePr>
            <a:graphicFrameLocks/>
          </p:cNvGraphicFramePr>
          <p:nvPr/>
        </p:nvGraphicFramePr>
        <p:xfrm>
          <a:off x="5715000" y="5943600"/>
          <a:ext cx="2819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7452300" imgH="5562600" progId="Equation.3">
                  <p:embed/>
                </p:oleObj>
              </mc:Choice>
              <mc:Fallback>
                <p:oleObj name="Equation" r:id="rId7" imgW="37452300" imgH="5562600" progId="Equation.3">
                  <p:embed/>
                  <p:pic>
                    <p:nvPicPr>
                      <p:cNvPr id="37895" name="Object 14">
                        <a:extLst>
                          <a:ext uri="{FF2B5EF4-FFF2-40B4-BE49-F238E27FC236}">
                            <a16:creationId xmlns:a16="http://schemas.microsoft.com/office/drawing/2014/main" id="{811AB54D-555C-F372-BF05-ED72AA1828F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943600"/>
                        <a:ext cx="2819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>
            <a:extLst>
              <a:ext uri="{FF2B5EF4-FFF2-40B4-BE49-F238E27FC236}">
                <a16:creationId xmlns:a16="http://schemas.microsoft.com/office/drawing/2014/main" id="{546628FF-6089-F158-410F-C77BE68482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B6A1C1B-E39C-934B-BA65-D1C3A4953AB5}" type="slidenum">
              <a:rPr lang="en-US" altLang="en-US"/>
              <a:pPr eaLnBrk="1" hangingPunct="1"/>
              <a:t>32</a:t>
            </a:fld>
            <a:endParaRPr lang="en-US" alt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FECF1A82-27DC-6725-8F07-4EA6E045D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Naïve Bayes Classifier: Training Dataset</a:t>
            </a:r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20493BE6-F945-981A-00F6-4DD1F8796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828800"/>
            <a:ext cx="3429000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Class: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C1:buys_computer = ‘yes’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C2:buys_computer = ‘no’</a:t>
            </a:r>
          </a:p>
          <a:p>
            <a:pPr eaLnBrk="1" hangingPunct="1">
              <a:lnSpc>
                <a:spcPct val="110000"/>
              </a:lnSpc>
            </a:pPr>
            <a:endParaRPr lang="en-US" altLang="en-US" sz="240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Data to be classified: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X = (age &lt;=30,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Income = medium,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Student = yes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>
                <a:latin typeface="Calibri" panose="020F0502020204030204" pitchFamily="34" charset="0"/>
              </a:rPr>
              <a:t>Credit_rating = Fair)</a:t>
            </a:r>
          </a:p>
        </p:txBody>
      </p:sp>
      <p:graphicFrame>
        <p:nvGraphicFramePr>
          <p:cNvPr id="38917" name="Object 5">
            <a:extLst>
              <a:ext uri="{FF2B5EF4-FFF2-40B4-BE49-F238E27FC236}">
                <a16:creationId xmlns:a16="http://schemas.microsoft.com/office/drawing/2014/main" id="{1D8545AF-0C0D-705A-082D-26F565156802}"/>
              </a:ext>
            </a:extLst>
          </p:cNvPr>
          <p:cNvGraphicFramePr>
            <a:graphicFrameLocks/>
          </p:cNvGraphicFramePr>
          <p:nvPr>
            <p:ph idx="1"/>
          </p:nvPr>
        </p:nvGraphicFramePr>
        <p:xfrm>
          <a:off x="5334001" y="1295400"/>
          <a:ext cx="5110163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330700" imgH="4470400" progId="Excel.Sheet.8">
                  <p:embed/>
                </p:oleObj>
              </mc:Choice>
              <mc:Fallback>
                <p:oleObj name="Worksheet" r:id="rId3" imgW="4330700" imgH="4470400" progId="Excel.Sheet.8">
                  <p:embed/>
                  <p:pic>
                    <p:nvPicPr>
                      <p:cNvPr id="38917" name="Object 5">
                        <a:extLst>
                          <a:ext uri="{FF2B5EF4-FFF2-40B4-BE49-F238E27FC236}">
                            <a16:creationId xmlns:a16="http://schemas.microsoft.com/office/drawing/2014/main" id="{1D8545AF-0C0D-705A-082D-26F56515680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1295400"/>
                        <a:ext cx="5110163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>
            <a:extLst>
              <a:ext uri="{FF2B5EF4-FFF2-40B4-BE49-F238E27FC236}">
                <a16:creationId xmlns:a16="http://schemas.microsoft.com/office/drawing/2014/main" id="{E6E2D181-1CD1-E2C3-EF7F-029F71DFA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057EC53-B0EA-7448-B520-7E85CC5B3ACB}" type="slidenum">
              <a:rPr lang="en-US" altLang="en-US"/>
              <a:pPr eaLnBrk="1" hangingPunct="1"/>
              <a:t>33</a:t>
            </a:fld>
            <a:endParaRPr lang="en-US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D50A7CE6-1D7B-4DC3-870B-9C4B0FBA65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90678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Naïve Bayes Classifier: An Example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6C79C212-B8A7-BC12-9267-6805DD69F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1152525"/>
            <a:ext cx="8686800" cy="57150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P(C</a:t>
            </a:r>
            <a:r>
              <a:rPr lang="en-US" altLang="en-US" sz="2000" baseline="-25000"/>
              <a:t>i</a:t>
            </a:r>
            <a:r>
              <a:rPr lang="en-US" altLang="en-US" sz="2000"/>
              <a:t>):    P(buys_computer = “yes”)  = 9/14 = 0.643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/>
              <a:t>                   P(buys_computer = “no”) = 5/14= 0.357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Compute P(X|C</a:t>
            </a:r>
            <a:r>
              <a:rPr lang="en-US" altLang="en-US" sz="2000" baseline="-25000"/>
              <a:t>i</a:t>
            </a:r>
            <a:r>
              <a:rPr lang="en-US" altLang="en-US" sz="2000"/>
              <a:t>) for each class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/>
              <a:t>     P(age = “&lt;=30” | buys_computer = “yes”)  = 2/9 = 0.222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/>
              <a:t>     P(age = “&lt;= 30” | buys_computer = “no”) = 3/5 = 0.6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/>
              <a:t>     P(income = “medium” | buys_computer = “yes”) = 4/9 = 0.444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/>
              <a:t>     P(income = “medium” | buys_computer = “no”) = 2/5 = 0.4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/>
              <a:t>     P(student = “yes” | buys_computer = “yes) = 6/9 = 0.667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/>
              <a:t>     P(student = “yes” | buys_computer = “no”) = 1/5 = 0.2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/>
              <a:t>     P(credit_rating = “fair” | buys_computer = “yes”) = 6/9 = 0.667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/>
              <a:t>     P(credit_rating = “fair” | buys_computer = “no”) = 2/5 = 0.4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b="1"/>
              <a:t> X = (age &lt;= 30 , income = medium, student = yes, credit_rating = fair)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/>
              <a:t> </a:t>
            </a:r>
            <a:r>
              <a:rPr lang="en-US" altLang="en-US" sz="2000" b="1"/>
              <a:t>P(X|C</a:t>
            </a:r>
            <a:r>
              <a:rPr lang="en-US" altLang="en-US" sz="2000" b="1" baseline="-25000"/>
              <a:t>i</a:t>
            </a:r>
            <a:r>
              <a:rPr lang="en-US" altLang="en-US" sz="2000" b="1"/>
              <a:t>) :</a:t>
            </a:r>
            <a:r>
              <a:rPr lang="en-US" altLang="en-US" sz="2000"/>
              <a:t> P(X|buys_computer = “yes”) = 0.222 x 0.444 x 0.667 x 0.667 = 0.044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/>
              <a:t>                P(X|buys_computer = “no”) = 0.6 x 0.4 x 0.2 x 0.4 = 0.019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="1"/>
              <a:t>P(X|C</a:t>
            </a:r>
            <a:r>
              <a:rPr lang="en-US" altLang="en-US" sz="2000" b="1" baseline="-25000"/>
              <a:t>i</a:t>
            </a:r>
            <a:r>
              <a:rPr lang="en-US" altLang="en-US" sz="2000" b="1"/>
              <a:t>)*P(C</a:t>
            </a:r>
            <a:r>
              <a:rPr lang="en-US" altLang="en-US" sz="2000" b="1" baseline="-25000"/>
              <a:t>i</a:t>
            </a:r>
            <a:r>
              <a:rPr lang="en-US" altLang="en-US" sz="2000" b="1"/>
              <a:t>) : </a:t>
            </a:r>
            <a:r>
              <a:rPr lang="en-US" altLang="en-US" sz="2000"/>
              <a:t>P(X|buys_computer = “yes”) * P(buys_computer = “yes”) = 0.028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="1"/>
              <a:t>		             </a:t>
            </a:r>
            <a:r>
              <a:rPr lang="en-US" altLang="en-US" sz="2000"/>
              <a:t>P(X|buys_computer = “no”) * P(buys_computer = “no”) = 0.007</a:t>
            </a:r>
            <a:endParaRPr lang="en-US" altLang="en-US" sz="2000" b="1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="1"/>
              <a:t>Therefore,  X belongs to class (“buys_computer = yes”)	</a:t>
            </a:r>
            <a:r>
              <a:rPr lang="en-US" altLang="en-US" sz="1800" b="1"/>
              <a:t>	</a:t>
            </a:r>
          </a:p>
        </p:txBody>
      </p:sp>
      <p:graphicFrame>
        <p:nvGraphicFramePr>
          <p:cNvPr id="39941" name="Object 1">
            <a:extLst>
              <a:ext uri="{FF2B5EF4-FFF2-40B4-BE49-F238E27FC236}">
                <a16:creationId xmlns:a16="http://schemas.microsoft.com/office/drawing/2014/main" id="{D6B7C04E-E5B2-CA04-F7E3-30C1989A0D74}"/>
              </a:ext>
            </a:extLst>
          </p:cNvPr>
          <p:cNvGraphicFramePr>
            <a:graphicFrameLocks/>
          </p:cNvGraphicFramePr>
          <p:nvPr/>
        </p:nvGraphicFramePr>
        <p:xfrm>
          <a:off x="8586788" y="762000"/>
          <a:ext cx="2062162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330700" imgH="4470400" progId="Excel.Sheet.8">
                  <p:embed/>
                </p:oleObj>
              </mc:Choice>
              <mc:Fallback>
                <p:oleObj name="Worksheet" r:id="rId3" imgW="4330700" imgH="4470400" progId="Excel.Sheet.8">
                  <p:embed/>
                  <p:pic>
                    <p:nvPicPr>
                      <p:cNvPr id="39941" name="Object 1">
                        <a:extLst>
                          <a:ext uri="{FF2B5EF4-FFF2-40B4-BE49-F238E27FC236}">
                            <a16:creationId xmlns:a16="http://schemas.microsoft.com/office/drawing/2014/main" id="{D6B7C04E-E5B2-CA04-F7E3-30C1989A0D7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6788" y="762000"/>
                        <a:ext cx="2062162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6">
            <a:extLst>
              <a:ext uri="{FF2B5EF4-FFF2-40B4-BE49-F238E27FC236}">
                <a16:creationId xmlns:a16="http://schemas.microsoft.com/office/drawing/2014/main" id="{97451B82-30D8-2881-3AF7-E3CCBBE77D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9EA56D0-B847-AE4A-920B-8FFE5B7F000F}" type="slidenum">
              <a:rPr lang="en-US" altLang="en-US"/>
              <a:pPr eaLnBrk="1" hangingPunct="1"/>
              <a:t>34</a:t>
            </a:fld>
            <a:endParaRPr lang="en-US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626AA044-0A44-1349-4114-B2E7C9BC9B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304800"/>
            <a:ext cx="8402638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Avoiding the Zero-Probability Problem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F775C9FC-FA80-DCDC-ED91-BED60E7CF44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51470" y="1219200"/>
            <a:ext cx="9259330" cy="54864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Naïve Bayesian prediction requires each conditional prob. be </a:t>
            </a:r>
            <a:r>
              <a:rPr lang="en-US" altLang="en-US" sz="2400" b="1" dirty="0"/>
              <a:t>non-zero</a:t>
            </a:r>
            <a:r>
              <a:rPr lang="en-US" altLang="en-US" sz="2400" dirty="0"/>
              <a:t>.  Otherwise, the predicted prob. will be zero</a:t>
            </a:r>
          </a:p>
          <a:p>
            <a:pPr eaLnBrk="1" hangingPunct="1"/>
            <a:endParaRPr lang="en-US" altLang="en-US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b="1" dirty="0"/>
              <a:t>	</a:t>
            </a:r>
          </a:p>
          <a:p>
            <a:pPr eaLnBrk="1" hangingPunct="1"/>
            <a:r>
              <a:rPr lang="en-US" altLang="en-US" sz="2400" dirty="0"/>
              <a:t>Ex. Suppose a dataset with 1000 tuples, income=low (0), income= medium (990), and income = high (10)</a:t>
            </a:r>
          </a:p>
          <a:p>
            <a:pPr eaLnBrk="1" hangingPunct="1"/>
            <a:r>
              <a:rPr lang="en-US" altLang="en-US" sz="2400" dirty="0"/>
              <a:t>Use </a:t>
            </a:r>
            <a:r>
              <a:rPr lang="en-US" altLang="en-US" sz="2400" b="1" dirty="0"/>
              <a:t>Laplacian correction</a:t>
            </a:r>
            <a:r>
              <a:rPr lang="en-US" altLang="en-US" sz="2400" dirty="0"/>
              <a:t> (or Laplacian estimator)</a:t>
            </a:r>
          </a:p>
          <a:p>
            <a:pPr lvl="1" eaLnBrk="1" hangingPunct="1"/>
            <a:r>
              <a:rPr lang="en-US" altLang="en-US" i="1" dirty="0"/>
              <a:t>Adding 1 to each case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en-US" dirty="0"/>
              <a:t>Prob(income = low) = 1/1003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en-US" dirty="0"/>
              <a:t>Prob(income = medium) = 991/1003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en-US" dirty="0"/>
              <a:t>Prob(income = high) = 11/1003</a:t>
            </a:r>
          </a:p>
          <a:p>
            <a:pPr lvl="1" eaLnBrk="1" hangingPunct="1"/>
            <a:r>
              <a:rPr lang="en-US" altLang="en-US" dirty="0"/>
              <a:t>The “corrected” prob. estimates are close to their “uncorrected” counterparts</a:t>
            </a:r>
          </a:p>
        </p:txBody>
      </p:sp>
      <p:graphicFrame>
        <p:nvGraphicFramePr>
          <p:cNvPr id="40965" name="Object 4">
            <a:extLst>
              <a:ext uri="{FF2B5EF4-FFF2-40B4-BE49-F238E27FC236}">
                <a16:creationId xmlns:a16="http://schemas.microsoft.com/office/drawing/2014/main" id="{B4C3E2A9-C211-3A31-4664-5D7B633FABBB}"/>
              </a:ext>
            </a:extLst>
          </p:cNvPr>
          <p:cNvGraphicFramePr>
            <a:graphicFrameLocks/>
          </p:cNvGraphicFramePr>
          <p:nvPr>
            <p:ph sz="half" idx="2"/>
          </p:nvPr>
        </p:nvGraphicFramePr>
        <p:xfrm>
          <a:off x="3733800" y="1981200"/>
          <a:ext cx="4038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665400" imgH="11696700" progId="Equation.3">
                  <p:embed/>
                </p:oleObj>
              </mc:Choice>
              <mc:Fallback>
                <p:oleObj name="Equation" r:id="rId3" imgW="40665400" imgH="11696700" progId="Equation.3">
                  <p:embed/>
                  <p:pic>
                    <p:nvPicPr>
                      <p:cNvPr id="40965" name="Object 4">
                        <a:extLst>
                          <a:ext uri="{FF2B5EF4-FFF2-40B4-BE49-F238E27FC236}">
                            <a16:creationId xmlns:a16="http://schemas.microsoft.com/office/drawing/2014/main" id="{B4C3E2A9-C211-3A31-4664-5D7B633FABB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981200"/>
                        <a:ext cx="4038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>
            <a:extLst>
              <a:ext uri="{FF2B5EF4-FFF2-40B4-BE49-F238E27FC236}">
                <a16:creationId xmlns:a16="http://schemas.microsoft.com/office/drawing/2014/main" id="{615B5A91-9852-76E6-DFF9-1D5A066FA8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91EF595-E010-504E-BD1F-F341C543F0EE}" type="slidenum">
              <a:rPr lang="en-US" altLang="en-US"/>
              <a:pPr eaLnBrk="1" hangingPunct="1"/>
              <a:t>35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030DFB48-20D3-62CD-1D0A-B31B43B233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33525" y="3048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Naïve Bayes Classifier: Comments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96C9C97B-2359-EBBC-E6F4-49C3A8289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610600" cy="5105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Advantages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Easy to implement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Good results obtained in most of the cases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Disadvantages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Assumption: class conditional independence, therefore loss of accuracy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Practically, dependencies exist among variables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E.g.,  hospitals: patients: Profile: age, family history, etc. </a:t>
            </a:r>
          </a:p>
          <a:p>
            <a:pPr lvl="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/>
              <a:t> </a:t>
            </a:r>
            <a:r>
              <a:rPr lang="en-US" altLang="en-US" sz="2400"/>
              <a:t>Symptoms: fever, cough etc., Disease: lung cancer, diabetes, etc.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Dependencies among these cannot be modeled by Naïve Bayes Classifier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How to deal with these dependencies? Bayesian Belief Networks (Chapter 9)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6">
            <a:extLst>
              <a:ext uri="{FF2B5EF4-FFF2-40B4-BE49-F238E27FC236}">
                <a16:creationId xmlns:a16="http://schemas.microsoft.com/office/drawing/2014/main" id="{E39B217E-9A29-53C7-E234-7A4C6F11AA35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F244B202-23D7-F44F-A0AB-64D3B4BF7C2C}" type="slidenum">
              <a:rPr lang="en-US" altLang="en-US" sz="1400" b="1">
                <a:latin typeface="Calibri" panose="020F0502020204030204" pitchFamily="34" charset="0"/>
              </a:rPr>
              <a:pPr algn="r" eaLnBrk="1" hangingPunct="1"/>
              <a:t>36</a:t>
            </a:fld>
            <a:endParaRPr lang="en-US" altLang="en-US" sz="1400" b="1">
              <a:latin typeface="Calibri" panose="020F050202020403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22D54C7C-3B98-3FE8-866B-AFFB2003099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57338" y="304800"/>
            <a:ext cx="91440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Chapter 8. Classification: Basic Concepts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AB25DDFA-2028-C8A5-38FB-7A01E5355E6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828800" y="1447800"/>
            <a:ext cx="8382000" cy="5105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en-US" dirty="0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Bayes Classification Methods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Model Evaluation and Selection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Techniques to Improve Classification Accuracy: Ensemble Methods</a:t>
            </a:r>
          </a:p>
        </p:txBody>
      </p:sp>
      <p:sp>
        <p:nvSpPr>
          <p:cNvPr id="43013" name="AutoShape 8">
            <a:extLst>
              <a:ext uri="{FF2B5EF4-FFF2-40B4-BE49-F238E27FC236}">
                <a16:creationId xmlns:a16="http://schemas.microsoft.com/office/drawing/2014/main" id="{14FF37F1-802D-69CC-A221-9A29BD03BD2B}"/>
              </a:ext>
            </a:extLst>
          </p:cNvPr>
          <p:cNvSpPr>
            <a:spLocks noChangeArrowheads="1"/>
          </p:cNvSpPr>
          <p:nvPr/>
        </p:nvSpPr>
        <p:spPr bwMode="auto">
          <a:xfrm rot="9803581">
            <a:off x="6172200" y="33528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684E3152-0211-981C-FC7C-61F0CB3A8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657911E-897B-554C-8346-2BCD62D87038}" type="slidenum">
              <a:rPr lang="en-US" altLang="en-US"/>
              <a:pPr eaLnBrk="1" hangingPunct="1"/>
              <a:t>37</a:t>
            </a:fld>
            <a:endParaRPr lang="en-US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AEC60996-EC8C-D3FE-C38C-36287314F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304800"/>
            <a:ext cx="8783638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Using IF-THEN Rules for Classification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799641C-8B2B-5F53-370C-28432A721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534400" cy="5257800"/>
          </a:xfrm>
        </p:spPr>
        <p:txBody>
          <a:bodyPr/>
          <a:lstStyle/>
          <a:p>
            <a:pPr eaLnBrk="1" hangingPunct="1"/>
            <a:r>
              <a:rPr lang="en-US" altLang="en-US" sz="2000"/>
              <a:t>Represent the knowledge in the form of </a:t>
            </a:r>
            <a:r>
              <a:rPr lang="en-US" altLang="en-US" sz="2000">
                <a:solidFill>
                  <a:schemeClr val="hlink"/>
                </a:solidFill>
              </a:rPr>
              <a:t>IF-THEN</a:t>
            </a:r>
            <a:r>
              <a:rPr lang="en-US" altLang="en-US" sz="2000"/>
              <a:t> rules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en-US" altLang="en-US" sz="2000"/>
              <a:t>R:  IF </a:t>
            </a:r>
            <a:r>
              <a:rPr lang="en-US" altLang="en-US" sz="2000" i="1"/>
              <a:t>age</a:t>
            </a:r>
            <a:r>
              <a:rPr lang="en-US" altLang="en-US" sz="2000"/>
              <a:t> = youth AND </a:t>
            </a:r>
            <a:r>
              <a:rPr lang="en-US" altLang="en-US" sz="2000" i="1"/>
              <a:t>student</a:t>
            </a:r>
            <a:r>
              <a:rPr lang="en-US" altLang="en-US" sz="2000"/>
              <a:t> = yes  THEN </a:t>
            </a:r>
            <a:r>
              <a:rPr lang="en-US" altLang="en-US" sz="2000" i="1"/>
              <a:t>buys_computer</a:t>
            </a:r>
            <a:r>
              <a:rPr lang="en-US" altLang="en-US" sz="2000"/>
              <a:t> = yes</a:t>
            </a:r>
          </a:p>
          <a:p>
            <a:pPr lvl="1" eaLnBrk="1" hangingPunct="1"/>
            <a:r>
              <a:rPr lang="en-US" altLang="en-US" sz="2000"/>
              <a:t>Rule antecedent/precondition vs. rule consequent</a:t>
            </a:r>
          </a:p>
          <a:p>
            <a:pPr eaLnBrk="1" hangingPunct="1"/>
            <a:r>
              <a:rPr lang="en-US" altLang="en-US" sz="2000"/>
              <a:t>Assessment of a rule: </a:t>
            </a:r>
            <a:r>
              <a:rPr lang="en-US" altLang="en-US" sz="2000" i="1"/>
              <a:t>coverage</a:t>
            </a:r>
            <a:r>
              <a:rPr lang="en-US" altLang="en-US" sz="2000"/>
              <a:t> and </a:t>
            </a:r>
            <a:r>
              <a:rPr lang="en-US" altLang="en-US" sz="2000" i="1"/>
              <a:t>accuracy</a:t>
            </a:r>
            <a:r>
              <a:rPr lang="en-US" altLang="en-US" sz="2000"/>
              <a:t> </a:t>
            </a:r>
          </a:p>
          <a:p>
            <a:pPr lvl="1" eaLnBrk="1" hangingPunct="1"/>
            <a:r>
              <a:rPr lang="en-US" altLang="en-US" sz="2000"/>
              <a:t>n</a:t>
            </a:r>
            <a:r>
              <a:rPr lang="en-US" altLang="en-US" sz="2000" baseline="-25000"/>
              <a:t>covers </a:t>
            </a:r>
            <a:r>
              <a:rPr lang="en-US" altLang="en-US" sz="2000"/>
              <a:t>= # of tuples covered by R</a:t>
            </a:r>
          </a:p>
          <a:p>
            <a:pPr lvl="1" eaLnBrk="1" hangingPunct="1"/>
            <a:r>
              <a:rPr lang="en-US" altLang="en-US" sz="2000"/>
              <a:t>n</a:t>
            </a:r>
            <a:r>
              <a:rPr lang="en-US" altLang="en-US" sz="2000" baseline="-25000"/>
              <a:t>correct </a:t>
            </a:r>
            <a:r>
              <a:rPr lang="en-US" altLang="en-US" sz="2000"/>
              <a:t>= # of tuples correctly classified by R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000"/>
              <a:t>coverage(R) = n</a:t>
            </a:r>
            <a:r>
              <a:rPr lang="en-US" altLang="en-US" sz="2000" baseline="-25000"/>
              <a:t>covers </a:t>
            </a:r>
            <a:r>
              <a:rPr lang="en-US" altLang="en-US" sz="2000"/>
              <a:t>/|D|   /* D: training data set */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000"/>
              <a:t>accuracy(R) = n</a:t>
            </a:r>
            <a:r>
              <a:rPr lang="en-US" altLang="en-US" sz="2000" baseline="-25000"/>
              <a:t>correct </a:t>
            </a:r>
            <a:r>
              <a:rPr lang="en-US" altLang="en-US" sz="2000"/>
              <a:t>/ n</a:t>
            </a:r>
            <a:r>
              <a:rPr lang="en-US" altLang="en-US" sz="2000" baseline="-25000"/>
              <a:t>covers</a:t>
            </a:r>
            <a:endParaRPr lang="en-US" altLang="en-US" sz="2000"/>
          </a:p>
          <a:p>
            <a:pPr eaLnBrk="1" hangingPunct="1"/>
            <a:r>
              <a:rPr lang="en-US" altLang="en-US" sz="2000"/>
              <a:t>If more than one rule are triggered, need </a:t>
            </a:r>
            <a:r>
              <a:rPr lang="en-US" altLang="en-US" sz="2000" b="1"/>
              <a:t>conflict resolution</a:t>
            </a:r>
          </a:p>
          <a:p>
            <a:pPr lvl="1" eaLnBrk="1" hangingPunct="1"/>
            <a:r>
              <a:rPr lang="en-US" altLang="en-US" sz="2000"/>
              <a:t>Size ordering: assign the highest priority to the triggering rules that has the “toughest” requirement (i.e., with the </a:t>
            </a:r>
            <a:r>
              <a:rPr lang="en-US" altLang="en-US" sz="2000" i="1"/>
              <a:t>most attribute tests</a:t>
            </a:r>
            <a:r>
              <a:rPr lang="en-US" altLang="en-US" sz="2000"/>
              <a:t>)</a:t>
            </a:r>
          </a:p>
          <a:p>
            <a:pPr lvl="1" eaLnBrk="1" hangingPunct="1"/>
            <a:r>
              <a:rPr lang="en-US" altLang="en-US" sz="2000"/>
              <a:t>Class-based ordering: decreasing order of </a:t>
            </a:r>
            <a:r>
              <a:rPr lang="en-US" altLang="en-US" sz="2000" i="1"/>
              <a:t>prevalence or misclassification cost per class</a:t>
            </a:r>
          </a:p>
          <a:p>
            <a:pPr lvl="1" eaLnBrk="1" hangingPunct="1"/>
            <a:r>
              <a:rPr lang="en-US" altLang="en-US" sz="2000"/>
              <a:t>Rule-based ordering (</a:t>
            </a:r>
            <a:r>
              <a:rPr lang="en-US" altLang="en-US" sz="2000" b="1"/>
              <a:t>decision list</a:t>
            </a:r>
            <a:r>
              <a:rPr lang="en-US" altLang="en-US" sz="2000"/>
              <a:t>): rules are organized into one long priority list, according to some measure of rule quality or by experts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>
            <a:extLst>
              <a:ext uri="{FF2B5EF4-FFF2-40B4-BE49-F238E27FC236}">
                <a16:creationId xmlns:a16="http://schemas.microsoft.com/office/drawing/2014/main" id="{A3F15206-57D7-A3CF-835A-84C4739DB3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DDA4F9B-2B76-2A4B-8C2B-0F9664EA2BBA}" type="slidenum">
              <a:rPr lang="en-US" altLang="en-US"/>
              <a:pPr eaLnBrk="1" hangingPunct="1"/>
              <a:t>38</a:t>
            </a:fld>
            <a:endParaRPr lang="en-US" altLang="en-US"/>
          </a:p>
        </p:txBody>
      </p:sp>
      <p:grpSp>
        <p:nvGrpSpPr>
          <p:cNvPr id="45059" name="Group 59">
            <a:extLst>
              <a:ext uri="{FF2B5EF4-FFF2-40B4-BE49-F238E27FC236}">
                <a16:creationId xmlns:a16="http://schemas.microsoft.com/office/drawing/2014/main" id="{DD5C2C59-09D5-2DAE-82FE-678DCB8F0135}"/>
              </a:ext>
            </a:extLst>
          </p:cNvPr>
          <p:cNvGrpSpPr>
            <a:grpSpLocks/>
          </p:cNvGrpSpPr>
          <p:nvPr/>
        </p:nvGrpSpPr>
        <p:grpSpPr bwMode="auto">
          <a:xfrm>
            <a:off x="7171181" y="1600201"/>
            <a:ext cx="3486760" cy="2113085"/>
            <a:chOff x="3509" y="144"/>
            <a:chExt cx="2080" cy="1236"/>
          </a:xfrm>
        </p:grpSpPr>
        <p:sp>
          <p:nvSpPr>
            <p:cNvPr id="45063" name="Rectangle 34">
              <a:extLst>
                <a:ext uri="{FF2B5EF4-FFF2-40B4-BE49-F238E27FC236}">
                  <a16:creationId xmlns:a16="http://schemas.microsoft.com/office/drawing/2014/main" id="{E6D9D5D9-2765-FA67-9BD8-7E76C53C8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44"/>
              <a:ext cx="336" cy="180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sz="1400">
                  <a:latin typeface="Times New Roman" panose="02020603050405020304" pitchFamily="18" charset="0"/>
                </a:rPr>
                <a:t>age?</a:t>
              </a:r>
            </a:p>
          </p:txBody>
        </p:sp>
        <p:grpSp>
          <p:nvGrpSpPr>
            <p:cNvPr id="45064" name="Group 58">
              <a:extLst>
                <a:ext uri="{FF2B5EF4-FFF2-40B4-BE49-F238E27FC236}">
                  <a16:creationId xmlns:a16="http://schemas.microsoft.com/office/drawing/2014/main" id="{070895A6-8E8A-D243-3701-8ED1FA82E4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9" y="290"/>
              <a:ext cx="2080" cy="1090"/>
              <a:chOff x="3509" y="144"/>
              <a:chExt cx="2080" cy="1090"/>
            </a:xfrm>
          </p:grpSpPr>
          <p:sp>
            <p:nvSpPr>
              <p:cNvPr id="45065" name="Rectangle 36">
                <a:extLst>
                  <a:ext uri="{FF2B5EF4-FFF2-40B4-BE49-F238E27FC236}">
                    <a16:creationId xmlns:a16="http://schemas.microsoft.com/office/drawing/2014/main" id="{AD45DFCE-F999-2D80-707F-37E3338AC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2" y="528"/>
                <a:ext cx="469" cy="180"/>
              </a:xfrm>
              <a:prstGeom prst="rect">
                <a:avLst/>
              </a:prstGeom>
              <a:solidFill>
                <a:srgbClr val="00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student?</a:t>
                </a:r>
              </a:p>
            </p:txBody>
          </p:sp>
          <p:sp>
            <p:nvSpPr>
              <p:cNvPr id="45066" name="Rectangle 37">
                <a:extLst>
                  <a:ext uri="{FF2B5EF4-FFF2-40B4-BE49-F238E27FC236}">
                    <a16:creationId xmlns:a16="http://schemas.microsoft.com/office/drawing/2014/main" id="{19E49BC4-AACA-C703-9D83-624D19735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4" y="528"/>
                <a:ext cx="679" cy="180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credit rating?</a:t>
                </a:r>
              </a:p>
            </p:txBody>
          </p:sp>
          <p:sp>
            <p:nvSpPr>
              <p:cNvPr id="45067" name="Line 38">
                <a:extLst>
                  <a:ext uri="{FF2B5EF4-FFF2-40B4-BE49-F238E27FC236}">
                    <a16:creationId xmlns:a16="http://schemas.microsoft.com/office/drawing/2014/main" id="{8335F72F-2A50-988B-F6E2-9AE262A2EC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71" y="155"/>
                <a:ext cx="317" cy="41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68" name="Line 39">
                <a:extLst>
                  <a:ext uri="{FF2B5EF4-FFF2-40B4-BE49-F238E27FC236}">
                    <a16:creationId xmlns:a16="http://schemas.microsoft.com/office/drawing/2014/main" id="{5053E4CF-2E60-9231-FB5D-6F1CFA4EE6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81" y="169"/>
                <a:ext cx="0" cy="17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69" name="Line 40">
                <a:extLst>
                  <a:ext uri="{FF2B5EF4-FFF2-40B4-BE49-F238E27FC236}">
                    <a16:creationId xmlns:a16="http://schemas.microsoft.com/office/drawing/2014/main" id="{3D0F9DD5-54A3-2337-02A3-C3BA630202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6" y="144"/>
                <a:ext cx="534" cy="44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70" name="Rectangle 41">
                <a:extLst>
                  <a:ext uri="{FF2B5EF4-FFF2-40B4-BE49-F238E27FC236}">
                    <a16:creationId xmlns:a16="http://schemas.microsoft.com/office/drawing/2014/main" id="{FC79D8C2-1947-576E-5CEF-6D4D42563C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0" y="288"/>
                <a:ext cx="308" cy="162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200" b="1">
                    <a:latin typeface="Times New Roman" panose="02020603050405020304" pitchFamily="18" charset="0"/>
                  </a:rPr>
                  <a:t>&lt;=30</a:t>
                </a:r>
                <a:endParaRPr lang="en-US" altLang="en-US" sz="1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71" name="Rectangle 42">
                <a:extLst>
                  <a:ext uri="{FF2B5EF4-FFF2-40B4-BE49-F238E27FC236}">
                    <a16:creationId xmlns:a16="http://schemas.microsoft.com/office/drawing/2014/main" id="{7D6AC339-CE10-8352-4900-CC5B37E5A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4" y="325"/>
                <a:ext cx="255" cy="16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200" b="1">
                    <a:latin typeface="Times New Roman" panose="02020603050405020304" pitchFamily="18" charset="0"/>
                  </a:rPr>
                  <a:t>&gt;40</a:t>
                </a:r>
                <a:endParaRPr lang="en-US" altLang="en-US" sz="1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72" name="Line 43">
                <a:extLst>
                  <a:ext uri="{FF2B5EF4-FFF2-40B4-BE49-F238E27FC236}">
                    <a16:creationId xmlns:a16="http://schemas.microsoft.com/office/drawing/2014/main" id="{54CDBC2D-60EC-8A25-BCBC-D0F30E93F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36" y="743"/>
                <a:ext cx="268" cy="31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73" name="Line 44">
                <a:extLst>
                  <a:ext uri="{FF2B5EF4-FFF2-40B4-BE49-F238E27FC236}">
                    <a16:creationId xmlns:a16="http://schemas.microsoft.com/office/drawing/2014/main" id="{5563FA63-6EE1-5133-C7AD-C1531D20B5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6" y="743"/>
                <a:ext cx="244" cy="31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74" name="Line 45">
                <a:extLst>
                  <a:ext uri="{FF2B5EF4-FFF2-40B4-BE49-F238E27FC236}">
                    <a16:creationId xmlns:a16="http://schemas.microsoft.com/office/drawing/2014/main" id="{56A04D25-AC3C-36A2-3E0A-EC66C327E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56" y="743"/>
                <a:ext cx="244" cy="28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75" name="Line 46">
                <a:extLst>
                  <a:ext uri="{FF2B5EF4-FFF2-40B4-BE49-F238E27FC236}">
                    <a16:creationId xmlns:a16="http://schemas.microsoft.com/office/drawing/2014/main" id="{597AE5F3-8652-083F-AF60-4C0BBA0B81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46" y="743"/>
                <a:ext cx="220" cy="28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76" name="Line 47">
                <a:extLst>
                  <a:ext uri="{FF2B5EF4-FFF2-40B4-BE49-F238E27FC236}">
                    <a16:creationId xmlns:a16="http://schemas.microsoft.com/office/drawing/2014/main" id="{DF7698AC-45F5-F2A5-1F0B-E291E4B46B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81" y="438"/>
                <a:ext cx="0" cy="1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077" name="Rectangle 48">
                <a:extLst>
                  <a:ext uri="{FF2B5EF4-FFF2-40B4-BE49-F238E27FC236}">
                    <a16:creationId xmlns:a16="http://schemas.microsoft.com/office/drawing/2014/main" id="{12730801-48C0-E81D-7072-7AE43A05C7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9" y="1054"/>
                <a:ext cx="218" cy="180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no</a:t>
                </a:r>
              </a:p>
            </p:txBody>
          </p:sp>
          <p:sp>
            <p:nvSpPr>
              <p:cNvPr id="45078" name="Rectangle 49">
                <a:extLst>
                  <a:ext uri="{FF2B5EF4-FFF2-40B4-BE49-F238E27FC236}">
                    <a16:creationId xmlns:a16="http://schemas.microsoft.com/office/drawing/2014/main" id="{FA8BA5E5-345C-9339-505B-FB4A0C950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5" y="1054"/>
                <a:ext cx="254" cy="18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yes</a:t>
                </a:r>
              </a:p>
            </p:txBody>
          </p:sp>
          <p:sp>
            <p:nvSpPr>
              <p:cNvPr id="45079" name="Rectangle 50">
                <a:extLst>
                  <a:ext uri="{FF2B5EF4-FFF2-40B4-BE49-F238E27FC236}">
                    <a16:creationId xmlns:a16="http://schemas.microsoft.com/office/drawing/2014/main" id="{EC92FC79-3B70-7633-3EA8-4B02296D3C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5" y="1030"/>
                <a:ext cx="254" cy="18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yes</a:t>
                </a:r>
              </a:p>
            </p:txBody>
          </p:sp>
          <p:sp>
            <p:nvSpPr>
              <p:cNvPr id="45080" name="Rectangle 51">
                <a:extLst>
                  <a:ext uri="{FF2B5EF4-FFF2-40B4-BE49-F238E27FC236}">
                    <a16:creationId xmlns:a16="http://schemas.microsoft.com/office/drawing/2014/main" id="{336BB6E8-9F13-DB91-7DA4-4C4E9EEA5F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4" y="595"/>
                <a:ext cx="254" cy="18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yes</a:t>
                </a:r>
              </a:p>
            </p:txBody>
          </p:sp>
          <p:sp>
            <p:nvSpPr>
              <p:cNvPr id="45081" name="Rectangle 52">
                <a:extLst>
                  <a:ext uri="{FF2B5EF4-FFF2-40B4-BE49-F238E27FC236}">
                    <a16:creationId xmlns:a16="http://schemas.microsoft.com/office/drawing/2014/main" id="{F0DE0487-C6A5-016C-35E6-69569755E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5" y="335"/>
                <a:ext cx="341" cy="96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200" b="1">
                    <a:latin typeface="Times New Roman" panose="02020603050405020304" pitchFamily="18" charset="0"/>
                  </a:rPr>
                  <a:t>31..40</a:t>
                </a:r>
                <a:endParaRPr lang="en-US" altLang="en-US" sz="1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82" name="Rectangle 53">
                <a:extLst>
                  <a:ext uri="{FF2B5EF4-FFF2-40B4-BE49-F238E27FC236}">
                    <a16:creationId xmlns:a16="http://schemas.microsoft.com/office/drawing/2014/main" id="{F97CCB08-58E0-502F-F07C-467020A87D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1456844">
                <a:off x="4728" y="1036"/>
                <a:ext cx="218" cy="180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no</a:t>
                </a:r>
              </a:p>
            </p:txBody>
          </p:sp>
          <p:sp>
            <p:nvSpPr>
              <p:cNvPr id="45083" name="Rectangle 54">
                <a:extLst>
                  <a:ext uri="{FF2B5EF4-FFF2-40B4-BE49-F238E27FC236}">
                    <a16:creationId xmlns:a16="http://schemas.microsoft.com/office/drawing/2014/main" id="{69967977-68AD-E8EC-368B-F1E544CA4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815"/>
                <a:ext cx="239" cy="16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200">
                    <a:latin typeface="Times New Roman" panose="02020603050405020304" pitchFamily="18" charset="0"/>
                  </a:rPr>
                  <a:t>fair</a:t>
                </a:r>
              </a:p>
            </p:txBody>
          </p:sp>
          <p:sp>
            <p:nvSpPr>
              <p:cNvPr id="45084" name="Rectangle 55">
                <a:extLst>
                  <a:ext uri="{FF2B5EF4-FFF2-40B4-BE49-F238E27FC236}">
                    <a16:creationId xmlns:a16="http://schemas.microsoft.com/office/drawing/2014/main" id="{0B29A31B-12E7-4A2A-65E8-B450C1FA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2" y="815"/>
                <a:ext cx="445" cy="16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200">
                    <a:latin typeface="Times New Roman" panose="02020603050405020304" pitchFamily="18" charset="0"/>
                  </a:rPr>
                  <a:t>excellent</a:t>
                </a:r>
              </a:p>
            </p:txBody>
          </p:sp>
          <p:sp>
            <p:nvSpPr>
              <p:cNvPr id="45085" name="Rectangle 56">
                <a:extLst>
                  <a:ext uri="{FF2B5EF4-FFF2-40B4-BE49-F238E27FC236}">
                    <a16:creationId xmlns:a16="http://schemas.microsoft.com/office/drawing/2014/main" id="{8EA9B460-323C-CF73-56D7-5D1565A643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5" y="839"/>
                <a:ext cx="233" cy="16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200">
                    <a:latin typeface="Times New Roman" panose="02020603050405020304" pitchFamily="18" charset="0"/>
                  </a:rPr>
                  <a:t>yes</a:t>
                </a:r>
              </a:p>
            </p:txBody>
          </p:sp>
          <p:sp>
            <p:nvSpPr>
              <p:cNvPr id="45086" name="Rectangle 57">
                <a:extLst>
                  <a:ext uri="{FF2B5EF4-FFF2-40B4-BE49-F238E27FC236}">
                    <a16:creationId xmlns:a16="http://schemas.microsoft.com/office/drawing/2014/main" id="{534C78A3-C027-4866-B779-ABDE926E5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839"/>
                <a:ext cx="218" cy="16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/>
                <a:r>
                  <a:rPr lang="en-US" altLang="en-US" sz="1200">
                    <a:latin typeface="Times New Roman" panose="02020603050405020304" pitchFamily="18" charset="0"/>
                  </a:rPr>
                  <a:t>no</a:t>
                </a:r>
              </a:p>
            </p:txBody>
          </p:sp>
        </p:grpSp>
      </p:grpSp>
      <p:sp>
        <p:nvSpPr>
          <p:cNvPr id="45060" name="Rectangle 3">
            <a:extLst>
              <a:ext uri="{FF2B5EF4-FFF2-40B4-BE49-F238E27FC236}">
                <a16:creationId xmlns:a16="http://schemas.microsoft.com/office/drawing/2014/main" id="{B3BDA1E9-BD7C-FB07-318F-A9EAB73D95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4343400"/>
            <a:ext cx="8763000" cy="23622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/>
              <a:t>Example: Rule extraction from our </a:t>
            </a:r>
            <a:r>
              <a:rPr lang="en-US" altLang="en-US" sz="2400" i="1"/>
              <a:t>buys_computer</a:t>
            </a:r>
            <a:r>
              <a:rPr lang="en-US" altLang="en-US" sz="2400"/>
              <a:t> decision-tree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en-US" altLang="en-US" sz="2000"/>
              <a:t>IF </a:t>
            </a:r>
            <a:r>
              <a:rPr lang="en-US" altLang="en-US" sz="2000" i="1"/>
              <a:t>age</a:t>
            </a:r>
            <a:r>
              <a:rPr lang="en-US" altLang="en-US" sz="2000"/>
              <a:t> = young AND </a:t>
            </a:r>
            <a:r>
              <a:rPr lang="en-US" altLang="en-US" sz="2000" i="1"/>
              <a:t>student</a:t>
            </a:r>
            <a:r>
              <a:rPr lang="en-US" altLang="en-US" sz="2000"/>
              <a:t> = </a:t>
            </a:r>
            <a:r>
              <a:rPr lang="en-US" altLang="en-US" sz="2000" i="1"/>
              <a:t>no</a:t>
            </a:r>
            <a:r>
              <a:rPr lang="en-US" altLang="en-US" sz="2000"/>
              <a:t>                 THEN </a:t>
            </a:r>
            <a:r>
              <a:rPr lang="en-US" altLang="en-US" sz="2000" i="1"/>
              <a:t>buys_computer</a:t>
            </a:r>
            <a:r>
              <a:rPr lang="en-US" altLang="en-US" sz="2000"/>
              <a:t> = </a:t>
            </a:r>
            <a:r>
              <a:rPr lang="en-US" altLang="en-US" sz="2000" i="1"/>
              <a:t>no</a:t>
            </a: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000"/>
              <a:t>IF </a:t>
            </a:r>
            <a:r>
              <a:rPr lang="en-US" altLang="en-US" sz="2000" i="1"/>
              <a:t>age</a:t>
            </a:r>
            <a:r>
              <a:rPr lang="en-US" altLang="en-US" sz="2000"/>
              <a:t> = young AND </a:t>
            </a:r>
            <a:r>
              <a:rPr lang="en-US" altLang="en-US" sz="2000" i="1"/>
              <a:t>student</a:t>
            </a:r>
            <a:r>
              <a:rPr lang="en-US" altLang="en-US" sz="2000"/>
              <a:t> = </a:t>
            </a:r>
            <a:r>
              <a:rPr lang="en-US" altLang="en-US" sz="2000" i="1"/>
              <a:t>yes</a:t>
            </a:r>
            <a:r>
              <a:rPr lang="en-US" altLang="en-US" sz="2000"/>
              <a:t>                THEN </a:t>
            </a:r>
            <a:r>
              <a:rPr lang="en-US" altLang="en-US" sz="2000" i="1"/>
              <a:t>buys_computer</a:t>
            </a:r>
            <a:r>
              <a:rPr lang="en-US" altLang="en-US" sz="2000"/>
              <a:t> = </a:t>
            </a:r>
            <a:r>
              <a:rPr lang="en-US" altLang="en-US" sz="2000" i="1"/>
              <a:t>yes</a:t>
            </a: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000"/>
              <a:t>IF </a:t>
            </a:r>
            <a:r>
              <a:rPr lang="en-US" altLang="en-US" sz="2000" i="1"/>
              <a:t>age</a:t>
            </a:r>
            <a:r>
              <a:rPr lang="en-US" altLang="en-US" sz="2000"/>
              <a:t> = mid-age 			    THEN </a:t>
            </a:r>
            <a:r>
              <a:rPr lang="en-US" altLang="en-US" sz="2000" i="1"/>
              <a:t>buys_computer</a:t>
            </a:r>
            <a:r>
              <a:rPr lang="en-US" altLang="en-US" sz="2000"/>
              <a:t> = </a:t>
            </a:r>
            <a:r>
              <a:rPr lang="en-US" altLang="en-US" sz="2000" i="1"/>
              <a:t>yes</a:t>
            </a: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000"/>
              <a:t>IF </a:t>
            </a:r>
            <a:r>
              <a:rPr lang="en-US" altLang="en-US" sz="2000" i="1"/>
              <a:t>age</a:t>
            </a:r>
            <a:r>
              <a:rPr lang="en-US" altLang="en-US" sz="2000"/>
              <a:t> = old AND </a:t>
            </a:r>
            <a:r>
              <a:rPr lang="en-US" altLang="en-US" sz="2000" i="1"/>
              <a:t>credit_rating</a:t>
            </a:r>
            <a:r>
              <a:rPr lang="en-US" altLang="en-US" sz="2000"/>
              <a:t> = </a:t>
            </a:r>
            <a:r>
              <a:rPr lang="en-US" altLang="en-US" sz="2000" i="1"/>
              <a:t>excellent</a:t>
            </a:r>
            <a:r>
              <a:rPr lang="en-US" altLang="en-US" sz="2000"/>
              <a:t>  THEN </a:t>
            </a:r>
            <a:r>
              <a:rPr lang="en-US" altLang="en-US" sz="2000" i="1"/>
              <a:t>buys_computer </a:t>
            </a:r>
            <a:r>
              <a:rPr lang="en-US" altLang="en-US" sz="2000"/>
              <a:t>= </a:t>
            </a:r>
            <a:r>
              <a:rPr lang="en-US" altLang="en-US" sz="2000" i="1"/>
              <a:t>no</a:t>
            </a:r>
            <a:endParaRPr lang="en-US" altLang="en-US" sz="2000"/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000"/>
              <a:t>IF </a:t>
            </a:r>
            <a:r>
              <a:rPr lang="en-US" altLang="en-US" sz="2000" i="1"/>
              <a:t>age</a:t>
            </a:r>
            <a:r>
              <a:rPr lang="en-US" altLang="en-US" sz="2000"/>
              <a:t> = old AND </a:t>
            </a:r>
            <a:r>
              <a:rPr lang="en-US" altLang="en-US" sz="2000" i="1"/>
              <a:t>credit_rating</a:t>
            </a:r>
            <a:r>
              <a:rPr lang="en-US" altLang="en-US" sz="2000"/>
              <a:t> = </a:t>
            </a:r>
            <a:r>
              <a:rPr lang="en-US" altLang="en-US" sz="2000" i="1"/>
              <a:t>fair</a:t>
            </a:r>
            <a:r>
              <a:rPr lang="en-US" altLang="en-US" sz="2000"/>
              <a:t>            THEN </a:t>
            </a:r>
            <a:r>
              <a:rPr lang="en-US" altLang="en-US" sz="2000" i="1"/>
              <a:t>buys_computer</a:t>
            </a:r>
            <a:r>
              <a:rPr lang="en-US" altLang="en-US" sz="2000"/>
              <a:t> = </a:t>
            </a:r>
            <a:r>
              <a:rPr lang="en-US" altLang="en-US" sz="2000" i="1"/>
              <a:t>yes</a:t>
            </a: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81C68C91-488B-3BF0-D956-0EA946F786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30375" y="228600"/>
            <a:ext cx="8783638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Rule Extraction from a Decision Tree</a:t>
            </a:r>
          </a:p>
        </p:txBody>
      </p:sp>
      <p:sp>
        <p:nvSpPr>
          <p:cNvPr id="45062" name="Rectangle 60">
            <a:extLst>
              <a:ext uri="{FF2B5EF4-FFF2-40B4-BE49-F238E27FC236}">
                <a16:creationId xmlns:a16="http://schemas.microsoft.com/office/drawing/2014/main" id="{CEB65707-9C88-D7EF-5DAB-9A61FCEE6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066800"/>
            <a:ext cx="62484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Rules are </a:t>
            </a:r>
            <a:r>
              <a:rPr lang="en-US" altLang="en-US" sz="2400" i="1">
                <a:latin typeface="Calibri" panose="020F0502020204030204" pitchFamily="34" charset="0"/>
              </a:rPr>
              <a:t>easier to understand</a:t>
            </a:r>
            <a:r>
              <a:rPr lang="en-US" altLang="en-US" sz="2400">
                <a:latin typeface="Calibri" panose="020F0502020204030204" pitchFamily="34" charset="0"/>
              </a:rPr>
              <a:t> than large trees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One rule is created </a:t>
            </a:r>
            <a:r>
              <a:rPr lang="en-US" altLang="en-US" sz="2400" i="1">
                <a:latin typeface="Calibri" panose="020F0502020204030204" pitchFamily="34" charset="0"/>
              </a:rPr>
              <a:t>for each path</a:t>
            </a:r>
            <a:r>
              <a:rPr lang="en-US" altLang="en-US" sz="2400">
                <a:latin typeface="Calibri" panose="020F0502020204030204" pitchFamily="34" charset="0"/>
              </a:rPr>
              <a:t> from the root to a leaf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Each attribute-value pair along a path forms a conjunction: the leaf holds the class prediction 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Rules are mutually exclusive and exhaustive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>
            <a:extLst>
              <a:ext uri="{FF2B5EF4-FFF2-40B4-BE49-F238E27FC236}">
                <a16:creationId xmlns:a16="http://schemas.microsoft.com/office/drawing/2014/main" id="{D7A44F78-89B4-EC08-8773-AF94C520FD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3900F5E-A7DF-6B49-BE7A-F079376C8E01}" type="slidenum">
              <a:rPr lang="en-US" altLang="en-US"/>
              <a:pPr eaLnBrk="1" hangingPunct="1"/>
              <a:t>39</a:t>
            </a:fld>
            <a:endParaRPr lang="en-US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E7895F33-6165-12AE-8A63-99053C2AB4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94488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Rule Induction: Sequential Covering Method</a:t>
            </a:r>
            <a:r>
              <a:rPr lang="en-US" altLang="en-US" sz="3200"/>
              <a:t> 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E3F3C858-750B-10A5-E78C-8EE67C7F9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1371600"/>
            <a:ext cx="8991600" cy="5257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Sequential covering algorithm: Extracts rules directly from training 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Typical sequential covering algorithms: FOIL, AQ, CN2, RIPPER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Rules are learned </a:t>
            </a:r>
            <a:r>
              <a:rPr lang="en-US" altLang="en-US" sz="2400" i="1"/>
              <a:t>sequentially</a:t>
            </a:r>
            <a:r>
              <a:rPr lang="en-US" altLang="en-US" sz="2400"/>
              <a:t>, each for a given class C</a:t>
            </a:r>
            <a:r>
              <a:rPr lang="en-US" altLang="en-US" sz="2400" baseline="-25000"/>
              <a:t>i </a:t>
            </a:r>
            <a:r>
              <a:rPr lang="en-US" altLang="en-US" sz="2400"/>
              <a:t>will cover many tuples of C</a:t>
            </a:r>
            <a:r>
              <a:rPr lang="en-US" altLang="en-US" sz="2400" baseline="-25000"/>
              <a:t>i </a:t>
            </a:r>
            <a:r>
              <a:rPr lang="en-US" altLang="en-US" sz="2400"/>
              <a:t>but none (or few) of the tuples of other classes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Steps: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Rules are learned one at a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Each time a rule is learned, the tuples covered by the rules are removed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Repeat the process on the remaining tuples until </a:t>
            </a:r>
            <a:r>
              <a:rPr lang="en-US" altLang="en-US" i="1"/>
              <a:t>termination condition</a:t>
            </a:r>
            <a:r>
              <a:rPr lang="en-US" altLang="en-US"/>
              <a:t>, e.g., when no more training examples or when the quality of a rule returned is below a user-specified threshold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Comp. w. decision-tree induction: learning a set of rules </a:t>
            </a:r>
            <a:r>
              <a:rPr lang="en-US" altLang="en-US" sz="2400" i="1"/>
              <a:t>simultaneously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>
            <a:extLst>
              <a:ext uri="{FF2B5EF4-FFF2-40B4-BE49-F238E27FC236}">
                <a16:creationId xmlns:a16="http://schemas.microsoft.com/office/drawing/2014/main" id="{F69F4C30-0697-8850-5D76-1739FB436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FEF867A-F148-8A49-88D9-03A3205FB290}" type="slidenum">
              <a:rPr lang="en-US" altLang="en-US"/>
              <a:pPr eaLnBrk="1" hangingPunct="1"/>
              <a:t>40</a:t>
            </a:fld>
            <a:endParaRPr lang="en-US" altLang="en-US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DFD05C3F-920E-8F12-F7AF-56F1335479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Sequential Covering Algorithm	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88516E2D-3F77-84DD-1070-21F9464C83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0"/>
            <a:ext cx="8229600" cy="1447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en-US" sz="160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600"/>
              <a:t>	</a:t>
            </a:r>
            <a:r>
              <a:rPr lang="en-US" altLang="en-US" sz="2400" b="1">
                <a:solidFill>
                  <a:srgbClr val="000066"/>
                </a:solidFill>
              </a:rPr>
              <a:t>while </a:t>
            </a:r>
            <a:r>
              <a:rPr lang="en-US" altLang="en-US" sz="2400">
                <a:solidFill>
                  <a:srgbClr val="000066"/>
                </a:solidFill>
              </a:rPr>
              <a:t>(enough target tuples left)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000066"/>
                </a:solidFill>
              </a:rPr>
              <a:t>	generate a rule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000066"/>
                </a:solidFill>
              </a:rPr>
              <a:t>	remove positive target tuples satisfying this rule</a:t>
            </a:r>
            <a:endParaRPr lang="en-US" altLang="en-US"/>
          </a:p>
        </p:txBody>
      </p:sp>
      <p:sp>
        <p:nvSpPr>
          <p:cNvPr id="47109" name="Oval 4">
            <a:extLst>
              <a:ext uri="{FF2B5EF4-FFF2-40B4-BE49-F238E27FC236}">
                <a16:creationId xmlns:a16="http://schemas.microsoft.com/office/drawing/2014/main" id="{88F5A9BE-2D56-BFC2-AF0E-9AFB4220E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276600"/>
            <a:ext cx="5486400" cy="2895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85541" name="Oval 5">
            <a:extLst>
              <a:ext uri="{FF2B5EF4-FFF2-40B4-BE49-F238E27FC236}">
                <a16:creationId xmlns:a16="http://schemas.microsoft.com/office/drawing/2014/main" id="{2DAF1442-C3F9-13B6-124D-A994B6D3F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114800"/>
            <a:ext cx="2590800" cy="1828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Arial" panose="020B0604020202020204" pitchFamily="34" charset="0"/>
              </a:rPr>
              <a:t>Examples covered</a:t>
            </a:r>
          </a:p>
          <a:p>
            <a:pPr algn="ctr"/>
            <a:r>
              <a:rPr lang="en-US" altLang="en-US">
                <a:latin typeface="Arial" panose="020B0604020202020204" pitchFamily="34" charset="0"/>
              </a:rPr>
              <a:t>by Rule 3</a:t>
            </a:r>
          </a:p>
        </p:txBody>
      </p:sp>
      <p:sp>
        <p:nvSpPr>
          <p:cNvPr id="1985542" name="Oval 6">
            <a:extLst>
              <a:ext uri="{FF2B5EF4-FFF2-40B4-BE49-F238E27FC236}">
                <a16:creationId xmlns:a16="http://schemas.microsoft.com/office/drawing/2014/main" id="{47EA35CA-65CE-89DE-6669-146C14BEF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352800"/>
            <a:ext cx="2667000" cy="1905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Arial" panose="020B0604020202020204" pitchFamily="34" charset="0"/>
              </a:rPr>
              <a:t>Examples covered</a:t>
            </a:r>
          </a:p>
          <a:p>
            <a:pPr algn="ctr"/>
            <a:r>
              <a:rPr lang="en-US" altLang="en-US">
                <a:latin typeface="Arial" panose="020B0604020202020204" pitchFamily="34" charset="0"/>
              </a:rPr>
              <a:t>by Rule 2</a:t>
            </a:r>
          </a:p>
        </p:txBody>
      </p:sp>
      <p:sp>
        <p:nvSpPr>
          <p:cNvPr id="1985543" name="Oval 7">
            <a:extLst>
              <a:ext uri="{FF2B5EF4-FFF2-40B4-BE49-F238E27FC236}">
                <a16:creationId xmlns:a16="http://schemas.microsoft.com/office/drawing/2014/main" id="{79A5AA3C-46C7-B393-5D73-BB0233A08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886200"/>
            <a:ext cx="1981200" cy="1600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Arial" panose="020B0604020202020204" pitchFamily="34" charset="0"/>
              </a:rPr>
              <a:t>Examples covered</a:t>
            </a:r>
          </a:p>
          <a:p>
            <a:pPr algn="ctr"/>
            <a:r>
              <a:rPr lang="en-US" altLang="en-US">
                <a:latin typeface="Arial" panose="020B0604020202020204" pitchFamily="34" charset="0"/>
              </a:rPr>
              <a:t>by Rule 1</a:t>
            </a:r>
          </a:p>
        </p:txBody>
      </p:sp>
      <p:sp>
        <p:nvSpPr>
          <p:cNvPr id="47113" name="Text Box 8">
            <a:extLst>
              <a:ext uri="{FF2B5EF4-FFF2-40B4-BE49-F238E27FC236}">
                <a16:creationId xmlns:a16="http://schemas.microsoft.com/office/drawing/2014/main" id="{48AD51E0-C295-7972-0DA6-318025940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486400"/>
            <a:ext cx="152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000066"/>
                </a:solidFill>
                <a:latin typeface="Arial" panose="020B0604020202020204" pitchFamily="34" charset="0"/>
              </a:rPr>
              <a:t>Positive examples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98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8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98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5541" grpId="0" animBg="1"/>
      <p:bldP spid="1985542" grpId="0" animBg="1"/>
      <p:bldP spid="198554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>
            <a:extLst>
              <a:ext uri="{FF2B5EF4-FFF2-40B4-BE49-F238E27FC236}">
                <a16:creationId xmlns:a16="http://schemas.microsoft.com/office/drawing/2014/main" id="{5CFAB254-5328-0DB8-DE24-B046C5544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E52738F-606D-6449-B5A6-0F39A7C158B6}" type="slidenum">
              <a:rPr lang="en-US" altLang="en-US"/>
              <a:pPr eaLnBrk="1" hangingPunct="1"/>
              <a:t>41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4A2D6B20-C861-A23C-89EB-ADD35459E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Rule Generation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93389B81-B981-9B27-BFBA-B34D333F36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19200"/>
            <a:ext cx="8229600" cy="205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To generate a rule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b="1">
                <a:solidFill>
                  <a:srgbClr val="000066"/>
                </a:solidFill>
              </a:rPr>
              <a:t>while</a:t>
            </a:r>
            <a:r>
              <a:rPr lang="en-US" altLang="en-US">
                <a:solidFill>
                  <a:srgbClr val="000066"/>
                </a:solidFill>
              </a:rPr>
              <a:t>(true)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000066"/>
                </a:solidFill>
              </a:rPr>
              <a:t>	find the best predicate </a:t>
            </a:r>
            <a:r>
              <a:rPr lang="en-US" altLang="en-US" i="1">
                <a:solidFill>
                  <a:srgbClr val="000066"/>
                </a:solidFill>
              </a:rPr>
              <a:t>p</a:t>
            </a:r>
            <a:endParaRPr lang="en-US" altLang="en-US">
              <a:solidFill>
                <a:srgbClr val="000066"/>
              </a:solidFill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000066"/>
                </a:solidFill>
              </a:rPr>
              <a:t>	</a:t>
            </a:r>
            <a:r>
              <a:rPr lang="en-US" altLang="en-US" b="1">
                <a:solidFill>
                  <a:srgbClr val="000066"/>
                </a:solidFill>
              </a:rPr>
              <a:t>if</a:t>
            </a:r>
            <a:r>
              <a:rPr lang="en-US" altLang="en-US">
                <a:solidFill>
                  <a:srgbClr val="000066"/>
                </a:solidFill>
              </a:rPr>
              <a:t> foil-gain(</a:t>
            </a:r>
            <a:r>
              <a:rPr lang="en-US" altLang="en-US" i="1">
                <a:solidFill>
                  <a:srgbClr val="000066"/>
                </a:solidFill>
              </a:rPr>
              <a:t>p</a:t>
            </a:r>
            <a:r>
              <a:rPr lang="en-US" altLang="en-US">
                <a:solidFill>
                  <a:srgbClr val="000066"/>
                </a:solidFill>
              </a:rPr>
              <a:t>) &gt; threshold </a:t>
            </a:r>
            <a:r>
              <a:rPr lang="en-US" altLang="en-US" b="1">
                <a:solidFill>
                  <a:srgbClr val="000066"/>
                </a:solidFill>
              </a:rPr>
              <a:t>then</a:t>
            </a:r>
            <a:r>
              <a:rPr lang="en-US" altLang="en-US">
                <a:solidFill>
                  <a:srgbClr val="000066"/>
                </a:solidFill>
              </a:rPr>
              <a:t> add </a:t>
            </a:r>
            <a:r>
              <a:rPr lang="en-US" altLang="en-US" i="1">
                <a:solidFill>
                  <a:srgbClr val="000066"/>
                </a:solidFill>
              </a:rPr>
              <a:t>p</a:t>
            </a:r>
            <a:r>
              <a:rPr lang="en-US" altLang="en-US">
                <a:solidFill>
                  <a:srgbClr val="000066"/>
                </a:solidFill>
              </a:rPr>
              <a:t> to current rule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000066"/>
                </a:solidFill>
              </a:rPr>
              <a:t>	</a:t>
            </a:r>
            <a:r>
              <a:rPr lang="en-US" altLang="en-US" b="1">
                <a:solidFill>
                  <a:srgbClr val="000066"/>
                </a:solidFill>
              </a:rPr>
              <a:t>else</a:t>
            </a:r>
            <a:r>
              <a:rPr lang="en-US" altLang="en-US">
                <a:solidFill>
                  <a:srgbClr val="000066"/>
                </a:solidFill>
              </a:rPr>
              <a:t> break</a:t>
            </a:r>
            <a:endParaRPr lang="en-US" altLang="en-US"/>
          </a:p>
        </p:txBody>
      </p:sp>
      <p:sp>
        <p:nvSpPr>
          <p:cNvPr id="48133" name="Rectangle 4">
            <a:extLst>
              <a:ext uri="{FF2B5EF4-FFF2-40B4-BE49-F238E27FC236}">
                <a16:creationId xmlns:a16="http://schemas.microsoft.com/office/drawing/2014/main" id="{5FD71621-8144-C106-D761-C5819BB25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276600"/>
            <a:ext cx="2057400" cy="2971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8134" name="Rectangle 5">
            <a:extLst>
              <a:ext uri="{FF2B5EF4-FFF2-40B4-BE49-F238E27FC236}">
                <a16:creationId xmlns:a16="http://schemas.microsoft.com/office/drawing/2014/main" id="{721F3D50-BD14-8F0C-3767-99595535E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276600"/>
            <a:ext cx="3505200" cy="29718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5" name="Text Box 6">
            <a:extLst>
              <a:ext uri="{FF2B5EF4-FFF2-40B4-BE49-F238E27FC236}">
                <a16:creationId xmlns:a16="http://schemas.microsoft.com/office/drawing/2014/main" id="{EA723301-3B57-0DDB-766D-DE238CEF6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562600"/>
            <a:ext cx="1219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00"/>
                </a:solidFill>
                <a:latin typeface="Arial" panose="020B0604020202020204" pitchFamily="34" charset="0"/>
              </a:rPr>
              <a:t>Positive examples</a:t>
            </a:r>
          </a:p>
        </p:txBody>
      </p:sp>
      <p:sp>
        <p:nvSpPr>
          <p:cNvPr id="48136" name="Text Box 7">
            <a:extLst>
              <a:ext uri="{FF2B5EF4-FFF2-40B4-BE49-F238E27FC236}">
                <a16:creationId xmlns:a16="http://schemas.microsoft.com/office/drawing/2014/main" id="{3A0D3AB2-C4BF-BAD5-70EF-E59611E40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562600"/>
            <a:ext cx="1219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00"/>
                </a:solidFill>
                <a:latin typeface="Arial" panose="020B0604020202020204" pitchFamily="34" charset="0"/>
              </a:rPr>
              <a:t>Negative examples</a:t>
            </a:r>
          </a:p>
        </p:txBody>
      </p:sp>
      <p:sp>
        <p:nvSpPr>
          <p:cNvPr id="1987592" name="Oval 8">
            <a:extLst>
              <a:ext uri="{FF2B5EF4-FFF2-40B4-BE49-F238E27FC236}">
                <a16:creationId xmlns:a16="http://schemas.microsoft.com/office/drawing/2014/main" id="{7839B250-A361-254A-43E1-767FC54EC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352800"/>
            <a:ext cx="3352800" cy="2362200"/>
          </a:xfrm>
          <a:prstGeom prst="ellipse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Arial" panose="020B0604020202020204" pitchFamily="34" charset="0"/>
              </a:rPr>
              <a:t>A3</a:t>
            </a:r>
            <a:r>
              <a:rPr lang="en-US" altLang="en-US">
                <a:latin typeface="Arial" panose="020B0604020202020204" pitchFamily="34" charset="0"/>
              </a:rPr>
              <a:t>=1</a:t>
            </a:r>
          </a:p>
        </p:txBody>
      </p:sp>
      <p:sp>
        <p:nvSpPr>
          <p:cNvPr id="1987593" name="Oval 9">
            <a:extLst>
              <a:ext uri="{FF2B5EF4-FFF2-40B4-BE49-F238E27FC236}">
                <a16:creationId xmlns:a16="http://schemas.microsoft.com/office/drawing/2014/main" id="{613AF2AE-7DED-54AE-7125-09BFAEC25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429000"/>
            <a:ext cx="2362200" cy="1905000"/>
          </a:xfrm>
          <a:prstGeom prst="ellipse">
            <a:avLst/>
          </a:prstGeom>
          <a:solidFill>
            <a:srgbClr val="00FFFF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Arial" panose="020B0604020202020204" pitchFamily="34" charset="0"/>
              </a:rPr>
              <a:t>A3</a:t>
            </a:r>
            <a:r>
              <a:rPr lang="en-US" altLang="en-US">
                <a:latin typeface="Arial" panose="020B0604020202020204" pitchFamily="34" charset="0"/>
              </a:rPr>
              <a:t>=1&amp;&amp;</a:t>
            </a:r>
            <a:r>
              <a:rPr lang="en-US" altLang="en-US" i="1">
                <a:latin typeface="Arial" panose="020B0604020202020204" pitchFamily="34" charset="0"/>
              </a:rPr>
              <a:t>A1</a:t>
            </a:r>
            <a:r>
              <a:rPr lang="en-US" altLang="en-US">
                <a:latin typeface="Arial" panose="020B0604020202020204" pitchFamily="34" charset="0"/>
              </a:rPr>
              <a:t>=2</a:t>
            </a:r>
          </a:p>
        </p:txBody>
      </p:sp>
      <p:sp>
        <p:nvSpPr>
          <p:cNvPr id="1987594" name="Oval 10">
            <a:extLst>
              <a:ext uri="{FF2B5EF4-FFF2-40B4-BE49-F238E27FC236}">
                <a16:creationId xmlns:a16="http://schemas.microsoft.com/office/drawing/2014/main" id="{FC874AF2-714D-5982-4E78-E19677645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657600"/>
            <a:ext cx="1752600" cy="1371600"/>
          </a:xfrm>
          <a:prstGeom prst="ellipse">
            <a:avLst/>
          </a:prstGeom>
          <a:solidFill>
            <a:schemeClr val="accent1">
              <a:alpha val="65097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Arial" panose="020B0604020202020204" pitchFamily="34" charset="0"/>
              </a:rPr>
              <a:t>A3</a:t>
            </a:r>
            <a:r>
              <a:rPr lang="en-US" altLang="en-US">
                <a:latin typeface="Arial" panose="020B0604020202020204" pitchFamily="34" charset="0"/>
              </a:rPr>
              <a:t>=1&amp;&amp;</a:t>
            </a:r>
            <a:r>
              <a:rPr lang="en-US" altLang="en-US" i="1">
                <a:latin typeface="Arial" panose="020B0604020202020204" pitchFamily="34" charset="0"/>
              </a:rPr>
              <a:t>A1</a:t>
            </a:r>
            <a:r>
              <a:rPr lang="en-US" altLang="en-US">
                <a:latin typeface="Arial" panose="020B0604020202020204" pitchFamily="34" charset="0"/>
              </a:rPr>
              <a:t>=2</a:t>
            </a:r>
          </a:p>
          <a:p>
            <a:pPr algn="ctr"/>
            <a:r>
              <a:rPr lang="en-US" altLang="en-US" i="1">
                <a:latin typeface="Arial" panose="020B0604020202020204" pitchFamily="34" charset="0"/>
              </a:rPr>
              <a:t>&amp;&amp;A8</a:t>
            </a:r>
            <a:r>
              <a:rPr lang="en-US" altLang="en-US">
                <a:latin typeface="Arial" panose="020B0604020202020204" pitchFamily="34" charset="0"/>
              </a:rPr>
              <a:t>=5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8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8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8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7592" grpId="0" animBg="1"/>
      <p:bldP spid="1987593" grpId="0" animBg="1"/>
      <p:bldP spid="198759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7">
            <a:extLst>
              <a:ext uri="{FF2B5EF4-FFF2-40B4-BE49-F238E27FC236}">
                <a16:creationId xmlns:a16="http://schemas.microsoft.com/office/drawing/2014/main" id="{1359D669-7CA3-8AA5-5FD1-B154DFCC8A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8C8ED96C-2375-264E-AACF-9363AD642CCD}" type="slidenum">
              <a:rPr lang="en-US" altLang="en-US" smtClean="0"/>
              <a:pPr eaLnBrk="1" hangingPunct="1"/>
              <a:t>42</a:t>
            </a:fld>
            <a:endParaRPr lang="en-US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1CD3134A-E5C4-3074-C392-8E8EAA31A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How to Learn-One-Rule?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7AE3C30-48B0-6545-C453-5DD44318706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19200"/>
            <a:ext cx="8686800" cy="5181600"/>
          </a:xfrm>
        </p:spPr>
        <p:txBody>
          <a:bodyPr/>
          <a:lstStyle/>
          <a:p>
            <a:pPr eaLnBrk="1" hangingPunct="1"/>
            <a:r>
              <a:rPr lang="en-US" altLang="en-US" sz="2400"/>
              <a:t>Start with the </a:t>
            </a:r>
            <a:r>
              <a:rPr lang="en-US" altLang="en-US" sz="2400" i="1"/>
              <a:t>most general rule</a:t>
            </a:r>
            <a:r>
              <a:rPr lang="en-US" altLang="en-US" sz="2400"/>
              <a:t> possible: condition = empty</a:t>
            </a:r>
          </a:p>
          <a:p>
            <a:pPr eaLnBrk="1" hangingPunct="1"/>
            <a:r>
              <a:rPr lang="en-US" altLang="en-US" sz="2400" i="1"/>
              <a:t>Adding new attributes</a:t>
            </a:r>
            <a:r>
              <a:rPr lang="en-US" altLang="en-US" sz="2400"/>
              <a:t> by adopting a greedy depth-first strategy</a:t>
            </a:r>
          </a:p>
          <a:p>
            <a:pPr lvl="1" eaLnBrk="1" hangingPunct="1"/>
            <a:r>
              <a:rPr lang="en-US" altLang="en-US"/>
              <a:t>Picks the one that most improves the rule quality</a:t>
            </a:r>
          </a:p>
          <a:p>
            <a:pPr eaLnBrk="1" hangingPunct="1"/>
            <a:r>
              <a:rPr lang="en-US" altLang="en-US" sz="2400"/>
              <a:t>Rule-Quality measures: consider both coverage and accuracy</a:t>
            </a:r>
          </a:p>
          <a:p>
            <a:pPr lvl="1" eaLnBrk="1" hangingPunct="1"/>
            <a:r>
              <a:rPr lang="en-US" altLang="en-US"/>
              <a:t>Foil-gain (in FOIL &amp; RIPPER): assesses info_gain by extending condition</a:t>
            </a:r>
          </a:p>
          <a:p>
            <a:pPr lvl="1" eaLnBrk="1" hangingPunct="1"/>
            <a:endParaRPr lang="en-US" altLang="en-US"/>
          </a:p>
          <a:p>
            <a:pPr lvl="2" eaLnBrk="1" hangingPunct="1"/>
            <a:r>
              <a:rPr lang="en-US" altLang="en-US"/>
              <a:t>favors rules that have high accuracy and cover many positive tuples</a:t>
            </a:r>
          </a:p>
          <a:p>
            <a:pPr eaLnBrk="1" hangingPunct="1"/>
            <a:r>
              <a:rPr lang="en-US" altLang="en-US" sz="2400"/>
              <a:t>Rule pruning based on an independent set of test tuples</a:t>
            </a:r>
            <a:endParaRPr lang="en-US" altLang="en-US" sz="2000"/>
          </a:p>
          <a:p>
            <a:pPr lvl="2" eaLnBrk="1" hangingPunct="1">
              <a:buFont typeface="Wingdings" pitchFamily="2" charset="2"/>
              <a:buNone/>
            </a:pPr>
            <a:endParaRPr lang="en-US" altLang="en-US"/>
          </a:p>
          <a:p>
            <a:pPr lvl="2" eaLnBrk="1" hangingPunct="1">
              <a:buFont typeface="Wingdings" pitchFamily="2" charset="2"/>
              <a:buNone/>
            </a:pPr>
            <a:endParaRPr lang="en-US" altLang="en-US"/>
          </a:p>
          <a:p>
            <a:pPr lvl="2" eaLnBrk="1" hangingPunct="1">
              <a:buFont typeface="Wingdings" pitchFamily="2" charset="2"/>
              <a:buNone/>
            </a:pPr>
            <a:r>
              <a:rPr lang="en-US" altLang="en-US"/>
              <a:t>Pos/neg are # of positive/negative tuples covered by R.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en-US"/>
              <a:t>If </a:t>
            </a:r>
            <a:r>
              <a:rPr lang="en-US" altLang="en-US" i="1"/>
              <a:t>FOIL_Prune</a:t>
            </a:r>
            <a:r>
              <a:rPr lang="en-US" altLang="en-US"/>
              <a:t> is higher for the pruned version of R, prune R</a:t>
            </a:r>
          </a:p>
        </p:txBody>
      </p:sp>
      <p:graphicFrame>
        <p:nvGraphicFramePr>
          <p:cNvPr id="49157" name="Object 4">
            <a:extLst>
              <a:ext uri="{FF2B5EF4-FFF2-40B4-BE49-F238E27FC236}">
                <a16:creationId xmlns:a16="http://schemas.microsoft.com/office/drawing/2014/main" id="{0D450A97-C12B-0ECD-5C5A-727B8C38F69D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4114800" y="3505200"/>
          <a:ext cx="5105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533500" imgH="9652000" progId="Equation.3">
                  <p:embed/>
                </p:oleObj>
              </mc:Choice>
              <mc:Fallback>
                <p:oleObj name="Equation" r:id="rId3" imgW="77533500" imgH="9652000" progId="Equation.3">
                  <p:embed/>
                  <p:pic>
                    <p:nvPicPr>
                      <p:cNvPr id="49157" name="Object 4">
                        <a:extLst>
                          <a:ext uri="{FF2B5EF4-FFF2-40B4-BE49-F238E27FC236}">
                            <a16:creationId xmlns:a16="http://schemas.microsoft.com/office/drawing/2014/main" id="{0D450A97-C12B-0ECD-5C5A-727B8C38F6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505200"/>
                        <a:ext cx="5105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6">
            <a:extLst>
              <a:ext uri="{FF2B5EF4-FFF2-40B4-BE49-F238E27FC236}">
                <a16:creationId xmlns:a16="http://schemas.microsoft.com/office/drawing/2014/main" id="{C908C00E-E5B7-2111-92F2-D124B51A6997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4343401" y="5029200"/>
          <a:ext cx="3160713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599100" imgH="9652000" progId="Equation.3">
                  <p:embed/>
                </p:oleObj>
              </mc:Choice>
              <mc:Fallback>
                <p:oleObj name="Equation" r:id="rId5" imgW="43599100" imgH="9652000" progId="Equation.3">
                  <p:embed/>
                  <p:pic>
                    <p:nvPicPr>
                      <p:cNvPr id="49158" name="Object 6">
                        <a:extLst>
                          <a:ext uri="{FF2B5EF4-FFF2-40B4-BE49-F238E27FC236}">
                            <a16:creationId xmlns:a16="http://schemas.microsoft.com/office/drawing/2014/main" id="{C908C00E-E5B7-2111-92F2-D124B51A69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1" y="5029200"/>
                        <a:ext cx="3160713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6">
            <a:extLst>
              <a:ext uri="{FF2B5EF4-FFF2-40B4-BE49-F238E27FC236}">
                <a16:creationId xmlns:a16="http://schemas.microsoft.com/office/drawing/2014/main" id="{15425C10-4E13-B0DB-7585-D0E0B2725B72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13564AAF-4132-F942-938A-39C8C6A2B96E}" type="slidenum">
              <a:rPr lang="en-US" altLang="en-US" sz="1400" b="1">
                <a:latin typeface="Calibri" panose="020F0502020204030204" pitchFamily="34" charset="0"/>
              </a:rPr>
              <a:pPr algn="r" eaLnBrk="1" hangingPunct="1"/>
              <a:t>43</a:t>
            </a:fld>
            <a:endParaRPr lang="en-US" altLang="en-US" sz="1400" b="1">
              <a:latin typeface="Calibri" panose="020F050202020403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B5F8ACB7-0780-AC27-C10C-6E0E143CAA6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81000"/>
            <a:ext cx="9144000" cy="6096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Chapter 8. Classification: Basic Concepts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1FC0091D-710F-FA92-E099-E9923B1E77B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828800" y="1447800"/>
            <a:ext cx="8382000" cy="5105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en-US" dirty="0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Bayes Classification Methods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Model Evaluation and Selection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Techniques to Improve Classification Accuracy: Ensemble Methods</a:t>
            </a:r>
          </a:p>
        </p:txBody>
      </p:sp>
      <p:sp>
        <p:nvSpPr>
          <p:cNvPr id="50181" name="AutoShape 8">
            <a:extLst>
              <a:ext uri="{FF2B5EF4-FFF2-40B4-BE49-F238E27FC236}">
                <a16:creationId xmlns:a16="http://schemas.microsoft.com/office/drawing/2014/main" id="{F2AAE16C-DE5E-C070-E049-27721646E815}"/>
              </a:ext>
            </a:extLst>
          </p:cNvPr>
          <p:cNvSpPr>
            <a:spLocks noChangeArrowheads="1"/>
          </p:cNvSpPr>
          <p:nvPr/>
        </p:nvSpPr>
        <p:spPr bwMode="auto">
          <a:xfrm rot="9803581">
            <a:off x="7162800" y="39624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0386256-570F-8DCC-E601-3FE9152CD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Model Evaluation and Selection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A1B3B614-658D-B6D6-5CAC-1E135E1ED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en-US" sz="2400"/>
              <a:t>Evaluation metrics: How can we measure accuracy?  Other metrics to consider?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Use </a:t>
            </a:r>
            <a:r>
              <a:rPr lang="en-US" altLang="en-US" sz="2400" b="1"/>
              <a:t>validation test set</a:t>
            </a:r>
            <a:r>
              <a:rPr lang="en-US" altLang="en-US" sz="2400"/>
              <a:t> of class-labeled tuples instead of training set when assessing accuracy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Methods for estimating a classifier’s accuracy: </a:t>
            </a:r>
          </a:p>
          <a:p>
            <a:pPr lvl="1">
              <a:lnSpc>
                <a:spcPct val="110000"/>
              </a:lnSpc>
            </a:pPr>
            <a:r>
              <a:rPr lang="en-US" altLang="en-US"/>
              <a:t>Holdout method, random subsampling</a:t>
            </a:r>
          </a:p>
          <a:p>
            <a:pPr lvl="1">
              <a:lnSpc>
                <a:spcPct val="110000"/>
              </a:lnSpc>
            </a:pPr>
            <a:r>
              <a:rPr lang="en-US" altLang="en-US"/>
              <a:t>Cross-validation</a:t>
            </a:r>
          </a:p>
          <a:p>
            <a:pPr lvl="1">
              <a:lnSpc>
                <a:spcPct val="110000"/>
              </a:lnSpc>
            </a:pPr>
            <a:r>
              <a:rPr lang="en-US" altLang="en-US"/>
              <a:t>Bootstrap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Comparing classifiers:</a:t>
            </a:r>
          </a:p>
          <a:p>
            <a:pPr lvl="1">
              <a:lnSpc>
                <a:spcPct val="110000"/>
              </a:lnSpc>
            </a:pPr>
            <a:r>
              <a:rPr lang="en-US" altLang="en-US"/>
              <a:t>Confidence intervals</a:t>
            </a:r>
          </a:p>
          <a:p>
            <a:pPr lvl="1">
              <a:lnSpc>
                <a:spcPct val="110000"/>
              </a:lnSpc>
            </a:pPr>
            <a:r>
              <a:rPr lang="en-US" altLang="en-US"/>
              <a:t>Cost-benefit analysis and ROC Curves</a:t>
            </a:r>
          </a:p>
        </p:txBody>
      </p:sp>
      <p:sp>
        <p:nvSpPr>
          <p:cNvPr id="51204" name="Slide Number Placeholder 7">
            <a:extLst>
              <a:ext uri="{FF2B5EF4-FFF2-40B4-BE49-F238E27FC236}">
                <a16:creationId xmlns:a16="http://schemas.microsoft.com/office/drawing/2014/main" id="{06CAAD51-D362-65F6-FA79-EAF66CFEAAC3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B4C438D3-971D-0E47-9E64-C4A463A9F72E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44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7C6B007-A96A-3DAA-9844-D5B7E68C1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Classifier Evaluation Metrics: Confusion Matrix</a:t>
            </a:r>
          </a:p>
        </p:txBody>
      </p:sp>
      <p:graphicFrame>
        <p:nvGraphicFramePr>
          <p:cNvPr id="61519" name="Group 79">
            <a:extLst>
              <a:ext uri="{FF2B5EF4-FFF2-40B4-BE49-F238E27FC236}">
                <a16:creationId xmlns:a16="http://schemas.microsoft.com/office/drawing/2014/main" id="{0036E0E7-07BF-76CF-5371-DD448FBB5B9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2590800" y="3352801"/>
          <a:ext cx="7010400" cy="1935163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1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 yes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no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yes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6954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7000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no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412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2588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7366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2634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254" name="Rectangle 63">
            <a:extLst>
              <a:ext uri="{FF2B5EF4-FFF2-40B4-BE49-F238E27FC236}">
                <a16:creationId xmlns:a16="http://schemas.microsoft.com/office/drawing/2014/main" id="{50F91A0B-7CC9-9893-C07E-FC19A6AE97F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1828800" y="5372100"/>
            <a:ext cx="8458200" cy="125730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en-US" sz="2400"/>
              <a:t>Given</a:t>
            </a:r>
            <a:r>
              <a:rPr lang="en-US" altLang="en-US" sz="2400" i="1"/>
              <a:t> m</a:t>
            </a:r>
            <a:r>
              <a:rPr lang="en-US" altLang="en-US" sz="2400"/>
              <a:t> classes, an entry, </a:t>
            </a:r>
            <a:r>
              <a:rPr lang="en-US" altLang="en-US" sz="2400" b="1" i="1"/>
              <a:t>CM</a:t>
            </a:r>
            <a:r>
              <a:rPr lang="en-US" altLang="en-US" sz="2400" b="1" i="1" baseline="-25000"/>
              <a:t>i,j</a:t>
            </a:r>
            <a:r>
              <a:rPr lang="en-US" altLang="en-US" sz="2400" b="1" baseline="-25000"/>
              <a:t> </a:t>
            </a:r>
            <a:r>
              <a:rPr lang="en-US" altLang="en-US" sz="2400"/>
              <a:t> in a </a:t>
            </a:r>
            <a:r>
              <a:rPr lang="en-US" altLang="en-US" sz="2400" b="1"/>
              <a:t>confusion matrix</a:t>
            </a:r>
            <a:r>
              <a:rPr lang="en-US" altLang="en-US" sz="2400"/>
              <a:t> indicates # of tuples in class </a:t>
            </a:r>
            <a:r>
              <a:rPr lang="en-US" altLang="en-US" sz="2400" i="1"/>
              <a:t>i</a:t>
            </a:r>
            <a:r>
              <a:rPr lang="en-US" altLang="en-US" sz="2400"/>
              <a:t>  that were labeled by the classifier as class </a:t>
            </a:r>
            <a:r>
              <a:rPr lang="en-US" altLang="en-US" sz="2400" i="1"/>
              <a:t>j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May have extra rows/columns to provide totals</a:t>
            </a:r>
          </a:p>
        </p:txBody>
      </p:sp>
      <p:sp>
        <p:nvSpPr>
          <p:cNvPr id="52255" name="Text Box 66">
            <a:extLst>
              <a:ext uri="{FF2B5EF4-FFF2-40B4-BE49-F238E27FC236}">
                <a16:creationId xmlns:a16="http://schemas.microsoft.com/office/drawing/2014/main" id="{93069620-3B8D-1DB6-AFC3-DFE9AFBAF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219200"/>
            <a:ext cx="2608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Calibri" panose="020F0502020204030204" pitchFamily="34" charset="0"/>
              </a:rPr>
              <a:t>Confusion Matrix:</a:t>
            </a:r>
          </a:p>
        </p:txBody>
      </p:sp>
      <p:graphicFrame>
        <p:nvGraphicFramePr>
          <p:cNvPr id="61517" name="Group 77">
            <a:extLst>
              <a:ext uri="{FF2B5EF4-FFF2-40B4-BE49-F238E27FC236}">
                <a16:creationId xmlns:a16="http://schemas.microsoft.com/office/drawing/2014/main" id="{5B06F118-24FD-8C40-3BB0-204FADD8838E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1676400"/>
          <a:ext cx="7924800" cy="1235076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1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7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 C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Positives (TP)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Negatives (FN)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 C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Positives (FP)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Negatives (TN)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274" name="Rectangle 78">
            <a:extLst>
              <a:ext uri="{FF2B5EF4-FFF2-40B4-BE49-F238E27FC236}">
                <a16:creationId xmlns:a16="http://schemas.microsoft.com/office/drawing/2014/main" id="{B4E9CCF7-D332-8485-B32B-0C5A76BCD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2971801"/>
            <a:ext cx="3565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b="1"/>
              <a:t>Example of Confusion Matrix:</a:t>
            </a:r>
          </a:p>
        </p:txBody>
      </p:sp>
      <p:sp>
        <p:nvSpPr>
          <p:cNvPr id="52275" name="Slide Number Placeholder 7">
            <a:extLst>
              <a:ext uri="{FF2B5EF4-FFF2-40B4-BE49-F238E27FC236}">
                <a16:creationId xmlns:a16="http://schemas.microsoft.com/office/drawing/2014/main" id="{1E389576-1C2F-8D45-E4D0-2345866C175D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CDE29012-1AE6-764E-8821-B69A68EFCE44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45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98E6B28D-E1E2-0B5D-4AD8-5B5923DB7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8402638" cy="11430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Classifier Evaluation Metrics: Accuracy, Error Rate, Sensitivity and Specificity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29DF9C36-0A9E-505D-9CF3-63548241D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3048000"/>
            <a:ext cx="4724400" cy="3505200"/>
          </a:xfrm>
        </p:spPr>
        <p:txBody>
          <a:bodyPr/>
          <a:lstStyle/>
          <a:p>
            <a:r>
              <a:rPr lang="en-US" altLang="en-US" sz="2400" b="1"/>
              <a:t>Classifier Accuracy, </a:t>
            </a:r>
            <a:r>
              <a:rPr lang="en-US" altLang="en-US" sz="2400"/>
              <a:t>or recognition rate: percentage of test set tuples that are correctly classified</a:t>
            </a:r>
          </a:p>
          <a:p>
            <a:pPr lvl="1">
              <a:buFont typeface="Wingdings" pitchFamily="2" charset="2"/>
              <a:buNone/>
            </a:pPr>
            <a:r>
              <a:rPr lang="en-US" altLang="en-US" b="1"/>
              <a:t>Accuracy = (TP + TN)/All</a:t>
            </a:r>
            <a:endParaRPr lang="en-US" altLang="en-US"/>
          </a:p>
          <a:p>
            <a:r>
              <a:rPr lang="en-US" altLang="en-US" sz="2400" b="1"/>
              <a:t>Error rate:</a:t>
            </a:r>
            <a:r>
              <a:rPr lang="en-US" altLang="en-US" sz="2400"/>
              <a:t> </a:t>
            </a:r>
            <a:r>
              <a:rPr lang="en-US" altLang="en-US" sz="2400" i="1"/>
              <a:t>1 –</a:t>
            </a:r>
            <a:r>
              <a:rPr lang="en-US" altLang="en-US" sz="2400"/>
              <a:t> </a:t>
            </a:r>
            <a:r>
              <a:rPr lang="en-US" altLang="en-US" sz="2400" i="1"/>
              <a:t>accuracy</a:t>
            </a:r>
            <a:r>
              <a:rPr lang="en-US" altLang="en-US" sz="2400"/>
              <a:t>, or</a:t>
            </a:r>
          </a:p>
          <a:p>
            <a:pPr lvl="1">
              <a:buFont typeface="Wingdings" pitchFamily="2" charset="2"/>
              <a:buNone/>
            </a:pPr>
            <a:r>
              <a:rPr lang="en-US" altLang="en-US" b="1"/>
              <a:t>Error rate = (FP + FN)/All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01CEBC12-48D0-ABCC-DBC7-D19409DFD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371600"/>
            <a:ext cx="4724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400" b="1">
                <a:latin typeface="Calibri" panose="020F0502020204030204" pitchFamily="34" charset="0"/>
              </a:rPr>
              <a:t>Class Imbalance Problem</a:t>
            </a:r>
            <a:r>
              <a:rPr lang="en-US" altLang="en-US" sz="2400">
                <a:latin typeface="Calibri" panose="020F0502020204030204" pitchFamily="34" charset="0"/>
              </a:rPr>
              <a:t>: 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One class may be </a:t>
            </a:r>
            <a:r>
              <a:rPr lang="en-US" altLang="en-US" sz="2400" i="1">
                <a:latin typeface="Calibri" panose="020F0502020204030204" pitchFamily="34" charset="0"/>
              </a:rPr>
              <a:t>rare</a:t>
            </a:r>
            <a:r>
              <a:rPr lang="en-US" altLang="en-US" sz="2400">
                <a:latin typeface="Calibri" panose="020F0502020204030204" pitchFamily="34" charset="0"/>
              </a:rPr>
              <a:t>, e.g. fraud, or HIV-positive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Significant </a:t>
            </a:r>
            <a:r>
              <a:rPr lang="en-US" altLang="en-US" sz="2400" i="1">
                <a:latin typeface="Calibri" panose="020F0502020204030204" pitchFamily="34" charset="0"/>
              </a:rPr>
              <a:t>majority of the negative class</a:t>
            </a:r>
            <a:r>
              <a:rPr lang="en-US" altLang="en-US" sz="2400">
                <a:latin typeface="Calibri" panose="020F0502020204030204" pitchFamily="34" charset="0"/>
              </a:rPr>
              <a:t> and minority of the positive class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2400" b="1">
                <a:latin typeface="Calibri" panose="020F0502020204030204" pitchFamily="34" charset="0"/>
              </a:rPr>
              <a:t>Sensitivity</a:t>
            </a:r>
            <a:r>
              <a:rPr lang="en-US" altLang="en-US" sz="2400">
                <a:latin typeface="Calibri" panose="020F0502020204030204" pitchFamily="34" charset="0"/>
              </a:rPr>
              <a:t>: True Positive recognition rate</a:t>
            </a:r>
          </a:p>
          <a:p>
            <a:pPr lvl="2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</a:pPr>
            <a:r>
              <a:rPr lang="en-US" altLang="en-US" sz="2400" b="1">
                <a:latin typeface="Calibri" panose="020F0502020204030204" pitchFamily="34" charset="0"/>
              </a:rPr>
              <a:t>Sensitivity = TP/P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2400" b="1">
                <a:latin typeface="Calibri" panose="020F0502020204030204" pitchFamily="34" charset="0"/>
              </a:rPr>
              <a:t>Specificity</a:t>
            </a:r>
            <a:r>
              <a:rPr lang="en-US" altLang="en-US" sz="2400">
                <a:latin typeface="Calibri" panose="020F0502020204030204" pitchFamily="34" charset="0"/>
              </a:rPr>
              <a:t>: True Negative recognition rate</a:t>
            </a:r>
          </a:p>
          <a:p>
            <a:pPr lvl="2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</a:pPr>
            <a:r>
              <a:rPr lang="en-US" altLang="en-US" sz="2400" b="1">
                <a:latin typeface="Calibri" panose="020F0502020204030204" pitchFamily="34" charset="0"/>
              </a:rPr>
              <a:t>Specificity = TN/N</a:t>
            </a:r>
          </a:p>
        </p:txBody>
      </p:sp>
      <p:graphicFrame>
        <p:nvGraphicFramePr>
          <p:cNvPr id="62595" name="Group 131">
            <a:extLst>
              <a:ext uri="{FF2B5EF4-FFF2-40B4-BE49-F238E27FC236}">
                <a16:creationId xmlns:a16="http://schemas.microsoft.com/office/drawing/2014/main" id="{E726B8D2-0806-0660-44BC-F13EDD53D2B6}"/>
              </a:ext>
            </a:extLst>
          </p:cNvPr>
          <p:cNvGraphicFramePr>
            <a:graphicFrameLocks noGrp="1"/>
          </p:cNvGraphicFramePr>
          <p:nvPr/>
        </p:nvGraphicFramePr>
        <p:xfrm>
          <a:off x="3048000" y="1371600"/>
          <a:ext cx="1905000" cy="1466852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A\P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All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280" name="Slide Number Placeholder 7">
            <a:extLst>
              <a:ext uri="{FF2B5EF4-FFF2-40B4-BE49-F238E27FC236}">
                <a16:creationId xmlns:a16="http://schemas.microsoft.com/office/drawing/2014/main" id="{B2A5C36E-B811-5429-FC57-2AB2BE664701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295942D0-22B6-674B-B401-ED4504E9E392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46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7" descr="8F">
            <a:extLst>
              <a:ext uri="{FF2B5EF4-FFF2-40B4-BE49-F238E27FC236}">
                <a16:creationId xmlns:a16="http://schemas.microsoft.com/office/drawing/2014/main" id="{56719546-9CEB-FBEE-561D-F64EB94B3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343400"/>
            <a:ext cx="4267200" cy="82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5" name="Picture 8" descr="8recall">
            <a:extLst>
              <a:ext uri="{FF2B5EF4-FFF2-40B4-BE49-F238E27FC236}">
                <a16:creationId xmlns:a16="http://schemas.microsoft.com/office/drawing/2014/main" id="{56B7BD8B-4999-021F-1BCF-CC514E903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225" y="2895601"/>
            <a:ext cx="31242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6" name="Picture 7" descr="8precision">
            <a:extLst>
              <a:ext uri="{FF2B5EF4-FFF2-40B4-BE49-F238E27FC236}">
                <a16:creationId xmlns:a16="http://schemas.microsoft.com/office/drawing/2014/main" id="{738D3F53-6825-F657-5B2B-AA8B462EC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865314"/>
            <a:ext cx="3581400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7" name="Rectangle 2">
            <a:extLst>
              <a:ext uri="{FF2B5EF4-FFF2-40B4-BE49-F238E27FC236}">
                <a16:creationId xmlns:a16="http://schemas.microsoft.com/office/drawing/2014/main" id="{52D57867-B736-95ED-C401-91AF18A21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8402638" cy="12192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Classifier Evaluation Metrics: </a:t>
            </a:r>
            <a:br>
              <a:rPr lang="en-US" altLang="en-US"/>
            </a:br>
            <a:r>
              <a:rPr lang="en-US" altLang="en-US"/>
              <a:t>Precision and Recall, and F-measures</a:t>
            </a:r>
          </a:p>
        </p:txBody>
      </p:sp>
      <p:sp>
        <p:nvSpPr>
          <p:cNvPr id="54278" name="Rectangle 3">
            <a:extLst>
              <a:ext uri="{FF2B5EF4-FFF2-40B4-BE49-F238E27FC236}">
                <a16:creationId xmlns:a16="http://schemas.microsoft.com/office/drawing/2014/main" id="{DC14E66F-4693-3541-C4C7-FAC31A74C8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81176" y="1371600"/>
            <a:ext cx="8429625" cy="4419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 b="1"/>
              <a:t>Precision</a:t>
            </a:r>
            <a:r>
              <a:rPr lang="en-US" altLang="en-US" sz="2400"/>
              <a:t>: exactness – what % of tuples that the classifier labeled as positive are actually positive</a:t>
            </a:r>
          </a:p>
          <a:p>
            <a:pPr lvl="1">
              <a:lnSpc>
                <a:spcPct val="90000"/>
              </a:lnSpc>
            </a:pPr>
            <a:endParaRPr lang="en-US" altLang="en-US" b="1"/>
          </a:p>
          <a:p>
            <a:pPr>
              <a:lnSpc>
                <a:spcPct val="90000"/>
              </a:lnSpc>
            </a:pPr>
            <a:r>
              <a:rPr lang="en-US" altLang="en-US" sz="2400" b="1"/>
              <a:t>Recall: </a:t>
            </a:r>
            <a:r>
              <a:rPr lang="en-US" altLang="en-US" sz="2400"/>
              <a:t>completeness – what % of positive tuples did the classifier label as positive?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Perfect score is 1.0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Inverse relationship between precision &amp; recall</a:t>
            </a:r>
          </a:p>
          <a:p>
            <a:pPr>
              <a:lnSpc>
                <a:spcPct val="80000"/>
              </a:lnSpc>
            </a:pPr>
            <a:r>
              <a:rPr lang="en-US" altLang="en-US" sz="2400" b="1" i="1"/>
              <a:t>F</a:t>
            </a:r>
            <a:r>
              <a:rPr lang="en-US" altLang="en-US" sz="2400" b="1"/>
              <a:t> measure (</a:t>
            </a:r>
            <a:r>
              <a:rPr lang="en-US" altLang="en-US" sz="2400" b="1" i="1"/>
              <a:t>F</a:t>
            </a:r>
            <a:r>
              <a:rPr lang="en-US" altLang="en-US" sz="2400" b="1" i="1" baseline="-25000"/>
              <a:t>1</a:t>
            </a:r>
            <a:r>
              <a:rPr lang="en-US" altLang="en-US" sz="2400" b="1"/>
              <a:t> </a:t>
            </a:r>
            <a:r>
              <a:rPr lang="en-US" altLang="en-US" sz="2400"/>
              <a:t>or</a:t>
            </a:r>
            <a:r>
              <a:rPr lang="en-US" altLang="en-US" sz="2400" b="1"/>
              <a:t> </a:t>
            </a:r>
            <a:r>
              <a:rPr lang="en-US" altLang="en-US" sz="2400" b="1" i="1"/>
              <a:t>F</a:t>
            </a:r>
            <a:r>
              <a:rPr lang="en-US" altLang="en-US" sz="2400" b="1"/>
              <a:t>-score)</a:t>
            </a:r>
            <a:r>
              <a:rPr lang="en-US" altLang="en-US" sz="2400"/>
              <a:t>: harmonic mean of precision and recall,</a:t>
            </a:r>
            <a:endParaRPr lang="en-US" altLang="en-US" sz="2400" b="1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en-US" sz="2400" b="1" i="1"/>
          </a:p>
          <a:p>
            <a:pPr>
              <a:lnSpc>
                <a:spcPct val="80000"/>
              </a:lnSpc>
            </a:pPr>
            <a:r>
              <a:rPr lang="en-US" altLang="en-US" sz="2400" b="1" i="1"/>
              <a:t>F</a:t>
            </a:r>
            <a:r>
              <a:rPr lang="en-US" altLang="en-US" sz="2400" b="1" i="1" baseline="-25000">
                <a:cs typeface="Tahoma" panose="020B0604030504040204" pitchFamily="34" charset="0"/>
              </a:rPr>
              <a:t>ß</a:t>
            </a:r>
            <a:r>
              <a:rPr lang="en-US" altLang="en-US" sz="2400" b="1"/>
              <a:t>:  </a:t>
            </a:r>
            <a:r>
              <a:rPr lang="en-US" altLang="en-US" sz="2400"/>
              <a:t>weighted measure of precision and recall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assigns </a:t>
            </a:r>
            <a:r>
              <a:rPr lang="en-US" altLang="en-US">
                <a:cs typeface="Tahoma" panose="020B0604030504040204" pitchFamily="34" charset="0"/>
              </a:rPr>
              <a:t>ß times as much weight to recall as to precision</a:t>
            </a:r>
            <a:endParaRPr lang="en-US" altLang="en-US"/>
          </a:p>
        </p:txBody>
      </p:sp>
      <p:sp>
        <p:nvSpPr>
          <p:cNvPr id="54279" name="Text Box 5">
            <a:extLst>
              <a:ext uri="{FF2B5EF4-FFF2-40B4-BE49-F238E27FC236}">
                <a16:creationId xmlns:a16="http://schemas.microsoft.com/office/drawing/2014/main" id="{0B9FDEED-5D95-7B80-2D86-9944950D5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5010151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2800"/>
          </a:p>
        </p:txBody>
      </p:sp>
      <p:sp>
        <p:nvSpPr>
          <p:cNvPr id="54280" name="Slide Number Placeholder 7">
            <a:extLst>
              <a:ext uri="{FF2B5EF4-FFF2-40B4-BE49-F238E27FC236}">
                <a16:creationId xmlns:a16="http://schemas.microsoft.com/office/drawing/2014/main" id="{24DE6588-6047-C0B9-2456-B1A9C87E7669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C773D7E2-AE6A-E64C-8356-F00E4F3BBEFA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47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  <p:pic>
        <p:nvPicPr>
          <p:cNvPr id="54281" name="Picture 8" descr="8Fbeta">
            <a:extLst>
              <a:ext uri="{FF2B5EF4-FFF2-40B4-BE49-F238E27FC236}">
                <a16:creationId xmlns:a16="http://schemas.microsoft.com/office/drawing/2014/main" id="{23B871DD-765D-B050-5396-4BA54559D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25" y="5791201"/>
            <a:ext cx="57912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37E38F62-D06D-2414-F6BA-79E10DBF5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9144000" cy="762000"/>
          </a:xfrm>
        </p:spPr>
        <p:txBody>
          <a:bodyPr/>
          <a:lstStyle/>
          <a:p>
            <a:r>
              <a:rPr lang="en-US" altLang="en-US"/>
              <a:t>Classifier Evaluation Metrics: Example</a:t>
            </a:r>
          </a:p>
        </p:txBody>
      </p:sp>
      <p:sp>
        <p:nvSpPr>
          <p:cNvPr id="55299" name="Rectangle 35">
            <a:extLst>
              <a:ext uri="{FF2B5EF4-FFF2-40B4-BE49-F238E27FC236}">
                <a16:creationId xmlns:a16="http://schemas.microsoft.com/office/drawing/2014/main" id="{C6DD147B-BB4A-9BB8-26CD-F032B6948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572000"/>
            <a:ext cx="8610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altLang="en-US" sz="2400"/>
          </a:p>
        </p:txBody>
      </p:sp>
      <p:sp>
        <p:nvSpPr>
          <p:cNvPr id="55300" name="Slide Number Placeholder 7">
            <a:extLst>
              <a:ext uri="{FF2B5EF4-FFF2-40B4-BE49-F238E27FC236}">
                <a16:creationId xmlns:a16="http://schemas.microsoft.com/office/drawing/2014/main" id="{CB45C04A-DE5B-C51C-0B2F-9104D9E5B539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FA71E39A-B3B5-624C-B24E-50BA879BFD4D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48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  <p:sp>
        <p:nvSpPr>
          <p:cNvPr id="55301" name="Content Placeholder 1">
            <a:extLst>
              <a:ext uri="{FF2B5EF4-FFF2-40B4-BE49-F238E27FC236}">
                <a16:creationId xmlns:a16="http://schemas.microsoft.com/office/drawing/2014/main" id="{013A1CD3-5489-48AC-B3D9-BFFB4C880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2600" y="3429000"/>
            <a:ext cx="8458200" cy="609600"/>
          </a:xfrm>
        </p:spPr>
        <p:txBody>
          <a:bodyPr/>
          <a:lstStyle/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altLang="en-US" i="1"/>
              <a:t>Precision</a:t>
            </a:r>
            <a:r>
              <a:rPr lang="en-US" altLang="en-US"/>
              <a:t> = 90/230 = 39.13%             </a:t>
            </a:r>
            <a:r>
              <a:rPr lang="en-US" altLang="en-US" i="1"/>
              <a:t>Recall</a:t>
            </a:r>
            <a:r>
              <a:rPr lang="en-US" altLang="en-US"/>
              <a:t> = 90/300 = 30.00%</a:t>
            </a:r>
          </a:p>
          <a:p>
            <a:endParaRPr lang="en-US" altLang="en-US"/>
          </a:p>
        </p:txBody>
      </p:sp>
      <p:graphicFrame>
        <p:nvGraphicFramePr>
          <p:cNvPr id="7" name="Group 54">
            <a:extLst>
              <a:ext uri="{FF2B5EF4-FFF2-40B4-BE49-F238E27FC236}">
                <a16:creationId xmlns:a16="http://schemas.microsoft.com/office/drawing/2014/main" id="{90225AF3-516B-93CB-DF91-EA00F6E79BB9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1889125"/>
          <a:ext cx="8839200" cy="146685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yes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no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Recognition(%)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yes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210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30.00 (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sensitivity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no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140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9560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9700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98.56 (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specificity)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230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9770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96.40 (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accuracy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)</a:t>
                      </a: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C7ACC74B-9760-8066-AEF5-2FD8719DCC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76200"/>
            <a:ext cx="8091488" cy="10668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Evaluating Classifier Accuracy:</a:t>
            </a:r>
            <a:br>
              <a:rPr lang="en-US" altLang="en-US"/>
            </a:br>
            <a:r>
              <a:rPr lang="en-US" altLang="en-US"/>
              <a:t>Holdout &amp; Cross-Validation Methods</a:t>
            </a:r>
            <a:endParaRPr lang="en-US" altLang="en-US" sz="4000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F26C0EE-20B9-8D47-97FA-172E59A06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8345" y="1371601"/>
            <a:ext cx="11182865" cy="52736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b="1" dirty="0"/>
              <a:t>Holdout method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Given data is randomly partitioned into two independent sets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Training set (e.g., 2/3) for model construction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Test set (e.g., 1/3) for accuracy estimation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u="sng" dirty="0"/>
              <a:t>Random sampling</a:t>
            </a:r>
            <a:r>
              <a:rPr lang="en-US" altLang="en-US" dirty="0"/>
              <a:t>: a variation of holdout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Repeat holdout k times, accuracy = avg. of the accuracies obtained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b="1" dirty="0"/>
              <a:t>Cross-validation</a:t>
            </a:r>
            <a:r>
              <a:rPr lang="en-US" altLang="en-US" sz="2400" dirty="0"/>
              <a:t> (</a:t>
            </a:r>
            <a:r>
              <a:rPr lang="en-US" altLang="en-US" sz="2400" i="1" dirty="0"/>
              <a:t>k</a:t>
            </a:r>
            <a:r>
              <a:rPr lang="en-US" altLang="en-US" sz="2400" dirty="0"/>
              <a:t>-fold, where k = 10 is most popular)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Randomly partition the data into </a:t>
            </a:r>
            <a:r>
              <a:rPr lang="en-US" altLang="en-US" i="1" dirty="0"/>
              <a:t>k</a:t>
            </a:r>
            <a:r>
              <a:rPr lang="en-US" altLang="en-US" dirty="0"/>
              <a:t> </a:t>
            </a:r>
            <a:r>
              <a:rPr lang="en-US" altLang="en-US" i="1" dirty="0"/>
              <a:t>mutually exclusive</a:t>
            </a:r>
            <a:r>
              <a:rPr lang="en-US" altLang="en-US" dirty="0"/>
              <a:t> subsets, each approximately equal size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At </a:t>
            </a:r>
            <a:r>
              <a:rPr lang="en-US" altLang="en-US" i="1" dirty="0" err="1"/>
              <a:t>i</a:t>
            </a:r>
            <a:r>
              <a:rPr lang="en-US" altLang="en-US" dirty="0" err="1"/>
              <a:t>-th</a:t>
            </a:r>
            <a:r>
              <a:rPr lang="en-US" altLang="en-US" dirty="0"/>
              <a:t> iteration, use D</a:t>
            </a:r>
            <a:r>
              <a:rPr lang="en-US" altLang="en-US" baseline="-25000" dirty="0"/>
              <a:t>i </a:t>
            </a:r>
            <a:r>
              <a:rPr lang="en-US" altLang="en-US" dirty="0"/>
              <a:t>as test set and others as training 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u="sng" dirty="0"/>
              <a:t>Leave-one-out</a:t>
            </a:r>
            <a:r>
              <a:rPr lang="en-US" altLang="en-US" dirty="0"/>
              <a:t>: </a:t>
            </a:r>
            <a:r>
              <a:rPr lang="en-US" altLang="en-US" i="1" dirty="0"/>
              <a:t>k</a:t>
            </a:r>
            <a:r>
              <a:rPr lang="en-US" altLang="en-US" dirty="0"/>
              <a:t> folds where </a:t>
            </a:r>
            <a:r>
              <a:rPr lang="en-US" altLang="en-US" i="1" dirty="0"/>
              <a:t>k</a:t>
            </a:r>
            <a:r>
              <a:rPr lang="en-US" altLang="en-US" dirty="0"/>
              <a:t> = # of tuples, for small sized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b="1" u="sng" dirty="0"/>
              <a:t>*Stratified cross-validation*</a:t>
            </a:r>
            <a:r>
              <a:rPr lang="en-US" altLang="en-US" dirty="0"/>
              <a:t>: folds are stratified so that class dist. in each fold is approx. the same as that in the initial data</a:t>
            </a:r>
          </a:p>
        </p:txBody>
      </p:sp>
      <p:sp>
        <p:nvSpPr>
          <p:cNvPr id="56324" name="Slide Number Placeholder 7">
            <a:extLst>
              <a:ext uri="{FF2B5EF4-FFF2-40B4-BE49-F238E27FC236}">
                <a16:creationId xmlns:a16="http://schemas.microsoft.com/office/drawing/2014/main" id="{13A74CE8-64D3-2B4D-30A3-D77654C8895A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8B7429B0-5F0D-974E-9E5F-A497B9C2FEC0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49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3579FD0B-F091-8149-A445-61B335E98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9144000" cy="6858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Evaluating Classifier Accuracy: Bootstrap</a:t>
            </a:r>
            <a:endParaRPr lang="en-US" altLang="en-US" sz="400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B62F58D-88C6-54AB-8D9D-097A93B50F7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371600"/>
            <a:ext cx="8610600" cy="5105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000" b="1"/>
              <a:t>Bootstrap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Works well with small data sets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Samples the given training tuples uniformly </a:t>
            </a:r>
            <a:r>
              <a:rPr lang="en-US" altLang="en-US" sz="2000" i="1"/>
              <a:t>with replacement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i.e., each time a tuple is selected, it is equally likely to be selected again and re-added to the training set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Several bootstrap methods, and a common one is </a:t>
            </a:r>
            <a:r>
              <a:rPr lang="en-US" altLang="en-US" sz="2000" b="1"/>
              <a:t>.632 boostrap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A data set with </a:t>
            </a:r>
            <a:r>
              <a:rPr lang="en-US" altLang="en-US" sz="2000" i="1"/>
              <a:t>d</a:t>
            </a:r>
            <a:r>
              <a:rPr lang="en-US" altLang="en-US" sz="2000"/>
              <a:t> tuples is sampled </a:t>
            </a:r>
            <a:r>
              <a:rPr lang="en-US" altLang="en-US" sz="2000" i="1"/>
              <a:t>d</a:t>
            </a:r>
            <a:r>
              <a:rPr lang="en-US" altLang="en-US" sz="2000"/>
              <a:t> times, with replacement, resulting in a training set of </a:t>
            </a:r>
            <a:r>
              <a:rPr lang="en-US" altLang="en-US" sz="2000" i="1"/>
              <a:t>d</a:t>
            </a:r>
            <a:r>
              <a:rPr lang="en-US" altLang="en-US" sz="2000"/>
              <a:t> samples.  The data tuples that did not make it into the training set end up forming the test set.  About 63.2% of the original data end up in the bootstrap, and the remaining 36.8% form the test set (since (1 – 1/d)</a:t>
            </a:r>
            <a:r>
              <a:rPr lang="en-US" altLang="en-US" sz="2000" baseline="30000"/>
              <a:t>d</a:t>
            </a:r>
            <a:r>
              <a:rPr lang="en-US" altLang="en-US" sz="2000"/>
              <a:t> ≈ e</a:t>
            </a:r>
            <a:r>
              <a:rPr lang="en-US" altLang="en-US" sz="2000" baseline="30000"/>
              <a:t>-1</a:t>
            </a:r>
            <a:r>
              <a:rPr lang="en-US" altLang="en-US" sz="2000"/>
              <a:t> = 0.368)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Repeat the sampling procedure </a:t>
            </a:r>
            <a:r>
              <a:rPr lang="en-US" altLang="en-US" sz="2000" i="1"/>
              <a:t>k</a:t>
            </a:r>
            <a:r>
              <a:rPr lang="en-US" altLang="en-US" sz="2000"/>
              <a:t> times, overall accuracy of the model:</a:t>
            </a:r>
          </a:p>
          <a:p>
            <a:pPr lvl="1" eaLnBrk="1" hangingPunct="1">
              <a:lnSpc>
                <a:spcPct val="110000"/>
              </a:lnSpc>
            </a:pPr>
            <a:endParaRPr lang="en-US" altLang="en-US" sz="2000"/>
          </a:p>
        </p:txBody>
      </p:sp>
      <p:sp>
        <p:nvSpPr>
          <p:cNvPr id="57348" name="Slide Number Placeholder 7">
            <a:extLst>
              <a:ext uri="{FF2B5EF4-FFF2-40B4-BE49-F238E27FC236}">
                <a16:creationId xmlns:a16="http://schemas.microsoft.com/office/drawing/2014/main" id="{5C301F36-831C-4952-8D86-782924E9763F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DE519209-23E8-1243-87BF-179E98BD1D26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50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  <p:pic>
        <p:nvPicPr>
          <p:cNvPr id="57349" name="Picture 6">
            <a:extLst>
              <a:ext uri="{FF2B5EF4-FFF2-40B4-BE49-F238E27FC236}">
                <a16:creationId xmlns:a16="http://schemas.microsoft.com/office/drawing/2014/main" id="{B6CB3E60-9F81-6C5D-550F-AE62868AE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867400"/>
            <a:ext cx="71628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7E330F0D-FDF8-7196-5352-FE6D26886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Estimating Confidence Intervals:</a:t>
            </a:r>
            <a:br>
              <a:rPr lang="en-US" altLang="en-US"/>
            </a:br>
            <a:r>
              <a:rPr lang="en-US" altLang="en-US"/>
              <a:t>Classifier Models M</a:t>
            </a:r>
            <a:r>
              <a:rPr lang="en-US" altLang="en-US" baseline="-25000"/>
              <a:t>1</a:t>
            </a:r>
            <a:r>
              <a:rPr lang="en-US" altLang="en-US"/>
              <a:t> vs. M</a:t>
            </a:r>
            <a:r>
              <a:rPr lang="en-US" altLang="en-US" baseline="-25000"/>
              <a:t>2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DA592017-6CC1-711F-1D9F-99B7538B27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Suppose we have 2 classifiers, M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and M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which one is better?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Use 10-fold cross-validation to obtain                     and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These mean error rates are just </a:t>
            </a:r>
            <a:r>
              <a:rPr lang="en-US" altLang="en-US" sz="2400" i="1" dirty="0"/>
              <a:t>estimates</a:t>
            </a:r>
            <a:r>
              <a:rPr lang="en-US" altLang="en-US" sz="2400" dirty="0"/>
              <a:t> of error on the true population of </a:t>
            </a:r>
            <a:r>
              <a:rPr lang="en-US" altLang="en-US" sz="2400" i="1" dirty="0"/>
              <a:t>future</a:t>
            </a:r>
            <a:r>
              <a:rPr lang="en-US" altLang="en-US" sz="2400" dirty="0"/>
              <a:t> data cases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What if the difference between the 2 error rates is just attributed to </a:t>
            </a:r>
            <a:r>
              <a:rPr lang="en-US" altLang="en-US" sz="2400" i="1" dirty="0"/>
              <a:t>chance</a:t>
            </a:r>
            <a:r>
              <a:rPr lang="en-US" altLang="en-US" sz="2400" dirty="0"/>
              <a:t>?</a:t>
            </a:r>
          </a:p>
          <a:p>
            <a:pPr lvl="1">
              <a:lnSpc>
                <a:spcPct val="150000"/>
              </a:lnSpc>
            </a:pPr>
            <a:r>
              <a:rPr lang="en-US" altLang="en-US" dirty="0"/>
              <a:t>Use a </a:t>
            </a:r>
            <a:r>
              <a:rPr lang="en-US" altLang="en-US" b="1" dirty="0"/>
              <a:t>test of statistical significance</a:t>
            </a:r>
          </a:p>
          <a:p>
            <a:pPr lvl="1">
              <a:lnSpc>
                <a:spcPct val="150000"/>
              </a:lnSpc>
            </a:pPr>
            <a:r>
              <a:rPr lang="en-US" altLang="en-US" dirty="0"/>
              <a:t>Obtain </a:t>
            </a:r>
            <a:r>
              <a:rPr lang="en-US" altLang="en-US" b="1" dirty="0"/>
              <a:t>confidence limits</a:t>
            </a:r>
            <a:r>
              <a:rPr lang="en-US" altLang="en-US" dirty="0"/>
              <a:t> for our error estimates</a:t>
            </a:r>
          </a:p>
        </p:txBody>
      </p:sp>
      <p:pic>
        <p:nvPicPr>
          <p:cNvPr id="58372" name="Picture 5" descr="8mean-err-m2">
            <a:extLst>
              <a:ext uri="{FF2B5EF4-FFF2-40B4-BE49-F238E27FC236}">
                <a16:creationId xmlns:a16="http://schemas.microsoft.com/office/drawing/2014/main" id="{BE70D75C-1C17-64FF-246E-5EC9F0928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644" y="2530176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3" name="Picture 6" descr="8mean-err-m1">
            <a:extLst>
              <a:ext uri="{FF2B5EF4-FFF2-40B4-BE49-F238E27FC236}">
                <a16:creationId xmlns:a16="http://schemas.microsoft.com/office/drawing/2014/main" id="{0808244E-EA0A-EF25-A909-605BD21AB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54483"/>
            <a:ext cx="1295400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4" name="Slide Number Placeholder 7">
            <a:extLst>
              <a:ext uri="{FF2B5EF4-FFF2-40B4-BE49-F238E27FC236}">
                <a16:creationId xmlns:a16="http://schemas.microsoft.com/office/drawing/2014/main" id="{C8F0406B-1D5D-90A6-152B-42DD69106C6F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F2CC8D4D-2A8B-6C46-B73C-CBCC91E3871C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51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1388A2A-2F9E-6FAE-85A9-3641303B62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066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Estimating Confidence Intervals:</a:t>
            </a:r>
            <a:br>
              <a:rPr lang="en-US" altLang="en-US"/>
            </a:br>
            <a:r>
              <a:rPr lang="en-US" altLang="en-US"/>
              <a:t>Null Hypothesis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21AEA9DA-EB1E-D5C0-F886-01B9EF7E6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en-US" altLang="en-US" sz="2400"/>
              <a:t>Perform 10-fold cross-validation</a:t>
            </a:r>
          </a:p>
          <a:p>
            <a:pPr>
              <a:lnSpc>
                <a:spcPct val="130000"/>
              </a:lnSpc>
            </a:pPr>
            <a:r>
              <a:rPr lang="en-US" altLang="en-US" sz="2400"/>
              <a:t>Assume samples follow a </a:t>
            </a:r>
            <a:r>
              <a:rPr lang="en-US" altLang="en-US" sz="2400" b="1"/>
              <a:t>t distribution</a:t>
            </a:r>
            <a:r>
              <a:rPr lang="en-US" altLang="en-US" sz="2400"/>
              <a:t> with </a:t>
            </a:r>
            <a:r>
              <a:rPr lang="en-US" altLang="en-US" sz="2400" i="1"/>
              <a:t>k–1</a:t>
            </a:r>
            <a:r>
              <a:rPr lang="en-US" altLang="en-US" sz="2400"/>
              <a:t> </a:t>
            </a:r>
            <a:r>
              <a:rPr lang="en-US" altLang="en-US" sz="2400" b="1"/>
              <a:t>degrees of freedom </a:t>
            </a:r>
            <a:r>
              <a:rPr lang="en-US" altLang="en-US" sz="2400"/>
              <a:t>(here, </a:t>
            </a:r>
            <a:r>
              <a:rPr lang="en-US" altLang="en-US" sz="2400" i="1"/>
              <a:t>k=10</a:t>
            </a:r>
            <a:r>
              <a:rPr lang="en-US" altLang="en-US" sz="2400"/>
              <a:t>)</a:t>
            </a:r>
          </a:p>
          <a:p>
            <a:pPr>
              <a:lnSpc>
                <a:spcPct val="130000"/>
              </a:lnSpc>
            </a:pPr>
            <a:r>
              <a:rPr lang="en-US" altLang="en-US" sz="2400"/>
              <a:t>Use </a:t>
            </a:r>
            <a:r>
              <a:rPr lang="en-US" altLang="en-US" sz="2400" b="1"/>
              <a:t>t-test</a:t>
            </a:r>
            <a:r>
              <a:rPr lang="en-US" altLang="en-US" sz="2400"/>
              <a:t> (or </a:t>
            </a:r>
            <a:r>
              <a:rPr lang="en-US" altLang="en-US" sz="2400" b="1"/>
              <a:t>Student’s t-test</a:t>
            </a:r>
            <a:r>
              <a:rPr lang="en-US" altLang="en-US" sz="2400"/>
              <a:t>)</a:t>
            </a:r>
            <a:endParaRPr lang="en-US" altLang="en-US" sz="2400" b="1"/>
          </a:p>
          <a:p>
            <a:pPr>
              <a:lnSpc>
                <a:spcPct val="130000"/>
              </a:lnSpc>
            </a:pPr>
            <a:r>
              <a:rPr lang="en-US" altLang="en-US" sz="2400" b="1"/>
              <a:t>Null Hypothesis</a:t>
            </a:r>
            <a:r>
              <a:rPr lang="en-US" altLang="en-US" sz="2400"/>
              <a:t>: M</a:t>
            </a:r>
            <a:r>
              <a:rPr lang="en-US" altLang="en-US" sz="2400" baseline="-25000"/>
              <a:t>1</a:t>
            </a:r>
            <a:r>
              <a:rPr lang="en-US" altLang="en-US" sz="2400"/>
              <a:t> &amp; M</a:t>
            </a:r>
            <a:r>
              <a:rPr lang="en-US" altLang="en-US" sz="2400" baseline="-25000"/>
              <a:t>2</a:t>
            </a:r>
            <a:r>
              <a:rPr lang="en-US" altLang="en-US" sz="2400"/>
              <a:t> are the same</a:t>
            </a:r>
          </a:p>
          <a:p>
            <a:pPr>
              <a:lnSpc>
                <a:spcPct val="130000"/>
              </a:lnSpc>
            </a:pPr>
            <a:r>
              <a:rPr lang="en-US" altLang="en-US" sz="2400"/>
              <a:t>If we can </a:t>
            </a:r>
            <a:r>
              <a:rPr lang="en-US" altLang="en-US" sz="2400" b="1"/>
              <a:t>reject</a:t>
            </a:r>
            <a:r>
              <a:rPr lang="en-US" altLang="en-US" sz="2400"/>
              <a:t> null hypothesis, then </a:t>
            </a:r>
          </a:p>
          <a:p>
            <a:pPr lvl="1">
              <a:lnSpc>
                <a:spcPct val="130000"/>
              </a:lnSpc>
            </a:pPr>
            <a:r>
              <a:rPr lang="en-US" altLang="en-US"/>
              <a:t>we conclude that the difference between M</a:t>
            </a:r>
            <a:r>
              <a:rPr lang="en-US" altLang="en-US" baseline="-25000"/>
              <a:t>1</a:t>
            </a:r>
            <a:r>
              <a:rPr lang="en-US" altLang="en-US"/>
              <a:t> &amp; M</a:t>
            </a:r>
            <a:r>
              <a:rPr lang="en-US" altLang="en-US" baseline="-25000"/>
              <a:t>2</a:t>
            </a:r>
            <a:r>
              <a:rPr lang="en-US" altLang="en-US"/>
              <a:t> is </a:t>
            </a:r>
            <a:r>
              <a:rPr lang="en-US" altLang="en-US" b="1"/>
              <a:t>statistically significant</a:t>
            </a:r>
          </a:p>
          <a:p>
            <a:pPr lvl="1">
              <a:lnSpc>
                <a:spcPct val="130000"/>
              </a:lnSpc>
            </a:pPr>
            <a:r>
              <a:rPr lang="en-US" altLang="en-US"/>
              <a:t>Chose model with lower error rate</a:t>
            </a:r>
          </a:p>
        </p:txBody>
      </p:sp>
      <p:sp>
        <p:nvSpPr>
          <p:cNvPr id="59396" name="Slide Number Placeholder 7">
            <a:extLst>
              <a:ext uri="{FF2B5EF4-FFF2-40B4-BE49-F238E27FC236}">
                <a16:creationId xmlns:a16="http://schemas.microsoft.com/office/drawing/2014/main" id="{599E8926-8290-9EF3-37FF-0C25CB1782A8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676A899B-D658-BA48-A49B-4C1E04199E70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52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4D7E540-758D-0DCD-9C7C-F79EDE1EB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533400"/>
          </a:xfrm>
        </p:spPr>
        <p:txBody>
          <a:bodyPr/>
          <a:lstStyle/>
          <a:p>
            <a:r>
              <a:rPr lang="en-US" altLang="en-US" sz="3200"/>
              <a:t>Estimating Confidence Intervals: t-test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6C7959FC-D642-A2EF-1464-2B4077FC07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If only 1 test set available: </a:t>
            </a:r>
            <a:r>
              <a:rPr lang="en-US" altLang="en-US" b="1" dirty="0"/>
              <a:t>pairwise comparison</a:t>
            </a:r>
          </a:p>
          <a:p>
            <a:pPr lvl="1"/>
            <a:r>
              <a:rPr lang="en-US" altLang="en-US" dirty="0"/>
              <a:t>For </a:t>
            </a:r>
            <a:r>
              <a:rPr lang="en-US" altLang="en-US" dirty="0" err="1"/>
              <a:t>i</a:t>
            </a:r>
            <a:r>
              <a:rPr lang="en-US" altLang="en-US" baseline="30000" dirty="0" err="1"/>
              <a:t>th</a:t>
            </a:r>
            <a:r>
              <a:rPr lang="en-US" altLang="en-US" dirty="0"/>
              <a:t> round of 10-fold cross-validation, the same cross partitioning is used to obtain </a:t>
            </a:r>
            <a:r>
              <a:rPr lang="en-US" altLang="en-US" i="1" dirty="0"/>
              <a:t>err(M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)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/>
              <a:t>err(M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)</a:t>
            </a:r>
            <a:r>
              <a:rPr lang="en-US" altLang="en-US" i="1" baseline="-25000" dirty="0" err="1"/>
              <a:t>i</a:t>
            </a:r>
            <a:endParaRPr lang="en-US" altLang="en-US" i="1" baseline="-25000" dirty="0"/>
          </a:p>
          <a:p>
            <a:pPr lvl="1"/>
            <a:r>
              <a:rPr lang="en-US" altLang="en-US" dirty="0"/>
              <a:t>Average over 10 rounds to get </a:t>
            </a:r>
            <a:endParaRPr lang="en-US" altLang="en-US" dirty="0">
              <a:solidFill>
                <a:schemeClr val="hlink"/>
              </a:solidFill>
            </a:endParaRPr>
          </a:p>
          <a:p>
            <a:pPr lvl="1"/>
            <a:r>
              <a:rPr lang="en-US" altLang="en-US" b="1" dirty="0"/>
              <a:t>t-test</a:t>
            </a:r>
            <a:r>
              <a:rPr lang="en-US" altLang="en-US" dirty="0"/>
              <a:t> computes </a:t>
            </a:r>
            <a:r>
              <a:rPr lang="en-US" altLang="en-US" b="1" dirty="0"/>
              <a:t>t-statistic</a:t>
            </a:r>
            <a:r>
              <a:rPr lang="en-US" altLang="en-US" dirty="0"/>
              <a:t> with </a:t>
            </a:r>
            <a:r>
              <a:rPr lang="en-US" altLang="en-US" i="1" dirty="0"/>
              <a:t>k-1</a:t>
            </a:r>
            <a:r>
              <a:rPr lang="en-US" altLang="en-US" dirty="0"/>
              <a:t> </a:t>
            </a:r>
            <a:r>
              <a:rPr lang="en-US" altLang="en-US" b="1" dirty="0"/>
              <a:t>degrees of freedom:</a:t>
            </a:r>
          </a:p>
          <a:p>
            <a:pPr lvl="1"/>
            <a:endParaRPr lang="en-US" altLang="en-US" b="1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If two test sets available: use </a:t>
            </a:r>
            <a:r>
              <a:rPr lang="en-US" altLang="en-US" b="1" dirty="0"/>
              <a:t>non-paired t-test</a:t>
            </a:r>
            <a:endParaRPr lang="en-US" altLang="en-US" dirty="0"/>
          </a:p>
        </p:txBody>
      </p:sp>
      <p:pic>
        <p:nvPicPr>
          <p:cNvPr id="60420" name="Picture 5" descr="t-test-non-paired">
            <a:extLst>
              <a:ext uri="{FF2B5EF4-FFF2-40B4-BE49-F238E27FC236}">
                <a16:creationId xmlns:a16="http://schemas.microsoft.com/office/drawing/2014/main" id="{B8FE93BA-2562-08D3-2E95-6593CD940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5820032"/>
            <a:ext cx="4114800" cy="502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1" name="Text Box 8">
            <a:extLst>
              <a:ext uri="{FF2B5EF4-FFF2-40B4-BE49-F238E27FC236}">
                <a16:creationId xmlns:a16="http://schemas.microsoft.com/office/drawing/2014/main" id="{A5299A50-008C-1CD6-AADB-DB8EE09CF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1" y="3733801"/>
            <a:ext cx="804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where</a:t>
            </a:r>
          </a:p>
        </p:txBody>
      </p:sp>
      <p:pic>
        <p:nvPicPr>
          <p:cNvPr id="60422" name="Picture 9" descr="8mean-err-m1">
            <a:extLst>
              <a:ext uri="{FF2B5EF4-FFF2-40B4-BE49-F238E27FC236}">
                <a16:creationId xmlns:a16="http://schemas.microsoft.com/office/drawing/2014/main" id="{C6DBF31E-906B-4ACE-350E-83DEBC9B6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678114"/>
            <a:ext cx="1219200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3" name="Picture 10" descr="8mean-err-m2">
            <a:extLst>
              <a:ext uri="{FF2B5EF4-FFF2-40B4-BE49-F238E27FC236}">
                <a16:creationId xmlns:a16="http://schemas.microsoft.com/office/drawing/2014/main" id="{7CA7B28E-9F95-F997-564C-2BC5A66BC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2752726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4" name="Text Box 11">
            <a:extLst>
              <a:ext uri="{FF2B5EF4-FFF2-40B4-BE49-F238E27FC236}">
                <a16:creationId xmlns:a16="http://schemas.microsoft.com/office/drawing/2014/main" id="{14F0A1A4-84F7-D921-8EE9-CF49C6EA7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2727326"/>
            <a:ext cx="598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/>
              <a:t>and</a:t>
            </a:r>
          </a:p>
        </p:txBody>
      </p:sp>
      <p:sp>
        <p:nvSpPr>
          <p:cNvPr id="60425" name="Text Box 12">
            <a:extLst>
              <a:ext uri="{FF2B5EF4-FFF2-40B4-BE49-F238E27FC236}">
                <a16:creationId xmlns:a16="http://schemas.microsoft.com/office/drawing/2014/main" id="{1242F060-7FDD-46D3-65C0-DD37C64EC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1" y="5638801"/>
            <a:ext cx="804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where</a:t>
            </a:r>
          </a:p>
        </p:txBody>
      </p:sp>
      <p:sp>
        <p:nvSpPr>
          <p:cNvPr id="60426" name="Text Box 13">
            <a:extLst>
              <a:ext uri="{FF2B5EF4-FFF2-40B4-BE49-F238E27FC236}">
                <a16:creationId xmlns:a16="http://schemas.microsoft.com/office/drawing/2014/main" id="{FBD4F953-0888-2865-C08A-D4767FD3A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248401"/>
            <a:ext cx="7418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where</a:t>
            </a:r>
            <a:r>
              <a:rPr lang="en-US" altLang="en-US" i="1"/>
              <a:t> k</a:t>
            </a:r>
            <a:r>
              <a:rPr lang="en-US" altLang="en-US" i="1" baseline="-25000"/>
              <a:t>1</a:t>
            </a:r>
            <a:r>
              <a:rPr lang="en-US" altLang="en-US"/>
              <a:t> &amp;</a:t>
            </a:r>
            <a:r>
              <a:rPr lang="en-US" altLang="en-US" i="1"/>
              <a:t> k</a:t>
            </a:r>
            <a:r>
              <a:rPr lang="en-US" altLang="en-US" i="1" baseline="-25000"/>
              <a:t>2</a:t>
            </a:r>
            <a:r>
              <a:rPr lang="en-US" altLang="en-US"/>
              <a:t> are # of cross-validation samples used for </a:t>
            </a:r>
            <a:r>
              <a:rPr lang="en-US" altLang="en-US" i="1"/>
              <a:t>M</a:t>
            </a:r>
            <a:r>
              <a:rPr lang="en-US" altLang="en-US" i="1" baseline="-25000"/>
              <a:t>1</a:t>
            </a:r>
            <a:r>
              <a:rPr lang="en-US" altLang="en-US"/>
              <a:t> &amp; </a:t>
            </a:r>
            <a:r>
              <a:rPr lang="en-US" altLang="en-US" i="1"/>
              <a:t>M</a:t>
            </a:r>
            <a:r>
              <a:rPr lang="en-US" altLang="en-US" i="1" baseline="-25000"/>
              <a:t>2</a:t>
            </a:r>
            <a:r>
              <a:rPr lang="en-US" altLang="en-US"/>
              <a:t>, resp.</a:t>
            </a:r>
          </a:p>
        </p:txBody>
      </p:sp>
      <p:pic>
        <p:nvPicPr>
          <p:cNvPr id="60427" name="Picture 14">
            <a:extLst>
              <a:ext uri="{FF2B5EF4-FFF2-40B4-BE49-F238E27FC236}">
                <a16:creationId xmlns:a16="http://schemas.microsoft.com/office/drawing/2014/main" id="{E546D4BD-BD5C-4BB4-BA0A-5D7F3A809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657600"/>
            <a:ext cx="2743200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8" name="Picture 15">
            <a:extLst>
              <a:ext uri="{FF2B5EF4-FFF2-40B4-BE49-F238E27FC236}">
                <a16:creationId xmlns:a16="http://schemas.microsoft.com/office/drawing/2014/main" id="{CF3B4553-77BD-1D4C-3DBF-98C05F17E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173" y="4398921"/>
            <a:ext cx="7315200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9" name="Slide Number Placeholder 7">
            <a:extLst>
              <a:ext uri="{FF2B5EF4-FFF2-40B4-BE49-F238E27FC236}">
                <a16:creationId xmlns:a16="http://schemas.microsoft.com/office/drawing/2014/main" id="{D48A4D0C-C509-60C3-10E7-9FB4B4C7C78F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5D3A24E2-0F34-1D43-B00A-665A3AA9F99D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53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FAE4B3F-F373-D3F6-7D99-5C18B4801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200"/>
              <a:t>Estimating Confidence Intervals:</a:t>
            </a:r>
            <a:br>
              <a:rPr lang="en-US" altLang="en-US" sz="3200"/>
            </a:br>
            <a:r>
              <a:rPr lang="en-US" altLang="en-US" sz="3200"/>
              <a:t>Table for t-distribution</a:t>
            </a:r>
          </a:p>
        </p:txBody>
      </p:sp>
      <p:sp>
        <p:nvSpPr>
          <p:cNvPr id="61443" name="Rectangle 4">
            <a:extLst>
              <a:ext uri="{FF2B5EF4-FFF2-40B4-BE49-F238E27FC236}">
                <a16:creationId xmlns:a16="http://schemas.microsoft.com/office/drawing/2014/main" id="{80124040-EEC3-675F-E30C-37F2F9975F5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371600"/>
            <a:ext cx="30480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Symmetric</a:t>
            </a:r>
          </a:p>
          <a:p>
            <a:pPr>
              <a:lnSpc>
                <a:spcPct val="90000"/>
              </a:lnSpc>
            </a:pPr>
            <a:r>
              <a:rPr lang="en-US" altLang="en-US" sz="2400" b="1"/>
              <a:t>Significance level</a:t>
            </a:r>
            <a:r>
              <a:rPr lang="en-US" altLang="en-US" sz="2400"/>
              <a:t>, e.g., </a:t>
            </a:r>
            <a:r>
              <a:rPr lang="en-US" altLang="en-US" sz="2400" i="1"/>
              <a:t>sig = 0.05 </a:t>
            </a:r>
            <a:r>
              <a:rPr lang="en-US" altLang="en-US" sz="2400"/>
              <a:t>or</a:t>
            </a:r>
            <a:r>
              <a:rPr lang="en-US" altLang="en-US" sz="2400" i="1"/>
              <a:t> 5% </a:t>
            </a:r>
            <a:r>
              <a:rPr lang="en-US" altLang="en-US" sz="2400"/>
              <a:t>means M</a:t>
            </a:r>
            <a:r>
              <a:rPr lang="en-US" altLang="en-US" sz="2400" baseline="-25000"/>
              <a:t>1</a:t>
            </a:r>
            <a:r>
              <a:rPr lang="en-US" altLang="en-US" sz="2400"/>
              <a:t> &amp; M</a:t>
            </a:r>
            <a:r>
              <a:rPr lang="en-US" altLang="en-US" sz="2400" baseline="-25000"/>
              <a:t>2</a:t>
            </a:r>
            <a:r>
              <a:rPr lang="en-US" altLang="en-US" sz="2400"/>
              <a:t> are </a:t>
            </a:r>
            <a:r>
              <a:rPr lang="en-US" altLang="en-US" sz="2400" i="1"/>
              <a:t>significantly different</a:t>
            </a:r>
            <a:r>
              <a:rPr lang="en-US" altLang="en-US" sz="2400"/>
              <a:t> for 95% of population</a:t>
            </a:r>
          </a:p>
          <a:p>
            <a:pPr>
              <a:lnSpc>
                <a:spcPct val="90000"/>
              </a:lnSpc>
            </a:pPr>
            <a:r>
              <a:rPr lang="en-US" altLang="en-US" sz="2400" b="1"/>
              <a:t>Confidence limit</a:t>
            </a:r>
            <a:r>
              <a:rPr lang="en-US" altLang="en-US" sz="2400"/>
              <a:t>, </a:t>
            </a:r>
            <a:r>
              <a:rPr lang="en-US" altLang="en-US" sz="2400" i="1"/>
              <a:t>z = sig/2</a:t>
            </a:r>
          </a:p>
        </p:txBody>
      </p:sp>
      <p:pic>
        <p:nvPicPr>
          <p:cNvPr id="61444" name="Picture 6" descr="8ttablevalues">
            <a:extLst>
              <a:ext uri="{FF2B5EF4-FFF2-40B4-BE49-F238E27FC236}">
                <a16:creationId xmlns:a16="http://schemas.microsoft.com/office/drawing/2014/main" id="{BEDF275B-6EAA-085C-8578-87FAB604AE41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57800" y="914400"/>
            <a:ext cx="5181600" cy="5791200"/>
          </a:xfrm>
        </p:spPr>
      </p:pic>
      <p:pic>
        <p:nvPicPr>
          <p:cNvPr id="61445" name="Picture 7" descr="8tcurve">
            <a:extLst>
              <a:ext uri="{FF2B5EF4-FFF2-40B4-BE49-F238E27FC236}">
                <a16:creationId xmlns:a16="http://schemas.microsoft.com/office/drawing/2014/main" id="{9CEC20FA-0A65-E9A1-CF35-0C50891CD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143001"/>
            <a:ext cx="3429000" cy="136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6" name="Slide Number Placeholder 7">
            <a:extLst>
              <a:ext uri="{FF2B5EF4-FFF2-40B4-BE49-F238E27FC236}">
                <a16:creationId xmlns:a16="http://schemas.microsoft.com/office/drawing/2014/main" id="{27B4A6CE-546D-49E8-0CA9-48C144DB08D9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DE07F85F-F000-0D4D-A4EC-4579AA53D5F5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54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598387C-C759-CF91-1E73-246E5EE8CB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Estimating Confidence Intervals:</a:t>
            </a:r>
            <a:br>
              <a:rPr lang="en-US" altLang="en-US"/>
            </a:br>
            <a:r>
              <a:rPr lang="en-US" altLang="en-US"/>
              <a:t>Statistical Significance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55F839E0-443A-C3FB-9117-3928CB855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Are M</a:t>
            </a:r>
            <a:r>
              <a:rPr lang="en-US" altLang="en-US" sz="2400" baseline="-25000"/>
              <a:t>1</a:t>
            </a:r>
            <a:r>
              <a:rPr lang="en-US" altLang="en-US" sz="2400"/>
              <a:t> &amp; M</a:t>
            </a:r>
            <a:r>
              <a:rPr lang="en-US" altLang="en-US" sz="2400" baseline="-25000"/>
              <a:t>2</a:t>
            </a:r>
            <a:r>
              <a:rPr lang="en-US" altLang="en-US" sz="2400"/>
              <a:t> </a:t>
            </a:r>
            <a:r>
              <a:rPr lang="en-US" altLang="en-US" sz="2400" b="1"/>
              <a:t>significantly different</a:t>
            </a:r>
            <a:r>
              <a:rPr lang="en-US" altLang="en-US" sz="2400"/>
              <a:t>?</a:t>
            </a:r>
          </a:p>
          <a:p>
            <a:pPr lvl="1"/>
            <a:r>
              <a:rPr lang="en-US" altLang="en-US"/>
              <a:t>Compute </a:t>
            </a:r>
            <a:r>
              <a:rPr lang="en-US" altLang="en-US" i="1"/>
              <a:t>t. </a:t>
            </a:r>
            <a:r>
              <a:rPr lang="en-US" altLang="en-US"/>
              <a:t>Select </a:t>
            </a:r>
            <a:r>
              <a:rPr lang="en-US" altLang="en-US" i="1"/>
              <a:t>significance level</a:t>
            </a:r>
            <a:r>
              <a:rPr lang="en-US" altLang="en-US"/>
              <a:t> (e.g. </a:t>
            </a:r>
            <a:r>
              <a:rPr lang="en-US" altLang="en-US" i="1"/>
              <a:t>sig = 5%)</a:t>
            </a:r>
          </a:p>
          <a:p>
            <a:pPr lvl="1"/>
            <a:r>
              <a:rPr lang="en-US" altLang="en-US"/>
              <a:t>Consult table for t-distribution: Find </a:t>
            </a:r>
            <a:r>
              <a:rPr lang="en-US" altLang="en-US" i="1"/>
              <a:t>t value</a:t>
            </a:r>
            <a:r>
              <a:rPr lang="en-US" altLang="en-US"/>
              <a:t> corresponding to </a:t>
            </a:r>
            <a:r>
              <a:rPr lang="en-US" altLang="en-US" i="1"/>
              <a:t>k-1 degrees of freedom</a:t>
            </a:r>
            <a:r>
              <a:rPr lang="en-US" altLang="en-US"/>
              <a:t> (here, 9)</a:t>
            </a:r>
          </a:p>
          <a:p>
            <a:pPr lvl="1"/>
            <a:r>
              <a:rPr lang="en-US" altLang="en-US"/>
              <a:t>t-distribution is symmetric: typically upper % points of distribution shown → look up value for </a:t>
            </a:r>
            <a:r>
              <a:rPr lang="en-US" altLang="en-US" b="1"/>
              <a:t>confidence limit</a:t>
            </a:r>
            <a:r>
              <a:rPr lang="en-US" altLang="en-US"/>
              <a:t> </a:t>
            </a:r>
            <a:r>
              <a:rPr lang="en-US" altLang="en-US" i="1"/>
              <a:t>z=sig/2</a:t>
            </a:r>
            <a:r>
              <a:rPr lang="en-US" altLang="en-US"/>
              <a:t> (here, 0.025)</a:t>
            </a:r>
          </a:p>
          <a:p>
            <a:pPr lvl="1"/>
            <a:r>
              <a:rPr lang="en-US" altLang="en-US" b="1"/>
              <a:t>If</a:t>
            </a:r>
            <a:r>
              <a:rPr lang="en-US" altLang="en-US"/>
              <a:t> </a:t>
            </a:r>
            <a:r>
              <a:rPr lang="en-US" altLang="en-US" b="1"/>
              <a:t>t &gt; z or t &lt; -z</a:t>
            </a:r>
            <a:r>
              <a:rPr lang="en-US" altLang="en-US"/>
              <a:t>, then t value lies in rejection region:</a:t>
            </a:r>
          </a:p>
          <a:p>
            <a:pPr lvl="2"/>
            <a:r>
              <a:rPr lang="en-US" altLang="en-US" b="1"/>
              <a:t>Reject null hypothesis</a:t>
            </a:r>
            <a:r>
              <a:rPr lang="en-US" altLang="en-US"/>
              <a:t> that mean error rates of M</a:t>
            </a:r>
            <a:r>
              <a:rPr lang="en-US" altLang="en-US" baseline="-25000"/>
              <a:t>1</a:t>
            </a:r>
            <a:r>
              <a:rPr lang="en-US" altLang="en-US"/>
              <a:t> &amp; M</a:t>
            </a:r>
            <a:r>
              <a:rPr lang="en-US" altLang="en-US" baseline="-25000"/>
              <a:t>2</a:t>
            </a:r>
            <a:r>
              <a:rPr lang="en-US" altLang="en-US"/>
              <a:t> are same</a:t>
            </a:r>
          </a:p>
          <a:p>
            <a:pPr lvl="2"/>
            <a:r>
              <a:rPr lang="en-US" altLang="en-US"/>
              <a:t>Conclude: </a:t>
            </a:r>
            <a:r>
              <a:rPr lang="en-US" altLang="en-US" u="sng"/>
              <a:t>statistically significant</a:t>
            </a:r>
            <a:r>
              <a:rPr lang="en-US" altLang="en-US"/>
              <a:t> difference between M</a:t>
            </a:r>
            <a:r>
              <a:rPr lang="en-US" altLang="en-US" baseline="-25000"/>
              <a:t>1</a:t>
            </a:r>
            <a:r>
              <a:rPr lang="en-US" altLang="en-US"/>
              <a:t> &amp; M</a:t>
            </a:r>
            <a:r>
              <a:rPr lang="en-US" altLang="en-US" baseline="-25000"/>
              <a:t>2</a:t>
            </a:r>
            <a:r>
              <a:rPr lang="en-US" altLang="en-US"/>
              <a:t> </a:t>
            </a:r>
          </a:p>
          <a:p>
            <a:pPr lvl="1"/>
            <a:r>
              <a:rPr lang="en-US" altLang="en-US" b="1"/>
              <a:t>Otherwise</a:t>
            </a:r>
            <a:r>
              <a:rPr lang="en-US" altLang="en-US"/>
              <a:t>, conclude that any difference is </a:t>
            </a:r>
            <a:r>
              <a:rPr lang="en-US" altLang="en-US" b="1"/>
              <a:t>chance</a:t>
            </a:r>
            <a:endParaRPr lang="en-US" altLang="en-US"/>
          </a:p>
        </p:txBody>
      </p:sp>
      <p:sp>
        <p:nvSpPr>
          <p:cNvPr id="62468" name="Slide Number Placeholder 7">
            <a:extLst>
              <a:ext uri="{FF2B5EF4-FFF2-40B4-BE49-F238E27FC236}">
                <a16:creationId xmlns:a16="http://schemas.microsoft.com/office/drawing/2014/main" id="{4C3D64C8-1561-745C-F295-4D664FCEF8B0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25ABCC8C-D724-B448-8BAD-CD4DF5A1D9CD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55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6">
            <a:extLst>
              <a:ext uri="{FF2B5EF4-FFF2-40B4-BE49-F238E27FC236}">
                <a16:creationId xmlns:a16="http://schemas.microsoft.com/office/drawing/2014/main" id="{CF8B1694-412C-96A0-0292-5A3EF6A08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76201"/>
            <a:ext cx="3429000" cy="324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1" name="Rectangle 2">
            <a:extLst>
              <a:ext uri="{FF2B5EF4-FFF2-40B4-BE49-F238E27FC236}">
                <a16:creationId xmlns:a16="http://schemas.microsoft.com/office/drawing/2014/main" id="{0FF8C8F0-34A0-E668-7981-2CEA965A5D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6400800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Model Selection: ROC Curves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A6987EC2-4DD3-B3C8-C96D-8F98B15ACAA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52600" y="1295400"/>
            <a:ext cx="5562600" cy="5257800"/>
          </a:xfrm>
        </p:spPr>
        <p:txBody>
          <a:bodyPr>
            <a:normAutofit fontScale="92500"/>
          </a:bodyPr>
          <a:lstStyle/>
          <a:p>
            <a:pPr marL="457200" indent="-457200"/>
            <a:r>
              <a:rPr lang="en-US" altLang="en-US" sz="2400" b="1"/>
              <a:t>ROC</a:t>
            </a:r>
            <a:r>
              <a:rPr lang="en-US" altLang="en-US" sz="2400"/>
              <a:t> (Receiver Operating Characteristics) curves: for visual comparison of classification models</a:t>
            </a:r>
          </a:p>
          <a:p>
            <a:pPr marL="457200" indent="-457200"/>
            <a:r>
              <a:rPr lang="en-US" altLang="en-US" sz="2400"/>
              <a:t>Originated from signal detection theory</a:t>
            </a:r>
          </a:p>
          <a:p>
            <a:pPr marL="457200" indent="-457200"/>
            <a:r>
              <a:rPr lang="en-US" altLang="en-US" sz="2400"/>
              <a:t>Shows the trade-off between the true positive rate and the false positive rate</a:t>
            </a:r>
          </a:p>
          <a:p>
            <a:pPr marL="457200" indent="-457200"/>
            <a:r>
              <a:rPr lang="en-US" altLang="en-US" sz="2400"/>
              <a:t>The area under the ROC curve is a measure of the accuracy of the model</a:t>
            </a:r>
          </a:p>
          <a:p>
            <a:pPr marL="457200" indent="-457200"/>
            <a:r>
              <a:rPr lang="en-US" altLang="en-US" sz="2400"/>
              <a:t>Rank the test tuples in decreasing order: the one that is most likely to belong to the positive class appears at the top of the list</a:t>
            </a:r>
          </a:p>
          <a:p>
            <a:pPr marL="457200" indent="-457200"/>
            <a:r>
              <a:rPr lang="en-US" altLang="en-US" sz="2400"/>
              <a:t>The closer to the diagonal line (i.e., the closer the area is to 0.5), the less accurate is the model</a:t>
            </a:r>
          </a:p>
        </p:txBody>
      </p:sp>
      <p:sp>
        <p:nvSpPr>
          <p:cNvPr id="63493" name="Rectangle 7">
            <a:extLst>
              <a:ext uri="{FF2B5EF4-FFF2-40B4-BE49-F238E27FC236}">
                <a16:creationId xmlns:a16="http://schemas.microsoft.com/office/drawing/2014/main" id="{2610E983-F9ED-50A1-E7C8-AA2CEBE08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429000"/>
            <a:ext cx="33528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Vertical axis represents the true positive rate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Horizontal axis rep. the false positive rate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The plot also shows a diagonal line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400">
                <a:latin typeface="Calibri" panose="020F0502020204030204" pitchFamily="34" charset="0"/>
              </a:rPr>
              <a:t>A model with perfect accuracy will have an area of 1.0</a:t>
            </a:r>
          </a:p>
        </p:txBody>
      </p:sp>
      <p:sp>
        <p:nvSpPr>
          <p:cNvPr id="63494" name="Slide Number Placeholder 7">
            <a:extLst>
              <a:ext uri="{FF2B5EF4-FFF2-40B4-BE49-F238E27FC236}">
                <a16:creationId xmlns:a16="http://schemas.microsoft.com/office/drawing/2014/main" id="{2B182361-C7D8-00FD-DF6F-CCDA6EB3DE61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10FECF15-3356-544E-88B5-04F491281E95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56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6348B4D-3E96-8F8D-1165-D83D37051DA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152400"/>
            <a:ext cx="9601200" cy="8382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>
                <a:solidFill>
                  <a:srgbClr val="170981"/>
                </a:solidFill>
              </a:rPr>
              <a:t>Issues Affecting Model Selection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CA47EB8C-C4DD-FB2D-0B6A-094CCF75980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28801" y="1371600"/>
            <a:ext cx="8378825" cy="5257800"/>
          </a:xfrm>
          <a:noFill/>
        </p:spPr>
        <p:txBody>
          <a:bodyPr vert="horz" lIns="92075" tIns="46038" rIns="92075" bIns="46038" rtlCol="0"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b="1"/>
              <a:t>Accuracy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classifier accuracy: predicting class label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b="1"/>
              <a:t>Speed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time to construct the model (training time)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time to use the model (classification/prediction time)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b="1"/>
              <a:t>Robustness</a:t>
            </a:r>
            <a:r>
              <a:rPr lang="en-US" altLang="en-US" sz="2400"/>
              <a:t>: handling noise and missing values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b="1"/>
              <a:t>Scalability</a:t>
            </a:r>
            <a:r>
              <a:rPr lang="en-US" altLang="en-US" sz="2400"/>
              <a:t>: efficiency in disk-resident databases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b="1"/>
              <a:t>Interpretability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understanding and insight provided by the model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Other measures, e.g., goodness of rules, such as decision tree size or compactness of classification rules</a:t>
            </a:r>
          </a:p>
        </p:txBody>
      </p:sp>
      <p:sp>
        <p:nvSpPr>
          <p:cNvPr id="64516" name="Slide Number Placeholder 7">
            <a:extLst>
              <a:ext uri="{FF2B5EF4-FFF2-40B4-BE49-F238E27FC236}">
                <a16:creationId xmlns:a16="http://schemas.microsoft.com/office/drawing/2014/main" id="{A5528DD3-CA24-344A-A2F2-C216E77EDE4B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5E6B6F07-38D2-3245-BE41-8CDFEEF0A887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57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6">
            <a:extLst>
              <a:ext uri="{FF2B5EF4-FFF2-40B4-BE49-F238E27FC236}">
                <a16:creationId xmlns:a16="http://schemas.microsoft.com/office/drawing/2014/main" id="{F4597656-372A-9143-113B-AE96DF87EE3B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87CC1134-7F84-144E-84C8-E7F91C286EB7}" type="slidenum">
              <a:rPr lang="en-US" altLang="en-US" sz="1400" b="1">
                <a:latin typeface="Calibri" panose="020F0502020204030204" pitchFamily="34" charset="0"/>
              </a:rPr>
              <a:pPr algn="r" eaLnBrk="1" hangingPunct="1"/>
              <a:t>58</a:t>
            </a:fld>
            <a:endParaRPr lang="en-US" altLang="en-US" sz="1400" b="1">
              <a:latin typeface="Calibri" panose="020F050202020403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3A55749A-4655-EFAA-2500-316FA6ED118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81000"/>
            <a:ext cx="9144000" cy="6096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3200"/>
              <a:t>Chapter 8. Classification: Basic Concepts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EF1C73EB-1C9B-05DC-74DA-E4B1EC7F321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828800" y="1447800"/>
            <a:ext cx="8382000" cy="5105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en-US" dirty="0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Bayes Classification Methods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Model Evaluation and Selection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Techniques to Improve Classification Accuracy: Ensemble Methods</a:t>
            </a:r>
          </a:p>
          <a:p>
            <a:pPr>
              <a:lnSpc>
                <a:spcPct val="130000"/>
              </a:lnSpc>
            </a:pPr>
            <a:endParaRPr lang="en-US" altLang="en-US" dirty="0"/>
          </a:p>
        </p:txBody>
      </p:sp>
      <p:sp>
        <p:nvSpPr>
          <p:cNvPr id="65541" name="AutoShape 8">
            <a:extLst>
              <a:ext uri="{FF2B5EF4-FFF2-40B4-BE49-F238E27FC236}">
                <a16:creationId xmlns:a16="http://schemas.microsoft.com/office/drawing/2014/main" id="{9EC60F1A-CDE3-5B89-ECB1-54F66682605E}"/>
              </a:ext>
            </a:extLst>
          </p:cNvPr>
          <p:cNvSpPr>
            <a:spLocks noChangeArrowheads="1"/>
          </p:cNvSpPr>
          <p:nvPr/>
        </p:nvSpPr>
        <p:spPr bwMode="auto">
          <a:xfrm rot="9803581">
            <a:off x="9296400" y="4724400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4">
            <a:extLst>
              <a:ext uri="{FF2B5EF4-FFF2-40B4-BE49-F238E27FC236}">
                <a16:creationId xmlns:a16="http://schemas.microsoft.com/office/drawing/2014/main" id="{C8A36A71-9BD4-DC0A-579E-9AB897768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838201"/>
            <a:ext cx="4572000" cy="216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3" name="Rectangle 2">
            <a:extLst>
              <a:ext uri="{FF2B5EF4-FFF2-40B4-BE49-F238E27FC236}">
                <a16:creationId xmlns:a16="http://schemas.microsoft.com/office/drawing/2014/main" id="{60BD92A3-087D-4640-5D2B-22D7146B12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9372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Ensemble Methods: Increasing the Accuracy</a:t>
            </a: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A50F2BEB-6A3F-A912-B024-085582165C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2590800"/>
            <a:ext cx="8458200" cy="3810000"/>
          </a:xfrm>
        </p:spPr>
        <p:txBody>
          <a:bodyPr/>
          <a:lstStyle/>
          <a:p>
            <a:pPr eaLnBrk="1" hangingPunct="1"/>
            <a:r>
              <a:rPr lang="en-US" altLang="en-US" sz="2400"/>
              <a:t>Ensemble methods</a:t>
            </a:r>
          </a:p>
          <a:p>
            <a:pPr lvl="1" eaLnBrk="1" hangingPunct="1"/>
            <a:r>
              <a:rPr lang="en-US" altLang="en-US"/>
              <a:t>Use a combination of models to increase accuracy</a:t>
            </a:r>
          </a:p>
          <a:p>
            <a:pPr lvl="1" eaLnBrk="1" hangingPunct="1"/>
            <a:r>
              <a:rPr lang="en-US" altLang="en-US"/>
              <a:t>Combine a series of k learned models, M</a:t>
            </a:r>
            <a:r>
              <a:rPr lang="en-US" altLang="en-US" baseline="-25000"/>
              <a:t>1</a:t>
            </a:r>
            <a:r>
              <a:rPr lang="en-US" altLang="en-US"/>
              <a:t>, M</a:t>
            </a:r>
            <a:r>
              <a:rPr lang="en-US" altLang="en-US" baseline="-25000"/>
              <a:t>2</a:t>
            </a:r>
            <a:r>
              <a:rPr lang="en-US" altLang="en-US"/>
              <a:t>, …, M</a:t>
            </a:r>
            <a:r>
              <a:rPr lang="en-US" altLang="en-US" baseline="-25000"/>
              <a:t>k</a:t>
            </a:r>
            <a:r>
              <a:rPr lang="en-US" altLang="en-US"/>
              <a:t>, with the aim of creating an improved model M*</a:t>
            </a:r>
          </a:p>
          <a:p>
            <a:pPr eaLnBrk="1" hangingPunct="1"/>
            <a:r>
              <a:rPr lang="en-US" altLang="en-US" sz="2400"/>
              <a:t>Popular ensemble methods</a:t>
            </a:r>
          </a:p>
          <a:p>
            <a:pPr lvl="1" eaLnBrk="1" hangingPunct="1"/>
            <a:r>
              <a:rPr lang="en-US" altLang="en-US"/>
              <a:t>Bagging: averaging the prediction over a collection of classifiers</a:t>
            </a:r>
          </a:p>
          <a:p>
            <a:pPr lvl="1" eaLnBrk="1" hangingPunct="1"/>
            <a:r>
              <a:rPr lang="en-US" altLang="en-US"/>
              <a:t>Boosting: weighted vote with a collection of classifiers</a:t>
            </a:r>
          </a:p>
          <a:p>
            <a:pPr lvl="1" eaLnBrk="1" hangingPunct="1"/>
            <a:r>
              <a:rPr lang="en-US" altLang="en-US"/>
              <a:t>Ensemble: combining a set of heterogeneous classifiers</a:t>
            </a:r>
          </a:p>
        </p:txBody>
      </p:sp>
      <p:sp>
        <p:nvSpPr>
          <p:cNvPr id="66565" name="Slide Number Placeholder 7">
            <a:extLst>
              <a:ext uri="{FF2B5EF4-FFF2-40B4-BE49-F238E27FC236}">
                <a16:creationId xmlns:a16="http://schemas.microsoft.com/office/drawing/2014/main" id="{C93C30F5-D573-3B64-5A39-F6D17EFFA95D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291473C3-1025-104D-A388-4D3F15EE82CE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59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3D58E237-EBB8-C04B-A1E9-93C2C678F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85344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Bagging: Boostrap Aggregation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2424BD0-9E4F-5E41-6AEB-C7B226E0A8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458200" cy="5334000"/>
          </a:xfrm>
        </p:spPr>
        <p:txBody>
          <a:bodyPr/>
          <a:lstStyle/>
          <a:p>
            <a:pPr eaLnBrk="1" hangingPunct="1"/>
            <a:r>
              <a:rPr lang="en-US" altLang="en-US" sz="2000"/>
              <a:t>Analogy: Diagnosis based on multiple doctors’ majority vote</a:t>
            </a:r>
          </a:p>
          <a:p>
            <a:pPr eaLnBrk="1" hangingPunct="1"/>
            <a:r>
              <a:rPr lang="en-US" altLang="en-US" sz="2000"/>
              <a:t>Training</a:t>
            </a:r>
          </a:p>
          <a:p>
            <a:pPr lvl="1" eaLnBrk="1" hangingPunct="1"/>
            <a:r>
              <a:rPr lang="en-US" altLang="en-US" sz="2000"/>
              <a:t>Given a set D of </a:t>
            </a:r>
            <a:r>
              <a:rPr lang="en-US" altLang="en-US" sz="2000" i="1"/>
              <a:t>d </a:t>
            </a:r>
            <a:r>
              <a:rPr lang="en-US" altLang="en-US" sz="2000"/>
              <a:t>tuples, at each iteration </a:t>
            </a:r>
            <a:r>
              <a:rPr lang="en-US" altLang="en-US" sz="2000" i="1"/>
              <a:t>i</a:t>
            </a:r>
            <a:r>
              <a:rPr lang="en-US" altLang="en-US" sz="2000"/>
              <a:t>, a training set D</a:t>
            </a:r>
            <a:r>
              <a:rPr lang="en-US" altLang="en-US" sz="2000" baseline="-25000"/>
              <a:t>i</a:t>
            </a:r>
            <a:r>
              <a:rPr lang="en-US" altLang="en-US" sz="2000"/>
              <a:t> of </a:t>
            </a:r>
            <a:r>
              <a:rPr lang="en-US" altLang="en-US" sz="2000" i="1"/>
              <a:t>d</a:t>
            </a:r>
            <a:r>
              <a:rPr lang="en-US" altLang="en-US" sz="2000"/>
              <a:t> tuples is sampled with replacement from D (i.e., bootstrap)</a:t>
            </a:r>
          </a:p>
          <a:p>
            <a:pPr lvl="1" eaLnBrk="1" hangingPunct="1"/>
            <a:r>
              <a:rPr lang="en-US" altLang="en-US" sz="2000"/>
              <a:t>A classifier model M</a:t>
            </a:r>
            <a:r>
              <a:rPr lang="en-US" altLang="en-US" sz="2000" baseline="-25000"/>
              <a:t>i</a:t>
            </a:r>
            <a:r>
              <a:rPr lang="en-US" altLang="en-US" sz="2000"/>
              <a:t> is learned for each training set D</a:t>
            </a:r>
            <a:r>
              <a:rPr lang="en-US" altLang="en-US" sz="2000" baseline="-25000"/>
              <a:t>i</a:t>
            </a:r>
            <a:endParaRPr lang="en-US" altLang="en-US" sz="2000"/>
          </a:p>
          <a:p>
            <a:pPr eaLnBrk="1" hangingPunct="1"/>
            <a:r>
              <a:rPr lang="en-US" altLang="en-US" sz="2000"/>
              <a:t>Classification: classify an unknown sample</a:t>
            </a:r>
            <a:r>
              <a:rPr lang="en-US" altLang="en-US" sz="2000" b="1"/>
              <a:t> X</a:t>
            </a:r>
            <a:r>
              <a:rPr lang="en-US" altLang="en-US" sz="2000"/>
              <a:t> </a:t>
            </a:r>
          </a:p>
          <a:p>
            <a:pPr lvl="1" eaLnBrk="1" hangingPunct="1"/>
            <a:r>
              <a:rPr lang="en-US" altLang="en-US" sz="2000"/>
              <a:t>Each classifier M</a:t>
            </a:r>
            <a:r>
              <a:rPr lang="en-US" altLang="en-US" sz="2000" baseline="-25000"/>
              <a:t>i</a:t>
            </a:r>
            <a:r>
              <a:rPr lang="en-US" altLang="en-US" sz="2000"/>
              <a:t> returns its class prediction</a:t>
            </a:r>
          </a:p>
          <a:p>
            <a:pPr lvl="1" eaLnBrk="1" hangingPunct="1"/>
            <a:r>
              <a:rPr lang="en-US" altLang="en-US" sz="2000"/>
              <a:t>The bagged classifier M* counts the votes and assigns the class with the most votes to </a:t>
            </a:r>
            <a:r>
              <a:rPr lang="en-US" altLang="en-US" sz="2000" b="1"/>
              <a:t>X</a:t>
            </a:r>
            <a:endParaRPr lang="en-US" altLang="en-US" sz="2000"/>
          </a:p>
          <a:p>
            <a:pPr eaLnBrk="1" hangingPunct="1"/>
            <a:r>
              <a:rPr lang="en-US" altLang="en-US" sz="2000"/>
              <a:t>Prediction: can be applied to the prediction of continuous values by taking the average value of each prediction for a given test tuple</a:t>
            </a:r>
          </a:p>
          <a:p>
            <a:pPr eaLnBrk="1" hangingPunct="1"/>
            <a:r>
              <a:rPr lang="en-US" altLang="en-US" sz="2000"/>
              <a:t>Accuracy</a:t>
            </a:r>
          </a:p>
          <a:p>
            <a:pPr lvl="1" eaLnBrk="1" hangingPunct="1"/>
            <a:r>
              <a:rPr lang="en-US" altLang="en-US" sz="2000"/>
              <a:t>Often significantly better than a single classifier derived from D</a:t>
            </a:r>
          </a:p>
          <a:p>
            <a:pPr lvl="1" eaLnBrk="1" hangingPunct="1"/>
            <a:r>
              <a:rPr lang="en-US" altLang="en-US" sz="2000"/>
              <a:t>For noise data: not considerably worse, more robust </a:t>
            </a:r>
          </a:p>
          <a:p>
            <a:pPr lvl="1" eaLnBrk="1" hangingPunct="1"/>
            <a:r>
              <a:rPr lang="en-US" altLang="en-US" sz="2000"/>
              <a:t>Proved improved accuracy in prediction</a:t>
            </a:r>
          </a:p>
        </p:txBody>
      </p:sp>
      <p:sp>
        <p:nvSpPr>
          <p:cNvPr id="67588" name="Slide Number Placeholder 7">
            <a:extLst>
              <a:ext uri="{FF2B5EF4-FFF2-40B4-BE49-F238E27FC236}">
                <a16:creationId xmlns:a16="http://schemas.microsoft.com/office/drawing/2014/main" id="{816005A6-0AA1-58C7-D66C-280AA0198502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2E8E145E-5AE5-F044-954C-B243119F1086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60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26">
            <a:extLst>
              <a:ext uri="{FF2B5EF4-FFF2-40B4-BE49-F238E27FC236}">
                <a16:creationId xmlns:a16="http://schemas.microsoft.com/office/drawing/2014/main" id="{5E2DDB0A-AF82-1AB8-B5C2-93BE28210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84582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Boosting</a:t>
            </a:r>
            <a:endParaRPr lang="en-US" altLang="en-US" sz="2800"/>
          </a:p>
        </p:txBody>
      </p:sp>
      <p:sp>
        <p:nvSpPr>
          <p:cNvPr id="68611" name="Rectangle 1027">
            <a:extLst>
              <a:ext uri="{FF2B5EF4-FFF2-40B4-BE49-F238E27FC236}">
                <a16:creationId xmlns:a16="http://schemas.microsoft.com/office/drawing/2014/main" id="{E93234DF-DBAB-5BD4-22DF-B3D9CF8CB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1219200"/>
            <a:ext cx="8839200" cy="5486400"/>
          </a:xfrm>
        </p:spPr>
        <p:txBody>
          <a:bodyPr>
            <a:normAutofit fontScale="92500"/>
          </a:bodyPr>
          <a:lstStyle/>
          <a:p>
            <a:pPr marL="457200" indent="-457200"/>
            <a:r>
              <a:rPr lang="en-US" altLang="en-US" sz="2400"/>
              <a:t>Analogy: Consult several doctors, based on a combination of weighted diagnoses—weight assigned based on the previous diagnosis accuracy</a:t>
            </a:r>
          </a:p>
          <a:p>
            <a:pPr marL="457200" indent="-457200"/>
            <a:r>
              <a:rPr lang="en-US" altLang="en-US" sz="2400"/>
              <a:t>How boosting works?</a:t>
            </a:r>
          </a:p>
          <a:p>
            <a:pPr marL="914400" lvl="1" indent="-457200"/>
            <a:r>
              <a:rPr lang="en-US" altLang="en-US" b="1"/>
              <a:t>Weights</a:t>
            </a:r>
            <a:r>
              <a:rPr lang="en-US" altLang="en-US"/>
              <a:t> are assigned to each training tuple</a:t>
            </a:r>
          </a:p>
          <a:p>
            <a:pPr marL="914400" lvl="1" indent="-457200"/>
            <a:r>
              <a:rPr lang="en-US" altLang="en-US"/>
              <a:t>A series of k classifiers is iteratively learned</a:t>
            </a:r>
          </a:p>
          <a:p>
            <a:pPr marL="914400" lvl="1" indent="-457200"/>
            <a:r>
              <a:rPr lang="en-US" altLang="en-US"/>
              <a:t>After a classifier M</a:t>
            </a:r>
            <a:r>
              <a:rPr lang="en-US" altLang="en-US" baseline="-25000"/>
              <a:t>i</a:t>
            </a:r>
            <a:r>
              <a:rPr lang="en-US" altLang="en-US"/>
              <a:t> is learned, the weights are updated to allow the subsequent classifier, M</a:t>
            </a:r>
            <a:r>
              <a:rPr lang="en-US" altLang="en-US" baseline="-25000"/>
              <a:t>i+1</a:t>
            </a:r>
            <a:r>
              <a:rPr lang="en-US" altLang="en-US"/>
              <a:t>, to </a:t>
            </a:r>
            <a:r>
              <a:rPr lang="en-US" altLang="en-US" b="1"/>
              <a:t>pay more attention to the training tuples that were misclassified</a:t>
            </a:r>
            <a:r>
              <a:rPr lang="en-US" altLang="en-US"/>
              <a:t> by M</a:t>
            </a:r>
            <a:r>
              <a:rPr lang="en-US" altLang="en-US" baseline="-25000"/>
              <a:t>i</a:t>
            </a:r>
            <a:endParaRPr lang="en-US" altLang="en-US"/>
          </a:p>
          <a:p>
            <a:pPr marL="914400" lvl="1" indent="-457200"/>
            <a:r>
              <a:rPr lang="en-US" altLang="en-US"/>
              <a:t>The final </a:t>
            </a:r>
            <a:r>
              <a:rPr lang="en-US" altLang="en-US" b="1"/>
              <a:t>M* combines the votes</a:t>
            </a:r>
            <a:r>
              <a:rPr lang="en-US" altLang="en-US"/>
              <a:t> of each individual classifier, where the weight of each classifier's vote is a function of its accuracy</a:t>
            </a:r>
          </a:p>
          <a:p>
            <a:pPr marL="457200" indent="-457200"/>
            <a:r>
              <a:rPr lang="en-US" altLang="en-US" sz="2400"/>
              <a:t>Boosting algorithm can be extended for numeric prediction</a:t>
            </a:r>
          </a:p>
          <a:p>
            <a:pPr marL="457200" indent="-457200"/>
            <a:r>
              <a:rPr lang="en-US" altLang="en-US" sz="2400"/>
              <a:t>Comparing with bagging: Boosting tends to have greater accuracy, but it also risks overfitting the model to misclassified data</a:t>
            </a:r>
          </a:p>
        </p:txBody>
      </p:sp>
      <p:sp>
        <p:nvSpPr>
          <p:cNvPr id="68612" name="Slide Number Placeholder 7">
            <a:extLst>
              <a:ext uri="{FF2B5EF4-FFF2-40B4-BE49-F238E27FC236}">
                <a16:creationId xmlns:a16="http://schemas.microsoft.com/office/drawing/2014/main" id="{321AC3A8-45DE-CF96-C770-0803F6212094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CABB631A-FAE0-3B45-840C-790B9AE45182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61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7">
            <a:extLst>
              <a:ext uri="{FF2B5EF4-FFF2-40B4-BE49-F238E27FC236}">
                <a16:creationId xmlns:a16="http://schemas.microsoft.com/office/drawing/2014/main" id="{AA7867B1-DD3E-EB37-98BF-C82AB2E05E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8C8ED96C-2375-264E-AACF-9363AD642CCD}" type="slidenum">
              <a:rPr lang="en-US" altLang="en-US" smtClean="0"/>
              <a:pPr eaLnBrk="1" hangingPunct="1"/>
              <a:t>62</a:t>
            </a:fld>
            <a:endParaRPr lang="en-US" altLang="en-US" b="1">
              <a:latin typeface="Calibri" panose="020F050202020403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5FC168A9-9241-A747-86B6-500F49EFFB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Adaboost (Freund and Schapire, 1997)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10EF8675-7AA6-FF48-44E0-647C624C852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371600"/>
            <a:ext cx="8382000" cy="5105400"/>
          </a:xfrm>
        </p:spPr>
        <p:txBody>
          <a:bodyPr>
            <a:normAutofit lnSpcReduction="10000"/>
          </a:bodyPr>
          <a:lstStyle/>
          <a:p>
            <a:pPr marL="457200" indent="-457200"/>
            <a:r>
              <a:rPr lang="en-US" altLang="en-US" sz="2000"/>
              <a:t>Given a set of </a:t>
            </a:r>
            <a:r>
              <a:rPr lang="en-US" altLang="en-US" sz="2000" i="1"/>
              <a:t>d</a:t>
            </a:r>
            <a:r>
              <a:rPr lang="en-US" altLang="en-US" sz="2000"/>
              <a:t> class-labeled tuples, (</a:t>
            </a:r>
            <a:r>
              <a:rPr lang="en-US" altLang="en-US" sz="2000" b="1"/>
              <a:t>X</a:t>
            </a:r>
            <a:r>
              <a:rPr lang="en-US" altLang="en-US" sz="2000" b="1" baseline="-25000"/>
              <a:t>1</a:t>
            </a:r>
            <a:r>
              <a:rPr lang="en-US" altLang="en-US" sz="2000"/>
              <a:t>, y</a:t>
            </a:r>
            <a:r>
              <a:rPr lang="en-US" altLang="en-US" sz="2000" baseline="-25000"/>
              <a:t>1</a:t>
            </a:r>
            <a:r>
              <a:rPr lang="en-US" altLang="en-US" sz="2000"/>
              <a:t>), …, (</a:t>
            </a:r>
            <a:r>
              <a:rPr lang="en-US" altLang="en-US" sz="2000" b="1"/>
              <a:t>X</a:t>
            </a:r>
            <a:r>
              <a:rPr lang="en-US" altLang="en-US" sz="2000" b="1" baseline="-25000"/>
              <a:t>d</a:t>
            </a:r>
            <a:r>
              <a:rPr lang="en-US" altLang="en-US" sz="2000"/>
              <a:t>, y</a:t>
            </a:r>
            <a:r>
              <a:rPr lang="en-US" altLang="en-US" sz="2000" baseline="-25000"/>
              <a:t>d</a:t>
            </a:r>
            <a:r>
              <a:rPr lang="en-US" altLang="en-US" sz="2000"/>
              <a:t>)</a:t>
            </a:r>
          </a:p>
          <a:p>
            <a:pPr marL="457200" indent="-457200"/>
            <a:r>
              <a:rPr lang="en-US" altLang="en-US" sz="2000"/>
              <a:t>Initially, all the weights of tuples are set the same (1/d)</a:t>
            </a:r>
          </a:p>
          <a:p>
            <a:pPr marL="457200" indent="-457200"/>
            <a:r>
              <a:rPr lang="en-US" altLang="en-US" sz="2000"/>
              <a:t>Generate k classifiers in k rounds.  At round i,</a:t>
            </a:r>
          </a:p>
          <a:p>
            <a:pPr marL="914400" lvl="1" indent="-457200"/>
            <a:r>
              <a:rPr lang="en-US" altLang="en-US" sz="2000"/>
              <a:t>Tuples from D are sampled (with replacement) to form a training set D</a:t>
            </a:r>
            <a:r>
              <a:rPr lang="en-US" altLang="en-US" sz="2000" baseline="-25000"/>
              <a:t>i</a:t>
            </a:r>
            <a:r>
              <a:rPr lang="en-US" altLang="en-US" sz="2000"/>
              <a:t> of the same size</a:t>
            </a:r>
          </a:p>
          <a:p>
            <a:pPr marL="914400" lvl="1" indent="-457200"/>
            <a:r>
              <a:rPr lang="en-US" altLang="en-US" sz="2000"/>
              <a:t>Each tuple’s chance of being selected is based on its weight</a:t>
            </a:r>
          </a:p>
          <a:p>
            <a:pPr marL="914400" lvl="1" indent="-457200"/>
            <a:r>
              <a:rPr lang="en-US" altLang="en-US" sz="2000"/>
              <a:t>A classification model M</a:t>
            </a:r>
            <a:r>
              <a:rPr lang="en-US" altLang="en-US" sz="2000" baseline="-25000"/>
              <a:t>i</a:t>
            </a:r>
            <a:r>
              <a:rPr lang="en-US" altLang="en-US" sz="2000"/>
              <a:t> is derived from D</a:t>
            </a:r>
            <a:r>
              <a:rPr lang="en-US" altLang="en-US" sz="2000" baseline="-25000"/>
              <a:t>i</a:t>
            </a:r>
          </a:p>
          <a:p>
            <a:pPr marL="914400" lvl="1" indent="-457200"/>
            <a:r>
              <a:rPr lang="en-US" altLang="en-US" sz="2000"/>
              <a:t>Its error rate is calculated using D</a:t>
            </a:r>
            <a:r>
              <a:rPr lang="en-US" altLang="en-US" sz="2000" baseline="-25000"/>
              <a:t>i </a:t>
            </a:r>
            <a:r>
              <a:rPr lang="en-US" altLang="en-US" sz="2000"/>
              <a:t>as a test set</a:t>
            </a:r>
          </a:p>
          <a:p>
            <a:pPr marL="914400" lvl="1" indent="-457200"/>
            <a:r>
              <a:rPr lang="en-US" altLang="en-US" sz="2000"/>
              <a:t>If a tuple is misclassified, its weight is increased, o.w. it is decreased</a:t>
            </a:r>
          </a:p>
          <a:p>
            <a:pPr marL="457200" indent="-457200"/>
            <a:r>
              <a:rPr lang="en-US" altLang="en-US" sz="2000"/>
              <a:t>Error rate: err(</a:t>
            </a:r>
            <a:r>
              <a:rPr lang="en-US" altLang="en-US" sz="2000" b="1"/>
              <a:t>X</a:t>
            </a:r>
            <a:r>
              <a:rPr lang="en-US" altLang="en-US" sz="2000" b="1" baseline="-25000"/>
              <a:t>j</a:t>
            </a:r>
            <a:r>
              <a:rPr lang="en-US" altLang="en-US" sz="2000"/>
              <a:t>) is the misclassification error of tuple </a:t>
            </a:r>
            <a:r>
              <a:rPr lang="en-US" altLang="en-US" sz="2000" b="1"/>
              <a:t>X</a:t>
            </a:r>
            <a:r>
              <a:rPr lang="en-US" altLang="en-US" sz="2000" b="1" baseline="-25000"/>
              <a:t>j</a:t>
            </a:r>
            <a:r>
              <a:rPr lang="en-US" altLang="en-US" sz="2000"/>
              <a:t>. Classifier M</a:t>
            </a:r>
            <a:r>
              <a:rPr lang="en-US" altLang="en-US" sz="2000" baseline="-25000"/>
              <a:t>i</a:t>
            </a:r>
            <a:r>
              <a:rPr lang="en-US" altLang="en-US" sz="2000"/>
              <a:t> error rate is the sum of the weights of the misclassified tuples: </a:t>
            </a:r>
          </a:p>
          <a:p>
            <a:pPr marL="457200" indent="-457200"/>
            <a:endParaRPr lang="en-US" altLang="en-US" sz="2000"/>
          </a:p>
          <a:p>
            <a:pPr marL="457200" indent="-457200"/>
            <a:endParaRPr lang="en-US" altLang="en-US" sz="2000"/>
          </a:p>
          <a:p>
            <a:pPr marL="457200" indent="-457200"/>
            <a:r>
              <a:rPr lang="en-US" altLang="en-US" sz="2000"/>
              <a:t>The weight of classifier M</a:t>
            </a:r>
            <a:r>
              <a:rPr lang="en-US" altLang="en-US" sz="2000" baseline="-25000"/>
              <a:t>i</a:t>
            </a:r>
            <a:r>
              <a:rPr lang="en-US" altLang="en-US" sz="2000"/>
              <a:t>’s vote is</a:t>
            </a:r>
          </a:p>
        </p:txBody>
      </p:sp>
      <p:graphicFrame>
        <p:nvGraphicFramePr>
          <p:cNvPr id="69637" name="Object 4">
            <a:extLst>
              <a:ext uri="{FF2B5EF4-FFF2-40B4-BE49-F238E27FC236}">
                <a16:creationId xmlns:a16="http://schemas.microsoft.com/office/drawing/2014/main" id="{CEE74FBD-FBB2-5056-97FD-33C57EBF22B0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6477000" y="5715000"/>
          <a:ext cx="1828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158700" imgH="9944100" progId="Equation.3">
                  <p:embed/>
                </p:oleObj>
              </mc:Choice>
              <mc:Fallback>
                <p:oleObj name="Equation" r:id="rId3" imgW="25158700" imgH="9944100" progId="Equation.3">
                  <p:embed/>
                  <p:pic>
                    <p:nvPicPr>
                      <p:cNvPr id="69637" name="Object 4">
                        <a:extLst>
                          <a:ext uri="{FF2B5EF4-FFF2-40B4-BE49-F238E27FC236}">
                            <a16:creationId xmlns:a16="http://schemas.microsoft.com/office/drawing/2014/main" id="{CEE74FBD-FBB2-5056-97FD-33C57EBF22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715000"/>
                        <a:ext cx="1828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8" name="Object 6">
            <a:extLst>
              <a:ext uri="{FF2B5EF4-FFF2-40B4-BE49-F238E27FC236}">
                <a16:creationId xmlns:a16="http://schemas.microsoft.com/office/drawing/2014/main" id="{15FAB31C-B53E-1A69-5E41-971CE9DA3286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4038600" y="4953001"/>
          <a:ext cx="3505200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373300" imgH="10236200" progId="Equation.3">
                  <p:embed/>
                </p:oleObj>
              </mc:Choice>
              <mc:Fallback>
                <p:oleObj name="Equation" r:id="rId5" imgW="40373300" imgH="10236200" progId="Equation.3">
                  <p:embed/>
                  <p:pic>
                    <p:nvPicPr>
                      <p:cNvPr id="69638" name="Object 6">
                        <a:extLst>
                          <a:ext uri="{FF2B5EF4-FFF2-40B4-BE49-F238E27FC236}">
                            <a16:creationId xmlns:a16="http://schemas.microsoft.com/office/drawing/2014/main" id="{15FAB31C-B53E-1A69-5E41-971CE9DA32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953001"/>
                        <a:ext cx="3505200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6E990EFE-0E6C-A394-D1DE-DAA2AF006F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Random Forest (</a:t>
            </a:r>
            <a:r>
              <a:rPr lang="en-US" altLang="en-US" sz="3200"/>
              <a:t>Breiman 2001) 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E7C2BE91-7E23-A215-CDF3-5A20DE0E3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143000"/>
            <a:ext cx="8458200" cy="5410200"/>
          </a:xfrm>
        </p:spPr>
        <p:txBody>
          <a:bodyPr/>
          <a:lstStyle/>
          <a:p>
            <a:r>
              <a:rPr lang="en-US" altLang="en-US" sz="2000"/>
              <a:t>Random Forest: </a:t>
            </a:r>
          </a:p>
          <a:p>
            <a:pPr lvl="1"/>
            <a:r>
              <a:rPr lang="en-US" altLang="en-US" sz="2000"/>
              <a:t>Each classifier in the ensemble is a </a:t>
            </a:r>
            <a:r>
              <a:rPr lang="en-US" altLang="en-US" sz="2000" i="1"/>
              <a:t>decision tree </a:t>
            </a:r>
            <a:r>
              <a:rPr lang="en-US" altLang="en-US" sz="2000"/>
              <a:t>classifier and is generated using a random selection of attributes at each node to determine the split</a:t>
            </a:r>
          </a:p>
          <a:p>
            <a:pPr lvl="1"/>
            <a:r>
              <a:rPr lang="en-US" altLang="en-US" sz="2000"/>
              <a:t>During classification, each tree votes and the most popular class is returned</a:t>
            </a:r>
          </a:p>
          <a:p>
            <a:r>
              <a:rPr lang="en-US" altLang="en-US" sz="2000"/>
              <a:t>Two Methods to construct Random Forest:</a:t>
            </a:r>
          </a:p>
          <a:p>
            <a:pPr lvl="1"/>
            <a:r>
              <a:rPr lang="en-US" altLang="en-US" sz="2000"/>
              <a:t>Forest-RI (</a:t>
            </a:r>
            <a:r>
              <a:rPr lang="en-US" altLang="en-US" sz="2000" i="1"/>
              <a:t>random input selection</a:t>
            </a:r>
            <a:r>
              <a:rPr lang="en-US" altLang="en-US" sz="2000"/>
              <a:t>):  Randomly select, at each node, F attributes as candidates for the split at the node. The CART methodology is used to grow the trees to maximum size</a:t>
            </a:r>
          </a:p>
          <a:p>
            <a:pPr lvl="1"/>
            <a:r>
              <a:rPr lang="en-US" altLang="en-US" sz="2000"/>
              <a:t>Forest-RC (</a:t>
            </a:r>
            <a:r>
              <a:rPr lang="en-US" altLang="en-US" sz="2000" i="1"/>
              <a:t>random linear combinations</a:t>
            </a:r>
            <a:r>
              <a:rPr lang="en-US" altLang="en-US" sz="2000"/>
              <a:t>)</a:t>
            </a:r>
            <a:r>
              <a:rPr lang="en-US" altLang="en-US" sz="2000" i="1"/>
              <a:t>: </a:t>
            </a:r>
            <a:r>
              <a:rPr lang="en-US" altLang="en-US" sz="2000"/>
              <a:t> Creates new attributes (or features) that are a linear combination of the existing attributes (reduces the correlation between individual classifiers)</a:t>
            </a:r>
          </a:p>
          <a:p>
            <a:r>
              <a:rPr lang="en-US" altLang="en-US" sz="2000"/>
              <a:t>Comparable in accuracy to Adaboost, but more robust to errors and outliers </a:t>
            </a:r>
          </a:p>
          <a:p>
            <a:r>
              <a:rPr lang="en-US" altLang="en-US" sz="2000"/>
              <a:t>Insensitive to the number of attributes selected for consideration at each split, and faster than bagging or boosting</a:t>
            </a:r>
          </a:p>
        </p:txBody>
      </p:sp>
      <p:sp>
        <p:nvSpPr>
          <p:cNvPr id="70660" name="Slide Number Placeholder 7">
            <a:extLst>
              <a:ext uri="{FF2B5EF4-FFF2-40B4-BE49-F238E27FC236}">
                <a16:creationId xmlns:a16="http://schemas.microsoft.com/office/drawing/2014/main" id="{CE174537-E134-6A53-E4C1-19F5A52FB47E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9C458E6D-59AB-6747-945D-3F24DCA2679F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63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5676038E-B2F2-FEA2-307D-38D246C06D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609600"/>
          </a:xfrm>
        </p:spPr>
        <p:txBody>
          <a:bodyPr/>
          <a:lstStyle/>
          <a:p>
            <a:r>
              <a:rPr lang="en-US" altLang="en-US" sz="3200"/>
              <a:t>Classification of Class-Imbalanced Data Sets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EF9D67A4-6BC0-1E6E-3604-2FF4F5CF7D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686800" cy="510540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en-US" sz="2400"/>
              <a:t>Class-imbalance problem: Rare positive example but numerous negative ones, e.g., medical diagnosis, fraud, oil-spill, fault, etc. 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Traditional methods assume a balanced distribution of classes and equal error costs: not suitable for class-imbalanced data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Typical methods for imbalance data in 2-class classification: </a:t>
            </a:r>
          </a:p>
          <a:p>
            <a:pPr lvl="1">
              <a:lnSpc>
                <a:spcPct val="90000"/>
              </a:lnSpc>
            </a:pPr>
            <a:r>
              <a:rPr lang="en-US" altLang="en-US" b="1"/>
              <a:t>Oversampling</a:t>
            </a:r>
            <a:r>
              <a:rPr lang="en-US" altLang="en-US"/>
              <a:t>: re-sampling of data from positive class</a:t>
            </a:r>
          </a:p>
          <a:p>
            <a:pPr lvl="1">
              <a:lnSpc>
                <a:spcPct val="90000"/>
              </a:lnSpc>
            </a:pPr>
            <a:r>
              <a:rPr lang="en-US" altLang="en-US" b="1"/>
              <a:t>Under-sampling</a:t>
            </a:r>
            <a:r>
              <a:rPr lang="en-US" altLang="en-US"/>
              <a:t>: randomly eliminate  tuples from negative class</a:t>
            </a:r>
          </a:p>
          <a:p>
            <a:pPr lvl="1">
              <a:lnSpc>
                <a:spcPct val="90000"/>
              </a:lnSpc>
            </a:pPr>
            <a:r>
              <a:rPr lang="en-US" altLang="en-US" b="1"/>
              <a:t>Threshold-moving</a:t>
            </a:r>
            <a:r>
              <a:rPr lang="en-US" altLang="en-US"/>
              <a:t>: moves the decision threshold, t, so that the rare class tuples are easier to classify, and hence, less chance of costly false negative errors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Ensemble techniques: Ensemble multiple classifiers introduced above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Still difficult for class imbalance problem on multiclass tasks</a:t>
            </a:r>
          </a:p>
        </p:txBody>
      </p:sp>
      <p:sp>
        <p:nvSpPr>
          <p:cNvPr id="71684" name="Slide Number Placeholder 7">
            <a:extLst>
              <a:ext uri="{FF2B5EF4-FFF2-40B4-BE49-F238E27FC236}">
                <a16:creationId xmlns:a16="http://schemas.microsoft.com/office/drawing/2014/main" id="{976BD378-C2F6-C790-F1A8-27113FC50B52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F2FC5AFE-2364-EC44-BD83-8F5E7182E5E4}" type="slidenum">
              <a:rPr lang="en-US" altLang="en-US" sz="1200" b="1">
                <a:latin typeface="Calibri" panose="020F0502020204030204" pitchFamily="34" charset="0"/>
              </a:rPr>
              <a:pPr algn="r" eaLnBrk="1" hangingPunct="1"/>
              <a:t>64</a:t>
            </a:fld>
            <a:endParaRPr lang="en-US" altLang="en-US" sz="1200" b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Classification Errors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600" b="1" dirty="0"/>
              <a:t>Training errors</a:t>
            </a:r>
            <a:r>
              <a:rPr lang="en-US" altLang="en-US" sz="1400" dirty="0"/>
              <a:t>: </a:t>
            </a:r>
            <a:r>
              <a:rPr lang="en-US" altLang="en-US" sz="1200" dirty="0"/>
              <a:t>Errors committed on the training set</a:t>
            </a:r>
          </a:p>
          <a:p>
            <a:pPr lvl="1"/>
            <a:endParaRPr lang="en-US" altLang="en-US" sz="1200" dirty="0"/>
          </a:p>
          <a:p>
            <a:r>
              <a:rPr lang="en-US" altLang="en-US" sz="1600" b="1" dirty="0"/>
              <a:t>Test errors</a:t>
            </a:r>
            <a:r>
              <a:rPr lang="en-US" altLang="en-US" sz="1400" dirty="0"/>
              <a:t>:  </a:t>
            </a:r>
            <a:r>
              <a:rPr lang="en-US" altLang="en-US" sz="1200" dirty="0"/>
              <a:t>Errors committed on the test set</a:t>
            </a:r>
          </a:p>
          <a:p>
            <a:pPr lvl="1"/>
            <a:endParaRPr lang="en-US" altLang="en-US" sz="1200" dirty="0"/>
          </a:p>
          <a:p>
            <a:r>
              <a:rPr lang="en-US" altLang="en-US" sz="1600" b="1" dirty="0"/>
              <a:t>Generalization errors</a:t>
            </a:r>
            <a:r>
              <a:rPr lang="en-US" altLang="en-US" sz="1400" dirty="0"/>
              <a:t>: </a:t>
            </a:r>
            <a:r>
              <a:rPr lang="en-US" altLang="en-US" sz="1200" dirty="0"/>
              <a:t>Expected error of a model over random selection of records from same distribution</a:t>
            </a:r>
          </a:p>
        </p:txBody>
      </p:sp>
      <p:graphicFrame>
        <p:nvGraphicFramePr>
          <p:cNvPr id="4" name="Object 26">
            <a:extLst>
              <a:ext uri="{FF2B5EF4-FFF2-40B4-BE49-F238E27FC236}">
                <a16:creationId xmlns:a16="http://schemas.microsoft.com/office/drawing/2014/main" id="{EA275511-3D72-4E9A-B133-E7DF2C3BDE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1" y="3175000"/>
          <a:ext cx="4600365" cy="330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432800" imgH="6286500" progId="Visio.Drawing.6">
                  <p:embed/>
                </p:oleObj>
              </mc:Choice>
              <mc:Fallback>
                <p:oleObj name="Visio" r:id="rId2" imgW="8432800" imgH="6286500" progId="Visio.Drawing.6">
                  <p:embed/>
                  <p:pic>
                    <p:nvPicPr>
                      <p:cNvPr id="4" name="Object 26">
                        <a:extLst>
                          <a:ext uri="{FF2B5EF4-FFF2-40B4-BE49-F238E27FC236}">
                            <a16:creationId xmlns:a16="http://schemas.microsoft.com/office/drawing/2014/main" id="{EA275511-3D72-4E9A-B133-E7DF2C3BDE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3175000"/>
                        <a:ext cx="4600365" cy="330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AECBF0-F1DF-3488-C9E1-007FB39CA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Data Set</a:t>
            </a: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7467600" y="1295401"/>
            <a:ext cx="297180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800" dirty="0"/>
              <a:t>Two class problem: </a:t>
            </a:r>
          </a:p>
          <a:p>
            <a:pPr>
              <a:spcBef>
                <a:spcPct val="50000"/>
              </a:spcBef>
              <a:defRPr/>
            </a:pPr>
            <a:r>
              <a:rPr lang="en-US" altLang="en-US" sz="1800" dirty="0">
                <a:solidFill>
                  <a:srgbClr val="0070C0"/>
                </a:solidFill>
              </a:rPr>
              <a:t>+ : 5400 instances</a:t>
            </a:r>
          </a:p>
          <a:p>
            <a:pPr marL="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solidFill>
                  <a:srgbClr val="0070C0"/>
                </a:solidFill>
              </a:rPr>
              <a:t> </a:t>
            </a:r>
            <a:r>
              <a:rPr lang="en-US" altLang="en-US" sz="1400" dirty="0">
                <a:solidFill>
                  <a:srgbClr val="0070C0"/>
                </a:solidFill>
              </a:rPr>
              <a:t>5000 instances generated from a Gaussian centered at (10,10)</a:t>
            </a:r>
          </a:p>
          <a:p>
            <a:pPr marL="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solidFill>
                  <a:srgbClr val="0070C0"/>
                </a:solidFill>
              </a:rPr>
              <a:t> 400 noisy instances added</a:t>
            </a:r>
            <a:r>
              <a:rPr lang="en-US" altLang="en-US" sz="1800" dirty="0"/>
              <a:t>	</a:t>
            </a:r>
          </a:p>
          <a:p>
            <a:pPr>
              <a:spcBef>
                <a:spcPct val="50000"/>
              </a:spcBef>
              <a:defRPr/>
            </a:pPr>
            <a:r>
              <a:rPr lang="en-US" altLang="en-US" sz="1800" dirty="0">
                <a:solidFill>
                  <a:srgbClr val="FF0000"/>
                </a:solidFill>
              </a:rPr>
              <a:t>o : 5400 instances </a:t>
            </a:r>
          </a:p>
          <a:p>
            <a:pPr marL="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solidFill>
                  <a:srgbClr val="FF0000"/>
                </a:solidFill>
              </a:rPr>
              <a:t> Generated from a uniform distribution</a:t>
            </a:r>
          </a:p>
          <a:p>
            <a:pPr>
              <a:spcBef>
                <a:spcPct val="50000"/>
              </a:spcBef>
              <a:defRPr/>
            </a:pPr>
            <a:endParaRPr lang="en-US" altLang="en-US" sz="18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en-US" sz="1800" dirty="0"/>
              <a:t>10 % of the data used for training and 90% of the data used for testing</a:t>
            </a:r>
          </a:p>
          <a:p>
            <a:pPr>
              <a:spcBef>
                <a:spcPct val="50000"/>
              </a:spcBef>
              <a:defRPr/>
            </a:pPr>
            <a:br>
              <a:rPr lang="en-US" altLang="en-US" sz="1800" dirty="0"/>
            </a:br>
            <a:endParaRPr lang="en-US" altLang="en-US" sz="1800" dirty="0">
              <a:sym typeface="Symbol" pitchFamily="18" charset="2"/>
            </a:endParaRPr>
          </a:p>
        </p:txBody>
      </p:sp>
      <p:pic>
        <p:nvPicPr>
          <p:cNvPr id="717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6400" y="1612900"/>
            <a:ext cx="5715000" cy="4140200"/>
          </a:xfr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1FE771-6F18-4983-6962-2A1577CDD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Increasing number of nodes in Decision Trees</a:t>
            </a:r>
          </a:p>
        </p:txBody>
      </p:sp>
      <p:pic>
        <p:nvPicPr>
          <p:cNvPr id="819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1600200" y="1219200"/>
            <a:ext cx="8686800" cy="51054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17A90B-BE35-3D0C-7E50-018CBE72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Decision Tree with 4 nodes</a:t>
            </a:r>
          </a:p>
        </p:txBody>
      </p:sp>
      <p:pic>
        <p:nvPicPr>
          <p:cNvPr id="9218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1600200" y="1219200"/>
            <a:ext cx="8686800" cy="5105400"/>
          </a:xfrm>
        </p:spPr>
      </p:pic>
      <p:cxnSp>
        <p:nvCxnSpPr>
          <p:cNvPr id="9221" name="Straight Arrow Connector 2"/>
          <p:cNvCxnSpPr>
            <a:cxnSpLocks noChangeShapeType="1"/>
          </p:cNvCxnSpPr>
          <p:nvPr/>
        </p:nvCxnSpPr>
        <p:spPr bwMode="auto">
          <a:xfrm flipV="1">
            <a:off x="2514600" y="5099050"/>
            <a:ext cx="0" cy="3810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2" name="TextBox 5"/>
          <p:cNvSpPr txBox="1">
            <a:spLocks noChangeArrowheads="1"/>
          </p:cNvSpPr>
          <p:nvPr/>
        </p:nvSpPr>
        <p:spPr bwMode="auto">
          <a:xfrm>
            <a:off x="3505200" y="3944938"/>
            <a:ext cx="16764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/>
              <a:t>Decision Tree</a:t>
            </a:r>
          </a:p>
        </p:txBody>
      </p:sp>
      <p:sp>
        <p:nvSpPr>
          <p:cNvPr id="9223" name="TextBox 10"/>
          <p:cNvSpPr txBox="1">
            <a:spLocks noChangeArrowheads="1"/>
          </p:cNvSpPr>
          <p:nvPr/>
        </p:nvSpPr>
        <p:spPr bwMode="auto">
          <a:xfrm>
            <a:off x="6705601" y="5105401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/>
              <a:t>Decision boundaries on Training data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344" y="2095500"/>
            <a:ext cx="3640986" cy="274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658" y="1524000"/>
            <a:ext cx="2345389" cy="1828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161832-1C93-B1D1-1E7D-79677D63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Decision Tree with 50 nodes</a:t>
            </a:r>
          </a:p>
        </p:txBody>
      </p:sp>
      <p:pic>
        <p:nvPicPr>
          <p:cNvPr id="10242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1600200" y="1219200"/>
            <a:ext cx="8686800" cy="5105400"/>
          </a:xfrm>
        </p:spPr>
      </p:pic>
      <p:cxnSp>
        <p:nvCxnSpPr>
          <p:cNvPr id="10245" name="Straight Arrow Connector 5"/>
          <p:cNvCxnSpPr>
            <a:cxnSpLocks noChangeShapeType="1"/>
          </p:cNvCxnSpPr>
          <p:nvPr/>
        </p:nvCxnSpPr>
        <p:spPr bwMode="auto">
          <a:xfrm flipV="1">
            <a:off x="4648200" y="5334000"/>
            <a:ext cx="0" cy="3810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6" name="TextBox 6"/>
          <p:cNvSpPr txBox="1">
            <a:spLocks noChangeArrowheads="1"/>
          </p:cNvSpPr>
          <p:nvPr/>
        </p:nvSpPr>
        <p:spPr bwMode="auto">
          <a:xfrm>
            <a:off x="3505200" y="3944938"/>
            <a:ext cx="16764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/>
              <a:t>Decision Tree</a:t>
            </a:r>
          </a:p>
        </p:txBody>
      </p:sp>
      <p:sp>
        <p:nvSpPr>
          <p:cNvPr id="10247" name="TextBox 7"/>
          <p:cNvSpPr txBox="1">
            <a:spLocks noChangeArrowheads="1"/>
          </p:cNvSpPr>
          <p:nvPr/>
        </p:nvSpPr>
        <p:spPr bwMode="auto">
          <a:xfrm>
            <a:off x="3505200" y="3944938"/>
            <a:ext cx="16764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/>
              <a:t>Decision Tree</a:t>
            </a:r>
          </a:p>
        </p:txBody>
      </p:sp>
      <p:sp>
        <p:nvSpPr>
          <p:cNvPr id="10248" name="TextBox 8"/>
          <p:cNvSpPr txBox="1">
            <a:spLocks noChangeArrowheads="1"/>
          </p:cNvSpPr>
          <p:nvPr/>
        </p:nvSpPr>
        <p:spPr bwMode="auto">
          <a:xfrm>
            <a:off x="6705601" y="5108576"/>
            <a:ext cx="27844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/>
              <a:t>Decision boundaries on Training data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345" y="2057400"/>
            <a:ext cx="3727510" cy="274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2824" y="1614351"/>
            <a:ext cx="3045649" cy="2286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0BF413-37C2-9F04-5C9F-D9B7E65F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Which tree is better?</a:t>
            </a:r>
          </a:p>
        </p:txBody>
      </p:sp>
      <p:pic>
        <p:nvPicPr>
          <p:cNvPr id="11266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1600200" y="1219200"/>
            <a:ext cx="8686800" cy="5105400"/>
          </a:xfrm>
        </p:spPr>
      </p:pic>
      <p:sp>
        <p:nvSpPr>
          <p:cNvPr id="11269" name="TextBox 4"/>
          <p:cNvSpPr txBox="1">
            <a:spLocks noChangeArrowheads="1"/>
          </p:cNvSpPr>
          <p:nvPr/>
        </p:nvSpPr>
        <p:spPr bwMode="auto">
          <a:xfrm>
            <a:off x="3352800" y="4097339"/>
            <a:ext cx="2743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Decision Tree with 4 nodes</a:t>
            </a:r>
          </a:p>
        </p:txBody>
      </p:sp>
      <p:sp>
        <p:nvSpPr>
          <p:cNvPr id="11270" name="TextBox 7"/>
          <p:cNvSpPr txBox="1">
            <a:spLocks noChangeArrowheads="1"/>
          </p:cNvSpPr>
          <p:nvPr/>
        </p:nvSpPr>
        <p:spPr bwMode="auto">
          <a:xfrm>
            <a:off x="7010400" y="4799014"/>
            <a:ext cx="2743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Decision Tree with 50 nodes</a:t>
            </a:r>
          </a:p>
        </p:txBody>
      </p:sp>
      <p:sp>
        <p:nvSpPr>
          <p:cNvPr id="11271" name="TextBox 8"/>
          <p:cNvSpPr txBox="1">
            <a:spLocks noChangeArrowheads="1"/>
          </p:cNvSpPr>
          <p:nvPr/>
        </p:nvSpPr>
        <p:spPr bwMode="auto">
          <a:xfrm>
            <a:off x="3810000" y="4462464"/>
            <a:ext cx="27432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Which tree is better ?</a:t>
            </a:r>
          </a:p>
        </p:txBody>
      </p:sp>
      <p:cxnSp>
        <p:nvCxnSpPr>
          <p:cNvPr id="11272" name="Straight Arrow Connector 10"/>
          <p:cNvCxnSpPr>
            <a:cxnSpLocks noChangeShapeType="1"/>
          </p:cNvCxnSpPr>
          <p:nvPr/>
        </p:nvCxnSpPr>
        <p:spPr bwMode="auto">
          <a:xfrm flipV="1">
            <a:off x="2590800" y="4097338"/>
            <a:ext cx="762000" cy="8128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671" y="2513013"/>
            <a:ext cx="3106258" cy="2286000"/>
          </a:xfrm>
          <a:prstGeom prst="rect">
            <a:avLst/>
          </a:prstGeom>
        </p:spPr>
      </p:pic>
      <p:cxnSp>
        <p:nvCxnSpPr>
          <p:cNvPr id="11273" name="Straight Arrow Connector 12"/>
          <p:cNvCxnSpPr>
            <a:cxnSpLocks noChangeShapeType="1"/>
          </p:cNvCxnSpPr>
          <p:nvPr/>
        </p:nvCxnSpPr>
        <p:spPr bwMode="auto">
          <a:xfrm flipV="1">
            <a:off x="4800600" y="4527459"/>
            <a:ext cx="1981200" cy="6096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323" y="1840004"/>
            <a:ext cx="3034155" cy="2286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0E199F-3049-5CF0-273C-BD623844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 </a:t>
            </a:r>
            <a:r>
              <a:rPr lang="en-US" altLang="en-US" dirty="0" err="1"/>
              <a:t>Underfitting</a:t>
            </a:r>
            <a:r>
              <a:rPr lang="en-US" altLang="en-US" dirty="0"/>
              <a:t> and Overfitting</a:t>
            </a:r>
          </a:p>
        </p:txBody>
      </p:sp>
      <p:sp>
        <p:nvSpPr>
          <p:cNvPr id="12290" name="Text Box 7"/>
          <p:cNvSpPr txBox="1">
            <a:spLocks noChangeArrowheads="1"/>
          </p:cNvSpPr>
          <p:nvPr/>
        </p:nvSpPr>
        <p:spPr bwMode="auto">
          <a:xfrm>
            <a:off x="1828800" y="5410201"/>
            <a:ext cx="86868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 err="1"/>
              <a:t>Underfitting</a:t>
            </a:r>
            <a:r>
              <a:rPr lang="en-US" altLang="en-US" sz="1800" dirty="0"/>
              <a:t>: when model is too simple, both training and test errors are large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Overfitting: when model is too complex, training error is small but test error is large</a:t>
            </a:r>
            <a:endParaRPr lang="en-US" altLang="en-US" sz="1800" dirty="0">
              <a:sym typeface="Symbol" charset="2"/>
            </a:endParaRPr>
          </a:p>
        </p:txBody>
      </p:sp>
      <p:pic>
        <p:nvPicPr>
          <p:cNvPr id="12291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48350" y="914400"/>
            <a:ext cx="5048250" cy="3657600"/>
          </a:xfrm>
          <a:noFill/>
        </p:spPr>
      </p:pic>
      <p:pic>
        <p:nvPicPr>
          <p:cNvPr id="12292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14400"/>
            <a:ext cx="504825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667000" y="4495801"/>
            <a:ext cx="708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Arial" charset="0"/>
              <a:buChar char="•"/>
            </a:pPr>
            <a:r>
              <a:rPr lang="en-US" altLang="en-US" dirty="0">
                <a:sym typeface="Symbol" charset="2"/>
              </a:rPr>
              <a:t>As the model becomes more and more complex, test errors can start increasing even though training error may be decreasing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886B61-7387-AE22-5F2E-13BFB736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Model Overfitting – Impact of Training Data Size</a:t>
            </a:r>
          </a:p>
        </p:txBody>
      </p:sp>
      <p:pic>
        <p:nvPicPr>
          <p:cNvPr id="13314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76350" y="838200"/>
            <a:ext cx="5048250" cy="3657600"/>
          </a:xfrm>
          <a:noFill/>
        </p:spPr>
      </p:pic>
      <p:pic>
        <p:nvPicPr>
          <p:cNvPr id="13315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838201"/>
            <a:ext cx="5257800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1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19" t="9634" r="13583" b="75781"/>
          <a:stretch>
            <a:fillRect/>
          </a:stretch>
        </p:blipFill>
        <p:spPr bwMode="auto">
          <a:xfrm>
            <a:off x="9067800" y="1143000"/>
            <a:ext cx="11811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6143625" y="4419600"/>
            <a:ext cx="4495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Using twice the number of data instances</a:t>
            </a:r>
          </a:p>
        </p:txBody>
      </p:sp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1828800" y="4953001"/>
            <a:ext cx="8686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</a:pPr>
            <a:r>
              <a:rPr lang="en-US" altLang="en-US" sz="1800" dirty="0">
                <a:sym typeface="Symbol" charset="2"/>
              </a:rPr>
              <a:t>Increasing the size of training data reduces the difference between training and testing errors at a given size of 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1D18DD-1E30-F801-FE1B-92CA4EDDB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Model Overfitting – Impact of Training Data Size</a:t>
            </a:r>
          </a:p>
        </p:txBody>
      </p:sp>
      <p:pic>
        <p:nvPicPr>
          <p:cNvPr id="13314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76350" y="838200"/>
            <a:ext cx="5048250" cy="3657600"/>
          </a:xfrm>
          <a:noFill/>
        </p:spPr>
      </p:pic>
      <p:pic>
        <p:nvPicPr>
          <p:cNvPr id="13315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838201"/>
            <a:ext cx="5257800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1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19" t="9634" r="13583" b="75781"/>
          <a:stretch>
            <a:fillRect/>
          </a:stretch>
        </p:blipFill>
        <p:spPr bwMode="auto">
          <a:xfrm>
            <a:off x="9067800" y="1143000"/>
            <a:ext cx="11811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6143625" y="4419600"/>
            <a:ext cx="4495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Using twice the number of data instances</a:t>
            </a:r>
          </a:p>
        </p:txBody>
      </p:sp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1828800" y="4953001"/>
            <a:ext cx="8686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</a:pPr>
            <a:r>
              <a:rPr lang="en-US" altLang="en-US" sz="1800" dirty="0">
                <a:sym typeface="Symbol" charset="2"/>
              </a:rPr>
              <a:t>Increasing the size of training data reduces the difference between training and testing errors at a given size of model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676400"/>
            <a:ext cx="1800012" cy="1371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1" y="1752600"/>
            <a:ext cx="1863755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10394" y="3095239"/>
            <a:ext cx="289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Decision Tree with 50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2844" y="3048001"/>
            <a:ext cx="289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Decision Tree with 50 nodes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2CAD9-7560-D259-1064-E1797AE5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3859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Reasons for Model Overfitting</a:t>
            </a:r>
          </a:p>
        </p:txBody>
      </p:sp>
      <p:sp>
        <p:nvSpPr>
          <p:cNvPr id="143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Not enough training data</a:t>
            </a:r>
          </a:p>
          <a:p>
            <a:endParaRPr lang="en-US" altLang="en-US" dirty="0"/>
          </a:p>
          <a:p>
            <a:r>
              <a:rPr lang="en-US" altLang="en-US" dirty="0"/>
              <a:t>High model complexity</a:t>
            </a:r>
          </a:p>
          <a:p>
            <a:endParaRPr lang="en-US" altLang="en-US" sz="500" dirty="0"/>
          </a:p>
          <a:p>
            <a:pPr lvl="1"/>
            <a:r>
              <a:rPr lang="en-US" altLang="en-US" dirty="0"/>
              <a:t>Multiple Comparison Procedure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CC33CB-5D27-B690-B382-F6D1B56A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610600" cy="533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Effect of Multiple Comparison Procedure</a:t>
            </a:r>
          </a:p>
        </p:txBody>
      </p:sp>
      <p:sp>
        <p:nvSpPr>
          <p:cNvPr id="1014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35164" y="1143000"/>
            <a:ext cx="5989637" cy="5181600"/>
          </a:xfrm>
        </p:spPr>
        <p:txBody>
          <a:bodyPr/>
          <a:lstStyle/>
          <a:p>
            <a:r>
              <a:rPr lang="en-US" altLang="en-US" sz="2400"/>
              <a:t>Consider the task of predicting whether stock market will rise/fall in the next 10 trading days</a:t>
            </a:r>
          </a:p>
          <a:p>
            <a:pPr lvl="4"/>
            <a:endParaRPr lang="en-US" altLang="en-US">
              <a:latin typeface="Times New Roman" charset="0"/>
            </a:endParaRPr>
          </a:p>
          <a:p>
            <a:r>
              <a:rPr lang="en-US" altLang="en-US" sz="2400"/>
              <a:t>Random guessing:</a:t>
            </a:r>
          </a:p>
          <a:p>
            <a:pPr lvl="1">
              <a:buFont typeface="Arial" charset="0"/>
              <a:buNone/>
            </a:pPr>
            <a:r>
              <a:rPr lang="en-US" altLang="en-US" i="1">
                <a:latin typeface="Times New Roman" charset="0"/>
              </a:rPr>
              <a:t> P</a:t>
            </a:r>
            <a:r>
              <a:rPr lang="en-US" altLang="en-US"/>
              <a:t>(</a:t>
            </a:r>
            <a:r>
              <a:rPr lang="en-US" altLang="en-US" i="1">
                <a:latin typeface="Times New Roman" charset="0"/>
              </a:rPr>
              <a:t>correct</a:t>
            </a:r>
            <a:r>
              <a:rPr lang="en-US" altLang="en-US"/>
              <a:t>) = 0.5</a:t>
            </a:r>
          </a:p>
          <a:p>
            <a:pPr lvl="1">
              <a:buFont typeface="Arial" charset="0"/>
              <a:buNone/>
            </a:pPr>
            <a:endParaRPr lang="en-US" altLang="en-US"/>
          </a:p>
          <a:p>
            <a:r>
              <a:rPr lang="en-US" altLang="en-US" sz="2400"/>
              <a:t>Make 10 random guesses in a row:</a:t>
            </a:r>
          </a:p>
          <a:p>
            <a:pPr lvl="1">
              <a:buFont typeface="Arial" charset="0"/>
              <a:buNone/>
            </a:pPr>
            <a:r>
              <a:rPr lang="en-US" altLang="en-US"/>
              <a:t> </a:t>
            </a:r>
          </a:p>
          <a:p>
            <a:endParaRPr lang="en-US" altLang="en-US" sz="2400"/>
          </a:p>
          <a:p>
            <a:endParaRPr lang="en-US" altLang="en-US" sz="2400"/>
          </a:p>
        </p:txBody>
      </p:sp>
      <p:graphicFrame>
        <p:nvGraphicFramePr>
          <p:cNvPr id="1014829" name="Group 45"/>
          <p:cNvGraphicFramePr>
            <a:graphicFrameLocks noGrp="1"/>
          </p:cNvGraphicFramePr>
          <p:nvPr>
            <p:ph sz="quarter" idx="2"/>
          </p:nvPr>
        </p:nvGraphicFramePr>
        <p:xfrm>
          <a:off x="8305801" y="1295400"/>
          <a:ext cx="2100263" cy="3962400"/>
        </p:xfrm>
        <a:graphic>
          <a:graphicData uri="http://schemas.openxmlformats.org/drawingml/2006/table">
            <a:tbl>
              <a:tblPr/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9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Day 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14825" name="Object 4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514600" y="4724400"/>
          <a:ext cx="5486400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08300" imgH="647700" progId="Equation.3">
                  <p:embed/>
                </p:oleObj>
              </mc:Choice>
              <mc:Fallback>
                <p:oleObj name="Equation" r:id="rId2" imgW="2908300" imgH="647700" progId="Equation.3">
                  <p:embed/>
                  <p:pic>
                    <p:nvPicPr>
                      <p:cNvPr id="1014825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724400"/>
                        <a:ext cx="5486400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787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534400" cy="533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Effect of Multiple Comparison Procedure</a:t>
            </a:r>
          </a:p>
        </p:txBody>
      </p:sp>
      <p:sp>
        <p:nvSpPr>
          <p:cNvPr id="1020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Approach:</a:t>
            </a:r>
          </a:p>
          <a:p>
            <a:pPr lvl="1"/>
            <a:r>
              <a:rPr lang="en-US" altLang="en-US"/>
              <a:t>Get 50 analysts</a:t>
            </a:r>
          </a:p>
          <a:p>
            <a:pPr lvl="1"/>
            <a:r>
              <a:rPr lang="en-US" altLang="en-US"/>
              <a:t>Each analyst makes 10 random guesses</a:t>
            </a:r>
          </a:p>
          <a:p>
            <a:pPr lvl="1"/>
            <a:r>
              <a:rPr lang="en-US" altLang="en-US"/>
              <a:t>Choose the analyst that makes the most number of correct predictions</a:t>
            </a:r>
          </a:p>
          <a:p>
            <a:pPr lvl="1"/>
            <a:endParaRPr lang="en-US" altLang="en-US"/>
          </a:p>
          <a:p>
            <a:r>
              <a:rPr lang="en-US" altLang="en-US"/>
              <a:t>Probability that at least one analyst makes at least 8 correct predictions</a:t>
            </a:r>
          </a:p>
        </p:txBody>
      </p:sp>
      <p:graphicFrame>
        <p:nvGraphicFramePr>
          <p:cNvPr id="1020932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971800" y="5257800"/>
          <a:ext cx="59436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68600" imgH="228600" progId="Equation.3">
                  <p:embed/>
                </p:oleObj>
              </mc:Choice>
              <mc:Fallback>
                <p:oleObj name="Equation" r:id="rId2" imgW="2768600" imgH="228600" progId="Equation.3">
                  <p:embed/>
                  <p:pic>
                    <p:nvPicPr>
                      <p:cNvPr id="10209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257800"/>
                        <a:ext cx="594360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78BFD8-B32A-F427-BC5D-855CF14E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76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0931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610600" cy="533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Effect of Multiple Comparison Procedure</a:t>
            </a:r>
          </a:p>
        </p:txBody>
      </p:sp>
      <p:sp>
        <p:nvSpPr>
          <p:cNvPr id="1021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/>
              <a:t>Many algorithms employ the following greedy strategy: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Initial model: M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Alternative model: M’ = M </a:t>
            </a:r>
            <a:r>
              <a:rPr lang="en-US" altLang="en-US">
                <a:sym typeface="Symbol" charset="2"/>
              </a:rPr>
              <a:t></a:t>
            </a:r>
            <a:r>
              <a:rPr lang="en-US" altLang="en-US"/>
              <a:t> </a:t>
            </a:r>
            <a:r>
              <a:rPr lang="en-US" altLang="en-US">
                <a:sym typeface="Symbol" charset="2"/>
              </a:rPr>
              <a:t>,   </a:t>
            </a:r>
            <a:br>
              <a:rPr lang="en-US" altLang="en-US">
                <a:sym typeface="Symbol" charset="2"/>
              </a:rPr>
            </a:br>
            <a:r>
              <a:rPr lang="en-US" altLang="en-US">
                <a:sym typeface="Symbol" charset="2"/>
              </a:rPr>
              <a:t>where  is a component to be added to the model (e.g., a test condition of a decision tree)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Keep M’ if improvement, </a:t>
            </a:r>
            <a:r>
              <a:rPr lang="en-US" altLang="en-US">
                <a:sym typeface="Symbol" charset="2"/>
              </a:rPr>
              <a:t>(M,M’) &gt; </a:t>
            </a:r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Often times, </a:t>
            </a:r>
            <a:r>
              <a:rPr lang="en-US" altLang="en-US" sz="2400">
                <a:sym typeface="Symbol" charset="2"/>
              </a:rPr>
              <a:t> is chosen from a set of alternative components,  = {</a:t>
            </a:r>
            <a:r>
              <a:rPr lang="en-US" altLang="en-US" sz="2400" baseline="-25000">
                <a:sym typeface="Symbol" charset="2"/>
              </a:rPr>
              <a:t>1</a:t>
            </a:r>
            <a:r>
              <a:rPr lang="en-US" altLang="en-US" sz="2400">
                <a:sym typeface="Symbol" charset="2"/>
              </a:rPr>
              <a:t>, </a:t>
            </a:r>
            <a:r>
              <a:rPr lang="en-US" altLang="en-US" sz="2400" baseline="-25000">
                <a:sym typeface="Symbol" charset="2"/>
              </a:rPr>
              <a:t>2</a:t>
            </a:r>
            <a:r>
              <a:rPr lang="en-US" altLang="en-US" sz="2400">
                <a:sym typeface="Symbol" charset="2"/>
              </a:rPr>
              <a:t>, …, </a:t>
            </a:r>
            <a:r>
              <a:rPr lang="en-US" altLang="en-US" sz="2400" baseline="-25000">
                <a:sym typeface="Symbol" charset="2"/>
              </a:rPr>
              <a:t>k</a:t>
            </a:r>
            <a:r>
              <a:rPr lang="en-US" altLang="en-US" sz="2400">
                <a:sym typeface="Symbol" charset="2"/>
              </a:rPr>
              <a:t>}</a:t>
            </a:r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If many alternatives are available, one may inadvertently add irrelevant components to the model, resulting in model overfitting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4E0ECF-2991-542F-0F24-0E89CFD3D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77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1955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610600" cy="533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Effect of Multiple Comparison - Example</a:t>
            </a:r>
          </a:p>
        </p:txBody>
      </p:sp>
      <p:pic>
        <p:nvPicPr>
          <p:cNvPr id="18434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838200"/>
            <a:ext cx="5100638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Box 2"/>
          <p:cNvSpPr txBox="1">
            <a:spLocks noChangeArrowheads="1"/>
          </p:cNvSpPr>
          <p:nvPr/>
        </p:nvSpPr>
        <p:spPr bwMode="auto">
          <a:xfrm>
            <a:off x="2133601" y="4648200"/>
            <a:ext cx="3586163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Use additional 100 noisy variables generated from a uniform distribution along with X and Y as attributes.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Use 30% of the data for training and 70% of the data for testing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064" y="3436939"/>
            <a:ext cx="3970337" cy="287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2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063" y="830263"/>
            <a:ext cx="3960812" cy="28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6553201" y="6138864"/>
            <a:ext cx="35861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Using only X and Y as attributes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E9DF63-59CD-E38F-CE54-18C922771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78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Notes on Overfitting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Overfitting results in decision trees that are </a:t>
            </a:r>
            <a:r>
              <a:rPr lang="en-US" altLang="en-US" u="sng"/>
              <a:t>more complex</a:t>
            </a:r>
            <a:r>
              <a:rPr lang="en-US" altLang="en-US"/>
              <a:t> than necessary</a:t>
            </a:r>
          </a:p>
          <a:p>
            <a:endParaRPr lang="en-US" altLang="en-US"/>
          </a:p>
          <a:p>
            <a:r>
              <a:rPr lang="en-US" altLang="en-US"/>
              <a:t>Training error does not provide a good estimate of how well the tree will perform on previously unseen records</a:t>
            </a:r>
          </a:p>
          <a:p>
            <a:endParaRPr lang="en-US" altLang="en-US"/>
          </a:p>
          <a:p>
            <a:r>
              <a:rPr lang="en-US" altLang="en-US"/>
              <a:t>Need ways for estimating generalization errors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D72A9-9199-5F7F-408B-C91A9169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 Selection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Performed during model building</a:t>
            </a:r>
          </a:p>
          <a:p>
            <a:pPr>
              <a:lnSpc>
                <a:spcPct val="90000"/>
              </a:lnSpc>
            </a:pPr>
            <a:endParaRPr lang="en-US" altLang="en-US" sz="10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Purpose is to ensure that model is not overly complex (to avoid </a:t>
            </a:r>
            <a:r>
              <a:rPr lang="en-US" altLang="en-US" dirty="0" err="1">
                <a:solidFill>
                  <a:srgbClr val="000000"/>
                </a:solidFill>
              </a:rPr>
              <a:t>overfitting</a:t>
            </a:r>
            <a:r>
              <a:rPr lang="en-US" altLang="en-US" dirty="0"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90000"/>
              </a:lnSpc>
            </a:pPr>
            <a:endParaRPr lang="en-US" altLang="en-US" sz="10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Need to estimate generalization error</a:t>
            </a:r>
          </a:p>
          <a:p>
            <a:pPr lvl="1"/>
            <a:r>
              <a:rPr lang="en-US" altLang="en-US" dirty="0"/>
              <a:t>Using Validation Set</a:t>
            </a:r>
            <a:endParaRPr lang="en-US" altLang="en-US" dirty="0">
              <a:latin typeface="Times New Roman" charset="0"/>
            </a:endParaRPr>
          </a:p>
          <a:p>
            <a:pPr lvl="1"/>
            <a:endParaRPr lang="en-US" altLang="en-US" sz="500" dirty="0"/>
          </a:p>
          <a:p>
            <a:pPr lvl="1"/>
            <a:r>
              <a:rPr lang="en-US" altLang="en-US" dirty="0"/>
              <a:t>Incorporating Model Complexity</a:t>
            </a:r>
          </a:p>
          <a:p>
            <a:pPr lvl="1"/>
            <a:endParaRPr lang="en-US" altLang="en-US" sz="500" dirty="0"/>
          </a:p>
          <a:p>
            <a:pPr marL="457200" lvl="1" indent="0"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B82017-6395-7456-15EE-81E463A3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8280400" cy="533400"/>
          </a:xfrm>
        </p:spPr>
        <p:txBody>
          <a:bodyPr>
            <a:normAutofit fontScale="90000"/>
          </a:bodyPr>
          <a:lstStyle/>
          <a:p>
            <a:r>
              <a:rPr lang="en-US" altLang="en-US" sz="2000" dirty="0"/>
              <a:t>Model Selection:</a:t>
            </a:r>
            <a:br>
              <a:rPr lang="en-US" altLang="en-US" sz="2000" dirty="0"/>
            </a:br>
            <a:r>
              <a:rPr lang="en-US" altLang="en-US" dirty="0"/>
              <a:t>Using Validation Set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Divide </a:t>
            </a:r>
            <a:r>
              <a:rPr lang="en-US" altLang="en-US" u="sng" dirty="0"/>
              <a:t>training</a:t>
            </a:r>
            <a:r>
              <a:rPr lang="en-US" altLang="en-US" dirty="0"/>
              <a:t> data into two parts:</a:t>
            </a:r>
          </a:p>
          <a:p>
            <a:pPr lvl="1"/>
            <a:r>
              <a:rPr lang="en-US" altLang="en-US" dirty="0"/>
              <a:t>Training set: </a:t>
            </a:r>
          </a:p>
          <a:p>
            <a:pPr lvl="2"/>
            <a:r>
              <a:rPr lang="en-US" altLang="en-US" dirty="0"/>
              <a:t> use for model building</a:t>
            </a:r>
          </a:p>
          <a:p>
            <a:pPr lvl="1"/>
            <a:r>
              <a:rPr lang="en-US" altLang="en-US" dirty="0"/>
              <a:t>Validation set: </a:t>
            </a:r>
          </a:p>
          <a:p>
            <a:pPr lvl="2"/>
            <a:r>
              <a:rPr lang="en-US" altLang="en-US" dirty="0"/>
              <a:t> use for estimating generalization error</a:t>
            </a:r>
          </a:p>
          <a:p>
            <a:pPr lvl="2"/>
            <a:r>
              <a:rPr lang="en-US" altLang="en-US" dirty="0"/>
              <a:t> Note: validation set is not the same as test set</a:t>
            </a:r>
          </a:p>
          <a:p>
            <a:pPr lvl="2"/>
            <a:endParaRPr lang="en-US" altLang="en-US" dirty="0"/>
          </a:p>
          <a:p>
            <a:r>
              <a:rPr lang="en-US" altLang="en-US" dirty="0"/>
              <a:t>Drawback:</a:t>
            </a:r>
          </a:p>
          <a:p>
            <a:pPr lvl="1"/>
            <a:r>
              <a:rPr lang="en-US" altLang="en-US" dirty="0"/>
              <a:t>Less data available for training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C995E7-A838-D8DB-5965-BB0BBC6C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698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8280400" cy="533400"/>
          </a:xfrm>
        </p:spPr>
        <p:txBody>
          <a:bodyPr>
            <a:normAutofit fontScale="90000"/>
          </a:bodyPr>
          <a:lstStyle/>
          <a:p>
            <a:r>
              <a:rPr lang="en-US" altLang="en-US" sz="2000">
                <a:solidFill>
                  <a:srgbClr val="000000"/>
                </a:solidFill>
              </a:rPr>
              <a:t>Model Selection:</a:t>
            </a:r>
            <a:br>
              <a:rPr lang="en-US" altLang="en-US" sz="2000">
                <a:solidFill>
                  <a:srgbClr val="000000"/>
                </a:solidFill>
              </a:rPr>
            </a:br>
            <a:r>
              <a:rPr lang="en-US" altLang="en-US"/>
              <a:t>Incorporating Model Complexity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Rationale: Occam’s Razor</a:t>
            </a:r>
          </a:p>
          <a:p>
            <a:pPr lvl="1"/>
            <a:r>
              <a:rPr lang="en-US" altLang="en-US" dirty="0"/>
              <a:t>Given two models of similar generalization errors,  one should prefer the simpler model over the more complex model</a:t>
            </a:r>
          </a:p>
          <a:p>
            <a:pPr lvl="4"/>
            <a:endParaRPr lang="en-US" altLang="en-US" dirty="0">
              <a:latin typeface="Times New Roman" charset="0"/>
            </a:endParaRPr>
          </a:p>
          <a:p>
            <a:pPr lvl="1"/>
            <a:r>
              <a:rPr lang="en-US" altLang="en-US" dirty="0"/>
              <a:t>A complex model has a greater chance of being fitted accidentally</a:t>
            </a:r>
          </a:p>
          <a:p>
            <a:pPr lvl="1"/>
            <a:endParaRPr lang="en-US" altLang="en-US" sz="1800" dirty="0">
              <a:latin typeface="Times New Roman" charset="0"/>
            </a:endParaRPr>
          </a:p>
          <a:p>
            <a:pPr lvl="1"/>
            <a:r>
              <a:rPr lang="en-US" altLang="en-US" dirty="0"/>
              <a:t>Therefore, one should include model complexity when evaluating a model</a:t>
            </a:r>
          </a:p>
          <a:p>
            <a:pPr marL="457200" lvl="1" indent="0">
              <a:buNone/>
            </a:pPr>
            <a:endParaRPr lang="en-US" altLang="en-US" sz="1200" dirty="0">
              <a:solidFill>
                <a:srgbClr val="FF0000"/>
              </a:solidFill>
            </a:endParaRPr>
          </a:p>
          <a:p>
            <a:pPr lvl="1"/>
            <a:endParaRPr lang="en-US" altLang="en-US" dirty="0"/>
          </a:p>
          <a:p>
            <a:pPr lvl="2"/>
            <a:endParaRPr lang="en-US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2053880" y="5257800"/>
            <a:ext cx="8229600" cy="919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</a:pP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Gen. Error(Model) = Train. Error(Model, Train. Data) + 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</a:pP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				 	x Complexity(Model)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497" y="5567856"/>
            <a:ext cx="652877" cy="75674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69E894-0C50-7B67-E42D-162EC22A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srgbClr val="000000"/>
                </a:solidFill>
              </a:rPr>
              <a:t>Estimating the Complexity of Decision Trees</a:t>
            </a:r>
            <a:endParaRPr lang="en-US" altLang="en-US" dirty="0"/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Pessimistic Error Estimate</a:t>
            </a:r>
            <a:r>
              <a:rPr lang="en-US" altLang="en-US" dirty="0"/>
              <a:t> of decision tree </a:t>
            </a:r>
            <a:r>
              <a:rPr lang="en-US" altLang="en-US" i="1" dirty="0">
                <a:latin typeface="Times New Roman" charset="0"/>
              </a:rPr>
              <a:t>T </a:t>
            </a:r>
            <a:r>
              <a:rPr lang="en-US" altLang="en-US" dirty="0"/>
              <a:t>with k leaf nodes: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r>
              <a:rPr lang="en-US" altLang="en-US" dirty="0">
                <a:sym typeface="Symbol" charset="2"/>
              </a:rPr>
              <a:t>err(T): error rate on all training records </a:t>
            </a:r>
          </a:p>
          <a:p>
            <a:pPr lvl="1"/>
            <a:r>
              <a:rPr lang="en-US" altLang="en-US" dirty="0">
                <a:sym typeface="Symbol" charset="2"/>
              </a:rPr>
              <a:t>: trade-off hyper-parameter (similar to   )</a:t>
            </a:r>
          </a:p>
          <a:p>
            <a:pPr lvl="2"/>
            <a:r>
              <a:rPr lang="en-US" altLang="en-US" dirty="0">
                <a:sym typeface="Symbol" charset="2"/>
              </a:rPr>
              <a:t> Relative cost of adding a leaf node</a:t>
            </a:r>
          </a:p>
          <a:p>
            <a:pPr lvl="1"/>
            <a:r>
              <a:rPr lang="en-US" altLang="en-US" dirty="0">
                <a:sym typeface="Symbol" charset="2"/>
              </a:rPr>
              <a:t>k: number of leaf nodes</a:t>
            </a:r>
          </a:p>
          <a:p>
            <a:pPr lvl="1"/>
            <a:r>
              <a:rPr lang="en-US" altLang="en-US" dirty="0" err="1">
                <a:sym typeface="Symbol" charset="2"/>
              </a:rPr>
              <a:t>N</a:t>
            </a:r>
            <a:r>
              <a:rPr lang="en-US" altLang="en-US" baseline="-25000" dirty="0" err="1">
                <a:sym typeface="Symbol" charset="2"/>
              </a:rPr>
              <a:t>train</a:t>
            </a:r>
            <a:r>
              <a:rPr lang="en-US" altLang="en-US" dirty="0">
                <a:sym typeface="Symbol" charset="2"/>
              </a:rPr>
              <a:t>: total number of training records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362201"/>
            <a:ext cx="4343400" cy="105243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500" y="4114800"/>
            <a:ext cx="469900" cy="4572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1441C0-2CE3-0B47-058F-358EEBC2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193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201958"/>
            <a:ext cx="9220200" cy="533400"/>
          </a:xfrm>
        </p:spPr>
        <p:txBody>
          <a:bodyPr/>
          <a:lstStyle/>
          <a:p>
            <a:r>
              <a:rPr lang="en-US" altLang="en-US" sz="2400" dirty="0">
                <a:solidFill>
                  <a:srgbClr val="000000"/>
                </a:solidFill>
              </a:rPr>
              <a:t>Estimating the Complexity of </a:t>
            </a:r>
            <a:r>
              <a:rPr lang="en-US" altLang="en-US" sz="2400">
                <a:solidFill>
                  <a:srgbClr val="000000"/>
                </a:solidFill>
              </a:rPr>
              <a:t>Decision Trees: Example</a:t>
            </a:r>
            <a:endParaRPr lang="en-US" altLang="en-US" sz="2800" dirty="0"/>
          </a:p>
        </p:txBody>
      </p:sp>
      <p:graphicFrame>
        <p:nvGraphicFramePr>
          <p:cNvPr id="25602" name="Object 4"/>
          <p:cNvGraphicFramePr>
            <a:graphicFrameLocks noChangeAspect="1"/>
          </p:cNvGraphicFramePr>
          <p:nvPr/>
        </p:nvGraphicFramePr>
        <p:xfrm>
          <a:off x="1981200" y="1219200"/>
          <a:ext cx="6400800" cy="343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715500" imgH="5207000" progId="Visio.Drawing.6">
                  <p:embed/>
                </p:oleObj>
              </mc:Choice>
              <mc:Fallback>
                <p:oleObj name="Visio" r:id="rId2" imgW="9715500" imgH="5207000" progId="Visio.Drawing.6">
                  <p:embed/>
                  <p:pic>
                    <p:nvPicPr>
                      <p:cNvPr id="2560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19200"/>
                        <a:ext cx="6400800" cy="343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125" name="Text Box 5"/>
          <p:cNvSpPr txBox="1">
            <a:spLocks noChangeArrowheads="1"/>
          </p:cNvSpPr>
          <p:nvPr/>
        </p:nvSpPr>
        <p:spPr bwMode="auto">
          <a:xfrm>
            <a:off x="8763000" y="1981200"/>
            <a:ext cx="1676400" cy="174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/>
              <a:t>e(T</a:t>
            </a:r>
            <a:r>
              <a:rPr lang="en-US" altLang="en-US" sz="1800" baseline="-25000"/>
              <a:t>L</a:t>
            </a:r>
            <a:r>
              <a:rPr lang="en-US" altLang="en-US" sz="1800"/>
              <a:t>) = 4/24</a:t>
            </a:r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/>
              <a:t>e(T</a:t>
            </a:r>
            <a:r>
              <a:rPr lang="en-US" altLang="en-US" sz="1800" baseline="-25000"/>
              <a:t>R</a:t>
            </a:r>
            <a:r>
              <a:rPr lang="en-US" altLang="en-US" sz="1800"/>
              <a:t>) = 6/24</a:t>
            </a:r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>
                <a:sym typeface="Symbol" charset="2"/>
              </a:rPr>
              <a:t> = 1</a:t>
            </a:r>
          </a:p>
        </p:txBody>
      </p:sp>
      <p:sp>
        <p:nvSpPr>
          <p:cNvPr id="1029126" name="Text Box 6"/>
          <p:cNvSpPr txBox="1">
            <a:spLocks noChangeArrowheads="1"/>
          </p:cNvSpPr>
          <p:nvPr/>
        </p:nvSpPr>
        <p:spPr bwMode="auto">
          <a:xfrm>
            <a:off x="2743200" y="5029200"/>
            <a:ext cx="52578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 dirty="0" err="1"/>
              <a:t>e</a:t>
            </a:r>
            <a:r>
              <a:rPr lang="en-US" altLang="en-US" sz="1800" baseline="-25000" dirty="0" err="1"/>
              <a:t>gen</a:t>
            </a:r>
            <a:r>
              <a:rPr lang="en-US" altLang="en-US" sz="1800" dirty="0"/>
              <a:t>(T</a:t>
            </a:r>
            <a:r>
              <a:rPr lang="en-US" altLang="en-US" sz="1800" baseline="-25000" dirty="0"/>
              <a:t>L</a:t>
            </a:r>
            <a:r>
              <a:rPr lang="en-US" altLang="en-US" sz="1800" dirty="0"/>
              <a:t>) = 4/24 + 1*7/24 = 11/24 = 0.458</a:t>
            </a:r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 dirty="0" err="1"/>
              <a:t>e</a:t>
            </a:r>
            <a:r>
              <a:rPr lang="en-US" altLang="en-US" sz="1800" baseline="-25000" dirty="0" err="1"/>
              <a:t>gen</a:t>
            </a:r>
            <a:r>
              <a:rPr lang="en-US" altLang="en-US" sz="1800" dirty="0"/>
              <a:t>(T</a:t>
            </a:r>
            <a:r>
              <a:rPr lang="en-US" altLang="en-US" sz="1800" baseline="-25000" dirty="0"/>
              <a:t>R</a:t>
            </a:r>
            <a:r>
              <a:rPr lang="en-US" altLang="en-US" sz="1800" dirty="0"/>
              <a:t>) = 6/24 + 1*4/24 = 10/24 = 0.417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36F7B3-1F01-4F7B-9F05-6B5901052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4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125" grpId="0"/>
      <p:bldP spid="1029126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Estimating the Complexity of Decision Trees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err="1"/>
              <a:t>Resubstitution</a:t>
            </a:r>
            <a:r>
              <a:rPr lang="en-US" altLang="en-US" dirty="0"/>
              <a:t> Estimate: </a:t>
            </a:r>
          </a:p>
          <a:p>
            <a:pPr lvl="1"/>
            <a:r>
              <a:rPr lang="en-US" altLang="en-US" dirty="0"/>
              <a:t>Using training error as an </a:t>
            </a:r>
            <a:r>
              <a:rPr lang="en-US" altLang="en-US" dirty="0">
                <a:solidFill>
                  <a:srgbClr val="FF0000"/>
                </a:solidFill>
              </a:rPr>
              <a:t>optimistic</a:t>
            </a:r>
            <a:r>
              <a:rPr lang="en-US" altLang="en-US" dirty="0"/>
              <a:t> estimate of generalization error</a:t>
            </a:r>
          </a:p>
          <a:p>
            <a:pPr lvl="1"/>
            <a:r>
              <a:rPr lang="en-US" altLang="en-US" dirty="0"/>
              <a:t>Referred to as </a:t>
            </a:r>
            <a:r>
              <a:rPr lang="en-US" altLang="en-US" dirty="0">
                <a:solidFill>
                  <a:srgbClr val="FF0000"/>
                </a:solidFill>
              </a:rPr>
              <a:t>optimistic error </a:t>
            </a:r>
            <a:r>
              <a:rPr lang="en-US" altLang="en-US" dirty="0"/>
              <a:t>estimate</a:t>
            </a:r>
          </a:p>
        </p:txBody>
      </p:sp>
      <p:graphicFrame>
        <p:nvGraphicFramePr>
          <p:cNvPr id="22531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209800" y="3139071"/>
          <a:ext cx="5943600" cy="3188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715500" imgH="5207000" progId="Visio.Drawing.6">
                  <p:embed/>
                </p:oleObj>
              </mc:Choice>
              <mc:Fallback>
                <p:oleObj name="Visio" r:id="rId2" imgW="9715500" imgH="5207000" progId="Visio.Drawing.6">
                  <p:embed/>
                  <p:pic>
                    <p:nvPicPr>
                      <p:cNvPr id="2253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139071"/>
                        <a:ext cx="5943600" cy="3188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82" name="Text Box 6"/>
          <p:cNvSpPr txBox="1">
            <a:spLocks noChangeArrowheads="1"/>
          </p:cNvSpPr>
          <p:nvPr/>
        </p:nvSpPr>
        <p:spPr bwMode="auto">
          <a:xfrm>
            <a:off x="8848587" y="3206750"/>
            <a:ext cx="16764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/>
              <a:t>e(T</a:t>
            </a:r>
            <a:r>
              <a:rPr lang="en-US" altLang="en-US" sz="1800" baseline="-25000"/>
              <a:t>L</a:t>
            </a:r>
            <a:r>
              <a:rPr lang="en-US" altLang="en-US" sz="1800"/>
              <a:t>) = 4/24</a:t>
            </a:r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 dirty="0"/>
              <a:t>e(T</a:t>
            </a:r>
            <a:r>
              <a:rPr lang="en-US" altLang="en-US" sz="1800" baseline="-25000" dirty="0"/>
              <a:t>R</a:t>
            </a:r>
            <a:r>
              <a:rPr lang="en-US" altLang="en-US" sz="1800" dirty="0"/>
              <a:t>) = 6/24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969022-377B-E04F-6C48-A172A548B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85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298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Minimum Description Length (MDL)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3714750"/>
            <a:ext cx="8229600" cy="2533650"/>
          </a:xfrm>
        </p:spPr>
        <p:txBody>
          <a:bodyPr/>
          <a:lstStyle/>
          <a:p>
            <a:pPr marL="342900" indent="-342900"/>
            <a:r>
              <a:rPr lang="en-US" altLang="en-US" sz="2400" dirty="0">
                <a:solidFill>
                  <a:srgbClr val="FF0000"/>
                </a:solidFill>
              </a:rPr>
              <a:t>Cost(</a:t>
            </a:r>
            <a:r>
              <a:rPr lang="en-US" altLang="en-US" sz="2400" dirty="0" err="1">
                <a:solidFill>
                  <a:srgbClr val="FF0000"/>
                </a:solidFill>
              </a:rPr>
              <a:t>Model,Data</a:t>
            </a:r>
            <a:r>
              <a:rPr lang="en-US" altLang="en-US" sz="2400" dirty="0">
                <a:solidFill>
                  <a:srgbClr val="FF0000"/>
                </a:solidFill>
              </a:rPr>
              <a:t>) = Cost(</a:t>
            </a:r>
            <a:r>
              <a:rPr lang="en-US" altLang="en-US" sz="2400" dirty="0" err="1">
                <a:solidFill>
                  <a:srgbClr val="FF0000"/>
                </a:solidFill>
              </a:rPr>
              <a:t>Data|Model</a:t>
            </a:r>
            <a:r>
              <a:rPr lang="en-US" altLang="en-US" sz="2400" dirty="0">
                <a:solidFill>
                  <a:srgbClr val="FF0000"/>
                </a:solidFill>
              </a:rPr>
              <a:t>) +    x Cost(Model)</a:t>
            </a:r>
          </a:p>
          <a:p>
            <a:pPr marL="742950" lvl="1" indent="-285750"/>
            <a:r>
              <a:rPr lang="en-US" altLang="en-US" dirty="0"/>
              <a:t>Cost is the number of bits needed for encoding.</a:t>
            </a:r>
          </a:p>
          <a:p>
            <a:pPr marL="742950" lvl="1" indent="-285750"/>
            <a:r>
              <a:rPr lang="en-US" altLang="en-US" dirty="0"/>
              <a:t>Search for the least costly model.</a:t>
            </a:r>
          </a:p>
          <a:p>
            <a:pPr marL="342900" indent="-342900"/>
            <a:r>
              <a:rPr lang="en-US" altLang="en-US" sz="2400" dirty="0"/>
              <a:t>Cost(</a:t>
            </a:r>
            <a:r>
              <a:rPr lang="en-US" altLang="en-US" sz="2400" dirty="0" err="1"/>
              <a:t>Data|Model</a:t>
            </a:r>
            <a:r>
              <a:rPr lang="en-US" altLang="en-US" sz="2400" dirty="0"/>
              <a:t>) encodes the misclassification errors.</a:t>
            </a:r>
          </a:p>
          <a:p>
            <a:pPr marL="342900" indent="-342900"/>
            <a:r>
              <a:rPr lang="en-US" altLang="en-US" sz="2400" dirty="0"/>
              <a:t>Cost(Model) uses node encoding (number of children) plus splitting condition encoding.</a:t>
            </a:r>
          </a:p>
        </p:txBody>
      </p:sp>
      <p:graphicFrame>
        <p:nvGraphicFramePr>
          <p:cNvPr id="26627" name="Object 4"/>
          <p:cNvGraphicFramePr>
            <a:graphicFrameLocks noChangeAspect="1"/>
          </p:cNvGraphicFramePr>
          <p:nvPr/>
        </p:nvGraphicFramePr>
        <p:xfrm>
          <a:off x="3733801" y="1143000"/>
          <a:ext cx="4392613" cy="240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348984" imgH="3473196" progId="Visio.Drawing.6">
                  <p:embed/>
                </p:oleObj>
              </mc:Choice>
              <mc:Fallback>
                <p:oleObj name="VISIO" r:id="rId2" imgW="6348984" imgH="3473196" progId="Visio.Drawing.6">
                  <p:embed/>
                  <p:pic>
                    <p:nvPicPr>
                      <p:cNvPr id="2662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1143000"/>
                        <a:ext cx="4392613" cy="240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5"/>
          <p:cNvGraphicFramePr>
            <a:graphicFrameLocks noChangeAspect="1"/>
          </p:cNvGraphicFramePr>
          <p:nvPr/>
        </p:nvGraphicFramePr>
        <p:xfrm>
          <a:off x="2209800" y="1219200"/>
          <a:ext cx="1131888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168400" imgH="2057400" progId="Excel.Sheet.8">
                  <p:embed/>
                </p:oleObj>
              </mc:Choice>
              <mc:Fallback>
                <p:oleObj name="Worksheet" r:id="rId4" imgW="1168400" imgH="2057400" progId="Excel.Sheet.8">
                  <p:embed/>
                  <p:pic>
                    <p:nvPicPr>
                      <p:cNvPr id="2662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219200"/>
                        <a:ext cx="1131888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6"/>
          <p:cNvGraphicFramePr>
            <a:graphicFrameLocks noChangeAspect="1"/>
          </p:cNvGraphicFramePr>
          <p:nvPr/>
        </p:nvGraphicFramePr>
        <p:xfrm>
          <a:off x="8763000" y="1371600"/>
          <a:ext cx="1131888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1168400" imgH="2057400" progId="Excel.Sheet.8">
                  <p:embed/>
                </p:oleObj>
              </mc:Choice>
              <mc:Fallback>
                <p:oleObj name="Worksheet" r:id="rId6" imgW="1168400" imgH="2057400" progId="Excel.Sheet.8">
                  <p:embed/>
                  <p:pic>
                    <p:nvPicPr>
                      <p:cNvPr id="2662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1371600"/>
                        <a:ext cx="1131888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1" y="3549650"/>
            <a:ext cx="652877" cy="75674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B7C994-B768-34F2-6CFF-3B5E635DB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 Selection for Decision Trees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8763000" cy="5181600"/>
          </a:xfrm>
        </p:spPr>
        <p:txBody>
          <a:bodyPr/>
          <a:lstStyle/>
          <a:p>
            <a:r>
              <a:rPr lang="en-US" altLang="en-US" sz="2400">
                <a:solidFill>
                  <a:srgbClr val="FF0000"/>
                </a:solidFill>
              </a:rPr>
              <a:t>Pre-Pruning (Early Stopping Rule)</a:t>
            </a:r>
          </a:p>
          <a:p>
            <a:pPr lvl="1"/>
            <a:r>
              <a:rPr lang="en-US" altLang="en-US"/>
              <a:t>Stop the algorithm before it becomes a fully-grown tree</a:t>
            </a:r>
          </a:p>
          <a:p>
            <a:pPr lvl="1"/>
            <a:r>
              <a:rPr lang="en-US" altLang="en-US"/>
              <a:t>Typical stopping conditions for a node:</a:t>
            </a:r>
          </a:p>
          <a:p>
            <a:pPr lvl="2"/>
            <a:r>
              <a:rPr lang="en-US" altLang="en-US"/>
              <a:t> Stop if all instances belong to the same class</a:t>
            </a:r>
          </a:p>
          <a:p>
            <a:pPr lvl="2"/>
            <a:r>
              <a:rPr lang="en-US" altLang="en-US"/>
              <a:t> Stop if all the attribute values are the same</a:t>
            </a:r>
          </a:p>
          <a:p>
            <a:pPr lvl="1"/>
            <a:r>
              <a:rPr lang="en-US" altLang="en-US"/>
              <a:t>More restrictive conditions:</a:t>
            </a:r>
          </a:p>
          <a:p>
            <a:pPr lvl="2"/>
            <a:r>
              <a:rPr lang="en-US" altLang="en-US"/>
              <a:t> Stop if number of instances is less than some user-specified threshold</a:t>
            </a:r>
          </a:p>
          <a:p>
            <a:pPr lvl="2"/>
            <a:r>
              <a:rPr lang="en-US" altLang="en-US"/>
              <a:t> Stop if class distribution of instances are independent of the available features (e.g., using </a:t>
            </a:r>
            <a:r>
              <a:rPr lang="en-US" altLang="en-US">
                <a:sym typeface="Symbol" charset="2"/>
              </a:rPr>
              <a:t></a:t>
            </a:r>
            <a:r>
              <a:rPr lang="en-US" altLang="en-US" baseline="30000">
                <a:sym typeface="Symbol" charset="2"/>
              </a:rPr>
              <a:t> 2</a:t>
            </a:r>
            <a:r>
              <a:rPr lang="en-US" altLang="en-US">
                <a:sym typeface="Symbol" charset="2"/>
              </a:rPr>
              <a:t> test)</a:t>
            </a:r>
            <a:endParaRPr lang="en-US" altLang="en-US" baseline="30000"/>
          </a:p>
          <a:p>
            <a:pPr lvl="2"/>
            <a:r>
              <a:rPr lang="en-US" altLang="en-US"/>
              <a:t> Stop if expanding the current node does not improve impurity</a:t>
            </a:r>
            <a:br>
              <a:rPr lang="en-US" altLang="en-US"/>
            </a:br>
            <a:r>
              <a:rPr lang="en-US" altLang="en-US"/>
              <a:t>    measures (e.g., Gini or information gain).</a:t>
            </a:r>
          </a:p>
          <a:p>
            <a:pPr lvl="2"/>
            <a:r>
              <a:rPr lang="en-US" altLang="en-US"/>
              <a:t> Stop if estimated generalization error falls below certain threshold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974ECA-48D3-AF1C-8667-B2D3CBC2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 Selection for Decision Trees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Post-pruning</a:t>
            </a:r>
          </a:p>
          <a:p>
            <a:pPr lvl="1"/>
            <a:r>
              <a:rPr lang="en-US" altLang="en-US" dirty="0"/>
              <a:t>Grow decision tree to its entirety</a:t>
            </a:r>
          </a:p>
          <a:p>
            <a:pPr lvl="1"/>
            <a:r>
              <a:rPr lang="en-US" altLang="en-US" dirty="0"/>
              <a:t>Subtree replacement</a:t>
            </a:r>
          </a:p>
          <a:p>
            <a:pPr lvl="2"/>
            <a:r>
              <a:rPr lang="en-US" altLang="en-US" dirty="0"/>
              <a:t> Trim the nodes of the decision tree in a bottom-up fashion</a:t>
            </a:r>
          </a:p>
          <a:p>
            <a:pPr lvl="2"/>
            <a:r>
              <a:rPr lang="en-US" altLang="en-US" dirty="0"/>
              <a:t> If generalization error improves after trimming, replace sub-tree by a leaf node </a:t>
            </a:r>
          </a:p>
          <a:p>
            <a:pPr lvl="2"/>
            <a:r>
              <a:rPr lang="en-US" altLang="en-US" dirty="0"/>
              <a:t> Class label of leaf node is determined from majority class of instances in the sub-tree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F11157-7DEC-B0FB-0885-15CE2CEF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Post-Pruning</a:t>
            </a:r>
          </a:p>
        </p:txBody>
      </p:sp>
      <p:graphicFrame>
        <p:nvGraphicFramePr>
          <p:cNvPr id="31746" name="Object 3"/>
          <p:cNvGraphicFramePr>
            <a:graphicFrameLocks noChangeAspect="1"/>
          </p:cNvGraphicFramePr>
          <p:nvPr/>
        </p:nvGraphicFramePr>
        <p:xfrm>
          <a:off x="2971801" y="3017839"/>
          <a:ext cx="4689475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689544" imgH="2395148" progId="Visio.Drawing.6">
                  <p:embed/>
                </p:oleObj>
              </mc:Choice>
              <mc:Fallback>
                <p:oleObj name="VISIO" r:id="rId2" imgW="4689544" imgH="2395148" progId="Visio.Drawing.6">
                  <p:embed/>
                  <p:pic>
                    <p:nvPicPr>
                      <p:cNvPr id="3174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3017839"/>
                        <a:ext cx="4689475" cy="239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7204" name="Group 4"/>
          <p:cNvGraphicFramePr>
            <a:graphicFrameLocks noGrp="1"/>
          </p:cNvGraphicFramePr>
          <p:nvPr/>
        </p:nvGraphicFramePr>
        <p:xfrm>
          <a:off x="2438400" y="1524000"/>
          <a:ext cx="1905000" cy="121920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Error = 10/30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760" name="Text Box 17"/>
          <p:cNvSpPr txBox="1">
            <a:spLocks noChangeArrowheads="1"/>
          </p:cNvSpPr>
          <p:nvPr/>
        </p:nvSpPr>
        <p:spPr bwMode="auto">
          <a:xfrm>
            <a:off x="6019800" y="1066801"/>
            <a:ext cx="4648200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Training Error (Before splitting) = 10/30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Pessimistic error = (10 + 0.5)/30 = 10.5/30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Training Error (After splitting) = 9/30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Pessimistic error (After splitting)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	= (9 + 4 </a:t>
            </a:r>
            <a:r>
              <a:rPr lang="en-US" altLang="en-US" sz="1800" dirty="0">
                <a:sym typeface="Symbol" charset="2"/>
              </a:rPr>
              <a:t> 0.5)/30 = 11/30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	</a:t>
            </a:r>
            <a:r>
              <a:rPr lang="en-US" altLang="en-US" sz="1800" dirty="0">
                <a:solidFill>
                  <a:srgbClr val="FF0000"/>
                </a:solidFill>
              </a:rPr>
              <a:t>PRUNE!</a:t>
            </a:r>
          </a:p>
        </p:txBody>
      </p:sp>
      <p:graphicFrame>
        <p:nvGraphicFramePr>
          <p:cNvPr id="947218" name="Group 18"/>
          <p:cNvGraphicFramePr>
            <a:graphicFrameLocks noGrp="1"/>
          </p:cNvGraphicFramePr>
          <p:nvPr/>
        </p:nvGraphicFramePr>
        <p:xfrm>
          <a:off x="16764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Yes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No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7229" name="Group 29"/>
          <p:cNvGraphicFramePr>
            <a:graphicFrameLocks noGrp="1"/>
          </p:cNvGraphicFramePr>
          <p:nvPr/>
        </p:nvGraphicFramePr>
        <p:xfrm>
          <a:off x="35052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Yes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No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7240" name="Group 40"/>
          <p:cNvGraphicFramePr>
            <a:graphicFrameLocks noGrp="1"/>
          </p:cNvGraphicFramePr>
          <p:nvPr/>
        </p:nvGraphicFramePr>
        <p:xfrm>
          <a:off x="53340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Yes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No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7251" name="Group 51"/>
          <p:cNvGraphicFramePr>
            <a:graphicFrameLocks noGrp="1"/>
          </p:cNvGraphicFramePr>
          <p:nvPr/>
        </p:nvGraphicFramePr>
        <p:xfrm>
          <a:off x="71628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Yes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No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2E31BE-6285-1556-91D4-8895E8A6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452718" y="0"/>
            <a:ext cx="10515600" cy="1325563"/>
          </a:xfrm>
        </p:spPr>
        <p:txBody>
          <a:bodyPr/>
          <a:lstStyle/>
          <a:p>
            <a:r>
              <a:rPr lang="en-US" altLang="en-US" dirty="0"/>
              <a:t>Examples of Post-pruning</a:t>
            </a:r>
          </a:p>
        </p:txBody>
      </p:sp>
      <p:graphicFrame>
        <p:nvGraphicFramePr>
          <p:cNvPr id="32770" name="Object 26"/>
          <p:cNvGraphicFramePr>
            <a:graphicFrameLocks noGrp="1" noChangeAspect="1"/>
          </p:cNvGraphicFramePr>
          <p:nvPr>
            <p:ph idx="1"/>
          </p:nvPr>
        </p:nvGraphicFramePr>
        <p:xfrm>
          <a:off x="2630488" y="1016000"/>
          <a:ext cx="7199312" cy="538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791700" imgH="7327900" progId="Visio.Drawing.6">
                  <p:embed/>
                </p:oleObj>
              </mc:Choice>
              <mc:Fallback>
                <p:oleObj name="Visio" r:id="rId2" imgW="9791700" imgH="7327900" progId="Visio.Drawing.6">
                  <p:embed/>
                  <p:pic>
                    <p:nvPicPr>
                      <p:cNvPr id="3277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0488" y="1016000"/>
                        <a:ext cx="7199312" cy="538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600D34-EEDC-B4F9-FC0E-D0FC7152D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787400" y="136525"/>
            <a:ext cx="10515600" cy="1325563"/>
          </a:xfrm>
        </p:spPr>
        <p:txBody>
          <a:bodyPr/>
          <a:lstStyle/>
          <a:p>
            <a:r>
              <a:rPr lang="en-US" altLang="en-US" dirty="0"/>
              <a:t>Model Evaluation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4981" y="1066800"/>
            <a:ext cx="8580438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Purpose</a:t>
            </a:r>
            <a:r>
              <a:rPr lang="en-US" altLang="en-US" sz="2400"/>
              <a:t>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To estimate performance of classifier on previously unseen data (test set)</a:t>
            </a:r>
          </a:p>
          <a:p>
            <a:endParaRPr lang="en-US" altLang="en-US" sz="1000" dirty="0"/>
          </a:p>
          <a:p>
            <a:r>
              <a:rPr lang="en-US" altLang="en-US" sz="2400" dirty="0"/>
              <a:t>Holdout</a:t>
            </a:r>
          </a:p>
          <a:p>
            <a:pPr lvl="1"/>
            <a:r>
              <a:rPr lang="en-US" altLang="en-US" dirty="0"/>
              <a:t>Reserve k% for training and (100-k)% for testing </a:t>
            </a:r>
          </a:p>
          <a:p>
            <a:pPr lvl="1"/>
            <a:r>
              <a:rPr lang="en-US" altLang="en-US" dirty="0"/>
              <a:t>Random subsampling: repeated holdout</a:t>
            </a:r>
          </a:p>
          <a:p>
            <a:r>
              <a:rPr lang="en-US" altLang="en-US" sz="2400" dirty="0"/>
              <a:t>Cross validation</a:t>
            </a:r>
          </a:p>
          <a:p>
            <a:pPr lvl="1"/>
            <a:r>
              <a:rPr lang="en-US" altLang="en-US" dirty="0"/>
              <a:t>Partition data into k disjoint subsets</a:t>
            </a:r>
          </a:p>
          <a:p>
            <a:pPr lvl="1"/>
            <a:r>
              <a:rPr lang="en-US" altLang="en-US" dirty="0"/>
              <a:t>k-fold: train on k-1 partitions, test on the remaining one</a:t>
            </a:r>
          </a:p>
          <a:p>
            <a:pPr lvl="1"/>
            <a:r>
              <a:rPr lang="en-US" altLang="en-US" dirty="0"/>
              <a:t>Leave-one-out:   k=n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BA4856-B60A-55DA-4611-A43C173A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Cross-validation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3-fold cross-validation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254250"/>
            <a:ext cx="5664200" cy="29591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E3734F-45B9-F121-68DE-31C69E673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900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AD56B-A248-48CE-B578-93F8939BD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Variations on 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A74A7-DC75-4ADB-B83B-01151631B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Repeated cross-validation</a:t>
            </a:r>
          </a:p>
          <a:p>
            <a:pPr lvl="1"/>
            <a:r>
              <a:rPr lang="en-US" dirty="0"/>
              <a:t>Perform cross-validation a number of times</a:t>
            </a:r>
          </a:p>
          <a:p>
            <a:pPr lvl="1"/>
            <a:r>
              <a:rPr lang="en-US" dirty="0"/>
              <a:t>Gives an estimate of the variance of the generalization error</a:t>
            </a:r>
          </a:p>
          <a:p>
            <a:r>
              <a:rPr lang="en-US" dirty="0"/>
              <a:t>Stratified cross-validation</a:t>
            </a:r>
          </a:p>
          <a:p>
            <a:pPr lvl="1"/>
            <a:r>
              <a:rPr lang="en-US" dirty="0"/>
              <a:t>Guarantee the same percentage of class labels in training and test</a:t>
            </a:r>
          </a:p>
          <a:p>
            <a:pPr lvl="1"/>
            <a:r>
              <a:rPr lang="en-US" dirty="0"/>
              <a:t>Important when classes are imbalanced and the sample is small</a:t>
            </a:r>
          </a:p>
          <a:p>
            <a:r>
              <a:rPr lang="en-US" dirty="0"/>
              <a:t>Use nested cross-validation approach for model selection and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62564-D484-C97C-117B-4E54D9286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FE1FC-FA28-434A-A119-28ECEC0D0F61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58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7583</Words>
  <Application>Microsoft Macintosh PowerPoint</Application>
  <PresentationFormat>Widescreen</PresentationFormat>
  <Paragraphs>1053</Paragraphs>
  <Slides>93</Slides>
  <Notes>62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7</vt:i4>
      </vt:variant>
      <vt:variant>
        <vt:lpstr>Slide Titles</vt:lpstr>
      </vt:variant>
      <vt:variant>
        <vt:i4>93</vt:i4>
      </vt:variant>
    </vt:vector>
  </HeadingPairs>
  <TitlesOfParts>
    <vt:vector size="114" baseType="lpstr">
      <vt:lpstr>Aptos</vt:lpstr>
      <vt:lpstr>Aptos Display</vt:lpstr>
      <vt:lpstr>Arial</vt:lpstr>
      <vt:lpstr>Berlin Sans FB Demi</vt:lpstr>
      <vt:lpstr>Calibri</vt:lpstr>
      <vt:lpstr>Cambria Math</vt:lpstr>
      <vt:lpstr>Marlett</vt:lpstr>
      <vt:lpstr>Monotype Sorts</vt:lpstr>
      <vt:lpstr>Symbol</vt:lpstr>
      <vt:lpstr>Tahoma</vt:lpstr>
      <vt:lpstr>Times New Roman</vt:lpstr>
      <vt:lpstr>Wingdings</vt:lpstr>
      <vt:lpstr>Wingdings 2</vt:lpstr>
      <vt:lpstr>Office Theme</vt:lpstr>
      <vt:lpstr>Visio</vt:lpstr>
      <vt:lpstr>Equation</vt:lpstr>
      <vt:lpstr>VISIO</vt:lpstr>
      <vt:lpstr>Worksheet</vt:lpstr>
      <vt:lpstr>Microsoft Excel Worksheet</vt:lpstr>
      <vt:lpstr>Microsoft Office Excel Worksheet</vt:lpstr>
      <vt:lpstr>Microsoft Equation 3.0</vt:lpstr>
      <vt:lpstr>Classification: Basic Concepts and Techniques</vt:lpstr>
      <vt:lpstr>Chapter 8. Classification: Basic Concepts</vt:lpstr>
      <vt:lpstr>Supervised vs. Unsupervised Learning</vt:lpstr>
      <vt:lpstr>Prediction Problems: Classification vs. Numeric Prediction</vt:lpstr>
      <vt:lpstr>Classification—A Two-Step Process </vt:lpstr>
      <vt:lpstr>Process (1): Model Construction</vt:lpstr>
      <vt:lpstr>Process (2): Using the Model in Prediction </vt:lpstr>
      <vt:lpstr>Chapter 8. Classification: Basic Concepts</vt:lpstr>
      <vt:lpstr>Decision Tree Induction: An Example</vt:lpstr>
      <vt:lpstr>Algorithm for Decision Tree Induction</vt:lpstr>
      <vt:lpstr>Entropy in Classification (ML Context)</vt:lpstr>
      <vt:lpstr>Brief Review of Entropy</vt:lpstr>
      <vt:lpstr>PowerPoint Presentation</vt:lpstr>
      <vt:lpstr>ID3 and C4.5 — both are classic decision tree algorithms used in classification machine learning.</vt:lpstr>
      <vt:lpstr>Attribute Selection: Information Gain</vt:lpstr>
      <vt:lpstr>What is Information Gain (IG)?</vt:lpstr>
      <vt:lpstr>Computing Information-Gain for Continuous-Valued Attributes</vt:lpstr>
      <vt:lpstr>Gain Ratio for Attribute Selection (C4.5)</vt:lpstr>
      <vt:lpstr>Gini Index (CART, IBM IntelligentMiner)</vt:lpstr>
      <vt:lpstr>Computation of Gini Index </vt:lpstr>
      <vt:lpstr>Comparing Attribute Selection Measures</vt:lpstr>
      <vt:lpstr>Other Attribute Selection Measures</vt:lpstr>
      <vt:lpstr>Overfitting and Tree Pruning</vt:lpstr>
      <vt:lpstr>Enhancements to Basic Decision Tree Induction</vt:lpstr>
      <vt:lpstr>Classification in Large Databases</vt:lpstr>
      <vt:lpstr>Chapter 8. Classification: Basic Concepts</vt:lpstr>
      <vt:lpstr>Bayesian Classification: Why?</vt:lpstr>
      <vt:lpstr>Bayes’ Theorem: Basics</vt:lpstr>
      <vt:lpstr>Prediction Based on Bayes’ Theorem</vt:lpstr>
      <vt:lpstr>Classification Is to Derive the Maximum Posteriori</vt:lpstr>
      <vt:lpstr>Naïve Bayes Classifier </vt:lpstr>
      <vt:lpstr>Naïve Bayes Classifier: Training Dataset</vt:lpstr>
      <vt:lpstr>Naïve Bayes Classifier: An Example</vt:lpstr>
      <vt:lpstr>Avoiding the Zero-Probability Problem</vt:lpstr>
      <vt:lpstr>Naïve Bayes Classifier: Comments</vt:lpstr>
      <vt:lpstr>Chapter 8. Classification: Basic Concepts</vt:lpstr>
      <vt:lpstr>Using IF-THEN Rules for Classification</vt:lpstr>
      <vt:lpstr>Rule Extraction from a Decision Tree</vt:lpstr>
      <vt:lpstr>Rule Induction: Sequential Covering Method </vt:lpstr>
      <vt:lpstr>Sequential Covering Algorithm </vt:lpstr>
      <vt:lpstr>Rule Generation</vt:lpstr>
      <vt:lpstr>How to Learn-One-Rule?</vt:lpstr>
      <vt:lpstr>Chapter 8. Classification: Basic Concepts</vt:lpstr>
      <vt:lpstr>Model Evaluation and Selection</vt:lpstr>
      <vt:lpstr>Classifier Evaluation Metrics: Confusion Matrix</vt:lpstr>
      <vt:lpstr>Classifier Evaluation Metrics: Accuracy, Error Rate, Sensitivity and Specificity</vt:lpstr>
      <vt:lpstr>Classifier Evaluation Metrics:  Precision and Recall, and F-measures</vt:lpstr>
      <vt:lpstr>Classifier Evaluation Metrics: Example</vt:lpstr>
      <vt:lpstr>Evaluating Classifier Accuracy: Holdout &amp; Cross-Validation Methods</vt:lpstr>
      <vt:lpstr>Evaluating Classifier Accuracy: Bootstrap</vt:lpstr>
      <vt:lpstr>Estimating Confidence Intervals: Classifier Models M1 vs. M2</vt:lpstr>
      <vt:lpstr>Estimating Confidence Intervals: Null Hypothesis</vt:lpstr>
      <vt:lpstr>Estimating Confidence Intervals: t-test</vt:lpstr>
      <vt:lpstr>Estimating Confidence Intervals: Table for t-distribution</vt:lpstr>
      <vt:lpstr>Estimating Confidence Intervals: Statistical Significance</vt:lpstr>
      <vt:lpstr>Model Selection: ROC Curves</vt:lpstr>
      <vt:lpstr>Issues Affecting Model Selection</vt:lpstr>
      <vt:lpstr>Chapter 8. Classification: Basic Concepts</vt:lpstr>
      <vt:lpstr>Ensemble Methods: Increasing the Accuracy</vt:lpstr>
      <vt:lpstr>Bagging: Boostrap Aggregation</vt:lpstr>
      <vt:lpstr>Boosting</vt:lpstr>
      <vt:lpstr>Adaboost (Freund and Schapire, 1997)</vt:lpstr>
      <vt:lpstr>Random Forest (Breiman 2001) </vt:lpstr>
      <vt:lpstr>Classification of Class-Imbalanced Data Sets</vt:lpstr>
      <vt:lpstr>Classification Errors</vt:lpstr>
      <vt:lpstr>Example Data Set</vt:lpstr>
      <vt:lpstr>Increasing number of nodes in Decision Trees</vt:lpstr>
      <vt:lpstr>Decision Tree with 4 nodes</vt:lpstr>
      <vt:lpstr>Decision Tree with 50 nodes</vt:lpstr>
      <vt:lpstr>Which tree is better?</vt:lpstr>
      <vt:lpstr>Model Underfitting and Overfitting</vt:lpstr>
      <vt:lpstr>Model Overfitting – Impact of Training Data Size</vt:lpstr>
      <vt:lpstr>Model Overfitting – Impact of Training Data Size</vt:lpstr>
      <vt:lpstr>Reasons for Model Overfitting</vt:lpstr>
      <vt:lpstr>Effect of Multiple Comparison Procedure</vt:lpstr>
      <vt:lpstr>Effect of Multiple Comparison Procedure</vt:lpstr>
      <vt:lpstr>Effect of Multiple Comparison Procedure</vt:lpstr>
      <vt:lpstr>Effect of Multiple Comparison - Example</vt:lpstr>
      <vt:lpstr>Notes on Overfitting</vt:lpstr>
      <vt:lpstr>Model Selection</vt:lpstr>
      <vt:lpstr>Model Selection: Using Validation Set</vt:lpstr>
      <vt:lpstr>Model Selection: Incorporating Model Complexity</vt:lpstr>
      <vt:lpstr>Estimating the Complexity of Decision Trees</vt:lpstr>
      <vt:lpstr>Estimating the Complexity of Decision Trees: Example</vt:lpstr>
      <vt:lpstr>Estimating the Complexity of Decision Trees</vt:lpstr>
      <vt:lpstr>Minimum Description Length (MDL)</vt:lpstr>
      <vt:lpstr>Model Selection for Decision Trees</vt:lpstr>
      <vt:lpstr>Model Selection for Decision Trees</vt:lpstr>
      <vt:lpstr>Example of Post-Pruning</vt:lpstr>
      <vt:lpstr>Examples of Post-pruning</vt:lpstr>
      <vt:lpstr>Model Evaluation</vt:lpstr>
      <vt:lpstr>Cross-validation Example</vt:lpstr>
      <vt:lpstr>Variations on Cross-validation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Omar, Prof. Mostafa</dc:creator>
  <cp:lastModifiedBy>Omar, Prof. Mostafa</cp:lastModifiedBy>
  <cp:revision>3</cp:revision>
  <dcterms:created xsi:type="dcterms:W3CDTF">2025-09-30T19:16:36Z</dcterms:created>
  <dcterms:modified xsi:type="dcterms:W3CDTF">2025-09-30T22:16:10Z</dcterms:modified>
</cp:coreProperties>
</file>