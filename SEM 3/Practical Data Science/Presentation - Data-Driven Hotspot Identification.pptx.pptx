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Helvetica World" charset="1" panose="020B0500040000020004"/>
      <p:regular r:id="rId18"/>
    </p:embeddedFont>
    <p:embeddedFont>
      <p:font typeface="Georgia Pro Condensed" charset="1" panose="02040506050405020303"/>
      <p:regular r:id="rId19"/>
    </p:embeddedFont>
    <p:embeddedFont>
      <p:font typeface="Helvetica World Bold" charset="1" panose="020B080004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794A0"/>
        </a:solidFill>
      </p:bgPr>
    </p:bg>
    <p:spTree>
      <p:nvGrpSpPr>
        <p:cNvPr id="1" name=""/>
        <p:cNvGrpSpPr/>
        <p:nvPr/>
      </p:nvGrpSpPr>
      <p:grpSpPr>
        <a:xfrm>
          <a:off x="0" y="0"/>
          <a:ext cx="0" cy="0"/>
          <a:chOff x="0" y="0"/>
          <a:chExt cx="0" cy="0"/>
        </a:xfrm>
      </p:grpSpPr>
      <p:grpSp>
        <p:nvGrpSpPr>
          <p:cNvPr name="Group 2" id="2"/>
          <p:cNvGrpSpPr/>
          <p:nvPr/>
        </p:nvGrpSpPr>
        <p:grpSpPr>
          <a:xfrm rot="0">
            <a:off x="0" y="-12700"/>
            <a:ext cx="11201400" cy="10299700"/>
            <a:chOff x="0" y="0"/>
            <a:chExt cx="963348" cy="885799"/>
          </a:xfrm>
        </p:grpSpPr>
        <p:sp>
          <p:nvSpPr>
            <p:cNvPr name="Freeform 3" id="3"/>
            <p:cNvSpPr/>
            <p:nvPr/>
          </p:nvSpPr>
          <p:spPr>
            <a:xfrm flipH="false" flipV="false" rot="0">
              <a:off x="0" y="0"/>
              <a:ext cx="963348" cy="885799"/>
            </a:xfrm>
            <a:custGeom>
              <a:avLst/>
              <a:gdLst/>
              <a:ahLst/>
              <a:cxnLst/>
              <a:rect r="r" b="b" t="t" l="l"/>
              <a:pathLst>
                <a:path h="885799" w="963348">
                  <a:moveTo>
                    <a:pt x="0" y="0"/>
                  </a:moveTo>
                  <a:lnTo>
                    <a:pt x="963348" y="0"/>
                  </a:lnTo>
                  <a:lnTo>
                    <a:pt x="963348" y="885799"/>
                  </a:lnTo>
                  <a:lnTo>
                    <a:pt x="0" y="885799"/>
                  </a:lnTo>
                  <a:close/>
                </a:path>
              </a:pathLst>
            </a:custGeom>
            <a:solidFill>
              <a:srgbClr val="5C6287"/>
            </a:solidFill>
            <a:ln w="12700">
              <a:solidFill>
                <a:srgbClr val="000000"/>
              </a:solidFill>
            </a:ln>
          </p:spPr>
        </p:sp>
      </p:grpSp>
      <p:grpSp>
        <p:nvGrpSpPr>
          <p:cNvPr name="Group 4" id="4"/>
          <p:cNvGrpSpPr/>
          <p:nvPr/>
        </p:nvGrpSpPr>
        <p:grpSpPr>
          <a:xfrm rot="0">
            <a:off x="11868150"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666750" y="9001760"/>
            <a:ext cx="6886575" cy="618490"/>
          </a:xfrm>
          <a:prstGeom prst="rect">
            <a:avLst/>
          </a:prstGeom>
        </p:spPr>
        <p:txBody>
          <a:bodyPr anchor="t" rtlCol="false" tIns="0" lIns="0" bIns="0" rIns="0">
            <a:spAutoFit/>
          </a:bodyPr>
          <a:lstStyle/>
          <a:p>
            <a:pPr algn="l" marL="0" indent="0" lvl="0">
              <a:lnSpc>
                <a:spcPts val="4940"/>
              </a:lnSpc>
            </a:pPr>
            <a:r>
              <a:rPr lang="en-US" sz="3800" spc="-57">
                <a:solidFill>
                  <a:srgbClr val="F5F7FA"/>
                </a:solidFill>
                <a:latin typeface="Helvetica World"/>
                <a:ea typeface="Helvetica World"/>
                <a:cs typeface="Helvetica World"/>
                <a:sym typeface="Helvetica World"/>
              </a:rPr>
              <a:t>Team 09   Vidhi  Komal  Aniket</a:t>
            </a:r>
          </a:p>
        </p:txBody>
      </p:sp>
      <p:sp>
        <p:nvSpPr>
          <p:cNvPr name="TextBox 7" id="7"/>
          <p:cNvSpPr txBox="true"/>
          <p:nvPr/>
        </p:nvSpPr>
        <p:spPr>
          <a:xfrm rot="0">
            <a:off x="675380" y="2209970"/>
            <a:ext cx="9754495" cy="5790084"/>
          </a:xfrm>
          <a:prstGeom prst="rect">
            <a:avLst/>
          </a:prstGeom>
        </p:spPr>
        <p:txBody>
          <a:bodyPr anchor="t" rtlCol="false" tIns="0" lIns="0" bIns="0" rIns="0">
            <a:spAutoFit/>
          </a:bodyPr>
          <a:lstStyle/>
          <a:p>
            <a:pPr algn="l" marL="0" indent="0" lvl="0">
              <a:lnSpc>
                <a:spcPts val="14956"/>
              </a:lnSpc>
            </a:pPr>
            <a:r>
              <a:rPr lang="en-US" sz="14956" spc="-523" strike="noStrike" u="none">
                <a:solidFill>
                  <a:srgbClr val="F5F7FA"/>
                </a:solidFill>
                <a:latin typeface="Georgia Pro Condensed"/>
                <a:ea typeface="Georgia Pro Condensed"/>
                <a:cs typeface="Georgia Pro Condensed"/>
                <a:sym typeface="Georgia Pro Condensed"/>
              </a:rPr>
              <a:t>Data-Driven Hotspot Identification</a:t>
            </a:r>
          </a:p>
        </p:txBody>
      </p:sp>
      <p:sp>
        <p:nvSpPr>
          <p:cNvPr name="Freeform 8" id="8"/>
          <p:cNvSpPr/>
          <p:nvPr/>
        </p:nvSpPr>
        <p:spPr>
          <a:xfrm flipH="false" flipV="false" rot="-3117037">
            <a:off x="8330513" y="8119839"/>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marL="0" indent="0" lvl="0">
              <a:lnSpc>
                <a:spcPts val="2800"/>
              </a:lnSpc>
              <a:spcBef>
                <a:spcPct val="0"/>
              </a:spcBef>
            </a:pPr>
            <a:r>
              <a:rPr lang="en-US" sz="2000">
                <a:solidFill>
                  <a:srgbClr val="F5F7FA"/>
                </a:solidFill>
                <a:latin typeface="Helvetica World"/>
                <a:ea typeface="Helvetica World"/>
                <a:cs typeface="Helvetica World"/>
                <a:sym typeface="Helvetica World"/>
              </a:rPr>
              <a:t>2</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8794A0"/>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6" id="6"/>
          <p:cNvSpPr txBox="true"/>
          <p:nvPr/>
        </p:nvSpPr>
        <p:spPr>
          <a:xfrm rot="0">
            <a:off x="2519362" y="2236828"/>
            <a:ext cx="13249275" cy="1298575"/>
          </a:xfrm>
          <a:prstGeom prst="rect">
            <a:avLst/>
          </a:prstGeom>
        </p:spPr>
        <p:txBody>
          <a:bodyPr anchor="t" rtlCol="false" tIns="0" lIns="0" bIns="0" rIns="0">
            <a:spAutoFit/>
          </a:bodyPr>
          <a:lstStyle/>
          <a:p>
            <a:pPr algn="ctr" marL="0" indent="0" lvl="0">
              <a:lnSpc>
                <a:spcPts val="10400"/>
              </a:lnSpc>
            </a:pPr>
            <a:r>
              <a:rPr lang="en-US" sz="8000" spc="-240">
                <a:solidFill>
                  <a:srgbClr val="F5F7FA"/>
                </a:solidFill>
                <a:latin typeface="Georgia Pro Condensed"/>
                <a:ea typeface="Georgia Pro Condensed"/>
                <a:cs typeface="Georgia Pro Condensed"/>
                <a:sym typeface="Georgia Pro Condensed"/>
              </a:rPr>
              <a:t>Presentation Overview</a:t>
            </a:r>
          </a:p>
        </p:txBody>
      </p:sp>
      <p:grpSp>
        <p:nvGrpSpPr>
          <p:cNvPr name="Group 7" id="7"/>
          <p:cNvGrpSpPr/>
          <p:nvPr/>
        </p:nvGrpSpPr>
        <p:grpSpPr>
          <a:xfrm rot="0">
            <a:off x="1800225" y="5143500"/>
            <a:ext cx="4308497" cy="3173095"/>
            <a:chOff x="0" y="0"/>
            <a:chExt cx="5744662" cy="4230793"/>
          </a:xfrm>
        </p:grpSpPr>
        <p:sp>
          <p:nvSpPr>
            <p:cNvPr name="TextBox 8" id="8"/>
            <p:cNvSpPr txBox="true"/>
            <p:nvPr/>
          </p:nvSpPr>
          <p:spPr>
            <a:xfrm rot="0">
              <a:off x="0" y="-9525"/>
              <a:ext cx="5744662" cy="606425"/>
            </a:xfrm>
            <a:prstGeom prst="rect">
              <a:avLst/>
            </a:prstGeom>
          </p:spPr>
          <p:txBody>
            <a:bodyPr anchor="t" rtlCol="false" tIns="0" lIns="0" bIns="0" rIns="0">
              <a:spAutoFit/>
            </a:bodyPr>
            <a:lstStyle/>
            <a:p>
              <a:pPr algn="l" marL="0" indent="0" lvl="0">
                <a:lnSpc>
                  <a:spcPts val="3239"/>
                </a:lnSpc>
                <a:spcBef>
                  <a:spcPct val="0"/>
                </a:spcBef>
              </a:pPr>
              <a:r>
                <a:rPr lang="en-US" b="true" sz="2699" spc="-40">
                  <a:solidFill>
                    <a:srgbClr val="F5F7FA"/>
                  </a:solidFill>
                  <a:latin typeface="Helvetica World Bold"/>
                  <a:ea typeface="Helvetica World Bold"/>
                  <a:cs typeface="Helvetica World Bold"/>
                  <a:sym typeface="Helvetica World Bold"/>
                </a:rPr>
                <a:t>Welcome</a:t>
              </a:r>
            </a:p>
          </p:txBody>
        </p:sp>
        <p:sp>
          <p:nvSpPr>
            <p:cNvPr name="TextBox 9" id="9"/>
            <p:cNvSpPr txBox="true"/>
            <p:nvPr/>
          </p:nvSpPr>
          <p:spPr>
            <a:xfrm rot="0">
              <a:off x="0" y="1133475"/>
              <a:ext cx="5744662" cy="30973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We appreciate your presence today as we discuss an innovative approach to combat juvenile offender conversion through the identification of adult criminal hotspots in New York State.</a:t>
              </a:r>
            </a:p>
          </p:txBody>
        </p:sp>
      </p:grpSp>
      <p:grpSp>
        <p:nvGrpSpPr>
          <p:cNvPr name="Group 10" id="10"/>
          <p:cNvGrpSpPr/>
          <p:nvPr/>
        </p:nvGrpSpPr>
        <p:grpSpPr>
          <a:xfrm rot="0">
            <a:off x="7291388" y="5143500"/>
            <a:ext cx="4010025" cy="3515995"/>
            <a:chOff x="0" y="0"/>
            <a:chExt cx="5346700" cy="4687993"/>
          </a:xfrm>
        </p:grpSpPr>
        <p:sp>
          <p:nvSpPr>
            <p:cNvPr name="TextBox 11" id="11"/>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Purpose</a:t>
              </a:r>
            </a:p>
          </p:txBody>
        </p:sp>
        <p:sp>
          <p:nvSpPr>
            <p:cNvPr name="TextBox 12" id="12"/>
            <p:cNvSpPr txBox="true"/>
            <p:nvPr/>
          </p:nvSpPr>
          <p:spPr>
            <a:xfrm rot="0">
              <a:off x="0" y="1069975"/>
              <a:ext cx="5346700" cy="36180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This presentation aims to demonstrate how machine learning can efficiently identify critical areas with high adult criminal presence, ultimately guiding targeted interventions to reduce juvenile conversions.</a:t>
              </a:r>
            </a:p>
          </p:txBody>
        </p:sp>
      </p:grpSp>
      <p:grpSp>
        <p:nvGrpSpPr>
          <p:cNvPr name="Group 13" id="13"/>
          <p:cNvGrpSpPr/>
          <p:nvPr/>
        </p:nvGrpSpPr>
        <p:grpSpPr>
          <a:xfrm rot="0">
            <a:off x="12172950" y="5143500"/>
            <a:ext cx="4010025" cy="3515995"/>
            <a:chOff x="0" y="0"/>
            <a:chExt cx="5346700" cy="4687993"/>
          </a:xfrm>
        </p:grpSpPr>
        <p:sp>
          <p:nvSpPr>
            <p:cNvPr name="TextBox 14" id="14"/>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Importance</a:t>
              </a:r>
            </a:p>
          </p:txBody>
        </p:sp>
        <p:sp>
          <p:nvSpPr>
            <p:cNvPr name="TextBox 15" id="15"/>
            <p:cNvSpPr txBox="true"/>
            <p:nvPr/>
          </p:nvSpPr>
          <p:spPr>
            <a:xfrm rot="0">
              <a:off x="0" y="1069975"/>
              <a:ext cx="5346700" cy="36180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Understanding these hotspots is essential for us as a team, as it allows for informed decisions and effective resource allocation to improve community safety and well-being throughout New York State.</a:t>
              </a:r>
            </a:p>
          </p:txBody>
        </p:sp>
      </p:grpSp>
      <p:sp>
        <p:nvSpPr>
          <p:cNvPr name="Freeform 16" id="16"/>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marL="0" indent="0" lvl="0">
              <a:lnSpc>
                <a:spcPts val="2800"/>
              </a:lnSpc>
              <a:spcBef>
                <a:spcPct val="0"/>
              </a:spcBef>
            </a:pPr>
            <a:r>
              <a:rPr lang="en-US" sz="2000">
                <a:solidFill>
                  <a:srgbClr val="F5F7FA"/>
                </a:solidFill>
                <a:latin typeface="Helvetica World"/>
                <a:ea typeface="Helvetica World"/>
                <a:cs typeface="Helvetica World"/>
                <a:sym typeface="Helvetica World"/>
              </a:rPr>
              <a:t>3</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8794A0"/>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2671762" y="3452770"/>
            <a:ext cx="12944475" cy="3531954"/>
            <a:chOff x="0" y="0"/>
            <a:chExt cx="17259300" cy="4709272"/>
          </a:xfrm>
        </p:grpSpPr>
        <p:sp>
          <p:nvSpPr>
            <p:cNvPr name="TextBox 7" id="7"/>
            <p:cNvSpPr txBox="true"/>
            <p:nvPr/>
          </p:nvSpPr>
          <p:spPr>
            <a:xfrm rot="0">
              <a:off x="0" y="-85725"/>
              <a:ext cx="17259300" cy="3455458"/>
            </a:xfrm>
            <a:prstGeom prst="rect">
              <a:avLst/>
            </a:prstGeom>
          </p:spPr>
          <p:txBody>
            <a:bodyPr anchor="t" rtlCol="false" tIns="0" lIns="0" bIns="0" rIns="0">
              <a:spAutoFit/>
            </a:bodyPr>
            <a:lstStyle/>
            <a:p>
              <a:pPr algn="ctr" marL="0" indent="0" lvl="0">
                <a:lnSpc>
                  <a:spcPts val="10400"/>
                </a:lnSpc>
              </a:pPr>
              <a:r>
                <a:rPr lang="en-US" sz="8000" spc="-240">
                  <a:solidFill>
                    <a:srgbClr val="F5F7FA"/>
                  </a:solidFill>
                  <a:latin typeface="Georgia Pro Condensed"/>
                  <a:ea typeface="Georgia Pro Condensed"/>
                  <a:cs typeface="Georgia Pro Condensed"/>
                  <a:sym typeface="Georgia Pro Condensed"/>
                </a:rPr>
                <a:t>Understanding Hotspot Challenges</a:t>
              </a:r>
            </a:p>
          </p:txBody>
        </p:sp>
        <p:sp>
          <p:nvSpPr>
            <p:cNvPr name="TextBox 8" id="8"/>
            <p:cNvSpPr txBox="true"/>
            <p:nvPr/>
          </p:nvSpPr>
          <p:spPr>
            <a:xfrm rot="0">
              <a:off x="0" y="3940287"/>
              <a:ext cx="17259300" cy="768985"/>
            </a:xfrm>
            <a:prstGeom prst="rect">
              <a:avLst/>
            </a:prstGeom>
          </p:spPr>
          <p:txBody>
            <a:bodyPr anchor="t" rtlCol="false" tIns="0" lIns="0" bIns="0" rIns="0">
              <a:spAutoFit/>
            </a:bodyPr>
            <a:lstStyle/>
            <a:p>
              <a:pPr algn="ctr" marL="0" indent="0" lvl="0">
                <a:lnSpc>
                  <a:spcPts val="4199"/>
                </a:lnSpc>
                <a:spcBef>
                  <a:spcPct val="0"/>
                </a:spcBef>
              </a:pPr>
              <a:r>
                <a:rPr lang="en-US" b="true" sz="3499" spc="-52">
                  <a:solidFill>
                    <a:srgbClr val="F5F7FA"/>
                  </a:solidFill>
                  <a:latin typeface="Helvetica World Bold"/>
                  <a:ea typeface="Helvetica World Bold"/>
                  <a:cs typeface="Helvetica World Bold"/>
                  <a:sym typeface="Helvetica World Bold"/>
                </a:rPr>
                <a:t>Offenders and Criminal Rates</a:t>
              </a:r>
            </a:p>
          </p:txBody>
        </p:sp>
      </p:grpSp>
      <p:sp>
        <p:nvSpPr>
          <p:cNvPr name="Freeform 9" id="9"/>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157316" y="0"/>
            <a:ext cx="7858125" cy="10287000"/>
            <a:chOff x="0" y="0"/>
            <a:chExt cx="1031988" cy="1350966"/>
          </a:xfrm>
        </p:grpSpPr>
        <p:sp>
          <p:nvSpPr>
            <p:cNvPr name="Freeform 3" id="3"/>
            <p:cNvSpPr/>
            <p:nvPr/>
          </p:nvSpPr>
          <p:spPr>
            <a:xfrm flipH="false" flipV="false" rot="0">
              <a:off x="0" y="0"/>
              <a:ext cx="1031988" cy="1350966"/>
            </a:xfrm>
            <a:custGeom>
              <a:avLst/>
              <a:gdLst/>
              <a:ahLst/>
              <a:cxnLst/>
              <a:rect r="r" b="b" t="t" l="l"/>
              <a:pathLst>
                <a:path h="1350966" w="1031988">
                  <a:moveTo>
                    <a:pt x="0" y="0"/>
                  </a:moveTo>
                  <a:lnTo>
                    <a:pt x="1031988" y="0"/>
                  </a:lnTo>
                  <a:lnTo>
                    <a:pt x="1031988" y="1350966"/>
                  </a:lnTo>
                  <a:lnTo>
                    <a:pt x="0" y="1350966"/>
                  </a:lnTo>
                  <a:close/>
                </a:path>
              </a:pathLst>
            </a:custGeom>
            <a:blipFill>
              <a:blip r:embed="rId2"/>
              <a:stretch>
                <a:fillRect l="0" t="-20481" r="0" b="-20481"/>
              </a:stretch>
            </a:blipFill>
          </p:spPr>
        </p:sp>
      </p:grpSp>
      <p:sp>
        <p:nvSpPr>
          <p:cNvPr name="Freeform 4" id="4"/>
          <p:cNvSpPr/>
          <p:nvPr/>
        </p:nvSpPr>
        <p:spPr>
          <a:xfrm flipH="false" flipV="false" rot="0">
            <a:off x="8015441" y="2466473"/>
            <a:ext cx="10385197" cy="1012557"/>
          </a:xfrm>
          <a:custGeom>
            <a:avLst/>
            <a:gdLst/>
            <a:ahLst/>
            <a:cxnLst/>
            <a:rect r="r" b="b" t="t" l="l"/>
            <a:pathLst>
              <a:path h="1012557" w="10385197">
                <a:moveTo>
                  <a:pt x="0" y="0"/>
                </a:moveTo>
                <a:lnTo>
                  <a:pt x="10385197" y="0"/>
                </a:lnTo>
                <a:lnTo>
                  <a:pt x="10385197" y="1012557"/>
                </a:lnTo>
                <a:lnTo>
                  <a:pt x="0" y="1012557"/>
                </a:lnTo>
                <a:lnTo>
                  <a:pt x="0" y="0"/>
                </a:lnTo>
                <a:close/>
              </a:path>
            </a:pathLst>
          </a:custGeom>
          <a:blipFill>
            <a:blip r:embed="rId3"/>
            <a:stretch>
              <a:fillRect l="-4973" t="-9920" r="-4973" b="-25"/>
            </a:stretch>
          </a:blipFill>
        </p:spPr>
      </p:sp>
      <p:sp>
        <p:nvSpPr>
          <p:cNvPr name="TextBox 5" id="5"/>
          <p:cNvSpPr txBox="true"/>
          <p:nvPr/>
        </p:nvSpPr>
        <p:spPr>
          <a:xfrm rot="0">
            <a:off x="9296400" y="733425"/>
            <a:ext cx="8324850" cy="1149350"/>
          </a:xfrm>
          <a:prstGeom prst="rect">
            <a:avLst/>
          </a:prstGeom>
        </p:spPr>
        <p:txBody>
          <a:bodyPr anchor="t" rtlCol="false" tIns="0" lIns="0" bIns="0" rIns="0">
            <a:spAutoFit/>
          </a:bodyPr>
          <a:lstStyle/>
          <a:p>
            <a:pPr algn="l" marL="0" indent="0" lvl="0">
              <a:lnSpc>
                <a:spcPts val="8800"/>
              </a:lnSpc>
            </a:pPr>
            <a:r>
              <a:rPr lang="en-US" sz="8000" spc="-240">
                <a:solidFill>
                  <a:srgbClr val="F5F7FA"/>
                </a:solidFill>
                <a:latin typeface="Georgia Pro Condensed"/>
                <a:ea typeface="Georgia Pro Condensed"/>
                <a:cs typeface="Georgia Pro Condensed"/>
                <a:sym typeface="Georgia Pro Condensed"/>
              </a:rPr>
              <a:t>Adult Criminal Rates</a:t>
            </a:r>
          </a:p>
        </p:txBody>
      </p:sp>
      <p:sp>
        <p:nvSpPr>
          <p:cNvPr name="TextBox 6" id="6"/>
          <p:cNvSpPr txBox="true"/>
          <p:nvPr/>
        </p:nvSpPr>
        <p:spPr>
          <a:xfrm rot="0">
            <a:off x="9102765" y="4453890"/>
            <a:ext cx="8324850" cy="2235835"/>
          </a:xfrm>
          <a:prstGeom prst="rect">
            <a:avLst/>
          </a:prstGeom>
        </p:spPr>
        <p:txBody>
          <a:bodyPr anchor="t" rtlCol="false" tIns="0" lIns="0" bIns="0" rIns="0">
            <a:spAutoFit/>
          </a:bodyPr>
          <a:lstStyle/>
          <a:p>
            <a:pPr algn="just" marL="0" indent="0" lvl="0">
              <a:lnSpc>
                <a:spcPts val="3499"/>
              </a:lnSpc>
              <a:spcBef>
                <a:spcPct val="0"/>
              </a:spcBef>
            </a:pPr>
            <a:r>
              <a:rPr lang="en-US" sz="2499" spc="-37" strike="noStrike" u="none">
                <a:solidFill>
                  <a:srgbClr val="F5F7FA"/>
                </a:solidFill>
                <a:latin typeface="Helvetica World"/>
                <a:ea typeface="Helvetica World"/>
                <a:cs typeface="Helvetica World"/>
                <a:sym typeface="Helvetica World"/>
              </a:rPr>
              <a:t>The map illustrates </a:t>
            </a:r>
            <a:r>
              <a:rPr lang="en-US" b="true" sz="2499" spc="-37" strike="noStrike" u="none">
                <a:solidFill>
                  <a:srgbClr val="F5F7FA"/>
                </a:solidFill>
                <a:latin typeface="Helvetica World Bold"/>
                <a:ea typeface="Helvetica World Bold"/>
                <a:cs typeface="Helvetica World Bold"/>
                <a:sym typeface="Helvetica World Bold"/>
              </a:rPr>
              <a:t>adult criminal rates across New York counties</a:t>
            </a:r>
            <a:r>
              <a:rPr lang="en-US" sz="2499" spc="-37" strike="noStrike" u="none">
                <a:solidFill>
                  <a:srgbClr val="F5F7FA"/>
                </a:solidFill>
                <a:latin typeface="Helvetica World"/>
                <a:ea typeface="Helvetica World"/>
                <a:cs typeface="Helvetica World"/>
                <a:sym typeface="Helvetica World"/>
              </a:rPr>
              <a:t>, revealing significant variations. This data underscores the link between high adult crime presence and juvenile offender conversion, highlighting areas needing targeted intervention.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marL="0" indent="0" lvl="0">
              <a:lnSpc>
                <a:spcPts val="2800"/>
              </a:lnSpc>
              <a:spcBef>
                <a:spcPct val="0"/>
              </a:spcBef>
            </a:pPr>
            <a:r>
              <a:rPr lang="en-US" sz="2000">
                <a:solidFill>
                  <a:srgbClr val="F5F7FA"/>
                </a:solidFill>
                <a:latin typeface="Helvetica World"/>
                <a:ea typeface="Helvetica World"/>
                <a:cs typeface="Helvetica World"/>
                <a:sym typeface="Helvetica World"/>
              </a:rPr>
              <a:t>5</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8794A0"/>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112729"/>
            <a:chOff x="0" y="0"/>
            <a:chExt cx="17665700" cy="2816972"/>
          </a:xfrm>
        </p:grpSpPr>
        <p:sp>
          <p:nvSpPr>
            <p:cNvPr name="TextBox 7" id="7"/>
            <p:cNvSpPr txBox="true"/>
            <p:nvPr/>
          </p:nvSpPr>
          <p:spPr>
            <a:xfrm rot="0">
              <a:off x="0" y="-85725"/>
              <a:ext cx="17665700" cy="1702858"/>
            </a:xfrm>
            <a:prstGeom prst="rect">
              <a:avLst/>
            </a:prstGeom>
          </p:spPr>
          <p:txBody>
            <a:bodyPr anchor="t" rtlCol="false" tIns="0" lIns="0" bIns="0" rIns="0">
              <a:spAutoFit/>
            </a:bodyPr>
            <a:lstStyle/>
            <a:p>
              <a:pPr algn="l" marL="0" indent="0" lvl="0">
                <a:lnSpc>
                  <a:spcPts val="10400"/>
                </a:lnSpc>
              </a:pPr>
              <a:r>
                <a:rPr lang="en-US" sz="8000" spc="-240">
                  <a:solidFill>
                    <a:srgbClr val="F5F7FA"/>
                  </a:solidFill>
                  <a:latin typeface="Georgia Pro Condensed"/>
                  <a:ea typeface="Georgia Pro Condensed"/>
                  <a:cs typeface="Georgia Pro Condensed"/>
                  <a:sym typeface="Georgia Pro Condensed"/>
                </a:rPr>
                <a:t>Machine Learning Solution</a:t>
              </a:r>
            </a:p>
          </p:txBody>
        </p:sp>
        <p:sp>
          <p:nvSpPr>
            <p:cNvPr name="TextBox 8" id="8"/>
            <p:cNvSpPr txBox="true"/>
            <p:nvPr/>
          </p:nvSpPr>
          <p:spPr>
            <a:xfrm rot="0">
              <a:off x="0" y="2187687"/>
              <a:ext cx="17665700" cy="629285"/>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F5F7FA"/>
                  </a:solidFill>
                  <a:latin typeface="Helvetica World Bold"/>
                  <a:ea typeface="Helvetica World Bold"/>
                  <a:cs typeface="Helvetica World Bold"/>
                  <a:sym typeface="Helvetica World Bold"/>
                </a:rPr>
                <a:t>Data-driven hotspot classification overview</a:t>
              </a:r>
            </a:p>
          </p:txBody>
        </p:sp>
      </p:grpSp>
      <p:grpSp>
        <p:nvGrpSpPr>
          <p:cNvPr name="Group 9" id="9"/>
          <p:cNvGrpSpPr/>
          <p:nvPr/>
        </p:nvGrpSpPr>
        <p:grpSpPr>
          <a:xfrm rot="0">
            <a:off x="1800225" y="5143500"/>
            <a:ext cx="4308497" cy="3125470"/>
            <a:chOff x="0" y="0"/>
            <a:chExt cx="5744662" cy="4167293"/>
          </a:xfrm>
        </p:grpSpPr>
        <p:sp>
          <p:nvSpPr>
            <p:cNvPr name="TextBox 10" id="10"/>
            <p:cNvSpPr txBox="true"/>
            <p:nvPr/>
          </p:nvSpPr>
          <p:spPr>
            <a:xfrm rot="0">
              <a:off x="0" y="0"/>
              <a:ext cx="5744662"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Key Features</a:t>
              </a:r>
            </a:p>
          </p:txBody>
        </p:sp>
        <p:sp>
          <p:nvSpPr>
            <p:cNvPr name="TextBox 11" id="11"/>
            <p:cNvSpPr txBox="true"/>
            <p:nvPr/>
          </p:nvSpPr>
          <p:spPr>
            <a:xfrm rot="0">
              <a:off x="0" y="1069975"/>
              <a:ext cx="5744662" cy="30973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The model utilizes various data sources, including adult criminal counts and demographics, to identify patterns indicative of hotspots where interventions are most needed.</a:t>
              </a:r>
            </a:p>
          </p:txBody>
        </p:sp>
      </p:grpSp>
      <p:grpSp>
        <p:nvGrpSpPr>
          <p:cNvPr name="Group 12" id="12"/>
          <p:cNvGrpSpPr/>
          <p:nvPr/>
        </p:nvGrpSpPr>
        <p:grpSpPr>
          <a:xfrm rot="0">
            <a:off x="7291388" y="5143500"/>
            <a:ext cx="4010025" cy="3125470"/>
            <a:chOff x="0" y="0"/>
            <a:chExt cx="5346700" cy="4167293"/>
          </a:xfrm>
        </p:grpSpPr>
        <p:sp>
          <p:nvSpPr>
            <p:cNvPr name="TextBox 13" id="13"/>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Model Benefits</a:t>
              </a:r>
            </a:p>
          </p:txBody>
        </p:sp>
        <p:sp>
          <p:nvSpPr>
            <p:cNvPr name="TextBox 14" id="14"/>
            <p:cNvSpPr txBox="true"/>
            <p:nvPr/>
          </p:nvSpPr>
          <p:spPr>
            <a:xfrm rot="0">
              <a:off x="0" y="1069975"/>
              <a:ext cx="5346700" cy="30973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This approach ensures high accuracy and scalability, allowing for efficient identification of hotspots while uncovering hidden relationships within the data for targeted interventions.</a:t>
              </a:r>
            </a:p>
          </p:txBody>
        </p:sp>
      </p:grpSp>
      <p:grpSp>
        <p:nvGrpSpPr>
          <p:cNvPr name="Group 15" id="15"/>
          <p:cNvGrpSpPr/>
          <p:nvPr/>
        </p:nvGrpSpPr>
        <p:grpSpPr>
          <a:xfrm rot="0">
            <a:off x="12172950" y="5143500"/>
            <a:ext cx="4010025" cy="3125470"/>
            <a:chOff x="0" y="0"/>
            <a:chExt cx="5346700" cy="4167293"/>
          </a:xfrm>
        </p:grpSpPr>
        <p:sp>
          <p:nvSpPr>
            <p:cNvPr name="TextBox 16" id="16"/>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Transformative Insights</a:t>
              </a:r>
            </a:p>
          </p:txBody>
        </p:sp>
        <p:sp>
          <p:nvSpPr>
            <p:cNvPr name="TextBox 17" id="17"/>
            <p:cNvSpPr txBox="true"/>
            <p:nvPr/>
          </p:nvSpPr>
          <p:spPr>
            <a:xfrm rot="0">
              <a:off x="0" y="1069975"/>
              <a:ext cx="5346700" cy="3097318"/>
            </a:xfrm>
            <a:prstGeom prst="rect">
              <a:avLst/>
            </a:prstGeom>
          </p:spPr>
          <p:txBody>
            <a:bodyPr anchor="t" rtlCol="false" tIns="0" lIns="0" bIns="0" rIns="0">
              <a:spAutoFit/>
            </a:bodyPr>
            <a:lstStyle/>
            <a:p>
              <a:pPr algn="l" marL="0" indent="0" lvl="0">
                <a:lnSpc>
                  <a:spcPts val="3079"/>
                </a:lnSpc>
              </a:pPr>
              <a:r>
                <a:rPr lang="en-US" sz="2199" spc="-32" strike="noStrike" u="none">
                  <a:solidFill>
                    <a:srgbClr val="F5F7FA"/>
                  </a:solidFill>
                  <a:latin typeface="Helvetica World"/>
                  <a:ea typeface="Helvetica World"/>
                  <a:cs typeface="Helvetica World"/>
                  <a:sym typeface="Helvetica World"/>
                </a:rPr>
                <a:t>By employing advanced machine learning techniques, we can generate actionable insights that guide effective policy-making and resource allocation in addressing juvenile conversion rates.</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666750" y="2908300"/>
            <a:ext cx="5448300" cy="6711950"/>
            <a:chOff x="0" y="0"/>
            <a:chExt cx="1434943" cy="1767756"/>
          </a:xfrm>
        </p:grpSpPr>
        <p:sp>
          <p:nvSpPr>
            <p:cNvPr name="Freeform 3" id="3"/>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A"/>
            </a:solidFill>
          </p:spPr>
        </p:sp>
        <p:sp>
          <p:nvSpPr>
            <p:cNvPr name="TextBox 4" id="4"/>
            <p:cNvSpPr txBox="true"/>
            <p:nvPr/>
          </p:nvSpPr>
          <p:spPr>
            <a:xfrm>
              <a:off x="0" y="-28575"/>
              <a:ext cx="1434943" cy="1796331"/>
            </a:xfrm>
            <a:prstGeom prst="rect">
              <a:avLst/>
            </a:prstGeom>
          </p:spPr>
          <p:txBody>
            <a:bodyPr anchor="ctr" rtlCol="false" tIns="50800" lIns="50800" bIns="50800" rIns="50800"/>
            <a:lstStyle/>
            <a:p>
              <a:pPr algn="ctr" marL="0" indent="0" lvl="0">
                <a:lnSpc>
                  <a:spcPts val="1679"/>
                </a:lnSpc>
              </a:pPr>
            </a:p>
          </p:txBody>
        </p:sp>
      </p:grpSp>
      <p:grpSp>
        <p:nvGrpSpPr>
          <p:cNvPr name="Group 5" id="5"/>
          <p:cNvGrpSpPr/>
          <p:nvPr/>
        </p:nvGrpSpPr>
        <p:grpSpPr>
          <a:xfrm rot="0">
            <a:off x="6419850" y="2908300"/>
            <a:ext cx="5448300" cy="6711950"/>
            <a:chOff x="0" y="0"/>
            <a:chExt cx="1434943" cy="1767756"/>
          </a:xfrm>
        </p:grpSpPr>
        <p:sp>
          <p:nvSpPr>
            <p:cNvPr name="Freeform 6" id="6"/>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A"/>
            </a:solidFill>
          </p:spPr>
        </p:sp>
        <p:sp>
          <p:nvSpPr>
            <p:cNvPr name="TextBox 7" id="7"/>
            <p:cNvSpPr txBox="true"/>
            <p:nvPr/>
          </p:nvSpPr>
          <p:spPr>
            <a:xfrm>
              <a:off x="0" y="-28575"/>
              <a:ext cx="1434943" cy="1796331"/>
            </a:xfrm>
            <a:prstGeom prst="rect">
              <a:avLst/>
            </a:prstGeom>
          </p:spPr>
          <p:txBody>
            <a:bodyPr anchor="ctr" rtlCol="false" tIns="50800" lIns="50800" bIns="50800" rIns="50800"/>
            <a:lstStyle/>
            <a:p>
              <a:pPr algn="ctr" marL="0" indent="0" lvl="0">
                <a:lnSpc>
                  <a:spcPts val="1679"/>
                </a:lnSpc>
              </a:pPr>
            </a:p>
          </p:txBody>
        </p:sp>
      </p:grpSp>
      <p:grpSp>
        <p:nvGrpSpPr>
          <p:cNvPr name="Group 8" id="8"/>
          <p:cNvGrpSpPr/>
          <p:nvPr/>
        </p:nvGrpSpPr>
        <p:grpSpPr>
          <a:xfrm rot="0">
            <a:off x="12172950" y="2908300"/>
            <a:ext cx="5448300" cy="6711950"/>
            <a:chOff x="0" y="0"/>
            <a:chExt cx="1434943" cy="1767756"/>
          </a:xfrm>
        </p:grpSpPr>
        <p:sp>
          <p:nvSpPr>
            <p:cNvPr name="Freeform 9" id="9"/>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A"/>
            </a:solidFill>
          </p:spPr>
        </p:sp>
        <p:sp>
          <p:nvSpPr>
            <p:cNvPr name="TextBox 10" id="10"/>
            <p:cNvSpPr txBox="true"/>
            <p:nvPr/>
          </p:nvSpPr>
          <p:spPr>
            <a:xfrm>
              <a:off x="0" y="-28575"/>
              <a:ext cx="1434943" cy="1796331"/>
            </a:xfrm>
            <a:prstGeom prst="rect">
              <a:avLst/>
            </a:prstGeom>
          </p:spPr>
          <p:txBody>
            <a:bodyPr anchor="ctr" rtlCol="false" tIns="50800" lIns="50800" bIns="50800" rIns="50800"/>
            <a:lstStyle/>
            <a:p>
              <a:pPr algn="ctr" marL="0" indent="0" lvl="0">
                <a:lnSpc>
                  <a:spcPts val="1679"/>
                </a:lnSpc>
              </a:pPr>
            </a:p>
          </p:txBody>
        </p:sp>
      </p:grpSp>
      <p:grpSp>
        <p:nvGrpSpPr>
          <p:cNvPr name="Group 11" id="11"/>
          <p:cNvGrpSpPr/>
          <p:nvPr/>
        </p:nvGrpSpPr>
        <p:grpSpPr>
          <a:xfrm rot="0">
            <a:off x="1066053" y="4248150"/>
            <a:ext cx="4649694" cy="3581400"/>
            <a:chOff x="0" y="0"/>
            <a:chExt cx="1259398" cy="970044"/>
          </a:xfrm>
        </p:grpSpPr>
        <p:sp>
          <p:nvSpPr>
            <p:cNvPr name="Freeform 12" id="12"/>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t="0" r="-342" b="0"/>
              </a:stretch>
            </a:blipFill>
          </p:spPr>
        </p:sp>
      </p:grpSp>
      <p:grpSp>
        <p:nvGrpSpPr>
          <p:cNvPr name="Group 13" id="13"/>
          <p:cNvGrpSpPr/>
          <p:nvPr/>
        </p:nvGrpSpPr>
        <p:grpSpPr>
          <a:xfrm rot="0">
            <a:off x="6819153" y="4248150"/>
            <a:ext cx="4649694" cy="3581400"/>
            <a:chOff x="0" y="0"/>
            <a:chExt cx="1259398" cy="970044"/>
          </a:xfrm>
        </p:grpSpPr>
        <p:sp>
          <p:nvSpPr>
            <p:cNvPr name="Freeform 14" id="14"/>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t="0" r="-342" b="0"/>
              </a:stretch>
            </a:blipFill>
          </p:spPr>
        </p:sp>
      </p:grpSp>
      <p:grpSp>
        <p:nvGrpSpPr>
          <p:cNvPr name="Group 15" id="15"/>
          <p:cNvGrpSpPr/>
          <p:nvPr/>
        </p:nvGrpSpPr>
        <p:grpSpPr>
          <a:xfrm rot="0">
            <a:off x="12572253" y="4248150"/>
            <a:ext cx="4649694" cy="3581400"/>
            <a:chOff x="0" y="0"/>
            <a:chExt cx="1259398" cy="970044"/>
          </a:xfrm>
        </p:grpSpPr>
        <p:sp>
          <p:nvSpPr>
            <p:cNvPr name="Freeform 16" id="16"/>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t="0" r="-342" b="0"/>
              </a:stretch>
            </a:blipFill>
          </p:spPr>
        </p:sp>
      </p:grpSp>
      <p:sp>
        <p:nvSpPr>
          <p:cNvPr name="TextBox 17" id="17"/>
          <p:cNvSpPr txBox="true"/>
          <p:nvPr/>
        </p:nvSpPr>
        <p:spPr>
          <a:xfrm rot="0">
            <a:off x="1021783" y="8273471"/>
            <a:ext cx="4738234" cy="1053737"/>
          </a:xfrm>
          <a:prstGeom prst="rect">
            <a:avLst/>
          </a:prstGeom>
        </p:spPr>
        <p:txBody>
          <a:bodyPr anchor="t" rtlCol="false" tIns="0" lIns="0" bIns="0" rIns="0">
            <a:spAutoFit/>
          </a:bodyPr>
          <a:lstStyle/>
          <a:p>
            <a:pPr algn="ctr" marL="0" indent="0" lvl="0">
              <a:lnSpc>
                <a:spcPts val="2819"/>
              </a:lnSpc>
            </a:pPr>
            <a:r>
              <a:rPr lang="en-US" sz="2014" spc="-30">
                <a:solidFill>
                  <a:srgbClr val="27334A"/>
                </a:solidFill>
                <a:latin typeface="Helvetica World"/>
                <a:ea typeface="Helvetica World"/>
                <a:cs typeface="Helvetica World"/>
                <a:sym typeface="Helvetica World"/>
              </a:rPr>
              <a:t>The model achieves high accuracy by analyzing diverse data sources and patterns effectively.</a:t>
            </a:r>
          </a:p>
        </p:txBody>
      </p:sp>
      <p:sp>
        <p:nvSpPr>
          <p:cNvPr name="TextBox 18" id="18"/>
          <p:cNvSpPr txBox="true"/>
          <p:nvPr/>
        </p:nvSpPr>
        <p:spPr>
          <a:xfrm rot="0">
            <a:off x="1041066" y="3381375"/>
            <a:ext cx="4699667" cy="543561"/>
          </a:xfrm>
          <a:prstGeom prst="rect">
            <a:avLst/>
          </a:prstGeom>
        </p:spPr>
        <p:txBody>
          <a:bodyPr anchor="t" rtlCol="false" tIns="0" lIns="0" bIns="0" rIns="0">
            <a:spAutoFit/>
          </a:bodyPr>
          <a:lstStyle/>
          <a:p>
            <a:pPr algn="ctr" marL="0" indent="0" lvl="0">
              <a:lnSpc>
                <a:spcPts val="4180"/>
              </a:lnSpc>
              <a:spcBef>
                <a:spcPct val="0"/>
              </a:spcBef>
            </a:pPr>
            <a:r>
              <a:rPr lang="en-US" sz="3800" spc="-95" strike="noStrike" u="none">
                <a:solidFill>
                  <a:srgbClr val="27334A"/>
                </a:solidFill>
                <a:latin typeface="Georgia Pro Condensed"/>
                <a:ea typeface="Georgia Pro Condensed"/>
                <a:cs typeface="Georgia Pro Condensed"/>
                <a:sym typeface="Georgia Pro Condensed"/>
              </a:rPr>
              <a:t>Accuracy</a:t>
            </a:r>
          </a:p>
        </p:txBody>
      </p:sp>
      <p:sp>
        <p:nvSpPr>
          <p:cNvPr name="TextBox 19" id="19"/>
          <p:cNvSpPr txBox="true"/>
          <p:nvPr/>
        </p:nvSpPr>
        <p:spPr>
          <a:xfrm rot="0">
            <a:off x="6773192" y="8273471"/>
            <a:ext cx="4741615" cy="1053737"/>
          </a:xfrm>
          <a:prstGeom prst="rect">
            <a:avLst/>
          </a:prstGeom>
        </p:spPr>
        <p:txBody>
          <a:bodyPr anchor="t" rtlCol="false" tIns="0" lIns="0" bIns="0" rIns="0">
            <a:spAutoFit/>
          </a:bodyPr>
          <a:lstStyle/>
          <a:p>
            <a:pPr algn="ctr" marL="0" indent="0" lvl="0">
              <a:lnSpc>
                <a:spcPts val="2819"/>
              </a:lnSpc>
            </a:pPr>
            <a:r>
              <a:rPr lang="en-US" sz="2014" spc="-30">
                <a:solidFill>
                  <a:srgbClr val="27334A"/>
                </a:solidFill>
                <a:latin typeface="Helvetica World"/>
                <a:ea typeface="Helvetica World"/>
                <a:cs typeface="Helvetica World"/>
                <a:sym typeface="Helvetica World"/>
              </a:rPr>
              <a:t>This solution can efficiently handle increased data volumes without sacrificing performance or accuracy.</a:t>
            </a:r>
          </a:p>
        </p:txBody>
      </p:sp>
      <p:sp>
        <p:nvSpPr>
          <p:cNvPr name="TextBox 20" id="20"/>
          <p:cNvSpPr txBox="true"/>
          <p:nvPr/>
        </p:nvSpPr>
        <p:spPr>
          <a:xfrm rot="0">
            <a:off x="6773192" y="3381375"/>
            <a:ext cx="4741615" cy="543561"/>
          </a:xfrm>
          <a:prstGeom prst="rect">
            <a:avLst/>
          </a:prstGeom>
        </p:spPr>
        <p:txBody>
          <a:bodyPr anchor="t" rtlCol="false" tIns="0" lIns="0" bIns="0" rIns="0">
            <a:spAutoFit/>
          </a:bodyPr>
          <a:lstStyle/>
          <a:p>
            <a:pPr algn="ctr" marL="0" indent="0" lvl="0">
              <a:lnSpc>
                <a:spcPts val="4180"/>
              </a:lnSpc>
              <a:spcBef>
                <a:spcPct val="0"/>
              </a:spcBef>
            </a:pPr>
            <a:r>
              <a:rPr lang="en-US" sz="3800" spc="-95" strike="noStrike" u="none">
                <a:solidFill>
                  <a:srgbClr val="27334A"/>
                </a:solidFill>
                <a:latin typeface="Georgia Pro Condensed"/>
                <a:ea typeface="Georgia Pro Condensed"/>
                <a:cs typeface="Georgia Pro Condensed"/>
                <a:sym typeface="Georgia Pro Condensed"/>
              </a:rPr>
              <a:t>Scalability</a:t>
            </a:r>
          </a:p>
        </p:txBody>
      </p:sp>
      <p:sp>
        <p:nvSpPr>
          <p:cNvPr name="TextBox 21" id="21"/>
          <p:cNvSpPr txBox="true"/>
          <p:nvPr/>
        </p:nvSpPr>
        <p:spPr>
          <a:xfrm rot="0">
            <a:off x="12551109" y="8272319"/>
            <a:ext cx="4691983" cy="1053737"/>
          </a:xfrm>
          <a:prstGeom prst="rect">
            <a:avLst/>
          </a:prstGeom>
        </p:spPr>
        <p:txBody>
          <a:bodyPr anchor="t" rtlCol="false" tIns="0" lIns="0" bIns="0" rIns="0">
            <a:spAutoFit/>
          </a:bodyPr>
          <a:lstStyle/>
          <a:p>
            <a:pPr algn="ctr" marL="0" indent="0" lvl="0">
              <a:lnSpc>
                <a:spcPts val="2819"/>
              </a:lnSpc>
            </a:pPr>
            <a:r>
              <a:rPr lang="en-US" sz="2014" spc="-30">
                <a:solidFill>
                  <a:srgbClr val="27334A"/>
                </a:solidFill>
                <a:latin typeface="Helvetica World"/>
                <a:ea typeface="Helvetica World"/>
                <a:cs typeface="Helvetica World"/>
                <a:sym typeface="Helvetica World"/>
              </a:rPr>
              <a:t>The model discovers hidden correlations in data, revealing insights for targeted interventions effectively.</a:t>
            </a:r>
          </a:p>
        </p:txBody>
      </p:sp>
      <p:sp>
        <p:nvSpPr>
          <p:cNvPr name="TextBox 22" id="22"/>
          <p:cNvSpPr txBox="true"/>
          <p:nvPr/>
        </p:nvSpPr>
        <p:spPr>
          <a:xfrm rot="0">
            <a:off x="12172950" y="3381375"/>
            <a:ext cx="5448300" cy="543561"/>
          </a:xfrm>
          <a:prstGeom prst="rect">
            <a:avLst/>
          </a:prstGeom>
        </p:spPr>
        <p:txBody>
          <a:bodyPr anchor="t" rtlCol="false" tIns="0" lIns="0" bIns="0" rIns="0">
            <a:spAutoFit/>
          </a:bodyPr>
          <a:lstStyle/>
          <a:p>
            <a:pPr algn="ctr" marL="0" indent="0" lvl="0">
              <a:lnSpc>
                <a:spcPts val="4180"/>
              </a:lnSpc>
            </a:pPr>
            <a:r>
              <a:rPr lang="en-US" sz="3800" spc="-95">
                <a:solidFill>
                  <a:srgbClr val="27334A"/>
                </a:solidFill>
                <a:latin typeface="Georgia Pro Condensed"/>
                <a:ea typeface="Georgia Pro Condensed"/>
                <a:cs typeface="Georgia Pro Condensed"/>
                <a:sym typeface="Georgia Pro Condensed"/>
              </a:rPr>
              <a:t>Uncovering Hidden Patterns</a:t>
            </a:r>
          </a:p>
        </p:txBody>
      </p:sp>
      <p:sp>
        <p:nvSpPr>
          <p:cNvPr name="TextBox 23" id="23"/>
          <p:cNvSpPr txBox="true"/>
          <p:nvPr/>
        </p:nvSpPr>
        <p:spPr>
          <a:xfrm rot="0">
            <a:off x="666750" y="809625"/>
            <a:ext cx="16954500" cy="1069976"/>
          </a:xfrm>
          <a:prstGeom prst="rect">
            <a:avLst/>
          </a:prstGeom>
        </p:spPr>
        <p:txBody>
          <a:bodyPr anchor="t" rtlCol="false" tIns="0" lIns="0" bIns="0" rIns="0">
            <a:spAutoFit/>
          </a:bodyPr>
          <a:lstStyle/>
          <a:p>
            <a:pPr algn="ctr" marL="0" indent="0" lvl="0">
              <a:lnSpc>
                <a:spcPts val="8000"/>
              </a:lnSpc>
            </a:pPr>
            <a:r>
              <a:rPr lang="en-US" sz="8000" spc="-200">
                <a:solidFill>
                  <a:srgbClr val="F5F7FA"/>
                </a:solidFill>
                <a:latin typeface="Georgia Pro Condensed"/>
                <a:ea typeface="Georgia Pro Condensed"/>
                <a:cs typeface="Georgia Pro Condensed"/>
                <a:sym typeface="Georgia Pro Condensed"/>
              </a:rPr>
              <a:t>Key Features and Benefits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9296400" y="666750"/>
            <a:ext cx="8324850" cy="6716121"/>
            <a:chOff x="0" y="0"/>
            <a:chExt cx="1253399" cy="1011187"/>
          </a:xfrm>
        </p:grpSpPr>
        <p:sp>
          <p:nvSpPr>
            <p:cNvPr name="Freeform 3" id="3"/>
            <p:cNvSpPr/>
            <p:nvPr/>
          </p:nvSpPr>
          <p:spPr>
            <a:xfrm flipH="false" flipV="false" rot="0">
              <a:off x="0" y="0"/>
              <a:ext cx="1253399" cy="1011187"/>
            </a:xfrm>
            <a:custGeom>
              <a:avLst/>
              <a:gdLst/>
              <a:ahLst/>
              <a:cxnLst/>
              <a:rect r="r" b="b" t="t" l="l"/>
              <a:pathLst>
                <a:path h="1011187" w="1253399">
                  <a:moveTo>
                    <a:pt x="18600" y="0"/>
                  </a:moveTo>
                  <a:lnTo>
                    <a:pt x="1234799" y="0"/>
                  </a:lnTo>
                  <a:cubicBezTo>
                    <a:pt x="1239732" y="0"/>
                    <a:pt x="1244463" y="1960"/>
                    <a:pt x="1247951" y="5448"/>
                  </a:cubicBezTo>
                  <a:cubicBezTo>
                    <a:pt x="1251439" y="8936"/>
                    <a:pt x="1253399" y="13667"/>
                    <a:pt x="1253399" y="18600"/>
                  </a:cubicBezTo>
                  <a:lnTo>
                    <a:pt x="1253399" y="992587"/>
                  </a:lnTo>
                  <a:cubicBezTo>
                    <a:pt x="1253399" y="997520"/>
                    <a:pt x="1251439" y="1002251"/>
                    <a:pt x="1247951" y="1005739"/>
                  </a:cubicBezTo>
                  <a:cubicBezTo>
                    <a:pt x="1244463" y="1009227"/>
                    <a:pt x="1239732" y="1011187"/>
                    <a:pt x="1234799" y="1011187"/>
                  </a:cubicBezTo>
                  <a:lnTo>
                    <a:pt x="18600" y="1011187"/>
                  </a:lnTo>
                  <a:cubicBezTo>
                    <a:pt x="13667" y="1011187"/>
                    <a:pt x="8936" y="1009227"/>
                    <a:pt x="5448" y="1005739"/>
                  </a:cubicBezTo>
                  <a:cubicBezTo>
                    <a:pt x="1960" y="1002251"/>
                    <a:pt x="0" y="997520"/>
                    <a:pt x="0" y="992587"/>
                  </a:cubicBezTo>
                  <a:lnTo>
                    <a:pt x="0" y="18600"/>
                  </a:lnTo>
                  <a:cubicBezTo>
                    <a:pt x="0" y="13667"/>
                    <a:pt x="1960" y="8936"/>
                    <a:pt x="5448" y="5448"/>
                  </a:cubicBezTo>
                  <a:cubicBezTo>
                    <a:pt x="8936" y="1960"/>
                    <a:pt x="13667" y="0"/>
                    <a:pt x="18600" y="0"/>
                  </a:cubicBezTo>
                  <a:close/>
                </a:path>
              </a:pathLst>
            </a:custGeom>
            <a:blipFill>
              <a:blip r:embed="rId2"/>
              <a:stretch>
                <a:fillRect l="-109" t="0" r="-109" b="0"/>
              </a:stretch>
            </a:blipFill>
            <a:ln cap="sq">
              <a:noFill/>
              <a:prstDash val="solid"/>
              <a:miter/>
            </a:ln>
          </p:spPr>
        </p:sp>
      </p:grpSp>
      <p:grpSp>
        <p:nvGrpSpPr>
          <p:cNvPr name="Group 4" id="4"/>
          <p:cNvGrpSpPr/>
          <p:nvPr/>
        </p:nvGrpSpPr>
        <p:grpSpPr>
          <a:xfrm rot="0">
            <a:off x="0" y="0"/>
            <a:ext cx="7858125" cy="10287000"/>
            <a:chOff x="0" y="0"/>
            <a:chExt cx="2069630" cy="2709333"/>
          </a:xfrm>
        </p:grpSpPr>
        <p:sp>
          <p:nvSpPr>
            <p:cNvPr name="Freeform 5" id="5"/>
            <p:cNvSpPr/>
            <p:nvPr/>
          </p:nvSpPr>
          <p:spPr>
            <a:xfrm flipH="false" flipV="false" rot="0">
              <a:off x="0" y="0"/>
              <a:ext cx="2069630" cy="2709333"/>
            </a:xfrm>
            <a:custGeom>
              <a:avLst/>
              <a:gdLst/>
              <a:ahLst/>
              <a:cxnLst/>
              <a:rect r="r" b="b" t="t" l="l"/>
              <a:pathLst>
                <a:path h="2709333" w="2069630">
                  <a:moveTo>
                    <a:pt x="0" y="0"/>
                  </a:moveTo>
                  <a:lnTo>
                    <a:pt x="2069630" y="0"/>
                  </a:lnTo>
                  <a:lnTo>
                    <a:pt x="2069630" y="2709333"/>
                  </a:lnTo>
                  <a:lnTo>
                    <a:pt x="0" y="2709333"/>
                  </a:lnTo>
                  <a:close/>
                </a:path>
              </a:pathLst>
            </a:custGeom>
            <a:solidFill>
              <a:srgbClr val="8794A0"/>
            </a:solidFill>
            <a:ln cap="sq">
              <a:noFill/>
              <a:prstDash val="solid"/>
              <a:miter/>
            </a:ln>
          </p:spPr>
        </p:sp>
        <p:sp>
          <p:nvSpPr>
            <p:cNvPr name="TextBox 6" id="6"/>
            <p:cNvSpPr txBox="true"/>
            <p:nvPr/>
          </p:nvSpPr>
          <p:spPr>
            <a:xfrm>
              <a:off x="0" y="-57150"/>
              <a:ext cx="2069630" cy="2766483"/>
            </a:xfrm>
            <a:prstGeom prst="rect">
              <a:avLst/>
            </a:prstGeom>
          </p:spPr>
          <p:txBody>
            <a:bodyPr anchor="ctr" rtlCol="false" tIns="50800" lIns="50800" bIns="50800" rIns="50800"/>
            <a:lstStyle/>
            <a:p>
              <a:pPr algn="ctr" marL="0" indent="0" lvl="0">
                <a:lnSpc>
                  <a:spcPts val="3359"/>
                </a:lnSpc>
              </a:pPr>
            </a:p>
          </p:txBody>
        </p:sp>
      </p:grpSp>
      <p:grpSp>
        <p:nvGrpSpPr>
          <p:cNvPr name="Group 7" id="7"/>
          <p:cNvGrpSpPr/>
          <p:nvPr/>
        </p:nvGrpSpPr>
        <p:grpSpPr>
          <a:xfrm rot="0">
            <a:off x="9296400" y="7829550"/>
            <a:ext cx="8324850" cy="1041273"/>
            <a:chOff x="0" y="0"/>
            <a:chExt cx="11099800" cy="1388364"/>
          </a:xfrm>
        </p:grpSpPr>
        <p:sp>
          <p:nvSpPr>
            <p:cNvPr name="TextBox 8" id="8"/>
            <p:cNvSpPr txBox="true"/>
            <p:nvPr/>
          </p:nvSpPr>
          <p:spPr>
            <a:xfrm rot="0">
              <a:off x="0" y="-9525"/>
              <a:ext cx="11099800" cy="680085"/>
            </a:xfrm>
            <a:prstGeom prst="rect">
              <a:avLst/>
            </a:prstGeom>
          </p:spPr>
          <p:txBody>
            <a:bodyPr anchor="t" rtlCol="false" tIns="0" lIns="0" bIns="0" rIns="0">
              <a:spAutoFit/>
            </a:bodyPr>
            <a:lstStyle/>
            <a:p>
              <a:pPr algn="l" marL="0" indent="0" lvl="0">
                <a:lnSpc>
                  <a:spcPts val="3600"/>
                </a:lnSpc>
                <a:spcBef>
                  <a:spcPct val="0"/>
                </a:spcBef>
              </a:pPr>
              <a:r>
                <a:rPr lang="en-US" b="true" sz="3000" spc="-45">
                  <a:solidFill>
                    <a:srgbClr val="F5F7FA"/>
                  </a:solidFill>
                  <a:latin typeface="Helvetica World Bold"/>
                  <a:ea typeface="Helvetica World Bold"/>
                  <a:cs typeface="Helvetica World Bold"/>
                  <a:sym typeface="Helvetica World Bold"/>
                </a:rPr>
                <a:t>Visualizing Data Transformation Process</a:t>
              </a:r>
            </a:p>
          </p:txBody>
        </p:sp>
        <p:sp>
          <p:nvSpPr>
            <p:cNvPr name="TextBox 9" id="9"/>
            <p:cNvSpPr txBox="true"/>
            <p:nvPr/>
          </p:nvSpPr>
          <p:spPr>
            <a:xfrm rot="0">
              <a:off x="0" y="840613"/>
              <a:ext cx="11099800" cy="547751"/>
            </a:xfrm>
            <a:prstGeom prst="rect">
              <a:avLst/>
            </a:prstGeom>
          </p:spPr>
          <p:txBody>
            <a:bodyPr anchor="t" rtlCol="false" tIns="0" lIns="0" bIns="0" rIns="0">
              <a:spAutoFit/>
            </a:bodyPr>
            <a:lstStyle/>
            <a:p>
              <a:pPr algn="l" marL="0" indent="0" lvl="0">
                <a:lnSpc>
                  <a:spcPts val="3354"/>
                </a:lnSpc>
                <a:spcBef>
                  <a:spcPct val="0"/>
                </a:spcBef>
              </a:pPr>
              <a:r>
                <a:rPr lang="en-US" sz="2600" spc="-39" strike="noStrike" u="none">
                  <a:solidFill>
                    <a:srgbClr val="F5F7FA"/>
                  </a:solidFill>
                  <a:latin typeface="Helvetica World"/>
                  <a:ea typeface="Helvetica World"/>
                  <a:cs typeface="Helvetica World"/>
                  <a:sym typeface="Helvetica World"/>
                </a:rPr>
                <a:t>Understanding the machine learning workflow</a:t>
              </a:r>
            </a:p>
          </p:txBody>
        </p:sp>
      </p:grpSp>
      <p:sp>
        <p:nvSpPr>
          <p:cNvPr name="TextBox 10" id="10"/>
          <p:cNvSpPr txBox="true"/>
          <p:nvPr/>
        </p:nvSpPr>
        <p:spPr>
          <a:xfrm rot="0">
            <a:off x="666750" y="733425"/>
            <a:ext cx="5753100" cy="4492627"/>
          </a:xfrm>
          <a:prstGeom prst="rect">
            <a:avLst/>
          </a:prstGeom>
        </p:spPr>
        <p:txBody>
          <a:bodyPr anchor="t" rtlCol="false" tIns="0" lIns="0" bIns="0" rIns="0">
            <a:spAutoFit/>
          </a:bodyPr>
          <a:lstStyle/>
          <a:p>
            <a:pPr algn="l" marL="0" indent="0" lvl="0">
              <a:lnSpc>
                <a:spcPts val="8800"/>
              </a:lnSpc>
            </a:pPr>
            <a:r>
              <a:rPr lang="en-US" sz="8000" spc="-240">
                <a:solidFill>
                  <a:srgbClr val="F5F7FA"/>
                </a:solidFill>
                <a:latin typeface="Georgia Pro Condensed"/>
                <a:ea typeface="Georgia Pro Condensed"/>
                <a:cs typeface="Georgia Pro Condensed"/>
                <a:sym typeface="Georgia Pro Condensed"/>
              </a:rPr>
              <a:t>Workflow of Data to Hotspot Classification</a:t>
            </a:r>
          </a:p>
        </p:txBody>
      </p:sp>
      <p:sp>
        <p:nvSpPr>
          <p:cNvPr name="Freeform 11" id="11"/>
          <p:cNvSpPr/>
          <p:nvPr/>
        </p:nvSpPr>
        <p:spPr>
          <a:xfrm flipH="false" flipV="false" rot="0">
            <a:off x="708153" y="7606302"/>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2069630" cy="2709333"/>
          </a:xfrm>
        </p:grpSpPr>
        <p:sp>
          <p:nvSpPr>
            <p:cNvPr name="Freeform 3" id="3"/>
            <p:cNvSpPr/>
            <p:nvPr/>
          </p:nvSpPr>
          <p:spPr>
            <a:xfrm flipH="false" flipV="false" rot="0">
              <a:off x="0" y="0"/>
              <a:ext cx="2069630" cy="2709333"/>
            </a:xfrm>
            <a:custGeom>
              <a:avLst/>
              <a:gdLst/>
              <a:ahLst/>
              <a:cxnLst/>
              <a:rect r="r" b="b" t="t" l="l"/>
              <a:pathLst>
                <a:path h="2709333" w="2069630">
                  <a:moveTo>
                    <a:pt x="0" y="0"/>
                  </a:moveTo>
                  <a:lnTo>
                    <a:pt x="2069630" y="0"/>
                  </a:lnTo>
                  <a:lnTo>
                    <a:pt x="2069630" y="2709333"/>
                  </a:lnTo>
                  <a:lnTo>
                    <a:pt x="0" y="2709333"/>
                  </a:lnTo>
                  <a:close/>
                </a:path>
              </a:pathLst>
            </a:custGeom>
            <a:solidFill>
              <a:srgbClr val="8794A0"/>
            </a:solidFill>
            <a:ln cap="sq">
              <a:noFill/>
              <a:prstDash val="solid"/>
              <a:miter/>
            </a:ln>
          </p:spPr>
        </p:sp>
        <p:sp>
          <p:nvSpPr>
            <p:cNvPr name="TextBox 4" id="4"/>
            <p:cNvSpPr txBox="true"/>
            <p:nvPr/>
          </p:nvSpPr>
          <p:spPr>
            <a:xfrm>
              <a:off x="0" y="-57150"/>
              <a:ext cx="2069630" cy="2766483"/>
            </a:xfrm>
            <a:prstGeom prst="rect">
              <a:avLst/>
            </a:prstGeom>
          </p:spPr>
          <p:txBody>
            <a:bodyPr anchor="ctr" rtlCol="false" tIns="50800" lIns="50800" bIns="50800" rIns="50800"/>
            <a:lstStyle/>
            <a:p>
              <a:pPr algn="ctr" marL="0" indent="0" lvl="0">
                <a:lnSpc>
                  <a:spcPts val="3359"/>
                </a:lnSpc>
              </a:pPr>
            </a:p>
          </p:txBody>
        </p:sp>
      </p:grpSp>
      <p:sp>
        <p:nvSpPr>
          <p:cNvPr name="TextBox 5" id="5"/>
          <p:cNvSpPr txBox="true"/>
          <p:nvPr/>
        </p:nvSpPr>
        <p:spPr>
          <a:xfrm rot="0">
            <a:off x="666750" y="790575"/>
            <a:ext cx="5448300" cy="3996690"/>
          </a:xfrm>
          <a:prstGeom prst="rect">
            <a:avLst/>
          </a:prstGeom>
        </p:spPr>
        <p:txBody>
          <a:bodyPr anchor="t" rtlCol="false" tIns="0" lIns="0" bIns="0" rIns="0">
            <a:spAutoFit/>
          </a:bodyPr>
          <a:lstStyle/>
          <a:p>
            <a:pPr algn="l" marL="0" indent="0" lvl="0">
              <a:lnSpc>
                <a:spcPts val="7725"/>
              </a:lnSpc>
            </a:pPr>
            <a:r>
              <a:rPr lang="en-US" sz="7725">
                <a:solidFill>
                  <a:srgbClr val="27334A"/>
                </a:solidFill>
                <a:latin typeface="Georgia Pro Condensed"/>
                <a:ea typeface="Georgia Pro Condensed"/>
                <a:cs typeface="Georgia Pro Condensed"/>
                <a:sym typeface="Georgia Pro Condensed"/>
              </a:rPr>
              <a:t>Solution Transparency and Reliability</a:t>
            </a:r>
          </a:p>
        </p:txBody>
      </p:sp>
      <p:sp>
        <p:nvSpPr>
          <p:cNvPr name="TextBox 6" id="6"/>
          <p:cNvSpPr txBox="true"/>
          <p:nvPr/>
        </p:nvSpPr>
        <p:spPr>
          <a:xfrm rot="0">
            <a:off x="9296400" y="1521619"/>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01</a:t>
            </a:r>
          </a:p>
        </p:txBody>
      </p:sp>
      <p:sp>
        <p:nvSpPr>
          <p:cNvPr name="TextBox 7" id="7"/>
          <p:cNvSpPr txBox="true"/>
          <p:nvPr/>
        </p:nvSpPr>
        <p:spPr>
          <a:xfrm rot="0">
            <a:off x="9296400" y="589837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02</a:t>
            </a:r>
          </a:p>
        </p:txBody>
      </p:sp>
      <p:sp>
        <p:nvSpPr>
          <p:cNvPr name="Freeform 8" id="8"/>
          <p:cNvSpPr/>
          <p:nvPr/>
        </p:nvSpPr>
        <p:spPr>
          <a:xfrm flipH="false" flipV="false" rot="0">
            <a:off x="708153" y="7606302"/>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734675" y="1531144"/>
            <a:ext cx="6886575" cy="3039428"/>
            <a:chOff x="0" y="0"/>
            <a:chExt cx="9182100" cy="4052570"/>
          </a:xfrm>
        </p:grpSpPr>
        <p:sp>
          <p:nvSpPr>
            <p:cNvPr name="TextBox 10" id="10"/>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a:solidFill>
                    <a:srgbClr val="F5F7FA"/>
                  </a:solidFill>
                  <a:latin typeface="Helvetica World Bold"/>
                  <a:ea typeface="Helvetica World Bold"/>
                  <a:cs typeface="Helvetica World Bold"/>
                  <a:sym typeface="Helvetica World Bold"/>
                </a:rPr>
                <a:t>Model Interpretability</a:t>
              </a:r>
            </a:p>
          </p:txBody>
        </p:sp>
        <p:sp>
          <p:nvSpPr>
            <p:cNvPr name="TextBox 11" id="11"/>
            <p:cNvSpPr txBox="true"/>
            <p:nvPr/>
          </p:nvSpPr>
          <p:spPr>
            <a:xfrm rot="0">
              <a:off x="0" y="1295189"/>
              <a:ext cx="9182100" cy="2757382"/>
            </a:xfrm>
            <a:prstGeom prst="rect">
              <a:avLst/>
            </a:prstGeom>
          </p:spPr>
          <p:txBody>
            <a:bodyPr anchor="t" rtlCol="false" tIns="0" lIns="0" bIns="0" rIns="0">
              <a:spAutoFit/>
            </a:bodyPr>
            <a:lstStyle/>
            <a:p>
              <a:pPr algn="l" marL="0" indent="0" lvl="0">
                <a:lnSpc>
                  <a:spcPts val="3249"/>
                </a:lnSpc>
                <a:spcBef>
                  <a:spcPct val="0"/>
                </a:spcBef>
              </a:pPr>
              <a:r>
                <a:rPr lang="en-US" sz="2499" spc="-37">
                  <a:solidFill>
                    <a:srgbClr val="F5F7FA"/>
                  </a:solidFill>
                  <a:latin typeface="Helvetica World"/>
                  <a:ea typeface="Helvetica World"/>
                  <a:cs typeface="Helvetica World"/>
                  <a:sym typeface="Helvetica World"/>
                </a:rPr>
                <a:t>Our machine learning model is designed to be </a:t>
              </a:r>
              <a:r>
                <a:rPr lang="en-US" b="true" sz="2499" spc="-37">
                  <a:solidFill>
                    <a:srgbClr val="F5F7FA"/>
                  </a:solidFill>
                  <a:latin typeface="Helvetica World Bold"/>
                  <a:ea typeface="Helvetica World Bold"/>
                  <a:cs typeface="Helvetica World Bold"/>
                  <a:sym typeface="Helvetica World Bold"/>
                </a:rPr>
                <a:t>user-friendly</a:t>
              </a:r>
              <a:r>
                <a:rPr lang="en-US" sz="2499" spc="-37">
                  <a:solidFill>
                    <a:srgbClr val="F5F7FA"/>
                  </a:solidFill>
                  <a:latin typeface="Helvetica World"/>
                  <a:ea typeface="Helvetica World"/>
                  <a:cs typeface="Helvetica World"/>
                  <a:sym typeface="Helvetica World"/>
                </a:rPr>
                <a:t>, providing clear insights into how features influence hotspot classification, ensuring all of us are able understand its decisions and rationale.</a:t>
              </a:r>
            </a:p>
          </p:txBody>
        </p:sp>
      </p:grpSp>
      <p:grpSp>
        <p:nvGrpSpPr>
          <p:cNvPr name="Group 12" id="12"/>
          <p:cNvGrpSpPr/>
          <p:nvPr/>
        </p:nvGrpSpPr>
        <p:grpSpPr>
          <a:xfrm rot="0">
            <a:off x="10734675" y="5907900"/>
            <a:ext cx="6886575" cy="2627948"/>
            <a:chOff x="0" y="0"/>
            <a:chExt cx="9182100" cy="3503930"/>
          </a:xfrm>
        </p:grpSpPr>
        <p:sp>
          <p:nvSpPr>
            <p:cNvPr name="TextBox 13" id="13"/>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a:solidFill>
                    <a:srgbClr val="F5F7FA"/>
                  </a:solidFill>
                  <a:latin typeface="Helvetica World Bold"/>
                  <a:ea typeface="Helvetica World Bold"/>
                  <a:cs typeface="Helvetica World Bold"/>
                  <a:sym typeface="Helvetica World Bold"/>
                </a:rPr>
                <a:t>Data Integrity</a:t>
              </a:r>
            </a:p>
          </p:txBody>
        </p:sp>
        <p:sp>
          <p:nvSpPr>
            <p:cNvPr name="TextBox 14" id="14"/>
            <p:cNvSpPr txBox="true"/>
            <p:nvPr/>
          </p:nvSpPr>
          <p:spPr>
            <a:xfrm rot="0">
              <a:off x="0" y="1295189"/>
              <a:ext cx="9182100" cy="2208742"/>
            </a:xfrm>
            <a:prstGeom prst="rect">
              <a:avLst/>
            </a:prstGeom>
          </p:spPr>
          <p:txBody>
            <a:bodyPr anchor="t" rtlCol="false" tIns="0" lIns="0" bIns="0" rIns="0">
              <a:spAutoFit/>
            </a:bodyPr>
            <a:lstStyle/>
            <a:p>
              <a:pPr algn="l" marL="0" indent="0" lvl="0">
                <a:lnSpc>
                  <a:spcPts val="3249"/>
                </a:lnSpc>
                <a:spcBef>
                  <a:spcPct val="0"/>
                </a:spcBef>
              </a:pPr>
              <a:r>
                <a:rPr lang="en-US" sz="2499" spc="-37">
                  <a:solidFill>
                    <a:srgbClr val="F5F7FA"/>
                  </a:solidFill>
                  <a:latin typeface="Helvetica World"/>
                  <a:ea typeface="Helvetica World"/>
                  <a:cs typeface="Helvetica World"/>
                  <a:sym typeface="Helvetica World"/>
                </a:rPr>
                <a:t>We prioritize </a:t>
              </a:r>
              <a:r>
                <a:rPr lang="en-US" b="true" sz="2499" spc="-37">
                  <a:solidFill>
                    <a:srgbClr val="F5F7FA"/>
                  </a:solidFill>
                  <a:latin typeface="Helvetica World Bold"/>
                  <a:ea typeface="Helvetica World Bold"/>
                  <a:cs typeface="Helvetica World Bold"/>
                  <a:sym typeface="Helvetica World Bold"/>
                </a:rPr>
                <a:t>data accuracy</a:t>
              </a:r>
              <a:r>
                <a:rPr lang="en-US" sz="2499" spc="-37">
                  <a:solidFill>
                    <a:srgbClr val="F5F7FA"/>
                  </a:solidFill>
                  <a:latin typeface="Helvetica World"/>
                  <a:ea typeface="Helvetica World"/>
                  <a:cs typeface="Helvetica World"/>
                  <a:sym typeface="Helvetica World"/>
                </a:rPr>
                <a:t> through rigorous validation processes, ensuring that the information used is reliable, fostering trust in the findings and their implications for policy-making.</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8794A0"/>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marL="0" indent="0" lvl="0">
              <a:lnSpc>
                <a:spcPts val="2800"/>
              </a:lnSpc>
              <a:spcBef>
                <a:spcPct val="0"/>
              </a:spcBef>
            </a:pPr>
            <a:r>
              <a:rPr lang="en-US" sz="2000">
                <a:solidFill>
                  <a:srgbClr val="F5F7FA"/>
                </a:solidFill>
                <a:latin typeface="Helvetica World"/>
                <a:ea typeface="Helvetica World"/>
                <a:cs typeface="Helvetica World"/>
                <a:sym typeface="Helvetica World"/>
              </a:rPr>
              <a:t>9</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5C6287"/>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067009"/>
            <a:chOff x="0" y="0"/>
            <a:chExt cx="17665700" cy="2756012"/>
          </a:xfrm>
        </p:grpSpPr>
        <p:sp>
          <p:nvSpPr>
            <p:cNvPr name="TextBox 7" id="7"/>
            <p:cNvSpPr txBox="true"/>
            <p:nvPr/>
          </p:nvSpPr>
          <p:spPr>
            <a:xfrm rot="0">
              <a:off x="0" y="-85725"/>
              <a:ext cx="17665700" cy="1702858"/>
            </a:xfrm>
            <a:prstGeom prst="rect">
              <a:avLst/>
            </a:prstGeom>
          </p:spPr>
          <p:txBody>
            <a:bodyPr anchor="t" rtlCol="false" tIns="0" lIns="0" bIns="0" rIns="0">
              <a:spAutoFit/>
            </a:bodyPr>
            <a:lstStyle/>
            <a:p>
              <a:pPr algn="l" marL="0" indent="0" lvl="0">
                <a:lnSpc>
                  <a:spcPts val="10400"/>
                </a:lnSpc>
              </a:pPr>
              <a:r>
                <a:rPr lang="en-US" sz="8000" spc="-240">
                  <a:solidFill>
                    <a:srgbClr val="F5F7FA"/>
                  </a:solidFill>
                  <a:latin typeface="Georgia Pro Condensed"/>
                  <a:ea typeface="Georgia Pro Condensed"/>
                  <a:cs typeface="Georgia Pro Condensed"/>
                  <a:sym typeface="Georgia Pro Condensed"/>
                </a:rPr>
                <a:t>Targeted Policy Measures</a:t>
              </a:r>
            </a:p>
          </p:txBody>
        </p:sp>
        <p:sp>
          <p:nvSpPr>
            <p:cNvPr name="TextBox 8" id="8"/>
            <p:cNvSpPr txBox="true"/>
            <p:nvPr/>
          </p:nvSpPr>
          <p:spPr>
            <a:xfrm rot="0">
              <a:off x="0" y="2187687"/>
              <a:ext cx="176657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F5F7FA"/>
                  </a:solidFill>
                  <a:latin typeface="Helvetica World Bold"/>
                  <a:ea typeface="Helvetica World Bold"/>
                  <a:cs typeface="Helvetica World Bold"/>
                  <a:sym typeface="Helvetica World Bold"/>
                </a:rPr>
                <a:t>Insights Guide Resource Allocation Strategies</a:t>
              </a:r>
            </a:p>
          </p:txBody>
        </p:sp>
      </p:grpSp>
      <p:grpSp>
        <p:nvGrpSpPr>
          <p:cNvPr name="Group 9" id="9"/>
          <p:cNvGrpSpPr/>
          <p:nvPr/>
        </p:nvGrpSpPr>
        <p:grpSpPr>
          <a:xfrm rot="0">
            <a:off x="1800225" y="5143500"/>
            <a:ext cx="4308497" cy="2901950"/>
            <a:chOff x="0" y="0"/>
            <a:chExt cx="5744662" cy="3869267"/>
          </a:xfrm>
        </p:grpSpPr>
        <p:sp>
          <p:nvSpPr>
            <p:cNvPr name="TextBox 10" id="10"/>
            <p:cNvSpPr txBox="true"/>
            <p:nvPr/>
          </p:nvSpPr>
          <p:spPr>
            <a:xfrm rot="0">
              <a:off x="0" y="0"/>
              <a:ext cx="5744662"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Community Programs</a:t>
              </a:r>
            </a:p>
          </p:txBody>
        </p:sp>
        <p:sp>
          <p:nvSpPr>
            <p:cNvPr name="TextBox 11" id="11"/>
            <p:cNvSpPr txBox="true"/>
            <p:nvPr/>
          </p:nvSpPr>
          <p:spPr>
            <a:xfrm rot="0">
              <a:off x="0" y="1060450"/>
              <a:ext cx="5744662" cy="28088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F5F7FA"/>
                  </a:solidFill>
                  <a:latin typeface="Helvetica World"/>
                  <a:ea typeface="Helvetica World"/>
                  <a:cs typeface="Helvetica World"/>
                  <a:sym typeface="Helvetica World"/>
                </a:rPr>
                <a:t>Implementing community programs focused on youth engagement can effectively prevent juvenile conversion by providing positive environments and mentorship opportunities to at-risk individuals.</a:t>
              </a:r>
            </a:p>
          </p:txBody>
        </p:sp>
      </p:grpSp>
      <p:grpSp>
        <p:nvGrpSpPr>
          <p:cNvPr name="Group 12" id="12"/>
          <p:cNvGrpSpPr/>
          <p:nvPr/>
        </p:nvGrpSpPr>
        <p:grpSpPr>
          <a:xfrm rot="0">
            <a:off x="7291388" y="5143500"/>
            <a:ext cx="4010025" cy="2549525"/>
            <a:chOff x="0" y="0"/>
            <a:chExt cx="5346700" cy="3399367"/>
          </a:xfrm>
        </p:grpSpPr>
        <p:sp>
          <p:nvSpPr>
            <p:cNvPr name="TextBox 13" id="13"/>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Increased Monitoring</a:t>
              </a:r>
            </a:p>
          </p:txBody>
        </p:sp>
        <p:sp>
          <p:nvSpPr>
            <p:cNvPr name="TextBox 14" id="14"/>
            <p:cNvSpPr txBox="true"/>
            <p:nvPr/>
          </p:nvSpPr>
          <p:spPr>
            <a:xfrm rot="0">
              <a:off x="0" y="1060450"/>
              <a:ext cx="5346700" cy="23389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F5F7FA"/>
                  </a:solidFill>
                  <a:latin typeface="Helvetica World"/>
                  <a:ea typeface="Helvetica World"/>
                  <a:cs typeface="Helvetica World"/>
                  <a:sym typeface="Helvetica World"/>
                </a:rPr>
                <a:t>Enhancing monitoring in identified hotspots allows for early intervention, helping authorities to address rising adult criminal activity before it escalates and impacts the youth.</a:t>
              </a:r>
            </a:p>
          </p:txBody>
        </p:sp>
      </p:grpSp>
      <p:grpSp>
        <p:nvGrpSpPr>
          <p:cNvPr name="Group 15" id="15"/>
          <p:cNvGrpSpPr/>
          <p:nvPr/>
        </p:nvGrpSpPr>
        <p:grpSpPr>
          <a:xfrm rot="0">
            <a:off x="12172950" y="5143500"/>
            <a:ext cx="4326927" cy="2559050"/>
            <a:chOff x="0" y="0"/>
            <a:chExt cx="5769236" cy="3412067"/>
          </a:xfrm>
        </p:grpSpPr>
        <p:sp>
          <p:nvSpPr>
            <p:cNvPr name="TextBox 16" id="16"/>
            <p:cNvSpPr txBox="true"/>
            <p:nvPr/>
          </p:nvSpPr>
          <p:spPr>
            <a:xfrm rot="0">
              <a:off x="0" y="0"/>
              <a:ext cx="5769236" cy="5461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F5F7FA"/>
                  </a:solidFill>
                  <a:latin typeface="Helvetica World Bold"/>
                  <a:ea typeface="Helvetica World Bold"/>
                  <a:cs typeface="Helvetica World Bold"/>
                  <a:sym typeface="Helvetica World Bold"/>
                </a:rPr>
                <a:t>Education and Rehabilitation</a:t>
              </a:r>
            </a:p>
          </p:txBody>
        </p:sp>
        <p:sp>
          <p:nvSpPr>
            <p:cNvPr name="TextBox 17" id="17"/>
            <p:cNvSpPr txBox="true"/>
            <p:nvPr/>
          </p:nvSpPr>
          <p:spPr>
            <a:xfrm rot="0">
              <a:off x="0" y="1073150"/>
              <a:ext cx="5769236" cy="23389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F5F7FA"/>
                  </a:solidFill>
                  <a:latin typeface="Helvetica World"/>
                  <a:ea typeface="Helvetica World"/>
                  <a:cs typeface="Helvetica World"/>
                  <a:sym typeface="Helvetica World"/>
                </a:rPr>
                <a:t>Promoting education and rehabilitation efforts within hotspots can break the cycle of crime, equipping individuals with the skills necessary for successful reintegration into society.</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5C6287"/>
        </a:solidFill>
      </p:bgPr>
    </p:bg>
    <p:spTree>
      <p:nvGrpSpPr>
        <p:cNvPr id="1" name=""/>
        <p:cNvGrpSpPr/>
        <p:nvPr/>
      </p:nvGrpSpPr>
      <p:grpSpPr>
        <a:xfrm>
          <a:off x="0" y="0"/>
          <a:ext cx="0" cy="0"/>
          <a:chOff x="0" y="0"/>
          <a:chExt cx="0" cy="0"/>
        </a:xfrm>
      </p:grpSpPr>
      <p:sp>
        <p:nvSpPr>
          <p:cNvPr name="TextBox 2" id="2"/>
          <p:cNvSpPr txBox="true"/>
          <p:nvPr/>
        </p:nvSpPr>
        <p:spPr>
          <a:xfrm rot="0">
            <a:off x="1190857" y="1833463"/>
            <a:ext cx="15906285" cy="1069976"/>
          </a:xfrm>
          <a:prstGeom prst="rect">
            <a:avLst/>
          </a:prstGeom>
        </p:spPr>
        <p:txBody>
          <a:bodyPr anchor="t" rtlCol="false" tIns="0" lIns="0" bIns="0" rIns="0">
            <a:spAutoFit/>
          </a:bodyPr>
          <a:lstStyle/>
          <a:p>
            <a:pPr algn="l" marL="0" indent="0" lvl="0">
              <a:lnSpc>
                <a:spcPts val="8000"/>
              </a:lnSpc>
            </a:pPr>
            <a:r>
              <a:rPr lang="en-US" sz="8000">
                <a:solidFill>
                  <a:srgbClr val="F5F7FA"/>
                </a:solidFill>
                <a:latin typeface="Georgia Pro Condensed"/>
                <a:ea typeface="Georgia Pro Condensed"/>
                <a:cs typeface="Georgia Pro Condensed"/>
                <a:sym typeface="Georgia Pro Condensed"/>
              </a:rPr>
              <a:t>Recommended Strategies for Hotspots</a:t>
            </a:r>
          </a:p>
        </p:txBody>
      </p:sp>
      <p:grpSp>
        <p:nvGrpSpPr>
          <p:cNvPr name="Group 3" id="3"/>
          <p:cNvGrpSpPr/>
          <p:nvPr/>
        </p:nvGrpSpPr>
        <p:grpSpPr>
          <a:xfrm rot="0">
            <a:off x="2105025" y="4259580"/>
            <a:ext cx="6886575" cy="1780223"/>
            <a:chOff x="0" y="0"/>
            <a:chExt cx="9182100" cy="2373630"/>
          </a:xfrm>
        </p:grpSpPr>
        <p:sp>
          <p:nvSpPr>
            <p:cNvPr name="TextBox 4" id="4"/>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a:solidFill>
                    <a:srgbClr val="F5F7FA"/>
                  </a:solidFill>
                  <a:latin typeface="Helvetica World Bold"/>
                  <a:ea typeface="Helvetica World Bold"/>
                  <a:cs typeface="Helvetica World Bold"/>
                  <a:sym typeface="Helvetica World Bold"/>
                </a:rPr>
                <a:t>Community Programs</a:t>
              </a:r>
            </a:p>
          </p:txBody>
        </p:sp>
        <p:sp>
          <p:nvSpPr>
            <p:cNvPr name="TextBox 5" id="5"/>
            <p:cNvSpPr txBox="true"/>
            <p:nvPr/>
          </p:nvSpPr>
          <p:spPr>
            <a:xfrm rot="0">
              <a:off x="0" y="12951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5F7FA"/>
                  </a:solidFill>
                  <a:latin typeface="Helvetica World"/>
                  <a:ea typeface="Helvetica World"/>
                  <a:cs typeface="Helvetica World"/>
                  <a:sym typeface="Helvetica World"/>
                </a:rPr>
                <a:t>Foster local engagement through targeted initiatives.</a:t>
              </a:r>
            </a:p>
          </p:txBody>
        </p:sp>
      </p:grpSp>
      <p:grpSp>
        <p:nvGrpSpPr>
          <p:cNvPr name="Group 6" id="6"/>
          <p:cNvGrpSpPr/>
          <p:nvPr/>
        </p:nvGrpSpPr>
        <p:grpSpPr>
          <a:xfrm rot="0">
            <a:off x="10734675" y="6944836"/>
            <a:ext cx="6886575" cy="1780223"/>
            <a:chOff x="0" y="0"/>
            <a:chExt cx="9182100" cy="2373630"/>
          </a:xfrm>
        </p:grpSpPr>
        <p:sp>
          <p:nvSpPr>
            <p:cNvPr name="TextBox 7" id="7"/>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5F7FA"/>
                  </a:solidFill>
                  <a:latin typeface="Helvetica World Bold"/>
                  <a:ea typeface="Helvetica World Bold"/>
                  <a:cs typeface="Helvetica World Bold"/>
                  <a:sym typeface="Helvetica World Bold"/>
                </a:rPr>
                <a:t>Rehabilitation</a:t>
              </a:r>
            </a:p>
          </p:txBody>
        </p:sp>
        <p:sp>
          <p:nvSpPr>
            <p:cNvPr name="TextBox 8" id="8"/>
            <p:cNvSpPr txBox="true"/>
            <p:nvPr/>
          </p:nvSpPr>
          <p:spPr>
            <a:xfrm rot="0">
              <a:off x="0" y="12951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5F7FA"/>
                  </a:solidFill>
                  <a:latin typeface="Helvetica World"/>
                  <a:ea typeface="Helvetica World"/>
                  <a:cs typeface="Helvetica World"/>
                  <a:sym typeface="Helvetica World"/>
                </a:rPr>
                <a:t>Enhance support systems for juvenile offenders' reintegration.</a:t>
              </a:r>
            </a:p>
          </p:txBody>
        </p:sp>
      </p:grpSp>
      <p:grpSp>
        <p:nvGrpSpPr>
          <p:cNvPr name="Group 9" id="9"/>
          <p:cNvGrpSpPr/>
          <p:nvPr/>
        </p:nvGrpSpPr>
        <p:grpSpPr>
          <a:xfrm rot="0">
            <a:off x="2105025" y="6937534"/>
            <a:ext cx="6886575" cy="1826419"/>
            <a:chOff x="0" y="0"/>
            <a:chExt cx="9182100" cy="2435225"/>
          </a:xfrm>
        </p:grpSpPr>
        <p:sp>
          <p:nvSpPr>
            <p:cNvPr name="TextBox 10" id="10"/>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5F7FA"/>
                  </a:solidFill>
                  <a:latin typeface="Helvetica World Bold"/>
                  <a:ea typeface="Helvetica World Bold"/>
                  <a:cs typeface="Helvetica World Bold"/>
                  <a:sym typeface="Helvetica World Bold"/>
                </a:rPr>
                <a:t>Monitoring</a:t>
              </a:r>
            </a:p>
          </p:txBody>
        </p:sp>
        <p:sp>
          <p:nvSpPr>
            <p:cNvPr name="TextBox 11" id="11"/>
            <p:cNvSpPr txBox="true"/>
            <p:nvPr/>
          </p:nvSpPr>
          <p:spPr>
            <a:xfrm rot="0">
              <a:off x="0" y="1356783"/>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5F7FA"/>
                  </a:solidFill>
                  <a:latin typeface="Helvetica World"/>
                  <a:ea typeface="Helvetica World"/>
                  <a:cs typeface="Helvetica World"/>
                  <a:sym typeface="Helvetica World"/>
                </a:rPr>
                <a:t>Implement regular assessments to track progress effectively.</a:t>
              </a:r>
            </a:p>
          </p:txBody>
        </p:sp>
      </p:grpSp>
      <p:sp>
        <p:nvSpPr>
          <p:cNvPr name="TextBox 12" id="12"/>
          <p:cNvSpPr txBox="true"/>
          <p:nvPr/>
        </p:nvSpPr>
        <p:spPr>
          <a:xfrm rot="0">
            <a:off x="666750" y="424434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01</a:t>
            </a:r>
          </a:p>
        </p:txBody>
      </p:sp>
      <p:sp>
        <p:nvSpPr>
          <p:cNvPr name="TextBox 13" id="13"/>
          <p:cNvSpPr txBox="true"/>
          <p:nvPr/>
        </p:nvSpPr>
        <p:spPr>
          <a:xfrm rot="0">
            <a:off x="9296400" y="425005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03</a:t>
            </a:r>
          </a:p>
        </p:txBody>
      </p:sp>
      <p:sp>
        <p:nvSpPr>
          <p:cNvPr name="TextBox 14" id="14"/>
          <p:cNvSpPr txBox="true"/>
          <p:nvPr/>
        </p:nvSpPr>
        <p:spPr>
          <a:xfrm rot="0">
            <a:off x="9296400" y="693610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04</a:t>
            </a:r>
          </a:p>
        </p:txBody>
      </p:sp>
      <p:sp>
        <p:nvSpPr>
          <p:cNvPr name="TextBox 15" id="15"/>
          <p:cNvSpPr txBox="true"/>
          <p:nvPr/>
        </p:nvSpPr>
        <p:spPr>
          <a:xfrm rot="0">
            <a:off x="666750" y="693039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F7FA"/>
                </a:solidFill>
                <a:latin typeface="Georgia Pro Condensed"/>
                <a:ea typeface="Georgia Pro Condensed"/>
                <a:cs typeface="Georgia Pro Condensed"/>
                <a:sym typeface="Georgia Pro Condensed"/>
              </a:rPr>
              <a:t>02</a:t>
            </a:r>
          </a:p>
        </p:txBody>
      </p:sp>
      <p:grpSp>
        <p:nvGrpSpPr>
          <p:cNvPr name="Group 16" id="16"/>
          <p:cNvGrpSpPr/>
          <p:nvPr/>
        </p:nvGrpSpPr>
        <p:grpSpPr>
          <a:xfrm rot="0">
            <a:off x="10734675" y="4258786"/>
            <a:ext cx="6886575" cy="1780223"/>
            <a:chOff x="0" y="0"/>
            <a:chExt cx="9182100" cy="2373630"/>
          </a:xfrm>
        </p:grpSpPr>
        <p:sp>
          <p:nvSpPr>
            <p:cNvPr name="TextBox 17" id="17"/>
            <p:cNvSpPr txBox="true"/>
            <p:nvPr/>
          </p:nvSpPr>
          <p:spPr>
            <a:xfrm rot="0">
              <a:off x="0" y="-9525"/>
              <a:ext cx="9182100" cy="6699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5F7FA"/>
                  </a:solidFill>
                  <a:latin typeface="Helvetica World Bold"/>
                  <a:ea typeface="Helvetica World Bold"/>
                  <a:cs typeface="Helvetica World Bold"/>
                  <a:sym typeface="Helvetica World Bold"/>
                </a:rPr>
                <a:t>Education</a:t>
              </a:r>
            </a:p>
          </p:txBody>
        </p:sp>
        <p:sp>
          <p:nvSpPr>
            <p:cNvPr name="TextBox 18" id="18"/>
            <p:cNvSpPr txBox="true"/>
            <p:nvPr/>
          </p:nvSpPr>
          <p:spPr>
            <a:xfrm rot="0">
              <a:off x="0" y="12951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5F7FA"/>
                  </a:solidFill>
                  <a:latin typeface="Helvetica World"/>
                  <a:ea typeface="Helvetica World"/>
                  <a:cs typeface="Helvetica World"/>
                  <a:sym typeface="Helvetica World"/>
                </a:rPr>
                <a:t>Provide resources to raise awareness and prevention.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8794A0"/>
            </a:solidFill>
            <a:ln cap="rnd">
              <a:noFill/>
              <a:prstDash val="solid"/>
              <a:round/>
            </a:ln>
          </p:spPr>
        </p:sp>
        <p:sp>
          <p:nvSpPr>
            <p:cNvPr name="TextBox 4" id="4"/>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pPr>
            </a:p>
          </p:txBody>
        </p:sp>
      </p:grpSp>
      <p:grpSp>
        <p:nvGrpSpPr>
          <p:cNvPr name="Group 5" id="5"/>
          <p:cNvGrpSpPr/>
          <p:nvPr/>
        </p:nvGrpSpPr>
        <p:grpSpPr>
          <a:xfrm rot="0">
            <a:off x="2105025" y="1562100"/>
            <a:ext cx="9763125" cy="7278370"/>
            <a:chOff x="0" y="0"/>
            <a:chExt cx="13017500" cy="9704494"/>
          </a:xfrm>
        </p:grpSpPr>
        <p:sp>
          <p:nvSpPr>
            <p:cNvPr name="TextBox 6" id="6"/>
            <p:cNvSpPr txBox="true"/>
            <p:nvPr/>
          </p:nvSpPr>
          <p:spPr>
            <a:xfrm rot="0">
              <a:off x="0" y="2106295"/>
              <a:ext cx="13017500" cy="7598199"/>
            </a:xfrm>
            <a:prstGeom prst="rect">
              <a:avLst/>
            </a:prstGeom>
          </p:spPr>
          <p:txBody>
            <a:bodyPr anchor="t" rtlCol="false" tIns="0" lIns="0" bIns="0" rIns="0">
              <a:spAutoFit/>
            </a:bodyPr>
            <a:lstStyle/>
            <a:p>
              <a:pPr algn="l" marL="0" indent="0" lvl="0">
                <a:lnSpc>
                  <a:spcPts val="3499"/>
                </a:lnSpc>
              </a:pPr>
              <a:r>
                <a:rPr lang="en-US" sz="2499" spc="-37">
                  <a:solidFill>
                    <a:srgbClr val="F5F7FA"/>
                  </a:solidFill>
                  <a:latin typeface="Helvetica World"/>
                  <a:ea typeface="Helvetica World"/>
                  <a:cs typeface="Helvetica World"/>
                  <a:sym typeface="Helvetica World"/>
                </a:rPr>
                <a:t>Implementing targeted interventions can lead to:</a:t>
              </a:r>
            </a:p>
            <a:p>
              <a:pPr algn="l" marL="539749" indent="-269875" lvl="1">
                <a:lnSpc>
                  <a:spcPts val="3499"/>
                </a:lnSpc>
                <a:buFont typeface="Arial"/>
                <a:buChar char="•"/>
              </a:pPr>
              <a:r>
                <a:rPr lang="en-US" b="true" sz="2499" spc="-37">
                  <a:solidFill>
                    <a:srgbClr val="F5F7FA"/>
                  </a:solidFill>
                  <a:latin typeface="Helvetica World Bold"/>
                  <a:ea typeface="Helvetica World Bold"/>
                  <a:cs typeface="Helvetica World Bold"/>
                  <a:sym typeface="Helvetica World Bold"/>
                </a:rPr>
                <a:t>Reduced juvenile-to-adult criminal conversion rates</a:t>
              </a:r>
            </a:p>
            <a:p>
              <a:pPr algn="l" marL="539749" indent="-269875" lvl="1">
                <a:lnSpc>
                  <a:spcPts val="3499"/>
                </a:lnSpc>
                <a:buFont typeface="Arial"/>
                <a:buChar char="•"/>
              </a:pPr>
              <a:r>
                <a:rPr lang="en-US" sz="2499" spc="-37">
                  <a:solidFill>
                    <a:srgbClr val="F5F7FA"/>
                  </a:solidFill>
                  <a:latin typeface="Helvetica World"/>
                  <a:ea typeface="Helvetica World"/>
                  <a:cs typeface="Helvetica World"/>
                  <a:sym typeface="Helvetica World"/>
                </a:rPr>
                <a:t>Improved public safety and community stability</a:t>
              </a:r>
            </a:p>
            <a:p>
              <a:pPr algn="l" marL="539749" indent="-269875" lvl="1">
                <a:lnSpc>
                  <a:spcPts val="3499"/>
                </a:lnSpc>
                <a:buFont typeface="Arial"/>
                <a:buChar char="•"/>
              </a:pPr>
              <a:r>
                <a:rPr lang="en-US" sz="2499" spc="-37">
                  <a:solidFill>
                    <a:srgbClr val="F5F7FA"/>
                  </a:solidFill>
                  <a:latin typeface="Helvetica World"/>
                  <a:ea typeface="Helvetica World"/>
                  <a:cs typeface="Helvetica World"/>
                  <a:sym typeface="Helvetica World"/>
                </a:rPr>
                <a:t>Increased trust and collaboration between law enforcement and communities</a:t>
              </a:r>
            </a:p>
            <a:p>
              <a:pPr algn="l" marL="539749" indent="-269875" lvl="1">
                <a:lnSpc>
                  <a:spcPts val="3499"/>
                </a:lnSpc>
                <a:buFont typeface="Arial"/>
                <a:buChar char="•"/>
              </a:pPr>
              <a:r>
                <a:rPr lang="en-US" sz="2499" spc="-37">
                  <a:solidFill>
                    <a:srgbClr val="F5F7FA"/>
                  </a:solidFill>
                  <a:latin typeface="Helvetica World"/>
                  <a:ea typeface="Helvetica World"/>
                  <a:cs typeface="Helvetica World"/>
                  <a:sym typeface="Helvetica World"/>
                </a:rPr>
                <a:t>Enhanced resource allocation towards effective community programs</a:t>
              </a:r>
            </a:p>
            <a:p>
              <a:pPr algn="l" marL="539749" indent="-269875" lvl="1">
                <a:lnSpc>
                  <a:spcPts val="3499"/>
                </a:lnSpc>
                <a:buFont typeface="Arial"/>
                <a:buChar char="•"/>
              </a:pPr>
              <a:r>
                <a:rPr lang="en-US" sz="2499" spc="-37">
                  <a:solidFill>
                    <a:srgbClr val="F5F7FA"/>
                  </a:solidFill>
                  <a:latin typeface="Helvetica World"/>
                  <a:ea typeface="Helvetica World"/>
                  <a:cs typeface="Helvetica World"/>
                  <a:sym typeface="Helvetica World"/>
                </a:rPr>
                <a:t>Long-term strategies focused on education and rehabilitation efforts</a:t>
              </a:r>
            </a:p>
            <a:p>
              <a:pPr algn="l" marL="0" indent="0" lvl="0">
                <a:lnSpc>
                  <a:spcPts val="3499"/>
                </a:lnSpc>
              </a:pPr>
              <a:r>
                <a:rPr lang="en-US" sz="2499" spc="-37">
                  <a:solidFill>
                    <a:srgbClr val="F5F7FA"/>
                  </a:solidFill>
                  <a:latin typeface="Helvetica World"/>
                  <a:ea typeface="Helvetica World"/>
                  <a:cs typeface="Helvetica World"/>
                  <a:sym typeface="Helvetica World"/>
                </a:rPr>
                <a:t>This </a:t>
              </a:r>
              <a:r>
                <a:rPr lang="en-US" sz="2499" spc="-37">
                  <a:solidFill>
                    <a:srgbClr val="F5F7FA"/>
                  </a:solidFill>
                  <a:latin typeface="Helvetica World"/>
                  <a:ea typeface="Helvetica World"/>
                  <a:cs typeface="Helvetica World"/>
                  <a:sym typeface="Helvetica World"/>
                </a:rPr>
                <a:t>proposed roadmap includes phases for initial analysis, community engagement, program rollout, and ongoing monitoring to assess impact and adapt strategies as necessary. This structured approach ensures that interventions remain effective and responsive to community needs, facilitating continuous improvement in public safety outcomes.</a:t>
              </a:r>
            </a:p>
          </p:txBody>
        </p:sp>
        <p:sp>
          <p:nvSpPr>
            <p:cNvPr name="TextBox 7" id="7"/>
            <p:cNvSpPr txBox="true"/>
            <p:nvPr/>
          </p:nvSpPr>
          <p:spPr>
            <a:xfrm rot="0">
              <a:off x="0" y="-19050"/>
              <a:ext cx="13017500" cy="1588770"/>
            </a:xfrm>
            <a:prstGeom prst="rect">
              <a:avLst/>
            </a:prstGeom>
          </p:spPr>
          <p:txBody>
            <a:bodyPr anchor="t" rtlCol="false" tIns="0" lIns="0" bIns="0" rIns="0">
              <a:spAutoFit/>
            </a:bodyPr>
            <a:lstStyle/>
            <a:p>
              <a:pPr algn="l" marL="0" indent="0" lvl="0">
                <a:lnSpc>
                  <a:spcPts val="4319"/>
                </a:lnSpc>
                <a:spcBef>
                  <a:spcPct val="0"/>
                </a:spcBef>
              </a:pPr>
              <a:r>
                <a:rPr lang="en-US" b="true" sz="3599" spc="-53">
                  <a:solidFill>
                    <a:srgbClr val="F5F7FA"/>
                  </a:solidFill>
                  <a:latin typeface="Helvetica World Bold"/>
                  <a:ea typeface="Helvetica World Bold"/>
                  <a:cs typeface="Helvetica World Bold"/>
                  <a:sym typeface="Helvetica World Bold"/>
                </a:rPr>
                <a:t>Suggested Implementation Strategies and Benefits</a:t>
              </a:r>
            </a:p>
          </p:txBody>
        </p:sp>
      </p:grpSp>
      <p:sp>
        <p:nvSpPr>
          <p:cNvPr name="Freeform 8" id="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428823" y="2558289"/>
            <a:ext cx="4498331" cy="3410553"/>
          </a:xfrm>
          <a:custGeom>
            <a:avLst/>
            <a:gdLst/>
            <a:ahLst/>
            <a:cxnLst/>
            <a:rect r="r" b="b" t="t" l="l"/>
            <a:pathLst>
              <a:path h="3410553" w="4498331">
                <a:moveTo>
                  <a:pt x="0" y="0"/>
                </a:moveTo>
                <a:lnTo>
                  <a:pt x="4498331" y="0"/>
                </a:lnTo>
                <a:lnTo>
                  <a:pt x="4498331" y="3410553"/>
                </a:lnTo>
                <a:lnTo>
                  <a:pt x="0" y="3410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C6287"/>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1031988" cy="1350966"/>
          </a:xfrm>
        </p:grpSpPr>
        <p:sp>
          <p:nvSpPr>
            <p:cNvPr name="Freeform 3" id="3"/>
            <p:cNvSpPr/>
            <p:nvPr/>
          </p:nvSpPr>
          <p:spPr>
            <a:xfrm flipH="false" flipV="false" rot="0">
              <a:off x="0" y="0"/>
              <a:ext cx="1031988" cy="1350966"/>
            </a:xfrm>
            <a:custGeom>
              <a:avLst/>
              <a:gdLst/>
              <a:ahLst/>
              <a:cxnLst/>
              <a:rect r="r" b="b" t="t" l="l"/>
              <a:pathLst>
                <a:path h="1350966" w="1031988">
                  <a:moveTo>
                    <a:pt x="0" y="0"/>
                  </a:moveTo>
                  <a:lnTo>
                    <a:pt x="1031988" y="0"/>
                  </a:lnTo>
                  <a:lnTo>
                    <a:pt x="1031988" y="1350966"/>
                  </a:lnTo>
                  <a:lnTo>
                    <a:pt x="0" y="1350966"/>
                  </a:lnTo>
                  <a:close/>
                </a:path>
              </a:pathLst>
            </a:custGeom>
            <a:solidFill>
              <a:srgbClr val="F5F7FA"/>
            </a:solidFill>
            <a:ln w="12700">
              <a:solidFill>
                <a:srgbClr val="000000"/>
              </a:solidFill>
            </a:ln>
          </p:spPr>
        </p:sp>
      </p:grpSp>
      <p:grpSp>
        <p:nvGrpSpPr>
          <p:cNvPr name="Group 4" id="4"/>
          <p:cNvGrpSpPr/>
          <p:nvPr/>
        </p:nvGrpSpPr>
        <p:grpSpPr>
          <a:xfrm rot="0">
            <a:off x="1052512"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9314640" y="4316730"/>
            <a:ext cx="7781195" cy="1901190"/>
          </a:xfrm>
          <a:prstGeom prst="rect">
            <a:avLst/>
          </a:prstGeom>
        </p:spPr>
        <p:txBody>
          <a:bodyPr anchor="t" rtlCol="false" tIns="0" lIns="0" bIns="0" rIns="0">
            <a:spAutoFit/>
          </a:bodyPr>
          <a:lstStyle/>
          <a:p>
            <a:pPr algn="l" marL="0" indent="0" lvl="0">
              <a:lnSpc>
                <a:spcPts val="14100"/>
              </a:lnSpc>
            </a:pPr>
            <a:r>
              <a:rPr lang="en-US" sz="14100" spc="-493">
                <a:solidFill>
                  <a:srgbClr val="F5F7FA"/>
                </a:solidFill>
                <a:latin typeface="Georgia Pro Condensed"/>
                <a:ea typeface="Georgia Pro Condensed"/>
                <a:cs typeface="Georgia Pro Condensed"/>
                <a:sym typeface="Georgia Pro Condensed"/>
              </a:rPr>
              <a:t>Thank You!</a:t>
            </a:r>
          </a:p>
        </p:txBody>
      </p:sp>
      <p:sp>
        <p:nvSpPr>
          <p:cNvPr name="Freeform 7" id="7"/>
          <p:cNvSpPr/>
          <p:nvPr/>
        </p:nvSpPr>
        <p:spPr>
          <a:xfrm flipH="false" flipV="false" rot="-3117037">
            <a:off x="5418783" y="7952721"/>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Data-Driven Hotspot Identification</dc:description>
  <dc:identifier>DAG3D1wmhCk</dc:identifier>
  <dcterms:modified xsi:type="dcterms:W3CDTF">2011-08-01T06:04:30Z</dcterms:modified>
  <cp:revision>1</cp:revision>
  <dc:title>Presentation - Data-Driven Hotspot Identification</dc:title>
</cp:coreProperties>
</file>