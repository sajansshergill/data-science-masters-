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81" r:id="rId5"/>
    <p:sldId id="284" r:id="rId6"/>
    <p:sldId id="293" r:id="rId7"/>
    <p:sldId id="294" r:id="rId8"/>
    <p:sldId id="280" r:id="rId9"/>
    <p:sldId id="278" r:id="rId10"/>
    <p:sldId id="295" r:id="rId11"/>
    <p:sldId id="261" r:id="rId12"/>
    <p:sldId id="296" r:id="rId13"/>
    <p:sldId id="273" r:id="rId14"/>
    <p:sldId id="279" r:id="rId15"/>
    <p:sldId id="297" r:id="rId16"/>
    <p:sldId id="298" r:id="rId17"/>
    <p:sldId id="299" r:id="rId18"/>
    <p:sldId id="265" r:id="rId19"/>
    <p:sldId id="300" r:id="rId20"/>
    <p:sldId id="301" r:id="rId21"/>
    <p:sldId id="302" r:id="rId22"/>
    <p:sldId id="277" r:id="rId23"/>
    <p:sldId id="303" r:id="rId24"/>
    <p:sldId id="268" r:id="rId25"/>
    <p:sldId id="305" r:id="rId26"/>
    <p:sldId id="304" r:id="rId27"/>
    <p:sldId id="266" r:id="rId28"/>
    <p:sldId id="292" r:id="rId29"/>
    <p:sldId id="28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1" autoAdjust="0"/>
    <p:restoredTop sz="94932" autoAdjust="0"/>
  </p:normalViewPr>
  <p:slideViewPr>
    <p:cSldViewPr snapToGrid="0">
      <p:cViewPr varScale="1">
        <p:scale>
          <a:sx n="134" d="100"/>
          <a:sy n="134" d="100"/>
        </p:scale>
        <p:origin x="728" y="19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C4CD45-113C-4370-8F58-72243A0CABD9}" type="doc">
      <dgm:prSet loTypeId="urn:microsoft.com/office/officeart/2018/5/layout/IconCircleLabelList" loCatId="icon" qsTypeId="urn:microsoft.com/office/officeart/2005/8/quickstyle/simple1" qsCatId="simple" csTypeId="urn:microsoft.com/office/officeart/2005/8/colors/accent3_2" csCatId="accent3" phldr="1"/>
      <dgm:spPr/>
      <dgm:t>
        <a:bodyPr/>
        <a:lstStyle/>
        <a:p>
          <a:endParaRPr lang="en-US"/>
        </a:p>
      </dgm:t>
    </dgm:pt>
    <dgm:pt modelId="{D2A01074-1779-48AD-9F60-262098674D65}">
      <dgm:prSet custT="1"/>
      <dgm:spPr/>
      <dgm:t>
        <a:bodyPr/>
        <a:lstStyle/>
        <a:p>
          <a:pPr>
            <a:defRPr cap="all"/>
          </a:pPr>
          <a:r>
            <a:rPr lang="en-US" sz="1500" dirty="0"/>
            <a:t>Predict whether a business license issued by DCWP is likely to lapse (1) or renew (0) using available license-level attributes.</a:t>
          </a:r>
        </a:p>
      </dgm:t>
    </dgm:pt>
    <dgm:pt modelId="{164FE135-EC69-42D1-B4A4-4A6003E531FE}" type="parTrans" cxnId="{3CD7A298-3D99-4DE7-9173-5DF11C6142CA}">
      <dgm:prSet/>
      <dgm:spPr/>
      <dgm:t>
        <a:bodyPr/>
        <a:lstStyle/>
        <a:p>
          <a:endParaRPr lang="en-US"/>
        </a:p>
      </dgm:t>
    </dgm:pt>
    <dgm:pt modelId="{E238BB8D-4B45-4F25-B62E-D1D71C969B74}" type="sibTrans" cxnId="{3CD7A298-3D99-4DE7-9173-5DF11C6142CA}">
      <dgm:prSet/>
      <dgm:spPr/>
      <dgm:t>
        <a:bodyPr/>
        <a:lstStyle/>
        <a:p>
          <a:endParaRPr lang="en-US"/>
        </a:p>
      </dgm:t>
    </dgm:pt>
    <dgm:pt modelId="{133F0BD4-E2B2-4EE2-952D-3E3CF61BD56D}">
      <dgm:prSet/>
      <dgm:spPr/>
      <dgm:t>
        <a:bodyPr/>
        <a:lstStyle/>
        <a:p>
          <a:pPr>
            <a:defRPr cap="all"/>
          </a:pPr>
          <a:r>
            <a:rPr lang="en-US" dirty="0"/>
            <a:t>The goal is to identify renewal behavior patterns to support DCWP in prioritizing renewal reminders and compliance outreach.</a:t>
          </a:r>
        </a:p>
      </dgm:t>
    </dgm:pt>
    <dgm:pt modelId="{D7B3A72B-7BA4-4597-82A1-2B4933CA5BB5}" type="parTrans" cxnId="{58DEAD64-1A4E-4735-86CD-94838B11CF3F}">
      <dgm:prSet/>
      <dgm:spPr/>
      <dgm:t>
        <a:bodyPr/>
        <a:lstStyle/>
        <a:p>
          <a:endParaRPr lang="en-US"/>
        </a:p>
      </dgm:t>
    </dgm:pt>
    <dgm:pt modelId="{77F5000C-5CE5-42AB-B26F-9CA0E46768FF}" type="sibTrans" cxnId="{58DEAD64-1A4E-4735-86CD-94838B11CF3F}">
      <dgm:prSet/>
      <dgm:spPr/>
      <dgm:t>
        <a:bodyPr/>
        <a:lstStyle/>
        <a:p>
          <a:endParaRPr lang="en-US"/>
        </a:p>
      </dgm:t>
    </dgm:pt>
    <dgm:pt modelId="{73DA70B1-A61D-4613-89A6-1A539C09B921}" type="pres">
      <dgm:prSet presAssocID="{F9C4CD45-113C-4370-8F58-72243A0CABD9}" presName="root" presStyleCnt="0">
        <dgm:presLayoutVars>
          <dgm:dir/>
          <dgm:resizeHandles val="exact"/>
        </dgm:presLayoutVars>
      </dgm:prSet>
      <dgm:spPr/>
    </dgm:pt>
    <dgm:pt modelId="{74E37A31-5DDE-4133-83EF-FA7416539663}" type="pres">
      <dgm:prSet presAssocID="{D2A01074-1779-48AD-9F60-262098674D65}" presName="compNode" presStyleCnt="0"/>
      <dgm:spPr/>
    </dgm:pt>
    <dgm:pt modelId="{24D3BE5B-25B7-45C8-8B41-8B0D3165B928}" type="pres">
      <dgm:prSet presAssocID="{D2A01074-1779-48AD-9F60-262098674D65}" presName="iconBgRect" presStyleLbl="bgShp" presStyleIdx="0" presStyleCnt="2"/>
      <dgm:spPr/>
    </dgm:pt>
    <dgm:pt modelId="{876EDEE4-FB03-40D0-B2B9-63D6DC2B0B48}" type="pres">
      <dgm:prSet presAssocID="{D2A01074-1779-48AD-9F60-262098674D6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rtial Sun"/>
        </a:ext>
      </dgm:extLst>
    </dgm:pt>
    <dgm:pt modelId="{9DC74384-9C1E-457C-B0D0-C9560667EF32}" type="pres">
      <dgm:prSet presAssocID="{D2A01074-1779-48AD-9F60-262098674D65}" presName="spaceRect" presStyleCnt="0"/>
      <dgm:spPr/>
    </dgm:pt>
    <dgm:pt modelId="{DAA8F27C-3520-463E-8DA6-77D04F67D8BC}" type="pres">
      <dgm:prSet presAssocID="{D2A01074-1779-48AD-9F60-262098674D65}" presName="textRect" presStyleLbl="revTx" presStyleIdx="0" presStyleCnt="2">
        <dgm:presLayoutVars>
          <dgm:chMax val="1"/>
          <dgm:chPref val="1"/>
        </dgm:presLayoutVars>
      </dgm:prSet>
      <dgm:spPr/>
    </dgm:pt>
    <dgm:pt modelId="{ACD1A401-80C5-4372-B773-1E788291D7A1}" type="pres">
      <dgm:prSet presAssocID="{E238BB8D-4B45-4F25-B62E-D1D71C969B74}" presName="sibTrans" presStyleCnt="0"/>
      <dgm:spPr/>
    </dgm:pt>
    <dgm:pt modelId="{B6DC1F0D-08E6-4114-AC4F-B8E13AC96FDF}" type="pres">
      <dgm:prSet presAssocID="{133F0BD4-E2B2-4EE2-952D-3E3CF61BD56D}" presName="compNode" presStyleCnt="0"/>
      <dgm:spPr/>
    </dgm:pt>
    <dgm:pt modelId="{37AB70D8-6FBD-4CC0-ADE0-A3D14910D295}" type="pres">
      <dgm:prSet presAssocID="{133F0BD4-E2B2-4EE2-952D-3E3CF61BD56D}" presName="iconBgRect" presStyleLbl="bgShp" presStyleIdx="1" presStyleCnt="2"/>
      <dgm:spPr/>
    </dgm:pt>
    <dgm:pt modelId="{5A6AC26A-59E6-4974-AF4C-84730D77E5D4}" type="pres">
      <dgm:prSet presAssocID="{133F0BD4-E2B2-4EE2-952D-3E3CF61BD5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0AC4AC05-6BA2-413D-B3F1-465B0AABA693}" type="pres">
      <dgm:prSet presAssocID="{133F0BD4-E2B2-4EE2-952D-3E3CF61BD56D}" presName="spaceRect" presStyleCnt="0"/>
      <dgm:spPr/>
    </dgm:pt>
    <dgm:pt modelId="{85C4DDFE-16F9-48DB-A38E-63DCF20ED3CA}" type="pres">
      <dgm:prSet presAssocID="{133F0BD4-E2B2-4EE2-952D-3E3CF61BD56D}" presName="textRect" presStyleLbl="revTx" presStyleIdx="1" presStyleCnt="2">
        <dgm:presLayoutVars>
          <dgm:chMax val="1"/>
          <dgm:chPref val="1"/>
        </dgm:presLayoutVars>
      </dgm:prSet>
      <dgm:spPr/>
    </dgm:pt>
  </dgm:ptLst>
  <dgm:cxnLst>
    <dgm:cxn modelId="{6489640B-0F43-4356-89E2-B7E39930C814}" type="presOf" srcId="{133F0BD4-E2B2-4EE2-952D-3E3CF61BD56D}" destId="{85C4DDFE-16F9-48DB-A38E-63DCF20ED3CA}" srcOrd="0" destOrd="0" presId="urn:microsoft.com/office/officeart/2018/5/layout/IconCircleLabelList"/>
    <dgm:cxn modelId="{58DEAD64-1A4E-4735-86CD-94838B11CF3F}" srcId="{F9C4CD45-113C-4370-8F58-72243A0CABD9}" destId="{133F0BD4-E2B2-4EE2-952D-3E3CF61BD56D}" srcOrd="1" destOrd="0" parTransId="{D7B3A72B-7BA4-4597-82A1-2B4933CA5BB5}" sibTransId="{77F5000C-5CE5-42AB-B26F-9CA0E46768FF}"/>
    <dgm:cxn modelId="{4F233076-FB16-4377-BBDB-5DE1B87F5E48}" type="presOf" srcId="{D2A01074-1779-48AD-9F60-262098674D65}" destId="{DAA8F27C-3520-463E-8DA6-77D04F67D8BC}" srcOrd="0" destOrd="0" presId="urn:microsoft.com/office/officeart/2018/5/layout/IconCircleLabelList"/>
    <dgm:cxn modelId="{3CD7A298-3D99-4DE7-9173-5DF11C6142CA}" srcId="{F9C4CD45-113C-4370-8F58-72243A0CABD9}" destId="{D2A01074-1779-48AD-9F60-262098674D65}" srcOrd="0" destOrd="0" parTransId="{164FE135-EC69-42D1-B4A4-4A6003E531FE}" sibTransId="{E238BB8D-4B45-4F25-B62E-D1D71C969B74}"/>
    <dgm:cxn modelId="{7F6681E6-821A-4FFA-8B7D-47A8F20BFD73}" type="presOf" srcId="{F9C4CD45-113C-4370-8F58-72243A0CABD9}" destId="{73DA70B1-A61D-4613-89A6-1A539C09B921}" srcOrd="0" destOrd="0" presId="urn:microsoft.com/office/officeart/2018/5/layout/IconCircleLabelList"/>
    <dgm:cxn modelId="{FF67D8E9-D7A2-430D-BA29-C6032A16D313}" type="presParOf" srcId="{73DA70B1-A61D-4613-89A6-1A539C09B921}" destId="{74E37A31-5DDE-4133-83EF-FA7416539663}" srcOrd="0" destOrd="0" presId="urn:microsoft.com/office/officeart/2018/5/layout/IconCircleLabelList"/>
    <dgm:cxn modelId="{A976EC41-B639-4AB8-9799-ACF04BD29BE0}" type="presParOf" srcId="{74E37A31-5DDE-4133-83EF-FA7416539663}" destId="{24D3BE5B-25B7-45C8-8B41-8B0D3165B928}" srcOrd="0" destOrd="0" presId="urn:microsoft.com/office/officeart/2018/5/layout/IconCircleLabelList"/>
    <dgm:cxn modelId="{5DD65AE3-68B4-4182-9AFF-698C9F67271E}" type="presParOf" srcId="{74E37A31-5DDE-4133-83EF-FA7416539663}" destId="{876EDEE4-FB03-40D0-B2B9-63D6DC2B0B48}" srcOrd="1" destOrd="0" presId="urn:microsoft.com/office/officeart/2018/5/layout/IconCircleLabelList"/>
    <dgm:cxn modelId="{74623E2B-44D1-4556-A48E-86C2255E9E78}" type="presParOf" srcId="{74E37A31-5DDE-4133-83EF-FA7416539663}" destId="{9DC74384-9C1E-457C-B0D0-C9560667EF32}" srcOrd="2" destOrd="0" presId="urn:microsoft.com/office/officeart/2018/5/layout/IconCircleLabelList"/>
    <dgm:cxn modelId="{BB0B349E-E1E0-490C-BC06-F75A39DE3DA8}" type="presParOf" srcId="{74E37A31-5DDE-4133-83EF-FA7416539663}" destId="{DAA8F27C-3520-463E-8DA6-77D04F67D8BC}" srcOrd="3" destOrd="0" presId="urn:microsoft.com/office/officeart/2018/5/layout/IconCircleLabelList"/>
    <dgm:cxn modelId="{B496973A-456E-4FB0-9463-D83E7A34EDAF}" type="presParOf" srcId="{73DA70B1-A61D-4613-89A6-1A539C09B921}" destId="{ACD1A401-80C5-4372-B773-1E788291D7A1}" srcOrd="1" destOrd="0" presId="urn:microsoft.com/office/officeart/2018/5/layout/IconCircleLabelList"/>
    <dgm:cxn modelId="{117CFB43-2FF3-4238-9B7E-F6DD65A05A3A}" type="presParOf" srcId="{73DA70B1-A61D-4613-89A6-1A539C09B921}" destId="{B6DC1F0D-08E6-4114-AC4F-B8E13AC96FDF}" srcOrd="2" destOrd="0" presId="urn:microsoft.com/office/officeart/2018/5/layout/IconCircleLabelList"/>
    <dgm:cxn modelId="{1E1684A8-2880-4660-91C5-B0F04FB92FB4}" type="presParOf" srcId="{B6DC1F0D-08E6-4114-AC4F-B8E13AC96FDF}" destId="{37AB70D8-6FBD-4CC0-ADE0-A3D14910D295}" srcOrd="0" destOrd="0" presId="urn:microsoft.com/office/officeart/2018/5/layout/IconCircleLabelList"/>
    <dgm:cxn modelId="{D1FA066A-3FBA-4E4A-9E23-B21ACAA84826}" type="presParOf" srcId="{B6DC1F0D-08E6-4114-AC4F-B8E13AC96FDF}" destId="{5A6AC26A-59E6-4974-AF4C-84730D77E5D4}" srcOrd="1" destOrd="0" presId="urn:microsoft.com/office/officeart/2018/5/layout/IconCircleLabelList"/>
    <dgm:cxn modelId="{A552D0E1-2A1A-4082-B79F-AD6BA3926AE2}" type="presParOf" srcId="{B6DC1F0D-08E6-4114-AC4F-B8E13AC96FDF}" destId="{0AC4AC05-6BA2-413D-B3F1-465B0AABA693}" srcOrd="2" destOrd="0" presId="urn:microsoft.com/office/officeart/2018/5/layout/IconCircleLabelList"/>
    <dgm:cxn modelId="{C1A9D22C-C0C1-4389-9F78-2A4AAC035DD9}" type="presParOf" srcId="{B6DC1F0D-08E6-4114-AC4F-B8E13AC96FDF}" destId="{85C4DDFE-16F9-48DB-A38E-63DCF20ED3C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0F15FB-0B42-4179-BB73-294FB69EF2DE}" type="doc">
      <dgm:prSet loTypeId="urn:microsoft.com/office/officeart/2005/8/layout/hierarchy1" loCatId="hierarchy" qsTypeId="urn:microsoft.com/office/officeart/2005/8/quickstyle/simple2" qsCatId="simple" csTypeId="urn:microsoft.com/office/officeart/2005/8/colors/accent2_2" csCatId="accent2" phldr="1"/>
      <dgm:spPr/>
      <dgm:t>
        <a:bodyPr/>
        <a:lstStyle/>
        <a:p>
          <a:endParaRPr lang="en-US"/>
        </a:p>
      </dgm:t>
    </dgm:pt>
    <dgm:pt modelId="{ECD7B0A1-A4A2-4F86-9877-68CE45C229BE}">
      <dgm:prSet/>
      <dgm:spPr/>
      <dgm:t>
        <a:bodyPr/>
        <a:lstStyle/>
        <a:p>
          <a:r>
            <a:rPr lang="en-US" dirty="0"/>
            <a:t>Many license records in the DCWP dataset lack valid Latitude / Longitude values.</a:t>
          </a:r>
        </a:p>
      </dgm:t>
    </dgm:pt>
    <dgm:pt modelId="{6C9B307C-ACC5-46ED-AC5E-DD7D19485481}" type="parTrans" cxnId="{F3811190-3C09-4A59-873F-916F19115027}">
      <dgm:prSet/>
      <dgm:spPr/>
      <dgm:t>
        <a:bodyPr/>
        <a:lstStyle/>
        <a:p>
          <a:endParaRPr lang="en-US"/>
        </a:p>
      </dgm:t>
    </dgm:pt>
    <dgm:pt modelId="{6A6A84ED-D717-4E4B-B855-63B3F76FF603}" type="sibTrans" cxnId="{F3811190-3C09-4A59-873F-916F19115027}">
      <dgm:prSet/>
      <dgm:spPr/>
      <dgm:t>
        <a:bodyPr/>
        <a:lstStyle/>
        <a:p>
          <a:endParaRPr lang="en-US"/>
        </a:p>
      </dgm:t>
    </dgm:pt>
    <dgm:pt modelId="{FD9A7866-8627-4B63-A48F-FC04751DA072}">
      <dgm:prSet/>
      <dgm:spPr/>
      <dgm:t>
        <a:bodyPr/>
        <a:lstStyle/>
        <a:p>
          <a:r>
            <a:rPr lang="en-US" dirty="0"/>
            <a:t>The goal of this model is to predict both coordinates simultaneously using spatially related categorical features:</a:t>
          </a:r>
        </a:p>
        <a:p>
          <a:r>
            <a:rPr lang="en-US" dirty="0"/>
            <a:t>1. ZIP Code</a:t>
          </a:r>
        </a:p>
        <a:p>
          <a:r>
            <a:rPr lang="en-US" dirty="0"/>
            <a:t>2. Borough</a:t>
          </a:r>
        </a:p>
        <a:p>
          <a:r>
            <a:rPr lang="en-US" dirty="0"/>
            <a:t>3. Business Category</a:t>
          </a:r>
        </a:p>
      </dgm:t>
    </dgm:pt>
    <dgm:pt modelId="{09A668BA-72F2-4F27-BD68-57DC0EEA6278}" type="parTrans" cxnId="{0E0DA81A-3613-4256-96A3-D431770811C0}">
      <dgm:prSet/>
      <dgm:spPr/>
      <dgm:t>
        <a:bodyPr/>
        <a:lstStyle/>
        <a:p>
          <a:endParaRPr lang="en-US"/>
        </a:p>
      </dgm:t>
    </dgm:pt>
    <dgm:pt modelId="{7652EEC9-ABD2-42A1-90F6-D084491D276A}" type="sibTrans" cxnId="{0E0DA81A-3613-4256-96A3-D431770811C0}">
      <dgm:prSet/>
      <dgm:spPr/>
      <dgm:t>
        <a:bodyPr/>
        <a:lstStyle/>
        <a:p>
          <a:endParaRPr lang="en-US"/>
        </a:p>
      </dgm:t>
    </dgm:pt>
    <dgm:pt modelId="{4D345837-34AC-0542-8B6E-7572A8094D46}" type="pres">
      <dgm:prSet presAssocID="{D10F15FB-0B42-4179-BB73-294FB69EF2DE}" presName="hierChild1" presStyleCnt="0">
        <dgm:presLayoutVars>
          <dgm:chPref val="1"/>
          <dgm:dir/>
          <dgm:animOne val="branch"/>
          <dgm:animLvl val="lvl"/>
          <dgm:resizeHandles/>
        </dgm:presLayoutVars>
      </dgm:prSet>
      <dgm:spPr/>
    </dgm:pt>
    <dgm:pt modelId="{C31BD73D-C0D4-104B-8618-40C47B8B9DF1}" type="pres">
      <dgm:prSet presAssocID="{ECD7B0A1-A4A2-4F86-9877-68CE45C229BE}" presName="hierRoot1" presStyleCnt="0"/>
      <dgm:spPr/>
    </dgm:pt>
    <dgm:pt modelId="{A2818C64-DD75-3548-8207-CC7421382CB8}" type="pres">
      <dgm:prSet presAssocID="{ECD7B0A1-A4A2-4F86-9877-68CE45C229BE}" presName="composite" presStyleCnt="0"/>
      <dgm:spPr/>
    </dgm:pt>
    <dgm:pt modelId="{D50F3F01-A979-DF46-AD2F-FA2BC26EB773}" type="pres">
      <dgm:prSet presAssocID="{ECD7B0A1-A4A2-4F86-9877-68CE45C229BE}" presName="background" presStyleLbl="node0" presStyleIdx="0" presStyleCnt="2"/>
      <dgm:spPr/>
    </dgm:pt>
    <dgm:pt modelId="{0DBDB69F-32CF-C84D-B4B8-92FCED08970A}" type="pres">
      <dgm:prSet presAssocID="{ECD7B0A1-A4A2-4F86-9877-68CE45C229BE}" presName="text" presStyleLbl="fgAcc0" presStyleIdx="0" presStyleCnt="2">
        <dgm:presLayoutVars>
          <dgm:chPref val="3"/>
        </dgm:presLayoutVars>
      </dgm:prSet>
      <dgm:spPr/>
    </dgm:pt>
    <dgm:pt modelId="{831A9EC1-90EF-AA4E-95F0-F07F719C51C6}" type="pres">
      <dgm:prSet presAssocID="{ECD7B0A1-A4A2-4F86-9877-68CE45C229BE}" presName="hierChild2" presStyleCnt="0"/>
      <dgm:spPr/>
    </dgm:pt>
    <dgm:pt modelId="{CEDE5DB6-A05A-694C-9F94-A8B2846D9C0E}" type="pres">
      <dgm:prSet presAssocID="{FD9A7866-8627-4B63-A48F-FC04751DA072}" presName="hierRoot1" presStyleCnt="0"/>
      <dgm:spPr/>
    </dgm:pt>
    <dgm:pt modelId="{4B2A7016-6989-EC45-8FF8-AAB961E0D0F5}" type="pres">
      <dgm:prSet presAssocID="{FD9A7866-8627-4B63-A48F-FC04751DA072}" presName="composite" presStyleCnt="0"/>
      <dgm:spPr/>
    </dgm:pt>
    <dgm:pt modelId="{8A86EFBB-90F5-AB40-B9B3-F17D36273B2C}" type="pres">
      <dgm:prSet presAssocID="{FD9A7866-8627-4B63-A48F-FC04751DA072}" presName="background" presStyleLbl="node0" presStyleIdx="1" presStyleCnt="2"/>
      <dgm:spPr/>
    </dgm:pt>
    <dgm:pt modelId="{C2A26E24-FCE0-BE47-9375-4E270F65BAA0}" type="pres">
      <dgm:prSet presAssocID="{FD9A7866-8627-4B63-A48F-FC04751DA072}" presName="text" presStyleLbl="fgAcc0" presStyleIdx="1" presStyleCnt="2">
        <dgm:presLayoutVars>
          <dgm:chPref val="3"/>
        </dgm:presLayoutVars>
      </dgm:prSet>
      <dgm:spPr/>
    </dgm:pt>
    <dgm:pt modelId="{3ABF9921-420B-344E-A357-E8CD8A6FA655}" type="pres">
      <dgm:prSet presAssocID="{FD9A7866-8627-4B63-A48F-FC04751DA072}" presName="hierChild2" presStyleCnt="0"/>
      <dgm:spPr/>
    </dgm:pt>
  </dgm:ptLst>
  <dgm:cxnLst>
    <dgm:cxn modelId="{0E0DA81A-3613-4256-96A3-D431770811C0}" srcId="{D10F15FB-0B42-4179-BB73-294FB69EF2DE}" destId="{FD9A7866-8627-4B63-A48F-FC04751DA072}" srcOrd="1" destOrd="0" parTransId="{09A668BA-72F2-4F27-BD68-57DC0EEA6278}" sibTransId="{7652EEC9-ABD2-42A1-90F6-D084491D276A}"/>
    <dgm:cxn modelId="{823A235F-7DDA-0342-8A7F-34387ED449B4}" type="presOf" srcId="{D10F15FB-0B42-4179-BB73-294FB69EF2DE}" destId="{4D345837-34AC-0542-8B6E-7572A8094D46}" srcOrd="0" destOrd="0" presId="urn:microsoft.com/office/officeart/2005/8/layout/hierarchy1"/>
    <dgm:cxn modelId="{F3811190-3C09-4A59-873F-916F19115027}" srcId="{D10F15FB-0B42-4179-BB73-294FB69EF2DE}" destId="{ECD7B0A1-A4A2-4F86-9877-68CE45C229BE}" srcOrd="0" destOrd="0" parTransId="{6C9B307C-ACC5-46ED-AC5E-DD7D19485481}" sibTransId="{6A6A84ED-D717-4E4B-B855-63B3F76FF603}"/>
    <dgm:cxn modelId="{9A31D3AB-F116-934F-9349-9563F3B70375}" type="presOf" srcId="{FD9A7866-8627-4B63-A48F-FC04751DA072}" destId="{C2A26E24-FCE0-BE47-9375-4E270F65BAA0}" srcOrd="0" destOrd="0" presId="urn:microsoft.com/office/officeart/2005/8/layout/hierarchy1"/>
    <dgm:cxn modelId="{002F7EEC-3932-AB48-94F3-33CA9D8239DE}" type="presOf" srcId="{ECD7B0A1-A4A2-4F86-9877-68CE45C229BE}" destId="{0DBDB69F-32CF-C84D-B4B8-92FCED08970A}" srcOrd="0" destOrd="0" presId="urn:microsoft.com/office/officeart/2005/8/layout/hierarchy1"/>
    <dgm:cxn modelId="{5F09574C-0017-0541-963B-54FA8356B4C6}" type="presParOf" srcId="{4D345837-34AC-0542-8B6E-7572A8094D46}" destId="{C31BD73D-C0D4-104B-8618-40C47B8B9DF1}" srcOrd="0" destOrd="0" presId="urn:microsoft.com/office/officeart/2005/8/layout/hierarchy1"/>
    <dgm:cxn modelId="{2657CD5D-E0E8-C44D-A6E0-ADFF7C13EEE3}" type="presParOf" srcId="{C31BD73D-C0D4-104B-8618-40C47B8B9DF1}" destId="{A2818C64-DD75-3548-8207-CC7421382CB8}" srcOrd="0" destOrd="0" presId="urn:microsoft.com/office/officeart/2005/8/layout/hierarchy1"/>
    <dgm:cxn modelId="{581F9649-5431-2248-9869-CBB70C13B4A8}" type="presParOf" srcId="{A2818C64-DD75-3548-8207-CC7421382CB8}" destId="{D50F3F01-A979-DF46-AD2F-FA2BC26EB773}" srcOrd="0" destOrd="0" presId="urn:microsoft.com/office/officeart/2005/8/layout/hierarchy1"/>
    <dgm:cxn modelId="{AE2C23BA-7973-A644-A22B-C7A4ED70298C}" type="presParOf" srcId="{A2818C64-DD75-3548-8207-CC7421382CB8}" destId="{0DBDB69F-32CF-C84D-B4B8-92FCED08970A}" srcOrd="1" destOrd="0" presId="urn:microsoft.com/office/officeart/2005/8/layout/hierarchy1"/>
    <dgm:cxn modelId="{271868D0-DC54-B142-93B0-709EA504113A}" type="presParOf" srcId="{C31BD73D-C0D4-104B-8618-40C47B8B9DF1}" destId="{831A9EC1-90EF-AA4E-95F0-F07F719C51C6}" srcOrd="1" destOrd="0" presId="urn:microsoft.com/office/officeart/2005/8/layout/hierarchy1"/>
    <dgm:cxn modelId="{AE8F49A2-CA74-7B40-9EF7-27A6AFE65BD9}" type="presParOf" srcId="{4D345837-34AC-0542-8B6E-7572A8094D46}" destId="{CEDE5DB6-A05A-694C-9F94-A8B2846D9C0E}" srcOrd="1" destOrd="0" presId="urn:microsoft.com/office/officeart/2005/8/layout/hierarchy1"/>
    <dgm:cxn modelId="{0BF4736A-622B-2140-B228-D4A0215721D2}" type="presParOf" srcId="{CEDE5DB6-A05A-694C-9F94-A8B2846D9C0E}" destId="{4B2A7016-6989-EC45-8FF8-AAB961E0D0F5}" srcOrd="0" destOrd="0" presId="urn:microsoft.com/office/officeart/2005/8/layout/hierarchy1"/>
    <dgm:cxn modelId="{49DFDB9C-2A94-CE43-B3DE-093A64FA4184}" type="presParOf" srcId="{4B2A7016-6989-EC45-8FF8-AAB961E0D0F5}" destId="{8A86EFBB-90F5-AB40-B9B3-F17D36273B2C}" srcOrd="0" destOrd="0" presId="urn:microsoft.com/office/officeart/2005/8/layout/hierarchy1"/>
    <dgm:cxn modelId="{73A01177-4F6C-8442-98A9-D378C9116921}" type="presParOf" srcId="{4B2A7016-6989-EC45-8FF8-AAB961E0D0F5}" destId="{C2A26E24-FCE0-BE47-9375-4E270F65BAA0}" srcOrd="1" destOrd="0" presId="urn:microsoft.com/office/officeart/2005/8/layout/hierarchy1"/>
    <dgm:cxn modelId="{94412C29-7115-8245-ACA0-946C7EB844D8}" type="presParOf" srcId="{CEDE5DB6-A05A-694C-9F94-A8B2846D9C0E}" destId="{3ABF9921-420B-344E-A357-E8CD8A6FA65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C4CD45-113C-4370-8F58-72243A0CABD9}" type="doc">
      <dgm:prSet loTypeId="urn:microsoft.com/office/officeart/2018/5/layout/IconCircleLabelList" loCatId="icon" qsTypeId="urn:microsoft.com/office/officeart/2005/8/quickstyle/simple1" qsCatId="simple" csTypeId="urn:microsoft.com/office/officeart/2005/8/colors/accent3_2" csCatId="accent3" phldr="1"/>
      <dgm:spPr/>
      <dgm:t>
        <a:bodyPr/>
        <a:lstStyle/>
        <a:p>
          <a:endParaRPr lang="en-US"/>
        </a:p>
      </dgm:t>
    </dgm:pt>
    <dgm:pt modelId="{D2A01074-1779-48AD-9F60-262098674D65}">
      <dgm:prSet custT="1"/>
      <dgm:spPr/>
      <dgm:t>
        <a:bodyPr/>
        <a:lstStyle/>
        <a:p>
          <a:pPr>
            <a:defRPr cap="all"/>
          </a:pPr>
          <a:r>
            <a:rPr lang="en-US" sz="1500" dirty="0"/>
            <a:t>Predict whether a business license issued by DCWP is likely to lapse (1) or renew (0) using available license-level attributes.</a:t>
          </a:r>
        </a:p>
      </dgm:t>
    </dgm:pt>
    <dgm:pt modelId="{164FE135-EC69-42D1-B4A4-4A6003E531FE}" type="parTrans" cxnId="{3CD7A298-3D99-4DE7-9173-5DF11C6142CA}">
      <dgm:prSet/>
      <dgm:spPr/>
      <dgm:t>
        <a:bodyPr/>
        <a:lstStyle/>
        <a:p>
          <a:endParaRPr lang="en-US"/>
        </a:p>
      </dgm:t>
    </dgm:pt>
    <dgm:pt modelId="{E238BB8D-4B45-4F25-B62E-D1D71C969B74}" type="sibTrans" cxnId="{3CD7A298-3D99-4DE7-9173-5DF11C6142CA}">
      <dgm:prSet/>
      <dgm:spPr/>
      <dgm:t>
        <a:bodyPr/>
        <a:lstStyle/>
        <a:p>
          <a:endParaRPr lang="en-US"/>
        </a:p>
      </dgm:t>
    </dgm:pt>
    <dgm:pt modelId="{133F0BD4-E2B2-4EE2-952D-3E3CF61BD56D}">
      <dgm:prSet/>
      <dgm:spPr/>
      <dgm:t>
        <a:bodyPr/>
        <a:lstStyle/>
        <a:p>
          <a:pPr>
            <a:defRPr cap="all"/>
          </a:pPr>
          <a:r>
            <a:rPr lang="en-US" dirty="0"/>
            <a:t>The goal is to identify renewal behavior patterns to support DCWP in prioritizing renewal reminders and compliance outreach.</a:t>
          </a:r>
        </a:p>
      </dgm:t>
    </dgm:pt>
    <dgm:pt modelId="{D7B3A72B-7BA4-4597-82A1-2B4933CA5BB5}" type="parTrans" cxnId="{58DEAD64-1A4E-4735-86CD-94838B11CF3F}">
      <dgm:prSet/>
      <dgm:spPr/>
      <dgm:t>
        <a:bodyPr/>
        <a:lstStyle/>
        <a:p>
          <a:endParaRPr lang="en-US"/>
        </a:p>
      </dgm:t>
    </dgm:pt>
    <dgm:pt modelId="{77F5000C-5CE5-42AB-B26F-9CA0E46768FF}" type="sibTrans" cxnId="{58DEAD64-1A4E-4735-86CD-94838B11CF3F}">
      <dgm:prSet/>
      <dgm:spPr/>
      <dgm:t>
        <a:bodyPr/>
        <a:lstStyle/>
        <a:p>
          <a:endParaRPr lang="en-US"/>
        </a:p>
      </dgm:t>
    </dgm:pt>
    <dgm:pt modelId="{73DA70B1-A61D-4613-89A6-1A539C09B921}" type="pres">
      <dgm:prSet presAssocID="{F9C4CD45-113C-4370-8F58-72243A0CABD9}" presName="root" presStyleCnt="0">
        <dgm:presLayoutVars>
          <dgm:dir/>
          <dgm:resizeHandles val="exact"/>
        </dgm:presLayoutVars>
      </dgm:prSet>
      <dgm:spPr/>
    </dgm:pt>
    <dgm:pt modelId="{74E37A31-5DDE-4133-83EF-FA7416539663}" type="pres">
      <dgm:prSet presAssocID="{D2A01074-1779-48AD-9F60-262098674D65}" presName="compNode" presStyleCnt="0"/>
      <dgm:spPr/>
    </dgm:pt>
    <dgm:pt modelId="{24D3BE5B-25B7-45C8-8B41-8B0D3165B928}" type="pres">
      <dgm:prSet presAssocID="{D2A01074-1779-48AD-9F60-262098674D65}" presName="iconBgRect" presStyleLbl="bgShp" presStyleIdx="0" presStyleCnt="2"/>
      <dgm:spPr/>
    </dgm:pt>
    <dgm:pt modelId="{876EDEE4-FB03-40D0-B2B9-63D6DC2B0B48}" type="pres">
      <dgm:prSet presAssocID="{D2A01074-1779-48AD-9F60-262098674D6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rtial Sun"/>
        </a:ext>
      </dgm:extLst>
    </dgm:pt>
    <dgm:pt modelId="{9DC74384-9C1E-457C-B0D0-C9560667EF32}" type="pres">
      <dgm:prSet presAssocID="{D2A01074-1779-48AD-9F60-262098674D65}" presName="spaceRect" presStyleCnt="0"/>
      <dgm:spPr/>
    </dgm:pt>
    <dgm:pt modelId="{DAA8F27C-3520-463E-8DA6-77D04F67D8BC}" type="pres">
      <dgm:prSet presAssocID="{D2A01074-1779-48AD-9F60-262098674D65}" presName="textRect" presStyleLbl="revTx" presStyleIdx="0" presStyleCnt="2">
        <dgm:presLayoutVars>
          <dgm:chMax val="1"/>
          <dgm:chPref val="1"/>
        </dgm:presLayoutVars>
      </dgm:prSet>
      <dgm:spPr/>
    </dgm:pt>
    <dgm:pt modelId="{ACD1A401-80C5-4372-B773-1E788291D7A1}" type="pres">
      <dgm:prSet presAssocID="{E238BB8D-4B45-4F25-B62E-D1D71C969B74}" presName="sibTrans" presStyleCnt="0"/>
      <dgm:spPr/>
    </dgm:pt>
    <dgm:pt modelId="{B6DC1F0D-08E6-4114-AC4F-B8E13AC96FDF}" type="pres">
      <dgm:prSet presAssocID="{133F0BD4-E2B2-4EE2-952D-3E3CF61BD56D}" presName="compNode" presStyleCnt="0"/>
      <dgm:spPr/>
    </dgm:pt>
    <dgm:pt modelId="{37AB70D8-6FBD-4CC0-ADE0-A3D14910D295}" type="pres">
      <dgm:prSet presAssocID="{133F0BD4-E2B2-4EE2-952D-3E3CF61BD56D}" presName="iconBgRect" presStyleLbl="bgShp" presStyleIdx="1" presStyleCnt="2"/>
      <dgm:spPr/>
    </dgm:pt>
    <dgm:pt modelId="{5A6AC26A-59E6-4974-AF4C-84730D77E5D4}" type="pres">
      <dgm:prSet presAssocID="{133F0BD4-E2B2-4EE2-952D-3E3CF61BD5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0AC4AC05-6BA2-413D-B3F1-465B0AABA693}" type="pres">
      <dgm:prSet presAssocID="{133F0BD4-E2B2-4EE2-952D-3E3CF61BD56D}" presName="spaceRect" presStyleCnt="0"/>
      <dgm:spPr/>
    </dgm:pt>
    <dgm:pt modelId="{85C4DDFE-16F9-48DB-A38E-63DCF20ED3CA}" type="pres">
      <dgm:prSet presAssocID="{133F0BD4-E2B2-4EE2-952D-3E3CF61BD56D}" presName="textRect" presStyleLbl="revTx" presStyleIdx="1" presStyleCnt="2">
        <dgm:presLayoutVars>
          <dgm:chMax val="1"/>
          <dgm:chPref val="1"/>
        </dgm:presLayoutVars>
      </dgm:prSet>
      <dgm:spPr/>
    </dgm:pt>
  </dgm:ptLst>
  <dgm:cxnLst>
    <dgm:cxn modelId="{6489640B-0F43-4356-89E2-B7E39930C814}" type="presOf" srcId="{133F0BD4-E2B2-4EE2-952D-3E3CF61BD56D}" destId="{85C4DDFE-16F9-48DB-A38E-63DCF20ED3CA}" srcOrd="0" destOrd="0" presId="urn:microsoft.com/office/officeart/2018/5/layout/IconCircleLabelList"/>
    <dgm:cxn modelId="{58DEAD64-1A4E-4735-86CD-94838B11CF3F}" srcId="{F9C4CD45-113C-4370-8F58-72243A0CABD9}" destId="{133F0BD4-E2B2-4EE2-952D-3E3CF61BD56D}" srcOrd="1" destOrd="0" parTransId="{D7B3A72B-7BA4-4597-82A1-2B4933CA5BB5}" sibTransId="{77F5000C-5CE5-42AB-B26F-9CA0E46768FF}"/>
    <dgm:cxn modelId="{4F233076-FB16-4377-BBDB-5DE1B87F5E48}" type="presOf" srcId="{D2A01074-1779-48AD-9F60-262098674D65}" destId="{DAA8F27C-3520-463E-8DA6-77D04F67D8BC}" srcOrd="0" destOrd="0" presId="urn:microsoft.com/office/officeart/2018/5/layout/IconCircleLabelList"/>
    <dgm:cxn modelId="{3CD7A298-3D99-4DE7-9173-5DF11C6142CA}" srcId="{F9C4CD45-113C-4370-8F58-72243A0CABD9}" destId="{D2A01074-1779-48AD-9F60-262098674D65}" srcOrd="0" destOrd="0" parTransId="{164FE135-EC69-42D1-B4A4-4A6003E531FE}" sibTransId="{E238BB8D-4B45-4F25-B62E-D1D71C969B74}"/>
    <dgm:cxn modelId="{7F6681E6-821A-4FFA-8B7D-47A8F20BFD73}" type="presOf" srcId="{F9C4CD45-113C-4370-8F58-72243A0CABD9}" destId="{73DA70B1-A61D-4613-89A6-1A539C09B921}" srcOrd="0" destOrd="0" presId="urn:microsoft.com/office/officeart/2018/5/layout/IconCircleLabelList"/>
    <dgm:cxn modelId="{FF67D8E9-D7A2-430D-BA29-C6032A16D313}" type="presParOf" srcId="{73DA70B1-A61D-4613-89A6-1A539C09B921}" destId="{74E37A31-5DDE-4133-83EF-FA7416539663}" srcOrd="0" destOrd="0" presId="urn:microsoft.com/office/officeart/2018/5/layout/IconCircleLabelList"/>
    <dgm:cxn modelId="{A976EC41-B639-4AB8-9799-ACF04BD29BE0}" type="presParOf" srcId="{74E37A31-5DDE-4133-83EF-FA7416539663}" destId="{24D3BE5B-25B7-45C8-8B41-8B0D3165B928}" srcOrd="0" destOrd="0" presId="urn:microsoft.com/office/officeart/2018/5/layout/IconCircleLabelList"/>
    <dgm:cxn modelId="{5DD65AE3-68B4-4182-9AFF-698C9F67271E}" type="presParOf" srcId="{74E37A31-5DDE-4133-83EF-FA7416539663}" destId="{876EDEE4-FB03-40D0-B2B9-63D6DC2B0B48}" srcOrd="1" destOrd="0" presId="urn:microsoft.com/office/officeart/2018/5/layout/IconCircleLabelList"/>
    <dgm:cxn modelId="{74623E2B-44D1-4556-A48E-86C2255E9E78}" type="presParOf" srcId="{74E37A31-5DDE-4133-83EF-FA7416539663}" destId="{9DC74384-9C1E-457C-B0D0-C9560667EF32}" srcOrd="2" destOrd="0" presId="urn:microsoft.com/office/officeart/2018/5/layout/IconCircleLabelList"/>
    <dgm:cxn modelId="{BB0B349E-E1E0-490C-BC06-F75A39DE3DA8}" type="presParOf" srcId="{74E37A31-5DDE-4133-83EF-FA7416539663}" destId="{DAA8F27C-3520-463E-8DA6-77D04F67D8BC}" srcOrd="3" destOrd="0" presId="urn:microsoft.com/office/officeart/2018/5/layout/IconCircleLabelList"/>
    <dgm:cxn modelId="{B496973A-456E-4FB0-9463-D83E7A34EDAF}" type="presParOf" srcId="{73DA70B1-A61D-4613-89A6-1A539C09B921}" destId="{ACD1A401-80C5-4372-B773-1E788291D7A1}" srcOrd="1" destOrd="0" presId="urn:microsoft.com/office/officeart/2018/5/layout/IconCircleLabelList"/>
    <dgm:cxn modelId="{117CFB43-2FF3-4238-9B7E-F6DD65A05A3A}" type="presParOf" srcId="{73DA70B1-A61D-4613-89A6-1A539C09B921}" destId="{B6DC1F0D-08E6-4114-AC4F-B8E13AC96FDF}" srcOrd="2" destOrd="0" presId="urn:microsoft.com/office/officeart/2018/5/layout/IconCircleLabelList"/>
    <dgm:cxn modelId="{1E1684A8-2880-4660-91C5-B0F04FB92FB4}" type="presParOf" srcId="{B6DC1F0D-08E6-4114-AC4F-B8E13AC96FDF}" destId="{37AB70D8-6FBD-4CC0-ADE0-A3D14910D295}" srcOrd="0" destOrd="0" presId="urn:microsoft.com/office/officeart/2018/5/layout/IconCircleLabelList"/>
    <dgm:cxn modelId="{D1FA066A-3FBA-4E4A-9E23-B21ACAA84826}" type="presParOf" srcId="{B6DC1F0D-08E6-4114-AC4F-B8E13AC96FDF}" destId="{5A6AC26A-59E6-4974-AF4C-84730D77E5D4}" srcOrd="1" destOrd="0" presId="urn:microsoft.com/office/officeart/2018/5/layout/IconCircleLabelList"/>
    <dgm:cxn modelId="{A552D0E1-2A1A-4082-B79F-AD6BA3926AE2}" type="presParOf" srcId="{B6DC1F0D-08E6-4114-AC4F-B8E13AC96FDF}" destId="{0AC4AC05-6BA2-413D-B3F1-465B0AABA693}" srcOrd="2" destOrd="0" presId="urn:microsoft.com/office/officeart/2018/5/layout/IconCircleLabelList"/>
    <dgm:cxn modelId="{C1A9D22C-C0C1-4389-9F78-2A4AAC035DD9}" type="presParOf" srcId="{B6DC1F0D-08E6-4114-AC4F-B8E13AC96FDF}" destId="{85C4DDFE-16F9-48DB-A38E-63DCF20ED3C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3BE5B-25B7-45C8-8B41-8B0D3165B928}">
      <dsp:nvSpPr>
        <dsp:cNvPr id="0" name=""/>
        <dsp:cNvSpPr/>
      </dsp:nvSpPr>
      <dsp:spPr>
        <a:xfrm>
          <a:off x="497508" y="495703"/>
          <a:ext cx="1441125" cy="144112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6EDEE4-FB03-40D0-B2B9-63D6DC2B0B48}">
      <dsp:nvSpPr>
        <dsp:cNvPr id="0" name=""/>
        <dsp:cNvSpPr/>
      </dsp:nvSpPr>
      <dsp:spPr>
        <a:xfrm>
          <a:off x="804633" y="802828"/>
          <a:ext cx="826875" cy="826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A8F27C-3520-463E-8DA6-77D04F67D8BC}">
      <dsp:nvSpPr>
        <dsp:cNvPr id="0" name=""/>
        <dsp:cNvSpPr/>
      </dsp:nvSpPr>
      <dsp:spPr>
        <a:xfrm>
          <a:off x="36820" y="2385703"/>
          <a:ext cx="2362500" cy="125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dirty="0"/>
            <a:t>Predict whether a business license issued by DCWP is likely to lapse (1) or renew (0) using available license-level attributes.</a:t>
          </a:r>
        </a:p>
      </dsp:txBody>
      <dsp:txXfrm>
        <a:off x="36820" y="2385703"/>
        <a:ext cx="2362500" cy="1255781"/>
      </dsp:txXfrm>
    </dsp:sp>
    <dsp:sp modelId="{37AB70D8-6FBD-4CC0-ADE0-A3D14910D295}">
      <dsp:nvSpPr>
        <dsp:cNvPr id="0" name=""/>
        <dsp:cNvSpPr/>
      </dsp:nvSpPr>
      <dsp:spPr>
        <a:xfrm>
          <a:off x="3273445" y="495703"/>
          <a:ext cx="1441125" cy="144112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6AC26A-59E6-4974-AF4C-84730D77E5D4}">
      <dsp:nvSpPr>
        <dsp:cNvPr id="0" name=""/>
        <dsp:cNvSpPr/>
      </dsp:nvSpPr>
      <dsp:spPr>
        <a:xfrm>
          <a:off x="3580570" y="802828"/>
          <a:ext cx="826875" cy="826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C4DDFE-16F9-48DB-A38E-63DCF20ED3CA}">
      <dsp:nvSpPr>
        <dsp:cNvPr id="0" name=""/>
        <dsp:cNvSpPr/>
      </dsp:nvSpPr>
      <dsp:spPr>
        <a:xfrm>
          <a:off x="2812758" y="2385703"/>
          <a:ext cx="2362500" cy="125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dirty="0"/>
            <a:t>The goal is to identify renewal behavior patterns to support DCWP in prioritizing renewal reminders and compliance outreach.</a:t>
          </a:r>
        </a:p>
      </dsp:txBody>
      <dsp:txXfrm>
        <a:off x="2812758" y="2385703"/>
        <a:ext cx="2362500" cy="1255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F3F01-A979-DF46-AD2F-FA2BC26EB773}">
      <dsp:nvSpPr>
        <dsp:cNvPr id="0" name=""/>
        <dsp:cNvSpPr/>
      </dsp:nvSpPr>
      <dsp:spPr>
        <a:xfrm>
          <a:off x="1338" y="220382"/>
          <a:ext cx="4698407" cy="298348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DBDB69F-32CF-C84D-B4B8-92FCED08970A}">
      <dsp:nvSpPr>
        <dsp:cNvPr id="0" name=""/>
        <dsp:cNvSpPr/>
      </dsp:nvSpPr>
      <dsp:spPr>
        <a:xfrm>
          <a:off x="523383" y="716325"/>
          <a:ext cx="4698407" cy="298348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Many license records in the DCWP dataset lack valid Latitude / Longitude values.</a:t>
          </a:r>
        </a:p>
      </dsp:txBody>
      <dsp:txXfrm>
        <a:off x="610766" y="803708"/>
        <a:ext cx="4523641" cy="2808722"/>
      </dsp:txXfrm>
    </dsp:sp>
    <dsp:sp modelId="{8A86EFBB-90F5-AB40-B9B3-F17D36273B2C}">
      <dsp:nvSpPr>
        <dsp:cNvPr id="0" name=""/>
        <dsp:cNvSpPr/>
      </dsp:nvSpPr>
      <dsp:spPr>
        <a:xfrm>
          <a:off x="5743836" y="220382"/>
          <a:ext cx="4698407" cy="298348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2A26E24-FCE0-BE47-9375-4E270F65BAA0}">
      <dsp:nvSpPr>
        <dsp:cNvPr id="0" name=""/>
        <dsp:cNvSpPr/>
      </dsp:nvSpPr>
      <dsp:spPr>
        <a:xfrm>
          <a:off x="6265881" y="716325"/>
          <a:ext cx="4698407" cy="298348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The goal of this model is to predict both coordinates simultaneously using spatially related categorical features:</a:t>
          </a:r>
        </a:p>
        <a:p>
          <a:pPr marL="0" lvl="0" indent="0" algn="ctr" defTabSz="1022350">
            <a:lnSpc>
              <a:spcPct val="90000"/>
            </a:lnSpc>
            <a:spcBef>
              <a:spcPct val="0"/>
            </a:spcBef>
            <a:spcAft>
              <a:spcPct val="35000"/>
            </a:spcAft>
            <a:buNone/>
          </a:pPr>
          <a:r>
            <a:rPr lang="en-US" sz="2300" kern="1200" dirty="0"/>
            <a:t>1. ZIP Code</a:t>
          </a:r>
        </a:p>
        <a:p>
          <a:pPr marL="0" lvl="0" indent="0" algn="ctr" defTabSz="1022350">
            <a:lnSpc>
              <a:spcPct val="90000"/>
            </a:lnSpc>
            <a:spcBef>
              <a:spcPct val="0"/>
            </a:spcBef>
            <a:spcAft>
              <a:spcPct val="35000"/>
            </a:spcAft>
            <a:buNone/>
          </a:pPr>
          <a:r>
            <a:rPr lang="en-US" sz="2300" kern="1200" dirty="0"/>
            <a:t>2. Borough</a:t>
          </a:r>
        </a:p>
        <a:p>
          <a:pPr marL="0" lvl="0" indent="0" algn="ctr" defTabSz="1022350">
            <a:lnSpc>
              <a:spcPct val="90000"/>
            </a:lnSpc>
            <a:spcBef>
              <a:spcPct val="0"/>
            </a:spcBef>
            <a:spcAft>
              <a:spcPct val="35000"/>
            </a:spcAft>
            <a:buNone/>
          </a:pPr>
          <a:r>
            <a:rPr lang="en-US" sz="2300" kern="1200" dirty="0"/>
            <a:t>3. Business Category</a:t>
          </a:r>
        </a:p>
      </dsp:txBody>
      <dsp:txXfrm>
        <a:off x="6353264" y="803708"/>
        <a:ext cx="4523641" cy="28087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3BE5B-25B7-45C8-8B41-8B0D3165B928}">
      <dsp:nvSpPr>
        <dsp:cNvPr id="0" name=""/>
        <dsp:cNvSpPr/>
      </dsp:nvSpPr>
      <dsp:spPr>
        <a:xfrm>
          <a:off x="497508" y="495703"/>
          <a:ext cx="1441125" cy="144112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6EDEE4-FB03-40D0-B2B9-63D6DC2B0B48}">
      <dsp:nvSpPr>
        <dsp:cNvPr id="0" name=""/>
        <dsp:cNvSpPr/>
      </dsp:nvSpPr>
      <dsp:spPr>
        <a:xfrm>
          <a:off x="804633" y="802828"/>
          <a:ext cx="826875" cy="826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A8F27C-3520-463E-8DA6-77D04F67D8BC}">
      <dsp:nvSpPr>
        <dsp:cNvPr id="0" name=""/>
        <dsp:cNvSpPr/>
      </dsp:nvSpPr>
      <dsp:spPr>
        <a:xfrm>
          <a:off x="36820" y="2385703"/>
          <a:ext cx="2362500" cy="125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dirty="0"/>
            <a:t>Predict whether a business license issued by DCWP is likely to lapse (1) or renew (0) using available license-level attributes.</a:t>
          </a:r>
        </a:p>
      </dsp:txBody>
      <dsp:txXfrm>
        <a:off x="36820" y="2385703"/>
        <a:ext cx="2362500" cy="1255781"/>
      </dsp:txXfrm>
    </dsp:sp>
    <dsp:sp modelId="{37AB70D8-6FBD-4CC0-ADE0-A3D14910D295}">
      <dsp:nvSpPr>
        <dsp:cNvPr id="0" name=""/>
        <dsp:cNvSpPr/>
      </dsp:nvSpPr>
      <dsp:spPr>
        <a:xfrm>
          <a:off x="3273445" y="495703"/>
          <a:ext cx="1441125" cy="144112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6AC26A-59E6-4974-AF4C-84730D77E5D4}">
      <dsp:nvSpPr>
        <dsp:cNvPr id="0" name=""/>
        <dsp:cNvSpPr/>
      </dsp:nvSpPr>
      <dsp:spPr>
        <a:xfrm>
          <a:off x="3580570" y="802828"/>
          <a:ext cx="826875" cy="826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C4DDFE-16F9-48DB-A38E-63DCF20ED3CA}">
      <dsp:nvSpPr>
        <dsp:cNvPr id="0" name=""/>
        <dsp:cNvSpPr/>
      </dsp:nvSpPr>
      <dsp:spPr>
        <a:xfrm>
          <a:off x="2812758" y="2385703"/>
          <a:ext cx="2362500" cy="125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dirty="0"/>
            <a:t>The goal is to identify renewal behavior patterns to support DCWP in prioritizing renewal reminders and compliance outreach.</a:t>
          </a:r>
        </a:p>
      </dsp:txBody>
      <dsp:txXfrm>
        <a:off x="2812758" y="2385703"/>
        <a:ext cx="2362500" cy="125578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11/3/25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19</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824F5-7625-3E93-E882-145BA8B99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3F9AE-40A6-E883-4445-DEDD49F0B5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C7AFA-C018-0396-5E5F-CD4266EA53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F48AB8-25F9-6235-5D7F-38635C142474}"/>
              </a:ext>
            </a:extLst>
          </p:cNvPr>
          <p:cNvSpPr>
            <a:spLocks noGrp="1"/>
          </p:cNvSpPr>
          <p:nvPr>
            <p:ph type="sldNum" sz="quarter" idx="5"/>
          </p:nvPr>
        </p:nvSpPr>
        <p:spPr/>
        <p:txBody>
          <a:bodyPr/>
          <a:lstStyle/>
          <a:p>
            <a:fld id="{55247812-3409-784D-BAE7-ABE53735D59F}" type="slidenum">
              <a:rPr lang="en-US" smtClean="0"/>
              <a:t>20</a:t>
            </a:fld>
            <a:endParaRPr lang="en-US"/>
          </a:p>
        </p:txBody>
      </p:sp>
    </p:spTree>
    <p:extLst>
      <p:ext uri="{BB962C8B-B14F-4D97-AF65-F5344CB8AC3E}">
        <p14:creationId xmlns:p14="http://schemas.microsoft.com/office/powerpoint/2010/main" val="353057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21</a:t>
            </a:fld>
            <a:endParaRPr lang="en-US"/>
          </a:p>
        </p:txBody>
      </p:sp>
    </p:spTree>
    <p:extLst>
      <p:ext uri="{BB962C8B-B14F-4D97-AF65-F5344CB8AC3E}">
        <p14:creationId xmlns:p14="http://schemas.microsoft.com/office/powerpoint/2010/main" val="346767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DC72-E9DA-CA9D-129D-DAFDC5265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98241-F6A9-81D8-ECF8-88155A65B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BF1D2-1674-47FA-B2C3-DA7B834503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A4EC93-9B0B-71A8-1C94-BB96795F8124}"/>
              </a:ext>
            </a:extLst>
          </p:cNvPr>
          <p:cNvSpPr>
            <a:spLocks noGrp="1"/>
          </p:cNvSpPr>
          <p:nvPr>
            <p:ph type="sldNum" sz="quarter" idx="5"/>
          </p:nvPr>
        </p:nvSpPr>
        <p:spPr/>
        <p:txBody>
          <a:bodyPr/>
          <a:lstStyle/>
          <a:p>
            <a:fld id="{55247812-3409-784D-BAE7-ABE53735D59F}" type="slidenum">
              <a:rPr lang="en-US" smtClean="0"/>
              <a:t>23</a:t>
            </a:fld>
            <a:endParaRPr lang="en-US"/>
          </a:p>
        </p:txBody>
      </p:sp>
    </p:spTree>
    <p:extLst>
      <p:ext uri="{BB962C8B-B14F-4D97-AF65-F5344CB8AC3E}">
        <p14:creationId xmlns:p14="http://schemas.microsoft.com/office/powerpoint/2010/main" val="490983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24</a:t>
            </a:fld>
            <a:endParaRPr lang="en-US"/>
          </a:p>
        </p:txBody>
      </p:sp>
    </p:spTree>
    <p:extLst>
      <p:ext uri="{BB962C8B-B14F-4D97-AF65-F5344CB8AC3E}">
        <p14:creationId xmlns:p14="http://schemas.microsoft.com/office/powerpoint/2010/main" val="2986387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4E77-8F7F-C091-A6CD-F9591333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F8D03-BCD3-2516-5A17-7890FD56F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3AAD0-5D1A-5384-531C-8A99D3C15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E54F1F-92BA-AFB1-9D22-E7208D0FEDEF}"/>
              </a:ext>
            </a:extLst>
          </p:cNvPr>
          <p:cNvSpPr>
            <a:spLocks noGrp="1"/>
          </p:cNvSpPr>
          <p:nvPr>
            <p:ph type="sldNum" sz="quarter" idx="5"/>
          </p:nvPr>
        </p:nvSpPr>
        <p:spPr/>
        <p:txBody>
          <a:bodyPr/>
          <a:lstStyle/>
          <a:p>
            <a:fld id="{55247812-3409-784D-BAE7-ABE53735D59F}" type="slidenum">
              <a:rPr lang="en-US" smtClean="0"/>
              <a:t>25</a:t>
            </a:fld>
            <a:endParaRPr lang="en-US"/>
          </a:p>
        </p:txBody>
      </p:sp>
    </p:spTree>
    <p:extLst>
      <p:ext uri="{BB962C8B-B14F-4D97-AF65-F5344CB8AC3E}">
        <p14:creationId xmlns:p14="http://schemas.microsoft.com/office/powerpoint/2010/main" val="412627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11/3/25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11/3/25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uides.library.vcu.edu/open-licenses/cc"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1209675"/>
            <a:ext cx="9144000" cy="2286000"/>
          </a:xfrm>
        </p:spPr>
        <p:txBody>
          <a:bodyPr/>
          <a:lstStyle/>
          <a:p>
            <a:r>
              <a:rPr lang="en-US" dirty="0"/>
              <a:t>A Dual Analysis of NYC Business Licenses</a:t>
            </a:r>
          </a:p>
        </p:txBody>
      </p:sp>
      <p:sp>
        <p:nvSpPr>
          <p:cNvPr id="2" name="TextBox 1">
            <a:extLst>
              <a:ext uri="{FF2B5EF4-FFF2-40B4-BE49-F238E27FC236}">
                <a16:creationId xmlns:a16="http://schemas.microsoft.com/office/drawing/2014/main" id="{93ABF243-8999-F420-2D15-36E774D89627}"/>
              </a:ext>
            </a:extLst>
          </p:cNvPr>
          <p:cNvSpPr txBox="1"/>
          <p:nvPr/>
        </p:nvSpPr>
        <p:spPr>
          <a:xfrm>
            <a:off x="3448050" y="4133850"/>
            <a:ext cx="6572250" cy="1311128"/>
          </a:xfrm>
          <a:prstGeom prst="rect">
            <a:avLst/>
          </a:prstGeom>
          <a:noFill/>
        </p:spPr>
        <p:txBody>
          <a:bodyPr wrap="square" rtlCol="0">
            <a:spAutoFit/>
          </a:bodyPr>
          <a:lstStyle/>
          <a:p>
            <a:pPr>
              <a:lnSpc>
                <a:spcPct val="90000"/>
              </a:lnSpc>
            </a:pPr>
            <a:r>
              <a:rPr lang="en-US" sz="2200" dirty="0">
                <a:solidFill>
                  <a:schemeClr val="bg1"/>
                </a:solidFill>
              </a:rPr>
              <a:t>Team #8 | CS667 – Practical Data Science</a:t>
            </a:r>
          </a:p>
          <a:p>
            <a:pPr>
              <a:lnSpc>
                <a:spcPct val="90000"/>
              </a:lnSpc>
            </a:pPr>
            <a:r>
              <a:rPr lang="en-US" sz="2200" dirty="0">
                <a:solidFill>
                  <a:schemeClr val="bg1"/>
                </a:solidFill>
              </a:rPr>
              <a:t>Members :- Ronak </a:t>
            </a:r>
            <a:r>
              <a:rPr lang="en-US" sz="2200" dirty="0" err="1">
                <a:solidFill>
                  <a:schemeClr val="bg1"/>
                </a:solidFill>
              </a:rPr>
              <a:t>Pipaliya</a:t>
            </a:r>
            <a:r>
              <a:rPr lang="en-US" sz="2200" dirty="0">
                <a:solidFill>
                  <a:schemeClr val="bg1"/>
                </a:solidFill>
              </a:rPr>
              <a:t> | Sajan Shergil | </a:t>
            </a:r>
          </a:p>
          <a:p>
            <a:pPr>
              <a:lnSpc>
                <a:spcPct val="90000"/>
              </a:lnSpc>
            </a:pPr>
            <a:r>
              <a:rPr lang="en-US" sz="2200" dirty="0">
                <a:solidFill>
                  <a:schemeClr val="bg1"/>
                </a:solidFill>
              </a:rPr>
              <a:t>Darpan </a:t>
            </a:r>
            <a:r>
              <a:rPr lang="en-US" sz="2200" dirty="0" err="1">
                <a:solidFill>
                  <a:schemeClr val="bg1"/>
                </a:solidFill>
              </a:rPr>
              <a:t>Gorasiya</a:t>
            </a:r>
            <a:endParaRPr lang="en-US" sz="2200" dirty="0">
              <a:solidFill>
                <a:schemeClr val="bg1"/>
              </a:solidFill>
            </a:endParaRPr>
          </a:p>
          <a:p>
            <a:pPr>
              <a:lnSpc>
                <a:spcPct val="90000"/>
              </a:lnSpc>
            </a:pPr>
            <a:r>
              <a:rPr lang="en-US" sz="2200" dirty="0">
                <a:solidFill>
                  <a:schemeClr val="bg1"/>
                </a:solidFill>
              </a:rPr>
              <a:t>Instructor: Dr. Krishna Bathula</a:t>
            </a:r>
          </a:p>
        </p:txBody>
      </p:sp>
      <p:sp>
        <p:nvSpPr>
          <p:cNvPr id="3" name="TextBox 2">
            <a:extLst>
              <a:ext uri="{FF2B5EF4-FFF2-40B4-BE49-F238E27FC236}">
                <a16:creationId xmlns:a16="http://schemas.microsoft.com/office/drawing/2014/main" id="{6A58560B-022D-0E82-A366-6BA623A07F6F}"/>
              </a:ext>
            </a:extLst>
          </p:cNvPr>
          <p:cNvSpPr txBox="1"/>
          <p:nvPr/>
        </p:nvSpPr>
        <p:spPr>
          <a:xfrm>
            <a:off x="4038599" y="3311009"/>
            <a:ext cx="4295775" cy="369332"/>
          </a:xfrm>
          <a:prstGeom prst="rect">
            <a:avLst/>
          </a:prstGeom>
          <a:noFill/>
        </p:spPr>
        <p:txBody>
          <a:bodyPr wrap="square" rtlCol="0">
            <a:spAutoFit/>
          </a:bodyPr>
          <a:lstStyle/>
          <a:p>
            <a:pPr algn="ctr"/>
            <a:r>
              <a:rPr lang="en-US" dirty="0">
                <a:solidFill>
                  <a:srgbClr val="FFFF00"/>
                </a:solidFill>
              </a:rPr>
              <a:t>A Machine-Learning Approach</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1993392"/>
          </a:xfrm>
          <a:noFill/>
        </p:spPr>
        <p:txBody>
          <a:bodyPr anchor="b">
            <a:noAutofit/>
          </a:bodyPr>
          <a:lstStyle/>
          <a:p>
            <a:r>
              <a:rPr lang="en-US" dirty="0"/>
              <a:t>AGENDA</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2752344"/>
            <a:ext cx="4837174" cy="3136392"/>
          </a:xfrm>
          <a:noFill/>
        </p:spPr>
        <p:txBody>
          <a:bodyPr anchor="t">
            <a:normAutofit/>
          </a:bodyPr>
          <a:lstStyle/>
          <a:p>
            <a:r>
              <a:rPr lang="en-US" dirty="0"/>
              <a:t>INTRODUCTION</a:t>
            </a:r>
          </a:p>
          <a:p>
            <a:r>
              <a:rPr lang="en-US" dirty="0"/>
              <a:t>BUILDING CONFIDENCE</a:t>
            </a:r>
          </a:p>
          <a:p>
            <a:r>
              <a:rPr lang="en-US" dirty="0"/>
              <a:t>ENGAGING THE AUDIENCE</a:t>
            </a:r>
          </a:p>
          <a:p>
            <a:r>
              <a:rPr lang="en-US" dirty="0"/>
              <a:t>VISUAL AIDS</a:t>
            </a:r>
          </a:p>
          <a:p>
            <a:r>
              <a:rPr lang="en-US" dirty="0"/>
              <a:t>FINAL TIPS &amp; TAKEAWAYS</a:t>
            </a:r>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66B14-C30B-DCA5-FE9D-0D1FAD93BDD1}"/>
              </a:ext>
            </a:extLst>
          </p:cNvPr>
          <p:cNvSpPr>
            <a:spLocks noGrp="1"/>
          </p:cNvSpPr>
          <p:nvPr>
            <p:ph type="title"/>
          </p:nvPr>
        </p:nvSpPr>
        <p:spPr>
          <a:xfrm>
            <a:off x="5242425" y="466344"/>
            <a:ext cx="6241651" cy="1710354"/>
          </a:xfrm>
        </p:spPr>
        <p:txBody>
          <a:bodyPr anchor="ctr">
            <a:normAutofit/>
          </a:bodyPr>
          <a:lstStyle/>
          <a:p>
            <a:r>
              <a:rPr lang="en-US" dirty="0"/>
              <a:t>Introduction</a:t>
            </a:r>
          </a:p>
        </p:txBody>
      </p:sp>
      <p:pic>
        <p:nvPicPr>
          <p:cNvPr id="6" name="Picture Placeholder 5" descr="A white circle with a black arrow in it&#10;&#10;AI-generated content may be incorrect.">
            <a:extLst>
              <a:ext uri="{FF2B5EF4-FFF2-40B4-BE49-F238E27FC236}">
                <a16:creationId xmlns:a16="http://schemas.microsoft.com/office/drawing/2014/main" id="{1C6FB309-5346-FA44-EF29-5D8062A1F0AF}"/>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320" r="18157"/>
          <a:stretch>
            <a:fillRect/>
          </a:stretch>
        </p:blipFill>
        <p:spPr>
          <a:xfrm>
            <a:off x="20" y="10"/>
            <a:ext cx="4287818" cy="6857990"/>
          </a:xfrm>
          <a:noFill/>
        </p:spPr>
      </p:pic>
      <p:sp>
        <p:nvSpPr>
          <p:cNvPr id="4" name="Content Placeholder 3">
            <a:extLst>
              <a:ext uri="{FF2B5EF4-FFF2-40B4-BE49-F238E27FC236}">
                <a16:creationId xmlns:a16="http://schemas.microsoft.com/office/drawing/2014/main" id="{43D0941A-B7C7-B814-694D-D48411D0905C}"/>
              </a:ext>
            </a:extLst>
          </p:cNvPr>
          <p:cNvSpPr>
            <a:spLocks noGrp="1"/>
          </p:cNvSpPr>
          <p:nvPr>
            <p:ph idx="1"/>
          </p:nvPr>
        </p:nvSpPr>
        <p:spPr>
          <a:xfrm>
            <a:off x="5242426" y="2286000"/>
            <a:ext cx="6241650" cy="3474720"/>
          </a:xfrm>
        </p:spPr>
        <p:txBody>
          <a:bodyPr>
            <a:normAutofit/>
          </a:bodyPr>
          <a:lstStyle/>
          <a:p>
            <a:pPr>
              <a:buNone/>
            </a:pPr>
            <a:r>
              <a:rPr lang="en-US" b="1" dirty="0">
                <a:effectLst/>
              </a:rPr>
              <a:t>This presentation provides an overview of the analysis conducted on the NYC Business Licenses dataset containing over 66,000 records across the five boroughs. </a:t>
            </a:r>
          </a:p>
          <a:p>
            <a:pPr>
              <a:buNone/>
            </a:pPr>
            <a:r>
              <a:rPr lang="en-US" b="1" dirty="0">
                <a:effectLst/>
              </a:rPr>
              <a:t>It highlights the methodologies used to predict missing business geolocations through regression modeling and forecast license renewal or lapse through classification. </a:t>
            </a:r>
          </a:p>
          <a:p>
            <a:pPr>
              <a:buNone/>
            </a:pPr>
            <a:r>
              <a:rPr lang="en-US" b="1" dirty="0">
                <a:effectLst/>
              </a:rPr>
              <a:t>The presentation outlines key data cleaning steps, machine learning techniques, model evaluations, and the insights derived to support data-driven decision-making for business regulation and urban policy planning.</a:t>
            </a:r>
            <a:endParaRPr lang="en-US" dirty="0">
              <a:effectLst/>
            </a:endParaRPr>
          </a:p>
          <a:p>
            <a:endParaRPr lang="en-US" dirty="0"/>
          </a:p>
        </p:txBody>
      </p:sp>
    </p:spTree>
    <p:extLst>
      <p:ext uri="{BB962C8B-B14F-4D97-AF65-F5344CB8AC3E}">
        <p14:creationId xmlns:p14="http://schemas.microsoft.com/office/powerpoint/2010/main" val="64083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Video 6" descr="Graphs And Numbers">
            <a:extLst>
              <a:ext uri="{FF2B5EF4-FFF2-40B4-BE49-F238E27FC236}">
                <a16:creationId xmlns:a16="http://schemas.microsoft.com/office/drawing/2014/main" id="{9C99702D-8811-0D0C-25D0-E0BBA430467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34891" r="29839" b="-1"/>
          <a:stretch>
            <a:fillRect/>
          </a:stretch>
        </p:blipFill>
        <p:spPr>
          <a:xfrm>
            <a:off x="20" y="10"/>
            <a:ext cx="4287818" cy="6857990"/>
          </a:xfrm>
          <a:prstGeom prst="rect">
            <a:avLst/>
          </a:prstGeom>
          <a:noFill/>
        </p:spPr>
      </p:pic>
      <p:sp>
        <p:nvSpPr>
          <p:cNvPr id="5" name="Rectangle 1">
            <a:extLst>
              <a:ext uri="{FF2B5EF4-FFF2-40B4-BE49-F238E27FC236}">
                <a16:creationId xmlns:a16="http://schemas.microsoft.com/office/drawing/2014/main" id="{84ACDEBF-1BE8-F550-D26B-3117633E1D25}"/>
              </a:ext>
            </a:extLst>
          </p:cNvPr>
          <p:cNvSpPr>
            <a:spLocks noGrp="1" noChangeArrowheads="1"/>
          </p:cNvSpPr>
          <p:nvPr>
            <p:ph idx="1"/>
          </p:nvPr>
        </p:nvSpPr>
        <p:spPr bwMode="auto">
          <a:xfrm>
            <a:off x="5242426" y="613064"/>
            <a:ext cx="6241650" cy="514765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effectLst/>
              </a:rPr>
              <a:t>Loaded Dataset</a:t>
            </a:r>
            <a:br>
              <a:rPr kumimoji="0" lang="en-US" altLang="en-US" b="0" i="0" u="none" strike="noStrike" cap="none" normalizeH="0" baseline="0" dirty="0">
                <a:ln>
                  <a:noFill/>
                </a:ln>
                <a:effectLst/>
              </a:rPr>
            </a:br>
            <a:r>
              <a:rPr kumimoji="0" lang="en-US" altLang="en-US" b="0" i="0" u="none" strike="noStrike" cap="none" normalizeH="0" baseline="0" dirty="0">
                <a:ln>
                  <a:noFill/>
                </a:ln>
                <a:effectLst/>
              </a:rPr>
              <a:t>The NYC Business Licenses dataset was loaded into a Pandas </a:t>
            </a:r>
            <a:r>
              <a:rPr kumimoji="0" lang="en-US" altLang="en-US" b="0" i="0" u="none" strike="noStrike" cap="none" normalizeH="0" baseline="0" dirty="0" err="1">
                <a:ln>
                  <a:noFill/>
                </a:ln>
                <a:effectLst/>
              </a:rPr>
              <a:t>DataFrame</a:t>
            </a:r>
            <a:r>
              <a:rPr kumimoji="0" lang="en-US" altLang="en-US" b="0" i="0" u="none" strike="noStrike" cap="none" normalizeH="0" baseline="0" dirty="0">
                <a:ln>
                  <a:noFill/>
                </a:ln>
                <a:effectLst/>
              </a:rPr>
              <a:t> for preprocessing and exploration. The dataset contained approximately 66,000 records and 31 attributes, covering business details, license information, geographic identifiers, and issuance timelines.</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effectLst/>
              </a:rPr>
              <a:t>Initial Data Inspection</a:t>
            </a:r>
            <a:br>
              <a:rPr kumimoji="0" lang="en-US" altLang="en-US" b="0" i="0" u="none" strike="noStrike" cap="none" normalizeH="0" baseline="0" dirty="0">
                <a:ln>
                  <a:noFill/>
                </a:ln>
                <a:effectLst/>
              </a:rPr>
            </a:br>
            <a:r>
              <a:rPr kumimoji="0" lang="en-US" altLang="en-US" b="0" i="0" u="none" strike="noStrike" cap="none" normalizeH="0" baseline="0" dirty="0">
                <a:ln>
                  <a:noFill/>
                </a:ln>
                <a:effectLst/>
              </a:rPr>
              <a:t>Exploratory methods such as head(), info(), and describe() were applied to understand the dataset’s structure, data types, and completeness. This preliminary inspection revealed multiple missing fields, mixed data types, and non-standard ZIP code formats—indicating the need for thorough data cleaning and transformation before analysis.</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3621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F3FA79-DE26-1F2A-0CF7-5671B73C8B6F}"/>
              </a:ext>
            </a:extLst>
          </p:cNvPr>
          <p:cNvSpPr>
            <a:spLocks noGrp="1"/>
          </p:cNvSpPr>
          <p:nvPr>
            <p:ph type="title"/>
          </p:nvPr>
        </p:nvSpPr>
        <p:spPr>
          <a:xfrm>
            <a:off x="671947" y="2096470"/>
            <a:ext cx="6172200" cy="1581912"/>
          </a:xfrm>
        </p:spPr>
        <p:txBody>
          <a:bodyPr anchor="b">
            <a:normAutofit/>
          </a:bodyPr>
          <a:lstStyle/>
          <a:p>
            <a:r>
              <a:rPr lang="en-US" u="sng" dirty="0"/>
              <a:t>Dataset Overview</a:t>
            </a:r>
          </a:p>
        </p:txBody>
      </p:sp>
      <p:pic>
        <p:nvPicPr>
          <p:cNvPr id="10" name="Picture 9" descr="A screenshot of a computer&#10;&#10;AI-generated content may be incorrect.">
            <a:extLst>
              <a:ext uri="{FF2B5EF4-FFF2-40B4-BE49-F238E27FC236}">
                <a16:creationId xmlns:a16="http://schemas.microsoft.com/office/drawing/2014/main" id="{1F710C49-1CFD-6568-485F-3D25A0BB1F01}"/>
              </a:ext>
            </a:extLst>
          </p:cNvPr>
          <p:cNvPicPr>
            <a:picLocks noChangeAspect="1"/>
          </p:cNvPicPr>
          <p:nvPr/>
        </p:nvPicPr>
        <p:blipFill>
          <a:blip r:embed="rId3">
            <a:extLst>
              <a:ext uri="{28A0092B-C50C-407E-A947-70E740481C1C}">
                <a14:useLocalDpi xmlns:a14="http://schemas.microsoft.com/office/drawing/2010/main" val="0"/>
              </a:ext>
            </a:extLst>
          </a:blip>
          <a:srcRect r="13402" b="3"/>
          <a:stretch>
            <a:fillRect/>
          </a:stretch>
        </p:blipFill>
        <p:spPr>
          <a:xfrm>
            <a:off x="7500938" y="-22225"/>
            <a:ext cx="4714875" cy="6880225"/>
          </a:xfrm>
          <a:prstGeom prst="rect">
            <a:avLst/>
          </a:prstGeom>
          <a:noFill/>
        </p:spPr>
      </p:pic>
    </p:spTree>
    <p:extLst>
      <p:ext uri="{BB962C8B-B14F-4D97-AF65-F5344CB8AC3E}">
        <p14:creationId xmlns:p14="http://schemas.microsoft.com/office/powerpoint/2010/main" val="46786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5242425" y="790194"/>
            <a:ext cx="6241651" cy="1710354"/>
          </a:xfrm>
        </p:spPr>
        <p:txBody>
          <a:bodyPr anchor="ctr">
            <a:normAutofit/>
          </a:bodyPr>
          <a:lstStyle/>
          <a:p>
            <a:r>
              <a:rPr lang="en-US" dirty="0"/>
              <a:t>Data preprocessing &amp; cleaning</a:t>
            </a:r>
            <a:br>
              <a:rPr lang="en-US" dirty="0"/>
            </a:br>
            <a:r>
              <a:rPr lang="en-US" sz="2000" u="sng" dirty="0"/>
              <a:t>Check the null value</a:t>
            </a:r>
          </a:p>
        </p:txBody>
      </p:sp>
      <p:pic>
        <p:nvPicPr>
          <p:cNvPr id="14" name="Picture 13" descr="A screenshot of a computer&#10;&#10;AI-generated content may be incorrect.">
            <a:extLst>
              <a:ext uri="{FF2B5EF4-FFF2-40B4-BE49-F238E27FC236}">
                <a16:creationId xmlns:a16="http://schemas.microsoft.com/office/drawing/2014/main" id="{2E5F7369-636B-2175-6EFC-D5C37291C8DD}"/>
              </a:ext>
            </a:extLst>
          </p:cNvPr>
          <p:cNvPicPr>
            <a:picLocks noChangeAspect="1"/>
          </p:cNvPicPr>
          <p:nvPr/>
        </p:nvPicPr>
        <p:blipFill>
          <a:blip r:embed="rId3">
            <a:extLst>
              <a:ext uri="{28A0092B-C50C-407E-A947-70E740481C1C}">
                <a14:useLocalDpi xmlns:a14="http://schemas.microsoft.com/office/drawing/2010/main" val="0"/>
              </a:ext>
            </a:extLst>
          </a:blip>
          <a:srcRect r="5925" b="2"/>
          <a:stretch>
            <a:fillRect/>
          </a:stretch>
        </p:blipFill>
        <p:spPr>
          <a:xfrm>
            <a:off x="20" y="10"/>
            <a:ext cx="4287818" cy="6857990"/>
          </a:xfrm>
          <a:prstGeom prst="rect">
            <a:avLst/>
          </a:prstGeom>
          <a:noFill/>
        </p:spPr>
      </p:pic>
      <p:sp>
        <p:nvSpPr>
          <p:cNvPr id="15" name="Subtitle 14">
            <a:extLst>
              <a:ext uri="{FF2B5EF4-FFF2-40B4-BE49-F238E27FC236}">
                <a16:creationId xmlns:a16="http://schemas.microsoft.com/office/drawing/2014/main" id="{9C373000-EEA1-D16F-189A-338FFDA2E708}"/>
              </a:ext>
            </a:extLst>
          </p:cNvPr>
          <p:cNvSpPr>
            <a:spLocks noGrp="1"/>
          </p:cNvSpPr>
          <p:nvPr>
            <p:ph idx="1"/>
          </p:nvPr>
        </p:nvSpPr>
        <p:spPr>
          <a:xfrm>
            <a:off x="5242425" y="2620093"/>
            <a:ext cx="6241650" cy="3474720"/>
          </a:xfrm>
        </p:spPr>
        <p:txBody>
          <a:bodyPr>
            <a:normAutofit/>
          </a:bodyPr>
          <a:lstStyle/>
          <a:p>
            <a:r>
              <a:rPr lang="en-US" dirty="0"/>
              <a:t>Initial issuance date/Expiration date converted to datetime.</a:t>
            </a:r>
          </a:p>
          <a:p>
            <a:r>
              <a:rPr lang="en-US" dirty="0"/>
              <a:t>Cardinality of object columns shows the important features need to taken into consideration for model training.</a:t>
            </a:r>
          </a:p>
          <a:p>
            <a:r>
              <a:rPr lang="en-US" dirty="0"/>
              <a:t>Identifying object type columns, exclude identifier columns, calculate the number of unique values for each, and print the results to assess cardinality for one-hot encoding suitability.</a:t>
            </a:r>
          </a:p>
        </p:txBody>
      </p:sp>
    </p:spTree>
    <p:extLst>
      <p:ext uri="{BB962C8B-B14F-4D97-AF65-F5344CB8AC3E}">
        <p14:creationId xmlns:p14="http://schemas.microsoft.com/office/powerpoint/2010/main" val="393043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342FE5-5B31-B373-0620-9114A5A01E27}"/>
              </a:ext>
            </a:extLst>
          </p:cNvPr>
          <p:cNvPicPr>
            <a:picLocks noChangeAspect="1"/>
          </p:cNvPicPr>
          <p:nvPr/>
        </p:nvPicPr>
        <p:blipFill>
          <a:blip r:embed="rId2"/>
          <a:stretch>
            <a:fillRect/>
          </a:stretch>
        </p:blipFill>
        <p:spPr>
          <a:xfrm>
            <a:off x="614430" y="0"/>
            <a:ext cx="10963140" cy="6858000"/>
          </a:xfrm>
          <a:prstGeom prst="rect">
            <a:avLst/>
          </a:prstGeom>
          <a:noFill/>
        </p:spPr>
      </p:pic>
    </p:spTree>
    <p:extLst>
      <p:ext uri="{BB962C8B-B14F-4D97-AF65-F5344CB8AC3E}">
        <p14:creationId xmlns:p14="http://schemas.microsoft.com/office/powerpoint/2010/main" val="2583986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248031"/>
            <a:ext cx="6172200" cy="1581912"/>
          </a:xfrm>
        </p:spPr>
        <p:txBody>
          <a:bodyPr anchor="b">
            <a:normAutofit/>
          </a:bodyPr>
          <a:lstStyle/>
          <a:p>
            <a:r>
              <a:rPr lang="en-US" dirty="0"/>
              <a:t>ONE HOT ENCODED COLUMNS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4"/>
          </p:nvPr>
        </p:nvSpPr>
        <p:spPr>
          <a:xfrm>
            <a:off x="838200" y="1980838"/>
            <a:ext cx="4894006" cy="3904906"/>
          </a:xfrm>
        </p:spPr>
        <p:txBody>
          <a:bodyPr vert="horz" lIns="91440" tIns="45720" rIns="91440" bIns="45720" rtlCol="0">
            <a:normAutofit/>
          </a:bodyPr>
          <a:lstStyle/>
          <a:p>
            <a:pPr marL="285750" indent="-285750">
              <a:buFont typeface="Arial" panose="020B0604020202020204" pitchFamily="34" charset="0"/>
              <a:buChar char="•"/>
            </a:pPr>
            <a:r>
              <a:rPr lang="en-US" sz="1700" dirty="0"/>
              <a:t>Dataset contains 66,670 records and 15 features after cleaning.</a:t>
            </a:r>
          </a:p>
          <a:p>
            <a:pPr marL="285750" indent="-285750">
              <a:buFont typeface="Arial" panose="020B0604020202020204" pitchFamily="34" charset="0"/>
              <a:buChar char="•"/>
            </a:pPr>
            <a:r>
              <a:rPr lang="en-US" sz="1700" dirty="0"/>
              <a:t>Focused on NYC-based businesses only (removed “Outside NYC”).</a:t>
            </a:r>
          </a:p>
          <a:p>
            <a:pPr marL="285750" indent="-285750">
              <a:buFont typeface="Arial" panose="020B0604020202020204" pitchFamily="34" charset="0"/>
              <a:buChar char="•"/>
            </a:pPr>
            <a:r>
              <a:rPr lang="en-US" sz="1700" dirty="0"/>
              <a:t>Data types: 11 categorical, 2 numeric, 2 datetime.</a:t>
            </a:r>
          </a:p>
          <a:p>
            <a:pPr marL="285750" indent="-285750">
              <a:buFont typeface="Arial" panose="020B0604020202020204" pitchFamily="34" charset="0"/>
              <a:buChar char="•"/>
            </a:pPr>
            <a:r>
              <a:rPr lang="en-US" sz="1700" dirty="0"/>
              <a:t>Missing values present in Borough, NTA, Latitude, and Longitude.</a:t>
            </a:r>
          </a:p>
          <a:p>
            <a:pPr marL="285750" indent="-285750">
              <a:buFont typeface="Arial" panose="020B0604020202020204" pitchFamily="34" charset="0"/>
              <a:buChar char="•"/>
            </a:pPr>
            <a:r>
              <a:rPr lang="en-US" sz="1700" dirty="0"/>
              <a:t>Datetime conversion: Initial Issuance Date, Expiration Date → datetime64.</a:t>
            </a:r>
          </a:p>
          <a:p>
            <a:pPr marL="285750" indent="-285750">
              <a:buFont typeface="Arial" panose="020B0604020202020204" pitchFamily="34" charset="0"/>
              <a:buChar char="•"/>
            </a:pPr>
            <a:r>
              <a:rPr lang="en-US" sz="1700" dirty="0"/>
              <a:t>Dataset size: ~7.6 MB, memory-efficient for Pandas operations.</a:t>
            </a:r>
          </a:p>
          <a:p>
            <a:pPr marL="285750" indent="-285750">
              <a:buFont typeface="Arial" panose="020B0604020202020204" pitchFamily="34" charset="0"/>
              <a:buChar char="•"/>
            </a:pPr>
            <a:r>
              <a:rPr lang="en-US" sz="1700" dirty="0"/>
              <a:t>Structured and ready for feature engineering (encoding, imputation, scaling).</a:t>
            </a:r>
          </a:p>
        </p:txBody>
      </p:sp>
      <p:pic>
        <p:nvPicPr>
          <p:cNvPr id="9" name="Picture 8">
            <a:extLst>
              <a:ext uri="{FF2B5EF4-FFF2-40B4-BE49-F238E27FC236}">
                <a16:creationId xmlns:a16="http://schemas.microsoft.com/office/drawing/2014/main" id="{64B9D04C-AAAC-6F30-FC87-68B284A3F54E}"/>
              </a:ext>
            </a:extLst>
          </p:cNvPr>
          <p:cNvPicPr>
            <a:picLocks noChangeAspect="1"/>
          </p:cNvPicPr>
          <p:nvPr/>
        </p:nvPicPr>
        <p:blipFill>
          <a:blip r:embed="rId3"/>
          <a:stretch>
            <a:fillRect/>
          </a:stretch>
        </p:blipFill>
        <p:spPr>
          <a:xfrm>
            <a:off x="7386638" y="1719858"/>
            <a:ext cx="4714875" cy="3418284"/>
          </a:xfrm>
          <a:prstGeom prst="rect">
            <a:avLst/>
          </a:prstGeom>
          <a:noFill/>
        </p:spPr>
      </p:pic>
    </p:spTree>
    <p:extLst>
      <p:ext uri="{BB962C8B-B14F-4D97-AF65-F5344CB8AC3E}">
        <p14:creationId xmlns:p14="http://schemas.microsoft.com/office/powerpoint/2010/main" val="3666674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45111B3-7350-AA12-EC8B-66FCBC018360}"/>
              </a:ext>
            </a:extLst>
          </p:cNvPr>
          <p:cNvPicPr>
            <a:picLocks noChangeAspect="1"/>
          </p:cNvPicPr>
          <p:nvPr/>
        </p:nvPicPr>
        <p:blipFill>
          <a:blip r:embed="rId2"/>
          <a:stretch>
            <a:fillRect/>
          </a:stretch>
        </p:blipFill>
        <p:spPr>
          <a:xfrm>
            <a:off x="0" y="2270760"/>
            <a:ext cx="12192000" cy="2316480"/>
          </a:xfrm>
          <a:prstGeom prst="rect">
            <a:avLst/>
          </a:prstGeom>
          <a:noFill/>
        </p:spPr>
      </p:pic>
    </p:spTree>
    <p:extLst>
      <p:ext uri="{BB962C8B-B14F-4D97-AF65-F5344CB8AC3E}">
        <p14:creationId xmlns:p14="http://schemas.microsoft.com/office/powerpoint/2010/main" val="2885840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5242425" y="466344"/>
            <a:ext cx="6241651" cy="1710354"/>
          </a:xfrm>
        </p:spPr>
        <p:txBody>
          <a:bodyPr anchor="ctr">
            <a:normAutofit/>
          </a:bodyPr>
          <a:lstStyle/>
          <a:p>
            <a:r>
              <a:rPr lang="en-US" dirty="0"/>
              <a:t>Impute missing value with median and mode</a:t>
            </a:r>
          </a:p>
        </p:txBody>
      </p:sp>
      <p:pic>
        <p:nvPicPr>
          <p:cNvPr id="7" name="Picture 6">
            <a:extLst>
              <a:ext uri="{FF2B5EF4-FFF2-40B4-BE49-F238E27FC236}">
                <a16:creationId xmlns:a16="http://schemas.microsoft.com/office/drawing/2014/main" id="{DF329535-7C5F-1FF0-0291-3780312ED81B}"/>
              </a:ext>
            </a:extLst>
          </p:cNvPr>
          <p:cNvPicPr>
            <a:picLocks noChangeAspect="1"/>
          </p:cNvPicPr>
          <p:nvPr/>
        </p:nvPicPr>
        <p:blipFill>
          <a:blip r:embed="rId3"/>
          <a:stretch>
            <a:fillRect/>
          </a:stretch>
        </p:blipFill>
        <p:spPr>
          <a:xfrm>
            <a:off x="132202" y="2082450"/>
            <a:ext cx="4700458" cy="2952258"/>
          </a:xfrm>
          <a:prstGeom prst="rect">
            <a:avLst/>
          </a:prstGeom>
          <a:noFill/>
        </p:spPr>
      </p:pic>
      <p:sp>
        <p:nvSpPr>
          <p:cNvPr id="8" name="Rectangle 1">
            <a:extLst>
              <a:ext uri="{FF2B5EF4-FFF2-40B4-BE49-F238E27FC236}">
                <a16:creationId xmlns:a16="http://schemas.microsoft.com/office/drawing/2014/main" id="{B979A2C6-894D-EF1E-7365-B192470D9A9D}"/>
              </a:ext>
            </a:extLst>
          </p:cNvPr>
          <p:cNvSpPr>
            <a:spLocks noGrp="1" noChangeArrowheads="1"/>
          </p:cNvSpPr>
          <p:nvPr>
            <p:ph idx="1"/>
          </p:nvPr>
        </p:nvSpPr>
        <p:spPr bwMode="auto">
          <a:xfrm>
            <a:off x="5242426" y="1795749"/>
            <a:ext cx="6241650" cy="3964971"/>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dirty="0">
                <a:ln>
                  <a:noFill/>
                </a:ln>
                <a:effectLst/>
              </a:rPr>
              <a:t>Key Steps:</a:t>
            </a:r>
            <a:endParaRPr kumimoji="0" lang="en-US" altLang="en-US" sz="1500" b="0" i="0" u="none" strike="noStrike" cap="none" normalizeH="0" baseline="0" dirty="0">
              <a:ln>
                <a:noFill/>
              </a:ln>
              <a:effectLst/>
            </a:endParaRPr>
          </a:p>
          <a:p>
            <a:pPr>
              <a:spcAft>
                <a:spcPts val="600"/>
              </a:spcAft>
              <a:buClrTx/>
            </a:pPr>
            <a:r>
              <a:rPr kumimoji="0" lang="en-US" altLang="en-US" sz="1500" b="1" i="0" u="none" strike="noStrike" cap="none" normalizeH="0" baseline="0" dirty="0">
                <a:ln>
                  <a:noFill/>
                </a:ln>
                <a:effectLst/>
              </a:rPr>
              <a:t>ZIP Code:</a:t>
            </a:r>
            <a:r>
              <a:rPr kumimoji="0" lang="en-US" altLang="en-US" sz="1500" b="0" i="0" u="none" strike="noStrike" cap="none" normalizeH="0" baseline="0" dirty="0">
                <a:ln>
                  <a:noFill/>
                </a:ln>
                <a:effectLst/>
              </a:rPr>
              <a:t> Standardized to 5-digit numeric format; removed invalid and non-NYC entries.</a:t>
            </a:r>
          </a:p>
          <a:p>
            <a:pPr>
              <a:spcAft>
                <a:spcPts val="600"/>
              </a:spcAft>
              <a:buClrTx/>
            </a:pPr>
            <a:r>
              <a:rPr kumimoji="0" lang="en-US" altLang="en-US" sz="1500" b="1" i="0" u="none" strike="noStrike" cap="none" normalizeH="0" baseline="0" dirty="0">
                <a:ln>
                  <a:noFill/>
                </a:ln>
                <a:effectLst/>
              </a:rPr>
              <a:t>Borough:</a:t>
            </a:r>
            <a:r>
              <a:rPr kumimoji="0" lang="en-US" altLang="en-US" sz="1500" b="0" i="0" u="none" strike="noStrike" cap="none" normalizeH="0" baseline="0" dirty="0">
                <a:ln>
                  <a:noFill/>
                </a:ln>
                <a:effectLst/>
              </a:rPr>
              <a:t> Filled missing values using ZIP-to-Borough mapping.</a:t>
            </a:r>
          </a:p>
          <a:p>
            <a:pPr>
              <a:spcAft>
                <a:spcPts val="600"/>
              </a:spcAft>
              <a:buClrTx/>
            </a:pPr>
            <a:r>
              <a:rPr kumimoji="0" lang="en-US" altLang="en-US" sz="1500" b="1" i="0" u="none" strike="noStrike" cap="none" normalizeH="0" baseline="0" dirty="0">
                <a:ln>
                  <a:noFill/>
                </a:ln>
                <a:effectLst/>
              </a:rPr>
              <a:t>NTA:</a:t>
            </a:r>
            <a:r>
              <a:rPr kumimoji="0" lang="en-US" altLang="en-US" sz="1500" b="0" i="0" u="none" strike="noStrike" cap="none" normalizeH="0" baseline="0" dirty="0">
                <a:ln>
                  <a:noFill/>
                </a:ln>
                <a:effectLst/>
              </a:rPr>
              <a:t> Imputed using ZIP-to-NTA relationships derived from valid records.</a:t>
            </a:r>
          </a:p>
          <a:p>
            <a:pPr>
              <a:spcAft>
                <a:spcPts val="600"/>
              </a:spcAft>
              <a:buClrTx/>
            </a:pPr>
            <a:r>
              <a:rPr kumimoji="0" lang="en-US" altLang="en-US" sz="1500" b="1" i="0" u="none" strike="noStrike" cap="none" normalizeH="0" baseline="0" dirty="0">
                <a:ln>
                  <a:noFill/>
                </a:ln>
                <a:effectLst/>
              </a:rPr>
              <a:t>Latitude &amp; Longitude:</a:t>
            </a:r>
            <a:r>
              <a:rPr kumimoji="0" lang="en-US" altLang="en-US" sz="1500" b="0" i="0" u="none" strike="noStrike" cap="none" normalizeH="0" baseline="0" dirty="0">
                <a:ln>
                  <a:noFill/>
                </a:ln>
                <a:effectLst/>
              </a:rPr>
              <a:t> Retained as targets for regression prediction.</a:t>
            </a:r>
          </a:p>
          <a:p>
            <a:pPr marL="0" marR="0" lvl="0" indent="0" defTabSz="914400" rtl="0" eaLnBrk="0" fontAlgn="base" latinLnBrk="0" hangingPunct="0">
              <a:spcBef>
                <a:spcPct val="0"/>
              </a:spcBef>
              <a:spcAft>
                <a:spcPts val="600"/>
              </a:spcAft>
              <a:buClrTx/>
              <a:buSzTx/>
              <a:buFontTx/>
              <a:buNone/>
              <a:tabLst/>
            </a:pPr>
            <a:endParaRPr kumimoji="0" lang="en-US" altLang="en-US" sz="1500" b="1"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dirty="0">
                <a:ln>
                  <a:noFill/>
                </a:ln>
                <a:effectLst/>
              </a:rPr>
              <a:t>Result:</a:t>
            </a:r>
            <a:endParaRPr kumimoji="0" lang="en-US" altLang="en-US" sz="1500" b="0" i="0" u="none" strike="noStrike" cap="none" normalizeH="0" baseline="0" dirty="0">
              <a:ln>
                <a:noFill/>
              </a:ln>
              <a:effectLst/>
            </a:endParaRPr>
          </a:p>
          <a:p>
            <a:pPr>
              <a:spcAft>
                <a:spcPts val="600"/>
              </a:spcAft>
              <a:buClrTx/>
            </a:pPr>
            <a:r>
              <a:rPr kumimoji="0" lang="en-US" altLang="en-US" sz="1500" b="0" i="0" u="none" strike="noStrike" cap="none" normalizeH="0" baseline="0" dirty="0">
                <a:ln>
                  <a:noFill/>
                </a:ln>
                <a:effectLst/>
              </a:rPr>
              <a:t>Dataset refined from </a:t>
            </a:r>
            <a:r>
              <a:rPr kumimoji="0" lang="en-US" altLang="en-US" sz="1500" b="1" i="0" u="none" strike="noStrike" cap="none" normalizeH="0" baseline="0" dirty="0">
                <a:ln>
                  <a:noFill/>
                </a:ln>
                <a:effectLst/>
              </a:rPr>
              <a:t>66,670 → ~56,000 records</a:t>
            </a:r>
            <a:r>
              <a:rPr kumimoji="0" lang="en-US" altLang="en-US" sz="1500" b="0" i="0" u="none" strike="noStrike" cap="none" normalizeH="0" baseline="0" dirty="0">
                <a:ln>
                  <a:noFill/>
                </a:ln>
                <a:effectLst/>
              </a:rPr>
              <a:t> (NYC-only).</a:t>
            </a:r>
          </a:p>
          <a:p>
            <a:pPr>
              <a:spcAft>
                <a:spcPts val="600"/>
              </a:spcAft>
              <a:buClrTx/>
            </a:pPr>
            <a:r>
              <a:rPr kumimoji="0" lang="en-US" altLang="en-US" sz="1500" b="0" i="0" u="none" strike="noStrike" cap="none" normalizeH="0" baseline="0" dirty="0">
                <a:ln>
                  <a:noFill/>
                </a:ln>
                <a:effectLst/>
              </a:rPr>
              <a:t>All categorical fields cleaned and spatial hierarchy (ZIP → Borough → NTA) restored.</a:t>
            </a:r>
          </a:p>
          <a:p>
            <a:pPr>
              <a:spcAft>
                <a:spcPts val="600"/>
              </a:spcAft>
              <a:buClrTx/>
            </a:pPr>
            <a:r>
              <a:rPr kumimoji="0" lang="en-US" altLang="en-US" sz="1500" b="0" i="0" u="none" strike="noStrike" cap="none" normalizeH="0" baseline="0" dirty="0">
                <a:ln>
                  <a:noFill/>
                </a:ln>
                <a:effectLst/>
              </a:rPr>
              <a:t>Remaining missing values limited to coordinates for the regression task.</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1679936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graph showing a distribution of business data&#10;&#10;AI-generated content may be incorrect.">
            <a:extLst>
              <a:ext uri="{FF2B5EF4-FFF2-40B4-BE49-F238E27FC236}">
                <a16:creationId xmlns:a16="http://schemas.microsoft.com/office/drawing/2014/main" id="{4EDE3CC4-3086-162A-1C4B-A0F0CEF91943}"/>
              </a:ext>
            </a:extLst>
          </p:cNvPr>
          <p:cNvPicPr>
            <a:picLocks noChangeAspect="1"/>
          </p:cNvPicPr>
          <p:nvPr/>
        </p:nvPicPr>
        <p:blipFill>
          <a:blip r:embed="rId3">
            <a:extLst>
              <a:ext uri="{28A0092B-C50C-407E-A947-70E740481C1C}">
                <a14:useLocalDpi xmlns:a14="http://schemas.microsoft.com/office/drawing/2010/main" val="0"/>
              </a:ext>
            </a:extLst>
          </a:blip>
          <a:srcRect l="6427" r="23795" b="-1"/>
          <a:stretch>
            <a:fillRect/>
          </a:stretch>
        </p:blipFill>
        <p:spPr>
          <a:xfrm>
            <a:off x="20" y="10"/>
            <a:ext cx="12191980" cy="6857990"/>
          </a:xfrm>
          <a:prstGeom prst="rect">
            <a:avLst/>
          </a:prstGeom>
          <a:noFill/>
        </p:spPr>
      </p:pic>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aph with numbers and a number of objects&#10;&#10;AI-generated content may be incorrect.">
            <a:extLst>
              <a:ext uri="{FF2B5EF4-FFF2-40B4-BE49-F238E27FC236}">
                <a16:creationId xmlns:a16="http://schemas.microsoft.com/office/drawing/2014/main" id="{4E2178F2-0333-784D-6A1A-A2030ED3A8A9}"/>
              </a:ext>
            </a:extLst>
          </p:cNvPr>
          <p:cNvPicPr>
            <a:picLocks noChangeAspect="1"/>
          </p:cNvPicPr>
          <p:nvPr/>
        </p:nvPicPr>
        <p:blipFill>
          <a:blip r:embed="rId2">
            <a:extLst>
              <a:ext uri="{28A0092B-C50C-407E-A947-70E740481C1C}">
                <a14:useLocalDpi xmlns:a14="http://schemas.microsoft.com/office/drawing/2010/main" val="0"/>
              </a:ext>
            </a:extLst>
          </a:blip>
          <a:srcRect l="2241" r="10192"/>
          <a:stretch>
            <a:fillRect/>
          </a:stretch>
        </p:blipFill>
        <p:spPr>
          <a:xfrm>
            <a:off x="120650" y="68263"/>
            <a:ext cx="11950700" cy="6721475"/>
          </a:xfrm>
          <a:prstGeom prst="rect">
            <a:avLst/>
          </a:prstGeom>
          <a:noFill/>
        </p:spPr>
      </p:pic>
    </p:spTree>
    <p:extLst>
      <p:ext uri="{BB962C8B-B14F-4D97-AF65-F5344CB8AC3E}">
        <p14:creationId xmlns:p14="http://schemas.microsoft.com/office/powerpoint/2010/main" val="4081711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hart with a green and blue rectangle&#10;&#10;AI-generated content may be incorrect.">
            <a:extLst>
              <a:ext uri="{FF2B5EF4-FFF2-40B4-BE49-F238E27FC236}">
                <a16:creationId xmlns:a16="http://schemas.microsoft.com/office/drawing/2014/main" id="{2E0DD532-428B-F026-8849-7CB08F104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933450"/>
            <a:ext cx="7772400" cy="4056511"/>
          </a:xfrm>
          <a:prstGeom prst="rect">
            <a:avLst/>
          </a:prstGeom>
        </p:spPr>
      </p:pic>
    </p:spTree>
    <p:extLst>
      <p:ext uri="{BB962C8B-B14F-4D97-AF65-F5344CB8AC3E}">
        <p14:creationId xmlns:p14="http://schemas.microsoft.com/office/powerpoint/2010/main" val="4036694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showing a distribution of borough&#10;&#10;AI-generated content may be incorrect.">
            <a:extLst>
              <a:ext uri="{FF2B5EF4-FFF2-40B4-BE49-F238E27FC236}">
                <a16:creationId xmlns:a16="http://schemas.microsoft.com/office/drawing/2014/main" id="{68398A28-0AB1-F0B1-6CA2-5141438DD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141" y="1244256"/>
            <a:ext cx="7772400" cy="3966952"/>
          </a:xfrm>
          <a:prstGeom prst="rect">
            <a:avLst/>
          </a:prstGeom>
        </p:spPr>
      </p:pic>
    </p:spTree>
    <p:extLst>
      <p:ext uri="{BB962C8B-B14F-4D97-AF65-F5344CB8AC3E}">
        <p14:creationId xmlns:p14="http://schemas.microsoft.com/office/powerpoint/2010/main" val="154432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1325880"/>
          </a:xfrm>
        </p:spPr>
        <p:txBody>
          <a:bodyPr vert="horz" lIns="91440" tIns="45720" rIns="91440" bIns="45720" rtlCol="0" anchor="ctr" anchorCtr="0">
            <a:normAutofit/>
          </a:bodyPr>
          <a:lstStyle/>
          <a:p>
            <a:r>
              <a:rPr lang="en-US" kern="1200" cap="all" spc="300" baseline="0" dirty="0">
                <a:latin typeface="+mj-lt"/>
                <a:ea typeface="+mj-ea"/>
                <a:cs typeface="+mj-cs"/>
              </a:rPr>
              <a:t>Task 1-classification</a:t>
            </a:r>
          </a:p>
        </p:txBody>
      </p:sp>
      <p:sp>
        <p:nvSpPr>
          <p:cNvPr id="9" name="TextBox 8">
            <a:extLst>
              <a:ext uri="{FF2B5EF4-FFF2-40B4-BE49-F238E27FC236}">
                <a16:creationId xmlns:a16="http://schemas.microsoft.com/office/drawing/2014/main" id="{16DC7ADF-A18F-C899-D09F-8301C4BC9113}"/>
              </a:ext>
            </a:extLst>
          </p:cNvPr>
          <p:cNvSpPr txBox="1"/>
          <p:nvPr/>
        </p:nvSpPr>
        <p:spPr>
          <a:xfrm>
            <a:off x="6459795" y="2024780"/>
            <a:ext cx="4894006" cy="4137189"/>
          </a:xfrm>
          <a:prstGeom prst="rect">
            <a:avLst/>
          </a:prstGeom>
        </p:spPr>
        <p:txBody>
          <a:bodyPr vert="horz" lIns="91440" tIns="45720" rIns="91440" bIns="45720" rtlCol="0">
            <a:normAutofit lnSpcReduction="10000"/>
          </a:bodyPr>
          <a:lstStyle/>
          <a:p>
            <a:pPr>
              <a:lnSpc>
                <a:spcPct val="90000"/>
              </a:lnSpc>
              <a:spcBef>
                <a:spcPts val="1000"/>
              </a:spcBef>
              <a:buClr>
                <a:schemeClr val="accent2"/>
              </a:buClr>
              <a:buFont typeface="Wingdings" panose="05000000000000000000" pitchFamily="2" charset="2"/>
            </a:pPr>
            <a:r>
              <a:rPr lang="en-US" sz="1700" dirty="0"/>
              <a:t>🧩 Dataset Overview</a:t>
            </a:r>
          </a:p>
          <a:p>
            <a:pPr>
              <a:lnSpc>
                <a:spcPct val="90000"/>
              </a:lnSpc>
              <a:spcBef>
                <a:spcPts val="1000"/>
              </a:spcBef>
              <a:buClr>
                <a:schemeClr val="accent2"/>
              </a:buClr>
              <a:buFont typeface="Wingdings" panose="05000000000000000000" pitchFamily="2" charset="2"/>
            </a:pPr>
            <a:endParaRPr lang="en-US" sz="1700" dirty="0"/>
          </a:p>
          <a:p>
            <a:pPr marL="285750" indent="-285750">
              <a:lnSpc>
                <a:spcPct val="90000"/>
              </a:lnSpc>
              <a:spcBef>
                <a:spcPts val="1000"/>
              </a:spcBef>
              <a:buClr>
                <a:schemeClr val="accent2"/>
              </a:buClr>
              <a:buFont typeface="Arial" panose="020B0604020202020204" pitchFamily="34" charset="0"/>
              <a:buChar char="•"/>
            </a:pPr>
            <a:r>
              <a:rPr lang="en-US" sz="1700" dirty="0"/>
              <a:t>Data Source: NYC Open Data — DCWP Issued Licenses</a:t>
            </a:r>
          </a:p>
          <a:p>
            <a:pPr marL="285750" indent="-285750">
              <a:lnSpc>
                <a:spcPct val="90000"/>
              </a:lnSpc>
              <a:spcBef>
                <a:spcPts val="1000"/>
              </a:spcBef>
              <a:buClr>
                <a:schemeClr val="accent2"/>
              </a:buClr>
              <a:buFont typeface="Arial" panose="020B0604020202020204" pitchFamily="34" charset="0"/>
              <a:buChar char="•"/>
            </a:pPr>
            <a:r>
              <a:rPr lang="en-US" sz="1700" dirty="0"/>
              <a:t>Key Features Used:</a:t>
            </a:r>
          </a:p>
          <a:p>
            <a:pPr marL="285750" indent="-285750">
              <a:lnSpc>
                <a:spcPct val="90000"/>
              </a:lnSpc>
              <a:spcBef>
                <a:spcPts val="1000"/>
              </a:spcBef>
              <a:buClr>
                <a:schemeClr val="accent2"/>
              </a:buClr>
              <a:buFont typeface="Arial" panose="020B0604020202020204" pitchFamily="34" charset="0"/>
              <a:buChar char="•"/>
            </a:pPr>
            <a:r>
              <a:rPr lang="en-US" sz="1700" dirty="0"/>
              <a:t>Business Category → industry sector of the licensee</a:t>
            </a:r>
          </a:p>
          <a:p>
            <a:pPr marL="285750" indent="-285750">
              <a:lnSpc>
                <a:spcPct val="90000"/>
              </a:lnSpc>
              <a:spcBef>
                <a:spcPts val="1000"/>
              </a:spcBef>
              <a:buClr>
                <a:schemeClr val="accent2"/>
              </a:buClr>
              <a:buFont typeface="Arial" panose="020B0604020202020204" pitchFamily="34" charset="0"/>
              <a:buChar char="•"/>
            </a:pPr>
            <a:r>
              <a:rPr lang="en-US" sz="1700" dirty="0"/>
              <a:t>Borough → geographic region</a:t>
            </a:r>
          </a:p>
          <a:p>
            <a:pPr marL="285750" indent="-285750">
              <a:lnSpc>
                <a:spcPct val="90000"/>
              </a:lnSpc>
              <a:spcBef>
                <a:spcPts val="1000"/>
              </a:spcBef>
              <a:buClr>
                <a:schemeClr val="accent2"/>
              </a:buClr>
              <a:buFont typeface="Arial" panose="020B0604020202020204" pitchFamily="34" charset="0"/>
              <a:buChar char="•"/>
            </a:pPr>
            <a:r>
              <a:rPr lang="en-US" sz="1700" dirty="0" err="1"/>
              <a:t>License_Duration</a:t>
            </a:r>
            <a:r>
              <a:rPr lang="en-US" sz="1700" dirty="0"/>
              <a:t> → calculated from Initial Issuance Date to Expiration Date (in days)</a:t>
            </a:r>
          </a:p>
          <a:p>
            <a:pPr marL="285750" indent="-285750">
              <a:lnSpc>
                <a:spcPct val="90000"/>
              </a:lnSpc>
              <a:spcBef>
                <a:spcPts val="1000"/>
              </a:spcBef>
              <a:buClr>
                <a:schemeClr val="accent2"/>
              </a:buClr>
              <a:buFont typeface="Arial" panose="020B0604020202020204" pitchFamily="34" charset="0"/>
              <a:buChar char="•"/>
            </a:pPr>
            <a:r>
              <a:rPr lang="en-US" sz="1700" dirty="0"/>
              <a:t>Target Variable: Lapsed (1 = license not renewed)</a:t>
            </a:r>
          </a:p>
          <a:p>
            <a:pPr marL="285750" indent="-285750">
              <a:lnSpc>
                <a:spcPct val="90000"/>
              </a:lnSpc>
              <a:spcBef>
                <a:spcPts val="1000"/>
              </a:spcBef>
              <a:buClr>
                <a:schemeClr val="accent2"/>
              </a:buClr>
              <a:buFont typeface="Arial" panose="020B0604020202020204" pitchFamily="34" charset="0"/>
              <a:buChar char="•"/>
            </a:pPr>
            <a:r>
              <a:rPr lang="en-US" sz="1700" dirty="0"/>
              <a:t>Size: 56,000+ records after cleaning and transformation.</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11" name="Content Placeholder 3">
            <a:extLst>
              <a:ext uri="{FF2B5EF4-FFF2-40B4-BE49-F238E27FC236}">
                <a16:creationId xmlns:a16="http://schemas.microsoft.com/office/drawing/2014/main" id="{0FA08359-6198-FDA1-76C8-CDE611CDE7A2}"/>
              </a:ext>
            </a:extLst>
          </p:cNvPr>
          <p:cNvGraphicFramePr>
            <a:graphicFrameLocks noGrp="1"/>
          </p:cNvGraphicFramePr>
          <p:nvPr>
            <p:ph sz="quarter" idx="13"/>
            <p:extLst>
              <p:ext uri="{D42A27DB-BD31-4B8C-83A1-F6EECF244321}">
                <p14:modId xmlns:p14="http://schemas.microsoft.com/office/powerpoint/2010/main" val="4012386804"/>
              </p:ext>
            </p:extLst>
          </p:nvPr>
        </p:nvGraphicFramePr>
        <p:xfrm>
          <a:off x="838199" y="2024781"/>
          <a:ext cx="5212079" cy="4137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9609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B21034-561B-4669-72F0-E6AB763A5E78}"/>
              </a:ext>
            </a:extLst>
          </p:cNvPr>
          <p:cNvSpPr txBox="1"/>
          <p:nvPr/>
        </p:nvSpPr>
        <p:spPr>
          <a:xfrm>
            <a:off x="5242425" y="466344"/>
            <a:ext cx="6241651" cy="1710354"/>
          </a:xfrm>
          <a:prstGeom prst="rect">
            <a:avLst/>
          </a:prstGeom>
        </p:spPr>
        <p:txBody>
          <a:bodyPr vert="horz" lIns="91440" tIns="45720" rIns="91440" bIns="0" rtlCol="0" anchor="ctr" anchorCtr="0">
            <a:normAutofit/>
          </a:bodyPr>
          <a:lstStyle/>
          <a:p>
            <a:pPr>
              <a:lnSpc>
                <a:spcPct val="90000"/>
              </a:lnSpc>
              <a:spcBef>
                <a:spcPct val="0"/>
              </a:spcBef>
              <a:spcAft>
                <a:spcPts val="600"/>
              </a:spcAft>
            </a:pPr>
            <a:r>
              <a:rPr lang="en-US" sz="2700" b="1" kern="1200" cap="all" spc="300" baseline="0" dirty="0">
                <a:latin typeface="+mj-lt"/>
                <a:ea typeface="+mj-ea"/>
                <a:cs typeface="+mj-cs"/>
              </a:rPr>
              <a:t>🤖 Models Trained</a:t>
            </a:r>
          </a:p>
          <a:p>
            <a:pPr>
              <a:lnSpc>
                <a:spcPct val="90000"/>
              </a:lnSpc>
              <a:spcBef>
                <a:spcPct val="0"/>
              </a:spcBef>
              <a:spcAft>
                <a:spcPts val="600"/>
              </a:spcAft>
            </a:pPr>
            <a:endParaRPr lang="en-US" sz="2700" kern="1200" cap="all" spc="300" baseline="0" dirty="0">
              <a:latin typeface="+mj-lt"/>
              <a:ea typeface="+mj-ea"/>
              <a:cs typeface="+mj-cs"/>
            </a:endParaRPr>
          </a:p>
          <a:p>
            <a:pPr>
              <a:lnSpc>
                <a:spcPct val="90000"/>
              </a:lnSpc>
              <a:spcBef>
                <a:spcPct val="0"/>
              </a:spcBef>
              <a:spcAft>
                <a:spcPts val="600"/>
              </a:spcAft>
            </a:pPr>
            <a:r>
              <a:rPr lang="en-US" sz="2700" kern="1200" cap="all" spc="300" baseline="0" dirty="0">
                <a:latin typeface="+mj-lt"/>
                <a:ea typeface="+mj-ea"/>
                <a:cs typeface="+mj-cs"/>
              </a:rPr>
              <a:t>Two tree-based models were implemented and compared:</a:t>
            </a:r>
          </a:p>
        </p:txBody>
      </p:sp>
      <p:pic>
        <p:nvPicPr>
          <p:cNvPr id="7" name="Picture 6">
            <a:extLst>
              <a:ext uri="{FF2B5EF4-FFF2-40B4-BE49-F238E27FC236}">
                <a16:creationId xmlns:a16="http://schemas.microsoft.com/office/drawing/2014/main" id="{2D5D3C1C-15B0-647A-1409-5BF32F4563DE}"/>
              </a:ext>
            </a:extLst>
          </p:cNvPr>
          <p:cNvPicPr>
            <a:picLocks noChangeAspect="1"/>
          </p:cNvPicPr>
          <p:nvPr/>
        </p:nvPicPr>
        <p:blipFill>
          <a:blip r:embed="rId2"/>
          <a:stretch>
            <a:fillRect/>
          </a:stretch>
        </p:blipFill>
        <p:spPr>
          <a:xfrm>
            <a:off x="95092" y="0"/>
            <a:ext cx="4097654" cy="6858000"/>
          </a:xfrm>
          <a:prstGeom prst="rect">
            <a:avLst/>
          </a:prstGeom>
          <a:noFill/>
        </p:spPr>
      </p:pic>
      <p:graphicFrame>
        <p:nvGraphicFramePr>
          <p:cNvPr id="6" name="Table 5">
            <a:extLst>
              <a:ext uri="{FF2B5EF4-FFF2-40B4-BE49-F238E27FC236}">
                <a16:creationId xmlns:a16="http://schemas.microsoft.com/office/drawing/2014/main" id="{C1EEED7F-657A-146D-B6CB-921C57F5C7F2}"/>
              </a:ext>
            </a:extLst>
          </p:cNvPr>
          <p:cNvGraphicFramePr>
            <a:graphicFrameLocks noGrp="1"/>
          </p:cNvGraphicFramePr>
          <p:nvPr>
            <p:extLst>
              <p:ext uri="{D42A27DB-BD31-4B8C-83A1-F6EECF244321}">
                <p14:modId xmlns:p14="http://schemas.microsoft.com/office/powerpoint/2010/main" val="3928902155"/>
              </p:ext>
            </p:extLst>
          </p:nvPr>
        </p:nvGraphicFramePr>
        <p:xfrm>
          <a:off x="5242426" y="2328336"/>
          <a:ext cx="6241651" cy="3390050"/>
        </p:xfrm>
        <a:graphic>
          <a:graphicData uri="http://schemas.openxmlformats.org/drawingml/2006/table">
            <a:tbl>
              <a:tblPr firstRow="1" bandRow="1">
                <a:tableStyleId>{7E9639D4-E3E2-4D34-9284-5A2195B3D0D7}</a:tableStyleId>
              </a:tblPr>
              <a:tblGrid>
                <a:gridCol w="2743550">
                  <a:extLst>
                    <a:ext uri="{9D8B030D-6E8A-4147-A177-3AD203B41FA5}">
                      <a16:colId xmlns:a16="http://schemas.microsoft.com/office/drawing/2014/main" val="2101811378"/>
                    </a:ext>
                  </a:extLst>
                </a:gridCol>
                <a:gridCol w="3498101">
                  <a:extLst>
                    <a:ext uri="{9D8B030D-6E8A-4147-A177-3AD203B41FA5}">
                      <a16:colId xmlns:a16="http://schemas.microsoft.com/office/drawing/2014/main" val="782725877"/>
                    </a:ext>
                  </a:extLst>
                </a:gridCol>
              </a:tblGrid>
              <a:tr h="478084">
                <a:tc>
                  <a:txBody>
                    <a:bodyPr/>
                    <a:lstStyle/>
                    <a:p>
                      <a:r>
                        <a:rPr lang="en-US" sz="2100" dirty="0"/>
                        <a:t>Model</a:t>
                      </a:r>
                    </a:p>
                  </a:txBody>
                  <a:tcPr marL="108655" marR="108655" marT="54328" marB="54328"/>
                </a:tc>
                <a:tc>
                  <a:txBody>
                    <a:bodyPr/>
                    <a:lstStyle/>
                    <a:p>
                      <a:r>
                        <a:rPr lang="en-US" sz="2100"/>
                        <a:t>Key Characteristics</a:t>
                      </a:r>
                    </a:p>
                  </a:txBody>
                  <a:tcPr marL="108655" marR="108655" marT="54328" marB="54328"/>
                </a:tc>
                <a:extLst>
                  <a:ext uri="{0D108BD9-81ED-4DB2-BD59-A6C34878D82A}">
                    <a16:rowId xmlns:a16="http://schemas.microsoft.com/office/drawing/2014/main" val="2846404977"/>
                  </a:ext>
                </a:extLst>
              </a:tr>
              <a:tr h="1455983">
                <a:tc>
                  <a:txBody>
                    <a:bodyPr/>
                    <a:lstStyle/>
                    <a:p>
                      <a:r>
                        <a:rPr lang="en-US" sz="2100" b="1" i="0" u="none" strike="noStrike" kern="1200">
                          <a:solidFill>
                            <a:schemeClr val="tx1"/>
                          </a:solidFill>
                          <a:effectLst/>
                          <a:latin typeface="+mn-lt"/>
                          <a:ea typeface="+mn-ea"/>
                          <a:cs typeface="+mn-cs"/>
                        </a:rPr>
                        <a:t>Gradient Boosting Classifier</a:t>
                      </a:r>
                      <a:endParaRPr lang="en-US" sz="2100"/>
                    </a:p>
                  </a:txBody>
                  <a:tcPr marL="108655" marR="108655" marT="54328" marB="54328"/>
                </a:tc>
                <a:tc>
                  <a:txBody>
                    <a:bodyPr/>
                    <a:lstStyle/>
                    <a:p>
                      <a:r>
                        <a:rPr lang="en-US" sz="2100" b="0" i="0" u="none" strike="noStrike" kern="1200">
                          <a:solidFill>
                            <a:schemeClr val="tx1"/>
                          </a:solidFill>
                          <a:effectLst/>
                          <a:latin typeface="+mn-lt"/>
                          <a:ea typeface="+mn-ea"/>
                          <a:cs typeface="+mn-cs"/>
                        </a:rPr>
                        <a:t>Sequentially builds weak trees, focusing on difficult samples; well-calibrated and strong generalization.</a:t>
                      </a:r>
                      <a:endParaRPr lang="en-US" sz="2100"/>
                    </a:p>
                  </a:txBody>
                  <a:tcPr marL="108655" marR="108655" marT="54328" marB="54328"/>
                </a:tc>
                <a:extLst>
                  <a:ext uri="{0D108BD9-81ED-4DB2-BD59-A6C34878D82A}">
                    <a16:rowId xmlns:a16="http://schemas.microsoft.com/office/drawing/2014/main" val="2083849248"/>
                  </a:ext>
                </a:extLst>
              </a:tr>
              <a:tr h="1455983">
                <a:tc>
                  <a:txBody>
                    <a:bodyPr/>
                    <a:lstStyle/>
                    <a:p>
                      <a:r>
                        <a:rPr lang="en-US" sz="2100" b="1" i="0" u="none" strike="noStrike" kern="1200">
                          <a:solidFill>
                            <a:schemeClr val="tx1"/>
                          </a:solidFill>
                          <a:effectLst/>
                          <a:latin typeface="+mn-lt"/>
                          <a:ea typeface="+mn-ea"/>
                          <a:cs typeface="+mn-cs"/>
                        </a:rPr>
                        <a:t>Random Forest Classifier</a:t>
                      </a:r>
                      <a:endParaRPr lang="en-US" sz="2100"/>
                    </a:p>
                  </a:txBody>
                  <a:tcPr marL="108655" marR="108655" marT="54328" marB="54328"/>
                </a:tc>
                <a:tc>
                  <a:txBody>
                    <a:bodyPr/>
                    <a:lstStyle/>
                    <a:p>
                      <a:r>
                        <a:rPr lang="en-US" sz="2100" b="0" i="0" u="none" strike="noStrike" kern="1200" dirty="0">
                          <a:solidFill>
                            <a:schemeClr val="tx1"/>
                          </a:solidFill>
                          <a:effectLst/>
                          <a:latin typeface="+mn-lt"/>
                          <a:ea typeface="+mn-ea"/>
                          <a:cs typeface="+mn-cs"/>
                        </a:rPr>
                        <a:t>Ensemble of independent trees (bagging); robust, slightly higher recall, minor overfitting risk.</a:t>
                      </a:r>
                      <a:endParaRPr lang="en-US" sz="2100" dirty="0"/>
                    </a:p>
                  </a:txBody>
                  <a:tcPr marL="108655" marR="108655" marT="54328" marB="54328"/>
                </a:tc>
                <a:extLst>
                  <a:ext uri="{0D108BD9-81ED-4DB2-BD59-A6C34878D82A}">
                    <a16:rowId xmlns:a16="http://schemas.microsoft.com/office/drawing/2014/main" val="309487272"/>
                  </a:ext>
                </a:extLst>
              </a:tr>
            </a:tbl>
          </a:graphicData>
        </a:graphic>
      </p:graphicFrame>
    </p:spTree>
    <p:extLst>
      <p:ext uri="{BB962C8B-B14F-4D97-AF65-F5344CB8AC3E}">
        <p14:creationId xmlns:p14="http://schemas.microsoft.com/office/powerpoint/2010/main" val="131894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mparison of a comparison of a number and a true label&#10;&#10;AI-generated content may be incorrect.">
            <a:extLst>
              <a:ext uri="{FF2B5EF4-FFF2-40B4-BE49-F238E27FC236}">
                <a16:creationId xmlns:a16="http://schemas.microsoft.com/office/drawing/2014/main" id="{979885AB-5FFF-2CDC-F110-2B5F65765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141" y="1478797"/>
            <a:ext cx="8616576" cy="3712328"/>
          </a:xfrm>
          <a:prstGeom prst="rect">
            <a:avLst/>
          </a:prstGeom>
        </p:spPr>
      </p:pic>
      <p:sp>
        <p:nvSpPr>
          <p:cNvPr id="7" name="TextBox 6">
            <a:extLst>
              <a:ext uri="{FF2B5EF4-FFF2-40B4-BE49-F238E27FC236}">
                <a16:creationId xmlns:a16="http://schemas.microsoft.com/office/drawing/2014/main" id="{8432FE0F-51BA-BE26-2E03-E539866CA03E}"/>
              </a:ext>
            </a:extLst>
          </p:cNvPr>
          <p:cNvSpPr txBox="1"/>
          <p:nvPr/>
        </p:nvSpPr>
        <p:spPr>
          <a:xfrm>
            <a:off x="4726298" y="586304"/>
            <a:ext cx="2801921" cy="492443"/>
          </a:xfrm>
          <a:prstGeom prst="rect">
            <a:avLst/>
          </a:prstGeom>
          <a:noFill/>
        </p:spPr>
        <p:txBody>
          <a:bodyPr wrap="none" rtlCol="0">
            <a:spAutoFit/>
          </a:bodyPr>
          <a:lstStyle/>
          <a:p>
            <a:r>
              <a:rPr lang="en-US" sz="2600" b="1" u="sng" dirty="0"/>
              <a:t>TRAINING RESULTS</a:t>
            </a:r>
          </a:p>
        </p:txBody>
      </p:sp>
    </p:spTree>
    <p:extLst>
      <p:ext uri="{BB962C8B-B14F-4D97-AF65-F5344CB8AC3E}">
        <p14:creationId xmlns:p14="http://schemas.microsoft.com/office/powerpoint/2010/main" val="3000169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7876FD-9514-8B20-4453-6866799FCF57}"/>
              </a:ext>
            </a:extLst>
          </p:cNvPr>
          <p:cNvPicPr>
            <a:picLocks noChangeAspect="1"/>
          </p:cNvPicPr>
          <p:nvPr/>
        </p:nvPicPr>
        <p:blipFill>
          <a:blip r:embed="rId2"/>
          <a:stretch>
            <a:fillRect/>
          </a:stretch>
        </p:blipFill>
        <p:spPr>
          <a:xfrm>
            <a:off x="1126628" y="931306"/>
            <a:ext cx="6981786" cy="2065223"/>
          </a:xfrm>
          <a:prstGeom prst="rect">
            <a:avLst/>
          </a:prstGeom>
        </p:spPr>
      </p:pic>
      <p:sp>
        <p:nvSpPr>
          <p:cNvPr id="8" name="TextBox 7">
            <a:extLst>
              <a:ext uri="{FF2B5EF4-FFF2-40B4-BE49-F238E27FC236}">
                <a16:creationId xmlns:a16="http://schemas.microsoft.com/office/drawing/2014/main" id="{04A9FAE8-E49D-668B-7ED2-C9877DCA6FA2}"/>
              </a:ext>
            </a:extLst>
          </p:cNvPr>
          <p:cNvSpPr txBox="1"/>
          <p:nvPr/>
        </p:nvSpPr>
        <p:spPr>
          <a:xfrm>
            <a:off x="1047750" y="561975"/>
            <a:ext cx="6098272" cy="369332"/>
          </a:xfrm>
          <a:prstGeom prst="rect">
            <a:avLst/>
          </a:prstGeom>
          <a:noFill/>
        </p:spPr>
        <p:txBody>
          <a:bodyPr wrap="none" rtlCol="0">
            <a:spAutoFit/>
          </a:bodyPr>
          <a:lstStyle/>
          <a:p>
            <a:r>
              <a:rPr lang="en-US" dirty="0"/>
              <a:t>Taking 10 random samples from the dataset to test the model:-</a:t>
            </a:r>
          </a:p>
        </p:txBody>
      </p:sp>
      <p:pic>
        <p:nvPicPr>
          <p:cNvPr id="9" name="Picture 8" descr="A graph of different colored bars&#10;&#10;AI-generated content may be incorrect.">
            <a:extLst>
              <a:ext uri="{FF2B5EF4-FFF2-40B4-BE49-F238E27FC236}">
                <a16:creationId xmlns:a16="http://schemas.microsoft.com/office/drawing/2014/main" id="{BFF010BF-8B0D-9245-2E13-466546FADF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6665" y="3060478"/>
            <a:ext cx="6544631" cy="3235547"/>
          </a:xfrm>
          <a:prstGeom prst="rect">
            <a:avLst/>
          </a:prstGeom>
        </p:spPr>
      </p:pic>
      <p:pic>
        <p:nvPicPr>
          <p:cNvPr id="10" name="Picture 9">
            <a:extLst>
              <a:ext uri="{FF2B5EF4-FFF2-40B4-BE49-F238E27FC236}">
                <a16:creationId xmlns:a16="http://schemas.microsoft.com/office/drawing/2014/main" id="{011176D2-228C-907F-47D2-247FA2102C27}"/>
              </a:ext>
            </a:extLst>
          </p:cNvPr>
          <p:cNvPicPr>
            <a:picLocks noChangeAspect="1"/>
          </p:cNvPicPr>
          <p:nvPr/>
        </p:nvPicPr>
        <p:blipFill>
          <a:blip r:embed="rId4"/>
          <a:stretch>
            <a:fillRect/>
          </a:stretch>
        </p:blipFill>
        <p:spPr>
          <a:xfrm>
            <a:off x="8680450" y="931306"/>
            <a:ext cx="2463800" cy="2324100"/>
          </a:xfrm>
          <a:prstGeom prst="rect">
            <a:avLst/>
          </a:prstGeom>
        </p:spPr>
      </p:pic>
      <p:pic>
        <p:nvPicPr>
          <p:cNvPr id="11" name="Picture 10">
            <a:extLst>
              <a:ext uri="{FF2B5EF4-FFF2-40B4-BE49-F238E27FC236}">
                <a16:creationId xmlns:a16="http://schemas.microsoft.com/office/drawing/2014/main" id="{E084E12B-E066-6BDF-5B13-451F7A7806A8}"/>
              </a:ext>
            </a:extLst>
          </p:cNvPr>
          <p:cNvPicPr>
            <a:picLocks noChangeAspect="1"/>
          </p:cNvPicPr>
          <p:nvPr/>
        </p:nvPicPr>
        <p:blipFill>
          <a:blip r:embed="rId5"/>
          <a:stretch>
            <a:fillRect/>
          </a:stretch>
        </p:blipFill>
        <p:spPr>
          <a:xfrm>
            <a:off x="8554751" y="3516201"/>
            <a:ext cx="2463800" cy="2324100"/>
          </a:xfrm>
          <a:prstGeom prst="rect">
            <a:avLst/>
          </a:prstGeom>
        </p:spPr>
      </p:pic>
    </p:spTree>
    <p:extLst>
      <p:ext uri="{BB962C8B-B14F-4D97-AF65-F5344CB8AC3E}">
        <p14:creationId xmlns:p14="http://schemas.microsoft.com/office/powerpoint/2010/main" val="3515783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r>
              <a:rPr lang="en-US" dirty="0"/>
              <a:t>SPEAKING IMPACT</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r>
              <a:rPr lang="en-US" dirty="0"/>
              <a:t>Your ability to communicate effectively will leave a lasting impact on your audience</a:t>
            </a:r>
          </a:p>
          <a:p>
            <a:r>
              <a:rPr lang="en-US" dirty="0"/>
              <a:t>Effectively communicating involves not only delivering a message but also resonating with the experiences, values, and emotions of those listening </a:t>
            </a: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9A70-AA28-3B22-6EBC-30D5FD2EB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0DCAC-D5A7-2231-8D6B-70650F80AB07}"/>
              </a:ext>
            </a:extLst>
          </p:cNvPr>
          <p:cNvSpPr>
            <a:spLocks noGrp="1"/>
          </p:cNvSpPr>
          <p:nvPr>
            <p:ph type="title"/>
          </p:nvPr>
        </p:nvSpPr>
        <p:spPr>
          <a:xfrm>
            <a:off x="838200" y="365125"/>
            <a:ext cx="10515600" cy="1325563"/>
          </a:xfrm>
        </p:spPr>
        <p:txBody>
          <a:bodyPr vert="horz" lIns="91440" tIns="45720" rIns="91440" bIns="45720" rtlCol="0" anchor="ctr" anchorCtr="0">
            <a:normAutofit/>
          </a:bodyPr>
          <a:lstStyle/>
          <a:p>
            <a:r>
              <a:rPr lang="en-US" b="1" u="sng" kern="1200" cap="all" spc="300" baseline="0" dirty="0"/>
              <a:t>Task </a:t>
            </a:r>
            <a:r>
              <a:rPr lang="en-US" b="1" u="sng" dirty="0"/>
              <a:t>2</a:t>
            </a:r>
            <a:r>
              <a:rPr lang="en-US" b="1" u="sng" kern="1200" cap="all" spc="300" baseline="0" dirty="0"/>
              <a:t>-REGRESSIOn</a:t>
            </a:r>
          </a:p>
        </p:txBody>
      </p:sp>
      <p:sp>
        <p:nvSpPr>
          <p:cNvPr id="5" name="Rectangle 4">
            <a:extLst>
              <a:ext uri="{FF2B5EF4-FFF2-40B4-BE49-F238E27FC236}">
                <a16:creationId xmlns:a16="http://schemas.microsoft.com/office/drawing/2014/main" id="{E821E5DA-B78C-511B-B9D7-FC66AC54C859}"/>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7" name="Content Placeholder 3">
            <a:extLst>
              <a:ext uri="{FF2B5EF4-FFF2-40B4-BE49-F238E27FC236}">
                <a16:creationId xmlns:a16="http://schemas.microsoft.com/office/drawing/2014/main" id="{C051554C-BD6E-298B-A3D8-17054A1A13A0}"/>
              </a:ext>
            </a:extLst>
          </p:cNvPr>
          <p:cNvGraphicFramePr>
            <a:graphicFrameLocks noGrp="1"/>
          </p:cNvGraphicFramePr>
          <p:nvPr>
            <p:ph type="tbl" sz="quarter" idx="13"/>
            <p:extLst>
              <p:ext uri="{D42A27DB-BD31-4B8C-83A1-F6EECF244321}">
                <p14:modId xmlns:p14="http://schemas.microsoft.com/office/powerpoint/2010/main" val="1286377806"/>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763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365760"/>
            <a:ext cx="10515600" cy="1325563"/>
          </a:xfrm>
          <a:noFill/>
        </p:spPr>
        <p:txBody>
          <a:bodyPr anchor="ctr">
            <a:noAutofit/>
          </a:bodyPr>
          <a:lstStyle/>
          <a:p>
            <a:r>
              <a:rPr lang="en-US" dirty="0"/>
              <a:t>Dynamic delivery</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quarter" idx="15"/>
          </p:nvPr>
        </p:nvSpPr>
        <p:spPr>
          <a:xfrm>
            <a:off x="896074" y="2106591"/>
            <a:ext cx="2067045" cy="3633787"/>
          </a:xfrm>
          <a:noFill/>
        </p:spPr>
        <p:txBody>
          <a:bodyPr vert="horz" lIns="91440" tIns="45720" rIns="91440" bIns="45720" rtlCol="0" anchor="t">
            <a:normAutofit/>
          </a:bodyPr>
          <a:lstStyle/>
          <a:p>
            <a:r>
              <a:rPr lang="en-US" dirty="0"/>
              <a:t>Learn to infuse energy into your delivery to leave a lasting impression</a:t>
            </a:r>
          </a:p>
          <a:p>
            <a:r>
              <a:rPr lang="en-US" dirty="0"/>
              <a:t>One of the goals of effective communication is to motivate your audience</a:t>
            </a:r>
          </a:p>
        </p:txBody>
      </p:sp>
      <p:graphicFrame>
        <p:nvGraphicFramePr>
          <p:cNvPr id="3" name="Table Placeholder 2">
            <a:extLst>
              <a:ext uri="{FF2B5EF4-FFF2-40B4-BE49-F238E27FC236}">
                <a16:creationId xmlns:a16="http://schemas.microsoft.com/office/drawing/2014/main" id="{F01CF5D3-D3B1-1944-CFDF-D8EE11DE42AA}"/>
              </a:ext>
            </a:extLst>
          </p:cNvPr>
          <p:cNvGraphicFramePr>
            <a:graphicFrameLocks noGrp="1"/>
          </p:cNvGraphicFramePr>
          <p:nvPr>
            <p:ph type="tbl" sz="quarter" idx="13"/>
            <p:extLst>
              <p:ext uri="{D42A27DB-BD31-4B8C-83A1-F6EECF244321}">
                <p14:modId xmlns:p14="http://schemas.microsoft.com/office/powerpoint/2010/main" val="2834757309"/>
              </p:ext>
            </p:extLst>
          </p:nvPr>
        </p:nvGraphicFramePr>
        <p:xfrm>
          <a:off x="3484563" y="2106613"/>
          <a:ext cx="7921828" cy="4032333"/>
        </p:xfrm>
        <a:graphic>
          <a:graphicData uri="http://schemas.openxmlformats.org/drawingml/2006/table">
            <a:tbl>
              <a:tblPr firstRow="1" bandRow="1">
                <a:tableStyleId>{7E9639D4-E3E2-4D34-9284-5A2195B3D0D7}</a:tableStyleId>
              </a:tblPr>
              <a:tblGrid>
                <a:gridCol w="1980457">
                  <a:extLst>
                    <a:ext uri="{9D8B030D-6E8A-4147-A177-3AD203B41FA5}">
                      <a16:colId xmlns:a16="http://schemas.microsoft.com/office/drawing/2014/main" val="127040821"/>
                    </a:ext>
                  </a:extLst>
                </a:gridCol>
                <a:gridCol w="1980457">
                  <a:extLst>
                    <a:ext uri="{9D8B030D-6E8A-4147-A177-3AD203B41FA5}">
                      <a16:colId xmlns:a16="http://schemas.microsoft.com/office/drawing/2014/main" val="149845700"/>
                    </a:ext>
                  </a:extLst>
                </a:gridCol>
                <a:gridCol w="1980457">
                  <a:extLst>
                    <a:ext uri="{9D8B030D-6E8A-4147-A177-3AD203B41FA5}">
                      <a16:colId xmlns:a16="http://schemas.microsoft.com/office/drawing/2014/main" val="3119692462"/>
                    </a:ext>
                  </a:extLst>
                </a:gridCol>
                <a:gridCol w="1980457">
                  <a:extLst>
                    <a:ext uri="{9D8B030D-6E8A-4147-A177-3AD203B41FA5}">
                      <a16:colId xmlns:a16="http://schemas.microsoft.com/office/drawing/2014/main" val="3472639139"/>
                    </a:ext>
                  </a:extLst>
                </a:gridCol>
              </a:tblGrid>
              <a:tr h="612591">
                <a:tc>
                  <a:txBody>
                    <a:bodyPr/>
                    <a:lstStyle/>
                    <a:p>
                      <a:pPr algn="ctr"/>
                      <a:r>
                        <a:rPr lang="en-US" b="0" i="0" dirty="0">
                          <a:latin typeface="+mn-lt"/>
                          <a:cs typeface="Calibri" panose="020F0502020204030204" pitchFamily="34" charset="0"/>
                        </a:rPr>
                        <a:t>METRIC</a:t>
                      </a:r>
                    </a:p>
                  </a:txBody>
                  <a:tcPr anchor="ctr"/>
                </a:tc>
                <a:tc>
                  <a:txBody>
                    <a:bodyPr/>
                    <a:lstStyle/>
                    <a:p>
                      <a:pPr algn="ctr"/>
                      <a:r>
                        <a:rPr lang="en-US" b="0" i="0" dirty="0">
                          <a:latin typeface="+mn-lt"/>
                          <a:cs typeface="Calibri" panose="020F0502020204030204" pitchFamily="34" charset="0"/>
                        </a:rPr>
                        <a:t>MEASUREMENT</a:t>
                      </a:r>
                    </a:p>
                  </a:txBody>
                  <a:tcPr anchor="ctr"/>
                </a:tc>
                <a:tc>
                  <a:txBody>
                    <a:bodyPr/>
                    <a:lstStyle/>
                    <a:p>
                      <a:pPr algn="ctr"/>
                      <a:r>
                        <a:rPr lang="en-US" b="0" i="0" dirty="0">
                          <a:latin typeface="+mn-lt"/>
                          <a:cs typeface="Calibri" panose="020F0502020204030204" pitchFamily="34" charset="0"/>
                        </a:rPr>
                        <a:t>TARGET</a:t>
                      </a:r>
                    </a:p>
                  </a:txBody>
                  <a:tcPr anchor="ctr"/>
                </a:tc>
                <a:tc>
                  <a:txBody>
                    <a:bodyPr/>
                    <a:lstStyle/>
                    <a:p>
                      <a:pPr algn="ctr"/>
                      <a:r>
                        <a:rPr lang="en-US" b="0" i="0" dirty="0">
                          <a:latin typeface="+mn-lt"/>
                          <a:cs typeface="Calibri" panose="020F0502020204030204" pitchFamily="34" charset="0"/>
                        </a:rPr>
                        <a:t>ACTUAL</a:t>
                      </a:r>
                    </a:p>
                  </a:txBody>
                  <a:tcPr anchor="ctr"/>
                </a:tc>
                <a:extLst>
                  <a:ext uri="{0D108BD9-81ED-4DB2-BD59-A6C34878D82A}">
                    <a16:rowId xmlns:a16="http://schemas.microsoft.com/office/drawing/2014/main" val="3298013591"/>
                  </a:ext>
                </a:extLst>
              </a:tr>
              <a:tr h="612591">
                <a:tc>
                  <a:txBody>
                    <a:bodyPr/>
                    <a:lstStyle/>
                    <a:p>
                      <a:pPr algn="ctr"/>
                      <a:r>
                        <a:rPr lang="en-US" b="0" i="0" dirty="0">
                          <a:latin typeface="+mn-lt"/>
                          <a:cs typeface="Calibri" panose="020F0502020204030204" pitchFamily="34" charset="0"/>
                        </a:rPr>
                        <a:t>Audience attendance</a:t>
                      </a:r>
                    </a:p>
                  </a:txBody>
                  <a:tcPr anchor="ctr"/>
                </a:tc>
                <a:tc>
                  <a:txBody>
                    <a:bodyPr/>
                    <a:lstStyle/>
                    <a:p>
                      <a:pPr algn="ctr"/>
                      <a:r>
                        <a:rPr lang="en-US" b="0" i="0" dirty="0">
                          <a:latin typeface="+mn-lt"/>
                          <a:cs typeface="Calibri" panose="020F0502020204030204" pitchFamily="34" charset="0"/>
                        </a:rPr>
                        <a:t># of attendees</a:t>
                      </a:r>
                    </a:p>
                  </a:txBody>
                  <a:tcPr anchor="ctr"/>
                </a:tc>
                <a:tc>
                  <a:txBody>
                    <a:bodyPr/>
                    <a:lstStyle/>
                    <a:p>
                      <a:pPr algn="ctr"/>
                      <a:r>
                        <a:rPr lang="en-US" b="0" i="0" dirty="0">
                          <a:latin typeface="+mn-lt"/>
                          <a:cs typeface="Calibri" panose="020F0502020204030204" pitchFamily="34" charset="0"/>
                        </a:rPr>
                        <a:t>150</a:t>
                      </a:r>
                    </a:p>
                  </a:txBody>
                  <a:tcPr anchor="ctr"/>
                </a:tc>
                <a:tc>
                  <a:txBody>
                    <a:bodyPr/>
                    <a:lstStyle/>
                    <a:p>
                      <a:pPr algn="ctr"/>
                      <a:r>
                        <a:rPr lang="en-US" b="0" i="0">
                          <a:latin typeface="+mn-lt"/>
                          <a:cs typeface="Calibri" panose="020F0502020204030204" pitchFamily="34" charset="0"/>
                        </a:rPr>
                        <a:t>120</a:t>
                      </a:r>
                    </a:p>
                  </a:txBody>
                  <a:tcPr anchor="ctr"/>
                </a:tc>
                <a:extLst>
                  <a:ext uri="{0D108BD9-81ED-4DB2-BD59-A6C34878D82A}">
                    <a16:rowId xmlns:a16="http://schemas.microsoft.com/office/drawing/2014/main" val="3873867931"/>
                  </a:ext>
                </a:extLst>
              </a:tr>
              <a:tr h="612591">
                <a:tc>
                  <a:txBody>
                    <a:bodyPr/>
                    <a:lstStyle/>
                    <a:p>
                      <a:pPr algn="ctr"/>
                      <a:r>
                        <a:rPr lang="en-US" b="0" i="0" dirty="0">
                          <a:latin typeface="+mn-lt"/>
                          <a:cs typeface="Calibri" panose="020F0502020204030204" pitchFamily="34" charset="0"/>
                        </a:rPr>
                        <a:t>Engagement duration</a:t>
                      </a:r>
                    </a:p>
                  </a:txBody>
                  <a:tcPr anchor="ctr"/>
                </a:tc>
                <a:tc>
                  <a:txBody>
                    <a:bodyPr/>
                    <a:lstStyle/>
                    <a:p>
                      <a:pPr algn="ctr"/>
                      <a:r>
                        <a:rPr lang="en-US" b="0" i="0" dirty="0">
                          <a:latin typeface="+mn-lt"/>
                          <a:cs typeface="Calibri" panose="020F0502020204030204" pitchFamily="34" charset="0"/>
                        </a:rPr>
                        <a:t>Minutes</a:t>
                      </a:r>
                    </a:p>
                  </a:txBody>
                  <a:tcPr anchor="ctr"/>
                </a:tc>
                <a:tc>
                  <a:txBody>
                    <a:bodyPr/>
                    <a:lstStyle/>
                    <a:p>
                      <a:pPr algn="ctr"/>
                      <a:r>
                        <a:rPr lang="en-US" b="0" i="0" dirty="0">
                          <a:latin typeface="+mn-lt"/>
                          <a:cs typeface="Calibri" panose="020F0502020204030204" pitchFamily="34" charset="0"/>
                        </a:rPr>
                        <a:t>60</a:t>
                      </a:r>
                    </a:p>
                  </a:txBody>
                  <a:tcPr anchor="ctr"/>
                </a:tc>
                <a:tc>
                  <a:txBody>
                    <a:bodyPr/>
                    <a:lstStyle/>
                    <a:p>
                      <a:pPr algn="ctr"/>
                      <a:r>
                        <a:rPr lang="en-US" b="0" i="0">
                          <a:latin typeface="+mn-lt"/>
                          <a:cs typeface="Calibri" panose="020F0502020204030204" pitchFamily="34" charset="0"/>
                        </a:rPr>
                        <a:t>75</a:t>
                      </a:r>
                    </a:p>
                  </a:txBody>
                  <a:tcPr anchor="ctr"/>
                </a:tc>
                <a:extLst>
                  <a:ext uri="{0D108BD9-81ED-4DB2-BD59-A6C34878D82A}">
                    <a16:rowId xmlns:a16="http://schemas.microsoft.com/office/drawing/2014/main" val="85209771"/>
                  </a:ext>
                </a:extLst>
              </a:tr>
              <a:tr h="612591">
                <a:tc>
                  <a:txBody>
                    <a:bodyPr/>
                    <a:lstStyle/>
                    <a:p>
                      <a:pPr algn="ctr"/>
                      <a:r>
                        <a:rPr lang="en-US" b="0" i="0">
                          <a:latin typeface="+mn-lt"/>
                          <a:cs typeface="Calibri" panose="020F0502020204030204" pitchFamily="34" charset="0"/>
                        </a:rPr>
                        <a:t>Q&amp;A interaction</a:t>
                      </a:r>
                    </a:p>
                  </a:txBody>
                  <a:tcPr anchor="ctr"/>
                </a:tc>
                <a:tc>
                  <a:txBody>
                    <a:bodyPr/>
                    <a:lstStyle/>
                    <a:p>
                      <a:pPr algn="ctr"/>
                      <a:r>
                        <a:rPr lang="en-US" b="0" i="0">
                          <a:latin typeface="+mn-lt"/>
                          <a:cs typeface="Calibri" panose="020F0502020204030204" pitchFamily="34" charset="0"/>
                        </a:rPr>
                        <a:t># of questions</a:t>
                      </a:r>
                    </a:p>
                  </a:txBody>
                  <a:tcPr anchor="ctr"/>
                </a:tc>
                <a:tc>
                  <a:txBody>
                    <a:bodyPr/>
                    <a:lstStyle/>
                    <a:p>
                      <a:pPr algn="ctr"/>
                      <a:r>
                        <a:rPr lang="en-US" b="0" i="0">
                          <a:latin typeface="+mn-lt"/>
                          <a:cs typeface="Calibri" panose="020F0502020204030204" pitchFamily="34" charset="0"/>
                        </a:rPr>
                        <a:t>10</a:t>
                      </a:r>
                    </a:p>
                  </a:txBody>
                  <a:tcPr anchor="ctr"/>
                </a:tc>
                <a:tc>
                  <a:txBody>
                    <a:bodyPr/>
                    <a:lstStyle/>
                    <a:p>
                      <a:pPr algn="ctr"/>
                      <a:r>
                        <a:rPr lang="en-US" b="0" i="0">
                          <a:latin typeface="+mn-lt"/>
                          <a:cs typeface="Calibri" panose="020F0502020204030204" pitchFamily="34" charset="0"/>
                        </a:rPr>
                        <a:t>15</a:t>
                      </a:r>
                    </a:p>
                  </a:txBody>
                  <a:tcPr anchor="ctr"/>
                </a:tc>
                <a:extLst>
                  <a:ext uri="{0D108BD9-81ED-4DB2-BD59-A6C34878D82A}">
                    <a16:rowId xmlns:a16="http://schemas.microsoft.com/office/drawing/2014/main" val="4061031278"/>
                  </a:ext>
                </a:extLst>
              </a:tr>
              <a:tr h="612591">
                <a:tc>
                  <a:txBody>
                    <a:bodyPr/>
                    <a:lstStyle/>
                    <a:p>
                      <a:pPr algn="ctr"/>
                      <a:r>
                        <a:rPr lang="en-US" b="0" i="0">
                          <a:latin typeface="+mn-lt"/>
                          <a:cs typeface="Calibri" panose="020F0502020204030204" pitchFamily="34" charset="0"/>
                        </a:rPr>
                        <a:t>Positive feedback</a:t>
                      </a:r>
                    </a:p>
                  </a:txBody>
                  <a:tcPr anchor="ctr"/>
                </a:tc>
                <a:tc>
                  <a:txBody>
                    <a:bodyPr/>
                    <a:lstStyle/>
                    <a:p>
                      <a:pPr algn="ctr"/>
                      <a:r>
                        <a:rPr lang="en-US" b="0" i="0" dirty="0">
                          <a:latin typeface="+mn-lt"/>
                          <a:cs typeface="Calibri" panose="020F0502020204030204" pitchFamily="34" charset="0"/>
                        </a:rPr>
                        <a:t>Percentage (%)</a:t>
                      </a:r>
                    </a:p>
                  </a:txBody>
                  <a:tcPr anchor="ctr"/>
                </a:tc>
                <a:tc>
                  <a:txBody>
                    <a:bodyPr/>
                    <a:lstStyle/>
                    <a:p>
                      <a:pPr algn="ctr"/>
                      <a:r>
                        <a:rPr lang="en-US" b="0" i="0">
                          <a:latin typeface="+mn-lt"/>
                          <a:cs typeface="Calibri" panose="020F0502020204030204" pitchFamily="34" charset="0"/>
                        </a:rPr>
                        <a:t>90</a:t>
                      </a:r>
                    </a:p>
                  </a:txBody>
                  <a:tcPr anchor="ctr"/>
                </a:tc>
                <a:tc>
                  <a:txBody>
                    <a:bodyPr/>
                    <a:lstStyle/>
                    <a:p>
                      <a:pPr algn="ctr"/>
                      <a:r>
                        <a:rPr lang="en-US" b="0" i="0">
                          <a:latin typeface="+mn-lt"/>
                          <a:cs typeface="Calibri" panose="020F0502020204030204" pitchFamily="34" charset="0"/>
                        </a:rPr>
                        <a:t>95</a:t>
                      </a:r>
                    </a:p>
                  </a:txBody>
                  <a:tcPr anchor="ctr"/>
                </a:tc>
                <a:extLst>
                  <a:ext uri="{0D108BD9-81ED-4DB2-BD59-A6C34878D82A}">
                    <a16:rowId xmlns:a16="http://schemas.microsoft.com/office/drawing/2014/main" val="3591840781"/>
                  </a:ext>
                </a:extLst>
              </a:tr>
              <a:tr h="782030">
                <a:tc>
                  <a:txBody>
                    <a:bodyPr/>
                    <a:lstStyle/>
                    <a:p>
                      <a:pPr algn="ctr"/>
                      <a:r>
                        <a:rPr lang="en-US" b="0" i="0">
                          <a:latin typeface="+mn-lt"/>
                          <a:cs typeface="Calibri" panose="020F0502020204030204" pitchFamily="34" charset="0"/>
                        </a:rPr>
                        <a:t>Rate of information retention</a:t>
                      </a:r>
                    </a:p>
                  </a:txBody>
                  <a:tcPr anchor="ctr"/>
                </a:tc>
                <a:tc>
                  <a:txBody>
                    <a:bodyPr/>
                    <a:lstStyle/>
                    <a:p>
                      <a:pPr algn="ctr"/>
                      <a:r>
                        <a:rPr lang="en-US" b="0" i="0">
                          <a:latin typeface="+mn-lt"/>
                          <a:cs typeface="Calibri" panose="020F0502020204030204" pitchFamily="34" charset="0"/>
                        </a:rPr>
                        <a:t>Percentage (%)</a:t>
                      </a:r>
                    </a:p>
                  </a:txBody>
                  <a:tcPr anchor="ctr"/>
                </a:tc>
                <a:tc>
                  <a:txBody>
                    <a:bodyPr/>
                    <a:lstStyle/>
                    <a:p>
                      <a:pPr algn="ctr"/>
                      <a:r>
                        <a:rPr lang="en-US" b="0" i="0" dirty="0">
                          <a:latin typeface="+mn-lt"/>
                          <a:cs typeface="Calibri" panose="020F0502020204030204" pitchFamily="34" charset="0"/>
                        </a:rPr>
                        <a:t>80</a:t>
                      </a:r>
                    </a:p>
                  </a:txBody>
                  <a:tcPr anchor="ctr"/>
                </a:tc>
                <a:tc>
                  <a:txBody>
                    <a:bodyPr/>
                    <a:lstStyle/>
                    <a:p>
                      <a:pPr algn="ctr"/>
                      <a:r>
                        <a:rPr lang="en-US" b="0" i="0" dirty="0">
                          <a:latin typeface="+mn-lt"/>
                          <a:cs typeface="Calibri" panose="020F0502020204030204" pitchFamily="34" charset="0"/>
                        </a:rPr>
                        <a:t>85</a:t>
                      </a:r>
                    </a:p>
                  </a:txBody>
                  <a:tcPr anchor="ctr"/>
                </a:tc>
                <a:extLst>
                  <a:ext uri="{0D108BD9-81ED-4DB2-BD59-A6C34878D82A}">
                    <a16:rowId xmlns:a16="http://schemas.microsoft.com/office/drawing/2014/main" val="335389741"/>
                  </a:ext>
                </a:extLst>
              </a:tr>
            </a:tbl>
          </a:graphicData>
        </a:graphic>
      </p:graphicFrame>
    </p:spTree>
    <p:extLst>
      <p:ext uri="{BB962C8B-B14F-4D97-AF65-F5344CB8AC3E}">
        <p14:creationId xmlns:p14="http://schemas.microsoft.com/office/powerpoint/2010/main" val="4259977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B98F5-AF54-480A-F9E9-CC73AC70DE1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6041C0-97AC-0270-8DE6-9C84B50B96D9}"/>
              </a:ext>
            </a:extLst>
          </p:cNvPr>
          <p:cNvSpPr txBox="1"/>
          <p:nvPr/>
        </p:nvSpPr>
        <p:spPr>
          <a:xfrm>
            <a:off x="5242425" y="466344"/>
            <a:ext cx="6241651" cy="1710354"/>
          </a:xfrm>
          <a:prstGeom prst="rect">
            <a:avLst/>
          </a:prstGeom>
        </p:spPr>
        <p:txBody>
          <a:bodyPr vert="horz" lIns="91440" tIns="45720" rIns="91440" bIns="0" rtlCol="0" anchor="ctr" anchorCtr="0">
            <a:normAutofit/>
          </a:bodyPr>
          <a:lstStyle/>
          <a:p>
            <a:pPr>
              <a:lnSpc>
                <a:spcPct val="90000"/>
              </a:lnSpc>
              <a:spcBef>
                <a:spcPct val="0"/>
              </a:spcBef>
              <a:spcAft>
                <a:spcPts val="600"/>
              </a:spcAft>
            </a:pPr>
            <a:r>
              <a:rPr lang="en-US" sz="2700" b="1" kern="1200" cap="all" spc="300" baseline="0" dirty="0">
                <a:latin typeface="+mj-lt"/>
                <a:ea typeface="+mj-ea"/>
                <a:cs typeface="+mj-cs"/>
              </a:rPr>
              <a:t>🤖 Models Trained</a:t>
            </a:r>
          </a:p>
          <a:p>
            <a:pPr>
              <a:lnSpc>
                <a:spcPct val="90000"/>
              </a:lnSpc>
              <a:spcBef>
                <a:spcPct val="0"/>
              </a:spcBef>
              <a:spcAft>
                <a:spcPts val="600"/>
              </a:spcAft>
            </a:pPr>
            <a:endParaRPr lang="en-US" sz="2700" kern="1200" cap="all" spc="300" baseline="0" dirty="0">
              <a:latin typeface="+mj-lt"/>
              <a:ea typeface="+mj-ea"/>
              <a:cs typeface="+mj-cs"/>
            </a:endParaRPr>
          </a:p>
          <a:p>
            <a:pPr>
              <a:lnSpc>
                <a:spcPct val="90000"/>
              </a:lnSpc>
              <a:spcBef>
                <a:spcPct val="0"/>
              </a:spcBef>
              <a:spcAft>
                <a:spcPts val="600"/>
              </a:spcAft>
            </a:pPr>
            <a:r>
              <a:rPr lang="en-US" sz="2700" kern="1200" cap="all" spc="300" baseline="0" dirty="0">
                <a:latin typeface="+mj-lt"/>
                <a:ea typeface="+mj-ea"/>
                <a:cs typeface="+mj-cs"/>
              </a:rPr>
              <a:t>Two tree-based models were implemented and compared:</a:t>
            </a:r>
          </a:p>
        </p:txBody>
      </p:sp>
      <p:pic>
        <p:nvPicPr>
          <p:cNvPr id="7" name="Picture 6">
            <a:extLst>
              <a:ext uri="{FF2B5EF4-FFF2-40B4-BE49-F238E27FC236}">
                <a16:creationId xmlns:a16="http://schemas.microsoft.com/office/drawing/2014/main" id="{65ED7B06-C3CE-0237-7C84-E3F0D2D5374D}"/>
              </a:ext>
            </a:extLst>
          </p:cNvPr>
          <p:cNvPicPr>
            <a:picLocks noChangeAspect="1"/>
          </p:cNvPicPr>
          <p:nvPr/>
        </p:nvPicPr>
        <p:blipFill>
          <a:blip r:embed="rId2"/>
          <a:stretch>
            <a:fillRect/>
          </a:stretch>
        </p:blipFill>
        <p:spPr>
          <a:xfrm>
            <a:off x="95092" y="0"/>
            <a:ext cx="4097654" cy="6858000"/>
          </a:xfrm>
          <a:prstGeom prst="rect">
            <a:avLst/>
          </a:prstGeom>
          <a:noFill/>
        </p:spPr>
      </p:pic>
      <p:graphicFrame>
        <p:nvGraphicFramePr>
          <p:cNvPr id="6" name="Table 5">
            <a:extLst>
              <a:ext uri="{FF2B5EF4-FFF2-40B4-BE49-F238E27FC236}">
                <a16:creationId xmlns:a16="http://schemas.microsoft.com/office/drawing/2014/main" id="{187C9A2A-DF48-D0B3-2647-2508DB7060BE}"/>
              </a:ext>
            </a:extLst>
          </p:cNvPr>
          <p:cNvGraphicFramePr>
            <a:graphicFrameLocks noGrp="1"/>
          </p:cNvGraphicFramePr>
          <p:nvPr>
            <p:extLst>
              <p:ext uri="{D42A27DB-BD31-4B8C-83A1-F6EECF244321}">
                <p14:modId xmlns:p14="http://schemas.microsoft.com/office/powerpoint/2010/main" val="2667660995"/>
              </p:ext>
            </p:extLst>
          </p:nvPr>
        </p:nvGraphicFramePr>
        <p:xfrm>
          <a:off x="5242426" y="2328336"/>
          <a:ext cx="6241651" cy="3390050"/>
        </p:xfrm>
        <a:graphic>
          <a:graphicData uri="http://schemas.openxmlformats.org/drawingml/2006/table">
            <a:tbl>
              <a:tblPr firstRow="1" bandRow="1">
                <a:tableStyleId>{7E9639D4-E3E2-4D34-9284-5A2195B3D0D7}</a:tableStyleId>
              </a:tblPr>
              <a:tblGrid>
                <a:gridCol w="2743550">
                  <a:extLst>
                    <a:ext uri="{9D8B030D-6E8A-4147-A177-3AD203B41FA5}">
                      <a16:colId xmlns:a16="http://schemas.microsoft.com/office/drawing/2014/main" val="2101811378"/>
                    </a:ext>
                  </a:extLst>
                </a:gridCol>
                <a:gridCol w="3498101">
                  <a:extLst>
                    <a:ext uri="{9D8B030D-6E8A-4147-A177-3AD203B41FA5}">
                      <a16:colId xmlns:a16="http://schemas.microsoft.com/office/drawing/2014/main" val="782725877"/>
                    </a:ext>
                  </a:extLst>
                </a:gridCol>
              </a:tblGrid>
              <a:tr h="478084">
                <a:tc>
                  <a:txBody>
                    <a:bodyPr/>
                    <a:lstStyle/>
                    <a:p>
                      <a:r>
                        <a:rPr lang="en-US" sz="2100"/>
                        <a:t>Model</a:t>
                      </a:r>
                      <a:endParaRPr lang="en-US" sz="2100" dirty="0"/>
                    </a:p>
                  </a:txBody>
                  <a:tcPr marL="108655" marR="108655" marT="54328" marB="54328"/>
                </a:tc>
                <a:tc>
                  <a:txBody>
                    <a:bodyPr/>
                    <a:lstStyle/>
                    <a:p>
                      <a:r>
                        <a:rPr lang="en-US" sz="2100"/>
                        <a:t>Key Characteristics</a:t>
                      </a:r>
                    </a:p>
                  </a:txBody>
                  <a:tcPr marL="108655" marR="108655" marT="54328" marB="54328"/>
                </a:tc>
                <a:extLst>
                  <a:ext uri="{0D108BD9-81ED-4DB2-BD59-A6C34878D82A}">
                    <a16:rowId xmlns:a16="http://schemas.microsoft.com/office/drawing/2014/main" val="2846404977"/>
                  </a:ext>
                </a:extLst>
              </a:tr>
              <a:tr h="1455983">
                <a:tc>
                  <a:txBody>
                    <a:bodyPr/>
                    <a:lstStyle/>
                    <a:p>
                      <a:r>
                        <a:rPr lang="en-US" sz="1800" b="1" i="0" u="none" strike="noStrike" kern="1200" dirty="0">
                          <a:solidFill>
                            <a:schemeClr val="tx1"/>
                          </a:solidFill>
                          <a:effectLst/>
                          <a:latin typeface="+mn-lt"/>
                          <a:ea typeface="+mn-ea"/>
                          <a:cs typeface="+mn-cs"/>
                        </a:rPr>
                        <a:t>Random Forest Regressor</a:t>
                      </a:r>
                      <a:endParaRPr lang="en-US" sz="2100" b="1" dirty="0"/>
                    </a:p>
                  </a:txBody>
                  <a:tcPr marL="108655" marR="108655" marT="54328" marB="54328"/>
                </a:tc>
                <a:tc>
                  <a:txBody>
                    <a:bodyPr/>
                    <a:lstStyle/>
                    <a:p>
                      <a:r>
                        <a:rPr lang="en-US" sz="1800" b="0" i="0" u="none" strike="noStrike" kern="1200" dirty="0">
                          <a:solidFill>
                            <a:schemeClr val="tx1"/>
                          </a:solidFill>
                          <a:effectLst/>
                          <a:latin typeface="+mn-lt"/>
                          <a:ea typeface="+mn-ea"/>
                          <a:cs typeface="+mn-cs"/>
                        </a:rPr>
                        <a:t>Best performance, high stability, interpretable feature importances</a:t>
                      </a:r>
                      <a:endParaRPr lang="en-US" sz="2100" dirty="0"/>
                    </a:p>
                  </a:txBody>
                  <a:tcPr marL="108655" marR="108655" marT="54328" marB="54328"/>
                </a:tc>
                <a:extLst>
                  <a:ext uri="{0D108BD9-81ED-4DB2-BD59-A6C34878D82A}">
                    <a16:rowId xmlns:a16="http://schemas.microsoft.com/office/drawing/2014/main" val="2083849248"/>
                  </a:ext>
                </a:extLst>
              </a:tr>
              <a:tr h="1455983">
                <a:tc>
                  <a:txBody>
                    <a:bodyPr/>
                    <a:lstStyle/>
                    <a:p>
                      <a:r>
                        <a:rPr lang="en-US" sz="1800" b="1" i="0" u="none" strike="noStrike" kern="1200" dirty="0">
                          <a:solidFill>
                            <a:schemeClr val="tx1"/>
                          </a:solidFill>
                          <a:effectLst/>
                          <a:latin typeface="+mn-lt"/>
                          <a:ea typeface="+mn-ea"/>
                          <a:cs typeface="+mn-cs"/>
                        </a:rPr>
                        <a:t>Gradient Boosting Regressor</a:t>
                      </a:r>
                      <a:endParaRPr lang="en-US" sz="2100" b="1" dirty="0"/>
                    </a:p>
                  </a:txBody>
                  <a:tcPr marL="108655" marR="108655" marT="54328" marB="54328"/>
                </a:tc>
                <a:tc>
                  <a:txBody>
                    <a:bodyPr/>
                    <a:lstStyle/>
                    <a:p>
                      <a:r>
                        <a:rPr lang="en-US" sz="1800" b="0" i="0" u="none" strike="noStrike" kern="1200" dirty="0">
                          <a:solidFill>
                            <a:schemeClr val="tx1"/>
                          </a:solidFill>
                          <a:effectLst/>
                          <a:latin typeface="+mn-lt"/>
                          <a:ea typeface="+mn-ea"/>
                          <a:cs typeface="+mn-cs"/>
                        </a:rPr>
                        <a:t>Comparable accuracy with finer calibration potential</a:t>
                      </a:r>
                      <a:endParaRPr lang="en-US" sz="2100" dirty="0"/>
                    </a:p>
                  </a:txBody>
                  <a:tcPr marL="108655" marR="108655" marT="54328" marB="54328"/>
                </a:tc>
                <a:extLst>
                  <a:ext uri="{0D108BD9-81ED-4DB2-BD59-A6C34878D82A}">
                    <a16:rowId xmlns:a16="http://schemas.microsoft.com/office/drawing/2014/main" val="309487272"/>
                  </a:ext>
                </a:extLst>
              </a:tr>
            </a:tbl>
          </a:graphicData>
        </a:graphic>
      </p:graphicFrame>
    </p:spTree>
    <p:extLst>
      <p:ext uri="{BB962C8B-B14F-4D97-AF65-F5344CB8AC3E}">
        <p14:creationId xmlns:p14="http://schemas.microsoft.com/office/powerpoint/2010/main" val="1548493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3423-EB78-9AF4-6029-4BE572621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B524C1-DC75-7953-F97E-1FF49D434872}"/>
              </a:ext>
            </a:extLst>
          </p:cNvPr>
          <p:cNvSpPr>
            <a:spLocks noGrp="1"/>
          </p:cNvSpPr>
          <p:nvPr>
            <p:ph type="title"/>
          </p:nvPr>
        </p:nvSpPr>
        <p:spPr>
          <a:xfrm>
            <a:off x="838200" y="365760"/>
            <a:ext cx="10515600" cy="1325880"/>
          </a:xfrm>
        </p:spPr>
        <p:txBody>
          <a:bodyPr vert="horz" lIns="91440" tIns="45720" rIns="91440" bIns="45720" rtlCol="0" anchor="ctr" anchorCtr="0">
            <a:normAutofit/>
          </a:bodyPr>
          <a:lstStyle/>
          <a:p>
            <a:r>
              <a:rPr lang="en-US" kern="1200" cap="all" spc="300" baseline="0" dirty="0">
                <a:latin typeface="+mj-lt"/>
                <a:ea typeface="+mj-ea"/>
                <a:cs typeface="+mj-cs"/>
              </a:rPr>
              <a:t>Task 1-classification</a:t>
            </a:r>
          </a:p>
        </p:txBody>
      </p:sp>
      <p:sp>
        <p:nvSpPr>
          <p:cNvPr id="9" name="TextBox 8">
            <a:extLst>
              <a:ext uri="{FF2B5EF4-FFF2-40B4-BE49-F238E27FC236}">
                <a16:creationId xmlns:a16="http://schemas.microsoft.com/office/drawing/2014/main" id="{DB3E9C9C-969A-3FC5-F927-0A48D4794D1E}"/>
              </a:ext>
            </a:extLst>
          </p:cNvPr>
          <p:cNvSpPr txBox="1"/>
          <p:nvPr/>
        </p:nvSpPr>
        <p:spPr>
          <a:xfrm>
            <a:off x="6459795" y="2024780"/>
            <a:ext cx="4894006" cy="4137189"/>
          </a:xfrm>
          <a:prstGeom prst="rect">
            <a:avLst/>
          </a:prstGeom>
        </p:spPr>
        <p:txBody>
          <a:bodyPr vert="horz" lIns="91440" tIns="45720" rIns="91440" bIns="45720" rtlCol="0">
            <a:normAutofit lnSpcReduction="10000"/>
          </a:bodyPr>
          <a:lstStyle/>
          <a:p>
            <a:pPr>
              <a:lnSpc>
                <a:spcPct val="90000"/>
              </a:lnSpc>
              <a:spcBef>
                <a:spcPts val="1000"/>
              </a:spcBef>
              <a:buClr>
                <a:schemeClr val="accent2"/>
              </a:buClr>
              <a:buFont typeface="Wingdings" panose="05000000000000000000" pitchFamily="2" charset="2"/>
            </a:pPr>
            <a:r>
              <a:rPr lang="en-US" sz="1700" dirty="0"/>
              <a:t>🧩 Dataset Overview</a:t>
            </a:r>
          </a:p>
          <a:p>
            <a:pPr>
              <a:lnSpc>
                <a:spcPct val="90000"/>
              </a:lnSpc>
              <a:spcBef>
                <a:spcPts val="1000"/>
              </a:spcBef>
              <a:buClr>
                <a:schemeClr val="accent2"/>
              </a:buClr>
              <a:buFont typeface="Wingdings" panose="05000000000000000000" pitchFamily="2" charset="2"/>
            </a:pPr>
            <a:endParaRPr lang="en-US" sz="1700" dirty="0"/>
          </a:p>
          <a:p>
            <a:pPr marL="285750" indent="-285750">
              <a:lnSpc>
                <a:spcPct val="90000"/>
              </a:lnSpc>
              <a:spcBef>
                <a:spcPts val="1000"/>
              </a:spcBef>
              <a:buClr>
                <a:schemeClr val="accent2"/>
              </a:buClr>
              <a:buFont typeface="Arial" panose="020B0604020202020204" pitchFamily="34" charset="0"/>
              <a:buChar char="•"/>
            </a:pPr>
            <a:r>
              <a:rPr lang="en-US" sz="1700" dirty="0"/>
              <a:t>Data Source: NYC Open Data — DCWP Issued Licenses</a:t>
            </a:r>
          </a:p>
          <a:p>
            <a:pPr marL="285750" indent="-285750">
              <a:lnSpc>
                <a:spcPct val="90000"/>
              </a:lnSpc>
              <a:spcBef>
                <a:spcPts val="1000"/>
              </a:spcBef>
              <a:buClr>
                <a:schemeClr val="accent2"/>
              </a:buClr>
              <a:buFont typeface="Arial" panose="020B0604020202020204" pitchFamily="34" charset="0"/>
              <a:buChar char="•"/>
            </a:pPr>
            <a:r>
              <a:rPr lang="en-US" sz="1700" dirty="0"/>
              <a:t>Key Features Used:</a:t>
            </a:r>
          </a:p>
          <a:p>
            <a:pPr marL="285750" indent="-285750">
              <a:lnSpc>
                <a:spcPct val="90000"/>
              </a:lnSpc>
              <a:spcBef>
                <a:spcPts val="1000"/>
              </a:spcBef>
              <a:buClr>
                <a:schemeClr val="accent2"/>
              </a:buClr>
              <a:buFont typeface="Arial" panose="020B0604020202020204" pitchFamily="34" charset="0"/>
              <a:buChar char="•"/>
            </a:pPr>
            <a:r>
              <a:rPr lang="en-US" sz="1700" dirty="0"/>
              <a:t>Business Category → industry sector of the licensee</a:t>
            </a:r>
          </a:p>
          <a:p>
            <a:pPr marL="285750" indent="-285750">
              <a:lnSpc>
                <a:spcPct val="90000"/>
              </a:lnSpc>
              <a:spcBef>
                <a:spcPts val="1000"/>
              </a:spcBef>
              <a:buClr>
                <a:schemeClr val="accent2"/>
              </a:buClr>
              <a:buFont typeface="Arial" panose="020B0604020202020204" pitchFamily="34" charset="0"/>
              <a:buChar char="•"/>
            </a:pPr>
            <a:r>
              <a:rPr lang="en-US" sz="1700" dirty="0"/>
              <a:t>Borough → geographic region</a:t>
            </a:r>
          </a:p>
          <a:p>
            <a:pPr marL="285750" indent="-285750">
              <a:lnSpc>
                <a:spcPct val="90000"/>
              </a:lnSpc>
              <a:spcBef>
                <a:spcPts val="1000"/>
              </a:spcBef>
              <a:buClr>
                <a:schemeClr val="accent2"/>
              </a:buClr>
              <a:buFont typeface="Arial" panose="020B0604020202020204" pitchFamily="34" charset="0"/>
              <a:buChar char="•"/>
            </a:pPr>
            <a:r>
              <a:rPr lang="en-US" sz="1700" dirty="0" err="1"/>
              <a:t>License_Duration</a:t>
            </a:r>
            <a:r>
              <a:rPr lang="en-US" sz="1700" dirty="0"/>
              <a:t> → calculated from Initial Issuance Date to Expiration Date (in days)</a:t>
            </a:r>
          </a:p>
          <a:p>
            <a:pPr marL="285750" indent="-285750">
              <a:lnSpc>
                <a:spcPct val="90000"/>
              </a:lnSpc>
              <a:spcBef>
                <a:spcPts val="1000"/>
              </a:spcBef>
              <a:buClr>
                <a:schemeClr val="accent2"/>
              </a:buClr>
              <a:buFont typeface="Arial" panose="020B0604020202020204" pitchFamily="34" charset="0"/>
              <a:buChar char="•"/>
            </a:pPr>
            <a:r>
              <a:rPr lang="en-US" sz="1700" dirty="0"/>
              <a:t>Target Variable: Lapsed (1 = license not renewed)</a:t>
            </a:r>
          </a:p>
          <a:p>
            <a:pPr marL="285750" indent="-285750">
              <a:lnSpc>
                <a:spcPct val="90000"/>
              </a:lnSpc>
              <a:spcBef>
                <a:spcPts val="1000"/>
              </a:spcBef>
              <a:buClr>
                <a:schemeClr val="accent2"/>
              </a:buClr>
              <a:buFont typeface="Arial" panose="020B0604020202020204" pitchFamily="34" charset="0"/>
              <a:buChar char="•"/>
            </a:pPr>
            <a:r>
              <a:rPr lang="en-US" sz="1700" dirty="0"/>
              <a:t>Size: 56,000+ records after cleaning and transformation.</a:t>
            </a:r>
          </a:p>
        </p:txBody>
      </p:sp>
      <p:sp>
        <p:nvSpPr>
          <p:cNvPr id="5" name="Rectangle 4">
            <a:extLst>
              <a:ext uri="{FF2B5EF4-FFF2-40B4-BE49-F238E27FC236}">
                <a16:creationId xmlns:a16="http://schemas.microsoft.com/office/drawing/2014/main" id="{B55465E4-332C-7333-5395-CF994068DEE9}"/>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11" name="Content Placeholder 3">
            <a:extLst>
              <a:ext uri="{FF2B5EF4-FFF2-40B4-BE49-F238E27FC236}">
                <a16:creationId xmlns:a16="http://schemas.microsoft.com/office/drawing/2014/main" id="{8A59F72D-1BC3-2C27-299B-5E720BDA5A9F}"/>
              </a:ext>
            </a:extLst>
          </p:cNvPr>
          <p:cNvGraphicFramePr>
            <a:graphicFrameLocks noGrp="1"/>
          </p:cNvGraphicFramePr>
          <p:nvPr>
            <p:ph sz="quarter" idx="13"/>
          </p:nvPr>
        </p:nvGraphicFramePr>
        <p:xfrm>
          <a:off x="838199" y="2024781"/>
          <a:ext cx="5212079" cy="4137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6816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760"/>
            <a:ext cx="10515600" cy="1325563"/>
          </a:xfrm>
          <a:noFill/>
        </p:spPr>
        <p:txBody>
          <a:bodyPr anchor="ctr"/>
          <a:lstStyle/>
          <a:p>
            <a:r>
              <a:rPr lang="en-US" dirty="0"/>
              <a:t>FINAL TIPS &amp; TAKEAWAYS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xfrm>
            <a:off x="838200" y="1790329"/>
            <a:ext cx="5134335" cy="4113054"/>
          </a:xfrm>
          <a:noFill/>
        </p:spPr>
        <p:txBody>
          <a:bodyPr vert="horz" lIns="91440" tIns="45720" rIns="91440" bIns="45720" rtlCol="0" anchor="t">
            <a:normAutofit lnSpcReduction="10000"/>
          </a:bodyPr>
          <a:lstStyle/>
          <a:p>
            <a:r>
              <a:rPr lang="en-US" dirty="0"/>
              <a:t>Consistent rehearsal</a:t>
            </a:r>
          </a:p>
          <a:p>
            <a:pPr lvl="1"/>
            <a:r>
              <a:rPr lang="en-US" dirty="0"/>
              <a:t>Strengthen your familiarity</a:t>
            </a:r>
          </a:p>
          <a:p>
            <a:r>
              <a:rPr lang="en-US" dirty="0"/>
              <a:t>Refine delivery style</a:t>
            </a:r>
          </a:p>
          <a:p>
            <a:pPr lvl="1"/>
            <a:r>
              <a:rPr lang="en-US" dirty="0"/>
              <a:t>Pacing, tone, and emphasis</a:t>
            </a:r>
          </a:p>
          <a:p>
            <a:r>
              <a:rPr lang="en-US" dirty="0"/>
              <a:t>Timing and transitions</a:t>
            </a:r>
          </a:p>
          <a:p>
            <a:pPr lvl="1"/>
            <a:r>
              <a:rPr lang="en-US" dirty="0"/>
              <a:t>Aim for seamless, professional delivery</a:t>
            </a:r>
          </a:p>
          <a:p>
            <a:r>
              <a:rPr lang="en-US" dirty="0"/>
              <a:t>Practice audience</a:t>
            </a:r>
          </a:p>
          <a:p>
            <a:pPr lvl="1"/>
            <a:r>
              <a:rPr lang="en-US" dirty="0"/>
              <a:t>Enlist colleagues to listen &amp; provide feedback</a:t>
            </a:r>
          </a:p>
          <a:p>
            <a:pPr lvl="1"/>
            <a:endParaRPr lang="en-US" dirty="0"/>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sz="quarter" idx="16"/>
          </p:nvPr>
        </p:nvSpPr>
        <p:spPr>
          <a:xfrm>
            <a:off x="6219464" y="1790329"/>
            <a:ext cx="5134335" cy="4113054"/>
          </a:xfrm>
          <a:noFill/>
        </p:spPr>
        <p:txBody>
          <a:bodyPr>
            <a:normAutofit/>
          </a:bodyPr>
          <a:lstStyle/>
          <a:p>
            <a:r>
              <a:rPr lang="en-US" dirty="0"/>
              <a:t>Seek feedback</a:t>
            </a:r>
          </a:p>
          <a:p>
            <a:r>
              <a:rPr lang="en-US" dirty="0"/>
              <a:t>Reflect on performance</a:t>
            </a:r>
          </a:p>
          <a:p>
            <a:r>
              <a:rPr lang="en-US" dirty="0"/>
              <a:t>Explore new techniques</a:t>
            </a:r>
          </a:p>
          <a:p>
            <a:r>
              <a:rPr lang="en-US" dirty="0"/>
              <a:t>Set personal goals</a:t>
            </a:r>
          </a:p>
          <a:p>
            <a:r>
              <a:rPr lang="en-US" dirty="0"/>
              <a:t>Iterate and adapt</a:t>
            </a:r>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972-BD3A-3DCD-81F1-7AF161F58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FE33-53A6-E75A-9BA0-8B7B1BFDD51E}"/>
              </a:ext>
            </a:extLst>
          </p:cNvPr>
          <p:cNvSpPr>
            <a:spLocks noGrp="1"/>
          </p:cNvSpPr>
          <p:nvPr>
            <p:ph type="title"/>
          </p:nvPr>
        </p:nvSpPr>
        <p:spPr>
          <a:xfrm>
            <a:off x="838200" y="365125"/>
            <a:ext cx="10515600" cy="1325563"/>
          </a:xfrm>
          <a:noFill/>
        </p:spPr>
        <p:txBody>
          <a:bodyPr anchor="ctr"/>
          <a:lstStyle/>
          <a:p>
            <a:r>
              <a:rPr lang="en-US" dirty="0"/>
              <a:t>SPEAKING ENGAGEMENT METRICS</a:t>
            </a:r>
          </a:p>
        </p:txBody>
      </p:sp>
      <p:graphicFrame>
        <p:nvGraphicFramePr>
          <p:cNvPr id="12" name="Table Placeholder 3">
            <a:extLst>
              <a:ext uri="{FF2B5EF4-FFF2-40B4-BE49-F238E27FC236}">
                <a16:creationId xmlns:a16="http://schemas.microsoft.com/office/drawing/2014/main" id="{CB65501E-A327-D358-9D08-A3694677266E}"/>
              </a:ext>
            </a:extLst>
          </p:cNvPr>
          <p:cNvGraphicFramePr>
            <a:graphicFrameLocks noGrp="1"/>
          </p:cNvGraphicFramePr>
          <p:nvPr>
            <p:ph type="tbl" sz="quarter" idx="13"/>
            <p:extLst>
              <p:ext uri="{D42A27DB-BD31-4B8C-83A1-F6EECF244321}">
                <p14:modId xmlns:p14="http://schemas.microsoft.com/office/powerpoint/2010/main" val="2069353899"/>
              </p:ext>
            </p:extLst>
          </p:nvPr>
        </p:nvGraphicFramePr>
        <p:xfrm>
          <a:off x="612775" y="2108200"/>
          <a:ext cx="10972800" cy="3920196"/>
        </p:xfrm>
        <a:graphic>
          <a:graphicData uri="http://schemas.openxmlformats.org/drawingml/2006/table">
            <a:tbl>
              <a:tblPr firstRow="1" bandRow="1">
                <a:tableStyleId>{7E9639D4-E3E2-4D34-9284-5A2195B3D0D7}</a:tableStyleId>
              </a:tblPr>
              <a:tblGrid>
                <a:gridCol w="2743200">
                  <a:extLst>
                    <a:ext uri="{9D8B030D-6E8A-4147-A177-3AD203B41FA5}">
                      <a16:colId xmlns:a16="http://schemas.microsoft.com/office/drawing/2014/main" val="2382218087"/>
                    </a:ext>
                  </a:extLst>
                </a:gridCol>
                <a:gridCol w="2743200">
                  <a:extLst>
                    <a:ext uri="{9D8B030D-6E8A-4147-A177-3AD203B41FA5}">
                      <a16:colId xmlns:a16="http://schemas.microsoft.com/office/drawing/2014/main" val="3953468724"/>
                    </a:ext>
                  </a:extLst>
                </a:gridCol>
                <a:gridCol w="2743200">
                  <a:extLst>
                    <a:ext uri="{9D8B030D-6E8A-4147-A177-3AD203B41FA5}">
                      <a16:colId xmlns:a16="http://schemas.microsoft.com/office/drawing/2014/main" val="4277526474"/>
                    </a:ext>
                  </a:extLst>
                </a:gridCol>
                <a:gridCol w="2743200">
                  <a:extLst>
                    <a:ext uri="{9D8B030D-6E8A-4147-A177-3AD203B41FA5}">
                      <a16:colId xmlns:a16="http://schemas.microsoft.com/office/drawing/2014/main" val="2438884888"/>
                    </a:ext>
                  </a:extLst>
                </a:gridCol>
              </a:tblGrid>
              <a:tr h="653366">
                <a:tc>
                  <a:txBody>
                    <a:bodyPr/>
                    <a:lstStyle/>
                    <a:p>
                      <a:pPr algn="ctr"/>
                      <a:r>
                        <a:rPr lang="en-US" b="0" i="0" dirty="0">
                          <a:latin typeface="+mn-lt"/>
                          <a:cs typeface="Calibri" panose="020F0502020204030204" pitchFamily="34" charset="0"/>
                        </a:rPr>
                        <a:t>IMPACT FACTOR</a:t>
                      </a:r>
                    </a:p>
                  </a:txBody>
                  <a:tcPr anchor="ctr"/>
                </a:tc>
                <a:tc>
                  <a:txBody>
                    <a:bodyPr/>
                    <a:lstStyle/>
                    <a:p>
                      <a:pPr algn="ctr"/>
                      <a:r>
                        <a:rPr lang="en-US" b="0" i="0" dirty="0">
                          <a:latin typeface="+mn-lt"/>
                          <a:cs typeface="Calibri" panose="020F0502020204030204" pitchFamily="34" charset="0"/>
                        </a:rPr>
                        <a:t>MEASUREMENT</a:t>
                      </a:r>
                    </a:p>
                  </a:txBody>
                  <a:tcPr anchor="ctr"/>
                </a:tc>
                <a:tc>
                  <a:txBody>
                    <a:bodyPr/>
                    <a:lstStyle/>
                    <a:p>
                      <a:pPr algn="ctr"/>
                      <a:r>
                        <a:rPr lang="en-US" b="0" i="0" dirty="0">
                          <a:latin typeface="+mn-lt"/>
                          <a:cs typeface="Calibri" panose="020F0502020204030204" pitchFamily="34" charset="0"/>
                        </a:rPr>
                        <a:t>TARGET</a:t>
                      </a:r>
                    </a:p>
                  </a:txBody>
                  <a:tcPr anchor="ctr"/>
                </a:tc>
                <a:tc>
                  <a:txBody>
                    <a:bodyPr/>
                    <a:lstStyle/>
                    <a:p>
                      <a:pPr algn="ctr"/>
                      <a:r>
                        <a:rPr lang="en-US" b="0" i="0" dirty="0">
                          <a:latin typeface="+mn-lt"/>
                          <a:cs typeface="Calibri" panose="020F0502020204030204" pitchFamily="34" charset="0"/>
                        </a:rPr>
                        <a:t>ACHIEVED</a:t>
                      </a:r>
                    </a:p>
                  </a:txBody>
                  <a:tcPr anchor="ctr"/>
                </a:tc>
                <a:extLst>
                  <a:ext uri="{0D108BD9-81ED-4DB2-BD59-A6C34878D82A}">
                    <a16:rowId xmlns:a16="http://schemas.microsoft.com/office/drawing/2014/main" val="2857107962"/>
                  </a:ext>
                </a:extLst>
              </a:tr>
              <a:tr h="653366">
                <a:tc>
                  <a:txBody>
                    <a:bodyPr/>
                    <a:lstStyle/>
                    <a:p>
                      <a:pPr algn="ctr"/>
                      <a:r>
                        <a:rPr lang="en-US" b="0" i="0" dirty="0">
                          <a:latin typeface="+mn-lt"/>
                          <a:cs typeface="Calibri" panose="020F0502020204030204" pitchFamily="34" charset="0"/>
                        </a:rPr>
                        <a:t>Audience interaction</a:t>
                      </a:r>
                    </a:p>
                  </a:txBody>
                  <a:tcPr anchor="ctr"/>
                </a:tc>
                <a:tc>
                  <a:txBody>
                    <a:bodyPr/>
                    <a:lstStyle/>
                    <a:p>
                      <a:pPr algn="ctr"/>
                      <a:r>
                        <a:rPr lang="en-US" b="0" i="0" dirty="0">
                          <a:latin typeface="+mn-lt"/>
                          <a:cs typeface="Calibri" panose="020F0502020204030204" pitchFamily="34" charset="0"/>
                        </a:rPr>
                        <a:t>Percentage (%)</a:t>
                      </a:r>
                    </a:p>
                  </a:txBody>
                  <a:tcPr anchor="ctr"/>
                </a:tc>
                <a:tc>
                  <a:txBody>
                    <a:bodyPr/>
                    <a:lstStyle/>
                    <a:p>
                      <a:pPr algn="ctr"/>
                      <a:r>
                        <a:rPr lang="en-US" b="0" i="0" dirty="0">
                          <a:latin typeface="+mn-lt"/>
                          <a:cs typeface="Calibri" panose="020F0502020204030204" pitchFamily="34" charset="0"/>
                        </a:rPr>
                        <a:t>85</a:t>
                      </a:r>
                    </a:p>
                  </a:txBody>
                  <a:tcPr anchor="ctr"/>
                </a:tc>
                <a:tc>
                  <a:txBody>
                    <a:bodyPr/>
                    <a:lstStyle/>
                    <a:p>
                      <a:pPr algn="ctr"/>
                      <a:r>
                        <a:rPr lang="en-US" b="0" i="0">
                          <a:latin typeface="+mn-lt"/>
                          <a:cs typeface="Calibri" panose="020F0502020204030204" pitchFamily="34" charset="0"/>
                        </a:rPr>
                        <a:t>88</a:t>
                      </a:r>
                    </a:p>
                  </a:txBody>
                  <a:tcPr anchor="ctr"/>
                </a:tc>
                <a:extLst>
                  <a:ext uri="{0D108BD9-81ED-4DB2-BD59-A6C34878D82A}">
                    <a16:rowId xmlns:a16="http://schemas.microsoft.com/office/drawing/2014/main" val="1671386868"/>
                  </a:ext>
                </a:extLst>
              </a:tr>
              <a:tr h="653366">
                <a:tc>
                  <a:txBody>
                    <a:bodyPr/>
                    <a:lstStyle/>
                    <a:p>
                      <a:pPr algn="ctr"/>
                      <a:r>
                        <a:rPr lang="en-US" b="0" i="0" dirty="0">
                          <a:latin typeface="+mn-lt"/>
                          <a:cs typeface="Calibri" panose="020F0502020204030204" pitchFamily="34" charset="0"/>
                        </a:rPr>
                        <a:t>Knowledge retention</a:t>
                      </a:r>
                    </a:p>
                  </a:txBody>
                  <a:tcPr anchor="ctr"/>
                </a:tc>
                <a:tc>
                  <a:txBody>
                    <a:bodyPr/>
                    <a:lstStyle/>
                    <a:p>
                      <a:pPr algn="ctr"/>
                      <a:r>
                        <a:rPr lang="en-US" b="0" i="0">
                          <a:latin typeface="+mn-lt"/>
                          <a:cs typeface="Calibri" panose="020F0502020204030204" pitchFamily="34" charset="0"/>
                        </a:rPr>
                        <a:t>Percentage (%)</a:t>
                      </a:r>
                    </a:p>
                  </a:txBody>
                  <a:tcPr anchor="ctr"/>
                </a:tc>
                <a:tc>
                  <a:txBody>
                    <a:bodyPr/>
                    <a:lstStyle/>
                    <a:p>
                      <a:pPr algn="ctr"/>
                      <a:r>
                        <a:rPr lang="en-US" b="0" i="0">
                          <a:latin typeface="+mn-lt"/>
                          <a:cs typeface="Calibri" panose="020F0502020204030204" pitchFamily="34" charset="0"/>
                        </a:rPr>
                        <a:t>75</a:t>
                      </a:r>
                    </a:p>
                  </a:txBody>
                  <a:tcPr anchor="ctr"/>
                </a:tc>
                <a:tc>
                  <a:txBody>
                    <a:bodyPr/>
                    <a:lstStyle/>
                    <a:p>
                      <a:pPr algn="ctr"/>
                      <a:r>
                        <a:rPr lang="en-US" b="0" i="0">
                          <a:latin typeface="+mn-lt"/>
                          <a:cs typeface="Calibri" panose="020F0502020204030204" pitchFamily="34" charset="0"/>
                        </a:rPr>
                        <a:t>80</a:t>
                      </a:r>
                    </a:p>
                  </a:txBody>
                  <a:tcPr anchor="ctr"/>
                </a:tc>
                <a:extLst>
                  <a:ext uri="{0D108BD9-81ED-4DB2-BD59-A6C34878D82A}">
                    <a16:rowId xmlns:a16="http://schemas.microsoft.com/office/drawing/2014/main" val="380626418"/>
                  </a:ext>
                </a:extLst>
              </a:tr>
              <a:tr h="653366">
                <a:tc>
                  <a:txBody>
                    <a:bodyPr/>
                    <a:lstStyle/>
                    <a:p>
                      <a:pPr algn="ctr"/>
                      <a:r>
                        <a:rPr lang="en-US" b="0" i="0" dirty="0">
                          <a:latin typeface="+mn-lt"/>
                          <a:cs typeface="Calibri" panose="020F0502020204030204" pitchFamily="34" charset="0"/>
                        </a:rPr>
                        <a:t>Post-presentation surveys</a:t>
                      </a:r>
                    </a:p>
                  </a:txBody>
                  <a:tcPr anchor="ctr"/>
                </a:tc>
                <a:tc>
                  <a:txBody>
                    <a:bodyPr/>
                    <a:lstStyle/>
                    <a:p>
                      <a:pPr algn="ctr"/>
                      <a:r>
                        <a:rPr lang="en-US" b="0" i="0">
                          <a:latin typeface="+mn-lt"/>
                          <a:cs typeface="Calibri" panose="020F0502020204030204" pitchFamily="34" charset="0"/>
                        </a:rPr>
                        <a:t>Average rating</a:t>
                      </a:r>
                    </a:p>
                  </a:txBody>
                  <a:tcPr anchor="ctr"/>
                </a:tc>
                <a:tc>
                  <a:txBody>
                    <a:bodyPr/>
                    <a:lstStyle/>
                    <a:p>
                      <a:pPr algn="ctr"/>
                      <a:r>
                        <a:rPr lang="en-US" b="0" i="0">
                          <a:latin typeface="+mn-lt"/>
                          <a:cs typeface="Calibri" panose="020F0502020204030204" pitchFamily="34" charset="0"/>
                        </a:rPr>
                        <a:t>4.2</a:t>
                      </a:r>
                    </a:p>
                  </a:txBody>
                  <a:tcPr anchor="ctr"/>
                </a:tc>
                <a:tc>
                  <a:txBody>
                    <a:bodyPr/>
                    <a:lstStyle/>
                    <a:p>
                      <a:pPr algn="ctr"/>
                      <a:r>
                        <a:rPr lang="en-US" b="0" i="0">
                          <a:latin typeface="+mn-lt"/>
                          <a:cs typeface="Calibri" panose="020F0502020204030204" pitchFamily="34" charset="0"/>
                        </a:rPr>
                        <a:t>4.5</a:t>
                      </a:r>
                    </a:p>
                  </a:txBody>
                  <a:tcPr anchor="ctr"/>
                </a:tc>
                <a:extLst>
                  <a:ext uri="{0D108BD9-81ED-4DB2-BD59-A6C34878D82A}">
                    <a16:rowId xmlns:a16="http://schemas.microsoft.com/office/drawing/2014/main" val="2132482967"/>
                  </a:ext>
                </a:extLst>
              </a:tr>
              <a:tr h="653366">
                <a:tc>
                  <a:txBody>
                    <a:bodyPr/>
                    <a:lstStyle/>
                    <a:p>
                      <a:pPr algn="ctr"/>
                      <a:r>
                        <a:rPr lang="en-US" b="0" i="0" dirty="0">
                          <a:latin typeface="+mn-lt"/>
                          <a:cs typeface="Calibri" panose="020F0502020204030204" pitchFamily="34" charset="0"/>
                        </a:rPr>
                        <a:t>Referral rate</a:t>
                      </a:r>
                    </a:p>
                  </a:txBody>
                  <a:tcPr anchor="ctr"/>
                </a:tc>
                <a:tc>
                  <a:txBody>
                    <a:bodyPr/>
                    <a:lstStyle/>
                    <a:p>
                      <a:pPr algn="ctr"/>
                      <a:r>
                        <a:rPr lang="en-US" b="0" i="0">
                          <a:latin typeface="+mn-lt"/>
                          <a:cs typeface="Calibri" panose="020F0502020204030204" pitchFamily="34" charset="0"/>
                        </a:rPr>
                        <a:t>Percentage (%)</a:t>
                      </a:r>
                    </a:p>
                  </a:txBody>
                  <a:tcPr anchor="ctr"/>
                </a:tc>
                <a:tc>
                  <a:txBody>
                    <a:bodyPr/>
                    <a:lstStyle/>
                    <a:p>
                      <a:pPr algn="ctr"/>
                      <a:r>
                        <a:rPr lang="en-US" b="0" i="0">
                          <a:latin typeface="+mn-lt"/>
                          <a:cs typeface="Calibri" panose="020F0502020204030204" pitchFamily="34" charset="0"/>
                        </a:rPr>
                        <a:t>10</a:t>
                      </a:r>
                    </a:p>
                  </a:txBody>
                  <a:tcPr anchor="ctr"/>
                </a:tc>
                <a:tc>
                  <a:txBody>
                    <a:bodyPr/>
                    <a:lstStyle/>
                    <a:p>
                      <a:pPr algn="ctr"/>
                      <a:r>
                        <a:rPr lang="en-US" b="0" i="0">
                          <a:latin typeface="+mn-lt"/>
                          <a:cs typeface="Calibri" panose="020F0502020204030204" pitchFamily="34" charset="0"/>
                        </a:rPr>
                        <a:t>12</a:t>
                      </a:r>
                    </a:p>
                  </a:txBody>
                  <a:tcPr anchor="ctr"/>
                </a:tc>
                <a:extLst>
                  <a:ext uri="{0D108BD9-81ED-4DB2-BD59-A6C34878D82A}">
                    <a16:rowId xmlns:a16="http://schemas.microsoft.com/office/drawing/2014/main" val="3936251906"/>
                  </a:ext>
                </a:extLst>
              </a:tr>
              <a:tr h="653366">
                <a:tc>
                  <a:txBody>
                    <a:bodyPr/>
                    <a:lstStyle/>
                    <a:p>
                      <a:pPr algn="ctr"/>
                      <a:r>
                        <a:rPr lang="en-US" b="0" i="0" dirty="0">
                          <a:latin typeface="+mn-lt"/>
                          <a:cs typeface="Calibri" panose="020F0502020204030204" pitchFamily="34" charset="0"/>
                        </a:rPr>
                        <a:t>Collaboration opportunities</a:t>
                      </a:r>
                    </a:p>
                  </a:txBody>
                  <a:tcPr anchor="ctr"/>
                </a:tc>
                <a:tc>
                  <a:txBody>
                    <a:bodyPr/>
                    <a:lstStyle/>
                    <a:p>
                      <a:pPr algn="ctr"/>
                      <a:r>
                        <a:rPr lang="en-US" b="0" i="0" dirty="0">
                          <a:latin typeface="+mn-lt"/>
                          <a:cs typeface="Calibri" panose="020F0502020204030204" pitchFamily="34" charset="0"/>
                        </a:rPr>
                        <a:t># of opportunities</a:t>
                      </a:r>
                    </a:p>
                  </a:txBody>
                  <a:tcPr anchor="ctr"/>
                </a:tc>
                <a:tc>
                  <a:txBody>
                    <a:bodyPr/>
                    <a:lstStyle/>
                    <a:p>
                      <a:pPr algn="ctr"/>
                      <a:r>
                        <a:rPr lang="en-US" b="0" i="0" dirty="0">
                          <a:latin typeface="+mn-lt"/>
                          <a:cs typeface="Calibri" panose="020F0502020204030204" pitchFamily="34" charset="0"/>
                        </a:rPr>
                        <a:t>8</a:t>
                      </a:r>
                    </a:p>
                  </a:txBody>
                  <a:tcPr anchor="ctr"/>
                </a:tc>
                <a:tc>
                  <a:txBody>
                    <a:bodyPr/>
                    <a:lstStyle/>
                    <a:p>
                      <a:pPr algn="ctr"/>
                      <a:r>
                        <a:rPr lang="en-US" b="0" i="0" dirty="0">
                          <a:latin typeface="+mn-lt"/>
                          <a:cs typeface="Calibri" panose="020F0502020204030204" pitchFamily="34" charset="0"/>
                        </a:rPr>
                        <a:t>10</a:t>
                      </a: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4233691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r>
              <a:rPr lang="en-US" dirty="0"/>
              <a:t>Brita Tamm</a:t>
            </a:r>
          </a:p>
          <a:p>
            <a:r>
              <a:rPr lang="en-US" dirty="0"/>
              <a:t>502-555-0152</a:t>
            </a:r>
          </a:p>
          <a:p>
            <a:r>
              <a:rPr lang="en-US" dirty="0"/>
              <a:t>brita@firstupconsultants.com</a:t>
            </a:r>
          </a:p>
          <a:p>
            <a:r>
              <a:rPr lang="en-US" dirty="0"/>
              <a:t>www.firstupconsultants.com</a:t>
            </a:r>
          </a:p>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110</TotalTime>
  <Words>1067</Words>
  <Application>Microsoft Macintosh PowerPoint</Application>
  <PresentationFormat>Widescreen</PresentationFormat>
  <Paragraphs>180</Paragraphs>
  <Slides>26</Slides>
  <Notes>13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Calibri Light</vt:lpstr>
      <vt:lpstr>Wingdings</vt:lpstr>
      <vt:lpstr>Custom</vt:lpstr>
      <vt:lpstr>A Dual Analysis of NYC Business Licenses</vt:lpstr>
      <vt:lpstr>AGENDA</vt:lpstr>
      <vt:lpstr>Introduction</vt:lpstr>
      <vt:lpstr>PowerPoint Presentation</vt:lpstr>
      <vt:lpstr>Dataset Overview</vt:lpstr>
      <vt:lpstr>Data preprocessing &amp; cleaning Check the null value</vt:lpstr>
      <vt:lpstr>PowerPoint Presentation</vt:lpstr>
      <vt:lpstr>ONE HOT ENCODED COLUMNS</vt:lpstr>
      <vt:lpstr>PowerPoint Presentation</vt:lpstr>
      <vt:lpstr>Impute missing value with median and mode</vt:lpstr>
      <vt:lpstr>PowerPoint Presentation</vt:lpstr>
      <vt:lpstr>PowerPoint Presentation</vt:lpstr>
      <vt:lpstr>PowerPoint Presentation</vt:lpstr>
      <vt:lpstr>PowerPoint Presentation</vt:lpstr>
      <vt:lpstr>Task 1-classification</vt:lpstr>
      <vt:lpstr>PowerPoint Presentation</vt:lpstr>
      <vt:lpstr>PowerPoint Presentation</vt:lpstr>
      <vt:lpstr>PowerPoint Presentation</vt:lpstr>
      <vt:lpstr>SPEAKING IMPACT</vt:lpstr>
      <vt:lpstr>Task 2-REGRESSIOn</vt:lpstr>
      <vt:lpstr>Dynamic delivery</vt:lpstr>
      <vt:lpstr>PowerPoint Presentation</vt:lpstr>
      <vt:lpstr>Task 1-classification</vt:lpstr>
      <vt:lpstr>FINAL TIPS &amp; TAKEAWAYS</vt:lpstr>
      <vt:lpstr>SPEAKING ENGAGEMENT METRICS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Shergill, Mr. Sajan</dc:creator>
  <cp:lastModifiedBy>Shergill, Mr. Sajan</cp:lastModifiedBy>
  <cp:revision>13</cp:revision>
  <dcterms:created xsi:type="dcterms:W3CDTF">2025-11-04T00:58:13Z</dcterms:created>
  <dcterms:modified xsi:type="dcterms:W3CDTF">2025-11-04T02:49:30Z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