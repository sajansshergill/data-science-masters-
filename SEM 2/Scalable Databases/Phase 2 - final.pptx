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9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5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90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18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07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27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36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57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55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117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75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53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ABBC-4360-4C0B-FC0C-8EF0369F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600" dirty="0"/>
              <a:t>1) Create a new table in Hive with the format of your year table. Name it “sample” with your name</a:t>
            </a:r>
            <a:br>
              <a:rPr lang="en-US" sz="2600" dirty="0"/>
            </a:br>
            <a:r>
              <a:rPr lang="en-US" sz="2600" dirty="0"/>
              <a:t>(</a:t>
            </a:r>
            <a:r>
              <a:rPr lang="en-US" sz="2600" dirty="0" err="1"/>
              <a:t>yourname_sample</a:t>
            </a:r>
            <a:r>
              <a:rPr lang="en-US" sz="2600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C7CEE3-B127-46E5-A487-2B24DCDE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501" y="410166"/>
            <a:ext cx="4466007" cy="556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66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C1B7-4BC7-9DE6-B477-68102E1D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000" dirty="0"/>
              <a:t>2) Add a new column to the </a:t>
            </a:r>
            <a:r>
              <a:rPr lang="en-US" sz="3000" dirty="0" err="1"/>
              <a:t>yourname_sample</a:t>
            </a:r>
            <a:r>
              <a:rPr lang="en-US" sz="3000" dirty="0"/>
              <a:t> table and label it Delayed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58C646-D29F-5390-EC0E-E7F45AE46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179" y="212458"/>
            <a:ext cx="4872831" cy="57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7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664E7-0008-625C-C0C4-3C1B5C55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300" dirty="0"/>
              <a:t>3) Select a random sample of 30,000 records from all across your year table.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58FBB8-F2D6-FC8F-0B9A-F7D1F3CD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145" y="758258"/>
            <a:ext cx="6928279" cy="45207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30BD7F7-6431-64DF-D29E-5BF8D81C12FE}"/>
              </a:ext>
            </a:extLst>
          </p:cNvPr>
          <p:cNvSpPr txBox="1">
            <a:spLocks/>
          </p:cNvSpPr>
          <p:nvPr/>
        </p:nvSpPr>
        <p:spPr>
          <a:xfrm>
            <a:off x="659301" y="3494445"/>
            <a:ext cx="2823919" cy="1868760"/>
          </a:xfrm>
          <a:prstGeom prst="rect">
            <a:avLst/>
          </a:prstGeom>
        </p:spPr>
        <p:txBody>
          <a:bodyPr vert="horz" lIns="91440" tIns="45720" rIns="9144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300" dirty="0"/>
              <a:t>4) Load your 30,000 sample records into this table and check that all the records are loaded</a:t>
            </a:r>
          </a:p>
        </p:txBody>
      </p:sp>
    </p:spTree>
    <p:extLst>
      <p:ext uri="{BB962C8B-B14F-4D97-AF65-F5344CB8AC3E}">
        <p14:creationId xmlns:p14="http://schemas.microsoft.com/office/powerpoint/2010/main" val="219062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0835-2770-369F-6426-212A0C3DD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729" y="415047"/>
            <a:ext cx="10148542" cy="12596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5) Populate the Delayed column as follows</a:t>
            </a:r>
            <a:br>
              <a:rPr lang="en-US" sz="2000" dirty="0"/>
            </a:br>
            <a:r>
              <a:rPr lang="en-US" sz="2000" dirty="0"/>
              <a:t>a. if the record has a value of zero or less in the </a:t>
            </a:r>
            <a:r>
              <a:rPr lang="en-US" sz="2000" dirty="0" err="1"/>
              <a:t>ArrDelay</a:t>
            </a:r>
            <a:r>
              <a:rPr lang="en-US" sz="2000" dirty="0"/>
              <a:t> and </a:t>
            </a:r>
            <a:r>
              <a:rPr lang="en-US" sz="2000" dirty="0" err="1"/>
              <a:t>DepDelay</a:t>
            </a:r>
            <a:r>
              <a:rPr lang="en-US" sz="2000" dirty="0"/>
              <a:t> columns, put a “N” in the Delayed column b. otherwise, put a “Y” in the Delayed column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2DDA86D-D6BE-97B3-B9B5-B914C7C96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036458"/>
            <a:ext cx="9603274" cy="340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0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E937-543A-3179-75DF-8D3C0C33F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467" y="802298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400"/>
              <a:t>6) Extract your 30,000 sample records from Hive and download it to your local device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B4D7E7-4ADC-EE78-AB67-815075E603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80" r="31469" b="1"/>
          <a:stretch/>
        </p:blipFill>
        <p:spPr>
          <a:xfrm>
            <a:off x="7487086" y="385447"/>
            <a:ext cx="4305398" cy="2606315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AFD9760-442F-41F5-7D49-E712D1E335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40" r="29855" b="3"/>
          <a:stretch/>
        </p:blipFill>
        <p:spPr>
          <a:xfrm>
            <a:off x="7487086" y="3084169"/>
            <a:ext cx="4574268" cy="273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E9C999-CEED-EF40-B170-5B4B45B3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42" y="471098"/>
            <a:ext cx="10609406" cy="19096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EF87381-1B60-CB62-F02E-A240B26E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33" y="2868150"/>
            <a:ext cx="10083685" cy="18150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0955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EDA2-B06A-5136-67A1-1660DFB7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1400"/>
              <a:t>7) Combine your file with the other sample year files from your other team members. (120,000/150,000 depends</a:t>
            </a:r>
            <a:br>
              <a:rPr lang="en-US" sz="1400"/>
            </a:br>
            <a:r>
              <a:rPr lang="en-US" sz="1400"/>
              <a:t>on amount of group members records in total)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68686-7091-F381-6B37-482DE5A0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735" y="383059"/>
            <a:ext cx="7903704" cy="533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2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FC41-C8E7-7758-8DB0-0DCE40337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dATA overview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6187D2-A0BB-8E69-06F5-639AADF89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344" y="812507"/>
            <a:ext cx="7720486" cy="447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46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D6DC-F273-89C5-366B-D2148A6F7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695" y="1474969"/>
            <a:ext cx="302655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DATA OVERVIEW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443E135-7CC2-8B24-4B3C-14524DDF4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633" y="513843"/>
            <a:ext cx="3692411" cy="5145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B4BD64-02FC-7997-2F1A-F18FDBFD9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821" y="513843"/>
            <a:ext cx="3692411" cy="514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8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01CA-5823-CCB3-D435-D9CA50B72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467" y="802298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200"/>
              <a:t>tARGET VALUE COUNT AND CHECKING MISSING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AC5FC-1969-2F59-957E-77505C980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686" y="307049"/>
            <a:ext cx="2914511" cy="249190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3B509BE-708E-7700-8E54-EFA8C47E1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2007" y="2793672"/>
            <a:ext cx="5289882" cy="314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ED059C-C449-4DC9-4D3B-6619AB2F0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685" y="3709264"/>
            <a:ext cx="37465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E2FF-5803-48AF-AD1B-1050579C0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68" y="627271"/>
            <a:ext cx="302655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Handling the Missing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368AB-D46D-8DE6-9522-130FD97DF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922" y="371562"/>
            <a:ext cx="2948468" cy="51501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3E895D-4532-086B-176D-1E854C7A2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745" y="371562"/>
            <a:ext cx="5251596" cy="326911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D431401-81D5-8CCF-4316-65F9A7043D91}"/>
              </a:ext>
            </a:extLst>
          </p:cNvPr>
          <p:cNvSpPr txBox="1">
            <a:spLocks/>
          </p:cNvSpPr>
          <p:nvPr/>
        </p:nvSpPr>
        <p:spPr>
          <a:xfrm>
            <a:off x="481068" y="3640680"/>
            <a:ext cx="3026558" cy="1868760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72637-D640-0EC4-DE7A-DF7C2757732D}"/>
              </a:ext>
            </a:extLst>
          </p:cNvPr>
          <p:cNvSpPr txBox="1"/>
          <p:nvPr/>
        </p:nvSpPr>
        <p:spPr>
          <a:xfrm>
            <a:off x="7024442" y="3832482"/>
            <a:ext cx="507089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</a:rPr>
              <a:t>Removing columns that don’t add predictive value (like </a:t>
            </a:r>
            <a:r>
              <a:rPr lang="en-US" altLang="en-US" sz="1300" dirty="0" err="1">
                <a:latin typeface="Arial" panose="020B0604020202020204" pitchFamily="34" charset="0"/>
              </a:rPr>
              <a:t>TailNum</a:t>
            </a:r>
            <a:r>
              <a:rPr lang="en-US" altLang="en-US" sz="1300" dirty="0">
                <a:latin typeface="Arial" panose="020B0604020202020204" pitchFamily="34" charset="0"/>
              </a:rPr>
              <a:t>, which is just an aircraft ID, and </a:t>
            </a:r>
            <a:r>
              <a:rPr lang="en-US" altLang="en-US" sz="1300" dirty="0" err="1">
                <a:latin typeface="Arial" panose="020B0604020202020204" pitchFamily="34" charset="0"/>
              </a:rPr>
              <a:t>CancellationCode</a:t>
            </a:r>
            <a:r>
              <a:rPr lang="en-US" altLang="en-US" sz="1300" dirty="0">
                <a:latin typeface="Arial" panose="020B0604020202020204" pitchFamily="34" charset="0"/>
              </a:rPr>
              <a:t>, which is mostly null).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</a:rPr>
              <a:t>When a delay reason was missing, I assumed no delay occurred and filled those nulls with 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</a:rPr>
              <a:t>Converted all timing-related columns to numeric and filled any missing values with their column mean.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</a:rPr>
              <a:t>For </a:t>
            </a:r>
            <a:r>
              <a:rPr lang="en-US" altLang="en-US" sz="1300" dirty="0" err="1">
                <a:latin typeface="Arial" panose="020B0604020202020204" pitchFamily="34" charset="0"/>
              </a:rPr>
              <a:t>DayOfWeek</a:t>
            </a:r>
            <a:r>
              <a:rPr lang="en-US" altLang="en-US" sz="1300" dirty="0">
                <a:latin typeface="Arial" panose="020B0604020202020204" pitchFamily="34" charset="0"/>
              </a:rPr>
              <a:t>, I used the most frequent day (mode) to fill missing values. It made more sense for categorical info like this.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3939279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C533A-F3E6-264B-E8E1-2D99ADB2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467" y="802298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5400"/>
              <a:t>Label Encoding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09226A-A725-D35C-DF69-0B7C93792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23" y="68474"/>
            <a:ext cx="2773084" cy="327525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0CE7E9C-7443-72D7-C55F-DFEA090A5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5943" y="3514270"/>
            <a:ext cx="4481756" cy="222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092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4351-AA47-0FF6-66D8-57A01F42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Correlation Heatmap</a:t>
            </a:r>
          </a:p>
        </p:txBody>
      </p:sp>
      <p:pic>
        <p:nvPicPr>
          <p:cNvPr id="5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8A01CD7F-FF3B-685E-3E23-18034102C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729586"/>
            <a:ext cx="5314324" cy="459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719306-47D0-7CDA-A0B7-A7482A50C548}"/>
              </a:ext>
            </a:extLst>
          </p:cNvPr>
          <p:cNvSpPr txBox="1"/>
          <p:nvPr/>
        </p:nvSpPr>
        <p:spPr>
          <a:xfrm>
            <a:off x="898686" y="2039597"/>
            <a:ext cx="46196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DepDelay</a:t>
            </a:r>
            <a:r>
              <a:rPr lang="en-US" sz="1400" b="1" dirty="0"/>
              <a:t> and </a:t>
            </a:r>
            <a:r>
              <a:rPr lang="en-US" sz="1400" b="1" dirty="0" err="1"/>
              <a:t>ArrDelay</a:t>
            </a:r>
            <a:r>
              <a:rPr lang="en-US" sz="1400" b="1" dirty="0"/>
              <a:t> have a very strong correlation (~0.9),</a:t>
            </a:r>
            <a:r>
              <a:rPr lang="en-US" sz="1400" dirty="0"/>
              <a:t> which is expected — flights that depart late generally arrive late as well.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CRSDepTime</a:t>
            </a:r>
            <a:r>
              <a:rPr lang="en-US" sz="1400" b="1" dirty="0"/>
              <a:t> and </a:t>
            </a:r>
            <a:r>
              <a:rPr lang="en-US" sz="1400" b="1" dirty="0" err="1"/>
              <a:t>CRSArrTime</a:t>
            </a:r>
            <a:r>
              <a:rPr lang="en-US" sz="1400" b="1" dirty="0"/>
              <a:t> also show high correlation (~0.8),</a:t>
            </a:r>
            <a:r>
              <a:rPr lang="en-US" sz="1400" dirty="0"/>
              <a:t> indicating that scheduled departure and arrival times are closely planned together.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CRSElapsedTime</a:t>
            </a:r>
            <a:r>
              <a:rPr lang="en-US" sz="1400" b="1" dirty="0"/>
              <a:t> and Distance have an extremely strong correlation (~0.96),</a:t>
            </a:r>
            <a:r>
              <a:rPr lang="en-US" sz="1400" dirty="0"/>
              <a:t> meaning longer distances naturally lead to longer scheduled durations — including both may be redundant.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Features like Year, Month, </a:t>
            </a:r>
            <a:r>
              <a:rPr lang="en-US" sz="1400" b="1" dirty="0" err="1"/>
              <a:t>DayOfWeek</a:t>
            </a:r>
            <a:r>
              <a:rPr lang="en-US" sz="1400" b="1" dirty="0"/>
              <a:t>, Origin, and Dest show very low correlation,</a:t>
            </a:r>
            <a:r>
              <a:rPr lang="en-US" sz="1400" dirty="0"/>
              <a:t> suggesting they don’t have a strong linear relationship but may still be useful for non-linear models.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4455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42E8-1623-B89B-C1C5-AA5C583C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Monthly Flight Delay Trend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E0DAB7-B09D-CFBE-F9E0-2360BD9BE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5525" y="1934851"/>
            <a:ext cx="5775085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228D0E-4900-30E5-3DBC-17D08957047A}"/>
              </a:ext>
            </a:extLst>
          </p:cNvPr>
          <p:cNvSpPr txBox="1"/>
          <p:nvPr/>
        </p:nvSpPr>
        <p:spPr>
          <a:xfrm>
            <a:off x="7134447" y="2190307"/>
            <a:ext cx="46570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March (Month 3) shows the highest delay rate (~85%),</a:t>
            </a:r>
            <a:r>
              <a:rPr lang="en-US" sz="1400" dirty="0"/>
              <a:t> indicating a significant spike — possibly due to seasonal transitions or operational bottlenecks.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November (Month 11) has the lowest delay rate (~15%),</a:t>
            </a:r>
            <a:r>
              <a:rPr lang="en-US" sz="1400" dirty="0"/>
              <a:t> suggesting it was the most reliable month for on-time flights.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Most months between May and October maintain moderate delay rates (~45–55%),</a:t>
            </a:r>
            <a:r>
              <a:rPr lang="en-US" sz="1400" dirty="0"/>
              <a:t> reflecting stable operations with no extreme disruptions.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January, February, and December show above-average delays,</a:t>
            </a:r>
            <a:r>
              <a:rPr lang="en-US" sz="1400" dirty="0"/>
              <a:t> likely influenced by winter weather and holiday travel congestion.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875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96FA-AC82-39FA-4FAB-35B39A4C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467" y="802298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200"/>
              <a:t>Feature Engineering and Dropping Data Leakage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BC6F0-6394-D4EC-4B0F-68F7B701F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398" y="481108"/>
            <a:ext cx="3747228" cy="24919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A9FE1B-5B7B-2424-147B-610EC7016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397" y="3138582"/>
            <a:ext cx="3747228" cy="249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3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F653-0543-D4E3-CC0E-1A03A861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00" y="792933"/>
            <a:ext cx="5541503" cy="254143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400" dirty="0"/>
              <a:t>STEP-7 Train, validate and test the analytics model with the team’s combined sample data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1077C-C94C-7E78-1DA7-0E4DF8441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070" y="402256"/>
            <a:ext cx="3928564" cy="2612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09D351-A55E-99EC-4F46-F756B2561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792" y="3133646"/>
            <a:ext cx="4821916" cy="246848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A1C5F59-99D5-C4AC-FEEB-D098853BBDF5}"/>
              </a:ext>
            </a:extLst>
          </p:cNvPr>
          <p:cNvSpPr txBox="1">
            <a:spLocks/>
          </p:cNvSpPr>
          <p:nvPr/>
        </p:nvSpPr>
        <p:spPr>
          <a:xfrm>
            <a:off x="575796" y="3626028"/>
            <a:ext cx="5833912" cy="2468484"/>
          </a:xfrm>
          <a:prstGeom prst="rect">
            <a:avLst/>
          </a:prstGeom>
        </p:spPr>
        <p:txBody>
          <a:bodyPr vert="horz" lIns="91440" tIns="45720" rIns="9144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Split with Stratification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train_test_split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stratify=y to maintain the original class balance of the 'Delayed' column in both training and test sets — ensuring fair and unbiased model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Selection – LIGHTGBM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LGBMClassifier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its speed, ability to handle large datasets, and native support for categorical features. Trained the model on our engineered feature set with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binary_logloss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evaluation metric to accurately classify flight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38551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1F1C-4724-64BB-5ADF-85249EBE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Confusion Matrix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8FD8E4D-2AB4-54E3-A3A2-5AB4DA7B6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1579" y="2015732"/>
            <a:ext cx="4726867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C9147E-660E-D6BE-B7F8-AD5E933F260D}"/>
              </a:ext>
            </a:extLst>
          </p:cNvPr>
          <p:cNvSpPr txBox="1"/>
          <p:nvPr/>
        </p:nvSpPr>
        <p:spPr>
          <a:xfrm>
            <a:off x="6546921" y="2005867"/>
            <a:ext cx="4592096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Top-left (5,007):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Flights correctly predicted as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Not Delayed (True Negatives)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Bottom-right (4,105):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Flights correctly predicted as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Delayed (True Positives)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The model demonstrates strong performance in distinguishing between delayed and non-delayed flights, with relatively low misclassification.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Precision (Delayed = 1): 0.91 →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Of all flights predicted as delayed, 91% were actually delayed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Recall (Delayed = 1): 0.88 →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The model correctly identified 88% of actual delayed flights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F1-Score: 0.89 →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Indicates a balanced trade-off between precision and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Accuracy: 90.1% →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Overall, 90% of all flight predictions were correct</a:t>
            </a:r>
          </a:p>
        </p:txBody>
      </p:sp>
    </p:spTree>
    <p:extLst>
      <p:ext uri="{BB962C8B-B14F-4D97-AF65-F5344CB8AC3E}">
        <p14:creationId xmlns:p14="http://schemas.microsoft.com/office/powerpoint/2010/main" val="2721576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1AA7-4B5A-EFDA-CE12-27099F9E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FEATURE IMPORTANCE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A79C80E-DB44-F93F-9E46-685B1B533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4919" y="1589370"/>
            <a:ext cx="6039924" cy="359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695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6CE7-EA64-8D77-4BD7-E9309BDA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ROC and AUC Curve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17B0FA0-33E4-A5B8-D052-D2744271B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1000" y="2012811"/>
            <a:ext cx="5122216" cy="382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61BB35-9C9E-2FA2-E006-88A91E8E1A8C}"/>
              </a:ext>
            </a:extLst>
          </p:cNvPr>
          <p:cNvSpPr txBox="1"/>
          <p:nvPr/>
        </p:nvSpPr>
        <p:spPr>
          <a:xfrm>
            <a:off x="6613451" y="2012811"/>
            <a:ext cx="481654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The ROC curve evaluates the model's ability to distinguish between delayed and non-delayed flights across different thresholds.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red curve rises well above the diagonal (random guess line), indicating strong classification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AUC Score: 0.886 →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The model has an 88.6% chance of correctly ranking a randomly chosen delayed flight higher than a non-delayed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True Positive Rate (Y-axis):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Shows how well the model detects actual delays (Recall).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False Positive Rate (X-axis):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Shows how often the model incorrectly labels non-delayed flights as delayed.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Since the curve stays far above the diagonal,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the model performs significantly better than random guessing and is effective in separating the two classes.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996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FC8B-C192-7E40-1FE3-E06A3FA9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Learning curve</a:t>
            </a: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6FF870D-4904-07B7-E459-1967ACC0B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1579" y="2015732"/>
            <a:ext cx="5208471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D3EBD6-9EB6-4C6E-BA61-22DDB44242C8}"/>
              </a:ext>
            </a:extLst>
          </p:cNvPr>
          <p:cNvSpPr txBox="1"/>
          <p:nvPr/>
        </p:nvSpPr>
        <p:spPr>
          <a:xfrm>
            <a:off x="6911163" y="2147777"/>
            <a:ext cx="510362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 learning curve shows how log loss decreases over boosting rounds for both training and validation 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Both curves drop steadily, indicating consistent learning without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Train Loss and Validation Loss closely follow each other,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suggesting that the model generalizes well to unseen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Log Loss decreases from ~0.67 to ~0.44 across 100 iterations,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meaning the model becomes increasingly confident and accurate in its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 absence of divergence between the two curves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confirms the model is well-tuned and not overfitting, which strengthens its reliability on test data.</a:t>
            </a:r>
          </a:p>
          <a:p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78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7E40-E1B0-3E2A-0C0D-20050D51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1900" dirty="0"/>
              <a:t>Using the model chosen by the team, each member will work with ‘ten records’</a:t>
            </a:r>
            <a:br>
              <a:rPr lang="en-US" sz="1900" dirty="0"/>
            </a:br>
            <a:r>
              <a:rPr lang="en-US" sz="1900" dirty="0"/>
              <a:t> provided by the instructor to</a:t>
            </a:r>
            <a:br>
              <a:rPr lang="en-US" sz="1900" dirty="0"/>
            </a:br>
            <a:r>
              <a:rPr lang="en-US" sz="1900" dirty="0"/>
              <a:t>determine whether a flight is delayed or not and score it with a Y or N accordingly. (See example below)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84FA49D8-CE74-D1FA-DB12-2717D082C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1501" y="1825625"/>
            <a:ext cx="4288997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519E7A-AB8A-35F3-DA9F-409C6C3E1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9" y="355115"/>
            <a:ext cx="5425929" cy="264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8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2CC47-014B-6723-A6CC-7CE69E178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64" y="291463"/>
            <a:ext cx="11136498" cy="24517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AFF026-3EAD-9FEB-D877-1393538C5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453" y="2985228"/>
            <a:ext cx="8454081" cy="245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69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987</Words>
  <Application>Microsoft Macintosh PowerPoint</Application>
  <PresentationFormat>Widescreen</PresentationFormat>
  <Paragraphs>60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2013 - 2022 Theme</vt:lpstr>
      <vt:lpstr>1) Create a new table in Hive with the format of your year table. Name it “sample” with your name (yourname_sample)</vt:lpstr>
      <vt:lpstr>2) Add a new column to the yourname_sample table and label it Delayed</vt:lpstr>
      <vt:lpstr>3) Select a random sample of 30,000 records from all across your year table.</vt:lpstr>
      <vt:lpstr>5) Populate the Delayed column as follows a. if the record has a value of zero or less in the ArrDelay and DepDelay columns, put a “N” in the Delayed column b. otherwise, put a “Y” in the Delayed column</vt:lpstr>
      <vt:lpstr>6) Extract your 30,000 sample records from Hive and download it to your local device</vt:lpstr>
      <vt:lpstr>PowerPoint Presentation</vt:lpstr>
      <vt:lpstr>7) Combine your file with the other sample year files from your other team members. (120,000/150,000 depends on amount of group members records in total)</vt:lpstr>
      <vt:lpstr>dATA overview</vt:lpstr>
      <vt:lpstr>DATA OVERVIEW</vt:lpstr>
      <vt:lpstr>tARGET VALUE COUNT AND CHECKING MISSING VALUES</vt:lpstr>
      <vt:lpstr>Handling the Missing Values</vt:lpstr>
      <vt:lpstr>Label Encoding </vt:lpstr>
      <vt:lpstr>Correlation Heatmap</vt:lpstr>
      <vt:lpstr>Monthly Flight Delay Trend</vt:lpstr>
      <vt:lpstr>Feature Engineering and Dropping Data Leakage features</vt:lpstr>
      <vt:lpstr>STEP-7 Train, validate and test the analytics model with the team’s combined sample data </vt:lpstr>
      <vt:lpstr>Confusion Matrix</vt:lpstr>
      <vt:lpstr>FEATURE IMPORTANCE</vt:lpstr>
      <vt:lpstr>ROC and AUC Curve</vt:lpstr>
      <vt:lpstr>Learning curve</vt:lpstr>
      <vt:lpstr>Using the model chosen by the team, each member will work with ‘ten records’  provided by the instructor to determine whether a flight is delayed or not and score it with a Y or N accordingly. (See example below)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Shergill, Mr. Sajan</dc:creator>
  <cp:lastModifiedBy>Shergill, Mr. Sajan</cp:lastModifiedBy>
  <cp:revision>12</cp:revision>
  <dcterms:created xsi:type="dcterms:W3CDTF">2025-05-06T09:16:45Z</dcterms:created>
  <dcterms:modified xsi:type="dcterms:W3CDTF">2025-05-06T21:39:08Z</dcterms:modified>
</cp:coreProperties>
</file>