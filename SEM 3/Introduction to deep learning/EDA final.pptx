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6" r:id="rId9"/>
    <p:sldId id="265" r:id="rId10"/>
    <p:sldId id="267" r:id="rId11"/>
    <p:sldId id="270" r:id="rId12"/>
    <p:sldId id="264" r:id="rId13"/>
    <p:sldId id="268" r:id="rId14"/>
    <p:sldId id="271" r:id="rId15"/>
    <p:sldId id="275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5"/>
    <p:restoredTop sz="94625"/>
  </p:normalViewPr>
  <p:slideViewPr>
    <p:cSldViewPr snapToGrid="0">
      <p:cViewPr varScale="1">
        <p:scale>
          <a:sx n="132" d="100"/>
          <a:sy n="132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38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6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8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95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8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0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4E828AA-01BD-064D-9DB7-44C673070435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6B73A3-A42D-C247-B2CA-9A63EA627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1.nyc.gov/site/tlc/about/tlc-trip-record-data.pag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CB88-5EDB-CB2A-69B6-10D9E6500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Data Analysis of NYC Yellow Taxi Trip Records (2020)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D1AC8-7500-24EA-DEDB-F4C20DB78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Sajan Singh Shergill</a:t>
            </a:r>
          </a:p>
          <a:p>
            <a:r>
              <a:rPr lang="en-US" dirty="0"/>
              <a:t>Shah Jay </a:t>
            </a:r>
            <a:r>
              <a:rPr lang="en-US" dirty="0" err="1"/>
              <a:t>Sandipkumar</a:t>
            </a:r>
            <a:endParaRPr lang="en-US" dirty="0"/>
          </a:p>
          <a:p>
            <a:r>
              <a:rPr lang="en-US" dirty="0"/>
              <a:t>Dixit Ruturaj Makarand</a:t>
            </a:r>
          </a:p>
        </p:txBody>
      </p:sp>
    </p:spTree>
    <p:extLst>
      <p:ext uri="{BB962C8B-B14F-4D97-AF65-F5344CB8AC3E}">
        <p14:creationId xmlns:p14="http://schemas.microsoft.com/office/powerpoint/2010/main" val="94644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B899-4A3D-20CE-C461-ADD16E9D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88" y="1378159"/>
            <a:ext cx="7729728" cy="492066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u="sng" dirty="0"/>
              <a:t>Context &amp; Purpose:</a:t>
            </a:r>
          </a:p>
          <a:p>
            <a:r>
              <a:rPr lang="en-US" dirty="0"/>
              <a:t>The project focuses on Exploratory Data Analysis (EDA) of NYC Yellow Taxi Trip Records for 2020, using datasets from the New York City Taxi &amp; Limousine Commission (TLC).</a:t>
            </a:r>
          </a:p>
          <a:p>
            <a:r>
              <a:rPr lang="en-US" dirty="0"/>
              <a:t>We are expected to perform a comprehensive EDA to identify data issues, patterns, and correlations that impact ride-time predictions.</a:t>
            </a:r>
          </a:p>
          <a:p>
            <a:r>
              <a:rPr lang="en-US" dirty="0"/>
              <a:t>The analysis prepares data that can later be fed into a Deep Learning model for trip duration estimation.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Primary Objective:</a:t>
            </a:r>
          </a:p>
          <a:p>
            <a:r>
              <a:rPr lang="en-US" dirty="0"/>
              <a:t>To discover statistical relationships among variables and understand how factors such as pickup time, distance, and passenger count influence trip duration.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Tools &amp; Libraries:</a:t>
            </a:r>
          </a:p>
          <a:p>
            <a:r>
              <a:rPr lang="en-US" dirty="0"/>
              <a:t>Pandas / </a:t>
            </a:r>
            <a:r>
              <a:rPr lang="en-US" dirty="0" err="1"/>
              <a:t>Numpy</a:t>
            </a:r>
            <a:r>
              <a:rPr lang="en-US" dirty="0"/>
              <a:t> – Classic EDA and data manipulation</a:t>
            </a:r>
          </a:p>
          <a:p>
            <a:r>
              <a:rPr lang="en-US" dirty="0"/>
              <a:t>TensorFlow Data Validation (TFDV) – Statistical data profiling</a:t>
            </a:r>
          </a:p>
          <a:p>
            <a:r>
              <a:rPr lang="en-US" dirty="0"/>
              <a:t>Apache Beam &amp; </a:t>
            </a:r>
            <a:r>
              <a:rPr lang="en-US" dirty="0" err="1"/>
              <a:t>GraphViz</a:t>
            </a:r>
            <a:r>
              <a:rPr lang="en-US" dirty="0"/>
              <a:t> – Pipeline processing and graphical summaries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B0588B7-31D4-AB64-A5B2-40955EA30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235370"/>
              </p:ext>
            </p:extLst>
          </p:nvPr>
        </p:nvGraphicFramePr>
        <p:xfrm>
          <a:off x="8569142" y="2878371"/>
          <a:ext cx="3007870" cy="1920240"/>
        </p:xfrm>
        <a:graphic>
          <a:graphicData uri="http://schemas.openxmlformats.org/drawingml/2006/table">
            <a:tbl>
              <a:tblPr/>
              <a:tblGrid>
                <a:gridCol w="1503935">
                  <a:extLst>
                    <a:ext uri="{9D8B030D-6E8A-4147-A177-3AD203B41FA5}">
                      <a16:colId xmlns:a16="http://schemas.microsoft.com/office/drawing/2014/main" val="220364010"/>
                    </a:ext>
                  </a:extLst>
                </a:gridCol>
                <a:gridCol w="1503935">
                  <a:extLst>
                    <a:ext uri="{9D8B030D-6E8A-4147-A177-3AD203B41FA5}">
                      <a16:colId xmlns:a16="http://schemas.microsoft.com/office/drawing/2014/main" val="631939260"/>
                    </a:ext>
                  </a:extLst>
                </a:gridCol>
              </a:tblGrid>
              <a:tr h="593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Dataset 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Purpose in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446312"/>
                  </a:ext>
                </a:extLst>
              </a:tr>
              <a:tr h="253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March 2020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Training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782529"/>
                  </a:ext>
                </a:extLst>
              </a:tr>
              <a:tr h="253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May 2020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Evaluation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349727"/>
                  </a:ext>
                </a:extLst>
              </a:tr>
            </a:tbl>
          </a:graphicData>
        </a:graphic>
      </p:graphicFrame>
      <p:sp>
        <p:nvSpPr>
          <p:cNvPr id="28" name="Title 27">
            <a:extLst>
              <a:ext uri="{FF2B5EF4-FFF2-40B4-BE49-F238E27FC236}">
                <a16:creationId xmlns:a16="http://schemas.microsoft.com/office/drawing/2014/main" id="{F88775A6-0128-99E3-5309-0CE7D2F1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343" y="360196"/>
            <a:ext cx="9345877" cy="70329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Project Overview: understanding the </a:t>
            </a:r>
            <a:r>
              <a:rPr lang="en-US" sz="2400" dirty="0" err="1"/>
              <a:t>nyc</a:t>
            </a:r>
            <a:r>
              <a:rPr lang="en-US" sz="2400" dirty="0"/>
              <a:t> taxi trip data</a:t>
            </a:r>
          </a:p>
        </p:txBody>
      </p:sp>
    </p:spTree>
    <p:extLst>
      <p:ext uri="{BB962C8B-B14F-4D97-AF65-F5344CB8AC3E}">
        <p14:creationId xmlns:p14="http://schemas.microsoft.com/office/powerpoint/2010/main" val="251972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6023-67E3-3A61-BD3F-6E7FF733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8731"/>
            <a:ext cx="7729728" cy="1188720"/>
          </a:xfrm>
        </p:spPr>
        <p:txBody>
          <a:bodyPr/>
          <a:lstStyle/>
          <a:p>
            <a:r>
              <a:rPr lang="en-US" dirty="0"/>
              <a:t>DATASET DESCRIPTION &amp;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6B0D70-E093-B3F8-102E-BE0391ED29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301" y="1635769"/>
            <a:ext cx="82472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Dataset Source: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NYC Taxi &amp; Limousine Commission (TLC) — Yellow Cab Trip Records for 2020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2"/>
              </a:rPr>
              <a:t>https://www1.nyc.gov/site/tlc/about/tlc-trip-record-data.page</a:t>
            </a: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u="sng" dirty="0">
              <a:solidFill>
                <a:srgbClr val="FF0000"/>
              </a:solidFill>
            </a:endParaRPr>
          </a:p>
          <a:p>
            <a:pPr marL="0" indent="0">
              <a:buClrTx/>
              <a:buNone/>
            </a:pPr>
            <a:r>
              <a:rPr lang="en-US" dirty="0"/>
              <a:t>Files Used for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343BEE-812D-08C0-F0F1-73D7D8477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0738"/>
              </p:ext>
            </p:extLst>
          </p:nvPr>
        </p:nvGraphicFramePr>
        <p:xfrm>
          <a:off x="571301" y="3222798"/>
          <a:ext cx="7731126" cy="1737360"/>
        </p:xfrm>
        <a:graphic>
          <a:graphicData uri="http://schemas.openxmlformats.org/drawingml/2006/table">
            <a:tbl>
              <a:tblPr/>
              <a:tblGrid>
                <a:gridCol w="2577042">
                  <a:extLst>
                    <a:ext uri="{9D8B030D-6E8A-4147-A177-3AD203B41FA5}">
                      <a16:colId xmlns:a16="http://schemas.microsoft.com/office/drawing/2014/main" val="316461131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26531516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202059586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41332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January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i="1" dirty="0"/>
                        <a:t>(Optional Baseline – Pre-COVID)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Parquet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3799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March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Training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Parquet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072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May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Evaluation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Parquet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4968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680C350-DA86-4CE4-EDF5-4A6508EDCE34}"/>
              </a:ext>
            </a:extLst>
          </p:cNvPr>
          <p:cNvSpPr txBox="1"/>
          <p:nvPr/>
        </p:nvSpPr>
        <p:spPr>
          <a:xfrm>
            <a:off x="8521089" y="2611027"/>
            <a:ext cx="35549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Columns: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pickup_datetime</a:t>
            </a:r>
            <a:r>
              <a:rPr lang="en-US" dirty="0"/>
              <a:t>, </a:t>
            </a:r>
            <a:r>
              <a:rPr lang="en-US" dirty="0" err="1"/>
              <a:t>dropoff_datetime</a:t>
            </a:r>
            <a:r>
              <a:rPr lang="en-US" dirty="0">
                <a:sym typeface="Wingdings" pitchFamily="2" charset="2"/>
              </a:rPr>
              <a:t> -&gt;&gt; time-based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passenger_count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trip_distance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fair_amount</a:t>
            </a:r>
            <a:endParaRPr lang="en-US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Pickup_longitude</a:t>
            </a:r>
            <a:r>
              <a:rPr lang="en-US" dirty="0"/>
              <a:t>, </a:t>
            </a:r>
            <a:r>
              <a:rPr lang="en-US" dirty="0" err="1"/>
              <a:t>pickup_latitude</a:t>
            </a:r>
            <a:r>
              <a:rPr lang="en-US" dirty="0"/>
              <a:t>, </a:t>
            </a:r>
            <a:r>
              <a:rPr lang="en-US" dirty="0" err="1"/>
              <a:t>dropoff_longitude</a:t>
            </a:r>
            <a:r>
              <a:rPr lang="en-US" dirty="0"/>
              <a:t>, </a:t>
            </a:r>
            <a:r>
              <a:rPr lang="en-US" dirty="0" err="1"/>
              <a:t>dropoff_latitude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Payment_type</a:t>
            </a:r>
            <a:r>
              <a:rPr lang="en-US" dirty="0"/>
              <a:t>, </a:t>
            </a:r>
            <a:r>
              <a:rPr lang="en-US" dirty="0" err="1"/>
              <a:t>RateCodeID</a:t>
            </a:r>
            <a:r>
              <a:rPr lang="en-US" dirty="0"/>
              <a:t>, </a:t>
            </a:r>
            <a:r>
              <a:rPr lang="en-US" dirty="0" err="1"/>
              <a:t>VendorID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7B33-BAC9-9909-6E46-345B4EAAFD3A}"/>
              </a:ext>
            </a:extLst>
          </p:cNvPr>
          <p:cNvSpPr txBox="1"/>
          <p:nvPr/>
        </p:nvSpPr>
        <p:spPr>
          <a:xfrm>
            <a:off x="455922" y="5312739"/>
            <a:ext cx="784650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Target Variable (Analytical Focus) = </a:t>
            </a:r>
            <a:r>
              <a:rPr lang="en-US" dirty="0" err="1"/>
              <a:t>Dropoff_datetime</a:t>
            </a:r>
            <a:r>
              <a:rPr lang="en-US" dirty="0"/>
              <a:t> – </a:t>
            </a:r>
            <a:r>
              <a:rPr lang="en-US" dirty="0" err="1"/>
              <a:t>pickup_datetime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4465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AF601-3A01-3D13-B182-F7465E7B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6242719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 Preparation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28F9F-DBBD-139E-55B3-6502C91DA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638044"/>
            <a:ext cx="6242715" cy="34156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Data Loading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Dataset imported from the TLC Parquet files using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“</a:t>
            </a:r>
            <a:r>
              <a:rPr lang="en-US" sz="1400" dirty="0" err="1">
                <a:solidFill>
                  <a:schemeClr val="bg1"/>
                </a:solidFill>
              </a:rPr>
              <a:t>pandas.read_parquet</a:t>
            </a:r>
            <a:r>
              <a:rPr lang="en-US" sz="1400" dirty="0">
                <a:solidFill>
                  <a:schemeClr val="bg1"/>
                </a:solidFill>
              </a:rPr>
              <a:t>('yellow_tripdata_2020-03.parquet', engine='</a:t>
            </a:r>
            <a:r>
              <a:rPr lang="en-US" sz="1400" dirty="0" err="1">
                <a:solidFill>
                  <a:schemeClr val="bg1"/>
                </a:solidFill>
              </a:rPr>
              <a:t>fastparquet</a:t>
            </a:r>
            <a:r>
              <a:rPr lang="en-US" sz="1400" dirty="0">
                <a:solidFill>
                  <a:schemeClr val="bg1"/>
                </a:solidFill>
              </a:rPr>
              <a:t>’)”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Verified schema (17 columns) and data types for consistency.</a:t>
            </a: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Handling Missing &amp; Invalid Values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Used </a:t>
            </a:r>
            <a:r>
              <a:rPr lang="en-US" sz="1400" dirty="0" err="1">
                <a:solidFill>
                  <a:schemeClr val="bg1"/>
                </a:solidFill>
              </a:rPr>
              <a:t>df.isnull</a:t>
            </a:r>
            <a:r>
              <a:rPr lang="en-US" sz="1400" dirty="0">
                <a:solidFill>
                  <a:schemeClr val="bg1"/>
                </a:solidFill>
              </a:rPr>
              <a:t>().sum() to identify null entries in </a:t>
            </a:r>
            <a:r>
              <a:rPr lang="en-US" sz="1400" dirty="0" err="1">
                <a:solidFill>
                  <a:schemeClr val="bg1"/>
                </a:solidFill>
              </a:rPr>
              <a:t>pickup_datetime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dropoff_datetime</a:t>
            </a:r>
            <a:r>
              <a:rPr lang="en-US" sz="1400" dirty="0">
                <a:solidFill>
                  <a:schemeClr val="bg1"/>
                </a:solidFill>
              </a:rPr>
              <a:t>, and </a:t>
            </a:r>
            <a:r>
              <a:rPr lang="en-US" sz="1400" dirty="0" err="1">
                <a:solidFill>
                  <a:schemeClr val="bg1"/>
                </a:solidFill>
              </a:rPr>
              <a:t>RatecodeID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Dropped records missing timestamps (critical to compute trip duration).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Imputed categorical fields (</a:t>
            </a:r>
            <a:r>
              <a:rPr lang="en-US" sz="1400" dirty="0" err="1">
                <a:solidFill>
                  <a:schemeClr val="bg1"/>
                </a:solidFill>
              </a:rPr>
              <a:t>RatecodeID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payment_type</a:t>
            </a:r>
            <a:r>
              <a:rPr lang="en-US" sz="1400" dirty="0">
                <a:solidFill>
                  <a:schemeClr val="bg1"/>
                </a:solidFill>
              </a:rPr>
              <a:t>) using mode imputation.</a:t>
            </a: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33F921-A071-A3C9-D92B-F2F026BB3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90" y="643467"/>
            <a:ext cx="4106871" cy="3288453"/>
          </a:xfrm>
          <a:prstGeom prst="rect">
            <a:avLst/>
          </a:prstGeom>
        </p:spPr>
      </p:pic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F48E0CE-B929-E2D4-F3CB-F853CE902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321" y="4345855"/>
            <a:ext cx="5086640" cy="111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0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6E8D-F841-62E8-450A-4384878E0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479894"/>
            <a:ext cx="5925312" cy="526013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Outlier Detection &amp; Treatment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Removed trips with:</a:t>
            </a:r>
          </a:p>
          <a:p>
            <a:pPr marL="342900" indent="-342900">
              <a:lnSpc>
                <a:spcPct val="90000"/>
              </a:lnSpc>
              <a:buAutoNum type="arabicParenR"/>
            </a:pPr>
            <a:r>
              <a:rPr lang="en-US" sz="1600" dirty="0" err="1"/>
              <a:t>trip_distance</a:t>
            </a:r>
            <a:r>
              <a:rPr lang="en-US" sz="1600" dirty="0"/>
              <a:t> &lt;= 0 or &gt; 50miles</a:t>
            </a:r>
          </a:p>
          <a:p>
            <a:pPr marL="342900" indent="-342900">
              <a:lnSpc>
                <a:spcPct val="90000"/>
              </a:lnSpc>
              <a:buAutoNum type="arabicParenR"/>
            </a:pPr>
            <a:r>
              <a:rPr lang="en-US" sz="1600" dirty="0" err="1"/>
              <a:t>Fare_amount</a:t>
            </a:r>
            <a:r>
              <a:rPr lang="en-US" sz="1600" dirty="0"/>
              <a:t> &lt;= 0 or &gt; 200USD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Eliminated inconsistent or duplicate entries based on trip identifiers.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These filters ensured only realistic travel records remained for analysis.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Feature Transformation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Converted datetime fields to datetime64 format.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Derived target feature </a:t>
            </a:r>
            <a:r>
              <a:rPr lang="en-US" sz="1600" dirty="0" err="1"/>
              <a:t>trip_duration</a:t>
            </a:r>
            <a:r>
              <a:rPr lang="en-US" sz="1600" dirty="0"/>
              <a:t> = (</a:t>
            </a:r>
            <a:r>
              <a:rPr lang="en-US" sz="1600" dirty="0" err="1"/>
              <a:t>dropoff</a:t>
            </a:r>
            <a:r>
              <a:rPr lang="en-US" sz="1600" dirty="0"/>
              <a:t> – pickup).</a:t>
            </a:r>
            <a:r>
              <a:rPr lang="en-US" sz="1600" dirty="0" err="1"/>
              <a:t>total_seconds</a:t>
            </a:r>
            <a:r>
              <a:rPr lang="en-US" sz="1600" dirty="0"/>
              <a:t>()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Encoded categorical variables (</a:t>
            </a:r>
            <a:r>
              <a:rPr lang="en-US" sz="1600" dirty="0" err="1"/>
              <a:t>VendorID</a:t>
            </a:r>
            <a:r>
              <a:rPr lang="en-US" sz="1600" dirty="0"/>
              <a:t>, </a:t>
            </a:r>
            <a:r>
              <a:rPr lang="en-US" sz="1600" dirty="0" err="1"/>
              <a:t>payment_type</a:t>
            </a:r>
            <a:r>
              <a:rPr lang="en-US" sz="1600" dirty="0"/>
              <a:t>) as numerical labels.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Ensured all model-ready features are </a:t>
            </a:r>
            <a:r>
              <a:rPr lang="en-US" sz="1600" b="1" dirty="0"/>
              <a:t>numeric</a:t>
            </a:r>
            <a:r>
              <a:rPr lang="en-US" sz="1600" dirty="0"/>
              <a:t> and </a:t>
            </a:r>
            <a:r>
              <a:rPr lang="en-US" sz="1600" b="1" dirty="0"/>
              <a:t>standardized</a:t>
            </a:r>
            <a:r>
              <a:rPr lang="en-US" sz="1600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BC0364-4B58-4841-A227-00A6A59E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29A1F4-D02D-48E4-9331-6870B23B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6A8CF3-711E-4C63-9DD5-53A2696C0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303A4-F32C-ED98-4E9F-EB3A9831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9" r="4" b="4"/>
          <a:stretch>
            <a:fillRect/>
          </a:stretch>
        </p:blipFill>
        <p:spPr>
          <a:xfrm>
            <a:off x="8340435" y="822036"/>
            <a:ext cx="3026664" cy="234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791BFD-BCF2-3E90-DC54-6A393E88E7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0" r="4" b="7624"/>
          <a:stretch>
            <a:fillRect/>
          </a:stretch>
        </p:blipFill>
        <p:spPr>
          <a:xfrm>
            <a:off x="8340435" y="3255097"/>
            <a:ext cx="3026664" cy="23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3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CA84-D6EE-B8D3-0E9D-C8436BA04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611" y="350953"/>
            <a:ext cx="10516676" cy="3078047"/>
          </a:xfrm>
        </p:spPr>
        <p:txBody>
          <a:bodyPr>
            <a:normAutofit/>
          </a:bodyPr>
          <a:lstStyle/>
          <a:p>
            <a:r>
              <a:rPr lang="en-US" b="1" dirty="0"/>
              <a:t>Quality Verification (TFDV)</a:t>
            </a:r>
          </a:p>
          <a:p>
            <a:r>
              <a:rPr lang="en-US" dirty="0"/>
              <a:t>Employed TensorFlow Data Validation to generate statistical summaries.</a:t>
            </a:r>
          </a:p>
          <a:p>
            <a:r>
              <a:rPr lang="en-US" dirty="0"/>
              <a:t>Validated schema and confirmed absence of missing or extreme anomalies post-cleaning.</a:t>
            </a:r>
          </a:p>
          <a:p>
            <a:endParaRPr lang="en-US" dirty="0"/>
          </a:p>
          <a:p>
            <a:r>
              <a:rPr lang="en-US" b="1" dirty="0"/>
              <a:t>Outcome</a:t>
            </a:r>
          </a:p>
          <a:p>
            <a:r>
              <a:rPr lang="en-US" dirty="0"/>
              <a:t>Dataset reduced ~ 12% after cleaning, retaining high-quality, reliable records.</a:t>
            </a:r>
          </a:p>
          <a:p>
            <a:r>
              <a:rPr lang="en-US" dirty="0"/>
              <a:t>Established a consistent, numeric dataset foundation for exploratory analysis and correlation </a:t>
            </a:r>
            <a:r>
              <a:rPr lang="en-US" dirty="0" err="1"/>
              <a:t>modelingh</a:t>
            </a:r>
            <a:r>
              <a:rPr lang="en-US" dirty="0"/>
              <a:t> in subsequent phases.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4D54DC-9CC2-0991-9A65-788492835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12" y="3699122"/>
            <a:ext cx="7121200" cy="268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4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B42B03-94EF-3131-68DC-BAC2D47A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52203"/>
            <a:ext cx="7772400" cy="575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8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7094AA-400E-60BF-E042-96B5B56A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64" y="963967"/>
            <a:ext cx="10567658" cy="335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1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E15ACA-4698-2B19-F545-468617A59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4" r="35459"/>
          <a:stretch>
            <a:fillRect/>
          </a:stretch>
        </p:blipFill>
        <p:spPr>
          <a:xfrm>
            <a:off x="6096000" y="452363"/>
            <a:ext cx="5728548" cy="6214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D5288B-7AE2-AD86-C052-C9974BC3D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66" r="15539" b="1"/>
          <a:stretch>
            <a:fillRect/>
          </a:stretch>
        </p:blipFill>
        <p:spPr>
          <a:xfrm>
            <a:off x="367453" y="191104"/>
            <a:ext cx="5728547" cy="621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58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91C55F-4212-67D1-C325-5956527D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688" y="0"/>
            <a:ext cx="4992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6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1C3228-B8FD-F117-E695-7A5D445F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171" y="1028244"/>
            <a:ext cx="9740513" cy="459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4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991071-1B7B-C7AE-F94A-DA082FC9C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737"/>
            <a:ext cx="7772400" cy="67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63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4C341-6437-3B11-1CEB-F9835FFC5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289"/>
            <a:ext cx="7772400" cy="3549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019C2C-81F3-C9FD-9C8E-937FF941B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912392"/>
            <a:ext cx="7772400" cy="28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35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83C2A1-B0AF-CB94-0A7F-BA41BDF9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en-US" dirty="0"/>
              <a:t>March vs May 2020 Comparison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CA8E34-E437-288A-7CB6-0128ABC8F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01983"/>
          </a:xfrm>
        </p:spPr>
        <p:txBody>
          <a:bodyPr/>
          <a:lstStyle/>
          <a:p>
            <a:r>
              <a:rPr lang="en-US" dirty="0"/>
              <a:t>March recorded ~3 million trips, while May had only ~0.35 million — a steep decline reflecting the pandemic’s early effect on NYC mobility.</a:t>
            </a:r>
          </a:p>
          <a:p>
            <a:r>
              <a:rPr lang="en-US" dirty="0"/>
              <a:t>Despite longer average distances (8.33 mi vs 2.89 mi), May trips took *less time* on average (13.5 min vs 15.6 min), showing faster traffic flow under reduced city congestion.</a:t>
            </a:r>
          </a:p>
          <a:p>
            <a:r>
              <a:rPr lang="en-US" dirty="0"/>
              <a:t>This shift highlights that post-March, ride behavior transitioned toward longer but faster essential trips — a defining characteristic of the new pandemic-era transportation pattern.</a:t>
            </a:r>
          </a:p>
        </p:txBody>
      </p:sp>
    </p:spTree>
    <p:extLst>
      <p:ext uri="{BB962C8B-B14F-4D97-AF65-F5344CB8AC3E}">
        <p14:creationId xmlns:p14="http://schemas.microsoft.com/office/powerpoint/2010/main" val="4061295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12E765-6E22-D27C-5C00-1F1887A55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28" y="834948"/>
            <a:ext cx="11063744" cy="471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5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A9126-9B95-DD5E-41CA-49E5C3F18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34" y="1129775"/>
            <a:ext cx="9206962" cy="453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6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BE3257-9E52-B0E3-684C-B5A0DF21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3" y="2049131"/>
            <a:ext cx="11851633" cy="20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42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2052-7DA9-DA1C-CADC-02CD6737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15433"/>
            <a:ext cx="7729728" cy="11887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857090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471</TotalTime>
  <Words>652</Words>
  <Application>Microsoft Macintosh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Gill Sans MT</vt:lpstr>
      <vt:lpstr>Wingdings</vt:lpstr>
      <vt:lpstr>Parcel</vt:lpstr>
      <vt:lpstr>Exploratory Data Analysis of NYC Yellow Taxi Trip Records (2020)</vt:lpstr>
      <vt:lpstr>Project Overview: understanding the nyc taxi trip data</vt:lpstr>
      <vt:lpstr>DATASET DESCRIPTION &amp; STRUCTURE</vt:lpstr>
      <vt:lpstr>Data Preparation &amp;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March vs May 2020 Comparison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Shergill, Mr. Sajan</dc:creator>
  <cp:lastModifiedBy>Shergill, Mr. Sajan</cp:lastModifiedBy>
  <cp:revision>16</cp:revision>
  <dcterms:created xsi:type="dcterms:W3CDTF">2025-10-11T16:36:44Z</dcterms:created>
  <dcterms:modified xsi:type="dcterms:W3CDTF">2025-10-13T22:39:40Z</dcterms:modified>
</cp:coreProperties>
</file>