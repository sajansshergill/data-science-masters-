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78"/>
  </p:notesMasterIdLst>
  <p:sldIdLst>
    <p:sldId id="369" r:id="rId2"/>
    <p:sldId id="550" r:id="rId3"/>
    <p:sldId id="551" r:id="rId4"/>
    <p:sldId id="1111" r:id="rId5"/>
    <p:sldId id="552" r:id="rId6"/>
    <p:sldId id="1005" r:id="rId7"/>
    <p:sldId id="1004" r:id="rId8"/>
    <p:sldId id="554" r:id="rId9"/>
    <p:sldId id="1001" r:id="rId10"/>
    <p:sldId id="1203" r:id="rId11"/>
    <p:sldId id="1344" r:id="rId12"/>
    <p:sldId id="1343" r:id="rId13"/>
    <p:sldId id="1345" r:id="rId14"/>
    <p:sldId id="1346" r:id="rId15"/>
    <p:sldId id="555" r:id="rId16"/>
    <p:sldId id="556" r:id="rId17"/>
    <p:sldId id="642" r:id="rId18"/>
    <p:sldId id="619" r:id="rId19"/>
    <p:sldId id="560" r:id="rId20"/>
    <p:sldId id="561" r:id="rId21"/>
    <p:sldId id="562" r:id="rId22"/>
    <p:sldId id="563" r:id="rId23"/>
    <p:sldId id="564" r:id="rId24"/>
    <p:sldId id="565" r:id="rId25"/>
    <p:sldId id="566" r:id="rId26"/>
    <p:sldId id="639" r:id="rId27"/>
    <p:sldId id="567" r:id="rId28"/>
    <p:sldId id="568" r:id="rId29"/>
    <p:sldId id="620" r:id="rId30"/>
    <p:sldId id="569" r:id="rId31"/>
    <p:sldId id="570" r:id="rId32"/>
    <p:sldId id="571" r:id="rId33"/>
    <p:sldId id="572" r:id="rId34"/>
    <p:sldId id="573" r:id="rId35"/>
    <p:sldId id="574" r:id="rId36"/>
    <p:sldId id="575" r:id="rId37"/>
    <p:sldId id="576" r:id="rId38"/>
    <p:sldId id="577" r:id="rId39"/>
    <p:sldId id="622" r:id="rId40"/>
    <p:sldId id="623" r:id="rId41"/>
    <p:sldId id="578" r:id="rId42"/>
    <p:sldId id="579" r:id="rId43"/>
    <p:sldId id="580" r:id="rId44"/>
    <p:sldId id="581" r:id="rId45"/>
    <p:sldId id="582" r:id="rId46"/>
    <p:sldId id="583" r:id="rId47"/>
    <p:sldId id="584" r:id="rId48"/>
    <p:sldId id="585" r:id="rId49"/>
    <p:sldId id="640" r:id="rId50"/>
    <p:sldId id="588" r:id="rId51"/>
    <p:sldId id="625" r:id="rId52"/>
    <p:sldId id="626" r:id="rId53"/>
    <p:sldId id="589" r:id="rId54"/>
    <p:sldId id="590" r:id="rId55"/>
    <p:sldId id="591" r:id="rId56"/>
    <p:sldId id="592" r:id="rId57"/>
    <p:sldId id="593" r:id="rId58"/>
    <p:sldId id="594" r:id="rId59"/>
    <p:sldId id="595" r:id="rId60"/>
    <p:sldId id="596" r:id="rId61"/>
    <p:sldId id="597" r:id="rId62"/>
    <p:sldId id="598" r:id="rId63"/>
    <p:sldId id="627" r:id="rId64"/>
    <p:sldId id="600" r:id="rId65"/>
    <p:sldId id="601" r:id="rId66"/>
    <p:sldId id="602" r:id="rId67"/>
    <p:sldId id="604" r:id="rId68"/>
    <p:sldId id="605" r:id="rId69"/>
    <p:sldId id="606" r:id="rId70"/>
    <p:sldId id="607" r:id="rId71"/>
    <p:sldId id="608" r:id="rId72"/>
    <p:sldId id="609" r:id="rId73"/>
    <p:sldId id="610" r:id="rId74"/>
    <p:sldId id="611" r:id="rId75"/>
    <p:sldId id="612" r:id="rId76"/>
    <p:sldId id="613" r:id="rId7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DEE3"/>
    <a:srgbClr val="FFCC00"/>
    <a:srgbClr val="EF85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280" autoAdjust="0"/>
    <p:restoredTop sz="94679" autoAdjust="0"/>
  </p:normalViewPr>
  <p:slideViewPr>
    <p:cSldViewPr>
      <p:cViewPr varScale="1">
        <p:scale>
          <a:sx n="158" d="100"/>
          <a:sy n="158" d="100"/>
        </p:scale>
        <p:origin x="67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EA21D-F609-4883-9BF2-C2257D2F3E11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ABF5E-119C-40D0-9F75-E2458688F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56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F06E9EF2-8F40-9541-3CBA-217D93A5F2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A2FAC91-17AC-4243-B8F0-1DE3CE324638}" type="slidenum">
              <a:rPr lang="en-US" altLang="en-US" sz="1200">
                <a:latin typeface="Times New Roman" panose="02020603050405020304" pitchFamily="18" charset="0"/>
              </a:rPr>
              <a:pPr/>
              <a:t>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7C537C4B-7CC4-BDCD-B302-D0EB1328D8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44BC279-3C88-EA42-BF46-82611234FEBA}" type="slidenum">
              <a:rPr lang="en-US" altLang="en-US" sz="1200">
                <a:latin typeface="Times New Roman" panose="02020603050405020304" pitchFamily="18" charset="0"/>
              </a:rPr>
              <a:pPr/>
              <a:t>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84E51844-FCD4-B6CC-CE22-251EB01647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CED1B40-0A90-264F-BCCA-B4E60DE41532}" type="slidenum">
              <a:rPr lang="en-US" altLang="en-US" sz="1200">
                <a:latin typeface="Times New Roman" panose="02020603050405020304" pitchFamily="18" charset="0"/>
              </a:rPr>
              <a:pPr/>
              <a:t>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D6C4E9B0-A9C3-DDC8-A664-2DB6545D8A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4C70775-9178-BC44-9A31-8D5262008899}" type="slidenum">
              <a:rPr lang="en-US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7762EA6B-6ABD-1803-4779-710164A5D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4145C21-4248-E744-BFEC-24EF743ACCFE}" type="slidenum">
              <a:rPr lang="en-US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C378775A-8BD0-ADD2-0B96-4FCC7C89D9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EE9D546F-4C25-A8A2-F24E-462C749C91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5B30DBFD-C72D-9E67-654C-615EA0159F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23A459F3-02BC-7657-C5B6-37C8C9D7E8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C98F1C50-5E29-A590-3C79-A1E2E12D97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603006E-CB9E-2548-A567-518CF0CF3D59}" type="slidenum">
              <a:rPr lang="en-US" altLang="en-US" sz="1200">
                <a:latin typeface="Times New Roman" panose="02020603050405020304" pitchFamily="18" charset="0"/>
              </a:rPr>
              <a:pPr/>
              <a:t>13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B890B2F0-3D28-8DC2-0E1B-61D33B995D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C098046-DC31-F24E-A055-223722D6633E}" type="slidenum">
              <a:rPr lang="en-US" altLang="en-US" sz="1200">
                <a:latin typeface="Times New Roman" panose="02020603050405020304" pitchFamily="18" charset="0"/>
              </a:rPr>
              <a:pPr/>
              <a:t>14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BF5E-119C-40D0-9F75-E2458688F62F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26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10/21/25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 dirty="0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CS-409: </a:t>
            </a:r>
            <a:r>
              <a:rPr lang="el-GR" dirty="0" err="1"/>
              <a:t>Αντικειμενοστρεφής</a:t>
            </a:r>
            <a:r>
              <a:rPr lang="el-GR" dirty="0"/>
              <a:t> </a:t>
            </a:r>
            <a:r>
              <a:rPr lang="el-GR" dirty="0" err="1"/>
              <a:t>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10/21/25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10/21/25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10/21/25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10/21/25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10/21/25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10/21/25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10/21/25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10/21/25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10/21/25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240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0DD7E345-9BD5-414F-9B98-BE3DCAA5A9BF}" type="datetimeFigureOut">
              <a:rPr lang="en-US" smtClean="0"/>
              <a:t>10/21/25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l-GR" dirty="0" err="1"/>
              <a:t>Αντικειμενοστρεφής</a:t>
            </a:r>
            <a:r>
              <a:rPr lang="el-GR" dirty="0"/>
              <a:t> Προγραμματισμός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MINING</a:t>
            </a:r>
            <a:br>
              <a:rPr lang="en-US" dirty="0"/>
            </a:br>
            <a:r>
              <a:rPr lang="en-US" dirty="0"/>
              <a:t>LECTURE 7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7086600" cy="1752600"/>
          </a:xfrm>
        </p:spPr>
        <p:txBody>
          <a:bodyPr/>
          <a:lstStyle/>
          <a:p>
            <a:r>
              <a:rPr lang="en-US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3974019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514493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9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Clustering</a:t>
            </a:r>
            <a:r>
              <a:rPr lang="en-US" dirty="0"/>
              <a:t>?</a:t>
            </a:r>
          </a:p>
        </p:txBody>
      </p:sp>
      <p:sp>
        <p:nvSpPr>
          <p:cNvPr id="15349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88950" y="1524000"/>
            <a:ext cx="8318500" cy="1295400"/>
          </a:xfrm>
        </p:spPr>
        <p:txBody>
          <a:bodyPr>
            <a:normAutofit/>
          </a:bodyPr>
          <a:lstStyle/>
          <a:p>
            <a:r>
              <a:rPr lang="en-US" sz="2400" dirty="0"/>
              <a:t>In general a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grouping</a:t>
            </a:r>
            <a:r>
              <a:rPr lang="en-US" sz="2400" dirty="0"/>
              <a:t> of objects such that the objects in a </a:t>
            </a:r>
            <a:r>
              <a:rPr lang="en-US" sz="2400" dirty="0">
                <a:solidFill>
                  <a:srgbClr val="0070C0"/>
                </a:solidFill>
              </a:rPr>
              <a:t>group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cluster</a:t>
            </a:r>
            <a:r>
              <a:rPr lang="en-US" sz="2400" dirty="0"/>
              <a:t>) are similar (or related) to one another and different from (or unrelated to) the objects in other groups</a:t>
            </a:r>
          </a:p>
        </p:txBody>
      </p:sp>
      <p:grpSp>
        <p:nvGrpSpPr>
          <p:cNvPr id="1534982" name="Group 6"/>
          <p:cNvGrpSpPr>
            <a:grpSpLocks/>
          </p:cNvGrpSpPr>
          <p:nvPr/>
        </p:nvGrpSpPr>
        <p:grpSpPr bwMode="auto">
          <a:xfrm>
            <a:off x="3276600" y="3951288"/>
            <a:ext cx="3048000" cy="2678112"/>
            <a:chOff x="2160" y="2544"/>
            <a:chExt cx="1920" cy="1687"/>
          </a:xfrm>
        </p:grpSpPr>
        <p:sp>
          <p:nvSpPr>
            <p:cNvPr id="1534983" name="Line 7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84" name="Line 8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85" name="Freeform 9"/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86" name="AutoShape 10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87" name="AutoShape 11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88" name="AutoShape 12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89" name="AutoShape 13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0" name="AutoShape 14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1" name="AutoShape 15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2" name="AutoShape 16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3" name="AutoShape 17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4" name="AutoShape 18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5" name="AutoShape 19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6" name="AutoShape 20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7" name="AutoShape 21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8" name="AutoShape 22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9" name="AutoShape 2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0" name="AutoShape 24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1" name="AutoShape 25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2" name="AutoShape 26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3" name="AutoShape 27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4" name="AutoShape 28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5" name="AutoShape 29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6" name="AutoShape 30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7" name="AutoShape 31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8" name="AutoShape 32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5009" name="Group 33"/>
          <p:cNvGrpSpPr>
            <a:grpSpLocks/>
          </p:cNvGrpSpPr>
          <p:nvPr/>
        </p:nvGrpSpPr>
        <p:grpSpPr bwMode="auto">
          <a:xfrm>
            <a:off x="5257800" y="3048000"/>
            <a:ext cx="3048000" cy="2514600"/>
            <a:chOff x="3312" y="1584"/>
            <a:chExt cx="1920" cy="1584"/>
          </a:xfrm>
        </p:grpSpPr>
        <p:sp>
          <p:nvSpPr>
            <p:cNvPr id="1535010" name="Line 34"/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5011" name="AutoShape 35"/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2000" b="0">
                  <a:latin typeface="Tahoma" pitchFamily="34" charset="0"/>
                </a:rPr>
                <a:t>Inter-cluster distances are maximized</a:t>
              </a:r>
            </a:p>
          </p:txBody>
        </p:sp>
      </p:grpSp>
      <p:grpSp>
        <p:nvGrpSpPr>
          <p:cNvPr id="1535012" name="Group 36"/>
          <p:cNvGrpSpPr>
            <a:grpSpLocks/>
          </p:cNvGrpSpPr>
          <p:nvPr/>
        </p:nvGrpSpPr>
        <p:grpSpPr bwMode="auto">
          <a:xfrm>
            <a:off x="2895600" y="4038600"/>
            <a:ext cx="3276600" cy="2286000"/>
            <a:chOff x="1824" y="2208"/>
            <a:chExt cx="2064" cy="1440"/>
          </a:xfrm>
        </p:grpSpPr>
        <p:sp>
          <p:nvSpPr>
            <p:cNvPr id="1535013" name="Oval 37"/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14" name="Oval 38"/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15" name="Oval 39"/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5016" name="Group 40"/>
          <p:cNvGrpSpPr>
            <a:grpSpLocks/>
          </p:cNvGrpSpPr>
          <p:nvPr/>
        </p:nvGrpSpPr>
        <p:grpSpPr bwMode="auto">
          <a:xfrm>
            <a:off x="1295400" y="3352800"/>
            <a:ext cx="2286000" cy="1676400"/>
            <a:chOff x="816" y="1776"/>
            <a:chExt cx="1440" cy="1056"/>
          </a:xfrm>
        </p:grpSpPr>
        <p:sp>
          <p:nvSpPr>
            <p:cNvPr id="1535017" name="Line 41"/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5018" name="AutoShape 42"/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2000" b="0">
                  <a:latin typeface="Tahoma" pitchFamily="34" charset="0"/>
                </a:rPr>
                <a:t>Intra-cluster distances are minimized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616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C2224CB5-BC7A-6786-D432-AF29C5824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3826857-E2F1-2646-976B-98D8361C5D27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699DF5-977D-4FEF-97C1-DE265E05E3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297738" cy="7826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What is Cluster Analysis?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7E96BBD-CC0C-F55E-32D4-E5DA5C6B2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5181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/>
              <a:t>Cluster: A collection of data objects</a:t>
            </a:r>
          </a:p>
          <a:p>
            <a:pPr lvl="1" eaLnBrk="1" hangingPunct="1"/>
            <a:r>
              <a:rPr lang="en-US" altLang="en-US" sz="2400"/>
              <a:t>similar (or related) to one another within the same group</a:t>
            </a:r>
          </a:p>
          <a:p>
            <a:pPr lvl="1" eaLnBrk="1" hangingPunct="1"/>
            <a:r>
              <a:rPr lang="en-US" altLang="en-US" sz="2400"/>
              <a:t>dissimilar (or unrelated) to the objects in other groups</a:t>
            </a:r>
          </a:p>
          <a:p>
            <a:pPr eaLnBrk="1" hangingPunct="1"/>
            <a:r>
              <a:rPr lang="en-US" altLang="en-US" sz="2400"/>
              <a:t>Cluster analysis (or </a:t>
            </a:r>
            <a:r>
              <a:rPr lang="en-US" altLang="en-US" sz="2400" i="1"/>
              <a:t>clustering</a:t>
            </a:r>
            <a:r>
              <a:rPr lang="en-US" altLang="en-US" sz="2400"/>
              <a:t>, </a:t>
            </a:r>
            <a:r>
              <a:rPr lang="en-US" altLang="en-US" sz="2400" i="1"/>
              <a:t>data segmentation, …</a:t>
            </a:r>
            <a:r>
              <a:rPr lang="en-US" altLang="en-US" sz="2400"/>
              <a:t>)</a:t>
            </a:r>
          </a:p>
          <a:p>
            <a:pPr lvl="1" eaLnBrk="1" hangingPunct="1"/>
            <a:r>
              <a:rPr lang="en-US" altLang="en-US" sz="2400"/>
              <a:t>Finding similarities between data according to the characteristics found in the data and grouping similar data objects into clusters</a:t>
            </a:r>
          </a:p>
          <a:p>
            <a:pPr eaLnBrk="1" hangingPunct="1"/>
            <a:r>
              <a:rPr lang="en-US" altLang="en-US" sz="2400">
                <a:solidFill>
                  <a:schemeClr val="hlink"/>
                </a:solidFill>
              </a:rPr>
              <a:t>Unsupervised learning</a:t>
            </a:r>
            <a:r>
              <a:rPr lang="en-US" altLang="en-US" sz="2400"/>
              <a:t>: no predefined classes (i.e., </a:t>
            </a:r>
            <a:r>
              <a:rPr lang="en-US" altLang="en-US" sz="2400" i="1"/>
              <a:t>learning by observations</a:t>
            </a:r>
            <a:r>
              <a:rPr lang="en-US" altLang="en-US" sz="2400"/>
              <a:t> vs. learning by examples: supervised)</a:t>
            </a:r>
          </a:p>
          <a:p>
            <a:pPr eaLnBrk="1" hangingPunct="1"/>
            <a:r>
              <a:rPr lang="en-US" altLang="en-US" sz="2400"/>
              <a:t>Typical applications</a:t>
            </a:r>
          </a:p>
          <a:p>
            <a:pPr lvl="1" eaLnBrk="1" hangingPunct="1"/>
            <a:r>
              <a:rPr lang="en-US" altLang="en-US" sz="2400"/>
              <a:t>As a </a:t>
            </a:r>
            <a:r>
              <a:rPr lang="en-US" altLang="en-US" sz="2400">
                <a:solidFill>
                  <a:schemeClr val="hlink"/>
                </a:solidFill>
              </a:rPr>
              <a:t>stand-alone tool</a:t>
            </a:r>
            <a:r>
              <a:rPr lang="en-US" altLang="en-US" sz="2400"/>
              <a:t> to get insight into data distribution </a:t>
            </a:r>
          </a:p>
          <a:p>
            <a:pPr lvl="1" eaLnBrk="1" hangingPunct="1"/>
            <a:r>
              <a:rPr lang="en-US" altLang="en-US" sz="2400"/>
              <a:t>As a </a:t>
            </a:r>
            <a:r>
              <a:rPr lang="en-US" altLang="en-US" sz="2400">
                <a:solidFill>
                  <a:schemeClr val="hlink"/>
                </a:solidFill>
              </a:rPr>
              <a:t>preprocessing step</a:t>
            </a:r>
            <a:r>
              <a:rPr lang="en-US" altLang="en-US" sz="2400"/>
              <a:t> for other algorithms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6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80400" cy="914400"/>
          </a:xfrm>
        </p:spPr>
        <p:txBody>
          <a:bodyPr>
            <a:normAutofit/>
          </a:bodyPr>
          <a:lstStyle/>
          <a:p>
            <a:r>
              <a:rPr lang="en-US" dirty="0"/>
              <a:t>Applications of Cluster Analysis</a:t>
            </a:r>
          </a:p>
        </p:txBody>
      </p:sp>
      <p:sp>
        <p:nvSpPr>
          <p:cNvPr id="1565699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524000"/>
            <a:ext cx="4083050" cy="518160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400" b="1" dirty="0"/>
              <a:t>Understanding</a:t>
            </a:r>
          </a:p>
          <a:p>
            <a:pPr lvl="1">
              <a:spcBef>
                <a:spcPct val="20000"/>
              </a:spcBef>
            </a:pPr>
            <a:r>
              <a:rPr lang="en-US" sz="2000" dirty="0">
                <a:solidFill>
                  <a:srgbClr val="FFC000"/>
                </a:solidFill>
              </a:rPr>
              <a:t>Group related documents </a:t>
            </a:r>
            <a:r>
              <a:rPr lang="en-US" sz="2000" dirty="0"/>
              <a:t>for browsing, </a:t>
            </a:r>
            <a:r>
              <a:rPr lang="en-US" sz="2000" dirty="0">
                <a:solidFill>
                  <a:srgbClr val="FFC000"/>
                </a:solidFill>
              </a:rPr>
              <a:t>group genes and proteins</a:t>
            </a:r>
            <a:r>
              <a:rPr lang="en-US" sz="2000" dirty="0"/>
              <a:t> that have similar functionality, or </a:t>
            </a:r>
            <a:r>
              <a:rPr lang="en-US" sz="2000" dirty="0">
                <a:solidFill>
                  <a:srgbClr val="FFC000"/>
                </a:solidFill>
              </a:rPr>
              <a:t>group stocks </a:t>
            </a:r>
            <a:r>
              <a:rPr lang="en-US" sz="2000" dirty="0"/>
              <a:t>with similar price fluctuations</a:t>
            </a:r>
            <a:endParaRPr lang="en-US" sz="2000" b="1" dirty="0"/>
          </a:p>
          <a:p>
            <a:pPr>
              <a:spcBef>
                <a:spcPct val="20000"/>
              </a:spcBef>
            </a:pPr>
            <a:endParaRPr lang="en-US" sz="2400" b="1" dirty="0"/>
          </a:p>
          <a:p>
            <a:pPr>
              <a:spcBef>
                <a:spcPct val="20000"/>
              </a:spcBef>
            </a:pPr>
            <a:r>
              <a:rPr lang="en-US" sz="2400" b="1" dirty="0"/>
              <a:t>Summarization</a:t>
            </a:r>
          </a:p>
          <a:p>
            <a:pPr lvl="1">
              <a:spcBef>
                <a:spcPct val="20000"/>
              </a:spcBef>
            </a:pPr>
            <a:r>
              <a:rPr lang="en-US" sz="2000" dirty="0"/>
              <a:t>Reduce the size of large data sets</a:t>
            </a:r>
          </a:p>
          <a:p>
            <a:endParaRPr lang="en-US" sz="2400" dirty="0"/>
          </a:p>
        </p:txBody>
      </p:sp>
      <p:graphicFrame>
        <p:nvGraphicFramePr>
          <p:cNvPr id="1565700" name="Object 1028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738688084"/>
              </p:ext>
            </p:extLst>
          </p:nvPr>
        </p:nvGraphicFramePr>
        <p:xfrm>
          <a:off x="4343400" y="1524000"/>
          <a:ext cx="4800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20181" imgH="3122232" progId="Word.Document.8">
                  <p:embed/>
                </p:oleObj>
              </mc:Choice>
              <mc:Fallback>
                <p:oleObj name="Document" r:id="rId2" imgW="5620181" imgH="31222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524000"/>
                        <a:ext cx="48006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65702" name="Picture 1030" descr="precip_aust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4" t="12122" r="11072" b="18182"/>
          <a:stretch>
            <a:fillRect/>
          </a:stretch>
        </p:blipFill>
        <p:spPr>
          <a:xfrm>
            <a:off x="4953000" y="4114800"/>
            <a:ext cx="3657600" cy="2474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65704" name="Text Box 1032"/>
          <p:cNvSpPr txBox="1">
            <a:spLocks noChangeArrowheads="1"/>
          </p:cNvSpPr>
          <p:nvPr/>
        </p:nvSpPr>
        <p:spPr bwMode="auto">
          <a:xfrm>
            <a:off x="3657600" y="6019800"/>
            <a:ext cx="2514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Clustering precipitation in Australia</a:t>
            </a:r>
          </a:p>
        </p:txBody>
      </p:sp>
    </p:spTree>
    <p:extLst>
      <p:ext uri="{BB962C8B-B14F-4D97-AF65-F5344CB8AC3E}">
        <p14:creationId xmlns:p14="http://schemas.microsoft.com/office/powerpoint/2010/main" val="144735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4C2F6421-86CC-5AFB-DBA4-4C01D77E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6B975E8-6D55-6D43-A542-2E08AD0B5329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EB2F861B-1C9F-F302-A6E2-B4F797DD5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" y="533400"/>
            <a:ext cx="8763000" cy="7620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en-US" dirty="0"/>
              <a:t>Clustering for Data Understanding and Applications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5CCF740-8A2D-896C-5AB9-0E45555008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5181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000"/>
              <a:t>Biology: taxonomy of living things: kingdom, phylum, class, order, family, genus and species</a:t>
            </a:r>
          </a:p>
          <a:p>
            <a:pPr eaLnBrk="1" hangingPunct="1"/>
            <a:r>
              <a:rPr lang="en-US" altLang="en-US" sz="2000"/>
              <a:t>Information retrieval: document clustering</a:t>
            </a:r>
          </a:p>
          <a:p>
            <a:pPr eaLnBrk="1" hangingPunct="1"/>
            <a:r>
              <a:rPr lang="en-US" altLang="en-US" sz="2000"/>
              <a:t>Land use: Identification of areas of similar land use in an earth observation database</a:t>
            </a:r>
          </a:p>
          <a:p>
            <a:pPr eaLnBrk="1" hangingPunct="1"/>
            <a:r>
              <a:rPr lang="en-US" altLang="en-US" sz="2000"/>
              <a:t>Marketing: Help marketers discover distinct groups in their customer bases, and then use this knowledge to develop targeted marketing programs</a:t>
            </a:r>
          </a:p>
          <a:p>
            <a:pPr eaLnBrk="1" hangingPunct="1"/>
            <a:r>
              <a:rPr lang="en-US" altLang="en-US" sz="2000"/>
              <a:t>City-planning: Identifying groups of houses according to their house type, value, and geographical location</a:t>
            </a:r>
          </a:p>
          <a:p>
            <a:pPr eaLnBrk="1" hangingPunct="1"/>
            <a:r>
              <a:rPr lang="en-US" altLang="en-US" sz="2000"/>
              <a:t>Earth-quake studies: Observed earth quake epicenters should be clustered along continent faults</a:t>
            </a:r>
          </a:p>
          <a:p>
            <a:pPr eaLnBrk="1" hangingPunct="1"/>
            <a:r>
              <a:rPr lang="en-US" altLang="en-US" sz="2000"/>
              <a:t>Climate: understanding earth climate, find patterns of atmospheric and ocean</a:t>
            </a:r>
          </a:p>
          <a:p>
            <a:pPr eaLnBrk="1" hangingPunct="1"/>
            <a:r>
              <a:rPr lang="en-US" altLang="en-US" sz="2000"/>
              <a:t>Economic Science: market resarch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2008068F-358E-FCE0-1518-8022BBF98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2E38CBE-C796-DE48-83AC-B6D306F85F5C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4400074-D90B-AB4E-8E1B-FAAE34D207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458200" cy="7826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Clustering as a Preprocessing Tool (Utility)</a:t>
            </a:r>
            <a:endParaRPr lang="en-US" altLang="en-US" sz="2800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221F2127-B76C-7DF4-6164-C9DAB635A5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344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Summarization: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Preprocessing for regression, PCA, classification, and association analysis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Compression: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Image processing: vector quantization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Finding K-nearest Neighbors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Localizing search to one or a small number of clusters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Outlier detection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Outliers are often viewed as those “far away” from any cluster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Notion of a Cluster can be Ambiguous</a:t>
            </a:r>
          </a:p>
        </p:txBody>
      </p:sp>
      <p:grpSp>
        <p:nvGrpSpPr>
          <p:cNvPr id="1537115" name="Group 91"/>
          <p:cNvGrpSpPr>
            <a:grpSpLocks/>
          </p:cNvGrpSpPr>
          <p:nvPr/>
        </p:nvGrpSpPr>
        <p:grpSpPr bwMode="auto">
          <a:xfrm>
            <a:off x="685800" y="2209800"/>
            <a:ext cx="3344863" cy="1479550"/>
            <a:chOff x="432" y="1200"/>
            <a:chExt cx="2107" cy="932"/>
          </a:xfrm>
        </p:grpSpPr>
        <p:grpSp>
          <p:nvGrpSpPr>
            <p:cNvPr id="1537027" name="Group 3"/>
            <p:cNvGrpSpPr>
              <a:grpSpLocks noChangeAspect="1"/>
            </p:cNvGrpSpPr>
            <p:nvPr/>
          </p:nvGrpSpPr>
          <p:grpSpPr bwMode="auto">
            <a:xfrm>
              <a:off x="432" y="1200"/>
              <a:ext cx="2107" cy="516"/>
              <a:chOff x="2464" y="2296"/>
              <a:chExt cx="2634" cy="646"/>
            </a:xfrm>
          </p:grpSpPr>
          <p:sp>
            <p:nvSpPr>
              <p:cNvPr id="1537028" name="Oval 4"/>
              <p:cNvSpPr>
                <a:spLocks noChangeAspect="1" noChangeArrowheads="1"/>
              </p:cNvSpPr>
              <p:nvPr/>
            </p:nvSpPr>
            <p:spPr bwMode="auto">
              <a:xfrm>
                <a:off x="45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29" name="Oval 5"/>
              <p:cNvSpPr>
                <a:spLocks noChangeAspect="1" noChangeArrowheads="1"/>
              </p:cNvSpPr>
              <p:nvPr/>
            </p:nvSpPr>
            <p:spPr bwMode="auto">
              <a:xfrm>
                <a:off x="4312" y="284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0" name="Oval 6"/>
              <p:cNvSpPr>
                <a:spLocks noChangeAspect="1" noChangeArrowheads="1"/>
              </p:cNvSpPr>
              <p:nvPr/>
            </p:nvSpPr>
            <p:spPr bwMode="auto">
              <a:xfrm>
                <a:off x="4466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1" name="Oval 7"/>
              <p:cNvSpPr>
                <a:spLocks noChangeAspect="1" noChangeArrowheads="1"/>
              </p:cNvSpPr>
              <p:nvPr/>
            </p:nvSpPr>
            <p:spPr bwMode="auto">
              <a:xfrm>
                <a:off x="4410" y="274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2" name="Oval 8"/>
              <p:cNvSpPr>
                <a:spLocks noChangeAspect="1" noChangeArrowheads="1"/>
              </p:cNvSpPr>
              <p:nvPr/>
            </p:nvSpPr>
            <p:spPr bwMode="auto">
              <a:xfrm>
                <a:off x="4326" y="247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3" name="Oval 9"/>
              <p:cNvSpPr>
                <a:spLocks noChangeAspect="1" noChangeArrowheads="1"/>
              </p:cNvSpPr>
              <p:nvPr/>
            </p:nvSpPr>
            <p:spPr bwMode="auto">
              <a:xfrm>
                <a:off x="4158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4" name="Oval 10"/>
              <p:cNvSpPr>
                <a:spLocks noChangeAspect="1" noChangeArrowheads="1"/>
              </p:cNvSpPr>
              <p:nvPr/>
            </p:nvSpPr>
            <p:spPr bwMode="auto">
              <a:xfrm>
                <a:off x="424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5" name="Oval 11"/>
              <p:cNvSpPr>
                <a:spLocks noChangeAspect="1" noChangeArrowheads="1"/>
              </p:cNvSpPr>
              <p:nvPr/>
            </p:nvSpPr>
            <p:spPr bwMode="auto">
              <a:xfrm>
                <a:off x="4788" y="271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6" name="Oval 12"/>
              <p:cNvSpPr>
                <a:spLocks noChangeAspect="1" noChangeArrowheads="1"/>
              </p:cNvSpPr>
              <p:nvPr/>
            </p:nvSpPr>
            <p:spPr bwMode="auto">
              <a:xfrm>
                <a:off x="5012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7" name="Oval 13"/>
              <p:cNvSpPr>
                <a:spLocks noChangeAspect="1" noChangeArrowheads="1"/>
              </p:cNvSpPr>
              <p:nvPr/>
            </p:nvSpPr>
            <p:spPr bwMode="auto">
              <a:xfrm>
                <a:off x="478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8" name="Oval 14"/>
              <p:cNvSpPr>
                <a:spLocks noChangeAspect="1" noChangeArrowheads="1"/>
              </p:cNvSpPr>
              <p:nvPr/>
            </p:nvSpPr>
            <p:spPr bwMode="auto">
              <a:xfrm flipV="1">
                <a:off x="2870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9" name="Oval 15"/>
              <p:cNvSpPr>
                <a:spLocks noChangeAspect="1" noChangeArrowheads="1"/>
              </p:cNvSpPr>
              <p:nvPr/>
            </p:nvSpPr>
            <p:spPr bwMode="auto">
              <a:xfrm flipV="1">
                <a:off x="2618" y="231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0" name="Oval 16"/>
              <p:cNvSpPr>
                <a:spLocks noChangeAspect="1" noChangeArrowheads="1"/>
              </p:cNvSpPr>
              <p:nvPr/>
            </p:nvSpPr>
            <p:spPr bwMode="auto">
              <a:xfrm flipV="1">
                <a:off x="277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1" name="Oval 17"/>
              <p:cNvSpPr>
                <a:spLocks noChangeAspect="1" noChangeArrowheads="1"/>
              </p:cNvSpPr>
              <p:nvPr/>
            </p:nvSpPr>
            <p:spPr bwMode="auto">
              <a:xfrm flipV="1">
                <a:off x="2716" y="240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2" name="Oval 18"/>
              <p:cNvSpPr>
                <a:spLocks noChangeAspect="1" noChangeArrowheads="1"/>
              </p:cNvSpPr>
              <p:nvPr/>
            </p:nvSpPr>
            <p:spPr bwMode="auto">
              <a:xfrm flipV="1">
                <a:off x="2632" y="267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3" name="Oval 19"/>
              <p:cNvSpPr>
                <a:spLocks noChangeAspect="1" noChangeArrowheads="1"/>
              </p:cNvSpPr>
              <p:nvPr/>
            </p:nvSpPr>
            <p:spPr bwMode="auto">
              <a:xfrm flipV="1">
                <a:off x="24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4" name="Oval 20"/>
              <p:cNvSpPr>
                <a:spLocks noChangeAspect="1" noChangeArrowheads="1"/>
              </p:cNvSpPr>
              <p:nvPr/>
            </p:nvSpPr>
            <p:spPr bwMode="auto">
              <a:xfrm flipV="1">
                <a:off x="2548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5" name="Oval 21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43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6" name="Oval 22"/>
              <p:cNvSpPr>
                <a:spLocks noChangeAspect="1" noChangeArrowheads="1"/>
              </p:cNvSpPr>
              <p:nvPr/>
            </p:nvSpPr>
            <p:spPr bwMode="auto">
              <a:xfrm flipV="1">
                <a:off x="331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7" name="Oval 23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7111" name="Rectangle 87"/>
            <p:cNvSpPr>
              <a:spLocks noChangeArrowheads="1"/>
            </p:cNvSpPr>
            <p:nvPr/>
          </p:nvSpPr>
          <p:spPr bwMode="auto">
            <a:xfrm>
              <a:off x="624" y="1920"/>
              <a:ext cx="14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0">
                  <a:latin typeface="Times New Roman" charset="0"/>
                  <a:cs typeface="Times New Roman" charset="0"/>
                </a:rPr>
                <a:t>How many clusters?</a:t>
              </a:r>
              <a:endParaRPr lang="en-US" sz="1600" b="0">
                <a:latin typeface="Times New Roman" charset="0"/>
              </a:endParaRPr>
            </a:p>
          </p:txBody>
        </p:sp>
      </p:grpSp>
      <p:grpSp>
        <p:nvGrpSpPr>
          <p:cNvPr id="1537118" name="Group 94"/>
          <p:cNvGrpSpPr>
            <a:grpSpLocks/>
          </p:cNvGrpSpPr>
          <p:nvPr/>
        </p:nvGrpSpPr>
        <p:grpSpPr bwMode="auto">
          <a:xfrm>
            <a:off x="4960938" y="4419600"/>
            <a:ext cx="3344862" cy="1371600"/>
            <a:chOff x="3125" y="2592"/>
            <a:chExt cx="2107" cy="864"/>
          </a:xfrm>
        </p:grpSpPr>
        <p:grpSp>
          <p:nvGrpSpPr>
            <p:cNvPr id="1537090" name="Group 66"/>
            <p:cNvGrpSpPr>
              <a:grpSpLocks/>
            </p:cNvGrpSpPr>
            <p:nvPr/>
          </p:nvGrpSpPr>
          <p:grpSpPr bwMode="auto">
            <a:xfrm>
              <a:off x="3125" y="2592"/>
              <a:ext cx="2107" cy="518"/>
              <a:chOff x="3125" y="2592"/>
              <a:chExt cx="2107" cy="518"/>
            </a:xfrm>
          </p:grpSpPr>
          <p:sp>
            <p:nvSpPr>
              <p:cNvPr id="1537091" name="AutoShape 67"/>
              <p:cNvSpPr>
                <a:spLocks noChangeAspect="1" noChangeArrowheads="1"/>
              </p:cNvSpPr>
              <p:nvPr/>
            </p:nvSpPr>
            <p:spPr bwMode="auto">
              <a:xfrm>
                <a:off x="4805" y="294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2" name="AutoShape 68"/>
              <p:cNvSpPr>
                <a:spLocks noChangeAspect="1" noChangeArrowheads="1"/>
              </p:cNvSpPr>
              <p:nvPr/>
            </p:nvSpPr>
            <p:spPr bwMode="auto">
              <a:xfrm>
                <a:off x="4603" y="303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3" name="AutoShape 69"/>
              <p:cNvSpPr>
                <a:spLocks noChangeAspect="1" noChangeArrowheads="1"/>
              </p:cNvSpPr>
              <p:nvPr/>
            </p:nvSpPr>
            <p:spPr bwMode="auto">
              <a:xfrm>
                <a:off x="4726" y="3041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4" name="AutoShape 70"/>
              <p:cNvSpPr>
                <a:spLocks noChangeAspect="1" noChangeArrowheads="1"/>
              </p:cNvSpPr>
              <p:nvPr/>
            </p:nvSpPr>
            <p:spPr bwMode="auto">
              <a:xfrm>
                <a:off x="4682" y="2951"/>
                <a:ext cx="68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5" name="AutoShape 71"/>
              <p:cNvSpPr>
                <a:spLocks noChangeAspect="1" noChangeArrowheads="1"/>
              </p:cNvSpPr>
              <p:nvPr/>
            </p:nvSpPr>
            <p:spPr bwMode="auto">
              <a:xfrm>
                <a:off x="4614" y="2738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6" name="AutoShape 72"/>
              <p:cNvSpPr>
                <a:spLocks noChangeAspect="1" noChangeArrowheads="1"/>
              </p:cNvSpPr>
              <p:nvPr/>
            </p:nvSpPr>
            <p:spPr bwMode="auto">
              <a:xfrm>
                <a:off x="4480" y="2693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7" name="AutoShape 73"/>
              <p:cNvSpPr>
                <a:spLocks noChangeAspect="1" noChangeArrowheads="1"/>
              </p:cNvSpPr>
              <p:nvPr/>
            </p:nvSpPr>
            <p:spPr bwMode="auto">
              <a:xfrm>
                <a:off x="4547" y="2592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8" name="AutoShape 74"/>
              <p:cNvSpPr>
                <a:spLocks noChangeAspect="1" noChangeArrowheads="1"/>
              </p:cNvSpPr>
              <p:nvPr/>
            </p:nvSpPr>
            <p:spPr bwMode="auto">
              <a:xfrm>
                <a:off x="4984" y="2929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9" name="AutoShape 75"/>
              <p:cNvSpPr>
                <a:spLocks noChangeAspect="1" noChangeArrowheads="1"/>
              </p:cNvSpPr>
              <p:nvPr/>
            </p:nvSpPr>
            <p:spPr bwMode="auto">
              <a:xfrm>
                <a:off x="5163" y="285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0" name="AutoShape 76"/>
              <p:cNvSpPr>
                <a:spLocks noChangeAspect="1" noChangeArrowheads="1"/>
              </p:cNvSpPr>
              <p:nvPr/>
            </p:nvSpPr>
            <p:spPr bwMode="auto">
              <a:xfrm>
                <a:off x="4984" y="2783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1" name="AutoShape 77"/>
              <p:cNvSpPr>
                <a:spLocks noChangeAspect="1" noChangeArrowheads="1"/>
              </p:cNvSpPr>
              <p:nvPr/>
            </p:nvSpPr>
            <p:spPr bwMode="auto">
              <a:xfrm flipV="1">
                <a:off x="3450" y="269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2" name="AutoShape 78"/>
              <p:cNvSpPr>
                <a:spLocks noChangeAspect="1" noChangeArrowheads="1"/>
              </p:cNvSpPr>
              <p:nvPr/>
            </p:nvSpPr>
            <p:spPr bwMode="auto">
              <a:xfrm flipV="1">
                <a:off x="3248" y="260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3" name="AutoShape 79"/>
              <p:cNvSpPr>
                <a:spLocks noChangeAspect="1" noChangeArrowheads="1"/>
              </p:cNvSpPr>
              <p:nvPr/>
            </p:nvSpPr>
            <p:spPr bwMode="auto">
              <a:xfrm flipV="1">
                <a:off x="3371" y="2592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4" name="AutoShape 80"/>
              <p:cNvSpPr>
                <a:spLocks noChangeAspect="1" noChangeArrowheads="1"/>
              </p:cNvSpPr>
              <p:nvPr/>
            </p:nvSpPr>
            <p:spPr bwMode="auto">
              <a:xfrm flipV="1">
                <a:off x="3327" y="2682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5" name="AutoShape 81"/>
              <p:cNvSpPr>
                <a:spLocks noChangeAspect="1" noChangeArrowheads="1"/>
              </p:cNvSpPr>
              <p:nvPr/>
            </p:nvSpPr>
            <p:spPr bwMode="auto">
              <a:xfrm flipV="1">
                <a:off x="3259" y="2895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6" name="AutoShape 82"/>
              <p:cNvSpPr>
                <a:spLocks noChangeAspect="1" noChangeArrowheads="1"/>
              </p:cNvSpPr>
              <p:nvPr/>
            </p:nvSpPr>
            <p:spPr bwMode="auto">
              <a:xfrm flipV="1">
                <a:off x="3125" y="2940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7" name="AutoShape 83"/>
              <p:cNvSpPr>
                <a:spLocks noChangeAspect="1" noChangeArrowheads="1"/>
              </p:cNvSpPr>
              <p:nvPr/>
            </p:nvSpPr>
            <p:spPr bwMode="auto">
              <a:xfrm flipV="1">
                <a:off x="3192" y="3041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8" name="AutoShape 8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704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9" name="AutoShape 85"/>
              <p:cNvSpPr>
                <a:spLocks noChangeAspect="1" noChangeArrowheads="1"/>
              </p:cNvSpPr>
              <p:nvPr/>
            </p:nvSpPr>
            <p:spPr bwMode="auto">
              <a:xfrm flipV="1">
                <a:off x="3808" y="278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10" name="AutoShape 86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85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7112" name="Rectangle 88"/>
            <p:cNvSpPr>
              <a:spLocks noChangeArrowheads="1"/>
            </p:cNvSpPr>
            <p:nvPr/>
          </p:nvSpPr>
          <p:spPr bwMode="auto">
            <a:xfrm>
              <a:off x="3413" y="3244"/>
              <a:ext cx="14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0">
                  <a:latin typeface="Times New Roman" charset="0"/>
                  <a:cs typeface="Times New Roman" charset="0"/>
                </a:rPr>
                <a:t>Four Clusters</a:t>
              </a:r>
              <a:r>
                <a:rPr lang="en-US" sz="1600" b="0">
                  <a:latin typeface="Times New Roman" charset="0"/>
                </a:rPr>
                <a:t> </a:t>
              </a:r>
            </a:p>
          </p:txBody>
        </p:sp>
      </p:grpSp>
      <p:grpSp>
        <p:nvGrpSpPr>
          <p:cNvPr id="1537117" name="Group 93"/>
          <p:cNvGrpSpPr>
            <a:grpSpLocks/>
          </p:cNvGrpSpPr>
          <p:nvPr/>
        </p:nvGrpSpPr>
        <p:grpSpPr bwMode="auto">
          <a:xfrm>
            <a:off x="685800" y="4419600"/>
            <a:ext cx="3344863" cy="1371600"/>
            <a:chOff x="432" y="2592"/>
            <a:chExt cx="2107" cy="864"/>
          </a:xfrm>
        </p:grpSpPr>
        <p:grpSp>
          <p:nvGrpSpPr>
            <p:cNvPr id="1537069" name="Group 45"/>
            <p:cNvGrpSpPr>
              <a:grpSpLocks/>
            </p:cNvGrpSpPr>
            <p:nvPr/>
          </p:nvGrpSpPr>
          <p:grpSpPr bwMode="auto">
            <a:xfrm>
              <a:off x="432" y="2592"/>
              <a:ext cx="2107" cy="516"/>
              <a:chOff x="432" y="2592"/>
              <a:chExt cx="2107" cy="516"/>
            </a:xfrm>
          </p:grpSpPr>
          <p:sp>
            <p:nvSpPr>
              <p:cNvPr id="1537070" name="AutoShape 46"/>
              <p:cNvSpPr>
                <a:spLocks noChangeAspect="1" noChangeArrowheads="1"/>
              </p:cNvSpPr>
              <p:nvPr/>
            </p:nvSpPr>
            <p:spPr bwMode="auto">
              <a:xfrm>
                <a:off x="2112" y="2939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1" name="AutoShape 47"/>
              <p:cNvSpPr>
                <a:spLocks noChangeAspect="1" noChangeArrowheads="1"/>
              </p:cNvSpPr>
              <p:nvPr/>
            </p:nvSpPr>
            <p:spPr bwMode="auto">
              <a:xfrm>
                <a:off x="1910" y="302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2" name="AutoShape 48"/>
              <p:cNvSpPr>
                <a:spLocks noChangeAspect="1" noChangeArrowheads="1"/>
              </p:cNvSpPr>
              <p:nvPr/>
            </p:nvSpPr>
            <p:spPr bwMode="auto">
              <a:xfrm>
                <a:off x="2033" y="303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3" name="AutoShape 49"/>
              <p:cNvSpPr>
                <a:spLocks noChangeAspect="1" noChangeArrowheads="1"/>
              </p:cNvSpPr>
              <p:nvPr/>
            </p:nvSpPr>
            <p:spPr bwMode="auto">
              <a:xfrm>
                <a:off x="1989" y="2950"/>
                <a:ext cx="68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4" name="AutoShape 50"/>
              <p:cNvSpPr>
                <a:spLocks noChangeAspect="1" noChangeArrowheads="1"/>
              </p:cNvSpPr>
              <p:nvPr/>
            </p:nvSpPr>
            <p:spPr bwMode="auto">
              <a:xfrm>
                <a:off x="1921" y="273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5" name="AutoShape 51"/>
              <p:cNvSpPr>
                <a:spLocks noChangeAspect="1" noChangeArrowheads="1"/>
              </p:cNvSpPr>
              <p:nvPr/>
            </p:nvSpPr>
            <p:spPr bwMode="auto">
              <a:xfrm>
                <a:off x="1787" y="2693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6" name="AutoShape 52"/>
              <p:cNvSpPr>
                <a:spLocks noChangeAspect="1" noChangeArrowheads="1"/>
              </p:cNvSpPr>
              <p:nvPr/>
            </p:nvSpPr>
            <p:spPr bwMode="auto">
              <a:xfrm>
                <a:off x="1854" y="259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7" name="AutoShape 53"/>
              <p:cNvSpPr>
                <a:spLocks noChangeAspect="1" noChangeArrowheads="1"/>
              </p:cNvSpPr>
              <p:nvPr/>
            </p:nvSpPr>
            <p:spPr bwMode="auto">
              <a:xfrm>
                <a:off x="2291" y="292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8" name="AutoShape 54"/>
              <p:cNvSpPr>
                <a:spLocks noChangeAspect="1" noChangeArrowheads="1"/>
              </p:cNvSpPr>
              <p:nvPr/>
            </p:nvSpPr>
            <p:spPr bwMode="auto">
              <a:xfrm>
                <a:off x="2470" y="28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9" name="AutoShape 55"/>
              <p:cNvSpPr>
                <a:spLocks noChangeAspect="1" noChangeArrowheads="1"/>
              </p:cNvSpPr>
              <p:nvPr/>
            </p:nvSpPr>
            <p:spPr bwMode="auto">
              <a:xfrm>
                <a:off x="2291" y="278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0" name="Rectangle 56"/>
              <p:cNvSpPr>
                <a:spLocks noChangeAspect="1" noChangeArrowheads="1"/>
              </p:cNvSpPr>
              <p:nvPr/>
            </p:nvSpPr>
            <p:spPr bwMode="auto">
              <a:xfrm flipV="1">
                <a:off x="757" y="2693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1" name="Rectangle 57"/>
              <p:cNvSpPr>
                <a:spLocks noChangeAspect="1" noChangeArrowheads="1"/>
              </p:cNvSpPr>
              <p:nvPr/>
            </p:nvSpPr>
            <p:spPr bwMode="auto">
              <a:xfrm flipV="1">
                <a:off x="555" y="2603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2" name="Rectangle 58"/>
              <p:cNvSpPr>
                <a:spLocks noChangeAspect="1" noChangeArrowheads="1"/>
              </p:cNvSpPr>
              <p:nvPr/>
            </p:nvSpPr>
            <p:spPr bwMode="auto">
              <a:xfrm flipV="1">
                <a:off x="678" y="259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3" name="Rectangle 59"/>
              <p:cNvSpPr>
                <a:spLocks noChangeAspect="1" noChangeArrowheads="1"/>
              </p:cNvSpPr>
              <p:nvPr/>
            </p:nvSpPr>
            <p:spPr bwMode="auto">
              <a:xfrm flipV="1">
                <a:off x="634" y="2681"/>
                <a:ext cx="68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4" name="Rectangle 60"/>
              <p:cNvSpPr>
                <a:spLocks noChangeAspect="1" noChangeArrowheads="1"/>
              </p:cNvSpPr>
              <p:nvPr/>
            </p:nvSpPr>
            <p:spPr bwMode="auto">
              <a:xfrm flipV="1">
                <a:off x="566" y="289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5" name="Rectangle 61"/>
              <p:cNvSpPr>
                <a:spLocks noChangeAspect="1" noChangeArrowheads="1"/>
              </p:cNvSpPr>
              <p:nvPr/>
            </p:nvSpPr>
            <p:spPr bwMode="auto">
              <a:xfrm flipV="1">
                <a:off x="432" y="2939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6" name="Rectangle 62"/>
              <p:cNvSpPr>
                <a:spLocks noChangeAspect="1" noChangeArrowheads="1"/>
              </p:cNvSpPr>
              <p:nvPr/>
            </p:nvSpPr>
            <p:spPr bwMode="auto">
              <a:xfrm flipV="1">
                <a:off x="499" y="303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7" name="Rectangle 63"/>
              <p:cNvSpPr>
                <a:spLocks noChangeAspect="1" noChangeArrowheads="1"/>
              </p:cNvSpPr>
              <p:nvPr/>
            </p:nvSpPr>
            <p:spPr bwMode="auto">
              <a:xfrm flipV="1">
                <a:off x="936" y="270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8" name="Rectangle 64"/>
              <p:cNvSpPr>
                <a:spLocks noChangeAspect="1" noChangeArrowheads="1"/>
              </p:cNvSpPr>
              <p:nvPr/>
            </p:nvSpPr>
            <p:spPr bwMode="auto">
              <a:xfrm flipV="1">
                <a:off x="1115" y="278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9" name="Rectangle 65"/>
              <p:cNvSpPr>
                <a:spLocks noChangeAspect="1" noChangeArrowheads="1"/>
              </p:cNvSpPr>
              <p:nvPr/>
            </p:nvSpPr>
            <p:spPr bwMode="auto">
              <a:xfrm flipV="1">
                <a:off x="936" y="284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7113" name="Rectangle 89"/>
            <p:cNvSpPr>
              <a:spLocks noChangeArrowheads="1"/>
            </p:cNvSpPr>
            <p:nvPr/>
          </p:nvSpPr>
          <p:spPr bwMode="auto">
            <a:xfrm>
              <a:off x="624" y="3244"/>
              <a:ext cx="14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0">
                  <a:latin typeface="Times New Roman" charset="0"/>
                  <a:cs typeface="Times New Roman" charset="0"/>
                </a:rPr>
                <a:t>Two Clusters</a:t>
              </a:r>
              <a:r>
                <a:rPr lang="en-US" sz="1600" b="0">
                  <a:latin typeface="Times New Roman" charset="0"/>
                </a:rPr>
                <a:t> </a:t>
              </a:r>
            </a:p>
          </p:txBody>
        </p:sp>
      </p:grpSp>
      <p:grpSp>
        <p:nvGrpSpPr>
          <p:cNvPr id="1537116" name="Group 92"/>
          <p:cNvGrpSpPr>
            <a:grpSpLocks/>
          </p:cNvGrpSpPr>
          <p:nvPr/>
        </p:nvGrpSpPr>
        <p:grpSpPr bwMode="auto">
          <a:xfrm>
            <a:off x="4960938" y="2209800"/>
            <a:ext cx="3344862" cy="1479550"/>
            <a:chOff x="3125" y="1200"/>
            <a:chExt cx="2107" cy="932"/>
          </a:xfrm>
        </p:grpSpPr>
        <p:grpSp>
          <p:nvGrpSpPr>
            <p:cNvPr id="1537048" name="Group 24"/>
            <p:cNvGrpSpPr>
              <a:grpSpLocks/>
            </p:cNvGrpSpPr>
            <p:nvPr/>
          </p:nvGrpSpPr>
          <p:grpSpPr bwMode="auto">
            <a:xfrm>
              <a:off x="3125" y="1200"/>
              <a:ext cx="2107" cy="518"/>
              <a:chOff x="3125" y="1200"/>
              <a:chExt cx="2107" cy="518"/>
            </a:xfrm>
          </p:grpSpPr>
          <p:sp>
            <p:nvSpPr>
              <p:cNvPr id="1537049" name="AutoShape 25"/>
              <p:cNvSpPr>
                <a:spLocks noChangeAspect="1" noChangeArrowheads="1"/>
              </p:cNvSpPr>
              <p:nvPr/>
            </p:nvSpPr>
            <p:spPr bwMode="auto">
              <a:xfrm>
                <a:off x="4805" y="154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0" name="AutoShape 26"/>
              <p:cNvSpPr>
                <a:spLocks noChangeAspect="1" noChangeArrowheads="1"/>
              </p:cNvSpPr>
              <p:nvPr/>
            </p:nvSpPr>
            <p:spPr bwMode="auto">
              <a:xfrm>
                <a:off x="4603" y="163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1" name="AutoShape 27"/>
              <p:cNvSpPr>
                <a:spLocks noChangeAspect="1" noChangeArrowheads="1"/>
              </p:cNvSpPr>
              <p:nvPr/>
            </p:nvSpPr>
            <p:spPr bwMode="auto">
              <a:xfrm>
                <a:off x="4726" y="1649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2" name="AutoShape 28"/>
              <p:cNvSpPr>
                <a:spLocks noChangeAspect="1" noChangeArrowheads="1"/>
              </p:cNvSpPr>
              <p:nvPr/>
            </p:nvSpPr>
            <p:spPr bwMode="auto">
              <a:xfrm>
                <a:off x="4682" y="1559"/>
                <a:ext cx="68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3" name="AutoShape 29"/>
              <p:cNvSpPr>
                <a:spLocks noChangeAspect="1" noChangeArrowheads="1"/>
              </p:cNvSpPr>
              <p:nvPr/>
            </p:nvSpPr>
            <p:spPr bwMode="auto">
              <a:xfrm>
                <a:off x="4614" y="1346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4" name="AutoShape 30"/>
              <p:cNvSpPr>
                <a:spLocks noChangeAspect="1" noChangeArrowheads="1"/>
              </p:cNvSpPr>
              <p:nvPr/>
            </p:nvSpPr>
            <p:spPr bwMode="auto">
              <a:xfrm>
                <a:off x="4480" y="1301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5" name="AutoShape 31"/>
              <p:cNvSpPr>
                <a:spLocks noChangeAspect="1" noChangeArrowheads="1"/>
              </p:cNvSpPr>
              <p:nvPr/>
            </p:nvSpPr>
            <p:spPr bwMode="auto">
              <a:xfrm>
                <a:off x="4547" y="1200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6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4984" y="1537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7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5163" y="1458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8" name="Rectangle 34"/>
              <p:cNvSpPr>
                <a:spLocks noChangeAspect="1" noChangeArrowheads="1"/>
              </p:cNvSpPr>
              <p:nvPr/>
            </p:nvSpPr>
            <p:spPr bwMode="auto">
              <a:xfrm>
                <a:off x="4984" y="1391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9" name="AutoShape 35"/>
              <p:cNvSpPr>
                <a:spLocks noChangeAspect="1" noChangeArrowheads="1"/>
              </p:cNvSpPr>
              <p:nvPr/>
            </p:nvSpPr>
            <p:spPr bwMode="auto">
              <a:xfrm flipV="1">
                <a:off x="3450" y="130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0" name="AutoShape 36"/>
              <p:cNvSpPr>
                <a:spLocks noChangeAspect="1" noChangeArrowheads="1"/>
              </p:cNvSpPr>
              <p:nvPr/>
            </p:nvSpPr>
            <p:spPr bwMode="auto">
              <a:xfrm flipV="1">
                <a:off x="3248" y="121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1" name="AutoShape 37"/>
              <p:cNvSpPr>
                <a:spLocks noChangeAspect="1" noChangeArrowheads="1"/>
              </p:cNvSpPr>
              <p:nvPr/>
            </p:nvSpPr>
            <p:spPr bwMode="auto">
              <a:xfrm flipV="1">
                <a:off x="3371" y="120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2" name="AutoShape 38"/>
              <p:cNvSpPr>
                <a:spLocks noChangeAspect="1" noChangeArrowheads="1"/>
              </p:cNvSpPr>
              <p:nvPr/>
            </p:nvSpPr>
            <p:spPr bwMode="auto">
              <a:xfrm flipV="1">
                <a:off x="3327" y="1290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3" name="AutoShape 39"/>
              <p:cNvSpPr>
                <a:spLocks noChangeAspect="1" noChangeArrowheads="1"/>
              </p:cNvSpPr>
              <p:nvPr/>
            </p:nvSpPr>
            <p:spPr bwMode="auto">
              <a:xfrm flipV="1">
                <a:off x="3259" y="1503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4" name="AutoShape 40"/>
              <p:cNvSpPr>
                <a:spLocks noChangeAspect="1" noChangeArrowheads="1"/>
              </p:cNvSpPr>
              <p:nvPr/>
            </p:nvSpPr>
            <p:spPr bwMode="auto">
              <a:xfrm flipV="1">
                <a:off x="3125" y="154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5" name="AutoShape 41"/>
              <p:cNvSpPr>
                <a:spLocks noChangeAspect="1" noChangeArrowheads="1"/>
              </p:cNvSpPr>
              <p:nvPr/>
            </p:nvSpPr>
            <p:spPr bwMode="auto">
              <a:xfrm flipV="1">
                <a:off x="3192" y="16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6" name="Oval 42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312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7" name="Oval 43"/>
              <p:cNvSpPr>
                <a:spLocks noChangeAspect="1" noChangeArrowheads="1"/>
              </p:cNvSpPr>
              <p:nvPr/>
            </p:nvSpPr>
            <p:spPr bwMode="auto">
              <a:xfrm flipV="1">
                <a:off x="3808" y="1391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8" name="Oval 4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458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7114" name="Rectangle 90"/>
            <p:cNvSpPr>
              <a:spLocks noChangeArrowheads="1"/>
            </p:cNvSpPr>
            <p:nvPr/>
          </p:nvSpPr>
          <p:spPr bwMode="auto">
            <a:xfrm>
              <a:off x="3413" y="1920"/>
              <a:ext cx="14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0">
                  <a:latin typeface="Times New Roman" charset="0"/>
                  <a:cs typeface="Times New Roman" charset="0"/>
                </a:rPr>
                <a:t>Six Clusters</a:t>
              </a:r>
              <a:r>
                <a:rPr lang="en-US" sz="1600" b="0">
                  <a:latin typeface="Times New Roman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380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9F04951-250A-B47A-45F9-BFC11CBF3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296150" cy="5334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en-US"/>
              <a:t>Quality: What Is Good Clustering?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F0F592F-88BC-B552-1DA0-8AF7FBBF2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4876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/>
              <a:t>A </a:t>
            </a:r>
            <a:r>
              <a:rPr lang="en-US" altLang="en-US" sz="2400" u="sng"/>
              <a:t>good clustering</a:t>
            </a:r>
            <a:r>
              <a:rPr lang="en-US" altLang="en-US" sz="2400"/>
              <a:t> method will produce high quality clusters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high </a:t>
            </a:r>
            <a:r>
              <a:rPr lang="en-US" altLang="en-US" sz="2400" u="sng"/>
              <a:t>intra-class</a:t>
            </a:r>
            <a:r>
              <a:rPr lang="en-US" altLang="en-US" sz="2400"/>
              <a:t> similarity: </a:t>
            </a:r>
            <a:r>
              <a:rPr lang="en-US" altLang="en-US" sz="2400">
                <a:solidFill>
                  <a:schemeClr val="hlink"/>
                </a:solidFill>
              </a:rPr>
              <a:t>cohesive</a:t>
            </a:r>
            <a:r>
              <a:rPr lang="en-US" altLang="en-US" sz="2400"/>
              <a:t> within clusters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low </a:t>
            </a:r>
            <a:r>
              <a:rPr lang="en-US" altLang="en-US" sz="2400" u="sng"/>
              <a:t>inter-class</a:t>
            </a:r>
            <a:r>
              <a:rPr lang="en-US" altLang="en-US" sz="2400"/>
              <a:t> similarity: </a:t>
            </a:r>
            <a:r>
              <a:rPr lang="en-US" altLang="en-US" sz="2400">
                <a:solidFill>
                  <a:schemeClr val="hlink"/>
                </a:solidFill>
              </a:rPr>
              <a:t>distinctive</a:t>
            </a:r>
            <a:r>
              <a:rPr lang="en-US" altLang="en-US" sz="2400"/>
              <a:t> between clusters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/>
              <a:t>The </a:t>
            </a:r>
            <a:r>
              <a:rPr lang="en-US" altLang="en-US" sz="2400" u="sng"/>
              <a:t>quality</a:t>
            </a:r>
            <a:r>
              <a:rPr lang="en-US" altLang="en-US" sz="2400"/>
              <a:t> of a clustering method depends on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the similarity measure used by the method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its implementation, and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Its ability to discover some or all of the </a:t>
            </a:r>
            <a:r>
              <a:rPr lang="en-US" altLang="en-US" sz="2400" u="sng"/>
              <a:t>hidden</a:t>
            </a:r>
            <a:r>
              <a:rPr lang="en-US" altLang="en-US" sz="2400"/>
              <a:t> patterns</a:t>
            </a:r>
          </a:p>
        </p:txBody>
      </p:sp>
      <p:sp>
        <p:nvSpPr>
          <p:cNvPr id="10244" name="Slide Number Placeholder 6">
            <a:extLst>
              <a:ext uri="{FF2B5EF4-FFF2-40B4-BE49-F238E27FC236}">
                <a16:creationId xmlns:a16="http://schemas.microsoft.com/office/drawing/2014/main" id="{FE2421E2-02E1-3913-E925-C9B17DDAE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EED9707-B11F-9244-9D9A-A49871F939E2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D41527B-F616-BE73-C873-FC1DD4393F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228600"/>
            <a:ext cx="67056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Measure the Quality of Clustering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6230BE7-BB58-19E3-944F-5FF9AA4E00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458200" cy="5257800"/>
          </a:xfrm>
          <a:noFill/>
        </p:spPr>
        <p:txBody>
          <a:bodyPr lIns="92075" tIns="46038" rIns="92075" bIns="46038">
            <a:normAutofit lnSpcReduction="10000"/>
          </a:bodyPr>
          <a:lstStyle/>
          <a:p>
            <a:pPr marL="457200" indent="-457200" eaLnBrk="1" hangingPunct="1"/>
            <a:r>
              <a:rPr lang="en-US" altLang="en-US" sz="2400">
                <a:solidFill>
                  <a:schemeClr val="hlink"/>
                </a:solidFill>
              </a:rPr>
              <a:t>Dissimilarity/Similarity metric</a:t>
            </a:r>
            <a:endParaRPr lang="en-US" altLang="en-US" sz="2400"/>
          </a:p>
          <a:p>
            <a:pPr marL="914400" lvl="1" indent="-457200" eaLnBrk="1" hangingPunct="1"/>
            <a:r>
              <a:rPr lang="en-US" altLang="en-US" sz="2400"/>
              <a:t>Similarity is expressed in terms of a distance function, typically metric: </a:t>
            </a:r>
            <a:r>
              <a:rPr lang="en-US" altLang="en-US" sz="2400" i="1"/>
              <a:t>d</a:t>
            </a:r>
            <a:r>
              <a:rPr lang="en-US" altLang="en-US" sz="2400"/>
              <a:t>(</a:t>
            </a:r>
            <a:r>
              <a:rPr lang="en-US" altLang="en-US" sz="2400" i="1"/>
              <a:t>i, j</a:t>
            </a:r>
            <a:r>
              <a:rPr lang="en-US" altLang="en-US" sz="2400"/>
              <a:t>)</a:t>
            </a:r>
          </a:p>
          <a:p>
            <a:pPr marL="914400" lvl="1" indent="-457200" eaLnBrk="1" hangingPunct="1"/>
            <a:r>
              <a:rPr lang="en-US" altLang="en-US" sz="2400"/>
              <a:t>The definitions of </a:t>
            </a:r>
            <a:r>
              <a:rPr lang="en-US" altLang="en-US" sz="2400">
                <a:solidFill>
                  <a:schemeClr val="hlink"/>
                </a:solidFill>
              </a:rPr>
              <a:t>distance functions</a:t>
            </a:r>
            <a:r>
              <a:rPr lang="en-US" altLang="en-US" sz="2400"/>
              <a:t> are usually rather different for interval-scaled, boolean, categorical, ordinal ratio, and vector variables</a:t>
            </a:r>
          </a:p>
          <a:p>
            <a:pPr marL="914400" lvl="1" indent="-457200" eaLnBrk="1" hangingPunct="1"/>
            <a:r>
              <a:rPr lang="en-US" altLang="en-US" sz="2400"/>
              <a:t>Weights should be associated with different variables based on applications and data semantics</a:t>
            </a:r>
            <a:endParaRPr lang="en-US" altLang="en-US" sz="2400">
              <a:sym typeface="Symbol" pitchFamily="2" charset="2"/>
            </a:endParaRPr>
          </a:p>
          <a:p>
            <a:pPr marL="457200" indent="-457200" eaLnBrk="1" hangingPunct="1"/>
            <a:r>
              <a:rPr lang="en-US" altLang="en-US" sz="2400"/>
              <a:t>Quality of clustering:</a:t>
            </a:r>
          </a:p>
          <a:p>
            <a:pPr marL="914400" lvl="1" indent="-457200" eaLnBrk="1" hangingPunct="1"/>
            <a:r>
              <a:rPr lang="en-US" altLang="en-US" sz="2400"/>
              <a:t>There is usually a separate “quality” function that measures the “goodness” of a cluster.</a:t>
            </a:r>
          </a:p>
          <a:p>
            <a:pPr marL="914400" lvl="1" indent="-457200" eaLnBrk="1" hangingPunct="1"/>
            <a:r>
              <a:rPr lang="en-US" altLang="en-US" sz="2400">
                <a:sym typeface="Symbol" pitchFamily="2" charset="2"/>
              </a:rPr>
              <a:t>It is hard to define “similar enough” or “good enough” </a:t>
            </a:r>
          </a:p>
          <a:p>
            <a:pPr marL="1371600" lvl="2" indent="-457200" eaLnBrk="1" hangingPunct="1"/>
            <a:r>
              <a:rPr lang="en-US" altLang="en-US">
                <a:sym typeface="Symbol" pitchFamily="2" charset="2"/>
              </a:rPr>
              <a:t> The answer is typically highly subjective</a:t>
            </a:r>
          </a:p>
        </p:txBody>
      </p:sp>
      <p:sp>
        <p:nvSpPr>
          <p:cNvPr id="11268" name="Slide Number Placeholder 6">
            <a:extLst>
              <a:ext uri="{FF2B5EF4-FFF2-40B4-BE49-F238E27FC236}">
                <a16:creationId xmlns:a16="http://schemas.microsoft.com/office/drawing/2014/main" id="{B2219B04-F740-E20D-6282-FE0C125E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4D24186-F812-D94F-A17E-2E6C1ABF32B8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2016FA9B-06BB-B3C0-83B6-18DECC549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Considerations for Cluster Analysis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0D160B0B-443F-BDF6-E36F-C9544CDBD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000"/>
              <a:t>Partitioning criteria</a:t>
            </a:r>
          </a:p>
          <a:p>
            <a:pPr lvl="1">
              <a:spcAft>
                <a:spcPts val="600"/>
              </a:spcAft>
            </a:pPr>
            <a:r>
              <a:rPr lang="en-US" altLang="en-US" sz="2000"/>
              <a:t>Single level vs. hierarchical partitioning (often, multi-level hierarchical partitioning is desirable)</a:t>
            </a:r>
          </a:p>
          <a:p>
            <a:pPr>
              <a:spcAft>
                <a:spcPts val="600"/>
              </a:spcAft>
            </a:pPr>
            <a:r>
              <a:rPr lang="en-US" altLang="en-US" sz="2000"/>
              <a:t>Separation of clusters</a:t>
            </a:r>
          </a:p>
          <a:p>
            <a:pPr lvl="1">
              <a:spcAft>
                <a:spcPts val="600"/>
              </a:spcAft>
            </a:pPr>
            <a:r>
              <a:rPr lang="en-US" altLang="en-US" sz="2000"/>
              <a:t>Exclusive (e.g., one customer belongs to only one region) vs. non-exclusive (e.g., one document may belong to more than one class)</a:t>
            </a:r>
          </a:p>
          <a:p>
            <a:pPr>
              <a:spcAft>
                <a:spcPts val="600"/>
              </a:spcAft>
            </a:pPr>
            <a:r>
              <a:rPr lang="en-US" altLang="en-US" sz="2000"/>
              <a:t>Similarity measure</a:t>
            </a:r>
          </a:p>
          <a:p>
            <a:pPr lvl="1">
              <a:spcAft>
                <a:spcPts val="600"/>
              </a:spcAft>
            </a:pPr>
            <a:r>
              <a:rPr lang="en-US" altLang="en-US" sz="2000"/>
              <a:t>Distance-based (e.g., Euclidian, road network, vector)  vs. connectivity-based (e.g., density or contiguity)</a:t>
            </a:r>
          </a:p>
          <a:p>
            <a:pPr>
              <a:spcAft>
                <a:spcPts val="600"/>
              </a:spcAft>
            </a:pPr>
            <a:r>
              <a:rPr lang="en-US" altLang="en-US" sz="2000"/>
              <a:t>Clustering space</a:t>
            </a:r>
          </a:p>
          <a:p>
            <a:pPr lvl="1">
              <a:spcAft>
                <a:spcPts val="600"/>
              </a:spcAft>
            </a:pPr>
            <a:r>
              <a:rPr lang="en-US" altLang="en-US" sz="2000"/>
              <a:t>Full space (often when low dimensional) vs. subspaces (often in high-dimensional clustering)</a:t>
            </a:r>
          </a:p>
        </p:txBody>
      </p:sp>
      <p:sp>
        <p:nvSpPr>
          <p:cNvPr id="12292" name="Slide Number Placeholder 6">
            <a:extLst>
              <a:ext uri="{FF2B5EF4-FFF2-40B4-BE49-F238E27FC236}">
                <a16:creationId xmlns:a16="http://schemas.microsoft.com/office/drawing/2014/main" id="{E3A861E6-7621-4BDE-80DF-F1E00711B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7A6E570-BA07-BD44-A37C-D61079B79390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842E61FA-A62A-950A-CD6E-FAF2F8ABC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Requirements and Challenges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8F15850D-928D-6272-90D8-852B0A974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Scalability</a:t>
            </a:r>
          </a:p>
          <a:p>
            <a:pPr lvl="1"/>
            <a:r>
              <a:rPr lang="en-US" altLang="en-US" sz="2000"/>
              <a:t>Clustering all the data instead of only on samples</a:t>
            </a:r>
          </a:p>
          <a:p>
            <a:r>
              <a:rPr lang="en-US" altLang="en-US" sz="2000"/>
              <a:t>Ability to deal with different types of attributes</a:t>
            </a:r>
          </a:p>
          <a:p>
            <a:pPr lvl="1"/>
            <a:r>
              <a:rPr lang="en-US" altLang="en-US" sz="2000"/>
              <a:t>Numerical, binary, categorical, ordinal, linked, and mixture of these </a:t>
            </a:r>
          </a:p>
          <a:p>
            <a:r>
              <a:rPr lang="en-US" altLang="en-US" sz="2000"/>
              <a:t>Constraint-based clustering</a:t>
            </a:r>
          </a:p>
          <a:p>
            <a:pPr marL="742950" lvl="2" indent="-342900">
              <a:buSzPct val="60000"/>
            </a:pPr>
            <a:r>
              <a:rPr lang="en-US" altLang="en-US" sz="2000"/>
              <a:t>User may give inputs on constraints</a:t>
            </a:r>
          </a:p>
          <a:p>
            <a:pPr marL="742950" lvl="2" indent="-342900">
              <a:buSzPct val="60000"/>
            </a:pPr>
            <a:r>
              <a:rPr lang="en-US" altLang="en-US" sz="2000"/>
              <a:t>Use domain knowledge to determine input parameters</a:t>
            </a:r>
          </a:p>
          <a:p>
            <a:r>
              <a:rPr lang="en-US" altLang="en-US" sz="2000"/>
              <a:t>Interpretability and usability</a:t>
            </a:r>
          </a:p>
          <a:p>
            <a:r>
              <a:rPr lang="en-US" altLang="en-US" sz="2000"/>
              <a:t>Others </a:t>
            </a:r>
          </a:p>
          <a:p>
            <a:pPr lvl="1"/>
            <a:r>
              <a:rPr lang="en-US" altLang="en-US" sz="2000"/>
              <a:t>Discovery of clusters with arbitrary shape</a:t>
            </a:r>
          </a:p>
          <a:p>
            <a:pPr lvl="1"/>
            <a:r>
              <a:rPr lang="en-US" altLang="en-US" sz="2000"/>
              <a:t>Ability to deal with noisy data</a:t>
            </a:r>
          </a:p>
          <a:p>
            <a:pPr lvl="1"/>
            <a:r>
              <a:rPr lang="en-US" altLang="en-US" sz="2000"/>
              <a:t>Incremental clustering and insensitivity to input order</a:t>
            </a:r>
          </a:p>
          <a:p>
            <a:pPr lvl="1"/>
            <a:r>
              <a:rPr lang="en-US" altLang="en-US" sz="2000"/>
              <a:t>High dimensionality</a:t>
            </a:r>
          </a:p>
        </p:txBody>
      </p:sp>
      <p:sp>
        <p:nvSpPr>
          <p:cNvPr id="13316" name="Slide Number Placeholder 6">
            <a:extLst>
              <a:ext uri="{FF2B5EF4-FFF2-40B4-BE49-F238E27FC236}">
                <a16:creationId xmlns:a16="http://schemas.microsoft.com/office/drawing/2014/main" id="{9C71776A-78A3-59D9-014C-E60CB14C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9B1CB37-0D34-234D-B5A2-A3F04FBB3D62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89816B8-72FC-5AAB-D52D-452D77404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63246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Major Clustering Approaches (I)</a:t>
            </a:r>
            <a:endParaRPr lang="en-US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89E3960-2B4A-1045-49F1-68B09707B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51054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000" u="sng"/>
              <a:t>Partitioning approach</a:t>
            </a:r>
            <a:r>
              <a:rPr lang="en-US" altLang="en-US" sz="2000"/>
              <a:t>: </a:t>
            </a:r>
          </a:p>
          <a:p>
            <a:pPr lvl="1" eaLnBrk="1" hangingPunct="1"/>
            <a:r>
              <a:rPr lang="en-US" altLang="en-US" sz="2000"/>
              <a:t>Construct various partitions and then evaluate them by some criterion, e.g., minimizing the sum of square errors</a:t>
            </a:r>
          </a:p>
          <a:p>
            <a:pPr lvl="1" eaLnBrk="1" hangingPunct="1"/>
            <a:r>
              <a:rPr lang="en-US" altLang="en-US" sz="2000"/>
              <a:t>Typical methods: k-means, k-medoids, CLARANS</a:t>
            </a:r>
          </a:p>
          <a:p>
            <a:pPr eaLnBrk="1" hangingPunct="1"/>
            <a:r>
              <a:rPr lang="en-US" altLang="en-US" sz="2000" u="sng"/>
              <a:t>Hierarchical approach</a:t>
            </a:r>
            <a:r>
              <a:rPr lang="en-US" altLang="en-US" sz="2000"/>
              <a:t>: </a:t>
            </a:r>
          </a:p>
          <a:p>
            <a:pPr lvl="1" eaLnBrk="1" hangingPunct="1"/>
            <a:r>
              <a:rPr lang="en-US" altLang="en-US" sz="2000"/>
              <a:t>Create a hierarchical decomposition of the set of data (or objects) using some criterion</a:t>
            </a:r>
          </a:p>
          <a:p>
            <a:pPr lvl="1" eaLnBrk="1" hangingPunct="1"/>
            <a:r>
              <a:rPr lang="en-US" altLang="en-US" sz="2000"/>
              <a:t>Typical methods: Diana, Agnes, BIRCH, CAMELEON</a:t>
            </a:r>
          </a:p>
          <a:p>
            <a:pPr eaLnBrk="1" hangingPunct="1"/>
            <a:r>
              <a:rPr lang="en-US" altLang="en-US" sz="2000" u="sng"/>
              <a:t>Density-based approach</a:t>
            </a:r>
            <a:r>
              <a:rPr lang="en-US" altLang="en-US" sz="2000"/>
              <a:t>: </a:t>
            </a:r>
          </a:p>
          <a:p>
            <a:pPr lvl="1" eaLnBrk="1" hangingPunct="1"/>
            <a:r>
              <a:rPr lang="en-US" altLang="en-US" sz="2000"/>
              <a:t>Based on connectivity and density functions</a:t>
            </a:r>
          </a:p>
          <a:p>
            <a:pPr lvl="1" eaLnBrk="1" hangingPunct="1"/>
            <a:r>
              <a:rPr lang="en-US" altLang="en-US" sz="2000"/>
              <a:t>Typical methods: DBSACN, OPTICS, DenClue</a:t>
            </a:r>
          </a:p>
          <a:p>
            <a:pPr eaLnBrk="1" hangingPunct="1"/>
            <a:r>
              <a:rPr lang="en-US" altLang="en-US" sz="2000" u="sng"/>
              <a:t>Grid-based approach</a:t>
            </a:r>
            <a:r>
              <a:rPr lang="en-US" altLang="en-US" sz="2000"/>
              <a:t>: </a:t>
            </a:r>
          </a:p>
          <a:p>
            <a:pPr lvl="1" eaLnBrk="1" hangingPunct="1"/>
            <a:r>
              <a:rPr lang="en-US" altLang="en-US" sz="2000"/>
              <a:t>based on a multiple-level granularity structure</a:t>
            </a:r>
          </a:p>
          <a:p>
            <a:pPr lvl="1" eaLnBrk="1" hangingPunct="1"/>
            <a:r>
              <a:rPr lang="en-US" altLang="en-US" sz="2000"/>
              <a:t>Typical methods: STING, WaveCluster, CLIQUE</a:t>
            </a:r>
          </a:p>
        </p:txBody>
      </p:sp>
      <p:sp>
        <p:nvSpPr>
          <p:cNvPr id="14340" name="Slide Number Placeholder 6">
            <a:extLst>
              <a:ext uri="{FF2B5EF4-FFF2-40B4-BE49-F238E27FC236}">
                <a16:creationId xmlns:a16="http://schemas.microsoft.com/office/drawing/2014/main" id="{2D8039F9-561A-4AEF-F7EC-897DAF2C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1303E3B-4BDA-C44F-A811-593D587C16F0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CB088BC-AACF-7EAF-FCBE-47DAA70063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63246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Major Clustering Approaches (II)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2D141C1-D58C-860E-6272-916CBAACB9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000" u="sng"/>
              <a:t>Model-based</a:t>
            </a:r>
            <a:r>
              <a:rPr lang="en-US" altLang="en-US" sz="2000"/>
              <a:t>: </a:t>
            </a:r>
          </a:p>
          <a:p>
            <a:pPr lvl="1" eaLnBrk="1" hangingPunct="1"/>
            <a:r>
              <a:rPr lang="en-US" altLang="en-US" sz="2000"/>
              <a:t>A model is hypothesized for each of the clusters and tries to find the best fit of that model to each other</a:t>
            </a:r>
          </a:p>
          <a:p>
            <a:pPr lvl="1" eaLnBrk="1" hangingPunct="1"/>
            <a:r>
              <a:rPr lang="en-US" altLang="en-US" sz="2000"/>
              <a:t>Typical methods:</a:t>
            </a:r>
            <a:r>
              <a:rPr lang="en-US" altLang="en-US" sz="2000" b="1"/>
              <a:t> </a:t>
            </a:r>
            <a:r>
              <a:rPr lang="en-US" altLang="en-US" sz="2000"/>
              <a:t>EM, SOM, COBWEB</a:t>
            </a:r>
          </a:p>
          <a:p>
            <a:pPr eaLnBrk="1" hangingPunct="1"/>
            <a:r>
              <a:rPr lang="en-US" altLang="en-US" sz="2000" u="sng"/>
              <a:t>Frequent pattern-based:</a:t>
            </a:r>
          </a:p>
          <a:p>
            <a:pPr lvl="1" eaLnBrk="1" hangingPunct="1"/>
            <a:r>
              <a:rPr lang="en-US" altLang="en-US" sz="2000"/>
              <a:t>Based on the analysis of frequent patterns</a:t>
            </a:r>
          </a:p>
          <a:p>
            <a:pPr lvl="1" eaLnBrk="1" hangingPunct="1"/>
            <a:r>
              <a:rPr lang="en-US" altLang="en-US" sz="2000"/>
              <a:t>Typical methods: p-Cluster</a:t>
            </a:r>
          </a:p>
          <a:p>
            <a:pPr eaLnBrk="1" hangingPunct="1"/>
            <a:r>
              <a:rPr lang="en-US" altLang="en-US" sz="2000" u="sng"/>
              <a:t>User-guided or constraint-based</a:t>
            </a:r>
            <a:r>
              <a:rPr lang="en-US" altLang="en-US" sz="2000"/>
              <a:t>: </a:t>
            </a:r>
          </a:p>
          <a:p>
            <a:pPr lvl="1" eaLnBrk="1" hangingPunct="1"/>
            <a:r>
              <a:rPr lang="en-US" altLang="en-US" sz="2000"/>
              <a:t>Clustering by considering user-specified or application-specific constraints</a:t>
            </a:r>
          </a:p>
          <a:p>
            <a:pPr lvl="1" eaLnBrk="1" hangingPunct="1"/>
            <a:r>
              <a:rPr lang="en-US" altLang="en-US" sz="2000"/>
              <a:t>Typical methods: COD (obstacles), constrained clustering</a:t>
            </a:r>
          </a:p>
          <a:p>
            <a:pPr eaLnBrk="1" hangingPunct="1"/>
            <a:r>
              <a:rPr lang="en-US" altLang="en-US" sz="2000" u="sng"/>
              <a:t>Link-based clustering</a:t>
            </a:r>
            <a:r>
              <a:rPr lang="en-US" altLang="en-US" sz="2000"/>
              <a:t>:</a:t>
            </a:r>
          </a:p>
          <a:p>
            <a:pPr lvl="1" eaLnBrk="1" hangingPunct="1"/>
            <a:r>
              <a:rPr lang="en-US" altLang="en-US" sz="2000"/>
              <a:t>Objects are often linked together in various ways</a:t>
            </a:r>
          </a:p>
          <a:p>
            <a:pPr lvl="1" eaLnBrk="1" hangingPunct="1"/>
            <a:r>
              <a:rPr lang="en-US" altLang="en-US" sz="2000"/>
              <a:t>Massive links can be used to cluster objects: SimRank, LinkClus</a:t>
            </a:r>
          </a:p>
        </p:txBody>
      </p:sp>
      <p:sp>
        <p:nvSpPr>
          <p:cNvPr id="15364" name="Slide Number Placeholder 6">
            <a:extLst>
              <a:ext uri="{FF2B5EF4-FFF2-40B4-BE49-F238E27FC236}">
                <a16:creationId xmlns:a16="http://schemas.microsoft.com/office/drawing/2014/main" id="{B791A6EE-7385-26B5-E2A3-5DF8A74AA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D1247E3-BD19-2840-93DE-F7DB49168C9E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Types of Clustering</a:t>
            </a:r>
          </a:p>
        </p:txBody>
      </p:sp>
      <p:sp>
        <p:nvSpPr>
          <p:cNvPr id="1538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clustering </a:t>
            </a:r>
            <a:r>
              <a:rPr lang="en-US" dirty="0"/>
              <a:t>is a set of </a:t>
            </a:r>
            <a:r>
              <a:rPr lang="en-US" dirty="0">
                <a:solidFill>
                  <a:srgbClr val="0070C0"/>
                </a:solidFill>
              </a:rPr>
              <a:t>clusters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2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Important distinction between </a:t>
            </a:r>
            <a:r>
              <a:rPr lang="en-US" dirty="0">
                <a:solidFill>
                  <a:srgbClr val="0070C0"/>
                </a:solidFill>
              </a:rPr>
              <a:t>hierarchical </a:t>
            </a:r>
            <a:r>
              <a:rPr lang="en-US" dirty="0"/>
              <a:t>and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partitional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sets of clusters </a:t>
            </a:r>
            <a:endParaRPr lang="en-US" dirty="0">
              <a:solidFill>
                <a:srgbClr val="FFCC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200" dirty="0">
              <a:solidFill>
                <a:srgbClr val="FFCC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Partitional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Clustering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A division data objects into subsets (</a:t>
            </a:r>
            <a:r>
              <a:rPr lang="en-US" dirty="0">
                <a:solidFill>
                  <a:srgbClr val="FF0000"/>
                </a:solidFill>
              </a:rPr>
              <a:t>clusters</a:t>
            </a:r>
            <a:r>
              <a:rPr lang="en-US" dirty="0"/>
              <a:t>) such that each data object is in exactly one subset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sz="1000" dirty="0">
              <a:solidFill>
                <a:srgbClr val="FFCC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rgbClr val="0070C0"/>
                </a:solidFill>
              </a:rPr>
              <a:t>Hierarchical</a:t>
            </a:r>
            <a:r>
              <a:rPr lang="en-US" dirty="0"/>
              <a:t> clustering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A set of nested clusters organized as a hierarchical tree </a:t>
            </a:r>
          </a:p>
        </p:txBody>
      </p:sp>
    </p:spTree>
    <p:extLst>
      <p:ext uri="{BB962C8B-B14F-4D97-AF65-F5344CB8AC3E}">
        <p14:creationId xmlns:p14="http://schemas.microsoft.com/office/powerpoint/2010/main" val="2709534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1143000"/>
          </a:xfrm>
        </p:spPr>
        <p:txBody>
          <a:bodyPr>
            <a:normAutofit/>
          </a:bodyPr>
          <a:lstStyle/>
          <a:p>
            <a:r>
              <a:rPr lang="en-US" dirty="0" err="1"/>
              <a:t>Partitional</a:t>
            </a:r>
            <a:r>
              <a:rPr lang="en-US" dirty="0"/>
              <a:t> Clustering</a:t>
            </a:r>
          </a:p>
        </p:txBody>
      </p:sp>
      <p:sp>
        <p:nvSpPr>
          <p:cNvPr id="1539076" name="Freeform 4"/>
          <p:cNvSpPr>
            <a:spLocks/>
          </p:cNvSpPr>
          <p:nvPr/>
        </p:nvSpPr>
        <p:spPr bwMode="auto">
          <a:xfrm>
            <a:off x="1254125" y="2989262"/>
            <a:ext cx="96838" cy="101600"/>
          </a:xfrm>
          <a:custGeom>
            <a:avLst/>
            <a:gdLst>
              <a:gd name="T0" fmla="*/ 61 w 61"/>
              <a:gd name="T1" fmla="*/ 30 h 64"/>
              <a:gd name="T2" fmla="*/ 55 w 61"/>
              <a:gd name="T3" fmla="*/ 49 h 64"/>
              <a:gd name="T4" fmla="*/ 43 w 61"/>
              <a:gd name="T5" fmla="*/ 61 h 64"/>
              <a:gd name="T6" fmla="*/ 24 w 61"/>
              <a:gd name="T7" fmla="*/ 64 h 64"/>
              <a:gd name="T8" fmla="*/ 9 w 61"/>
              <a:gd name="T9" fmla="*/ 55 h 64"/>
              <a:gd name="T10" fmla="*/ 0 w 61"/>
              <a:gd name="T11" fmla="*/ 39 h 64"/>
              <a:gd name="T12" fmla="*/ 0 w 61"/>
              <a:gd name="T13" fmla="*/ 24 h 64"/>
              <a:gd name="T14" fmla="*/ 9 w 61"/>
              <a:gd name="T15" fmla="*/ 9 h 64"/>
              <a:gd name="T16" fmla="*/ 24 w 61"/>
              <a:gd name="T17" fmla="*/ 0 h 64"/>
              <a:gd name="T18" fmla="*/ 43 w 61"/>
              <a:gd name="T19" fmla="*/ 3 h 64"/>
              <a:gd name="T20" fmla="*/ 55 w 61"/>
              <a:gd name="T21" fmla="*/ 15 h 64"/>
              <a:gd name="T22" fmla="*/ 61 w 61"/>
              <a:gd name="T23" fmla="*/ 3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4">
                <a:moveTo>
                  <a:pt x="61" y="30"/>
                </a:moveTo>
                <a:lnTo>
                  <a:pt x="55" y="49"/>
                </a:lnTo>
                <a:lnTo>
                  <a:pt x="43" y="61"/>
                </a:lnTo>
                <a:lnTo>
                  <a:pt x="24" y="64"/>
                </a:lnTo>
                <a:lnTo>
                  <a:pt x="9" y="55"/>
                </a:lnTo>
                <a:lnTo>
                  <a:pt x="0" y="39"/>
                </a:lnTo>
                <a:lnTo>
                  <a:pt x="0" y="24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77" name="Freeform 5"/>
          <p:cNvSpPr>
            <a:spLocks/>
          </p:cNvSpPr>
          <p:nvPr/>
        </p:nvSpPr>
        <p:spPr bwMode="auto">
          <a:xfrm>
            <a:off x="1254125" y="3187700"/>
            <a:ext cx="96838" cy="98425"/>
          </a:xfrm>
          <a:custGeom>
            <a:avLst/>
            <a:gdLst>
              <a:gd name="T0" fmla="*/ 61 w 61"/>
              <a:gd name="T1" fmla="*/ 31 h 62"/>
              <a:gd name="T2" fmla="*/ 55 w 61"/>
              <a:gd name="T3" fmla="*/ 49 h 62"/>
              <a:gd name="T4" fmla="*/ 43 w 61"/>
              <a:gd name="T5" fmla="*/ 62 h 62"/>
              <a:gd name="T6" fmla="*/ 24 w 61"/>
              <a:gd name="T7" fmla="*/ 62 h 62"/>
              <a:gd name="T8" fmla="*/ 9 w 61"/>
              <a:gd name="T9" fmla="*/ 55 h 62"/>
              <a:gd name="T10" fmla="*/ 0 w 61"/>
              <a:gd name="T11" fmla="*/ 40 h 62"/>
              <a:gd name="T12" fmla="*/ 0 w 61"/>
              <a:gd name="T13" fmla="*/ 22 h 62"/>
              <a:gd name="T14" fmla="*/ 9 w 61"/>
              <a:gd name="T15" fmla="*/ 9 h 62"/>
              <a:gd name="T16" fmla="*/ 24 w 61"/>
              <a:gd name="T17" fmla="*/ 0 h 62"/>
              <a:gd name="T18" fmla="*/ 43 w 61"/>
              <a:gd name="T19" fmla="*/ 3 h 62"/>
              <a:gd name="T20" fmla="*/ 55 w 61"/>
              <a:gd name="T21" fmla="*/ 16 h 62"/>
              <a:gd name="T22" fmla="*/ 61 w 61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62"/>
                </a:lnTo>
                <a:lnTo>
                  <a:pt x="24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78" name="Freeform 6"/>
          <p:cNvSpPr>
            <a:spLocks/>
          </p:cNvSpPr>
          <p:nvPr/>
        </p:nvSpPr>
        <p:spPr bwMode="auto">
          <a:xfrm>
            <a:off x="1951038" y="5183187"/>
            <a:ext cx="96837" cy="98425"/>
          </a:xfrm>
          <a:custGeom>
            <a:avLst/>
            <a:gdLst>
              <a:gd name="T0" fmla="*/ 61 w 61"/>
              <a:gd name="T1" fmla="*/ 31 h 62"/>
              <a:gd name="T2" fmla="*/ 55 w 61"/>
              <a:gd name="T3" fmla="*/ 46 h 62"/>
              <a:gd name="T4" fmla="*/ 43 w 61"/>
              <a:gd name="T5" fmla="*/ 59 h 62"/>
              <a:gd name="T6" fmla="*/ 24 w 61"/>
              <a:gd name="T7" fmla="*/ 62 h 62"/>
              <a:gd name="T8" fmla="*/ 9 w 61"/>
              <a:gd name="T9" fmla="*/ 53 h 62"/>
              <a:gd name="T10" fmla="*/ 0 w 61"/>
              <a:gd name="T11" fmla="*/ 40 h 62"/>
              <a:gd name="T12" fmla="*/ 0 w 61"/>
              <a:gd name="T13" fmla="*/ 22 h 62"/>
              <a:gd name="T14" fmla="*/ 9 w 61"/>
              <a:gd name="T15" fmla="*/ 7 h 62"/>
              <a:gd name="T16" fmla="*/ 24 w 61"/>
              <a:gd name="T17" fmla="*/ 0 h 62"/>
              <a:gd name="T18" fmla="*/ 43 w 61"/>
              <a:gd name="T19" fmla="*/ 0 h 62"/>
              <a:gd name="T20" fmla="*/ 55 w 61"/>
              <a:gd name="T21" fmla="*/ 13 h 62"/>
              <a:gd name="T22" fmla="*/ 61 w 61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2">
                <a:moveTo>
                  <a:pt x="61" y="31"/>
                </a:moveTo>
                <a:lnTo>
                  <a:pt x="55" y="46"/>
                </a:lnTo>
                <a:lnTo>
                  <a:pt x="43" y="59"/>
                </a:lnTo>
                <a:lnTo>
                  <a:pt x="24" y="62"/>
                </a:lnTo>
                <a:lnTo>
                  <a:pt x="9" y="53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0"/>
                </a:lnTo>
                <a:lnTo>
                  <a:pt x="55" y="13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79" name="Freeform 7"/>
          <p:cNvSpPr>
            <a:spLocks/>
          </p:cNvSpPr>
          <p:nvPr/>
        </p:nvSpPr>
        <p:spPr bwMode="auto">
          <a:xfrm>
            <a:off x="1550988" y="3090862"/>
            <a:ext cx="96837" cy="96838"/>
          </a:xfrm>
          <a:custGeom>
            <a:avLst/>
            <a:gdLst>
              <a:gd name="T0" fmla="*/ 61 w 61"/>
              <a:gd name="T1" fmla="*/ 31 h 61"/>
              <a:gd name="T2" fmla="*/ 58 w 61"/>
              <a:gd name="T3" fmla="*/ 46 h 61"/>
              <a:gd name="T4" fmla="*/ 43 w 61"/>
              <a:gd name="T5" fmla="*/ 58 h 61"/>
              <a:gd name="T6" fmla="*/ 25 w 61"/>
              <a:gd name="T7" fmla="*/ 61 h 61"/>
              <a:gd name="T8" fmla="*/ 9 w 61"/>
              <a:gd name="T9" fmla="*/ 55 h 61"/>
              <a:gd name="T10" fmla="*/ 0 w 61"/>
              <a:gd name="T11" fmla="*/ 40 h 61"/>
              <a:gd name="T12" fmla="*/ 0 w 61"/>
              <a:gd name="T13" fmla="*/ 21 h 61"/>
              <a:gd name="T14" fmla="*/ 9 w 61"/>
              <a:gd name="T15" fmla="*/ 6 h 61"/>
              <a:gd name="T16" fmla="*/ 25 w 61"/>
              <a:gd name="T17" fmla="*/ 0 h 61"/>
              <a:gd name="T18" fmla="*/ 43 w 61"/>
              <a:gd name="T19" fmla="*/ 3 h 61"/>
              <a:gd name="T20" fmla="*/ 58 w 61"/>
              <a:gd name="T21" fmla="*/ 12 h 61"/>
              <a:gd name="T22" fmla="*/ 61 w 61"/>
              <a:gd name="T23" fmla="*/ 3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1">
                <a:moveTo>
                  <a:pt x="61" y="31"/>
                </a:moveTo>
                <a:lnTo>
                  <a:pt x="58" y="46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0" name="Freeform 8"/>
          <p:cNvSpPr>
            <a:spLocks/>
          </p:cNvSpPr>
          <p:nvPr/>
        </p:nvSpPr>
        <p:spPr bwMode="auto">
          <a:xfrm>
            <a:off x="1951038" y="4386262"/>
            <a:ext cx="96837" cy="96838"/>
          </a:xfrm>
          <a:custGeom>
            <a:avLst/>
            <a:gdLst>
              <a:gd name="T0" fmla="*/ 61 w 61"/>
              <a:gd name="T1" fmla="*/ 30 h 61"/>
              <a:gd name="T2" fmla="*/ 55 w 61"/>
              <a:gd name="T3" fmla="*/ 46 h 61"/>
              <a:gd name="T4" fmla="*/ 43 w 61"/>
              <a:gd name="T5" fmla="*/ 58 h 61"/>
              <a:gd name="T6" fmla="*/ 24 w 61"/>
              <a:gd name="T7" fmla="*/ 61 h 61"/>
              <a:gd name="T8" fmla="*/ 9 w 61"/>
              <a:gd name="T9" fmla="*/ 55 h 61"/>
              <a:gd name="T10" fmla="*/ 0 w 61"/>
              <a:gd name="T11" fmla="*/ 39 h 61"/>
              <a:gd name="T12" fmla="*/ 0 w 61"/>
              <a:gd name="T13" fmla="*/ 21 h 61"/>
              <a:gd name="T14" fmla="*/ 9 w 61"/>
              <a:gd name="T15" fmla="*/ 6 h 61"/>
              <a:gd name="T16" fmla="*/ 24 w 61"/>
              <a:gd name="T17" fmla="*/ 0 h 61"/>
              <a:gd name="T18" fmla="*/ 43 w 61"/>
              <a:gd name="T19" fmla="*/ 3 h 61"/>
              <a:gd name="T20" fmla="*/ 55 w 61"/>
              <a:gd name="T21" fmla="*/ 12 h 61"/>
              <a:gd name="T22" fmla="*/ 61 w 61"/>
              <a:gd name="T23" fmla="*/ 3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1">
                <a:moveTo>
                  <a:pt x="61" y="30"/>
                </a:moveTo>
                <a:lnTo>
                  <a:pt x="55" y="46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1" name="Freeform 9"/>
          <p:cNvSpPr>
            <a:spLocks/>
          </p:cNvSpPr>
          <p:nvPr/>
        </p:nvSpPr>
        <p:spPr bwMode="auto">
          <a:xfrm>
            <a:off x="2120900" y="2297112"/>
            <a:ext cx="98425" cy="98425"/>
          </a:xfrm>
          <a:custGeom>
            <a:avLst/>
            <a:gdLst>
              <a:gd name="T0" fmla="*/ 62 w 62"/>
              <a:gd name="T1" fmla="*/ 31 h 62"/>
              <a:gd name="T2" fmla="*/ 56 w 62"/>
              <a:gd name="T3" fmla="*/ 46 h 62"/>
              <a:gd name="T4" fmla="*/ 43 w 62"/>
              <a:gd name="T5" fmla="*/ 58 h 62"/>
              <a:gd name="T6" fmla="*/ 25 w 62"/>
              <a:gd name="T7" fmla="*/ 62 h 62"/>
              <a:gd name="T8" fmla="*/ 9 w 62"/>
              <a:gd name="T9" fmla="*/ 55 h 62"/>
              <a:gd name="T10" fmla="*/ 0 w 62"/>
              <a:gd name="T11" fmla="*/ 40 h 62"/>
              <a:gd name="T12" fmla="*/ 0 w 62"/>
              <a:gd name="T13" fmla="*/ 22 h 62"/>
              <a:gd name="T14" fmla="*/ 9 w 62"/>
              <a:gd name="T15" fmla="*/ 6 h 62"/>
              <a:gd name="T16" fmla="*/ 25 w 62"/>
              <a:gd name="T17" fmla="*/ 0 h 62"/>
              <a:gd name="T18" fmla="*/ 43 w 62"/>
              <a:gd name="T19" fmla="*/ 3 h 62"/>
              <a:gd name="T20" fmla="*/ 56 w 62"/>
              <a:gd name="T21" fmla="*/ 12 h 62"/>
              <a:gd name="T22" fmla="*/ 62 w 62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8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6" y="12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2" name="Freeform 10"/>
          <p:cNvSpPr>
            <a:spLocks/>
          </p:cNvSpPr>
          <p:nvPr/>
        </p:nvSpPr>
        <p:spPr bwMode="auto">
          <a:xfrm>
            <a:off x="2351088" y="2492375"/>
            <a:ext cx="96837" cy="96837"/>
          </a:xfrm>
          <a:custGeom>
            <a:avLst/>
            <a:gdLst>
              <a:gd name="T0" fmla="*/ 61 w 61"/>
              <a:gd name="T1" fmla="*/ 31 h 61"/>
              <a:gd name="T2" fmla="*/ 55 w 61"/>
              <a:gd name="T3" fmla="*/ 49 h 61"/>
              <a:gd name="T4" fmla="*/ 43 w 61"/>
              <a:gd name="T5" fmla="*/ 58 h 61"/>
              <a:gd name="T6" fmla="*/ 24 w 61"/>
              <a:gd name="T7" fmla="*/ 61 h 61"/>
              <a:gd name="T8" fmla="*/ 9 w 61"/>
              <a:gd name="T9" fmla="*/ 55 h 61"/>
              <a:gd name="T10" fmla="*/ 0 w 61"/>
              <a:gd name="T11" fmla="*/ 40 h 61"/>
              <a:gd name="T12" fmla="*/ 0 w 61"/>
              <a:gd name="T13" fmla="*/ 21 h 61"/>
              <a:gd name="T14" fmla="*/ 9 w 61"/>
              <a:gd name="T15" fmla="*/ 6 h 61"/>
              <a:gd name="T16" fmla="*/ 24 w 61"/>
              <a:gd name="T17" fmla="*/ 0 h 61"/>
              <a:gd name="T18" fmla="*/ 43 w 61"/>
              <a:gd name="T19" fmla="*/ 3 h 61"/>
              <a:gd name="T20" fmla="*/ 55 w 61"/>
              <a:gd name="T21" fmla="*/ 15 h 61"/>
              <a:gd name="T22" fmla="*/ 61 w 61"/>
              <a:gd name="T23" fmla="*/ 3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1">
                <a:moveTo>
                  <a:pt x="61" y="31"/>
                </a:moveTo>
                <a:lnTo>
                  <a:pt x="55" y="49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3" name="Freeform 11"/>
          <p:cNvSpPr>
            <a:spLocks/>
          </p:cNvSpPr>
          <p:nvPr/>
        </p:nvSpPr>
        <p:spPr bwMode="auto">
          <a:xfrm>
            <a:off x="2447925" y="2789237"/>
            <a:ext cx="96838" cy="101600"/>
          </a:xfrm>
          <a:custGeom>
            <a:avLst/>
            <a:gdLst>
              <a:gd name="T0" fmla="*/ 61 w 61"/>
              <a:gd name="T1" fmla="*/ 31 h 64"/>
              <a:gd name="T2" fmla="*/ 58 w 61"/>
              <a:gd name="T3" fmla="*/ 49 h 64"/>
              <a:gd name="T4" fmla="*/ 43 w 61"/>
              <a:gd name="T5" fmla="*/ 61 h 64"/>
              <a:gd name="T6" fmla="*/ 28 w 61"/>
              <a:gd name="T7" fmla="*/ 64 h 64"/>
              <a:gd name="T8" fmla="*/ 9 w 61"/>
              <a:gd name="T9" fmla="*/ 55 h 64"/>
              <a:gd name="T10" fmla="*/ 0 w 61"/>
              <a:gd name="T11" fmla="*/ 40 h 64"/>
              <a:gd name="T12" fmla="*/ 0 w 61"/>
              <a:gd name="T13" fmla="*/ 24 h 64"/>
              <a:gd name="T14" fmla="*/ 9 w 61"/>
              <a:gd name="T15" fmla="*/ 9 h 64"/>
              <a:gd name="T16" fmla="*/ 28 w 61"/>
              <a:gd name="T17" fmla="*/ 0 h 64"/>
              <a:gd name="T18" fmla="*/ 43 w 61"/>
              <a:gd name="T19" fmla="*/ 3 h 64"/>
              <a:gd name="T20" fmla="*/ 58 w 61"/>
              <a:gd name="T21" fmla="*/ 15 h 64"/>
              <a:gd name="T22" fmla="*/ 61 w 61"/>
              <a:gd name="T23" fmla="*/ 31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8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4" name="Freeform 12"/>
          <p:cNvSpPr>
            <a:spLocks/>
          </p:cNvSpPr>
          <p:nvPr/>
        </p:nvSpPr>
        <p:spPr bwMode="auto">
          <a:xfrm>
            <a:off x="2847975" y="2789237"/>
            <a:ext cx="96838" cy="101600"/>
          </a:xfrm>
          <a:custGeom>
            <a:avLst/>
            <a:gdLst>
              <a:gd name="T0" fmla="*/ 61 w 61"/>
              <a:gd name="T1" fmla="*/ 31 h 64"/>
              <a:gd name="T2" fmla="*/ 58 w 61"/>
              <a:gd name="T3" fmla="*/ 49 h 64"/>
              <a:gd name="T4" fmla="*/ 43 w 61"/>
              <a:gd name="T5" fmla="*/ 61 h 64"/>
              <a:gd name="T6" fmla="*/ 27 w 61"/>
              <a:gd name="T7" fmla="*/ 64 h 64"/>
              <a:gd name="T8" fmla="*/ 9 w 61"/>
              <a:gd name="T9" fmla="*/ 55 h 64"/>
              <a:gd name="T10" fmla="*/ 0 w 61"/>
              <a:gd name="T11" fmla="*/ 40 h 64"/>
              <a:gd name="T12" fmla="*/ 0 w 61"/>
              <a:gd name="T13" fmla="*/ 24 h 64"/>
              <a:gd name="T14" fmla="*/ 9 w 61"/>
              <a:gd name="T15" fmla="*/ 9 h 64"/>
              <a:gd name="T16" fmla="*/ 27 w 61"/>
              <a:gd name="T17" fmla="*/ 0 h 64"/>
              <a:gd name="T18" fmla="*/ 43 w 61"/>
              <a:gd name="T19" fmla="*/ 3 h 64"/>
              <a:gd name="T20" fmla="*/ 58 w 61"/>
              <a:gd name="T21" fmla="*/ 15 h 64"/>
              <a:gd name="T22" fmla="*/ 61 w 61"/>
              <a:gd name="T23" fmla="*/ 31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7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7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5" name="Freeform 13"/>
          <p:cNvSpPr>
            <a:spLocks/>
          </p:cNvSpPr>
          <p:nvPr/>
        </p:nvSpPr>
        <p:spPr bwMode="auto">
          <a:xfrm>
            <a:off x="2647950" y="2589212"/>
            <a:ext cx="96838" cy="103188"/>
          </a:xfrm>
          <a:custGeom>
            <a:avLst/>
            <a:gdLst>
              <a:gd name="T0" fmla="*/ 61 w 61"/>
              <a:gd name="T1" fmla="*/ 34 h 65"/>
              <a:gd name="T2" fmla="*/ 58 w 61"/>
              <a:gd name="T3" fmla="*/ 49 h 65"/>
              <a:gd name="T4" fmla="*/ 43 w 61"/>
              <a:gd name="T5" fmla="*/ 61 h 65"/>
              <a:gd name="T6" fmla="*/ 28 w 61"/>
              <a:gd name="T7" fmla="*/ 65 h 65"/>
              <a:gd name="T8" fmla="*/ 9 w 61"/>
              <a:gd name="T9" fmla="*/ 55 h 65"/>
              <a:gd name="T10" fmla="*/ 0 w 61"/>
              <a:gd name="T11" fmla="*/ 40 h 65"/>
              <a:gd name="T12" fmla="*/ 0 w 61"/>
              <a:gd name="T13" fmla="*/ 25 h 65"/>
              <a:gd name="T14" fmla="*/ 9 w 61"/>
              <a:gd name="T15" fmla="*/ 9 h 65"/>
              <a:gd name="T16" fmla="*/ 28 w 61"/>
              <a:gd name="T17" fmla="*/ 0 h 65"/>
              <a:gd name="T18" fmla="*/ 43 w 61"/>
              <a:gd name="T19" fmla="*/ 3 h 65"/>
              <a:gd name="T20" fmla="*/ 58 w 61"/>
              <a:gd name="T21" fmla="*/ 16 h 65"/>
              <a:gd name="T22" fmla="*/ 61 w 61"/>
              <a:gd name="T23" fmla="*/ 34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5">
                <a:moveTo>
                  <a:pt x="61" y="34"/>
                </a:moveTo>
                <a:lnTo>
                  <a:pt x="58" y="49"/>
                </a:lnTo>
                <a:lnTo>
                  <a:pt x="43" y="61"/>
                </a:lnTo>
                <a:lnTo>
                  <a:pt x="28" y="65"/>
                </a:lnTo>
                <a:lnTo>
                  <a:pt x="9" y="55"/>
                </a:lnTo>
                <a:lnTo>
                  <a:pt x="0" y="40"/>
                </a:lnTo>
                <a:lnTo>
                  <a:pt x="0" y="25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6"/>
                </a:lnTo>
                <a:lnTo>
                  <a:pt x="61" y="34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6" name="Freeform 14"/>
          <p:cNvSpPr>
            <a:spLocks/>
          </p:cNvSpPr>
          <p:nvPr/>
        </p:nvSpPr>
        <p:spPr bwMode="auto">
          <a:xfrm>
            <a:off x="2647950" y="2195512"/>
            <a:ext cx="96838" cy="96838"/>
          </a:xfrm>
          <a:custGeom>
            <a:avLst/>
            <a:gdLst>
              <a:gd name="T0" fmla="*/ 61 w 61"/>
              <a:gd name="T1" fmla="*/ 30 h 61"/>
              <a:gd name="T2" fmla="*/ 58 w 61"/>
              <a:gd name="T3" fmla="*/ 49 h 61"/>
              <a:gd name="T4" fmla="*/ 43 w 61"/>
              <a:gd name="T5" fmla="*/ 61 h 61"/>
              <a:gd name="T6" fmla="*/ 28 w 61"/>
              <a:gd name="T7" fmla="*/ 61 h 61"/>
              <a:gd name="T8" fmla="*/ 9 w 61"/>
              <a:gd name="T9" fmla="*/ 55 h 61"/>
              <a:gd name="T10" fmla="*/ 0 w 61"/>
              <a:gd name="T11" fmla="*/ 40 h 61"/>
              <a:gd name="T12" fmla="*/ 0 w 61"/>
              <a:gd name="T13" fmla="*/ 21 h 61"/>
              <a:gd name="T14" fmla="*/ 9 w 61"/>
              <a:gd name="T15" fmla="*/ 9 h 61"/>
              <a:gd name="T16" fmla="*/ 28 w 61"/>
              <a:gd name="T17" fmla="*/ 0 h 61"/>
              <a:gd name="T18" fmla="*/ 43 w 61"/>
              <a:gd name="T19" fmla="*/ 3 h 61"/>
              <a:gd name="T20" fmla="*/ 58 w 61"/>
              <a:gd name="T21" fmla="*/ 15 h 61"/>
              <a:gd name="T22" fmla="*/ 61 w 61"/>
              <a:gd name="T23" fmla="*/ 3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61"/>
                </a:lnTo>
                <a:lnTo>
                  <a:pt x="28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7" name="Freeform 15"/>
          <p:cNvSpPr>
            <a:spLocks/>
          </p:cNvSpPr>
          <p:nvPr/>
        </p:nvSpPr>
        <p:spPr bwMode="auto">
          <a:xfrm>
            <a:off x="3344863" y="5183187"/>
            <a:ext cx="103187" cy="98425"/>
          </a:xfrm>
          <a:custGeom>
            <a:avLst/>
            <a:gdLst>
              <a:gd name="T0" fmla="*/ 65 w 65"/>
              <a:gd name="T1" fmla="*/ 31 h 62"/>
              <a:gd name="T2" fmla="*/ 58 w 65"/>
              <a:gd name="T3" fmla="*/ 46 h 62"/>
              <a:gd name="T4" fmla="*/ 46 w 65"/>
              <a:gd name="T5" fmla="*/ 59 h 62"/>
              <a:gd name="T6" fmla="*/ 28 w 65"/>
              <a:gd name="T7" fmla="*/ 62 h 62"/>
              <a:gd name="T8" fmla="*/ 12 w 65"/>
              <a:gd name="T9" fmla="*/ 53 h 62"/>
              <a:gd name="T10" fmla="*/ 0 w 65"/>
              <a:gd name="T11" fmla="*/ 40 h 62"/>
              <a:gd name="T12" fmla="*/ 0 w 65"/>
              <a:gd name="T13" fmla="*/ 22 h 62"/>
              <a:gd name="T14" fmla="*/ 12 w 65"/>
              <a:gd name="T15" fmla="*/ 7 h 62"/>
              <a:gd name="T16" fmla="*/ 28 w 65"/>
              <a:gd name="T17" fmla="*/ 0 h 62"/>
              <a:gd name="T18" fmla="*/ 46 w 65"/>
              <a:gd name="T19" fmla="*/ 0 h 62"/>
              <a:gd name="T20" fmla="*/ 58 w 65"/>
              <a:gd name="T21" fmla="*/ 13 h 62"/>
              <a:gd name="T22" fmla="*/ 65 w 65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5" h="62">
                <a:moveTo>
                  <a:pt x="65" y="31"/>
                </a:moveTo>
                <a:lnTo>
                  <a:pt x="58" y="46"/>
                </a:lnTo>
                <a:lnTo>
                  <a:pt x="46" y="59"/>
                </a:lnTo>
                <a:lnTo>
                  <a:pt x="28" y="62"/>
                </a:lnTo>
                <a:lnTo>
                  <a:pt x="12" y="53"/>
                </a:lnTo>
                <a:lnTo>
                  <a:pt x="0" y="40"/>
                </a:lnTo>
                <a:lnTo>
                  <a:pt x="0" y="22"/>
                </a:lnTo>
                <a:lnTo>
                  <a:pt x="12" y="7"/>
                </a:lnTo>
                <a:lnTo>
                  <a:pt x="28" y="0"/>
                </a:lnTo>
                <a:lnTo>
                  <a:pt x="46" y="0"/>
                </a:lnTo>
                <a:lnTo>
                  <a:pt x="58" y="13"/>
                </a:lnTo>
                <a:lnTo>
                  <a:pt x="65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8" name="Freeform 16"/>
          <p:cNvSpPr>
            <a:spLocks/>
          </p:cNvSpPr>
          <p:nvPr/>
        </p:nvSpPr>
        <p:spPr bwMode="auto">
          <a:xfrm>
            <a:off x="1550988" y="2692400"/>
            <a:ext cx="96837" cy="96837"/>
          </a:xfrm>
          <a:custGeom>
            <a:avLst/>
            <a:gdLst>
              <a:gd name="T0" fmla="*/ 61 w 61"/>
              <a:gd name="T1" fmla="*/ 30 h 61"/>
              <a:gd name="T2" fmla="*/ 58 w 61"/>
              <a:gd name="T3" fmla="*/ 49 h 61"/>
              <a:gd name="T4" fmla="*/ 43 w 61"/>
              <a:gd name="T5" fmla="*/ 58 h 61"/>
              <a:gd name="T6" fmla="*/ 25 w 61"/>
              <a:gd name="T7" fmla="*/ 61 h 61"/>
              <a:gd name="T8" fmla="*/ 9 w 61"/>
              <a:gd name="T9" fmla="*/ 55 h 61"/>
              <a:gd name="T10" fmla="*/ 0 w 61"/>
              <a:gd name="T11" fmla="*/ 39 h 61"/>
              <a:gd name="T12" fmla="*/ 0 w 61"/>
              <a:gd name="T13" fmla="*/ 21 h 61"/>
              <a:gd name="T14" fmla="*/ 9 w 61"/>
              <a:gd name="T15" fmla="*/ 6 h 61"/>
              <a:gd name="T16" fmla="*/ 25 w 61"/>
              <a:gd name="T17" fmla="*/ 0 h 61"/>
              <a:gd name="T18" fmla="*/ 43 w 61"/>
              <a:gd name="T19" fmla="*/ 3 h 61"/>
              <a:gd name="T20" fmla="*/ 58 w 61"/>
              <a:gd name="T21" fmla="*/ 12 h 61"/>
              <a:gd name="T22" fmla="*/ 61 w 61"/>
              <a:gd name="T23" fmla="*/ 3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9" name="Freeform 17"/>
          <p:cNvSpPr>
            <a:spLocks/>
          </p:cNvSpPr>
          <p:nvPr/>
        </p:nvSpPr>
        <p:spPr bwMode="auto">
          <a:xfrm>
            <a:off x="1223963" y="4881562"/>
            <a:ext cx="98425" cy="98425"/>
          </a:xfrm>
          <a:custGeom>
            <a:avLst/>
            <a:gdLst>
              <a:gd name="T0" fmla="*/ 62 w 62"/>
              <a:gd name="T1" fmla="*/ 31 h 62"/>
              <a:gd name="T2" fmla="*/ 56 w 62"/>
              <a:gd name="T3" fmla="*/ 49 h 62"/>
              <a:gd name="T4" fmla="*/ 43 w 62"/>
              <a:gd name="T5" fmla="*/ 62 h 62"/>
              <a:gd name="T6" fmla="*/ 25 w 62"/>
              <a:gd name="T7" fmla="*/ 62 h 62"/>
              <a:gd name="T8" fmla="*/ 9 w 62"/>
              <a:gd name="T9" fmla="*/ 55 h 62"/>
              <a:gd name="T10" fmla="*/ 0 w 62"/>
              <a:gd name="T11" fmla="*/ 40 h 62"/>
              <a:gd name="T12" fmla="*/ 0 w 62"/>
              <a:gd name="T13" fmla="*/ 22 h 62"/>
              <a:gd name="T14" fmla="*/ 9 w 62"/>
              <a:gd name="T15" fmla="*/ 10 h 62"/>
              <a:gd name="T16" fmla="*/ 25 w 62"/>
              <a:gd name="T17" fmla="*/ 0 h 62"/>
              <a:gd name="T18" fmla="*/ 43 w 62"/>
              <a:gd name="T19" fmla="*/ 3 h 62"/>
              <a:gd name="T20" fmla="*/ 56 w 62"/>
              <a:gd name="T21" fmla="*/ 16 h 62"/>
              <a:gd name="T22" fmla="*/ 62 w 62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2" h="62">
                <a:moveTo>
                  <a:pt x="62" y="31"/>
                </a:moveTo>
                <a:lnTo>
                  <a:pt x="56" y="49"/>
                </a:lnTo>
                <a:lnTo>
                  <a:pt x="43" y="62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10"/>
                </a:lnTo>
                <a:lnTo>
                  <a:pt x="25" y="0"/>
                </a:lnTo>
                <a:lnTo>
                  <a:pt x="43" y="3"/>
                </a:lnTo>
                <a:lnTo>
                  <a:pt x="56" y="16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90" name="Freeform 18"/>
          <p:cNvSpPr>
            <a:spLocks/>
          </p:cNvSpPr>
          <p:nvPr/>
        </p:nvSpPr>
        <p:spPr bwMode="auto">
          <a:xfrm>
            <a:off x="1254125" y="5480050"/>
            <a:ext cx="96838" cy="98425"/>
          </a:xfrm>
          <a:custGeom>
            <a:avLst/>
            <a:gdLst>
              <a:gd name="T0" fmla="*/ 61 w 61"/>
              <a:gd name="T1" fmla="*/ 31 h 62"/>
              <a:gd name="T2" fmla="*/ 55 w 61"/>
              <a:gd name="T3" fmla="*/ 49 h 62"/>
              <a:gd name="T4" fmla="*/ 43 w 61"/>
              <a:gd name="T5" fmla="*/ 59 h 62"/>
              <a:gd name="T6" fmla="*/ 24 w 61"/>
              <a:gd name="T7" fmla="*/ 62 h 62"/>
              <a:gd name="T8" fmla="*/ 9 w 61"/>
              <a:gd name="T9" fmla="*/ 56 h 62"/>
              <a:gd name="T10" fmla="*/ 0 w 61"/>
              <a:gd name="T11" fmla="*/ 40 h 62"/>
              <a:gd name="T12" fmla="*/ 0 w 61"/>
              <a:gd name="T13" fmla="*/ 22 h 62"/>
              <a:gd name="T14" fmla="*/ 9 w 61"/>
              <a:gd name="T15" fmla="*/ 7 h 62"/>
              <a:gd name="T16" fmla="*/ 24 w 61"/>
              <a:gd name="T17" fmla="*/ 0 h 62"/>
              <a:gd name="T18" fmla="*/ 43 w 61"/>
              <a:gd name="T19" fmla="*/ 3 h 62"/>
              <a:gd name="T20" fmla="*/ 55 w 61"/>
              <a:gd name="T21" fmla="*/ 16 h 62"/>
              <a:gd name="T22" fmla="*/ 61 w 61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59"/>
                </a:lnTo>
                <a:lnTo>
                  <a:pt x="24" y="62"/>
                </a:lnTo>
                <a:lnTo>
                  <a:pt x="9" y="56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91" name="Freeform 19"/>
          <p:cNvSpPr>
            <a:spLocks/>
          </p:cNvSpPr>
          <p:nvPr/>
        </p:nvSpPr>
        <p:spPr bwMode="auto">
          <a:xfrm>
            <a:off x="1720850" y="2462212"/>
            <a:ext cx="98425" cy="98425"/>
          </a:xfrm>
          <a:custGeom>
            <a:avLst/>
            <a:gdLst>
              <a:gd name="T0" fmla="*/ 62 w 62"/>
              <a:gd name="T1" fmla="*/ 31 h 62"/>
              <a:gd name="T2" fmla="*/ 56 w 62"/>
              <a:gd name="T3" fmla="*/ 46 h 62"/>
              <a:gd name="T4" fmla="*/ 43 w 62"/>
              <a:gd name="T5" fmla="*/ 59 h 62"/>
              <a:gd name="T6" fmla="*/ 25 w 62"/>
              <a:gd name="T7" fmla="*/ 62 h 62"/>
              <a:gd name="T8" fmla="*/ 10 w 62"/>
              <a:gd name="T9" fmla="*/ 56 h 62"/>
              <a:gd name="T10" fmla="*/ 0 w 62"/>
              <a:gd name="T11" fmla="*/ 40 h 62"/>
              <a:gd name="T12" fmla="*/ 0 w 62"/>
              <a:gd name="T13" fmla="*/ 22 h 62"/>
              <a:gd name="T14" fmla="*/ 10 w 62"/>
              <a:gd name="T15" fmla="*/ 7 h 62"/>
              <a:gd name="T16" fmla="*/ 25 w 62"/>
              <a:gd name="T17" fmla="*/ 0 h 62"/>
              <a:gd name="T18" fmla="*/ 43 w 62"/>
              <a:gd name="T19" fmla="*/ 4 h 62"/>
              <a:gd name="T20" fmla="*/ 56 w 62"/>
              <a:gd name="T21" fmla="*/ 13 h 62"/>
              <a:gd name="T22" fmla="*/ 62 w 62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9"/>
                </a:lnTo>
                <a:lnTo>
                  <a:pt x="25" y="62"/>
                </a:lnTo>
                <a:lnTo>
                  <a:pt x="10" y="56"/>
                </a:lnTo>
                <a:lnTo>
                  <a:pt x="0" y="40"/>
                </a:lnTo>
                <a:lnTo>
                  <a:pt x="0" y="22"/>
                </a:lnTo>
                <a:lnTo>
                  <a:pt x="10" y="7"/>
                </a:lnTo>
                <a:lnTo>
                  <a:pt x="25" y="0"/>
                </a:lnTo>
                <a:lnTo>
                  <a:pt x="43" y="4"/>
                </a:lnTo>
                <a:lnTo>
                  <a:pt x="56" y="13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92" name="Text Box 20"/>
          <p:cNvSpPr txBox="1">
            <a:spLocks noChangeArrowheads="1"/>
          </p:cNvSpPr>
          <p:nvPr/>
        </p:nvSpPr>
        <p:spPr bwMode="auto">
          <a:xfrm>
            <a:off x="990600" y="6034087"/>
            <a:ext cx="236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grpSp>
        <p:nvGrpSpPr>
          <p:cNvPr id="1539094" name="Group 22"/>
          <p:cNvGrpSpPr>
            <a:grpSpLocks/>
          </p:cNvGrpSpPr>
          <p:nvPr/>
        </p:nvGrpSpPr>
        <p:grpSpPr bwMode="auto">
          <a:xfrm>
            <a:off x="4724400" y="1766887"/>
            <a:ext cx="3581400" cy="4633913"/>
            <a:chOff x="2976" y="816"/>
            <a:chExt cx="2256" cy="2919"/>
          </a:xfrm>
        </p:grpSpPr>
        <p:graphicFrame>
          <p:nvGraphicFramePr>
            <p:cNvPr id="1539075" name="Object 3"/>
            <p:cNvGraphicFramePr>
              <a:graphicFrameLocks noChangeAspect="1"/>
            </p:cNvGraphicFramePr>
            <p:nvPr/>
          </p:nvGraphicFramePr>
          <p:xfrm>
            <a:off x="2976" y="816"/>
            <a:ext cx="2125" cy="28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549800" imgH="2097000" progId="Visio.Drawing.6">
                    <p:embed/>
                  </p:oleObj>
                </mc:Choice>
                <mc:Fallback>
                  <p:oleObj name="VISIO" r:id="rId2" imgW="1549800" imgH="2097000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816"/>
                          <a:ext cx="2125" cy="2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093" name="Text Box 21"/>
            <p:cNvSpPr txBox="1">
              <a:spLocks noChangeArrowheads="1"/>
            </p:cNvSpPr>
            <p:nvPr/>
          </p:nvSpPr>
          <p:spPr bwMode="auto">
            <a:xfrm>
              <a:off x="3456" y="3504"/>
              <a:ext cx="17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A Partitional  Clustering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741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304800"/>
            <a:ext cx="8280400" cy="1143000"/>
          </a:xfrm>
        </p:spPr>
        <p:txBody>
          <a:bodyPr>
            <a:normAutofit/>
          </a:bodyPr>
          <a:lstStyle/>
          <a:p>
            <a:r>
              <a:rPr lang="en-US" dirty="0"/>
              <a:t>Hierarchical Clustering</a:t>
            </a:r>
          </a:p>
        </p:txBody>
      </p:sp>
      <p:graphicFrame>
        <p:nvGraphicFramePr>
          <p:cNvPr id="1540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633447"/>
              </p:ext>
            </p:extLst>
          </p:nvPr>
        </p:nvGraphicFramePr>
        <p:xfrm>
          <a:off x="990600" y="4343400"/>
          <a:ext cx="2752725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752560" imgH="1960200" progId="Visio.Drawing.6">
                  <p:embed/>
                </p:oleObj>
              </mc:Choice>
              <mc:Fallback>
                <p:oleObj name="VISIO" r:id="rId2" imgW="2752560" imgH="19602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343400"/>
                        <a:ext cx="2752725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402884"/>
              </p:ext>
            </p:extLst>
          </p:nvPr>
        </p:nvGraphicFramePr>
        <p:xfrm>
          <a:off x="914400" y="1828800"/>
          <a:ext cx="2760663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761200" imgH="1794600" progId="Visio.Drawing.6">
                  <p:embed/>
                </p:oleObj>
              </mc:Choice>
              <mc:Fallback>
                <p:oleObj name="VISIO" r:id="rId4" imgW="2761200" imgH="17946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828800"/>
                        <a:ext cx="2760663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1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872167"/>
              </p:ext>
            </p:extLst>
          </p:nvPr>
        </p:nvGraphicFramePr>
        <p:xfrm>
          <a:off x="5400675" y="1447800"/>
          <a:ext cx="1773238" cy="228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380960" imgH="1779120" progId="Visio.Drawing.6">
                  <p:embed/>
                </p:oleObj>
              </mc:Choice>
              <mc:Fallback>
                <p:oleObj name="VISIO" r:id="rId6" imgW="1380960" imgH="1779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1447800"/>
                        <a:ext cx="1773238" cy="228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1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12263"/>
              </p:ext>
            </p:extLst>
          </p:nvPr>
        </p:nvGraphicFramePr>
        <p:xfrm>
          <a:off x="5400675" y="4038600"/>
          <a:ext cx="1909763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473120" imgH="1760040" progId="Visio.Drawing.6">
                  <p:embed/>
                </p:oleObj>
              </mc:Choice>
              <mc:Fallback>
                <p:oleObj name="VISIO" r:id="rId8" imgW="1473120" imgH="17600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4038600"/>
                        <a:ext cx="1909763" cy="228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0103" name="Text Box 7"/>
          <p:cNvSpPr txBox="1">
            <a:spLocks noChangeArrowheads="1"/>
          </p:cNvSpPr>
          <p:nvPr/>
        </p:nvSpPr>
        <p:spPr bwMode="auto">
          <a:xfrm>
            <a:off x="914400" y="358140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Traditional Hierarchical Clustering</a:t>
            </a:r>
          </a:p>
        </p:txBody>
      </p:sp>
      <p:sp>
        <p:nvSpPr>
          <p:cNvPr id="1540104" name="Text Box 8"/>
          <p:cNvSpPr txBox="1">
            <a:spLocks noChangeArrowheads="1"/>
          </p:cNvSpPr>
          <p:nvPr/>
        </p:nvSpPr>
        <p:spPr bwMode="auto">
          <a:xfrm>
            <a:off x="914400" y="6172200"/>
            <a:ext cx="3581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Non-traditional Hierarchical Clustering</a:t>
            </a:r>
          </a:p>
        </p:txBody>
      </p:sp>
      <p:sp>
        <p:nvSpPr>
          <p:cNvPr id="1540105" name="Text Box 9"/>
          <p:cNvSpPr txBox="1">
            <a:spLocks noChangeArrowheads="1"/>
          </p:cNvSpPr>
          <p:nvPr/>
        </p:nvSpPr>
        <p:spPr bwMode="auto">
          <a:xfrm>
            <a:off x="4800600" y="6172200"/>
            <a:ext cx="3810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Non-traditional Dendrogram</a:t>
            </a:r>
          </a:p>
        </p:txBody>
      </p:sp>
      <p:sp>
        <p:nvSpPr>
          <p:cNvPr id="1540106" name="Text Box 10"/>
          <p:cNvSpPr txBox="1">
            <a:spLocks noChangeArrowheads="1"/>
          </p:cNvSpPr>
          <p:nvPr/>
        </p:nvSpPr>
        <p:spPr bwMode="auto">
          <a:xfrm>
            <a:off x="4800600" y="358140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Traditional Dendrogram</a:t>
            </a:r>
          </a:p>
        </p:txBody>
      </p:sp>
    </p:spTree>
    <p:extLst>
      <p:ext uri="{BB962C8B-B14F-4D97-AF65-F5344CB8AC3E}">
        <p14:creationId xmlns:p14="http://schemas.microsoft.com/office/powerpoint/2010/main" val="546524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lnSpc>
                <a:spcPct val="80000"/>
              </a:lnSpc>
            </a:pPr>
            <a:r>
              <a:rPr lang="en-US" dirty="0">
                <a:solidFill>
                  <a:srgbClr val="00B0F0"/>
                </a:solidFill>
              </a:rPr>
              <a:t>Exclusive </a:t>
            </a:r>
            <a:r>
              <a:rPr lang="en-US" dirty="0"/>
              <a:t>(or </a:t>
            </a:r>
            <a:r>
              <a:rPr lang="en-US" dirty="0">
                <a:solidFill>
                  <a:srgbClr val="00B0F0"/>
                </a:solidFill>
              </a:rPr>
              <a:t>non-overlapping</a:t>
            </a:r>
            <a:r>
              <a:rPr lang="en-US" dirty="0"/>
              <a:t>) versus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non-exclusive </a:t>
            </a:r>
            <a:r>
              <a:rPr lang="en-US" dirty="0"/>
              <a:t>(or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overlapping</a:t>
            </a:r>
            <a:r>
              <a:rPr lang="en-US" dirty="0"/>
              <a:t>)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marL="742950" lvl="1" indent="-285750">
              <a:lnSpc>
                <a:spcPct val="80000"/>
              </a:lnSpc>
            </a:pPr>
            <a:r>
              <a:rPr lang="en-US" dirty="0"/>
              <a:t>In non-exclusive </a:t>
            </a:r>
            <a:r>
              <a:rPr lang="en-US" dirty="0" err="1"/>
              <a:t>clusterings</a:t>
            </a:r>
            <a:r>
              <a:rPr lang="en-US" dirty="0"/>
              <a:t>, points may belong to multiple clusters.</a:t>
            </a:r>
          </a:p>
          <a:p>
            <a:pPr marL="1017270" lvl="2" indent="-285750">
              <a:lnSpc>
                <a:spcPct val="80000"/>
              </a:lnSpc>
            </a:pPr>
            <a:r>
              <a:rPr lang="en-US" dirty="0"/>
              <a:t>Points that belong to multiple classes, or ‘border’ points</a:t>
            </a:r>
          </a:p>
          <a:p>
            <a:pPr marL="342900" indent="-342900">
              <a:lnSpc>
                <a:spcPct val="80000"/>
              </a:lnSpc>
            </a:pP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lnSpc>
                <a:spcPct val="80000"/>
              </a:lnSpc>
            </a:pPr>
            <a:r>
              <a:rPr lang="en-US" dirty="0">
                <a:solidFill>
                  <a:srgbClr val="00B0F0"/>
                </a:solidFill>
              </a:rPr>
              <a:t>Fuzzy</a:t>
            </a:r>
            <a:r>
              <a:rPr lang="en-US" dirty="0"/>
              <a:t> (or </a:t>
            </a:r>
            <a:r>
              <a:rPr lang="en-US" dirty="0">
                <a:solidFill>
                  <a:srgbClr val="00B0F0"/>
                </a:solidFill>
              </a:rPr>
              <a:t>soft</a:t>
            </a:r>
            <a:r>
              <a:rPr lang="en-US" dirty="0"/>
              <a:t>) versus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non-fuzzy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hard</a:t>
            </a:r>
            <a:r>
              <a:rPr lang="en-US" dirty="0"/>
              <a:t>)</a:t>
            </a:r>
          </a:p>
          <a:p>
            <a:pPr marL="742950" lvl="1" indent="-285750">
              <a:lnSpc>
                <a:spcPct val="80000"/>
              </a:lnSpc>
            </a:pPr>
            <a:r>
              <a:rPr lang="en-US" dirty="0"/>
              <a:t>In fuzzy clustering, a point belongs to every cluster with some weight between 0 and 1</a:t>
            </a:r>
          </a:p>
          <a:p>
            <a:pPr marL="1017270" lvl="2" indent="-285750">
              <a:lnSpc>
                <a:spcPct val="80000"/>
              </a:lnSpc>
            </a:pPr>
            <a:r>
              <a:rPr lang="en-US" sz="1800" dirty="0"/>
              <a:t>Weights usually must sum to 1 (often interpreted as </a:t>
            </a:r>
            <a:r>
              <a:rPr lang="en-US" sz="1800" dirty="0">
                <a:solidFill>
                  <a:srgbClr val="FF0000"/>
                </a:solidFill>
              </a:rPr>
              <a:t>probabilities</a:t>
            </a:r>
            <a:r>
              <a:rPr lang="en-US" sz="1800" dirty="0"/>
              <a:t>)</a:t>
            </a:r>
          </a:p>
          <a:p>
            <a:pPr marL="342900" indent="-342900">
              <a:lnSpc>
                <a:spcPct val="80000"/>
              </a:lnSpc>
            </a:pP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lnSpc>
                <a:spcPct val="80000"/>
              </a:lnSpc>
            </a:pPr>
            <a:r>
              <a:rPr lang="en-US" dirty="0">
                <a:solidFill>
                  <a:srgbClr val="00B0F0"/>
                </a:solidFill>
              </a:rPr>
              <a:t>Partial </a:t>
            </a:r>
            <a:r>
              <a:rPr lang="en-US" dirty="0"/>
              <a:t>versus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complete</a:t>
            </a:r>
          </a:p>
          <a:p>
            <a:pPr marL="742950" lvl="1" indent="-285750">
              <a:lnSpc>
                <a:spcPct val="80000"/>
              </a:lnSpc>
            </a:pPr>
            <a:r>
              <a:rPr lang="en-US" dirty="0"/>
              <a:t>In some cases, we only want to cluster some of the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677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1295400"/>
          </a:xfrm>
        </p:spPr>
        <p:txBody>
          <a:bodyPr>
            <a:normAutofit/>
          </a:bodyPr>
          <a:lstStyle/>
          <a:p>
            <a:r>
              <a:rPr lang="en-US" dirty="0"/>
              <a:t>Types of Clusters: Well-Separated</a:t>
            </a:r>
          </a:p>
        </p:txBody>
      </p:sp>
      <p:sp>
        <p:nvSpPr>
          <p:cNvPr id="1542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9288" y="1561306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Well-Separated Clusters: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A cluster is a set of points such that any point in a cluster is closer (or more similar) to every other point in the cluster than to any point not in the cluster.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400" dirty="0"/>
          </a:p>
        </p:txBody>
      </p:sp>
      <p:sp>
        <p:nvSpPr>
          <p:cNvPr id="1542148" name="Oval 4"/>
          <p:cNvSpPr>
            <a:spLocks noChangeAspect="1" noChangeArrowheads="1"/>
          </p:cNvSpPr>
          <p:nvPr/>
        </p:nvSpPr>
        <p:spPr bwMode="auto">
          <a:xfrm>
            <a:off x="1447800" y="4965700"/>
            <a:ext cx="1143000" cy="1143000"/>
          </a:xfrm>
          <a:prstGeom prst="ellipse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149" name="Oval 5"/>
          <p:cNvSpPr>
            <a:spLocks noChangeAspect="1" noChangeArrowheads="1"/>
          </p:cNvSpPr>
          <p:nvPr/>
        </p:nvSpPr>
        <p:spPr bwMode="auto">
          <a:xfrm>
            <a:off x="6018213" y="4965700"/>
            <a:ext cx="1143000" cy="1143000"/>
          </a:xfrm>
          <a:prstGeom prst="ellipse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150" name="Oval 6"/>
          <p:cNvSpPr>
            <a:spLocks noChangeAspect="1" noChangeArrowheads="1"/>
          </p:cNvSpPr>
          <p:nvPr/>
        </p:nvSpPr>
        <p:spPr bwMode="auto">
          <a:xfrm>
            <a:off x="3506788" y="3367087"/>
            <a:ext cx="1143000" cy="11430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151" name="Text Box 7"/>
          <p:cNvSpPr txBox="1">
            <a:spLocks noChangeArrowheads="1"/>
          </p:cNvSpPr>
          <p:nvPr/>
        </p:nvSpPr>
        <p:spPr bwMode="auto">
          <a:xfrm>
            <a:off x="2971800" y="6186487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3 well-separated clusters</a:t>
            </a:r>
          </a:p>
        </p:txBody>
      </p:sp>
    </p:spTree>
    <p:extLst>
      <p:ext uri="{BB962C8B-B14F-4D97-AF65-F5344CB8AC3E}">
        <p14:creationId xmlns:p14="http://schemas.microsoft.com/office/powerpoint/2010/main" val="3525080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228600"/>
            <a:ext cx="8280400" cy="1143000"/>
          </a:xfrm>
        </p:spPr>
        <p:txBody>
          <a:bodyPr>
            <a:normAutofit/>
          </a:bodyPr>
          <a:lstStyle/>
          <a:p>
            <a:r>
              <a:rPr lang="en-US" dirty="0"/>
              <a:t>Types of Clusters: Center-Based</a:t>
            </a:r>
          </a:p>
        </p:txBody>
      </p:sp>
      <p:sp>
        <p:nvSpPr>
          <p:cNvPr id="154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522412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Center-based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 A cluster is a set of objects such that an object in a cluster is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closer</a:t>
            </a:r>
            <a:r>
              <a:rPr lang="en-US" sz="2000" dirty="0"/>
              <a:t> (more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similar</a:t>
            </a:r>
            <a:r>
              <a:rPr lang="en-US" sz="2000" dirty="0"/>
              <a:t>) to the “center” of a cluster, than to the center of any other cluster 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The center of a cluster is often a </a:t>
            </a:r>
            <a:r>
              <a:rPr lang="en-US" sz="2000" dirty="0">
                <a:solidFill>
                  <a:srgbClr val="FF0000"/>
                </a:solidFill>
              </a:rPr>
              <a:t>centroid</a:t>
            </a:r>
            <a:r>
              <a:rPr lang="en-US" sz="2000" dirty="0"/>
              <a:t>, the minimizer of distances from all the points in the cluster, or a </a:t>
            </a:r>
            <a:r>
              <a:rPr lang="en-US" sz="2000" dirty="0" err="1">
                <a:solidFill>
                  <a:srgbClr val="FF0000"/>
                </a:solidFill>
              </a:rPr>
              <a:t>medoid</a:t>
            </a:r>
            <a:r>
              <a:rPr lang="en-US" sz="2000" dirty="0"/>
              <a:t>, the most “representative” point of a cluster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dirty="0"/>
          </a:p>
        </p:txBody>
      </p:sp>
      <p:sp>
        <p:nvSpPr>
          <p:cNvPr id="1543172" name="Oval 4"/>
          <p:cNvSpPr>
            <a:spLocks noChangeAspect="1" noChangeArrowheads="1"/>
          </p:cNvSpPr>
          <p:nvPr/>
        </p:nvSpPr>
        <p:spPr bwMode="auto">
          <a:xfrm>
            <a:off x="1143000" y="4570412"/>
            <a:ext cx="1371600" cy="13716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3173" name="Oval 5"/>
          <p:cNvSpPr>
            <a:spLocks noChangeAspect="1" noChangeArrowheads="1"/>
          </p:cNvSpPr>
          <p:nvPr/>
        </p:nvSpPr>
        <p:spPr bwMode="auto">
          <a:xfrm>
            <a:off x="2514600" y="4570412"/>
            <a:ext cx="1371600" cy="1371600"/>
          </a:xfrm>
          <a:prstGeom prst="ellipse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3174" name="Oval 6"/>
          <p:cNvSpPr>
            <a:spLocks noChangeAspect="1" noChangeArrowheads="1"/>
          </p:cNvSpPr>
          <p:nvPr/>
        </p:nvSpPr>
        <p:spPr bwMode="auto">
          <a:xfrm>
            <a:off x="5322888" y="4708525"/>
            <a:ext cx="1166812" cy="1100137"/>
          </a:xfrm>
          <a:prstGeom prst="ellipse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3175" name="Oval 7"/>
          <p:cNvSpPr>
            <a:spLocks noChangeAspect="1" noChangeArrowheads="1"/>
          </p:cNvSpPr>
          <p:nvPr/>
        </p:nvSpPr>
        <p:spPr bwMode="auto">
          <a:xfrm>
            <a:off x="6694488" y="4708525"/>
            <a:ext cx="1166812" cy="1100137"/>
          </a:xfrm>
          <a:prstGeom prst="ellipse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3176" name="Text Box 8"/>
          <p:cNvSpPr txBox="1">
            <a:spLocks noChangeArrowheads="1"/>
          </p:cNvSpPr>
          <p:nvPr/>
        </p:nvSpPr>
        <p:spPr bwMode="auto">
          <a:xfrm>
            <a:off x="2971800" y="6170612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4 center-based clusters</a:t>
            </a:r>
          </a:p>
        </p:txBody>
      </p:sp>
    </p:spTree>
    <p:extLst>
      <p:ext uri="{BB962C8B-B14F-4D97-AF65-F5344CB8AC3E}">
        <p14:creationId xmlns:p14="http://schemas.microsoft.com/office/powerpoint/2010/main" val="2876226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304800"/>
            <a:ext cx="8280400" cy="1143000"/>
          </a:xfrm>
        </p:spPr>
        <p:txBody>
          <a:bodyPr>
            <a:normAutofit/>
          </a:bodyPr>
          <a:lstStyle/>
          <a:p>
            <a:r>
              <a:rPr lang="en-US" dirty="0"/>
              <a:t>Types of Clusters: Contiguity-Based</a:t>
            </a:r>
          </a:p>
        </p:txBody>
      </p:sp>
      <p:sp>
        <p:nvSpPr>
          <p:cNvPr id="1544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522412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/>
              <a:t>Contiguous Cluster (Nearest neighbor or Transitive)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/>
              <a:t>A cluster is a set of points such that a point in a cluster is closer (or more similar) to one or more other points in the cluster than to any point not in the cluster.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400"/>
          </a:p>
        </p:txBody>
      </p:sp>
      <p:grpSp>
        <p:nvGrpSpPr>
          <p:cNvPr id="1544207" name="Group 15"/>
          <p:cNvGrpSpPr>
            <a:grpSpLocks/>
          </p:cNvGrpSpPr>
          <p:nvPr/>
        </p:nvGrpSpPr>
        <p:grpSpPr bwMode="auto">
          <a:xfrm>
            <a:off x="381000" y="4189412"/>
            <a:ext cx="8534400" cy="1219200"/>
            <a:chOff x="950" y="2544"/>
            <a:chExt cx="4106" cy="576"/>
          </a:xfrm>
        </p:grpSpPr>
        <p:sp>
          <p:nvSpPr>
            <p:cNvPr id="1544196" name="Freeform 4" descr="Large grid"/>
            <p:cNvSpPr>
              <a:spLocks noChangeAspect="1"/>
            </p:cNvSpPr>
            <p:nvPr/>
          </p:nvSpPr>
          <p:spPr bwMode="auto">
            <a:xfrm>
              <a:off x="950" y="2552"/>
              <a:ext cx="267" cy="457"/>
            </a:xfrm>
            <a:custGeom>
              <a:avLst/>
              <a:gdLst>
                <a:gd name="T0" fmla="*/ 432 w 432"/>
                <a:gd name="T1" fmla="*/ 0 h 744"/>
                <a:gd name="T2" fmla="*/ 264 w 432"/>
                <a:gd name="T3" fmla="*/ 12 h 744"/>
                <a:gd name="T4" fmla="*/ 228 w 432"/>
                <a:gd name="T5" fmla="*/ 36 h 744"/>
                <a:gd name="T6" fmla="*/ 168 w 432"/>
                <a:gd name="T7" fmla="*/ 180 h 744"/>
                <a:gd name="T8" fmla="*/ 180 w 432"/>
                <a:gd name="T9" fmla="*/ 324 h 744"/>
                <a:gd name="T10" fmla="*/ 300 w 432"/>
                <a:gd name="T11" fmla="*/ 504 h 744"/>
                <a:gd name="T12" fmla="*/ 300 w 432"/>
                <a:gd name="T13" fmla="*/ 708 h 744"/>
                <a:gd name="T14" fmla="*/ 252 w 432"/>
                <a:gd name="T15" fmla="*/ 720 h 744"/>
                <a:gd name="T16" fmla="*/ 0 w 432"/>
                <a:gd name="T17" fmla="*/ 744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 cap="flat" cmpd="sng">
              <a:solidFill>
                <a:srgbClr val="99CC0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rgbClr val="000000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197" name="Freeform 5" descr="Large grid"/>
            <p:cNvSpPr>
              <a:spLocks noChangeAspect="1"/>
            </p:cNvSpPr>
            <p:nvPr/>
          </p:nvSpPr>
          <p:spPr bwMode="auto">
            <a:xfrm>
              <a:off x="1061" y="2618"/>
              <a:ext cx="267" cy="459"/>
            </a:xfrm>
            <a:custGeom>
              <a:avLst/>
              <a:gdLst>
                <a:gd name="T0" fmla="*/ 432 w 432"/>
                <a:gd name="T1" fmla="*/ 0 h 744"/>
                <a:gd name="T2" fmla="*/ 264 w 432"/>
                <a:gd name="T3" fmla="*/ 12 h 744"/>
                <a:gd name="T4" fmla="*/ 228 w 432"/>
                <a:gd name="T5" fmla="*/ 36 h 744"/>
                <a:gd name="T6" fmla="*/ 168 w 432"/>
                <a:gd name="T7" fmla="*/ 180 h 744"/>
                <a:gd name="T8" fmla="*/ 180 w 432"/>
                <a:gd name="T9" fmla="*/ 324 h 744"/>
                <a:gd name="T10" fmla="*/ 300 w 432"/>
                <a:gd name="T11" fmla="*/ 504 h 744"/>
                <a:gd name="T12" fmla="*/ 300 w 432"/>
                <a:gd name="T13" fmla="*/ 708 h 744"/>
                <a:gd name="T14" fmla="*/ 252 w 432"/>
                <a:gd name="T15" fmla="*/ 720 h 744"/>
                <a:gd name="T16" fmla="*/ 0 w 432"/>
                <a:gd name="T17" fmla="*/ 744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 cap="rnd" cmpd="sng">
              <a:solidFill>
                <a:srgbClr val="000066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rgbClr val="000000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198" name="Freeform 6" descr="Large grid"/>
            <p:cNvSpPr>
              <a:spLocks noChangeAspect="1"/>
            </p:cNvSpPr>
            <p:nvPr/>
          </p:nvSpPr>
          <p:spPr bwMode="auto">
            <a:xfrm>
              <a:off x="1195" y="2663"/>
              <a:ext cx="267" cy="457"/>
            </a:xfrm>
            <a:custGeom>
              <a:avLst/>
              <a:gdLst>
                <a:gd name="T0" fmla="*/ 432 w 432"/>
                <a:gd name="T1" fmla="*/ 0 h 744"/>
                <a:gd name="T2" fmla="*/ 264 w 432"/>
                <a:gd name="T3" fmla="*/ 12 h 744"/>
                <a:gd name="T4" fmla="*/ 228 w 432"/>
                <a:gd name="T5" fmla="*/ 36 h 744"/>
                <a:gd name="T6" fmla="*/ 168 w 432"/>
                <a:gd name="T7" fmla="*/ 180 h 744"/>
                <a:gd name="T8" fmla="*/ 180 w 432"/>
                <a:gd name="T9" fmla="*/ 324 h 744"/>
                <a:gd name="T10" fmla="*/ 300 w 432"/>
                <a:gd name="T11" fmla="*/ 504 h 744"/>
                <a:gd name="T12" fmla="*/ 300 w 432"/>
                <a:gd name="T13" fmla="*/ 708 h 744"/>
                <a:gd name="T14" fmla="*/ 252 w 432"/>
                <a:gd name="T15" fmla="*/ 720 h 744"/>
                <a:gd name="T16" fmla="*/ 0 w 432"/>
                <a:gd name="T17" fmla="*/ 744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 cap="flat" cmpd="sng">
              <a:solidFill>
                <a:srgbClr val="FF7C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rgbClr val="000000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199" name="Oval 7"/>
            <p:cNvSpPr>
              <a:spLocks noChangeAspect="1" noChangeArrowheads="1"/>
            </p:cNvSpPr>
            <p:nvPr/>
          </p:nvSpPr>
          <p:spPr bwMode="auto">
            <a:xfrm>
              <a:off x="2171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0" name="AutoShape 8"/>
            <p:cNvSpPr>
              <a:spLocks noChangeAspect="1" noChangeArrowheads="1"/>
            </p:cNvSpPr>
            <p:nvPr/>
          </p:nvSpPr>
          <p:spPr bwMode="auto">
            <a:xfrm rot="-5400000">
              <a:off x="1942" y="2382"/>
              <a:ext cx="525" cy="866"/>
            </a:xfrm>
            <a:custGeom>
              <a:avLst/>
              <a:gdLst>
                <a:gd name="G0" fmla="+- 5892 0 0"/>
                <a:gd name="G1" fmla="+- 9924669 0 0"/>
                <a:gd name="G2" fmla="+- 0 0 9924669"/>
                <a:gd name="T0" fmla="*/ 0 256 1"/>
                <a:gd name="T1" fmla="*/ 180 256 1"/>
                <a:gd name="G3" fmla="+- 9924669 T0 T1"/>
                <a:gd name="T2" fmla="*/ 0 256 1"/>
                <a:gd name="T3" fmla="*/ 90 256 1"/>
                <a:gd name="G4" fmla="+- 9924669 T2 T3"/>
                <a:gd name="G5" fmla="*/ G4 2 1"/>
                <a:gd name="T4" fmla="*/ 90 256 1"/>
                <a:gd name="T5" fmla="*/ 0 256 1"/>
                <a:gd name="G6" fmla="+- 9924669 T4 T5"/>
                <a:gd name="G7" fmla="*/ G6 2 1"/>
                <a:gd name="G8" fmla="abs 9924669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892"/>
                <a:gd name="G18" fmla="*/ 5892 1 2"/>
                <a:gd name="G19" fmla="+- G18 5400 0"/>
                <a:gd name="G20" fmla="cos G19 9924669"/>
                <a:gd name="G21" fmla="sin G19 9924669"/>
                <a:gd name="G22" fmla="+- G20 10800 0"/>
                <a:gd name="G23" fmla="+- G21 10800 0"/>
                <a:gd name="G24" fmla="+- 10800 0 G20"/>
                <a:gd name="G25" fmla="+- 5892 10800 0"/>
                <a:gd name="G26" fmla="?: G9 G17 G25"/>
                <a:gd name="G27" fmla="?: G9 0 21600"/>
                <a:gd name="G28" fmla="cos 10800 9924669"/>
                <a:gd name="G29" fmla="sin 10800 9924669"/>
                <a:gd name="G30" fmla="sin 5892 9924669"/>
                <a:gd name="G31" fmla="+- G28 10800 0"/>
                <a:gd name="G32" fmla="+- G29 10800 0"/>
                <a:gd name="G33" fmla="+- G30 10800 0"/>
                <a:gd name="G34" fmla="?: G4 0 G31"/>
                <a:gd name="G35" fmla="?: 9924669 G34 0"/>
                <a:gd name="G36" fmla="?: G6 G35 G31"/>
                <a:gd name="G37" fmla="+- 21600 0 G36"/>
                <a:gd name="G38" fmla="?: G4 0 G33"/>
                <a:gd name="G39" fmla="?: 9924669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3469 w 21600"/>
                <a:gd name="T15" fmla="*/ 14790 h 21600"/>
                <a:gd name="T16" fmla="*/ 10800 w 21600"/>
                <a:gd name="T17" fmla="*/ 4908 h 21600"/>
                <a:gd name="T18" fmla="*/ 18131 w 21600"/>
                <a:gd name="T19" fmla="*/ 1479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1" name="Oval 9"/>
            <p:cNvSpPr>
              <a:spLocks noChangeAspect="1" noChangeArrowheads="1"/>
            </p:cNvSpPr>
            <p:nvPr/>
          </p:nvSpPr>
          <p:spPr bwMode="auto">
            <a:xfrm>
              <a:off x="2504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2" name="Line 10"/>
            <p:cNvSpPr>
              <a:spLocks noChangeAspect="1" noChangeShapeType="1"/>
            </p:cNvSpPr>
            <p:nvPr/>
          </p:nvSpPr>
          <p:spPr bwMode="auto">
            <a:xfrm>
              <a:off x="2305" y="2818"/>
              <a:ext cx="199" cy="0"/>
            </a:xfrm>
            <a:prstGeom prst="line">
              <a:avLst/>
            </a:prstGeom>
            <a:noFill/>
            <a:ln w="19050">
              <a:solidFill>
                <a:srgbClr val="00CC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3" name="Oval 11"/>
            <p:cNvSpPr>
              <a:spLocks noChangeAspect="1" noChangeArrowheads="1"/>
            </p:cNvSpPr>
            <p:nvPr/>
          </p:nvSpPr>
          <p:spPr bwMode="auto">
            <a:xfrm>
              <a:off x="4236" y="2633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4" name="Oval 12"/>
            <p:cNvSpPr>
              <a:spLocks noChangeAspect="1" noChangeArrowheads="1"/>
            </p:cNvSpPr>
            <p:nvPr/>
          </p:nvSpPr>
          <p:spPr bwMode="auto">
            <a:xfrm>
              <a:off x="4680" y="2633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5" name="Oval 13"/>
            <p:cNvSpPr>
              <a:spLocks noChangeAspect="1" noChangeArrowheads="1"/>
            </p:cNvSpPr>
            <p:nvPr/>
          </p:nvSpPr>
          <p:spPr bwMode="auto">
            <a:xfrm>
              <a:off x="2992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6" name="Oval 14"/>
            <p:cNvSpPr>
              <a:spLocks noChangeAspect="1" noChangeArrowheads="1"/>
            </p:cNvSpPr>
            <p:nvPr/>
          </p:nvSpPr>
          <p:spPr bwMode="auto">
            <a:xfrm>
              <a:off x="3391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44208" name="Text Box 16"/>
          <p:cNvSpPr txBox="1">
            <a:spLocks noChangeArrowheads="1"/>
          </p:cNvSpPr>
          <p:nvPr/>
        </p:nvSpPr>
        <p:spPr bwMode="auto">
          <a:xfrm>
            <a:off x="2971800" y="6170612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8 contiguous clusters</a:t>
            </a:r>
          </a:p>
        </p:txBody>
      </p:sp>
    </p:spTree>
    <p:extLst>
      <p:ext uri="{BB962C8B-B14F-4D97-AF65-F5344CB8AC3E}">
        <p14:creationId xmlns:p14="http://schemas.microsoft.com/office/powerpoint/2010/main" val="478335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219" name="Rectangle 3"/>
          <p:cNvSpPr>
            <a:spLocks noGrp="1" noChangeArrowheads="1"/>
          </p:cNvSpPr>
          <p:nvPr>
            <p:ph type="title"/>
          </p:nvPr>
        </p:nvSpPr>
        <p:spPr>
          <a:xfrm>
            <a:off x="379393" y="304800"/>
            <a:ext cx="8280400" cy="1219200"/>
          </a:xfrm>
        </p:spPr>
        <p:txBody>
          <a:bodyPr>
            <a:normAutofit/>
          </a:bodyPr>
          <a:lstStyle/>
          <a:p>
            <a:r>
              <a:rPr lang="en-US" dirty="0"/>
              <a:t>Types of Clusters: Density-Based</a:t>
            </a:r>
          </a:p>
        </p:txBody>
      </p:sp>
      <p:sp>
        <p:nvSpPr>
          <p:cNvPr id="15452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58458" y="1534848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Density-based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A cluster is a dense region of points, which is separated by low-density regions, from other regions of high density.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Used when the clusters are irregular or intertwined, and when noise and outliers are present. </a:t>
            </a:r>
          </a:p>
        </p:txBody>
      </p:sp>
      <p:grpSp>
        <p:nvGrpSpPr>
          <p:cNvPr id="1545228" name="Group 12"/>
          <p:cNvGrpSpPr>
            <a:grpSpLocks/>
          </p:cNvGrpSpPr>
          <p:nvPr/>
        </p:nvGrpSpPr>
        <p:grpSpPr bwMode="auto">
          <a:xfrm>
            <a:off x="304800" y="3657600"/>
            <a:ext cx="8610600" cy="1676400"/>
            <a:chOff x="1056" y="3072"/>
            <a:chExt cx="3840" cy="720"/>
          </a:xfrm>
        </p:grpSpPr>
        <p:sp>
          <p:nvSpPr>
            <p:cNvPr id="1545218" name="Rectangle 2"/>
            <p:cNvSpPr>
              <a:spLocks noChangeArrowheads="1"/>
            </p:cNvSpPr>
            <p:nvPr/>
          </p:nvSpPr>
          <p:spPr bwMode="auto">
            <a:xfrm>
              <a:off x="1056" y="3072"/>
              <a:ext cx="3840" cy="720"/>
            </a:xfrm>
            <a:prstGeom prst="rect">
              <a:avLst/>
            </a:prstGeom>
            <a:pattFill prst="pct10">
              <a:fgClr>
                <a:schemeClr val="tx1"/>
              </a:fgClr>
              <a:bgClr>
                <a:srgbClr val="FFFF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221" name="Oval 5"/>
            <p:cNvSpPr>
              <a:spLocks noChangeAspect="1" noChangeArrowheads="1"/>
            </p:cNvSpPr>
            <p:nvPr/>
          </p:nvSpPr>
          <p:spPr bwMode="auto">
            <a:xfrm>
              <a:off x="1599" y="3374"/>
              <a:ext cx="134" cy="134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22" name="AutoShape 6"/>
            <p:cNvSpPr>
              <a:spLocks noChangeAspect="1" noChangeArrowheads="1"/>
            </p:cNvSpPr>
            <p:nvPr/>
          </p:nvSpPr>
          <p:spPr bwMode="auto">
            <a:xfrm rot="-5400000">
              <a:off x="1370" y="3006"/>
              <a:ext cx="525" cy="866"/>
            </a:xfrm>
            <a:custGeom>
              <a:avLst/>
              <a:gdLst>
                <a:gd name="G0" fmla="+- 5892 0 0"/>
                <a:gd name="G1" fmla="+- 9924669 0 0"/>
                <a:gd name="G2" fmla="+- 0 0 9924669"/>
                <a:gd name="T0" fmla="*/ 0 256 1"/>
                <a:gd name="T1" fmla="*/ 180 256 1"/>
                <a:gd name="G3" fmla="+- 9924669 T0 T1"/>
                <a:gd name="T2" fmla="*/ 0 256 1"/>
                <a:gd name="T3" fmla="*/ 90 256 1"/>
                <a:gd name="G4" fmla="+- 9924669 T2 T3"/>
                <a:gd name="G5" fmla="*/ G4 2 1"/>
                <a:gd name="T4" fmla="*/ 90 256 1"/>
                <a:gd name="T5" fmla="*/ 0 256 1"/>
                <a:gd name="G6" fmla="+- 9924669 T4 T5"/>
                <a:gd name="G7" fmla="*/ G6 2 1"/>
                <a:gd name="G8" fmla="abs 9924669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892"/>
                <a:gd name="G18" fmla="*/ 5892 1 2"/>
                <a:gd name="G19" fmla="+- G18 5400 0"/>
                <a:gd name="G20" fmla="cos G19 9924669"/>
                <a:gd name="G21" fmla="sin G19 9924669"/>
                <a:gd name="G22" fmla="+- G20 10800 0"/>
                <a:gd name="G23" fmla="+- G21 10800 0"/>
                <a:gd name="G24" fmla="+- 10800 0 G20"/>
                <a:gd name="G25" fmla="+- 5892 10800 0"/>
                <a:gd name="G26" fmla="?: G9 G17 G25"/>
                <a:gd name="G27" fmla="?: G9 0 21600"/>
                <a:gd name="G28" fmla="cos 10800 9924669"/>
                <a:gd name="G29" fmla="sin 10800 9924669"/>
                <a:gd name="G30" fmla="sin 5892 9924669"/>
                <a:gd name="G31" fmla="+- G28 10800 0"/>
                <a:gd name="G32" fmla="+- G29 10800 0"/>
                <a:gd name="G33" fmla="+- G30 10800 0"/>
                <a:gd name="G34" fmla="?: G4 0 G31"/>
                <a:gd name="G35" fmla="?: 9924669 G34 0"/>
                <a:gd name="G36" fmla="?: G6 G35 G31"/>
                <a:gd name="G37" fmla="+- 21600 0 G36"/>
                <a:gd name="G38" fmla="?: G4 0 G33"/>
                <a:gd name="G39" fmla="?: 9924669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3469 w 21600"/>
                <a:gd name="T15" fmla="*/ 14790 h 21600"/>
                <a:gd name="T16" fmla="*/ 10800 w 21600"/>
                <a:gd name="T17" fmla="*/ 4908 h 21600"/>
                <a:gd name="T18" fmla="*/ 18131 w 21600"/>
                <a:gd name="T19" fmla="*/ 1479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23" name="Oval 7"/>
            <p:cNvSpPr>
              <a:spLocks noChangeAspect="1" noChangeArrowheads="1"/>
            </p:cNvSpPr>
            <p:nvPr/>
          </p:nvSpPr>
          <p:spPr bwMode="auto">
            <a:xfrm>
              <a:off x="1932" y="3374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24" name="Oval 8"/>
            <p:cNvSpPr>
              <a:spLocks noChangeAspect="1" noChangeArrowheads="1"/>
            </p:cNvSpPr>
            <p:nvPr/>
          </p:nvSpPr>
          <p:spPr bwMode="auto">
            <a:xfrm>
              <a:off x="3664" y="3257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25" name="Oval 9"/>
            <p:cNvSpPr>
              <a:spLocks noChangeAspect="1" noChangeArrowheads="1"/>
            </p:cNvSpPr>
            <p:nvPr/>
          </p:nvSpPr>
          <p:spPr bwMode="auto">
            <a:xfrm>
              <a:off x="4108" y="3257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26" name="Oval 10"/>
            <p:cNvSpPr>
              <a:spLocks noChangeAspect="1" noChangeArrowheads="1"/>
            </p:cNvSpPr>
            <p:nvPr/>
          </p:nvSpPr>
          <p:spPr bwMode="auto">
            <a:xfrm>
              <a:off x="2420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27" name="Oval 11"/>
            <p:cNvSpPr>
              <a:spLocks noChangeAspect="1" noChangeArrowheads="1"/>
            </p:cNvSpPr>
            <p:nvPr/>
          </p:nvSpPr>
          <p:spPr bwMode="auto">
            <a:xfrm>
              <a:off x="2819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45229" name="Text Box 13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6 density-based clusters</a:t>
            </a:r>
          </a:p>
        </p:txBody>
      </p:sp>
    </p:spTree>
    <p:extLst>
      <p:ext uri="{BB962C8B-B14F-4D97-AF65-F5344CB8AC3E}">
        <p14:creationId xmlns:p14="http://schemas.microsoft.com/office/powerpoint/2010/main" val="3565263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509000" cy="1219200"/>
          </a:xfrm>
        </p:spPr>
        <p:txBody>
          <a:bodyPr>
            <a:noAutofit/>
          </a:bodyPr>
          <a:lstStyle/>
          <a:p>
            <a:r>
              <a:rPr lang="en-US" dirty="0"/>
              <a:t>Types of Clusters: Conceptual Clusters</a:t>
            </a:r>
          </a:p>
        </p:txBody>
      </p:sp>
      <p:sp>
        <p:nvSpPr>
          <p:cNvPr id="1590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446212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Shared Property or Conceptual Clusters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Finds clusters that share some common property or represent a particular concept.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2000" dirty="0"/>
              <a:t>. </a:t>
            </a:r>
          </a:p>
        </p:txBody>
      </p:sp>
      <p:sp>
        <p:nvSpPr>
          <p:cNvPr id="1590285" name="Text Box 13"/>
          <p:cNvSpPr txBox="1">
            <a:spLocks noChangeArrowheads="1"/>
          </p:cNvSpPr>
          <p:nvPr/>
        </p:nvSpPr>
        <p:spPr bwMode="auto">
          <a:xfrm>
            <a:off x="2971800" y="6094412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2 Overlapping Circles</a:t>
            </a:r>
          </a:p>
        </p:txBody>
      </p:sp>
      <p:sp>
        <p:nvSpPr>
          <p:cNvPr id="1590287" name="AutoShape 15"/>
          <p:cNvSpPr>
            <a:spLocks noChangeArrowheads="1"/>
          </p:cNvSpPr>
          <p:nvPr/>
        </p:nvSpPr>
        <p:spPr bwMode="auto">
          <a:xfrm>
            <a:off x="2819400" y="3122612"/>
            <a:ext cx="2286000" cy="2057400"/>
          </a:xfrm>
          <a:custGeom>
            <a:avLst/>
            <a:gdLst>
              <a:gd name="G0" fmla="+- 3030 0 0"/>
              <a:gd name="G1" fmla="+- 21600 0 3030"/>
              <a:gd name="G2" fmla="+- 21600 0 303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030" y="10800"/>
                </a:moveTo>
                <a:cubicBezTo>
                  <a:pt x="3030" y="15091"/>
                  <a:pt x="6509" y="18570"/>
                  <a:pt x="10800" y="18570"/>
                </a:cubicBezTo>
                <a:cubicBezTo>
                  <a:pt x="15091" y="18570"/>
                  <a:pt x="18570" y="15091"/>
                  <a:pt x="18570" y="10800"/>
                </a:cubicBezTo>
                <a:cubicBezTo>
                  <a:pt x="18570" y="6509"/>
                  <a:pt x="15091" y="3030"/>
                  <a:pt x="10800" y="3030"/>
                </a:cubicBezTo>
                <a:cubicBezTo>
                  <a:pt x="6509" y="3030"/>
                  <a:pt x="3030" y="6509"/>
                  <a:pt x="3030" y="10800"/>
                </a:cubicBezTo>
                <a:close/>
              </a:path>
            </a:pathLst>
          </a:cu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90288" name="AutoShape 16"/>
          <p:cNvSpPr>
            <a:spLocks noChangeArrowheads="1"/>
          </p:cNvSpPr>
          <p:nvPr/>
        </p:nvSpPr>
        <p:spPr bwMode="auto">
          <a:xfrm>
            <a:off x="3886200" y="3122612"/>
            <a:ext cx="2286000" cy="2057400"/>
          </a:xfrm>
          <a:custGeom>
            <a:avLst/>
            <a:gdLst>
              <a:gd name="G0" fmla="+- 3030 0 0"/>
              <a:gd name="G1" fmla="+- 21600 0 3030"/>
              <a:gd name="G2" fmla="+- 21600 0 303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030" y="10800"/>
                </a:moveTo>
                <a:cubicBezTo>
                  <a:pt x="3030" y="15091"/>
                  <a:pt x="6509" y="18570"/>
                  <a:pt x="10800" y="18570"/>
                </a:cubicBezTo>
                <a:cubicBezTo>
                  <a:pt x="15091" y="18570"/>
                  <a:pt x="18570" y="15091"/>
                  <a:pt x="18570" y="10800"/>
                </a:cubicBezTo>
                <a:cubicBezTo>
                  <a:pt x="18570" y="6509"/>
                  <a:pt x="15091" y="3030"/>
                  <a:pt x="10800" y="3030"/>
                </a:cubicBezTo>
                <a:cubicBezTo>
                  <a:pt x="6509" y="3030"/>
                  <a:pt x="3030" y="6509"/>
                  <a:pt x="3030" y="10800"/>
                </a:cubicBezTo>
                <a:close/>
              </a:path>
            </a:pathLst>
          </a:cu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17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534400" cy="914400"/>
          </a:xfrm>
        </p:spPr>
        <p:txBody>
          <a:bodyPr>
            <a:normAutofit/>
          </a:bodyPr>
          <a:lstStyle/>
          <a:p>
            <a:r>
              <a:rPr lang="en-US" dirty="0"/>
              <a:t>Types of Clusters: Objective Function</a:t>
            </a:r>
          </a:p>
        </p:txBody>
      </p:sp>
      <p:sp>
        <p:nvSpPr>
          <p:cNvPr id="1588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504237" cy="49530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ct val="20000"/>
              </a:spcBef>
            </a:pPr>
            <a:r>
              <a:rPr lang="en-US" dirty="0"/>
              <a:t>Clustering as an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 problem</a:t>
            </a:r>
          </a:p>
          <a:p>
            <a:pPr lvl="1">
              <a:spcBef>
                <a:spcPct val="20000"/>
              </a:spcBef>
            </a:pPr>
            <a:r>
              <a:rPr lang="en-US" dirty="0"/>
              <a:t>Finds clusters that minimize or maximize an </a:t>
            </a:r>
            <a:r>
              <a:rPr lang="en-US" dirty="0">
                <a:solidFill>
                  <a:srgbClr val="00B0F0"/>
                </a:solidFill>
              </a:rPr>
              <a:t>objective function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Enumerate all possible ways of dividing the points into clusters and evaluate the `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goodness</a:t>
            </a:r>
            <a:r>
              <a:rPr lang="en-US" dirty="0"/>
              <a:t>' of each potential set of clusters by using the given objective function.  (NP Hard)</a:t>
            </a:r>
          </a:p>
          <a:p>
            <a:pPr lvl="1"/>
            <a:r>
              <a:rPr lang="en-US" dirty="0"/>
              <a:t> Can have </a:t>
            </a:r>
            <a:r>
              <a:rPr lang="en-US" dirty="0">
                <a:solidFill>
                  <a:srgbClr val="00B0F0"/>
                </a:solidFill>
              </a:rPr>
              <a:t>global</a:t>
            </a:r>
            <a:r>
              <a:rPr lang="en-US" dirty="0"/>
              <a:t> 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local</a:t>
            </a:r>
            <a:r>
              <a:rPr lang="en-US" dirty="0"/>
              <a:t> objectives.</a:t>
            </a:r>
          </a:p>
          <a:p>
            <a:pPr lvl="2"/>
            <a:r>
              <a:rPr lang="en-US" dirty="0"/>
              <a:t> Hierarchical clustering algorithms typically have local objectives</a:t>
            </a:r>
          </a:p>
          <a:p>
            <a:pPr lvl="2"/>
            <a:r>
              <a:rPr lang="en-US" dirty="0"/>
              <a:t> </a:t>
            </a:r>
            <a:r>
              <a:rPr lang="en-US" dirty="0" err="1"/>
              <a:t>Partitional</a:t>
            </a:r>
            <a:r>
              <a:rPr lang="en-US" dirty="0"/>
              <a:t> algorithms typically have global objectives</a:t>
            </a:r>
          </a:p>
          <a:p>
            <a:pPr lvl="1"/>
            <a:r>
              <a:rPr lang="en-US" dirty="0"/>
              <a:t>A variation of the global objective function approach is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fit</a:t>
            </a:r>
            <a:r>
              <a:rPr lang="en-US" dirty="0"/>
              <a:t> the data to a </a:t>
            </a:r>
            <a:r>
              <a:rPr lang="en-US" dirty="0">
                <a:solidFill>
                  <a:srgbClr val="00B0F0"/>
                </a:solidFill>
              </a:rPr>
              <a:t>parameterized model</a:t>
            </a:r>
            <a:r>
              <a:rPr lang="en-US" dirty="0"/>
              <a:t>. </a:t>
            </a:r>
          </a:p>
          <a:p>
            <a:pPr lvl="2"/>
            <a:r>
              <a:rPr lang="en-US" dirty="0"/>
              <a:t>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parameters</a:t>
            </a:r>
            <a:r>
              <a:rPr lang="en-US" dirty="0"/>
              <a:t> for the model are determined from the data, and they determine the clustering</a:t>
            </a:r>
          </a:p>
          <a:p>
            <a:pPr lvl="2"/>
            <a:r>
              <a:rPr lang="en-US" dirty="0"/>
              <a:t> E.g., </a:t>
            </a:r>
            <a:r>
              <a:rPr lang="en-US" dirty="0">
                <a:solidFill>
                  <a:srgbClr val="00B0F0"/>
                </a:solidFill>
              </a:rPr>
              <a:t>Mixture models </a:t>
            </a:r>
            <a:r>
              <a:rPr lang="en-US" dirty="0"/>
              <a:t>assume that the data is a ‘mixture' of a number of statistical distributions.  </a:t>
            </a:r>
          </a:p>
        </p:txBody>
      </p:sp>
    </p:spTree>
    <p:extLst>
      <p:ext uri="{BB962C8B-B14F-4D97-AF65-F5344CB8AC3E}">
        <p14:creationId xmlns:p14="http://schemas.microsoft.com/office/powerpoint/2010/main" val="2318126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2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Algorithms</a:t>
            </a:r>
          </a:p>
        </p:txBody>
      </p:sp>
      <p:sp>
        <p:nvSpPr>
          <p:cNvPr id="159129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and its variants</a:t>
            </a:r>
          </a:p>
          <a:p>
            <a:pPr lvl="4"/>
            <a:endParaRPr lang="en-US" dirty="0"/>
          </a:p>
          <a:p>
            <a:r>
              <a:rPr lang="en-US" dirty="0"/>
              <a:t>Hierarchical clustering</a:t>
            </a:r>
          </a:p>
          <a:p>
            <a:endParaRPr lang="en-US" dirty="0"/>
          </a:p>
          <a:p>
            <a:r>
              <a:rPr lang="en-US" dirty="0"/>
              <a:t>DBSCAN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624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</a:t>
            </a:r>
          </a:p>
        </p:txBody>
      </p:sp>
    </p:spTree>
    <p:extLst>
      <p:ext uri="{BB962C8B-B14F-4D97-AF65-F5344CB8AC3E}">
        <p14:creationId xmlns:p14="http://schemas.microsoft.com/office/powerpoint/2010/main" val="169674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80400" cy="1219200"/>
          </a:xfrm>
        </p:spPr>
        <p:txBody>
          <a:bodyPr>
            <a:normAutofit/>
          </a:bodyPr>
          <a:lstStyle/>
          <a:p>
            <a:r>
              <a:rPr lang="en-US" sz="3600" dirty="0"/>
              <a:t>K-means Clustering</a:t>
            </a:r>
          </a:p>
        </p:txBody>
      </p:sp>
      <p:sp>
        <p:nvSpPr>
          <p:cNvPr id="1592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600200"/>
            <a:ext cx="8001000" cy="4572000"/>
          </a:xfrm>
        </p:spPr>
        <p:txBody>
          <a:bodyPr>
            <a:normAutofit/>
          </a:bodyPr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 err="1"/>
              <a:t>Partitional</a:t>
            </a:r>
            <a:r>
              <a:rPr lang="en-US" dirty="0"/>
              <a:t> clustering approach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Each cluster is associated with a </a:t>
            </a:r>
            <a:r>
              <a:rPr lang="en-US" dirty="0">
                <a:solidFill>
                  <a:srgbClr val="FF0000"/>
                </a:solidFill>
              </a:rPr>
              <a:t>centroid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(center point)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Each point is assigned to the cluster with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closest</a:t>
            </a:r>
            <a:r>
              <a:rPr lang="en-US" dirty="0"/>
              <a:t> centroid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Number of clusters, </a:t>
            </a:r>
            <a:r>
              <a:rPr lang="en-US" dirty="0">
                <a:solidFill>
                  <a:srgbClr val="0070C0"/>
                </a:solidFill>
              </a:rPr>
              <a:t>K</a:t>
            </a:r>
            <a:r>
              <a:rPr lang="en-US" dirty="0"/>
              <a:t>, must be specified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The objective is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minimize the sum of distances </a:t>
            </a:r>
            <a:r>
              <a:rPr lang="en-US" dirty="0"/>
              <a:t>of the points to their respective </a:t>
            </a:r>
            <a:r>
              <a:rPr lang="en-US" dirty="0">
                <a:solidFill>
                  <a:srgbClr val="0070C0"/>
                </a:solidFill>
              </a:rPr>
              <a:t>centroid</a:t>
            </a:r>
          </a:p>
        </p:txBody>
      </p:sp>
    </p:spTree>
    <p:extLst>
      <p:ext uri="{BB962C8B-B14F-4D97-AF65-F5344CB8AC3E}">
        <p14:creationId xmlns:p14="http://schemas.microsoft.com/office/powerpoint/2010/main" val="2119926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rtlCol="0">
                <a:normAutofit/>
              </a:bodyPr>
              <a:lstStyle/>
              <a:p>
                <a:pPr>
                  <a:defRPr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defRPr/>
                </a:pPr>
                <a:r>
                  <a:rPr lang="en-US" b="1" dirty="0">
                    <a:solidFill>
                      <a:srgbClr val="FF0000"/>
                    </a:solidFill>
                  </a:rPr>
                  <a:t>Problem: </a:t>
                </a:r>
                <a:r>
                  <a:rPr lang="en-US" dirty="0"/>
                  <a:t>Given a set </a:t>
                </a:r>
                <a:r>
                  <a:rPr lang="en-US" dirty="0">
                    <a:solidFill>
                      <a:schemeClr val="accent1"/>
                    </a:solidFill>
                  </a:rPr>
                  <a:t>X</a:t>
                </a:r>
                <a:r>
                  <a:rPr lang="en-US" dirty="0"/>
                  <a:t> of </a:t>
                </a:r>
                <a:r>
                  <a:rPr lang="en-US" dirty="0">
                    <a:solidFill>
                      <a:schemeClr val="accent1"/>
                    </a:solidFill>
                  </a:rPr>
                  <a:t>n</a:t>
                </a:r>
                <a:r>
                  <a:rPr lang="en-US" dirty="0"/>
                  <a:t> points in a </a:t>
                </a:r>
                <a:r>
                  <a:rPr lang="en-US" dirty="0">
                    <a:solidFill>
                      <a:schemeClr val="accent1"/>
                    </a:solidFill>
                  </a:rPr>
                  <a:t>d</a:t>
                </a:r>
                <a:r>
                  <a:rPr lang="en-US" dirty="0"/>
                  <a:t>-dimensional space and an integer </a:t>
                </a:r>
                <a:r>
                  <a:rPr lang="en-US" dirty="0">
                    <a:solidFill>
                      <a:schemeClr val="accent1"/>
                    </a:solidFill>
                  </a:rPr>
                  <a:t>K </a:t>
                </a:r>
                <a:r>
                  <a:rPr lang="en-US" dirty="0"/>
                  <a:t>group the points into </a:t>
                </a:r>
                <a:r>
                  <a:rPr lang="en-US" dirty="0">
                    <a:solidFill>
                      <a:srgbClr val="0070C0"/>
                    </a:solidFill>
                  </a:rPr>
                  <a:t>K</a:t>
                </a:r>
                <a:r>
                  <a:rPr lang="en-US" dirty="0"/>
                  <a:t> clusters </a:t>
                </a:r>
                <a:r>
                  <a:rPr lang="en-US" dirty="0">
                    <a:solidFill>
                      <a:schemeClr val="accent1"/>
                    </a:solidFill>
                  </a:rPr>
                  <a:t>C= {</a:t>
                </a:r>
                <a:r>
                  <a:rPr lang="en-US" dirty="0" err="1">
                    <a:solidFill>
                      <a:schemeClr val="accent1"/>
                    </a:solidFill>
                  </a:rPr>
                  <a:t>C</a:t>
                </a:r>
                <a:r>
                  <a:rPr lang="en-US" baseline="-25000" dirty="0" err="1">
                    <a:solidFill>
                      <a:schemeClr val="accent1"/>
                    </a:solidFill>
                  </a:rPr>
                  <a:t>1</a:t>
                </a:r>
                <a:r>
                  <a:rPr lang="en-US" dirty="0">
                    <a:solidFill>
                      <a:schemeClr val="accent1"/>
                    </a:solidFill>
                  </a:rPr>
                  <a:t>, C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2</a:t>
                </a:r>
                <a:r>
                  <a:rPr lang="en-US" dirty="0">
                    <a:solidFill>
                      <a:schemeClr val="accent1"/>
                    </a:solidFill>
                  </a:rPr>
                  <a:t>,…,C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k</a:t>
                </a:r>
                <a:r>
                  <a:rPr lang="en-US" dirty="0">
                    <a:solidFill>
                      <a:schemeClr val="accent1"/>
                    </a:solidFill>
                  </a:rPr>
                  <a:t>} </a:t>
                </a:r>
                <a:r>
                  <a:rPr lang="en-US" dirty="0"/>
                  <a:t>such that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𝐶𝑜𝑠𝑡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𝑑𝑖𝑠𝑡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fontAlgn="auto"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endParaRPr lang="en-US" dirty="0"/>
              </a:p>
              <a:p>
                <a:pPr fontAlgn="auto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r>
                  <a:rPr lang="en-US" dirty="0"/>
                  <a:t>	is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minimized</a:t>
                </a:r>
                <a:r>
                  <a:rPr lang="en-US" dirty="0"/>
                  <a:t>, where </a:t>
                </a:r>
                <a:r>
                  <a:rPr lang="en-US" dirty="0">
                    <a:solidFill>
                      <a:srgbClr val="0070C0"/>
                    </a:solidFill>
                  </a:rPr>
                  <a:t>c</a:t>
                </a:r>
                <a:r>
                  <a:rPr lang="en-US" baseline="-25000" dirty="0">
                    <a:solidFill>
                      <a:srgbClr val="0070C0"/>
                    </a:solidFill>
                  </a:rPr>
                  <a:t>i</a:t>
                </a:r>
                <a:r>
                  <a:rPr lang="en-US" dirty="0"/>
                  <a:t> is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centroid </a:t>
                </a:r>
                <a:r>
                  <a:rPr lang="en-US" dirty="0"/>
                  <a:t>of the points in cluster </a:t>
                </a:r>
                <a:r>
                  <a:rPr lang="en-US" dirty="0" err="1">
                    <a:solidFill>
                      <a:srgbClr val="0070C0"/>
                    </a:solidFill>
                  </a:rPr>
                  <a:t>C</a:t>
                </a:r>
                <a:r>
                  <a:rPr lang="en-US" baseline="-25000" dirty="0" err="1">
                    <a:solidFill>
                      <a:srgbClr val="0070C0"/>
                    </a:solidFill>
                  </a:rPr>
                  <a:t>i</a:t>
                </a:r>
                <a:endParaRPr lang="en-US" baseline="-25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2129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rtlCol="0">
                <a:normAutofit fontScale="92500" lnSpcReduction="10000"/>
              </a:bodyPr>
              <a:lstStyle/>
              <a:p>
                <a:pPr fontAlgn="auto"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en-US" dirty="0"/>
                  <a:t>Most common definition is with </a:t>
                </a:r>
                <a:r>
                  <a:rPr lang="en-US" dirty="0" err="1"/>
                  <a:t>euclidean</a:t>
                </a:r>
                <a:r>
                  <a:rPr lang="en-US" dirty="0"/>
                  <a:t> distance, minimizing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Sum of Squares Error (SSE)</a:t>
                </a:r>
                <a:r>
                  <a:rPr lang="en-US" dirty="0"/>
                  <a:t> function</a:t>
                </a:r>
              </a:p>
              <a:p>
                <a:pPr lvl="1">
                  <a:defRPr/>
                </a:pPr>
                <a:r>
                  <a:rPr lang="en-US" dirty="0"/>
                  <a:t>Sometimes K-means is defined like that</a:t>
                </a:r>
              </a:p>
              <a:p>
                <a:pPr>
                  <a:defRPr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defRPr/>
                </a:pPr>
                <a:r>
                  <a:rPr lang="en-US" b="1" dirty="0">
                    <a:solidFill>
                      <a:srgbClr val="FF0000"/>
                    </a:solidFill>
                  </a:rPr>
                  <a:t>Problem: </a:t>
                </a:r>
                <a:r>
                  <a:rPr lang="en-US" dirty="0"/>
                  <a:t>Given a set </a:t>
                </a:r>
                <a:r>
                  <a:rPr lang="en-US" dirty="0">
                    <a:solidFill>
                      <a:schemeClr val="accent1"/>
                    </a:solidFill>
                  </a:rPr>
                  <a:t>X</a:t>
                </a:r>
                <a:r>
                  <a:rPr lang="en-US" dirty="0"/>
                  <a:t> of </a:t>
                </a:r>
                <a:r>
                  <a:rPr lang="en-US" dirty="0">
                    <a:solidFill>
                      <a:schemeClr val="accent1"/>
                    </a:solidFill>
                  </a:rPr>
                  <a:t>n</a:t>
                </a:r>
                <a:r>
                  <a:rPr lang="en-US" dirty="0"/>
                  <a:t> points in a </a:t>
                </a:r>
                <a:r>
                  <a:rPr lang="en-US" dirty="0">
                    <a:solidFill>
                      <a:schemeClr val="accent1"/>
                    </a:solidFill>
                  </a:rPr>
                  <a:t>d</a:t>
                </a:r>
                <a:r>
                  <a:rPr lang="en-US" dirty="0"/>
                  <a:t>-dimensional space and an integer </a:t>
                </a:r>
                <a:r>
                  <a:rPr lang="en-US" dirty="0">
                    <a:solidFill>
                      <a:schemeClr val="accent1"/>
                    </a:solidFill>
                  </a:rPr>
                  <a:t>K </a:t>
                </a:r>
                <a:r>
                  <a:rPr lang="en-US" dirty="0"/>
                  <a:t>group the points into </a:t>
                </a:r>
                <a:r>
                  <a:rPr lang="en-US" dirty="0">
                    <a:solidFill>
                      <a:srgbClr val="0070C0"/>
                    </a:solidFill>
                  </a:rPr>
                  <a:t>K</a:t>
                </a:r>
                <a:r>
                  <a:rPr lang="en-US" dirty="0"/>
                  <a:t> clusters </a:t>
                </a:r>
                <a:r>
                  <a:rPr lang="en-US" dirty="0">
                    <a:solidFill>
                      <a:schemeClr val="accent1"/>
                    </a:solidFill>
                  </a:rPr>
                  <a:t>C= {</a:t>
                </a:r>
                <a:r>
                  <a:rPr lang="en-US" dirty="0" err="1">
                    <a:solidFill>
                      <a:schemeClr val="accent1"/>
                    </a:solidFill>
                  </a:rPr>
                  <a:t>C</a:t>
                </a:r>
                <a:r>
                  <a:rPr lang="en-US" baseline="-25000" dirty="0" err="1">
                    <a:solidFill>
                      <a:schemeClr val="accent1"/>
                    </a:solidFill>
                  </a:rPr>
                  <a:t>1</a:t>
                </a:r>
                <a:r>
                  <a:rPr lang="en-US" dirty="0">
                    <a:solidFill>
                      <a:schemeClr val="accent1"/>
                    </a:solidFill>
                  </a:rPr>
                  <a:t>, C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2</a:t>
                </a:r>
                <a:r>
                  <a:rPr lang="en-US" dirty="0">
                    <a:solidFill>
                      <a:schemeClr val="accent1"/>
                    </a:solidFill>
                  </a:rPr>
                  <a:t>,…,C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k</a:t>
                </a:r>
                <a:r>
                  <a:rPr lang="en-US" dirty="0">
                    <a:solidFill>
                      <a:schemeClr val="accent1"/>
                    </a:solidFill>
                  </a:rPr>
                  <a:t>} </a:t>
                </a:r>
                <a:r>
                  <a:rPr lang="en-US" dirty="0"/>
                  <a:t>such that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𝐶𝑜𝑠𝑡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fontAlgn="auto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r>
                  <a:rPr lang="en-US" dirty="0"/>
                  <a:t>is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minimized</a:t>
                </a:r>
                <a:r>
                  <a:rPr lang="en-US" dirty="0"/>
                  <a:t>, where </a:t>
                </a:r>
                <a:r>
                  <a:rPr lang="en-US" dirty="0">
                    <a:solidFill>
                      <a:srgbClr val="0070C0"/>
                    </a:solidFill>
                  </a:rPr>
                  <a:t>c</a:t>
                </a:r>
                <a:r>
                  <a:rPr lang="en-US" baseline="-25000" dirty="0">
                    <a:solidFill>
                      <a:srgbClr val="0070C0"/>
                    </a:solidFill>
                  </a:rPr>
                  <a:t>i</a:t>
                </a:r>
                <a:r>
                  <a:rPr lang="en-US" dirty="0"/>
                  <a:t> is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mean </a:t>
                </a:r>
                <a:r>
                  <a:rPr lang="en-US" dirty="0"/>
                  <a:t>of the points in cluster </a:t>
                </a:r>
                <a:r>
                  <a:rPr lang="en-US" dirty="0" err="1">
                    <a:solidFill>
                      <a:srgbClr val="0070C0"/>
                    </a:solidFill>
                  </a:rPr>
                  <a:t>C</a:t>
                </a:r>
                <a:r>
                  <a:rPr lang="en-US" baseline="-25000" dirty="0" err="1">
                    <a:solidFill>
                      <a:srgbClr val="0070C0"/>
                    </a:solidFill>
                  </a:rPr>
                  <a:t>i</a:t>
                </a:r>
                <a:endParaRPr lang="en-US" baseline="-25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2000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6048281" y="6019800"/>
            <a:ext cx="3095719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Sum of Squares Error (SSE)</a:t>
            </a:r>
          </a:p>
        </p:txBody>
      </p:sp>
    </p:spTree>
    <p:extLst>
      <p:ext uri="{BB962C8B-B14F-4D97-AF65-F5344CB8AC3E}">
        <p14:creationId xmlns:p14="http://schemas.microsoft.com/office/powerpoint/2010/main" val="35596316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305800" cy="9906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Complexity of the k-means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768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NP-hard</a:t>
            </a:r>
            <a:r>
              <a:rPr lang="en-US" dirty="0"/>
              <a:t> if the dimensionality of the data is at least 2 (</a:t>
            </a:r>
            <a:r>
              <a:rPr lang="en-US" b="1" dirty="0">
                <a:solidFill>
                  <a:schemeClr val="accent1"/>
                </a:solidFill>
              </a:rPr>
              <a:t>d&gt;=2</a:t>
            </a:r>
            <a:r>
              <a:rPr lang="en-US" dirty="0"/>
              <a:t>)</a:t>
            </a:r>
          </a:p>
          <a:p>
            <a:pPr lvl="1">
              <a:defRPr/>
            </a:pPr>
            <a:r>
              <a:rPr lang="en-US" dirty="0"/>
              <a:t>Finding the best solution in polynomial time is infeasible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For </a:t>
            </a:r>
            <a:r>
              <a:rPr lang="en-US" b="1" dirty="0">
                <a:solidFill>
                  <a:schemeClr val="accent1"/>
                </a:solidFill>
              </a:rPr>
              <a:t>d=1</a:t>
            </a:r>
            <a:r>
              <a:rPr lang="en-US" dirty="0"/>
              <a:t> the problem is solvable in polynomial time (how?)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A simple iterative algorithm works quite well in practice</a:t>
            </a:r>
          </a:p>
        </p:txBody>
      </p:sp>
    </p:spTree>
    <p:extLst>
      <p:ext uri="{BB962C8B-B14F-4D97-AF65-F5344CB8AC3E}">
        <p14:creationId xmlns:p14="http://schemas.microsoft.com/office/powerpoint/2010/main" val="34588851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80400" cy="1219200"/>
          </a:xfrm>
        </p:spPr>
        <p:txBody>
          <a:bodyPr>
            <a:normAutofit/>
          </a:bodyPr>
          <a:lstStyle/>
          <a:p>
            <a:r>
              <a:rPr lang="en-US" dirty="0"/>
              <a:t>K-means Algorithm</a:t>
            </a:r>
          </a:p>
        </p:txBody>
      </p:sp>
      <p:graphicFrame>
        <p:nvGraphicFramePr>
          <p:cNvPr id="15923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955827"/>
              </p:ext>
            </p:extLst>
          </p:nvPr>
        </p:nvGraphicFramePr>
        <p:xfrm>
          <a:off x="457200" y="3886200"/>
          <a:ext cx="815340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784928" imgH="3177815" progId="Paint.Picture">
                  <p:embed/>
                </p:oleObj>
              </mc:Choice>
              <mc:Fallback>
                <p:oleObj name="Bitmap Image" r:id="rId2" imgW="9784928" imgH="317781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143"/>
                      <a:stretch>
                        <a:fillRect/>
                      </a:stretch>
                    </p:blipFill>
                    <p:spPr bwMode="auto">
                      <a:xfrm>
                        <a:off x="457200" y="3886200"/>
                        <a:ext cx="8153400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05000"/>
          </a:xfrm>
        </p:spPr>
        <p:txBody>
          <a:bodyPr/>
          <a:lstStyle/>
          <a:p>
            <a:r>
              <a:rPr lang="en-US" dirty="0"/>
              <a:t>Also known as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Lloyd’s algorithm</a:t>
            </a:r>
            <a:r>
              <a:rPr lang="en-US" dirty="0"/>
              <a:t>.</a:t>
            </a:r>
          </a:p>
          <a:p>
            <a:r>
              <a:rPr lang="en-US" dirty="0"/>
              <a:t>K-means is sometimes synonymous with this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3886200"/>
            <a:ext cx="525780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33400" y="5029200"/>
            <a:ext cx="7848600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3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 Algorithm – Initialization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centroids are often chosen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randomly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Clusters produced vary from one run to another.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027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3700" y="304800"/>
            <a:ext cx="8280400" cy="838200"/>
          </a:xfrm>
        </p:spPr>
        <p:txBody>
          <a:bodyPr>
            <a:normAutofit/>
          </a:bodyPr>
          <a:lstStyle/>
          <a:p>
            <a:r>
              <a:rPr lang="en-US" dirty="0"/>
              <a:t>Two different K-means </a:t>
            </a:r>
            <a:r>
              <a:rPr lang="en-US" dirty="0" err="1"/>
              <a:t>Clusterings</a:t>
            </a:r>
            <a:endParaRPr lang="en-US" dirty="0"/>
          </a:p>
        </p:txBody>
      </p:sp>
      <p:pic>
        <p:nvPicPr>
          <p:cNvPr id="15943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3" y="1295400"/>
            <a:ext cx="3043237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94372" name="Text Box 4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grpSp>
        <p:nvGrpSpPr>
          <p:cNvPr id="1594373" name="Group 5"/>
          <p:cNvGrpSpPr>
            <a:grpSpLocks/>
          </p:cNvGrpSpPr>
          <p:nvPr/>
        </p:nvGrpSpPr>
        <p:grpSpPr bwMode="auto">
          <a:xfrm>
            <a:off x="5105400" y="3660775"/>
            <a:ext cx="3048000" cy="2587625"/>
            <a:chOff x="3216" y="2306"/>
            <a:chExt cx="1920" cy="1630"/>
          </a:xfrm>
        </p:grpSpPr>
        <p:pic>
          <p:nvPicPr>
            <p:cNvPr id="1594374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2306"/>
              <a:ext cx="1917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94375" name="Text Box 7"/>
            <p:cNvSpPr txBox="1">
              <a:spLocks noChangeArrowheads="1"/>
            </p:cNvSpPr>
            <p:nvPr/>
          </p:nvSpPr>
          <p:spPr bwMode="auto">
            <a:xfrm>
              <a:off x="3408" y="3705"/>
              <a:ext cx="17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Sub-optimal Clustering</a:t>
              </a:r>
            </a:p>
          </p:txBody>
        </p:sp>
      </p:grpSp>
      <p:grpSp>
        <p:nvGrpSpPr>
          <p:cNvPr id="1594376" name="Group 8"/>
          <p:cNvGrpSpPr>
            <a:grpSpLocks/>
          </p:cNvGrpSpPr>
          <p:nvPr/>
        </p:nvGrpSpPr>
        <p:grpSpPr bwMode="auto">
          <a:xfrm>
            <a:off x="990600" y="3660775"/>
            <a:ext cx="3043238" cy="2587625"/>
            <a:chOff x="624" y="2306"/>
            <a:chExt cx="1917" cy="1630"/>
          </a:xfrm>
        </p:grpSpPr>
        <p:pic>
          <p:nvPicPr>
            <p:cNvPr id="1594377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2306"/>
              <a:ext cx="1917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94378" name="Text Box 10"/>
            <p:cNvSpPr txBox="1">
              <a:spLocks noChangeArrowheads="1"/>
            </p:cNvSpPr>
            <p:nvPr/>
          </p:nvSpPr>
          <p:spPr bwMode="auto">
            <a:xfrm>
              <a:off x="912" y="3705"/>
              <a:ext cx="14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Optimal Clustering</a:t>
              </a:r>
            </a:p>
          </p:txBody>
        </p:sp>
      </p:grpSp>
      <p:sp>
        <p:nvSpPr>
          <p:cNvPr id="1594379" name="Text Box 11"/>
          <p:cNvSpPr txBox="1">
            <a:spLocks noChangeArrowheads="1"/>
          </p:cNvSpPr>
          <p:nvPr/>
        </p:nvSpPr>
        <p:spPr bwMode="auto">
          <a:xfrm>
            <a:off x="5257800" y="1927226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/>
              <a:t>Original Points</a:t>
            </a:r>
          </a:p>
        </p:txBody>
      </p:sp>
    </p:spTree>
    <p:extLst>
      <p:ext uri="{BB962C8B-B14F-4D97-AF65-F5344CB8AC3E}">
        <p14:creationId xmlns:p14="http://schemas.microsoft.com/office/powerpoint/2010/main" val="165376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7794" y="381000"/>
            <a:ext cx="8863806" cy="990600"/>
          </a:xfrm>
        </p:spPr>
        <p:txBody>
          <a:bodyPr>
            <a:noAutofit/>
          </a:bodyPr>
          <a:lstStyle/>
          <a:p>
            <a:r>
              <a:rPr lang="en-US" dirty="0"/>
              <a:t>Importance of Choosing Initial Centroids</a:t>
            </a:r>
          </a:p>
        </p:txBody>
      </p:sp>
      <p:sp>
        <p:nvSpPr>
          <p:cNvPr id="1595395" name="Text Box 3"/>
          <p:cNvSpPr txBox="1">
            <a:spLocks noChangeArrowheads="1"/>
          </p:cNvSpPr>
          <p:nvPr/>
        </p:nvSpPr>
        <p:spPr bwMode="auto">
          <a:xfrm>
            <a:off x="609600" y="4784725"/>
            <a:ext cx="800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15953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7192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3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7192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3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7192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39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7192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40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7192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40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7192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779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304800"/>
            <a:ext cx="8280400" cy="914400"/>
          </a:xfrm>
        </p:spPr>
        <p:txBody>
          <a:bodyPr>
            <a:noAutofit/>
          </a:bodyPr>
          <a:lstStyle/>
          <a:p>
            <a:r>
              <a:rPr lang="en-US" sz="3600" dirty="0"/>
              <a:t>Importance of Choosing Initial Centroids</a:t>
            </a:r>
          </a:p>
        </p:txBody>
      </p:sp>
      <p:sp>
        <p:nvSpPr>
          <p:cNvPr id="1596419" name="Text Box 3"/>
          <p:cNvSpPr txBox="1">
            <a:spLocks noChangeArrowheads="1"/>
          </p:cNvSpPr>
          <p:nvPr/>
        </p:nvSpPr>
        <p:spPr bwMode="auto">
          <a:xfrm>
            <a:off x="609600" y="4727575"/>
            <a:ext cx="800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15964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509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64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4509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642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4509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642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941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64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1941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6425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1941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01688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87338"/>
            <a:ext cx="8839200" cy="1066800"/>
          </a:xfrm>
        </p:spPr>
        <p:txBody>
          <a:bodyPr>
            <a:noAutofit/>
          </a:bodyPr>
          <a:lstStyle/>
          <a:p>
            <a:r>
              <a:rPr lang="en-US" dirty="0"/>
              <a:t>Importance of Choosing Initial Centroids</a:t>
            </a:r>
          </a:p>
        </p:txBody>
      </p:sp>
      <p:sp>
        <p:nvSpPr>
          <p:cNvPr id="1598467" name="Text Box 3"/>
          <p:cNvSpPr txBox="1">
            <a:spLocks noChangeArrowheads="1"/>
          </p:cNvSpPr>
          <p:nvPr/>
        </p:nvSpPr>
        <p:spPr bwMode="auto">
          <a:xfrm>
            <a:off x="609600" y="4860925"/>
            <a:ext cx="800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15984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954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8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954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847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954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847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954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847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954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264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534400" cy="914400"/>
          </a:xfrm>
        </p:spPr>
        <p:txBody>
          <a:bodyPr>
            <a:noAutofit/>
          </a:bodyPr>
          <a:lstStyle/>
          <a:p>
            <a:r>
              <a:rPr lang="en-US" sz="3600" dirty="0"/>
              <a:t>Importance of Choosing Initial Centroids …</a:t>
            </a:r>
          </a:p>
        </p:txBody>
      </p:sp>
      <p:sp>
        <p:nvSpPr>
          <p:cNvPr id="1599491" name="Text Box 3"/>
          <p:cNvSpPr txBox="1">
            <a:spLocks noChangeArrowheads="1"/>
          </p:cNvSpPr>
          <p:nvPr/>
        </p:nvSpPr>
        <p:spPr bwMode="auto">
          <a:xfrm>
            <a:off x="609600" y="4651375"/>
            <a:ext cx="800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15994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4509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94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509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94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417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94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0417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949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0417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9900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multiple runs </a:t>
            </a:r>
            <a:r>
              <a:rPr lang="en-US" dirty="0"/>
              <a:t>and select the clustering with the smallest error</a:t>
            </a:r>
          </a:p>
          <a:p>
            <a:endParaRPr lang="en-US" dirty="0"/>
          </a:p>
          <a:p>
            <a:r>
              <a:rPr lang="en-US" dirty="0"/>
              <a:t>Select original set of  points by methods other than random . E.g.,  pick the most distant (from each other) points as cluster centers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K-means++ </a:t>
            </a:r>
            <a:r>
              <a:rPr lang="en-US" dirty="0"/>
              <a:t>algorithm)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8308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 Algorithm – Centroids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centroid</a:t>
            </a:r>
            <a:r>
              <a:rPr lang="en-US" dirty="0"/>
              <a:t> depends on the distance function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minimizer</a:t>
            </a:r>
            <a:r>
              <a:rPr lang="en-US" dirty="0"/>
              <a:t> for the distance function</a:t>
            </a:r>
          </a:p>
          <a:p>
            <a:r>
              <a:rPr lang="en-US" dirty="0"/>
              <a:t>‘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Closeness</a:t>
            </a:r>
            <a:r>
              <a:rPr lang="en-US" dirty="0"/>
              <a:t>’ is measured by Euclidean distance (SSE), cosine similarity, correlation, etc.</a:t>
            </a:r>
          </a:p>
          <a:p>
            <a:r>
              <a:rPr lang="en-US" dirty="0">
                <a:solidFill>
                  <a:srgbClr val="0070C0"/>
                </a:solidFill>
              </a:rPr>
              <a:t>Centroid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mean</a:t>
            </a:r>
            <a:r>
              <a:rPr lang="en-US" dirty="0"/>
              <a:t> of the points in the cluster for SSE, and cosine similarity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median</a:t>
            </a:r>
            <a:r>
              <a:rPr lang="en-US" dirty="0"/>
              <a:t> for Manhattan distance.</a:t>
            </a:r>
          </a:p>
          <a:p>
            <a:pPr lvl="1"/>
            <a:endParaRPr lang="en-US" dirty="0"/>
          </a:p>
          <a:p>
            <a:r>
              <a:rPr lang="en-US" dirty="0"/>
              <a:t>Finding the centroid is not always easy </a:t>
            </a:r>
          </a:p>
          <a:p>
            <a:pPr lvl="1"/>
            <a:r>
              <a:rPr lang="en-US" dirty="0"/>
              <a:t>It can be an NP-hard problem for some distance functions</a:t>
            </a:r>
          </a:p>
          <a:p>
            <a:pPr lvl="2"/>
            <a:r>
              <a:rPr lang="en-US" dirty="0"/>
              <a:t>E.g., median form multiple dimensions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1422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 Algorithm – Convergence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K-means will </a:t>
            </a:r>
            <a:r>
              <a:rPr lang="en-US" dirty="0">
                <a:solidFill>
                  <a:srgbClr val="0070C0"/>
                </a:solidFill>
              </a:rPr>
              <a:t>converge</a:t>
            </a:r>
            <a:r>
              <a:rPr lang="en-US" dirty="0"/>
              <a:t> for common similarity measures mentioned above.</a:t>
            </a:r>
          </a:p>
          <a:p>
            <a:pPr lvl="1"/>
            <a:r>
              <a:rPr lang="en-US" dirty="0"/>
              <a:t>Most of the convergence happens in the first few iterations.</a:t>
            </a:r>
          </a:p>
          <a:p>
            <a:pPr lvl="1"/>
            <a:r>
              <a:rPr lang="en-US" dirty="0"/>
              <a:t>Often the stopping condition is changed to ‘Until relatively few points change clusters’</a:t>
            </a:r>
          </a:p>
          <a:p>
            <a:r>
              <a:rPr lang="en-US" dirty="0"/>
              <a:t>Complexity is O( n * K * I * d )</a:t>
            </a:r>
          </a:p>
          <a:p>
            <a:pPr lvl="1"/>
            <a:r>
              <a:rPr lang="en-US" dirty="0"/>
              <a:t>n = number of points, K = number of clusters, </a:t>
            </a:r>
            <a:br>
              <a:rPr lang="en-US" dirty="0"/>
            </a:br>
            <a:r>
              <a:rPr lang="en-US" dirty="0"/>
              <a:t>I = number of iterations, d = dimensionality</a:t>
            </a:r>
          </a:p>
          <a:p>
            <a:r>
              <a:rPr lang="en-US" dirty="0"/>
              <a:t>In general a fast and efficient algorithm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5785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of K-means</a:t>
            </a:r>
          </a:p>
        </p:txBody>
      </p:sp>
      <p:sp>
        <p:nvSpPr>
          <p:cNvPr id="1611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has problems when clusters are of different </a:t>
            </a:r>
          </a:p>
          <a:p>
            <a:pPr lvl="1"/>
            <a:r>
              <a:rPr lang="en-US" dirty="0"/>
              <a:t>Sizes</a:t>
            </a:r>
          </a:p>
          <a:p>
            <a:pPr lvl="1"/>
            <a:r>
              <a:rPr lang="en-US" dirty="0"/>
              <a:t>Densities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Non-globular</a:t>
            </a:r>
            <a:r>
              <a:rPr lang="en-US" dirty="0"/>
              <a:t> shapes</a:t>
            </a:r>
          </a:p>
          <a:p>
            <a:endParaRPr lang="en-US" dirty="0"/>
          </a:p>
          <a:p>
            <a:r>
              <a:rPr lang="en-US" dirty="0"/>
              <a:t>K-means has problems when the data contains outliers.</a:t>
            </a:r>
          </a:p>
        </p:txBody>
      </p:sp>
    </p:spTree>
    <p:extLst>
      <p:ext uri="{BB962C8B-B14F-4D97-AF65-F5344CB8AC3E}">
        <p14:creationId xmlns:p14="http://schemas.microsoft.com/office/powerpoint/2010/main" val="10709889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80400" cy="914400"/>
          </a:xfrm>
        </p:spPr>
        <p:txBody>
          <a:bodyPr>
            <a:noAutofit/>
          </a:bodyPr>
          <a:lstStyle/>
          <a:p>
            <a:r>
              <a:rPr lang="en-US" sz="3600" dirty="0"/>
              <a:t>Limitations of K-means: Differing Sizes</a:t>
            </a:r>
          </a:p>
        </p:txBody>
      </p:sp>
      <p:sp>
        <p:nvSpPr>
          <p:cNvPr id="161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524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000"/>
          </a:p>
        </p:txBody>
      </p:sp>
      <p:pic>
        <p:nvPicPr>
          <p:cNvPr id="16128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28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828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2806" name="Text Box 6"/>
          <p:cNvSpPr txBox="1">
            <a:spLocks noChangeArrowheads="1"/>
          </p:cNvSpPr>
          <p:nvPr/>
        </p:nvSpPr>
        <p:spPr bwMode="auto">
          <a:xfrm>
            <a:off x="762000" y="5348287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sp>
        <p:nvSpPr>
          <p:cNvPr id="1612807" name="Rectangle 7"/>
          <p:cNvSpPr>
            <a:spLocks noChangeArrowheads="1"/>
          </p:cNvSpPr>
          <p:nvPr/>
        </p:nvSpPr>
        <p:spPr bwMode="auto">
          <a:xfrm>
            <a:off x="5334000" y="5297487"/>
            <a:ext cx="2470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346892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2807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610600" cy="990600"/>
          </a:xfrm>
        </p:spPr>
        <p:txBody>
          <a:bodyPr>
            <a:noAutofit/>
          </a:bodyPr>
          <a:lstStyle/>
          <a:p>
            <a:r>
              <a:rPr lang="en-US" sz="3600" dirty="0"/>
              <a:t>Limitations of K-means: Differing Density</a:t>
            </a:r>
          </a:p>
        </p:txBody>
      </p:sp>
      <p:sp>
        <p:nvSpPr>
          <p:cNvPr id="1613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000"/>
          </a:p>
        </p:txBody>
      </p:sp>
      <p:sp>
        <p:nvSpPr>
          <p:cNvPr id="1613828" name="Text Box 4"/>
          <p:cNvSpPr txBox="1">
            <a:spLocks noChangeArrowheads="1"/>
          </p:cNvSpPr>
          <p:nvPr/>
        </p:nvSpPr>
        <p:spPr bwMode="auto">
          <a:xfrm>
            <a:off x="762000" y="5424487"/>
            <a:ext cx="213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pic>
        <p:nvPicPr>
          <p:cNvPr id="16138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92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38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9192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3831" name="Rectangle 7"/>
          <p:cNvSpPr>
            <a:spLocks noChangeArrowheads="1"/>
          </p:cNvSpPr>
          <p:nvPr/>
        </p:nvSpPr>
        <p:spPr bwMode="auto">
          <a:xfrm>
            <a:off x="5334000" y="5373687"/>
            <a:ext cx="2470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144225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3831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839200" cy="1143000"/>
          </a:xfrm>
        </p:spPr>
        <p:txBody>
          <a:bodyPr>
            <a:noAutofit/>
          </a:bodyPr>
          <a:lstStyle/>
          <a:p>
            <a:r>
              <a:rPr lang="en-US" sz="3600" dirty="0"/>
              <a:t>Limitations of K-means: Non-globular Shapes</a:t>
            </a:r>
          </a:p>
        </p:txBody>
      </p:sp>
      <p:sp>
        <p:nvSpPr>
          <p:cNvPr id="161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817687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000"/>
          </a:p>
        </p:txBody>
      </p:sp>
      <p:sp>
        <p:nvSpPr>
          <p:cNvPr id="1614852" name="Text Box 4"/>
          <p:cNvSpPr txBox="1">
            <a:spLocks noChangeArrowheads="1"/>
          </p:cNvSpPr>
          <p:nvPr/>
        </p:nvSpPr>
        <p:spPr bwMode="auto">
          <a:xfrm>
            <a:off x="1143000" y="5551487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pic>
        <p:nvPicPr>
          <p:cNvPr id="16148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938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48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8938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4855" name="Rectangle 7"/>
          <p:cNvSpPr>
            <a:spLocks noChangeArrowheads="1"/>
          </p:cNvSpPr>
          <p:nvPr/>
        </p:nvSpPr>
        <p:spPr bwMode="auto">
          <a:xfrm>
            <a:off x="5334000" y="5576887"/>
            <a:ext cx="2470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K-means (2 Clusters)</a:t>
            </a:r>
          </a:p>
        </p:txBody>
      </p:sp>
    </p:spTree>
    <p:extLst>
      <p:ext uri="{BB962C8B-B14F-4D97-AF65-F5344CB8AC3E}">
        <p14:creationId xmlns:p14="http://schemas.microsoft.com/office/powerpoint/2010/main" val="28389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4855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" y="533400"/>
            <a:ext cx="8686800" cy="914400"/>
          </a:xfrm>
        </p:spPr>
        <p:txBody>
          <a:bodyPr>
            <a:noAutofit/>
          </a:bodyPr>
          <a:lstStyle/>
          <a:p>
            <a:r>
              <a:rPr lang="en-US" dirty="0"/>
              <a:t>Overcoming K-means Limitations</a:t>
            </a:r>
          </a:p>
        </p:txBody>
      </p:sp>
      <p:sp>
        <p:nvSpPr>
          <p:cNvPr id="1615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000"/>
          </a:p>
        </p:txBody>
      </p:sp>
      <p:pic>
        <p:nvPicPr>
          <p:cNvPr id="16158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5877" name="Text Box 5"/>
          <p:cNvSpPr txBox="1">
            <a:spLocks noChangeArrowheads="1"/>
          </p:cNvSpPr>
          <p:nvPr/>
        </p:nvSpPr>
        <p:spPr bwMode="auto">
          <a:xfrm>
            <a:off x="762000" y="4953000"/>
            <a:ext cx="769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				K-means Clusters</a:t>
            </a:r>
          </a:p>
        </p:txBody>
      </p:sp>
      <p:pic>
        <p:nvPicPr>
          <p:cNvPr id="16158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5879" name="Rectangle 7"/>
          <p:cNvSpPr>
            <a:spLocks noChangeArrowheads="1"/>
          </p:cNvSpPr>
          <p:nvPr/>
        </p:nvSpPr>
        <p:spPr bwMode="auto">
          <a:xfrm>
            <a:off x="1143000" y="5562600"/>
            <a:ext cx="6553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b="0"/>
              <a:t>One solution is to use many clusters.</a:t>
            </a:r>
          </a:p>
          <a:p>
            <a:pPr lvl="1"/>
            <a:r>
              <a:rPr lang="en-US" sz="2000" b="0"/>
              <a:t>Find parts of clusters, but need to put together.</a:t>
            </a:r>
          </a:p>
        </p:txBody>
      </p:sp>
    </p:spTree>
    <p:extLst>
      <p:ext uri="{BB962C8B-B14F-4D97-AF65-F5344CB8AC3E}">
        <p14:creationId xmlns:p14="http://schemas.microsoft.com/office/powerpoint/2010/main" val="23772379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457200"/>
            <a:ext cx="8280400" cy="857250"/>
          </a:xfrm>
        </p:spPr>
        <p:txBody>
          <a:bodyPr>
            <a:noAutofit/>
          </a:bodyPr>
          <a:lstStyle/>
          <a:p>
            <a:r>
              <a:rPr lang="en-US" dirty="0"/>
              <a:t>Overcoming K-means Limitations</a:t>
            </a:r>
          </a:p>
        </p:txBody>
      </p:sp>
      <p:sp>
        <p:nvSpPr>
          <p:cNvPr id="161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000"/>
          </a:p>
        </p:txBody>
      </p:sp>
      <p:sp>
        <p:nvSpPr>
          <p:cNvPr id="1616900" name="Text Box 4"/>
          <p:cNvSpPr txBox="1">
            <a:spLocks noChangeArrowheads="1"/>
          </p:cNvSpPr>
          <p:nvPr/>
        </p:nvSpPr>
        <p:spPr bwMode="auto">
          <a:xfrm>
            <a:off x="762000" y="5500687"/>
            <a:ext cx="769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				K-means Clusters</a:t>
            </a:r>
          </a:p>
        </p:txBody>
      </p:sp>
      <p:pic>
        <p:nvPicPr>
          <p:cNvPr id="16169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954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69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0716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18129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10600" cy="1219200"/>
          </a:xfrm>
        </p:spPr>
        <p:txBody>
          <a:bodyPr>
            <a:noAutofit/>
          </a:bodyPr>
          <a:lstStyle/>
          <a:p>
            <a:r>
              <a:rPr lang="en-US" dirty="0"/>
              <a:t>Overcoming K-means Limitations</a:t>
            </a:r>
          </a:p>
        </p:txBody>
      </p:sp>
      <p:sp>
        <p:nvSpPr>
          <p:cNvPr id="1617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919287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000"/>
          </a:p>
        </p:txBody>
      </p:sp>
      <p:sp>
        <p:nvSpPr>
          <p:cNvPr id="1617924" name="Text Box 4"/>
          <p:cNvSpPr txBox="1">
            <a:spLocks noChangeArrowheads="1"/>
          </p:cNvSpPr>
          <p:nvPr/>
        </p:nvSpPr>
        <p:spPr bwMode="auto">
          <a:xfrm>
            <a:off x="1143000" y="5653087"/>
            <a:ext cx="769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				K-means Clusters</a:t>
            </a:r>
          </a:p>
        </p:txBody>
      </p:sp>
      <p:pic>
        <p:nvPicPr>
          <p:cNvPr id="16179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954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79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613" y="1995487"/>
            <a:ext cx="4268787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31764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K-</a:t>
            </a:r>
            <a:r>
              <a:rPr lang="en-US" dirty="0" err="1">
                <a:solidFill>
                  <a:srgbClr val="FF0000"/>
                </a:solidFill>
              </a:rPr>
              <a:t>medoids</a:t>
            </a:r>
            <a:r>
              <a:rPr lang="en-US" dirty="0"/>
              <a:t>: Similar problem definition as in K-means, but the centroid of the cluster is defined to be one of the points in the cluster (the </a:t>
            </a:r>
            <a:r>
              <a:rPr lang="en-US" dirty="0" err="1">
                <a:solidFill>
                  <a:srgbClr val="00B0F0"/>
                </a:solidFill>
              </a:rPr>
              <a:t>medoid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K-centers</a:t>
            </a:r>
            <a:r>
              <a:rPr lang="en-US" dirty="0"/>
              <a:t>: Similar problem definition as in K-means, but the goal now is to minimize the maximum </a:t>
            </a:r>
            <a:r>
              <a:rPr lang="en-US" dirty="0">
                <a:solidFill>
                  <a:srgbClr val="00B0F0"/>
                </a:solidFill>
              </a:rPr>
              <a:t>diameter </a:t>
            </a:r>
            <a:r>
              <a:rPr lang="en-US" dirty="0"/>
              <a:t>of the clusters (diameter of a cluster is maximum distance between any two points in the cluster). </a:t>
            </a:r>
          </a:p>
        </p:txBody>
      </p:sp>
    </p:spTree>
    <p:extLst>
      <p:ext uri="{BB962C8B-B14F-4D97-AF65-F5344CB8AC3E}">
        <p14:creationId xmlns:p14="http://schemas.microsoft.com/office/powerpoint/2010/main" val="2076521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</a:t>
            </a:r>
          </a:p>
        </p:txBody>
      </p:sp>
    </p:spTree>
    <p:extLst>
      <p:ext uri="{BB962C8B-B14F-4D97-AF65-F5344CB8AC3E}">
        <p14:creationId xmlns:p14="http://schemas.microsoft.com/office/powerpoint/2010/main" val="9004538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Hierarchical Clustering</a:t>
            </a:r>
          </a:p>
        </p:txBody>
      </p:sp>
      <p:sp>
        <p:nvSpPr>
          <p:cNvPr id="162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Two main types of hierarchical clustering</a:t>
            </a:r>
          </a:p>
          <a:p>
            <a:pPr lvl="1"/>
            <a:r>
              <a:rPr lang="en-US" sz="2000" dirty="0">
                <a:solidFill>
                  <a:srgbClr val="00B0F0"/>
                </a:solidFill>
              </a:rPr>
              <a:t>Agglomerative</a:t>
            </a:r>
            <a:r>
              <a:rPr lang="en-US" sz="2000" dirty="0"/>
              <a:t>:  </a:t>
            </a:r>
          </a:p>
          <a:p>
            <a:pPr lvl="2"/>
            <a:r>
              <a:rPr lang="en-US" sz="1800" dirty="0"/>
              <a:t> Start with the points as individual clusters</a:t>
            </a:r>
          </a:p>
          <a:p>
            <a:pPr lvl="2"/>
            <a:r>
              <a:rPr lang="en-US" sz="1800" dirty="0"/>
              <a:t> At each step, merge the closest pair of clusters until only one cluster (or k clusters) left</a:t>
            </a:r>
          </a:p>
          <a:p>
            <a:pPr lvl="4"/>
            <a:endParaRPr lang="en-US" sz="1800" dirty="0"/>
          </a:p>
          <a:p>
            <a:pPr lvl="1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Divisive</a:t>
            </a:r>
            <a:r>
              <a:rPr lang="en-US" sz="2000" dirty="0"/>
              <a:t>:  </a:t>
            </a:r>
          </a:p>
          <a:p>
            <a:pPr lvl="2"/>
            <a:r>
              <a:rPr lang="en-US" sz="1800" dirty="0"/>
              <a:t> Start with one, all-inclusive cluster </a:t>
            </a:r>
          </a:p>
          <a:p>
            <a:pPr lvl="2"/>
            <a:r>
              <a:rPr lang="en-US" sz="1800" dirty="0"/>
              <a:t> At each step, split a cluster until each cluster contains a point (or there are k clusters)</a:t>
            </a:r>
          </a:p>
          <a:p>
            <a:pPr lvl="4"/>
            <a:endParaRPr lang="en-US" sz="1800" dirty="0"/>
          </a:p>
          <a:p>
            <a:r>
              <a:rPr lang="en-US" sz="2400" dirty="0"/>
              <a:t>Traditional hierarchical algorithms use a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similarity</a:t>
            </a:r>
            <a:r>
              <a:rPr lang="en-US" sz="2400" dirty="0"/>
              <a:t> or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distance matrix</a:t>
            </a:r>
          </a:p>
          <a:p>
            <a:pPr lvl="1"/>
            <a:r>
              <a:rPr lang="en-US" sz="2000" dirty="0"/>
              <a:t>Merge or split one cluster at a time</a:t>
            </a:r>
          </a:p>
          <a:p>
            <a:pPr lvl="4"/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241403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Hierarchical Clustering </a:t>
            </a:r>
          </a:p>
        </p:txBody>
      </p:sp>
      <p:sp>
        <p:nvSpPr>
          <p:cNvPr id="1618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Produces a set of nested clusters organized as a hierarchical tree</a:t>
            </a:r>
          </a:p>
          <a:p>
            <a:r>
              <a:rPr lang="en-US"/>
              <a:t>Can be visualized as a dendrogram</a:t>
            </a:r>
          </a:p>
          <a:p>
            <a:pPr lvl="1"/>
            <a:r>
              <a:rPr lang="en-US"/>
              <a:t>A tree like diagram that records the sequences of merges or splits</a:t>
            </a:r>
          </a:p>
        </p:txBody>
      </p:sp>
      <p:pic>
        <p:nvPicPr>
          <p:cNvPr id="16189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087813"/>
            <a:ext cx="3459163" cy="216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618949" name="Object 5"/>
          <p:cNvGraphicFramePr>
            <a:graphicFrameLocks noChangeAspect="1"/>
          </p:cNvGraphicFramePr>
          <p:nvPr/>
        </p:nvGraphicFramePr>
        <p:xfrm>
          <a:off x="5257800" y="3857625"/>
          <a:ext cx="2319338" cy="236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168720" imgH="3227760" progId="Visio.Drawing.6">
                  <p:embed/>
                </p:oleObj>
              </mc:Choice>
              <mc:Fallback>
                <p:oleObj name="VISIO" r:id="rId3" imgW="3168720" imgH="3227760" progId="Visio.Drawing.6">
                  <p:embed/>
                  <p:pic>
                    <p:nvPicPr>
                      <p:cNvPr id="16189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857625"/>
                        <a:ext cx="2319338" cy="236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64363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Strengths of Hierarchical Clustering</a:t>
            </a:r>
          </a:p>
        </p:txBody>
      </p:sp>
      <p:sp>
        <p:nvSpPr>
          <p:cNvPr id="161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Do not have to assume any particular number of clusters</a:t>
            </a:r>
          </a:p>
          <a:p>
            <a:pPr lvl="1">
              <a:lnSpc>
                <a:spcPct val="90000"/>
              </a:lnSpc>
            </a:pPr>
            <a:r>
              <a:rPr lang="en-US"/>
              <a:t>Any desired number of clusters can be obtained by ‘cutting’ the dendogram at the proper level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They may correspond to meaningful taxonomies</a:t>
            </a:r>
          </a:p>
          <a:p>
            <a:pPr lvl="1">
              <a:lnSpc>
                <a:spcPct val="90000"/>
              </a:lnSpc>
            </a:pPr>
            <a:r>
              <a:rPr lang="en-US"/>
              <a:t>Example in biological sciences (e.g., animal kingdom, phylogeny reconstruction, …)</a:t>
            </a:r>
          </a:p>
        </p:txBody>
      </p:sp>
    </p:spTree>
    <p:extLst>
      <p:ext uri="{BB962C8B-B14F-4D97-AF65-F5344CB8AC3E}">
        <p14:creationId xmlns:p14="http://schemas.microsoft.com/office/powerpoint/2010/main" val="24620324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Agglomerative Clustering Algorithm</a:t>
            </a:r>
          </a:p>
        </p:txBody>
      </p:sp>
      <p:sp>
        <p:nvSpPr>
          <p:cNvPr id="1622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86800" cy="5181600"/>
          </a:xfrm>
        </p:spPr>
        <p:txBody>
          <a:bodyPr>
            <a:noAutofit/>
          </a:bodyPr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More popular hierarchical clustering technique</a:t>
            </a:r>
          </a:p>
          <a:p>
            <a:pPr marL="2209800" lvl="4" indent="-381000">
              <a:lnSpc>
                <a:spcPct val="90000"/>
              </a:lnSpc>
            </a:pPr>
            <a:endParaRPr lang="en-US" sz="9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Basic algorithm is straightforward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dirty="0"/>
              <a:t>Compute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proximity matrix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dirty="0"/>
              <a:t>Let each data point be a cluster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b="1" dirty="0"/>
              <a:t>Repeat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Merge</a:t>
            </a:r>
            <a:r>
              <a:rPr lang="en-US" dirty="0"/>
              <a:t> the two closest clusters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Update</a:t>
            </a:r>
            <a:r>
              <a:rPr lang="en-US" dirty="0"/>
              <a:t> the proximity matrix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b="1" dirty="0"/>
              <a:t>Until</a:t>
            </a:r>
            <a:r>
              <a:rPr lang="en-US" dirty="0"/>
              <a:t> only a single cluster remains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1050" dirty="0"/>
              <a:t>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Key operation is the computation of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proximity of two </a:t>
            </a:r>
            <a:r>
              <a:rPr lang="en-US" dirty="0">
                <a:solidFill>
                  <a:srgbClr val="0070C0"/>
                </a:solidFill>
              </a:rPr>
              <a:t>clusters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Different approaches to defining the distance between clusters distinguish the different algorithms</a:t>
            </a:r>
          </a:p>
        </p:txBody>
      </p:sp>
    </p:spTree>
    <p:extLst>
      <p:ext uri="{BB962C8B-B14F-4D97-AF65-F5344CB8AC3E}">
        <p14:creationId xmlns:p14="http://schemas.microsoft.com/office/powerpoint/2010/main" val="32465204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Starting Situation </a:t>
            </a:r>
          </a:p>
        </p:txBody>
      </p:sp>
      <p:sp>
        <p:nvSpPr>
          <p:cNvPr id="162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1721"/>
            <a:ext cx="8229600" cy="4876800"/>
          </a:xfrm>
        </p:spPr>
        <p:txBody>
          <a:bodyPr/>
          <a:lstStyle/>
          <a:p>
            <a:r>
              <a:rPr lang="en-US"/>
              <a:t>Start with clusters of individual points and a proximity matrix</a:t>
            </a:r>
          </a:p>
          <a:p>
            <a:pPr lvl="1"/>
            <a:endParaRPr lang="en-US"/>
          </a:p>
        </p:txBody>
      </p:sp>
      <p:sp>
        <p:nvSpPr>
          <p:cNvPr id="1623044" name="Oval 4"/>
          <p:cNvSpPr>
            <a:spLocks noChangeArrowheads="1"/>
          </p:cNvSpPr>
          <p:nvPr/>
        </p:nvSpPr>
        <p:spPr bwMode="auto">
          <a:xfrm>
            <a:off x="685800" y="44037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45" name="Oval 5"/>
          <p:cNvSpPr>
            <a:spLocks noChangeArrowheads="1"/>
          </p:cNvSpPr>
          <p:nvPr/>
        </p:nvSpPr>
        <p:spPr bwMode="auto">
          <a:xfrm>
            <a:off x="2743200" y="5470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46" name="Oval 6"/>
          <p:cNvSpPr>
            <a:spLocks noChangeArrowheads="1"/>
          </p:cNvSpPr>
          <p:nvPr/>
        </p:nvSpPr>
        <p:spPr bwMode="auto">
          <a:xfrm>
            <a:off x="1600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47" name="Oval 7"/>
          <p:cNvSpPr>
            <a:spLocks noChangeArrowheads="1"/>
          </p:cNvSpPr>
          <p:nvPr/>
        </p:nvSpPr>
        <p:spPr bwMode="auto">
          <a:xfrm>
            <a:off x="1447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48" name="Oval 8"/>
          <p:cNvSpPr>
            <a:spLocks noChangeArrowheads="1"/>
          </p:cNvSpPr>
          <p:nvPr/>
        </p:nvSpPr>
        <p:spPr bwMode="auto">
          <a:xfrm>
            <a:off x="3124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49" name="Oval 9"/>
          <p:cNvSpPr>
            <a:spLocks noChangeArrowheads="1"/>
          </p:cNvSpPr>
          <p:nvPr/>
        </p:nvSpPr>
        <p:spPr bwMode="auto">
          <a:xfrm>
            <a:off x="1600200" y="2955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50" name="Oval 10"/>
          <p:cNvSpPr>
            <a:spLocks noChangeArrowheads="1"/>
          </p:cNvSpPr>
          <p:nvPr/>
        </p:nvSpPr>
        <p:spPr bwMode="auto">
          <a:xfrm>
            <a:off x="457200" y="4708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51" name="Oval 11"/>
          <p:cNvSpPr>
            <a:spLocks noChangeArrowheads="1"/>
          </p:cNvSpPr>
          <p:nvPr/>
        </p:nvSpPr>
        <p:spPr bwMode="auto">
          <a:xfrm>
            <a:off x="1828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52" name="Oval 12"/>
          <p:cNvSpPr>
            <a:spLocks noChangeArrowheads="1"/>
          </p:cNvSpPr>
          <p:nvPr/>
        </p:nvSpPr>
        <p:spPr bwMode="auto">
          <a:xfrm>
            <a:off x="3124200" y="5089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53" name="Oval 13"/>
          <p:cNvSpPr>
            <a:spLocks noChangeArrowheads="1"/>
          </p:cNvSpPr>
          <p:nvPr/>
        </p:nvSpPr>
        <p:spPr bwMode="auto">
          <a:xfrm>
            <a:off x="2133600" y="3032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54" name="Oval 14"/>
          <p:cNvSpPr>
            <a:spLocks noChangeArrowheads="1"/>
          </p:cNvSpPr>
          <p:nvPr/>
        </p:nvSpPr>
        <p:spPr bwMode="auto">
          <a:xfrm>
            <a:off x="3200400" y="4098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55" name="Oval 15"/>
          <p:cNvSpPr>
            <a:spLocks noChangeArrowheads="1"/>
          </p:cNvSpPr>
          <p:nvPr/>
        </p:nvSpPr>
        <p:spPr bwMode="auto">
          <a:xfrm>
            <a:off x="3733800" y="3184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23056" name="Group 16"/>
          <p:cNvGrpSpPr>
            <a:grpSpLocks/>
          </p:cNvGrpSpPr>
          <p:nvPr/>
        </p:nvGrpSpPr>
        <p:grpSpPr bwMode="auto">
          <a:xfrm>
            <a:off x="5257800" y="2265436"/>
            <a:ext cx="3200400" cy="2789237"/>
            <a:chOff x="3456" y="1622"/>
            <a:chExt cx="2160" cy="2058"/>
          </a:xfrm>
        </p:grpSpPr>
        <p:sp>
          <p:nvSpPr>
            <p:cNvPr id="1623057" name="Line 17"/>
            <p:cNvSpPr>
              <a:spLocks noChangeShapeType="1"/>
            </p:cNvSpPr>
            <p:nvPr/>
          </p:nvSpPr>
          <p:spPr bwMode="auto">
            <a:xfrm>
              <a:off x="369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58" name="Line 18"/>
            <p:cNvSpPr>
              <a:spLocks noChangeShapeType="1"/>
            </p:cNvSpPr>
            <p:nvPr/>
          </p:nvSpPr>
          <p:spPr bwMode="auto">
            <a:xfrm>
              <a:off x="3504" y="1814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59" name="Line 19"/>
            <p:cNvSpPr>
              <a:spLocks noChangeShapeType="1"/>
            </p:cNvSpPr>
            <p:nvPr/>
          </p:nvSpPr>
          <p:spPr bwMode="auto">
            <a:xfrm>
              <a:off x="4012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0" name="Line 20"/>
            <p:cNvSpPr>
              <a:spLocks noChangeShapeType="1"/>
            </p:cNvSpPr>
            <p:nvPr/>
          </p:nvSpPr>
          <p:spPr bwMode="auto">
            <a:xfrm>
              <a:off x="4329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1" name="Line 21"/>
            <p:cNvSpPr>
              <a:spLocks noChangeShapeType="1"/>
            </p:cNvSpPr>
            <p:nvPr/>
          </p:nvSpPr>
          <p:spPr bwMode="auto">
            <a:xfrm>
              <a:off x="464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2" name="Line 22"/>
            <p:cNvSpPr>
              <a:spLocks noChangeShapeType="1"/>
            </p:cNvSpPr>
            <p:nvPr/>
          </p:nvSpPr>
          <p:spPr bwMode="auto">
            <a:xfrm>
              <a:off x="4963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3" name="Line 23"/>
            <p:cNvSpPr>
              <a:spLocks noChangeShapeType="1"/>
            </p:cNvSpPr>
            <p:nvPr/>
          </p:nvSpPr>
          <p:spPr bwMode="auto">
            <a:xfrm>
              <a:off x="5280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4" name="Line 24"/>
            <p:cNvSpPr>
              <a:spLocks noChangeShapeType="1"/>
            </p:cNvSpPr>
            <p:nvPr/>
          </p:nvSpPr>
          <p:spPr bwMode="auto">
            <a:xfrm>
              <a:off x="3504" y="20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5" name="Line 25"/>
            <p:cNvSpPr>
              <a:spLocks noChangeShapeType="1"/>
            </p:cNvSpPr>
            <p:nvPr/>
          </p:nvSpPr>
          <p:spPr bwMode="auto">
            <a:xfrm>
              <a:off x="3504" y="23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6" name="Line 26"/>
            <p:cNvSpPr>
              <a:spLocks noChangeShapeType="1"/>
            </p:cNvSpPr>
            <p:nvPr/>
          </p:nvSpPr>
          <p:spPr bwMode="auto">
            <a:xfrm>
              <a:off x="3504" y="25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7" name="Line 27"/>
            <p:cNvSpPr>
              <a:spLocks noChangeShapeType="1"/>
            </p:cNvSpPr>
            <p:nvPr/>
          </p:nvSpPr>
          <p:spPr bwMode="auto">
            <a:xfrm>
              <a:off x="3504" y="28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8" name="Line 28"/>
            <p:cNvSpPr>
              <a:spLocks noChangeShapeType="1"/>
            </p:cNvSpPr>
            <p:nvPr/>
          </p:nvSpPr>
          <p:spPr bwMode="auto">
            <a:xfrm>
              <a:off x="3504" y="311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9" name="Text Box 29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3070" name="Text Box 30"/>
            <p:cNvSpPr txBox="1">
              <a:spLocks noChangeArrowheads="1"/>
            </p:cNvSpPr>
            <p:nvPr/>
          </p:nvSpPr>
          <p:spPr bwMode="auto">
            <a:xfrm>
              <a:off x="3456" y="2390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3071" name="Text Box 31"/>
            <p:cNvSpPr txBox="1">
              <a:spLocks noChangeArrowheads="1"/>
            </p:cNvSpPr>
            <p:nvPr/>
          </p:nvSpPr>
          <p:spPr bwMode="auto">
            <a:xfrm>
              <a:off x="3456" y="2917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3072" name="Text Box 32"/>
            <p:cNvSpPr txBox="1">
              <a:spLocks noChangeArrowheads="1"/>
            </p:cNvSpPr>
            <p:nvPr/>
          </p:nvSpPr>
          <p:spPr bwMode="auto">
            <a:xfrm>
              <a:off x="3456" y="2593"/>
              <a:ext cx="336" cy="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 err="1"/>
                <a:t>p4</a:t>
              </a:r>
              <a:endParaRPr lang="en-US" dirty="0"/>
            </a:p>
          </p:txBody>
        </p:sp>
        <p:sp>
          <p:nvSpPr>
            <p:cNvPr id="1623073" name="Text Box 33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3074" name="Text Box 34"/>
            <p:cNvSpPr txBox="1">
              <a:spLocks noChangeArrowheads="1"/>
            </p:cNvSpPr>
            <p:nvPr/>
          </p:nvSpPr>
          <p:spPr bwMode="auto">
            <a:xfrm>
              <a:off x="3744" y="1622"/>
              <a:ext cx="337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3075" name="Text Box 35"/>
            <p:cNvSpPr txBox="1">
              <a:spLocks noChangeArrowheads="1"/>
            </p:cNvSpPr>
            <p:nvPr/>
          </p:nvSpPr>
          <p:spPr bwMode="auto">
            <a:xfrm>
              <a:off x="4032" y="1622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3076" name="Text Box 36"/>
            <p:cNvSpPr txBox="1">
              <a:spLocks noChangeArrowheads="1"/>
            </p:cNvSpPr>
            <p:nvPr/>
          </p:nvSpPr>
          <p:spPr bwMode="auto">
            <a:xfrm>
              <a:off x="4368" y="1622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3077" name="Text Box 37"/>
            <p:cNvSpPr txBox="1">
              <a:spLocks noChangeArrowheads="1"/>
            </p:cNvSpPr>
            <p:nvPr/>
          </p:nvSpPr>
          <p:spPr bwMode="auto">
            <a:xfrm>
              <a:off x="4704" y="1622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3078" name="Text Box 38"/>
            <p:cNvSpPr txBox="1">
              <a:spLocks noChangeArrowheads="1"/>
            </p:cNvSpPr>
            <p:nvPr/>
          </p:nvSpPr>
          <p:spPr bwMode="auto">
            <a:xfrm>
              <a:off x="4944" y="1622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3079" name="Text Box 39"/>
            <p:cNvSpPr txBox="1">
              <a:spLocks noChangeArrowheads="1"/>
            </p:cNvSpPr>
            <p:nvPr/>
          </p:nvSpPr>
          <p:spPr bwMode="auto">
            <a:xfrm>
              <a:off x="5280" y="1622"/>
              <a:ext cx="336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 . .</a:t>
              </a:r>
            </a:p>
          </p:txBody>
        </p:sp>
        <p:sp>
          <p:nvSpPr>
            <p:cNvPr id="1623080" name="Text Box 40"/>
            <p:cNvSpPr txBox="1">
              <a:spLocks noChangeArrowheads="1"/>
            </p:cNvSpPr>
            <p:nvPr/>
          </p:nvSpPr>
          <p:spPr bwMode="auto">
            <a:xfrm>
              <a:off x="3504" y="3072"/>
              <a:ext cx="192" cy="6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200"/>
                <a:t>.</a:t>
              </a:r>
            </a:p>
          </p:txBody>
        </p:sp>
      </p:grpSp>
      <p:sp>
        <p:nvSpPr>
          <p:cNvPr id="1623081" name="Text Box 41"/>
          <p:cNvSpPr txBox="1">
            <a:spLocks noChangeArrowheads="1"/>
          </p:cNvSpPr>
          <p:nvPr/>
        </p:nvSpPr>
        <p:spPr bwMode="auto">
          <a:xfrm>
            <a:off x="5791200" y="471805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Proximity Matrix</a:t>
            </a:r>
          </a:p>
        </p:txBody>
      </p:sp>
      <p:graphicFrame>
        <p:nvGraphicFramePr>
          <p:cNvPr id="1623082" name="Object 4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572000" y="5610225"/>
          <a:ext cx="40560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949438" imgH="1399827" progId="Visio.Drawing.6">
                  <p:embed/>
                </p:oleObj>
              </mc:Choice>
              <mc:Fallback>
                <p:oleObj name="Visio" r:id="rId2" imgW="7949438" imgH="1399827" progId="Visio.Drawing.6">
                  <p:embed/>
                  <p:pic>
                    <p:nvPicPr>
                      <p:cNvPr id="1623082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10225"/>
                        <a:ext cx="40560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19468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29600" cy="990600"/>
          </a:xfrm>
        </p:spPr>
        <p:txBody>
          <a:bodyPr/>
          <a:lstStyle/>
          <a:p>
            <a:r>
              <a:rPr lang="en-US" dirty="0"/>
              <a:t>Intermediate Situation</a:t>
            </a:r>
          </a:p>
        </p:txBody>
      </p:sp>
      <p:sp>
        <p:nvSpPr>
          <p:cNvPr id="162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13014"/>
            <a:ext cx="8229600" cy="4876800"/>
          </a:xfrm>
        </p:spPr>
        <p:txBody>
          <a:bodyPr/>
          <a:lstStyle/>
          <a:p>
            <a:pPr marL="342900" indent="-342900"/>
            <a:r>
              <a:rPr lang="en-US" sz="2200" dirty="0"/>
              <a:t>After some merging steps, we have some clusters </a:t>
            </a:r>
          </a:p>
          <a:p>
            <a:pPr marL="742950" lvl="1" indent="-285750"/>
            <a:endParaRPr lang="en-US" sz="2000" dirty="0"/>
          </a:p>
        </p:txBody>
      </p:sp>
      <p:sp>
        <p:nvSpPr>
          <p:cNvPr id="1624068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4069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4070" name="Freeform 6"/>
          <p:cNvSpPr>
            <a:spLocks/>
          </p:cNvSpPr>
          <p:nvPr/>
        </p:nvSpPr>
        <p:spPr bwMode="auto">
          <a:xfrm rot="-10800000">
            <a:off x="3352800" y="3048000"/>
            <a:ext cx="685800" cy="7620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4071" name="Freeform 7"/>
          <p:cNvSpPr>
            <a:spLocks/>
          </p:cNvSpPr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4072" name="Freeform 8"/>
          <p:cNvSpPr>
            <a:spLocks/>
          </p:cNvSpPr>
          <p:nvPr/>
        </p:nvSpPr>
        <p:spPr bwMode="auto">
          <a:xfrm rot="-10800000">
            <a:off x="2590800" y="4876800"/>
            <a:ext cx="685800" cy="7620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4073" name="Text Box 9"/>
          <p:cNvSpPr txBox="1">
            <a:spLocks noChangeArrowheads="1"/>
          </p:cNvSpPr>
          <p:nvPr/>
        </p:nvSpPr>
        <p:spPr bwMode="auto">
          <a:xfrm>
            <a:off x="685800" y="4061618"/>
            <a:ext cx="60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C1</a:t>
            </a:r>
          </a:p>
        </p:txBody>
      </p:sp>
      <p:sp>
        <p:nvSpPr>
          <p:cNvPr id="1624074" name="Text Box 10"/>
          <p:cNvSpPr txBox="1">
            <a:spLocks noChangeArrowheads="1"/>
          </p:cNvSpPr>
          <p:nvPr/>
        </p:nvSpPr>
        <p:spPr bwMode="auto">
          <a:xfrm>
            <a:off x="3428999" y="3311556"/>
            <a:ext cx="6096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C4</a:t>
            </a:r>
            <a:endParaRPr lang="en-US" dirty="0"/>
          </a:p>
        </p:txBody>
      </p:sp>
      <p:sp>
        <p:nvSpPr>
          <p:cNvPr id="1624075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546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C2</a:t>
            </a:r>
            <a:endParaRPr lang="en-US" dirty="0"/>
          </a:p>
        </p:txBody>
      </p:sp>
      <p:sp>
        <p:nvSpPr>
          <p:cNvPr id="1624076" name="Text Box 12"/>
          <p:cNvSpPr txBox="1">
            <a:spLocks noChangeArrowheads="1"/>
          </p:cNvSpPr>
          <p:nvPr/>
        </p:nvSpPr>
        <p:spPr bwMode="auto">
          <a:xfrm>
            <a:off x="2743199" y="5105400"/>
            <a:ext cx="5334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C5</a:t>
            </a:r>
            <a:endParaRPr lang="en-US" dirty="0"/>
          </a:p>
        </p:txBody>
      </p:sp>
      <p:sp>
        <p:nvSpPr>
          <p:cNvPr id="1624077" name="Text Box 13"/>
          <p:cNvSpPr txBox="1">
            <a:spLocks noChangeArrowheads="1"/>
          </p:cNvSpPr>
          <p:nvPr/>
        </p:nvSpPr>
        <p:spPr bwMode="auto">
          <a:xfrm>
            <a:off x="1752600" y="2942224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C3</a:t>
            </a:r>
            <a:endParaRPr lang="en-US" dirty="0"/>
          </a:p>
        </p:txBody>
      </p:sp>
      <p:grpSp>
        <p:nvGrpSpPr>
          <p:cNvPr id="1624078" name="Group 14"/>
          <p:cNvGrpSpPr>
            <a:grpSpLocks/>
          </p:cNvGrpSpPr>
          <p:nvPr/>
        </p:nvGrpSpPr>
        <p:grpSpPr bwMode="auto">
          <a:xfrm>
            <a:off x="5486400" y="1812915"/>
            <a:ext cx="2895600" cy="2212975"/>
            <a:chOff x="3456" y="1440"/>
            <a:chExt cx="1872" cy="1503"/>
          </a:xfrm>
        </p:grpSpPr>
        <p:sp>
          <p:nvSpPr>
            <p:cNvPr id="1624079" name="Text Box 1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C2</a:t>
              </a:r>
            </a:p>
          </p:txBody>
        </p:sp>
        <p:sp>
          <p:nvSpPr>
            <p:cNvPr id="1624080" name="Text Box 16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C1</a:t>
              </a:r>
            </a:p>
          </p:txBody>
        </p:sp>
        <p:sp>
          <p:nvSpPr>
            <p:cNvPr id="1624081" name="Line 17"/>
            <p:cNvSpPr>
              <a:spLocks noChangeShapeType="1"/>
            </p:cNvSpPr>
            <p:nvPr/>
          </p:nvSpPr>
          <p:spPr bwMode="auto">
            <a:xfrm>
              <a:off x="369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82" name="Line 18"/>
            <p:cNvSpPr>
              <a:spLocks noChangeShapeType="1"/>
            </p:cNvSpPr>
            <p:nvPr/>
          </p:nvSpPr>
          <p:spPr bwMode="auto">
            <a:xfrm>
              <a:off x="3504" y="163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83" name="Line 19"/>
            <p:cNvSpPr>
              <a:spLocks noChangeShapeType="1"/>
            </p:cNvSpPr>
            <p:nvPr/>
          </p:nvSpPr>
          <p:spPr bwMode="auto">
            <a:xfrm>
              <a:off x="528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84" name="Line 20"/>
            <p:cNvSpPr>
              <a:spLocks noChangeShapeType="1"/>
            </p:cNvSpPr>
            <p:nvPr/>
          </p:nvSpPr>
          <p:spPr bwMode="auto">
            <a:xfrm>
              <a:off x="3504" y="2928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85" name="Text Box 21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C1</a:t>
              </a:r>
            </a:p>
          </p:txBody>
        </p:sp>
        <p:sp>
          <p:nvSpPr>
            <p:cNvPr id="1624086" name="Text Box 22"/>
            <p:cNvSpPr txBox="1">
              <a:spLocks noChangeArrowheads="1"/>
            </p:cNvSpPr>
            <p:nvPr/>
          </p:nvSpPr>
          <p:spPr bwMode="auto">
            <a:xfrm>
              <a:off x="3456" y="2207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C3</a:t>
              </a:r>
            </a:p>
          </p:txBody>
        </p:sp>
        <p:sp>
          <p:nvSpPr>
            <p:cNvPr id="1624087" name="Text Box 23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C5</a:t>
              </a:r>
            </a:p>
          </p:txBody>
        </p:sp>
        <p:sp>
          <p:nvSpPr>
            <p:cNvPr id="1624088" name="Text Box 24"/>
            <p:cNvSpPr txBox="1">
              <a:spLocks noChangeArrowheads="1"/>
            </p:cNvSpPr>
            <p:nvPr/>
          </p:nvSpPr>
          <p:spPr bwMode="auto">
            <a:xfrm>
              <a:off x="3456" y="2434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 err="1"/>
                <a:t>C4</a:t>
              </a:r>
              <a:endParaRPr lang="en-US" dirty="0"/>
            </a:p>
          </p:txBody>
        </p:sp>
        <p:sp>
          <p:nvSpPr>
            <p:cNvPr id="1624089" name="Text Box 25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C2</a:t>
              </a:r>
            </a:p>
          </p:txBody>
        </p:sp>
        <p:sp>
          <p:nvSpPr>
            <p:cNvPr id="1624090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C3</a:t>
              </a:r>
            </a:p>
          </p:txBody>
        </p:sp>
        <p:sp>
          <p:nvSpPr>
            <p:cNvPr id="1624091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C4</a:t>
              </a:r>
            </a:p>
          </p:txBody>
        </p:sp>
        <p:sp>
          <p:nvSpPr>
            <p:cNvPr id="1624092" name="Text Box 28"/>
            <p:cNvSpPr txBox="1">
              <a:spLocks noChangeArrowheads="1"/>
            </p:cNvSpPr>
            <p:nvPr/>
          </p:nvSpPr>
          <p:spPr bwMode="auto">
            <a:xfrm>
              <a:off x="4992" y="1440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C5</a:t>
              </a:r>
            </a:p>
          </p:txBody>
        </p:sp>
        <p:sp>
          <p:nvSpPr>
            <p:cNvPr id="1624093" name="Line 29"/>
            <p:cNvSpPr>
              <a:spLocks noChangeShapeType="1"/>
            </p:cNvSpPr>
            <p:nvPr/>
          </p:nvSpPr>
          <p:spPr bwMode="auto">
            <a:xfrm>
              <a:off x="3504" y="187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94" name="Line 30"/>
            <p:cNvSpPr>
              <a:spLocks noChangeShapeType="1"/>
            </p:cNvSpPr>
            <p:nvPr/>
          </p:nvSpPr>
          <p:spPr bwMode="auto">
            <a:xfrm>
              <a:off x="3504" y="240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95" name="Line 31"/>
            <p:cNvSpPr>
              <a:spLocks noChangeShapeType="1"/>
            </p:cNvSpPr>
            <p:nvPr/>
          </p:nvSpPr>
          <p:spPr bwMode="auto">
            <a:xfrm>
              <a:off x="3504" y="216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96" name="Line 32"/>
            <p:cNvSpPr>
              <a:spLocks noChangeShapeType="1"/>
            </p:cNvSpPr>
            <p:nvPr/>
          </p:nvSpPr>
          <p:spPr bwMode="auto">
            <a:xfrm>
              <a:off x="3504" y="264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97" name="Line 33"/>
            <p:cNvSpPr>
              <a:spLocks noChangeShapeType="1"/>
            </p:cNvSpPr>
            <p:nvPr/>
          </p:nvSpPr>
          <p:spPr bwMode="auto">
            <a:xfrm>
              <a:off x="403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98" name="Line 34"/>
            <p:cNvSpPr>
              <a:spLocks noChangeShapeType="1"/>
            </p:cNvSpPr>
            <p:nvPr/>
          </p:nvSpPr>
          <p:spPr bwMode="auto">
            <a:xfrm>
              <a:off x="432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99" name="Line 35"/>
            <p:cNvSpPr>
              <a:spLocks noChangeShapeType="1"/>
            </p:cNvSpPr>
            <p:nvPr/>
          </p:nvSpPr>
          <p:spPr bwMode="auto">
            <a:xfrm>
              <a:off x="465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100" name="Line 36"/>
            <p:cNvSpPr>
              <a:spLocks noChangeShapeType="1"/>
            </p:cNvSpPr>
            <p:nvPr/>
          </p:nvSpPr>
          <p:spPr bwMode="auto">
            <a:xfrm>
              <a:off x="499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24101" name="Text Box 37"/>
          <p:cNvSpPr txBox="1">
            <a:spLocks noChangeArrowheads="1"/>
          </p:cNvSpPr>
          <p:nvPr/>
        </p:nvSpPr>
        <p:spPr bwMode="auto">
          <a:xfrm>
            <a:off x="5856654" y="4061618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Proximity Matrix</a:t>
            </a:r>
          </a:p>
        </p:txBody>
      </p:sp>
      <p:graphicFrame>
        <p:nvGraphicFramePr>
          <p:cNvPr id="1624102" name="Object 3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713288"/>
          <a:ext cx="408305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591349" imgH="2996548" progId="Visio.Drawing.6">
                  <p:embed/>
                </p:oleObj>
              </mc:Choice>
              <mc:Fallback>
                <p:oleObj name="Visio" r:id="rId2" imgW="7591349" imgH="2996548" progId="Visio.Drawing.6">
                  <p:embed/>
                  <p:pic>
                    <p:nvPicPr>
                      <p:cNvPr id="1624102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713288"/>
                        <a:ext cx="408305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54264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29600" cy="990600"/>
          </a:xfrm>
        </p:spPr>
        <p:txBody>
          <a:bodyPr/>
          <a:lstStyle/>
          <a:p>
            <a:r>
              <a:rPr lang="en-US" dirty="0"/>
              <a:t>Intermediate Situation</a:t>
            </a:r>
          </a:p>
        </p:txBody>
      </p:sp>
      <p:sp>
        <p:nvSpPr>
          <p:cNvPr id="162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28433"/>
            <a:ext cx="8229600" cy="4876800"/>
          </a:xfrm>
        </p:spPr>
        <p:txBody>
          <a:bodyPr/>
          <a:lstStyle/>
          <a:p>
            <a:pPr marL="342900" indent="-342900"/>
            <a:r>
              <a:rPr lang="en-US" sz="2200" dirty="0"/>
              <a:t>We want to merge the two closest clusters (</a:t>
            </a:r>
            <a:r>
              <a:rPr lang="en-US" sz="2200" dirty="0" err="1"/>
              <a:t>C2</a:t>
            </a:r>
            <a:r>
              <a:rPr lang="en-US" sz="2200" dirty="0"/>
              <a:t> and </a:t>
            </a:r>
            <a:r>
              <a:rPr lang="en-US" sz="2200" dirty="0" err="1"/>
              <a:t>C5</a:t>
            </a:r>
            <a:r>
              <a:rPr lang="en-US" sz="2200" dirty="0"/>
              <a:t>)  and update the proximity matrix. </a:t>
            </a:r>
          </a:p>
          <a:p>
            <a:pPr marL="742950" lvl="1" indent="-285750"/>
            <a:endParaRPr lang="en-US" sz="2000" dirty="0"/>
          </a:p>
        </p:txBody>
      </p:sp>
      <p:sp>
        <p:nvSpPr>
          <p:cNvPr id="1625092" name="Freeform 4"/>
          <p:cNvSpPr>
            <a:spLocks/>
          </p:cNvSpPr>
          <p:nvPr/>
        </p:nvSpPr>
        <p:spPr bwMode="auto">
          <a:xfrm>
            <a:off x="609600" y="4249737"/>
            <a:ext cx="546100" cy="7731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5093" name="Freeform 5"/>
          <p:cNvSpPr>
            <a:spLocks/>
          </p:cNvSpPr>
          <p:nvPr/>
        </p:nvSpPr>
        <p:spPr bwMode="auto">
          <a:xfrm rot="-5400000">
            <a:off x="1600200" y="3030537"/>
            <a:ext cx="762000" cy="914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5094" name="Freeform 6"/>
          <p:cNvSpPr>
            <a:spLocks/>
          </p:cNvSpPr>
          <p:nvPr/>
        </p:nvSpPr>
        <p:spPr bwMode="auto">
          <a:xfrm rot="-10800000">
            <a:off x="3352800" y="3411537"/>
            <a:ext cx="685800" cy="7620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5095" name="Freeform 7"/>
          <p:cNvSpPr>
            <a:spLocks/>
          </p:cNvSpPr>
          <p:nvPr/>
        </p:nvSpPr>
        <p:spPr bwMode="auto">
          <a:xfrm>
            <a:off x="1295400" y="5316537"/>
            <a:ext cx="774700" cy="7731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5096" name="Freeform 8"/>
          <p:cNvSpPr>
            <a:spLocks/>
          </p:cNvSpPr>
          <p:nvPr/>
        </p:nvSpPr>
        <p:spPr bwMode="auto">
          <a:xfrm rot="-10800000">
            <a:off x="2590800" y="5240337"/>
            <a:ext cx="685800" cy="7620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5097" name="Text Box 9"/>
          <p:cNvSpPr txBox="1">
            <a:spLocks noChangeArrowheads="1"/>
          </p:cNvSpPr>
          <p:nvPr/>
        </p:nvSpPr>
        <p:spPr bwMode="auto">
          <a:xfrm>
            <a:off x="685800" y="4432299"/>
            <a:ext cx="60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C1</a:t>
            </a:r>
            <a:endParaRPr lang="en-US" dirty="0"/>
          </a:p>
        </p:txBody>
      </p:sp>
      <p:sp>
        <p:nvSpPr>
          <p:cNvPr id="1625098" name="Text Box 10"/>
          <p:cNvSpPr txBox="1">
            <a:spLocks noChangeArrowheads="1"/>
          </p:cNvSpPr>
          <p:nvPr/>
        </p:nvSpPr>
        <p:spPr bwMode="auto">
          <a:xfrm>
            <a:off x="3428999" y="3640137"/>
            <a:ext cx="609601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C4</a:t>
            </a:r>
            <a:endParaRPr lang="en-US" dirty="0"/>
          </a:p>
        </p:txBody>
      </p:sp>
      <p:sp>
        <p:nvSpPr>
          <p:cNvPr id="1625099" name="Text Box 11"/>
          <p:cNvSpPr txBox="1">
            <a:spLocks noChangeArrowheads="1"/>
          </p:cNvSpPr>
          <p:nvPr/>
        </p:nvSpPr>
        <p:spPr bwMode="auto">
          <a:xfrm>
            <a:off x="1524000" y="5468937"/>
            <a:ext cx="546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C2</a:t>
            </a:r>
            <a:endParaRPr lang="en-US" dirty="0"/>
          </a:p>
        </p:txBody>
      </p:sp>
      <p:sp>
        <p:nvSpPr>
          <p:cNvPr id="1625100" name="Text Box 12"/>
          <p:cNvSpPr txBox="1">
            <a:spLocks noChangeArrowheads="1"/>
          </p:cNvSpPr>
          <p:nvPr/>
        </p:nvSpPr>
        <p:spPr bwMode="auto">
          <a:xfrm>
            <a:off x="2743199" y="5468937"/>
            <a:ext cx="5334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C5</a:t>
            </a:r>
            <a:endParaRPr lang="en-US" dirty="0"/>
          </a:p>
        </p:txBody>
      </p:sp>
      <p:sp>
        <p:nvSpPr>
          <p:cNvPr id="1625101" name="Text Box 13"/>
          <p:cNvSpPr txBox="1">
            <a:spLocks noChangeArrowheads="1"/>
          </p:cNvSpPr>
          <p:nvPr/>
        </p:nvSpPr>
        <p:spPr bwMode="auto">
          <a:xfrm>
            <a:off x="1752600" y="3265353"/>
            <a:ext cx="495300" cy="374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C3</a:t>
            </a:r>
            <a:endParaRPr lang="en-US" dirty="0"/>
          </a:p>
        </p:txBody>
      </p:sp>
      <p:grpSp>
        <p:nvGrpSpPr>
          <p:cNvPr id="1625102" name="Group 14"/>
          <p:cNvGrpSpPr>
            <a:grpSpLocks/>
          </p:cNvGrpSpPr>
          <p:nvPr/>
        </p:nvGrpSpPr>
        <p:grpSpPr bwMode="auto">
          <a:xfrm>
            <a:off x="5486400" y="2039937"/>
            <a:ext cx="2971800" cy="2193925"/>
            <a:chOff x="3456" y="1094"/>
            <a:chExt cx="1920" cy="1503"/>
          </a:xfrm>
        </p:grpSpPr>
        <p:sp>
          <p:nvSpPr>
            <p:cNvPr id="1625103" name="Text Box 15"/>
            <p:cNvSpPr txBox="1">
              <a:spLocks noChangeArrowheads="1"/>
            </p:cNvSpPr>
            <p:nvPr/>
          </p:nvSpPr>
          <p:spPr bwMode="auto">
            <a:xfrm>
              <a:off x="4032" y="1094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C2</a:t>
              </a:r>
            </a:p>
          </p:txBody>
        </p:sp>
        <p:sp>
          <p:nvSpPr>
            <p:cNvPr id="1625104" name="Text Box 16"/>
            <p:cNvSpPr txBox="1">
              <a:spLocks noChangeArrowheads="1"/>
            </p:cNvSpPr>
            <p:nvPr/>
          </p:nvSpPr>
          <p:spPr bwMode="auto">
            <a:xfrm>
              <a:off x="3744" y="1094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C1</a:t>
              </a:r>
            </a:p>
          </p:txBody>
        </p:sp>
        <p:sp>
          <p:nvSpPr>
            <p:cNvPr id="1625105" name="Line 17"/>
            <p:cNvSpPr>
              <a:spLocks noChangeShapeType="1"/>
            </p:cNvSpPr>
            <p:nvPr/>
          </p:nvSpPr>
          <p:spPr bwMode="auto">
            <a:xfrm>
              <a:off x="369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06" name="Line 18"/>
            <p:cNvSpPr>
              <a:spLocks noChangeShapeType="1"/>
            </p:cNvSpPr>
            <p:nvPr/>
          </p:nvSpPr>
          <p:spPr bwMode="auto">
            <a:xfrm>
              <a:off x="3504" y="1286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07" name="Line 19"/>
            <p:cNvSpPr>
              <a:spLocks noChangeShapeType="1"/>
            </p:cNvSpPr>
            <p:nvPr/>
          </p:nvSpPr>
          <p:spPr bwMode="auto">
            <a:xfrm>
              <a:off x="528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08" name="Line 20"/>
            <p:cNvSpPr>
              <a:spLocks noChangeShapeType="1"/>
            </p:cNvSpPr>
            <p:nvPr/>
          </p:nvSpPr>
          <p:spPr bwMode="auto">
            <a:xfrm>
              <a:off x="3504" y="258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09" name="Text Box 21"/>
            <p:cNvSpPr txBox="1">
              <a:spLocks noChangeArrowheads="1"/>
            </p:cNvSpPr>
            <p:nvPr/>
          </p:nvSpPr>
          <p:spPr bwMode="auto">
            <a:xfrm>
              <a:off x="3456" y="1334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C1</a:t>
              </a:r>
            </a:p>
          </p:txBody>
        </p:sp>
        <p:sp>
          <p:nvSpPr>
            <p:cNvPr id="1625110" name="Text Box 22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C3</a:t>
              </a:r>
            </a:p>
          </p:txBody>
        </p:sp>
        <p:sp>
          <p:nvSpPr>
            <p:cNvPr id="1625111" name="Text Box 23"/>
            <p:cNvSpPr txBox="1">
              <a:spLocks noChangeArrowheads="1"/>
            </p:cNvSpPr>
            <p:nvPr/>
          </p:nvSpPr>
          <p:spPr bwMode="auto">
            <a:xfrm>
              <a:off x="3456" y="2389"/>
              <a:ext cx="336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 err="1"/>
                <a:t>C5</a:t>
              </a:r>
              <a:endParaRPr lang="en-US" dirty="0"/>
            </a:p>
          </p:txBody>
        </p:sp>
        <p:sp>
          <p:nvSpPr>
            <p:cNvPr id="1625112" name="Text Box 24"/>
            <p:cNvSpPr txBox="1">
              <a:spLocks noChangeArrowheads="1"/>
            </p:cNvSpPr>
            <p:nvPr/>
          </p:nvSpPr>
          <p:spPr bwMode="auto">
            <a:xfrm>
              <a:off x="3456" y="2098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 err="1"/>
                <a:t>C4</a:t>
              </a:r>
              <a:endParaRPr lang="en-US" dirty="0"/>
            </a:p>
          </p:txBody>
        </p:sp>
        <p:sp>
          <p:nvSpPr>
            <p:cNvPr id="1625113" name="Text Box 25"/>
            <p:cNvSpPr txBox="1">
              <a:spLocks noChangeArrowheads="1"/>
            </p:cNvSpPr>
            <p:nvPr/>
          </p:nvSpPr>
          <p:spPr bwMode="auto">
            <a:xfrm>
              <a:off x="3456" y="1622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C2</a:t>
              </a:r>
            </a:p>
          </p:txBody>
        </p:sp>
        <p:sp>
          <p:nvSpPr>
            <p:cNvPr id="1625114" name="Text Box 26"/>
            <p:cNvSpPr txBox="1">
              <a:spLocks noChangeArrowheads="1"/>
            </p:cNvSpPr>
            <p:nvPr/>
          </p:nvSpPr>
          <p:spPr bwMode="auto">
            <a:xfrm>
              <a:off x="4368" y="1094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C3</a:t>
              </a:r>
            </a:p>
          </p:txBody>
        </p:sp>
        <p:sp>
          <p:nvSpPr>
            <p:cNvPr id="1625115" name="Text Box 27"/>
            <p:cNvSpPr txBox="1">
              <a:spLocks noChangeArrowheads="1"/>
            </p:cNvSpPr>
            <p:nvPr/>
          </p:nvSpPr>
          <p:spPr bwMode="auto">
            <a:xfrm>
              <a:off x="4704" y="1094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C4</a:t>
              </a:r>
            </a:p>
          </p:txBody>
        </p:sp>
        <p:sp>
          <p:nvSpPr>
            <p:cNvPr id="1625116" name="Text Box 28"/>
            <p:cNvSpPr txBox="1">
              <a:spLocks noChangeArrowheads="1"/>
            </p:cNvSpPr>
            <p:nvPr/>
          </p:nvSpPr>
          <p:spPr bwMode="auto">
            <a:xfrm>
              <a:off x="4992" y="1094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C5</a:t>
              </a:r>
            </a:p>
          </p:txBody>
        </p:sp>
        <p:sp>
          <p:nvSpPr>
            <p:cNvPr id="1625117" name="Line 29"/>
            <p:cNvSpPr>
              <a:spLocks noChangeShapeType="1"/>
            </p:cNvSpPr>
            <p:nvPr/>
          </p:nvSpPr>
          <p:spPr bwMode="auto">
            <a:xfrm>
              <a:off x="3504" y="1526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18" name="Line 30"/>
            <p:cNvSpPr>
              <a:spLocks noChangeShapeType="1"/>
            </p:cNvSpPr>
            <p:nvPr/>
          </p:nvSpPr>
          <p:spPr bwMode="auto">
            <a:xfrm>
              <a:off x="3504" y="205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19" name="Line 31"/>
            <p:cNvSpPr>
              <a:spLocks noChangeShapeType="1"/>
            </p:cNvSpPr>
            <p:nvPr/>
          </p:nvSpPr>
          <p:spPr bwMode="auto">
            <a:xfrm>
              <a:off x="3504" y="181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20" name="Line 32"/>
            <p:cNvSpPr>
              <a:spLocks noChangeShapeType="1"/>
            </p:cNvSpPr>
            <p:nvPr/>
          </p:nvSpPr>
          <p:spPr bwMode="auto">
            <a:xfrm>
              <a:off x="3504" y="229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21" name="Line 33"/>
            <p:cNvSpPr>
              <a:spLocks noChangeShapeType="1"/>
            </p:cNvSpPr>
            <p:nvPr/>
          </p:nvSpPr>
          <p:spPr bwMode="auto">
            <a:xfrm>
              <a:off x="403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22" name="Line 34"/>
            <p:cNvSpPr>
              <a:spLocks noChangeShapeType="1"/>
            </p:cNvSpPr>
            <p:nvPr/>
          </p:nvSpPr>
          <p:spPr bwMode="auto">
            <a:xfrm>
              <a:off x="432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23" name="Line 35"/>
            <p:cNvSpPr>
              <a:spLocks noChangeShapeType="1"/>
            </p:cNvSpPr>
            <p:nvPr/>
          </p:nvSpPr>
          <p:spPr bwMode="auto">
            <a:xfrm>
              <a:off x="465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24" name="Line 36"/>
            <p:cNvSpPr>
              <a:spLocks noChangeShapeType="1"/>
            </p:cNvSpPr>
            <p:nvPr/>
          </p:nvSpPr>
          <p:spPr bwMode="auto">
            <a:xfrm>
              <a:off x="499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25" name="Rectangle 37" descr="Wide downward diagonal"/>
            <p:cNvSpPr>
              <a:spLocks noChangeArrowheads="1"/>
            </p:cNvSpPr>
            <p:nvPr/>
          </p:nvSpPr>
          <p:spPr bwMode="auto">
            <a:xfrm>
              <a:off x="3696" y="1526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5126" name="Rectangle 38" descr="Wide downward diagonal"/>
            <p:cNvSpPr>
              <a:spLocks noChangeArrowheads="1"/>
            </p:cNvSpPr>
            <p:nvPr/>
          </p:nvSpPr>
          <p:spPr bwMode="auto">
            <a:xfrm>
              <a:off x="3696" y="2294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5127" name="Rectangle 39" descr="Wide downward diagonal"/>
            <p:cNvSpPr>
              <a:spLocks noChangeArrowheads="1"/>
            </p:cNvSpPr>
            <p:nvPr/>
          </p:nvSpPr>
          <p:spPr bwMode="auto">
            <a:xfrm rot="5400000">
              <a:off x="3521" y="1783"/>
              <a:ext cx="1298" cy="299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5128" name="Rectangle 40" descr="Wide downward diagonal"/>
            <p:cNvSpPr>
              <a:spLocks noChangeArrowheads="1"/>
            </p:cNvSpPr>
            <p:nvPr/>
          </p:nvSpPr>
          <p:spPr bwMode="auto">
            <a:xfrm rot="5400000">
              <a:off x="4477" y="1778"/>
              <a:ext cx="1297" cy="311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25129" name="Oval 41"/>
          <p:cNvSpPr>
            <a:spLocks noChangeArrowheads="1"/>
          </p:cNvSpPr>
          <p:nvPr/>
        </p:nvSpPr>
        <p:spPr bwMode="auto">
          <a:xfrm>
            <a:off x="990600" y="5011737"/>
            <a:ext cx="2514600" cy="1295400"/>
          </a:xfrm>
          <a:prstGeom prst="ellips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5130" name="Text Box 42"/>
          <p:cNvSpPr txBox="1">
            <a:spLocks noChangeArrowheads="1"/>
          </p:cNvSpPr>
          <p:nvPr/>
        </p:nvSpPr>
        <p:spPr bwMode="auto">
          <a:xfrm>
            <a:off x="5791200" y="4233862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  <p:graphicFrame>
        <p:nvGraphicFramePr>
          <p:cNvPr id="1625131" name="Object 4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859337"/>
          <a:ext cx="4083050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591349" imgH="3431733" progId="Visio.Drawing.6">
                  <p:embed/>
                </p:oleObj>
              </mc:Choice>
              <mc:Fallback>
                <p:oleObj name="Visio" r:id="rId2" imgW="7591349" imgH="3431733" progId="Visio.Drawing.6">
                  <p:embed/>
                  <p:pic>
                    <p:nvPicPr>
                      <p:cNvPr id="162513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859337"/>
                        <a:ext cx="4083050" cy="184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08494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/>
              <a:t>After Merging</a:t>
            </a:r>
          </a:p>
        </p:txBody>
      </p:sp>
      <p:sp>
        <p:nvSpPr>
          <p:cNvPr id="162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 marL="342900" indent="-342900"/>
            <a:r>
              <a:rPr lang="en-US" sz="2200" dirty="0"/>
              <a:t>The question is “How do we update the proximity matrix?” </a:t>
            </a:r>
          </a:p>
          <a:p>
            <a:pPr marL="742950" lvl="1" indent="-285750"/>
            <a:endParaRPr lang="en-US" sz="2000" dirty="0"/>
          </a:p>
        </p:txBody>
      </p:sp>
      <p:sp>
        <p:nvSpPr>
          <p:cNvPr id="1626116" name="Freeform 4"/>
          <p:cNvSpPr>
            <a:spLocks/>
          </p:cNvSpPr>
          <p:nvPr/>
        </p:nvSpPr>
        <p:spPr bwMode="auto">
          <a:xfrm>
            <a:off x="609600" y="4191000"/>
            <a:ext cx="546100" cy="7731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17" name="Freeform 5"/>
          <p:cNvSpPr>
            <a:spLocks/>
          </p:cNvSpPr>
          <p:nvPr/>
        </p:nvSpPr>
        <p:spPr bwMode="auto">
          <a:xfrm rot="-5400000">
            <a:off x="1600200" y="2971800"/>
            <a:ext cx="762000" cy="914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18" name="Freeform 6"/>
          <p:cNvSpPr>
            <a:spLocks/>
          </p:cNvSpPr>
          <p:nvPr/>
        </p:nvSpPr>
        <p:spPr bwMode="auto">
          <a:xfrm rot="-10800000">
            <a:off x="3314700" y="3400862"/>
            <a:ext cx="838200" cy="7620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19" name="Freeform 7"/>
          <p:cNvSpPr>
            <a:spLocks/>
          </p:cNvSpPr>
          <p:nvPr/>
        </p:nvSpPr>
        <p:spPr bwMode="auto">
          <a:xfrm>
            <a:off x="1295400" y="5257800"/>
            <a:ext cx="2362200" cy="7731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20" name="Text Box 8"/>
          <p:cNvSpPr txBox="1">
            <a:spLocks noChangeArrowheads="1"/>
          </p:cNvSpPr>
          <p:nvPr/>
        </p:nvSpPr>
        <p:spPr bwMode="auto">
          <a:xfrm>
            <a:off x="685800" y="4267200"/>
            <a:ext cx="60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C1</a:t>
            </a:r>
          </a:p>
        </p:txBody>
      </p:sp>
      <p:sp>
        <p:nvSpPr>
          <p:cNvPr id="1626121" name="Text Box 9"/>
          <p:cNvSpPr txBox="1">
            <a:spLocks noChangeArrowheads="1"/>
          </p:cNvSpPr>
          <p:nvPr/>
        </p:nvSpPr>
        <p:spPr bwMode="auto">
          <a:xfrm>
            <a:off x="3429000" y="3657600"/>
            <a:ext cx="60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C4</a:t>
            </a:r>
            <a:endParaRPr lang="en-US" dirty="0"/>
          </a:p>
        </p:txBody>
      </p:sp>
      <p:sp>
        <p:nvSpPr>
          <p:cNvPr id="1626122" name="Text Box 10"/>
          <p:cNvSpPr txBox="1">
            <a:spLocks noChangeArrowheads="1"/>
          </p:cNvSpPr>
          <p:nvPr/>
        </p:nvSpPr>
        <p:spPr bwMode="auto">
          <a:xfrm>
            <a:off x="1905000" y="5486399"/>
            <a:ext cx="121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C2 </a:t>
            </a:r>
            <a:r>
              <a:rPr lang="en-US" b="0"/>
              <a:t>U</a:t>
            </a:r>
            <a:r>
              <a:rPr lang="en-US"/>
              <a:t> C5</a:t>
            </a:r>
          </a:p>
        </p:txBody>
      </p:sp>
      <p:sp>
        <p:nvSpPr>
          <p:cNvPr id="1626123" name="Text Box 11"/>
          <p:cNvSpPr txBox="1">
            <a:spLocks noChangeArrowheads="1"/>
          </p:cNvSpPr>
          <p:nvPr/>
        </p:nvSpPr>
        <p:spPr bwMode="auto">
          <a:xfrm>
            <a:off x="1752600" y="3276600"/>
            <a:ext cx="647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C3</a:t>
            </a:r>
            <a:endParaRPr lang="en-US" dirty="0"/>
          </a:p>
        </p:txBody>
      </p:sp>
      <p:sp>
        <p:nvSpPr>
          <p:cNvPr id="1626124" name="Text Box 12"/>
          <p:cNvSpPr txBox="1">
            <a:spLocks noChangeArrowheads="1"/>
          </p:cNvSpPr>
          <p:nvPr/>
        </p:nvSpPr>
        <p:spPr bwMode="auto">
          <a:xfrm>
            <a:off x="5994400" y="3021231"/>
            <a:ext cx="22479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  ?      ?       ?      ?    	   </a:t>
            </a:r>
          </a:p>
        </p:txBody>
      </p:sp>
      <p:sp>
        <p:nvSpPr>
          <p:cNvPr id="1626125" name="Text Box 13"/>
          <p:cNvSpPr txBox="1">
            <a:spLocks noChangeArrowheads="1"/>
          </p:cNvSpPr>
          <p:nvPr/>
        </p:nvSpPr>
        <p:spPr bwMode="auto">
          <a:xfrm>
            <a:off x="6651625" y="2667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?</a:t>
            </a:r>
          </a:p>
        </p:txBody>
      </p:sp>
      <p:sp>
        <p:nvSpPr>
          <p:cNvPr id="1626126" name="Text Box 14"/>
          <p:cNvSpPr txBox="1">
            <a:spLocks noChangeArrowheads="1"/>
          </p:cNvSpPr>
          <p:nvPr/>
        </p:nvSpPr>
        <p:spPr bwMode="auto">
          <a:xfrm>
            <a:off x="6651625" y="35052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?</a:t>
            </a:r>
          </a:p>
        </p:txBody>
      </p:sp>
      <p:sp>
        <p:nvSpPr>
          <p:cNvPr id="1626127" name="Text Box 15"/>
          <p:cNvSpPr txBox="1">
            <a:spLocks noChangeArrowheads="1"/>
          </p:cNvSpPr>
          <p:nvPr/>
        </p:nvSpPr>
        <p:spPr bwMode="auto">
          <a:xfrm>
            <a:off x="6651625" y="38862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?</a:t>
            </a:r>
          </a:p>
        </p:txBody>
      </p:sp>
      <p:sp>
        <p:nvSpPr>
          <p:cNvPr id="1626128" name="Text Box 16"/>
          <p:cNvSpPr txBox="1">
            <a:spLocks noChangeArrowheads="1"/>
          </p:cNvSpPr>
          <p:nvPr/>
        </p:nvSpPr>
        <p:spPr bwMode="auto">
          <a:xfrm>
            <a:off x="6575425" y="1727200"/>
            <a:ext cx="53340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C2</a:t>
            </a:r>
            <a:r>
              <a:rPr lang="en-US" dirty="0"/>
              <a:t> </a:t>
            </a:r>
            <a:r>
              <a:rPr lang="en-US" b="0" dirty="0"/>
              <a:t>U </a:t>
            </a:r>
            <a:r>
              <a:rPr lang="en-US" dirty="0" err="1"/>
              <a:t>C5</a:t>
            </a:r>
            <a:endParaRPr lang="en-US" dirty="0"/>
          </a:p>
        </p:txBody>
      </p:sp>
      <p:sp>
        <p:nvSpPr>
          <p:cNvPr id="1626129" name="Text Box 17"/>
          <p:cNvSpPr txBox="1">
            <a:spLocks noChangeArrowheads="1"/>
          </p:cNvSpPr>
          <p:nvPr/>
        </p:nvSpPr>
        <p:spPr bwMode="auto">
          <a:xfrm>
            <a:off x="6096000" y="2286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C1</a:t>
            </a:r>
          </a:p>
        </p:txBody>
      </p:sp>
      <p:sp>
        <p:nvSpPr>
          <p:cNvPr id="1626130" name="Line 18"/>
          <p:cNvSpPr>
            <a:spLocks noChangeShapeType="1"/>
          </p:cNvSpPr>
          <p:nvPr/>
        </p:nvSpPr>
        <p:spPr bwMode="auto">
          <a:xfrm>
            <a:off x="6019800" y="22860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31" name="Line 19"/>
          <p:cNvSpPr>
            <a:spLocks noChangeShapeType="1"/>
          </p:cNvSpPr>
          <p:nvPr/>
        </p:nvSpPr>
        <p:spPr bwMode="auto">
          <a:xfrm>
            <a:off x="5715000" y="25908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32" name="Text Box 20"/>
          <p:cNvSpPr txBox="1">
            <a:spLocks noChangeArrowheads="1"/>
          </p:cNvSpPr>
          <p:nvPr/>
        </p:nvSpPr>
        <p:spPr bwMode="auto">
          <a:xfrm>
            <a:off x="5638800" y="2667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C1</a:t>
            </a:r>
          </a:p>
        </p:txBody>
      </p:sp>
      <p:sp>
        <p:nvSpPr>
          <p:cNvPr id="1626133" name="Text Box 21"/>
          <p:cNvSpPr txBox="1">
            <a:spLocks noChangeArrowheads="1"/>
          </p:cNvSpPr>
          <p:nvPr/>
        </p:nvSpPr>
        <p:spPr bwMode="auto">
          <a:xfrm>
            <a:off x="5638800" y="3458527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C3</a:t>
            </a:r>
            <a:endParaRPr lang="en-US" dirty="0"/>
          </a:p>
        </p:txBody>
      </p:sp>
      <p:sp>
        <p:nvSpPr>
          <p:cNvPr id="1626134" name="Text Box 22"/>
          <p:cNvSpPr txBox="1">
            <a:spLocks noChangeArrowheads="1"/>
          </p:cNvSpPr>
          <p:nvPr/>
        </p:nvSpPr>
        <p:spPr bwMode="auto">
          <a:xfrm>
            <a:off x="5638800" y="38862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C4</a:t>
            </a:r>
          </a:p>
        </p:txBody>
      </p:sp>
      <p:sp>
        <p:nvSpPr>
          <p:cNvPr id="1626135" name="Text Box 23"/>
          <p:cNvSpPr txBox="1">
            <a:spLocks noChangeArrowheads="1"/>
          </p:cNvSpPr>
          <p:nvPr/>
        </p:nvSpPr>
        <p:spPr bwMode="auto">
          <a:xfrm>
            <a:off x="5029200" y="3009899"/>
            <a:ext cx="121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C2</a:t>
            </a:r>
            <a:r>
              <a:rPr lang="en-US" dirty="0"/>
              <a:t> </a:t>
            </a:r>
            <a:r>
              <a:rPr lang="en-US" b="0" dirty="0"/>
              <a:t>U </a:t>
            </a:r>
            <a:r>
              <a:rPr lang="en-US" dirty="0" err="1"/>
              <a:t>C5</a:t>
            </a:r>
            <a:endParaRPr lang="en-US" dirty="0"/>
          </a:p>
        </p:txBody>
      </p:sp>
      <p:sp>
        <p:nvSpPr>
          <p:cNvPr id="1626136" name="Text Box 24"/>
          <p:cNvSpPr txBox="1">
            <a:spLocks noChangeArrowheads="1"/>
          </p:cNvSpPr>
          <p:nvPr/>
        </p:nvSpPr>
        <p:spPr bwMode="auto">
          <a:xfrm>
            <a:off x="7086600" y="2286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C3</a:t>
            </a:r>
          </a:p>
        </p:txBody>
      </p:sp>
      <p:sp>
        <p:nvSpPr>
          <p:cNvPr id="1626137" name="Text Box 25"/>
          <p:cNvSpPr txBox="1">
            <a:spLocks noChangeArrowheads="1"/>
          </p:cNvSpPr>
          <p:nvPr/>
        </p:nvSpPr>
        <p:spPr bwMode="auto">
          <a:xfrm>
            <a:off x="7620000" y="2286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C4</a:t>
            </a:r>
          </a:p>
        </p:txBody>
      </p:sp>
      <p:sp>
        <p:nvSpPr>
          <p:cNvPr id="1626138" name="Line 26"/>
          <p:cNvSpPr>
            <a:spLocks noChangeShapeType="1"/>
          </p:cNvSpPr>
          <p:nvPr/>
        </p:nvSpPr>
        <p:spPr bwMode="auto">
          <a:xfrm>
            <a:off x="5715000" y="29718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39" name="Line 27"/>
          <p:cNvSpPr>
            <a:spLocks noChangeShapeType="1"/>
          </p:cNvSpPr>
          <p:nvPr/>
        </p:nvSpPr>
        <p:spPr bwMode="auto">
          <a:xfrm>
            <a:off x="5715000" y="3810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0" name="Line 28"/>
          <p:cNvSpPr>
            <a:spLocks noChangeShapeType="1"/>
          </p:cNvSpPr>
          <p:nvPr/>
        </p:nvSpPr>
        <p:spPr bwMode="auto">
          <a:xfrm>
            <a:off x="5715000" y="3429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1" name="Line 29"/>
          <p:cNvSpPr>
            <a:spLocks noChangeShapeType="1"/>
          </p:cNvSpPr>
          <p:nvPr/>
        </p:nvSpPr>
        <p:spPr bwMode="auto">
          <a:xfrm>
            <a:off x="5715000" y="4191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2" name="Line 30"/>
          <p:cNvSpPr>
            <a:spLocks noChangeShapeType="1"/>
          </p:cNvSpPr>
          <p:nvPr/>
        </p:nvSpPr>
        <p:spPr bwMode="auto">
          <a:xfrm>
            <a:off x="6553200" y="22860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3" name="Line 31"/>
          <p:cNvSpPr>
            <a:spLocks noChangeShapeType="1"/>
          </p:cNvSpPr>
          <p:nvPr/>
        </p:nvSpPr>
        <p:spPr bwMode="auto">
          <a:xfrm>
            <a:off x="7010400" y="22860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4" name="Line 32"/>
          <p:cNvSpPr>
            <a:spLocks noChangeShapeType="1"/>
          </p:cNvSpPr>
          <p:nvPr/>
        </p:nvSpPr>
        <p:spPr bwMode="auto">
          <a:xfrm>
            <a:off x="7543800" y="22860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5" name="Line 33"/>
          <p:cNvSpPr>
            <a:spLocks noChangeShapeType="1"/>
          </p:cNvSpPr>
          <p:nvPr/>
        </p:nvSpPr>
        <p:spPr bwMode="auto">
          <a:xfrm>
            <a:off x="8077200" y="22860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6" name="Text Box 34"/>
          <p:cNvSpPr txBox="1">
            <a:spLocks noChangeArrowheads="1"/>
          </p:cNvSpPr>
          <p:nvPr/>
        </p:nvSpPr>
        <p:spPr bwMode="auto">
          <a:xfrm>
            <a:off x="5791200" y="42672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  <p:graphicFrame>
        <p:nvGraphicFramePr>
          <p:cNvPr id="1626147" name="Object 3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740275"/>
          <a:ext cx="4083050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591349" imgH="3654718" progId="Visio.Drawing.6">
                  <p:embed/>
                </p:oleObj>
              </mc:Choice>
              <mc:Fallback>
                <p:oleObj name="Visio" r:id="rId2" imgW="7591349" imgH="3654718" progId="Visio.Drawing.6">
                  <p:embed/>
                  <p:pic>
                    <p:nvPicPr>
                      <p:cNvPr id="1626147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740275"/>
                        <a:ext cx="4083050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48130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457199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How to Define Inter-Cluster Similarity</a:t>
            </a:r>
          </a:p>
        </p:txBody>
      </p:sp>
      <p:sp>
        <p:nvSpPr>
          <p:cNvPr id="1627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5963" y="28019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1000"/>
              <a:t> </a:t>
            </a:r>
          </a:p>
        </p:txBody>
      </p:sp>
      <p:grpSp>
        <p:nvGrpSpPr>
          <p:cNvPr id="1627140" name="Group 4"/>
          <p:cNvGrpSpPr>
            <a:grpSpLocks/>
          </p:cNvGrpSpPr>
          <p:nvPr/>
        </p:nvGrpSpPr>
        <p:grpSpPr bwMode="auto">
          <a:xfrm>
            <a:off x="5562600" y="1524000"/>
            <a:ext cx="3429000" cy="3508375"/>
            <a:chOff x="3456" y="1440"/>
            <a:chExt cx="2160" cy="2210"/>
          </a:xfrm>
        </p:grpSpPr>
        <p:sp>
          <p:nvSpPr>
            <p:cNvPr id="1627141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2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3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4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5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6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7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8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9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50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51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52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53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7154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7155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7156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7157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7158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7159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7160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7161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7162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7163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 . .</a:t>
              </a:r>
            </a:p>
          </p:txBody>
        </p:sp>
        <p:sp>
          <p:nvSpPr>
            <p:cNvPr id="1627164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</p:txBody>
        </p:sp>
      </p:grpSp>
      <p:sp>
        <p:nvSpPr>
          <p:cNvPr id="1627165" name="Line 29"/>
          <p:cNvSpPr>
            <a:spLocks noChangeShapeType="1"/>
          </p:cNvSpPr>
          <p:nvPr/>
        </p:nvSpPr>
        <p:spPr bwMode="auto">
          <a:xfrm>
            <a:off x="2286000" y="25146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7166" name="Text Box 30"/>
          <p:cNvSpPr txBox="1">
            <a:spLocks noChangeArrowheads="1"/>
          </p:cNvSpPr>
          <p:nvPr/>
        </p:nvSpPr>
        <p:spPr bwMode="auto">
          <a:xfrm>
            <a:off x="2286000" y="2057400"/>
            <a:ext cx="1447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Similarity?</a:t>
            </a:r>
          </a:p>
        </p:txBody>
      </p:sp>
      <p:sp>
        <p:nvSpPr>
          <p:cNvPr id="1627167" name="Rectangle 31"/>
          <p:cNvSpPr>
            <a:spLocks noChangeArrowheads="1"/>
          </p:cNvSpPr>
          <p:nvPr/>
        </p:nvSpPr>
        <p:spPr bwMode="auto">
          <a:xfrm>
            <a:off x="457200" y="3657600"/>
            <a:ext cx="57912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MIN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MAX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Group Average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Distance Between Centroids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Other methods driven by an objective function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000" b="0"/>
              <a:t>Ward’s Method uses squared error</a:t>
            </a:r>
            <a:endParaRPr lang="en-US" sz="2400" b="0"/>
          </a:p>
        </p:txBody>
      </p:sp>
      <p:sp>
        <p:nvSpPr>
          <p:cNvPr id="1627168" name="Freeform 32" descr="5%"/>
          <p:cNvSpPr>
            <a:spLocks/>
          </p:cNvSpPr>
          <p:nvPr/>
        </p:nvSpPr>
        <p:spPr bwMode="auto">
          <a:xfrm rot="-5400000">
            <a:off x="538957" y="1747043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7169" name="Oval 33"/>
          <p:cNvSpPr>
            <a:spLocks noChangeArrowheads="1"/>
          </p:cNvSpPr>
          <p:nvPr/>
        </p:nvSpPr>
        <p:spPr bwMode="auto">
          <a:xfrm rot="-5400000">
            <a:off x="1828800" y="2667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0" name="Oval 34"/>
          <p:cNvSpPr>
            <a:spLocks noChangeArrowheads="1"/>
          </p:cNvSpPr>
          <p:nvPr/>
        </p:nvSpPr>
        <p:spPr bwMode="auto">
          <a:xfrm rot="-5400000">
            <a:off x="17526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1" name="Oval 35"/>
          <p:cNvSpPr>
            <a:spLocks noChangeArrowheads="1"/>
          </p:cNvSpPr>
          <p:nvPr/>
        </p:nvSpPr>
        <p:spPr bwMode="auto">
          <a:xfrm rot="-5400000">
            <a:off x="914400" y="2362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2" name="Oval 36"/>
          <p:cNvSpPr>
            <a:spLocks noChangeArrowheads="1"/>
          </p:cNvSpPr>
          <p:nvPr/>
        </p:nvSpPr>
        <p:spPr bwMode="auto">
          <a:xfrm rot="-5400000">
            <a:off x="1979613" y="22082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3" name="Freeform 37" descr="5%"/>
          <p:cNvSpPr>
            <a:spLocks/>
          </p:cNvSpPr>
          <p:nvPr/>
        </p:nvSpPr>
        <p:spPr bwMode="auto">
          <a:xfrm rot="5400000" flipV="1">
            <a:off x="3429000" y="1600200"/>
            <a:ext cx="1828800" cy="1676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7174" name="Oval 38"/>
          <p:cNvSpPr>
            <a:spLocks noChangeArrowheads="1"/>
          </p:cNvSpPr>
          <p:nvPr/>
        </p:nvSpPr>
        <p:spPr bwMode="auto">
          <a:xfrm rot="5400000" flipV="1">
            <a:off x="4953000" y="2057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5" name="Oval 39"/>
          <p:cNvSpPr>
            <a:spLocks noChangeArrowheads="1"/>
          </p:cNvSpPr>
          <p:nvPr/>
        </p:nvSpPr>
        <p:spPr bwMode="auto">
          <a:xfrm rot="5400000" flipV="1">
            <a:off x="3592513" y="20558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6" name="Oval 40"/>
          <p:cNvSpPr>
            <a:spLocks noChangeArrowheads="1"/>
          </p:cNvSpPr>
          <p:nvPr/>
        </p:nvSpPr>
        <p:spPr bwMode="auto">
          <a:xfrm rot="5400000" flipV="1">
            <a:off x="4114800" y="2667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7" name="Oval 41"/>
          <p:cNvSpPr>
            <a:spLocks noChangeArrowheads="1"/>
          </p:cNvSpPr>
          <p:nvPr/>
        </p:nvSpPr>
        <p:spPr bwMode="auto">
          <a:xfrm rot="5400000" flipV="1">
            <a:off x="4114800" y="1676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8" name="Text Box 42"/>
          <p:cNvSpPr txBox="1">
            <a:spLocks noChangeArrowheads="1"/>
          </p:cNvSpPr>
          <p:nvPr/>
        </p:nvSpPr>
        <p:spPr bwMode="auto">
          <a:xfrm>
            <a:off x="6019800" y="48006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31393869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68300" y="457200"/>
            <a:ext cx="8280400" cy="914400"/>
          </a:xfrm>
        </p:spPr>
        <p:txBody>
          <a:bodyPr>
            <a:normAutofit/>
          </a:bodyPr>
          <a:lstStyle/>
          <a:p>
            <a:r>
              <a:rPr lang="en-US" dirty="0"/>
              <a:t>How to Define Inter-Cluster Similarity</a:t>
            </a:r>
          </a:p>
        </p:txBody>
      </p:sp>
      <p:sp>
        <p:nvSpPr>
          <p:cNvPr id="1628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8019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1000"/>
              <a:t> </a:t>
            </a:r>
          </a:p>
        </p:txBody>
      </p:sp>
      <p:grpSp>
        <p:nvGrpSpPr>
          <p:cNvPr id="1628164" name="Group 4"/>
          <p:cNvGrpSpPr>
            <a:grpSpLocks/>
          </p:cNvGrpSpPr>
          <p:nvPr/>
        </p:nvGrpSpPr>
        <p:grpSpPr bwMode="auto">
          <a:xfrm>
            <a:off x="5486400" y="1524000"/>
            <a:ext cx="3429000" cy="3508375"/>
            <a:chOff x="3456" y="1440"/>
            <a:chExt cx="2160" cy="2210"/>
          </a:xfrm>
        </p:grpSpPr>
        <p:sp>
          <p:nvSpPr>
            <p:cNvPr id="1628165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66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67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68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69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0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1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2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3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4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5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6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7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8178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8179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8180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8181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8182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8183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8184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8185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8186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8187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 . .</a:t>
              </a:r>
            </a:p>
          </p:txBody>
        </p:sp>
        <p:sp>
          <p:nvSpPr>
            <p:cNvPr id="1628188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</p:txBody>
        </p:sp>
      </p:grpSp>
      <p:sp>
        <p:nvSpPr>
          <p:cNvPr id="1628189" name="Freeform 29" descr="5%"/>
          <p:cNvSpPr>
            <a:spLocks/>
          </p:cNvSpPr>
          <p:nvPr/>
        </p:nvSpPr>
        <p:spPr bwMode="auto">
          <a:xfrm rot="-5400000">
            <a:off x="462757" y="1747043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8190" name="Oval 30"/>
          <p:cNvSpPr>
            <a:spLocks noChangeArrowheads="1"/>
          </p:cNvSpPr>
          <p:nvPr/>
        </p:nvSpPr>
        <p:spPr bwMode="auto">
          <a:xfrm rot="-5400000">
            <a:off x="1752600" y="2667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1" name="Oval 31"/>
          <p:cNvSpPr>
            <a:spLocks noChangeArrowheads="1"/>
          </p:cNvSpPr>
          <p:nvPr/>
        </p:nvSpPr>
        <p:spPr bwMode="auto">
          <a:xfrm rot="-5400000">
            <a:off x="16764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2" name="Oval 32"/>
          <p:cNvSpPr>
            <a:spLocks noChangeArrowheads="1"/>
          </p:cNvSpPr>
          <p:nvPr/>
        </p:nvSpPr>
        <p:spPr bwMode="auto">
          <a:xfrm rot="-5400000">
            <a:off x="838200" y="2362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3" name="Oval 33"/>
          <p:cNvSpPr>
            <a:spLocks noChangeArrowheads="1"/>
          </p:cNvSpPr>
          <p:nvPr/>
        </p:nvSpPr>
        <p:spPr bwMode="auto">
          <a:xfrm rot="-5400000">
            <a:off x="1903413" y="22082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4" name="Freeform 34" descr="5%"/>
          <p:cNvSpPr>
            <a:spLocks/>
          </p:cNvSpPr>
          <p:nvPr/>
        </p:nvSpPr>
        <p:spPr bwMode="auto">
          <a:xfrm rot="5400000" flipV="1">
            <a:off x="3352800" y="1600200"/>
            <a:ext cx="1828800" cy="1676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8195" name="Oval 35"/>
          <p:cNvSpPr>
            <a:spLocks noChangeArrowheads="1"/>
          </p:cNvSpPr>
          <p:nvPr/>
        </p:nvSpPr>
        <p:spPr bwMode="auto">
          <a:xfrm rot="5400000" flipV="1"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6" name="Oval 36"/>
          <p:cNvSpPr>
            <a:spLocks noChangeArrowheads="1"/>
          </p:cNvSpPr>
          <p:nvPr/>
        </p:nvSpPr>
        <p:spPr bwMode="auto">
          <a:xfrm rot="5400000" flipV="1">
            <a:off x="3516313" y="20558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7" name="Oval 37"/>
          <p:cNvSpPr>
            <a:spLocks noChangeArrowheads="1"/>
          </p:cNvSpPr>
          <p:nvPr/>
        </p:nvSpPr>
        <p:spPr bwMode="auto">
          <a:xfrm rot="5400000" flipV="1">
            <a:off x="4038600" y="2667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8" name="Oval 38"/>
          <p:cNvSpPr>
            <a:spLocks noChangeArrowheads="1"/>
          </p:cNvSpPr>
          <p:nvPr/>
        </p:nvSpPr>
        <p:spPr bwMode="auto">
          <a:xfrm rot="5400000" flipV="1">
            <a:off x="4038600" y="1676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9" name="Line 39"/>
          <p:cNvSpPr>
            <a:spLocks noChangeShapeType="1"/>
          </p:cNvSpPr>
          <p:nvPr/>
        </p:nvSpPr>
        <p:spPr bwMode="auto">
          <a:xfrm flipV="1">
            <a:off x="1981200" y="2057400"/>
            <a:ext cx="1524000" cy="1524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8200" name="Text Box 40"/>
          <p:cNvSpPr txBox="1">
            <a:spLocks noChangeArrowheads="1"/>
          </p:cNvSpPr>
          <p:nvPr/>
        </p:nvSpPr>
        <p:spPr bwMode="auto">
          <a:xfrm>
            <a:off x="5943600" y="48006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  <p:sp>
        <p:nvSpPr>
          <p:cNvPr id="1628201" name="Rectangle 41"/>
          <p:cNvSpPr>
            <a:spLocks noChangeArrowheads="1"/>
          </p:cNvSpPr>
          <p:nvPr/>
        </p:nvSpPr>
        <p:spPr bwMode="auto">
          <a:xfrm>
            <a:off x="381000" y="3657600"/>
            <a:ext cx="57912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>
                <a:solidFill>
                  <a:srgbClr val="FF0000"/>
                </a:solidFill>
              </a:rPr>
              <a:t>MIN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MAX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Group Average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Distance Between Centroids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Other methods driven by an objective function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000" b="0"/>
              <a:t>Ward’s Method uses squared error</a:t>
            </a:r>
            <a:endParaRPr lang="en-US" sz="2400" b="0"/>
          </a:p>
        </p:txBody>
      </p:sp>
    </p:spTree>
    <p:extLst>
      <p:ext uri="{BB962C8B-B14F-4D97-AF65-F5344CB8AC3E}">
        <p14:creationId xmlns:p14="http://schemas.microsoft.com/office/powerpoint/2010/main" val="8630429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1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1333500"/>
          </a:xfrm>
        </p:spPr>
        <p:txBody>
          <a:bodyPr>
            <a:noAutofit/>
          </a:bodyPr>
          <a:lstStyle/>
          <a:p>
            <a:r>
              <a:rPr lang="en-US" dirty="0"/>
              <a:t>How to Define Inter-Cluster Similarity</a:t>
            </a:r>
          </a:p>
        </p:txBody>
      </p:sp>
      <p:sp>
        <p:nvSpPr>
          <p:cNvPr id="1629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9543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1000"/>
              <a:t> </a:t>
            </a:r>
          </a:p>
        </p:txBody>
      </p:sp>
      <p:grpSp>
        <p:nvGrpSpPr>
          <p:cNvPr id="1629188" name="Group 4"/>
          <p:cNvGrpSpPr>
            <a:grpSpLocks/>
          </p:cNvGrpSpPr>
          <p:nvPr/>
        </p:nvGrpSpPr>
        <p:grpSpPr bwMode="auto">
          <a:xfrm>
            <a:off x="5486400" y="1676400"/>
            <a:ext cx="3429000" cy="3508375"/>
            <a:chOff x="3456" y="1440"/>
            <a:chExt cx="2160" cy="2210"/>
          </a:xfrm>
        </p:grpSpPr>
        <p:sp>
          <p:nvSpPr>
            <p:cNvPr id="1629189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0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1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2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3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4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5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6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7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8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9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200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201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9202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9203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9204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9205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9206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9207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9208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9209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9210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9211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 . .</a:t>
              </a:r>
            </a:p>
          </p:txBody>
        </p:sp>
        <p:sp>
          <p:nvSpPr>
            <p:cNvPr id="1629212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</p:txBody>
        </p:sp>
      </p:grpSp>
      <p:sp>
        <p:nvSpPr>
          <p:cNvPr id="1629213" name="Freeform 29" descr="5%"/>
          <p:cNvSpPr>
            <a:spLocks/>
          </p:cNvSpPr>
          <p:nvPr/>
        </p:nvSpPr>
        <p:spPr bwMode="auto">
          <a:xfrm rot="-5400000">
            <a:off x="462757" y="1899443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9214" name="Oval 30"/>
          <p:cNvSpPr>
            <a:spLocks noChangeArrowheads="1"/>
          </p:cNvSpPr>
          <p:nvPr/>
        </p:nvSpPr>
        <p:spPr bwMode="auto">
          <a:xfrm rot="-5400000">
            <a:off x="1752600" y="2819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15" name="Oval 31"/>
          <p:cNvSpPr>
            <a:spLocks noChangeArrowheads="1"/>
          </p:cNvSpPr>
          <p:nvPr/>
        </p:nvSpPr>
        <p:spPr bwMode="auto">
          <a:xfrm rot="-5400000">
            <a:off x="1676400" y="2057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16" name="Oval 32"/>
          <p:cNvSpPr>
            <a:spLocks noChangeArrowheads="1"/>
          </p:cNvSpPr>
          <p:nvPr/>
        </p:nvSpPr>
        <p:spPr bwMode="auto">
          <a:xfrm rot="-5400000">
            <a:off x="838200" y="2514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17" name="Oval 33"/>
          <p:cNvSpPr>
            <a:spLocks noChangeArrowheads="1"/>
          </p:cNvSpPr>
          <p:nvPr/>
        </p:nvSpPr>
        <p:spPr bwMode="auto">
          <a:xfrm rot="-5400000">
            <a:off x="1903413" y="2360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18" name="Freeform 34" descr="5%"/>
          <p:cNvSpPr>
            <a:spLocks/>
          </p:cNvSpPr>
          <p:nvPr/>
        </p:nvSpPr>
        <p:spPr bwMode="auto">
          <a:xfrm rot="5400000" flipV="1">
            <a:off x="3352800" y="1752600"/>
            <a:ext cx="1828800" cy="1676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9219" name="Oval 35"/>
          <p:cNvSpPr>
            <a:spLocks noChangeArrowheads="1"/>
          </p:cNvSpPr>
          <p:nvPr/>
        </p:nvSpPr>
        <p:spPr bwMode="auto">
          <a:xfrm rot="5400000" flipV="1">
            <a:off x="48768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20" name="Oval 36"/>
          <p:cNvSpPr>
            <a:spLocks noChangeArrowheads="1"/>
          </p:cNvSpPr>
          <p:nvPr/>
        </p:nvSpPr>
        <p:spPr bwMode="auto">
          <a:xfrm rot="5400000" flipV="1">
            <a:off x="3516313" y="22082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21" name="Oval 37"/>
          <p:cNvSpPr>
            <a:spLocks noChangeArrowheads="1"/>
          </p:cNvSpPr>
          <p:nvPr/>
        </p:nvSpPr>
        <p:spPr bwMode="auto">
          <a:xfrm rot="5400000" flipV="1">
            <a:off x="4038600" y="2819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22" name="Oval 38"/>
          <p:cNvSpPr>
            <a:spLocks noChangeArrowheads="1"/>
          </p:cNvSpPr>
          <p:nvPr/>
        </p:nvSpPr>
        <p:spPr bwMode="auto">
          <a:xfrm rot="5400000" flipV="1">
            <a:off x="4038600" y="1828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23" name="Line 39"/>
          <p:cNvSpPr>
            <a:spLocks noChangeShapeType="1"/>
          </p:cNvSpPr>
          <p:nvPr/>
        </p:nvSpPr>
        <p:spPr bwMode="auto">
          <a:xfrm flipV="1">
            <a:off x="914400" y="2286000"/>
            <a:ext cx="3962400" cy="2286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9224" name="Text Box 40"/>
          <p:cNvSpPr txBox="1">
            <a:spLocks noChangeArrowheads="1"/>
          </p:cNvSpPr>
          <p:nvPr/>
        </p:nvSpPr>
        <p:spPr bwMode="auto">
          <a:xfrm>
            <a:off x="5943600" y="49530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  <p:sp>
        <p:nvSpPr>
          <p:cNvPr id="1629225" name="Rectangle 41"/>
          <p:cNvSpPr>
            <a:spLocks noChangeArrowheads="1"/>
          </p:cNvSpPr>
          <p:nvPr/>
        </p:nvSpPr>
        <p:spPr bwMode="auto">
          <a:xfrm>
            <a:off x="381000" y="3810000"/>
            <a:ext cx="57912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MIN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>
                <a:solidFill>
                  <a:srgbClr val="FF0000"/>
                </a:solidFill>
              </a:rPr>
              <a:t>MAX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Group Average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Distance Between Centroids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Other methods driven by an objective function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000" b="0"/>
              <a:t>Ward’s Method uses squared error</a:t>
            </a:r>
            <a:endParaRPr lang="en-US" sz="2400" b="0"/>
          </a:p>
        </p:txBody>
      </p:sp>
    </p:spTree>
    <p:extLst>
      <p:ext uri="{BB962C8B-B14F-4D97-AF65-F5344CB8AC3E}">
        <p14:creationId xmlns:p14="http://schemas.microsoft.com/office/powerpoint/2010/main" val="42447588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399"/>
            <a:ext cx="8280400" cy="1219199"/>
          </a:xfrm>
        </p:spPr>
        <p:txBody>
          <a:bodyPr>
            <a:noAutofit/>
          </a:bodyPr>
          <a:lstStyle/>
          <a:p>
            <a:r>
              <a:rPr lang="en-US" dirty="0"/>
              <a:t>How to Define Inter-Cluster Similarity</a:t>
            </a:r>
          </a:p>
        </p:txBody>
      </p:sp>
      <p:sp>
        <p:nvSpPr>
          <p:cNvPr id="1630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6495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1000"/>
              <a:t> </a:t>
            </a:r>
          </a:p>
        </p:txBody>
      </p:sp>
      <p:grpSp>
        <p:nvGrpSpPr>
          <p:cNvPr id="1630212" name="Group 4"/>
          <p:cNvGrpSpPr>
            <a:grpSpLocks/>
          </p:cNvGrpSpPr>
          <p:nvPr/>
        </p:nvGrpSpPr>
        <p:grpSpPr bwMode="auto">
          <a:xfrm>
            <a:off x="5486400" y="1371600"/>
            <a:ext cx="3429000" cy="3508375"/>
            <a:chOff x="3456" y="1440"/>
            <a:chExt cx="2160" cy="2210"/>
          </a:xfrm>
        </p:grpSpPr>
        <p:sp>
          <p:nvSpPr>
            <p:cNvPr id="1630213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14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15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16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17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18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19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20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21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22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23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24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25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30226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30227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30228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30229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30230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30231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30232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30233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30234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30235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 . .</a:t>
              </a:r>
            </a:p>
          </p:txBody>
        </p:sp>
        <p:sp>
          <p:nvSpPr>
            <p:cNvPr id="1630236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</p:txBody>
        </p:sp>
      </p:grpSp>
      <p:sp>
        <p:nvSpPr>
          <p:cNvPr id="1630237" name="Freeform 29" descr="5%"/>
          <p:cNvSpPr>
            <a:spLocks/>
          </p:cNvSpPr>
          <p:nvPr/>
        </p:nvSpPr>
        <p:spPr bwMode="auto">
          <a:xfrm rot="-5400000">
            <a:off x="462757" y="1594643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38" name="Oval 30"/>
          <p:cNvSpPr>
            <a:spLocks noChangeArrowheads="1"/>
          </p:cNvSpPr>
          <p:nvPr/>
        </p:nvSpPr>
        <p:spPr bwMode="auto">
          <a:xfrm rot="-5400000"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39" name="Oval 31"/>
          <p:cNvSpPr>
            <a:spLocks noChangeArrowheads="1"/>
          </p:cNvSpPr>
          <p:nvPr/>
        </p:nvSpPr>
        <p:spPr bwMode="auto">
          <a:xfrm rot="-5400000">
            <a:off x="1676400" y="1752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0" name="Oval 32"/>
          <p:cNvSpPr>
            <a:spLocks noChangeArrowheads="1"/>
          </p:cNvSpPr>
          <p:nvPr/>
        </p:nvSpPr>
        <p:spPr bwMode="auto">
          <a:xfrm rot="-5400000">
            <a:off x="8382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1" name="Oval 33"/>
          <p:cNvSpPr>
            <a:spLocks noChangeArrowheads="1"/>
          </p:cNvSpPr>
          <p:nvPr/>
        </p:nvSpPr>
        <p:spPr bwMode="auto">
          <a:xfrm rot="-5400000">
            <a:off x="1903413" y="20558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2" name="Freeform 34" descr="5%"/>
          <p:cNvSpPr>
            <a:spLocks/>
          </p:cNvSpPr>
          <p:nvPr/>
        </p:nvSpPr>
        <p:spPr bwMode="auto">
          <a:xfrm rot="5400000" flipV="1">
            <a:off x="3352800" y="1447800"/>
            <a:ext cx="1828800" cy="1676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43" name="Oval 35"/>
          <p:cNvSpPr>
            <a:spLocks noChangeArrowheads="1"/>
          </p:cNvSpPr>
          <p:nvPr/>
        </p:nvSpPr>
        <p:spPr bwMode="auto">
          <a:xfrm rot="5400000" flipV="1">
            <a:off x="48768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4" name="Oval 36"/>
          <p:cNvSpPr>
            <a:spLocks noChangeArrowheads="1"/>
          </p:cNvSpPr>
          <p:nvPr/>
        </p:nvSpPr>
        <p:spPr bwMode="auto">
          <a:xfrm rot="5400000" flipV="1">
            <a:off x="3516313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5" name="Oval 37"/>
          <p:cNvSpPr>
            <a:spLocks noChangeArrowheads="1"/>
          </p:cNvSpPr>
          <p:nvPr/>
        </p:nvSpPr>
        <p:spPr bwMode="auto">
          <a:xfrm rot="5400000" flipV="1">
            <a:off x="4038600" y="2514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6" name="Oval 38"/>
          <p:cNvSpPr>
            <a:spLocks noChangeArrowheads="1"/>
          </p:cNvSpPr>
          <p:nvPr/>
        </p:nvSpPr>
        <p:spPr bwMode="auto">
          <a:xfrm rot="5400000" flipV="1">
            <a:off x="4038600" y="1524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7" name="Line 39"/>
          <p:cNvSpPr>
            <a:spLocks noChangeShapeType="1"/>
          </p:cNvSpPr>
          <p:nvPr/>
        </p:nvSpPr>
        <p:spPr bwMode="auto">
          <a:xfrm>
            <a:off x="1828800" y="25146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48" name="Line 40"/>
          <p:cNvSpPr>
            <a:spLocks noChangeShapeType="1"/>
          </p:cNvSpPr>
          <p:nvPr/>
        </p:nvSpPr>
        <p:spPr bwMode="auto">
          <a:xfrm flipV="1">
            <a:off x="1828800" y="19812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49" name="Line 41"/>
          <p:cNvSpPr>
            <a:spLocks noChangeShapeType="1"/>
          </p:cNvSpPr>
          <p:nvPr/>
        </p:nvSpPr>
        <p:spPr bwMode="auto">
          <a:xfrm flipV="1">
            <a:off x="1828800" y="16002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0" name="Line 42"/>
          <p:cNvSpPr>
            <a:spLocks noChangeShapeType="1"/>
          </p:cNvSpPr>
          <p:nvPr/>
        </p:nvSpPr>
        <p:spPr bwMode="auto">
          <a:xfrm flipV="1">
            <a:off x="1828800" y="19812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1" name="Line 43"/>
          <p:cNvSpPr>
            <a:spLocks noChangeShapeType="1"/>
          </p:cNvSpPr>
          <p:nvPr/>
        </p:nvSpPr>
        <p:spPr bwMode="auto">
          <a:xfrm>
            <a:off x="1981200" y="21336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2" name="Line 44"/>
          <p:cNvSpPr>
            <a:spLocks noChangeShapeType="1"/>
          </p:cNvSpPr>
          <p:nvPr/>
        </p:nvSpPr>
        <p:spPr bwMode="auto">
          <a:xfrm flipV="1">
            <a:off x="1981200" y="19812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3" name="Line 45"/>
          <p:cNvSpPr>
            <a:spLocks noChangeShapeType="1"/>
          </p:cNvSpPr>
          <p:nvPr/>
        </p:nvSpPr>
        <p:spPr bwMode="auto">
          <a:xfrm flipV="1">
            <a:off x="1981200" y="16002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4" name="Line 46"/>
          <p:cNvSpPr>
            <a:spLocks noChangeShapeType="1"/>
          </p:cNvSpPr>
          <p:nvPr/>
        </p:nvSpPr>
        <p:spPr bwMode="auto">
          <a:xfrm flipV="1">
            <a:off x="1981200" y="19812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5" name="Line 47"/>
          <p:cNvSpPr>
            <a:spLocks noChangeShapeType="1"/>
          </p:cNvSpPr>
          <p:nvPr/>
        </p:nvSpPr>
        <p:spPr bwMode="auto">
          <a:xfrm>
            <a:off x="914400" y="22098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6" name="Line 48"/>
          <p:cNvSpPr>
            <a:spLocks noChangeShapeType="1"/>
          </p:cNvSpPr>
          <p:nvPr/>
        </p:nvSpPr>
        <p:spPr bwMode="auto">
          <a:xfrm flipV="1">
            <a:off x="914400" y="19812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7" name="Line 49"/>
          <p:cNvSpPr>
            <a:spLocks noChangeShapeType="1"/>
          </p:cNvSpPr>
          <p:nvPr/>
        </p:nvSpPr>
        <p:spPr bwMode="auto">
          <a:xfrm flipV="1">
            <a:off x="914400" y="16002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8" name="Line 50"/>
          <p:cNvSpPr>
            <a:spLocks noChangeShapeType="1"/>
          </p:cNvSpPr>
          <p:nvPr/>
        </p:nvSpPr>
        <p:spPr bwMode="auto">
          <a:xfrm flipV="1">
            <a:off x="914400" y="19812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9" name="Line 51"/>
          <p:cNvSpPr>
            <a:spLocks noChangeShapeType="1"/>
          </p:cNvSpPr>
          <p:nvPr/>
        </p:nvSpPr>
        <p:spPr bwMode="auto">
          <a:xfrm>
            <a:off x="1752600" y="17526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60" name="Line 52"/>
          <p:cNvSpPr>
            <a:spLocks noChangeShapeType="1"/>
          </p:cNvSpPr>
          <p:nvPr/>
        </p:nvSpPr>
        <p:spPr bwMode="auto">
          <a:xfrm>
            <a:off x="1752600" y="17526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61" name="Line 53"/>
          <p:cNvSpPr>
            <a:spLocks noChangeShapeType="1"/>
          </p:cNvSpPr>
          <p:nvPr/>
        </p:nvSpPr>
        <p:spPr bwMode="auto">
          <a:xfrm flipV="1">
            <a:off x="1752600" y="16002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62" name="Line 54"/>
          <p:cNvSpPr>
            <a:spLocks noChangeShapeType="1"/>
          </p:cNvSpPr>
          <p:nvPr/>
        </p:nvSpPr>
        <p:spPr bwMode="auto">
          <a:xfrm>
            <a:off x="1752600" y="17526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63" name="Text Box 55"/>
          <p:cNvSpPr txBox="1">
            <a:spLocks noChangeArrowheads="1"/>
          </p:cNvSpPr>
          <p:nvPr/>
        </p:nvSpPr>
        <p:spPr bwMode="auto">
          <a:xfrm>
            <a:off x="5943600" y="46482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  <p:sp>
        <p:nvSpPr>
          <p:cNvPr id="1630264" name="Rectangle 56"/>
          <p:cNvSpPr>
            <a:spLocks noChangeArrowheads="1"/>
          </p:cNvSpPr>
          <p:nvPr/>
        </p:nvSpPr>
        <p:spPr bwMode="auto">
          <a:xfrm>
            <a:off x="381000" y="3505200"/>
            <a:ext cx="57912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MIN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MAX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>
                <a:solidFill>
                  <a:srgbClr val="FF0000"/>
                </a:solidFill>
              </a:rPr>
              <a:t>Group Average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Distance Between Centroids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Other methods driven by an objective function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000" b="0"/>
              <a:t>Ward’s Method uses squared error</a:t>
            </a:r>
            <a:endParaRPr lang="en-US" sz="2400" b="0"/>
          </a:p>
        </p:txBody>
      </p:sp>
    </p:spTree>
    <p:extLst>
      <p:ext uri="{BB962C8B-B14F-4D97-AF65-F5344CB8AC3E}">
        <p14:creationId xmlns:p14="http://schemas.microsoft.com/office/powerpoint/2010/main" val="4448662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234" name="Line 2"/>
          <p:cNvSpPr>
            <a:spLocks noChangeShapeType="1"/>
          </p:cNvSpPr>
          <p:nvPr/>
        </p:nvSpPr>
        <p:spPr bwMode="auto">
          <a:xfrm flipV="1">
            <a:off x="1371600" y="2514600"/>
            <a:ext cx="289560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1235" name="Freeform 3" descr="5%"/>
          <p:cNvSpPr>
            <a:spLocks/>
          </p:cNvSpPr>
          <p:nvPr/>
        </p:nvSpPr>
        <p:spPr bwMode="auto">
          <a:xfrm rot="-5400000">
            <a:off x="462757" y="1823243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1236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80400" cy="1219200"/>
          </a:xfrm>
        </p:spPr>
        <p:txBody>
          <a:bodyPr>
            <a:noAutofit/>
          </a:bodyPr>
          <a:lstStyle/>
          <a:p>
            <a:r>
              <a:rPr lang="en-US" dirty="0"/>
              <a:t>How to Define Inter-Cluster Similarity</a:t>
            </a:r>
          </a:p>
        </p:txBody>
      </p:sp>
      <p:sp>
        <p:nvSpPr>
          <p:cNvPr id="16312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39763" y="28781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1000"/>
              <a:t> </a:t>
            </a:r>
          </a:p>
        </p:txBody>
      </p:sp>
      <p:grpSp>
        <p:nvGrpSpPr>
          <p:cNvPr id="1631238" name="Group 6"/>
          <p:cNvGrpSpPr>
            <a:grpSpLocks/>
          </p:cNvGrpSpPr>
          <p:nvPr/>
        </p:nvGrpSpPr>
        <p:grpSpPr bwMode="auto">
          <a:xfrm>
            <a:off x="5486400" y="1600200"/>
            <a:ext cx="3429000" cy="3508375"/>
            <a:chOff x="3456" y="1440"/>
            <a:chExt cx="2160" cy="2210"/>
          </a:xfrm>
        </p:grpSpPr>
        <p:sp>
          <p:nvSpPr>
            <p:cNvPr id="1631239" name="Line 7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0" name="Line 8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1" name="Line 9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2" name="Line 10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3" name="Line 11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4" name="Line 12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5" name="Line 13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6" name="Line 14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7" name="Line 15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8" name="Line 16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9" name="Line 17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50" name="Line 18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51" name="Text Box 19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31252" name="Text Box 20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31253" name="Text Box 21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31254" name="Text Box 22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31255" name="Text Box 23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31256" name="Text Box 24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31257" name="Text Box 2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31258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31259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31260" name="Text Box 28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31261" name="Text Box 29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 . .</a:t>
              </a:r>
            </a:p>
          </p:txBody>
        </p:sp>
        <p:sp>
          <p:nvSpPr>
            <p:cNvPr id="1631262" name="Text Box 30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</p:txBody>
        </p:sp>
      </p:grpSp>
      <p:sp>
        <p:nvSpPr>
          <p:cNvPr id="1631263" name="Oval 31"/>
          <p:cNvSpPr>
            <a:spLocks noChangeArrowheads="1"/>
          </p:cNvSpPr>
          <p:nvPr/>
        </p:nvSpPr>
        <p:spPr bwMode="auto">
          <a:xfrm rot="-5400000">
            <a:off x="1752600" y="2743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64" name="Oval 32"/>
          <p:cNvSpPr>
            <a:spLocks noChangeArrowheads="1"/>
          </p:cNvSpPr>
          <p:nvPr/>
        </p:nvSpPr>
        <p:spPr bwMode="auto">
          <a:xfrm rot="-5400000">
            <a:off x="1676400" y="1981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65" name="Oval 33"/>
          <p:cNvSpPr>
            <a:spLocks noChangeArrowheads="1"/>
          </p:cNvSpPr>
          <p:nvPr/>
        </p:nvSpPr>
        <p:spPr bwMode="auto">
          <a:xfrm rot="-5400000">
            <a:off x="838200" y="2438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66" name="Oval 34"/>
          <p:cNvSpPr>
            <a:spLocks noChangeArrowheads="1"/>
          </p:cNvSpPr>
          <p:nvPr/>
        </p:nvSpPr>
        <p:spPr bwMode="auto">
          <a:xfrm rot="-5400000">
            <a:off x="1903413" y="22844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67" name="Freeform 35" descr="5%"/>
          <p:cNvSpPr>
            <a:spLocks/>
          </p:cNvSpPr>
          <p:nvPr/>
        </p:nvSpPr>
        <p:spPr bwMode="auto">
          <a:xfrm rot="5400000" flipV="1">
            <a:off x="3352800" y="1676400"/>
            <a:ext cx="1828800" cy="1676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1268" name="Oval 36"/>
          <p:cNvSpPr>
            <a:spLocks noChangeArrowheads="1"/>
          </p:cNvSpPr>
          <p:nvPr/>
        </p:nvSpPr>
        <p:spPr bwMode="auto">
          <a:xfrm rot="5400000" flipV="1">
            <a:off x="4876800" y="2133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69" name="Oval 37"/>
          <p:cNvSpPr>
            <a:spLocks noChangeArrowheads="1"/>
          </p:cNvSpPr>
          <p:nvPr/>
        </p:nvSpPr>
        <p:spPr bwMode="auto">
          <a:xfrm rot="5400000" flipV="1">
            <a:off x="3516313" y="2132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70" name="Oval 38"/>
          <p:cNvSpPr>
            <a:spLocks noChangeArrowheads="1"/>
          </p:cNvSpPr>
          <p:nvPr/>
        </p:nvSpPr>
        <p:spPr bwMode="auto">
          <a:xfrm rot="5400000" flipV="1">
            <a:off x="4038600" y="2743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71" name="Oval 39"/>
          <p:cNvSpPr>
            <a:spLocks noChangeArrowheads="1"/>
          </p:cNvSpPr>
          <p:nvPr/>
        </p:nvSpPr>
        <p:spPr bwMode="auto">
          <a:xfrm rot="5400000" flipV="1">
            <a:off x="4038600" y="1752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72" name="Text Box 40"/>
          <p:cNvSpPr txBox="1">
            <a:spLocks noChangeArrowheads="1"/>
          </p:cNvSpPr>
          <p:nvPr/>
        </p:nvSpPr>
        <p:spPr bwMode="auto">
          <a:xfrm>
            <a:off x="5943600" y="48768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  <p:sp>
        <p:nvSpPr>
          <p:cNvPr id="1631273" name="Rectangle 41"/>
          <p:cNvSpPr>
            <a:spLocks noChangeArrowheads="1"/>
          </p:cNvSpPr>
          <p:nvPr/>
        </p:nvSpPr>
        <p:spPr bwMode="auto">
          <a:xfrm>
            <a:off x="381000" y="3733800"/>
            <a:ext cx="57912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MIN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MAX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Group Average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>
                <a:solidFill>
                  <a:srgbClr val="FF0000"/>
                </a:solidFill>
              </a:rPr>
              <a:t>Distance Between Centroids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Other methods driven by an objective function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000" b="0"/>
              <a:t>Ward’s Method uses squared error</a:t>
            </a:r>
            <a:endParaRPr lang="en-US" sz="2400" b="0"/>
          </a:p>
        </p:txBody>
      </p:sp>
      <p:sp>
        <p:nvSpPr>
          <p:cNvPr id="1631274" name="Text Box 42"/>
          <p:cNvSpPr txBox="1">
            <a:spLocks noChangeArrowheads="1"/>
          </p:cNvSpPr>
          <p:nvPr/>
        </p:nvSpPr>
        <p:spPr bwMode="auto">
          <a:xfrm>
            <a:off x="1219200" y="23622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1631275" name="Text Box 43"/>
          <p:cNvSpPr txBox="1">
            <a:spLocks noChangeArrowheads="1"/>
          </p:cNvSpPr>
          <p:nvPr/>
        </p:nvSpPr>
        <p:spPr bwMode="auto">
          <a:xfrm>
            <a:off x="4114800" y="23622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</p:spTree>
    <p:extLst>
      <p:ext uri="{BB962C8B-B14F-4D97-AF65-F5344CB8AC3E}">
        <p14:creationId xmlns:p14="http://schemas.microsoft.com/office/powerpoint/2010/main" val="17236071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Link – Complete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way to view the processing of the hierarchical algorithm is that we create links between their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elements</a:t>
            </a:r>
            <a:r>
              <a:rPr lang="en-US" dirty="0"/>
              <a:t> in order of </a:t>
            </a:r>
            <a:r>
              <a:rPr lang="en-US" dirty="0">
                <a:solidFill>
                  <a:srgbClr val="0070C0"/>
                </a:solidFill>
              </a:rPr>
              <a:t>increasing distance</a:t>
            </a:r>
          </a:p>
          <a:p>
            <a:pPr lvl="1"/>
            <a:r>
              <a:rPr lang="en-US" dirty="0"/>
              <a:t>The MIN – Single Link, will merge two clusters when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single pair </a:t>
            </a:r>
            <a:r>
              <a:rPr lang="en-US" dirty="0"/>
              <a:t>of elements is linked</a:t>
            </a:r>
          </a:p>
          <a:p>
            <a:pPr lvl="1"/>
            <a:r>
              <a:rPr lang="en-US" dirty="0"/>
              <a:t>The MAX – Complete Linkage will merge two clusters when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all pairs </a:t>
            </a:r>
            <a:r>
              <a:rPr lang="en-US" dirty="0"/>
              <a:t>of elements have been linked.</a:t>
            </a:r>
          </a:p>
        </p:txBody>
      </p:sp>
    </p:spTree>
    <p:extLst>
      <p:ext uri="{BB962C8B-B14F-4D97-AF65-F5344CB8AC3E}">
        <p14:creationId xmlns:p14="http://schemas.microsoft.com/office/powerpoint/2010/main" val="19156230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1295400"/>
          </a:xfrm>
        </p:spPr>
        <p:txBody>
          <a:bodyPr>
            <a:normAutofit/>
          </a:bodyPr>
          <a:lstStyle/>
          <a:p>
            <a:r>
              <a:rPr lang="en-US"/>
              <a:t>Hierarchical Clustering: MIN</a:t>
            </a:r>
          </a:p>
        </p:txBody>
      </p:sp>
      <p:sp>
        <p:nvSpPr>
          <p:cNvPr id="1633283" name="Text Box 3"/>
          <p:cNvSpPr txBox="1">
            <a:spLocks noChangeArrowheads="1"/>
          </p:cNvSpPr>
          <p:nvPr/>
        </p:nvSpPr>
        <p:spPr bwMode="auto">
          <a:xfrm>
            <a:off x="914400" y="6034087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Nested Clusters</a:t>
            </a:r>
          </a:p>
        </p:txBody>
      </p:sp>
      <p:sp>
        <p:nvSpPr>
          <p:cNvPr id="1633284" name="Text Box 4"/>
          <p:cNvSpPr txBox="1">
            <a:spLocks noChangeArrowheads="1"/>
          </p:cNvSpPr>
          <p:nvPr/>
        </p:nvSpPr>
        <p:spPr bwMode="auto">
          <a:xfrm>
            <a:off x="3486151" y="6034087"/>
            <a:ext cx="228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/>
              <a:t>Dendrogram</a:t>
            </a:r>
            <a:endParaRPr lang="en-US" sz="1800" dirty="0"/>
          </a:p>
        </p:txBody>
      </p:sp>
      <p:grpSp>
        <p:nvGrpSpPr>
          <p:cNvPr id="1633285" name="Group 5"/>
          <p:cNvGrpSpPr>
            <a:grpSpLocks/>
          </p:cNvGrpSpPr>
          <p:nvPr/>
        </p:nvGrpSpPr>
        <p:grpSpPr bwMode="auto">
          <a:xfrm>
            <a:off x="747713" y="2092325"/>
            <a:ext cx="3175000" cy="2790825"/>
            <a:chOff x="471" y="1117"/>
            <a:chExt cx="2000" cy="1758"/>
          </a:xfrm>
        </p:grpSpPr>
        <p:sp>
          <p:nvSpPr>
            <p:cNvPr id="1633286" name="Freeform 6"/>
            <p:cNvSpPr>
              <a:spLocks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3287" name="Freeform 7"/>
            <p:cNvSpPr>
              <a:spLocks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3288" name="Freeform 8"/>
            <p:cNvSpPr>
              <a:spLocks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3289" name="Freeform 9"/>
            <p:cNvSpPr>
              <a:spLocks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3290" name="Freeform 10"/>
            <p:cNvSpPr>
              <a:spLocks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3291" name="Freeform 11"/>
            <p:cNvSpPr>
              <a:spLocks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3292" name="Rectangle 12"/>
            <p:cNvSpPr>
              <a:spLocks noChangeArrowheads="1"/>
            </p:cNvSpPr>
            <p:nvPr/>
          </p:nvSpPr>
          <p:spPr bwMode="auto">
            <a:xfrm>
              <a:off x="2032" y="1117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/>
            </a:p>
          </p:txBody>
        </p:sp>
        <p:sp>
          <p:nvSpPr>
            <p:cNvPr id="1633293" name="Rectangle 13"/>
            <p:cNvSpPr>
              <a:spLocks noChangeArrowheads="1"/>
            </p:cNvSpPr>
            <p:nvPr/>
          </p:nvSpPr>
          <p:spPr bwMode="auto">
            <a:xfrm>
              <a:off x="1256" y="1764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/>
            </a:p>
          </p:txBody>
        </p:sp>
        <p:sp>
          <p:nvSpPr>
            <p:cNvPr id="1633294" name="Rectangle 14"/>
            <p:cNvSpPr>
              <a:spLocks noChangeArrowheads="1"/>
            </p:cNvSpPr>
            <p:nvPr/>
          </p:nvSpPr>
          <p:spPr bwMode="auto">
            <a:xfrm>
              <a:off x="1810" y="2069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/>
            </a:p>
          </p:txBody>
        </p:sp>
        <p:sp>
          <p:nvSpPr>
            <p:cNvPr id="1633295" name="Rectangle 15"/>
            <p:cNvSpPr>
              <a:spLocks noChangeArrowheads="1"/>
            </p:cNvSpPr>
            <p:nvPr/>
          </p:nvSpPr>
          <p:spPr bwMode="auto">
            <a:xfrm>
              <a:off x="1422" y="263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/>
            </a:p>
          </p:txBody>
        </p:sp>
        <p:sp>
          <p:nvSpPr>
            <p:cNvPr id="1633296" name="Rectangle 16"/>
            <p:cNvSpPr>
              <a:spLocks noChangeArrowheads="1"/>
            </p:cNvSpPr>
            <p:nvPr/>
          </p:nvSpPr>
          <p:spPr bwMode="auto">
            <a:xfrm>
              <a:off x="648" y="1626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/>
            </a:p>
          </p:txBody>
        </p:sp>
        <p:sp>
          <p:nvSpPr>
            <p:cNvPr id="1633297" name="Rectangle 17"/>
            <p:cNvSpPr>
              <a:spLocks noChangeArrowheads="1"/>
            </p:cNvSpPr>
            <p:nvPr/>
          </p:nvSpPr>
          <p:spPr bwMode="auto">
            <a:xfrm>
              <a:off x="2307" y="212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/>
            </a:p>
          </p:txBody>
        </p:sp>
      </p:grpSp>
      <p:grpSp>
        <p:nvGrpSpPr>
          <p:cNvPr id="1633298" name="Group 18"/>
          <p:cNvGrpSpPr>
            <a:grpSpLocks/>
          </p:cNvGrpSpPr>
          <p:nvPr/>
        </p:nvGrpSpPr>
        <p:grpSpPr bwMode="auto">
          <a:xfrm>
            <a:off x="2495550" y="3182937"/>
            <a:ext cx="1423988" cy="914400"/>
            <a:chOff x="1572" y="1804"/>
            <a:chExt cx="897" cy="576"/>
          </a:xfrm>
        </p:grpSpPr>
        <p:sp>
          <p:nvSpPr>
            <p:cNvPr id="1633299" name="Freeform 19"/>
            <p:cNvSpPr>
              <a:spLocks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3300" name="Rectangle 20"/>
            <p:cNvSpPr>
              <a:spLocks noChangeArrowheads="1"/>
            </p:cNvSpPr>
            <p:nvPr/>
          </p:nvSpPr>
          <p:spPr bwMode="auto">
            <a:xfrm>
              <a:off x="1944" y="1804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FF0000"/>
                  </a:solidFill>
                </a:rPr>
                <a:t>1</a:t>
              </a:r>
              <a:endParaRPr lang="en-US"/>
            </a:p>
          </p:txBody>
        </p:sp>
      </p:grpSp>
      <p:grpSp>
        <p:nvGrpSpPr>
          <p:cNvPr id="1633301" name="Group 21"/>
          <p:cNvGrpSpPr>
            <a:grpSpLocks/>
          </p:cNvGrpSpPr>
          <p:nvPr/>
        </p:nvGrpSpPr>
        <p:grpSpPr bwMode="auto">
          <a:xfrm>
            <a:off x="527050" y="2808287"/>
            <a:ext cx="1735138" cy="1158875"/>
            <a:chOff x="332" y="1568"/>
            <a:chExt cx="1093" cy="730"/>
          </a:xfrm>
        </p:grpSpPr>
        <p:sp>
          <p:nvSpPr>
            <p:cNvPr id="1633302" name="Freeform 22"/>
            <p:cNvSpPr>
              <a:spLocks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3303" name="Rectangle 23"/>
            <p:cNvSpPr>
              <a:spLocks noChangeArrowheads="1"/>
            </p:cNvSpPr>
            <p:nvPr/>
          </p:nvSpPr>
          <p:spPr bwMode="auto">
            <a:xfrm>
              <a:off x="949" y="2052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FF0000"/>
                  </a:solidFill>
                </a:rPr>
                <a:t>2</a:t>
              </a:r>
              <a:endParaRPr lang="en-US"/>
            </a:p>
          </p:txBody>
        </p:sp>
      </p:grpSp>
      <p:grpSp>
        <p:nvGrpSpPr>
          <p:cNvPr id="1633304" name="Group 24"/>
          <p:cNvGrpSpPr>
            <a:grpSpLocks/>
          </p:cNvGrpSpPr>
          <p:nvPr/>
        </p:nvGrpSpPr>
        <p:grpSpPr bwMode="auto">
          <a:xfrm>
            <a:off x="444500" y="2390775"/>
            <a:ext cx="3675063" cy="2097087"/>
            <a:chOff x="280" y="1305"/>
            <a:chExt cx="2315" cy="1321"/>
          </a:xfrm>
        </p:grpSpPr>
        <p:sp>
          <p:nvSpPr>
            <p:cNvPr id="1633305" name="Freeform 25"/>
            <p:cNvSpPr>
              <a:spLocks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3306" name="Rectangle 26"/>
            <p:cNvSpPr>
              <a:spLocks noChangeArrowheads="1"/>
            </p:cNvSpPr>
            <p:nvPr/>
          </p:nvSpPr>
          <p:spPr bwMode="auto">
            <a:xfrm>
              <a:off x="1390" y="130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FF0000"/>
                  </a:solidFill>
                </a:rPr>
                <a:t>3</a:t>
              </a:r>
              <a:endParaRPr lang="en-US"/>
            </a:p>
          </p:txBody>
        </p:sp>
      </p:grpSp>
      <p:grpSp>
        <p:nvGrpSpPr>
          <p:cNvPr id="1633307" name="Group 27"/>
          <p:cNvGrpSpPr>
            <a:grpSpLocks/>
          </p:cNvGrpSpPr>
          <p:nvPr/>
        </p:nvGrpSpPr>
        <p:grpSpPr bwMode="auto">
          <a:xfrm>
            <a:off x="382588" y="2270125"/>
            <a:ext cx="3795712" cy="2924175"/>
            <a:chOff x="241" y="1229"/>
            <a:chExt cx="2391" cy="1842"/>
          </a:xfrm>
        </p:grpSpPr>
        <p:sp>
          <p:nvSpPr>
            <p:cNvPr id="1633308" name="Freeform 28"/>
            <p:cNvSpPr>
              <a:spLocks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3309" name="Rectangle 29"/>
            <p:cNvSpPr>
              <a:spLocks noChangeArrowheads="1"/>
            </p:cNvSpPr>
            <p:nvPr/>
          </p:nvSpPr>
          <p:spPr bwMode="auto">
            <a:xfrm>
              <a:off x="1239" y="282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FF0000"/>
                  </a:solidFill>
                </a:rPr>
                <a:t>4</a:t>
              </a:r>
              <a:endParaRPr lang="en-US"/>
            </a:p>
          </p:txBody>
        </p:sp>
      </p:grpSp>
      <p:grpSp>
        <p:nvGrpSpPr>
          <p:cNvPr id="1633310" name="Group 30"/>
          <p:cNvGrpSpPr>
            <a:grpSpLocks/>
          </p:cNvGrpSpPr>
          <p:nvPr/>
        </p:nvGrpSpPr>
        <p:grpSpPr bwMode="auto">
          <a:xfrm>
            <a:off x="307975" y="1866900"/>
            <a:ext cx="4003675" cy="3530600"/>
            <a:chOff x="194" y="975"/>
            <a:chExt cx="2522" cy="2224"/>
          </a:xfrm>
        </p:grpSpPr>
        <p:sp>
          <p:nvSpPr>
            <p:cNvPr id="1633311" name="Rectangle 31"/>
            <p:cNvSpPr>
              <a:spLocks noChangeArrowheads="1"/>
            </p:cNvSpPr>
            <p:nvPr/>
          </p:nvSpPr>
          <p:spPr bwMode="auto">
            <a:xfrm>
              <a:off x="2138" y="97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FF0000"/>
                  </a:solidFill>
                </a:rPr>
                <a:t>5</a:t>
              </a:r>
              <a:endParaRPr lang="en-US"/>
            </a:p>
          </p:txBody>
        </p:sp>
        <p:sp>
          <p:nvSpPr>
            <p:cNvPr id="1633312" name="Freeform 32"/>
            <p:cNvSpPr>
              <a:spLocks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633313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967162"/>
            <a:ext cx="43878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410200" y="1371599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19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328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Strength of MIN</a:t>
            </a:r>
          </a:p>
        </p:txBody>
      </p:sp>
      <p:sp>
        <p:nvSpPr>
          <p:cNvPr id="1634307" name="Text Box 3"/>
          <p:cNvSpPr txBox="1">
            <a:spLocks noChangeArrowheads="1"/>
          </p:cNvSpPr>
          <p:nvPr/>
        </p:nvSpPr>
        <p:spPr bwMode="auto">
          <a:xfrm>
            <a:off x="1066800" y="42672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grpSp>
        <p:nvGrpSpPr>
          <p:cNvPr id="1634308" name="Group 4"/>
          <p:cNvGrpSpPr>
            <a:grpSpLocks/>
          </p:cNvGrpSpPr>
          <p:nvPr/>
        </p:nvGrpSpPr>
        <p:grpSpPr bwMode="auto">
          <a:xfrm>
            <a:off x="4876800" y="1981200"/>
            <a:ext cx="4103688" cy="2652713"/>
            <a:chOff x="3072" y="1248"/>
            <a:chExt cx="2585" cy="1671"/>
          </a:xfrm>
        </p:grpSpPr>
        <p:sp>
          <p:nvSpPr>
            <p:cNvPr id="1634309" name="Text Box 5"/>
            <p:cNvSpPr txBox="1">
              <a:spLocks noChangeArrowheads="1"/>
            </p:cNvSpPr>
            <p:nvPr/>
          </p:nvSpPr>
          <p:spPr bwMode="auto">
            <a:xfrm>
              <a:off x="3408" y="2688"/>
              <a:ext cx="14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Two Clusters</a:t>
              </a:r>
            </a:p>
          </p:txBody>
        </p:sp>
        <p:pic>
          <p:nvPicPr>
            <p:cNvPr id="1634310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28" r="7143"/>
            <a:stretch>
              <a:fillRect/>
            </a:stretch>
          </p:blipFill>
          <p:spPr bwMode="auto">
            <a:xfrm>
              <a:off x="3072" y="1248"/>
              <a:ext cx="2585" cy="1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63431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5357"/>
          <a:stretch>
            <a:fillRect/>
          </a:stretch>
        </p:blipFill>
        <p:spPr bwMode="auto">
          <a:xfrm>
            <a:off x="152400" y="1981200"/>
            <a:ext cx="4186238" cy="209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4312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Can handle non-elliptical shapes</a:t>
            </a:r>
          </a:p>
        </p:txBody>
      </p:sp>
    </p:spTree>
    <p:extLst>
      <p:ext uri="{BB962C8B-B14F-4D97-AF65-F5344CB8AC3E}">
        <p14:creationId xmlns:p14="http://schemas.microsoft.com/office/powerpoint/2010/main" val="353207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4312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254000" y="457200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Limitations of MIN</a:t>
            </a:r>
          </a:p>
        </p:txBody>
      </p:sp>
      <p:sp>
        <p:nvSpPr>
          <p:cNvPr id="1635331" name="Text Box 3"/>
          <p:cNvSpPr txBox="1">
            <a:spLocks noChangeArrowheads="1"/>
          </p:cNvSpPr>
          <p:nvPr/>
        </p:nvSpPr>
        <p:spPr bwMode="auto">
          <a:xfrm>
            <a:off x="1066800" y="47244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pic>
        <p:nvPicPr>
          <p:cNvPr id="16353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35333" name="Group 5"/>
          <p:cNvGrpSpPr>
            <a:grpSpLocks/>
          </p:cNvGrpSpPr>
          <p:nvPr/>
        </p:nvGrpSpPr>
        <p:grpSpPr bwMode="auto">
          <a:xfrm>
            <a:off x="4265613" y="1524000"/>
            <a:ext cx="4268787" cy="3567113"/>
            <a:chOff x="2496" y="960"/>
            <a:chExt cx="2689" cy="2247"/>
          </a:xfrm>
        </p:grpSpPr>
        <p:sp>
          <p:nvSpPr>
            <p:cNvPr id="1635334" name="Text Box 6"/>
            <p:cNvSpPr txBox="1">
              <a:spLocks noChangeArrowheads="1"/>
            </p:cNvSpPr>
            <p:nvPr/>
          </p:nvSpPr>
          <p:spPr bwMode="auto">
            <a:xfrm>
              <a:off x="3072" y="2976"/>
              <a:ext cx="18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Two Clusters</a:t>
              </a:r>
            </a:p>
          </p:txBody>
        </p:sp>
        <p:pic>
          <p:nvPicPr>
            <p:cNvPr id="1635335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6" y="960"/>
              <a:ext cx="2689" cy="2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635336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Sensitive to noise and outliers</a:t>
            </a:r>
          </a:p>
        </p:txBody>
      </p:sp>
    </p:spTree>
    <p:extLst>
      <p:ext uri="{BB962C8B-B14F-4D97-AF65-F5344CB8AC3E}">
        <p14:creationId xmlns:p14="http://schemas.microsoft.com/office/powerpoint/2010/main" val="357748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5336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60363" y="490538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Hierarchical Clustering: MAX</a:t>
            </a:r>
          </a:p>
        </p:txBody>
      </p:sp>
      <p:sp>
        <p:nvSpPr>
          <p:cNvPr id="1637379" name="Text Box 3"/>
          <p:cNvSpPr txBox="1">
            <a:spLocks noChangeArrowheads="1"/>
          </p:cNvSpPr>
          <p:nvPr/>
        </p:nvSpPr>
        <p:spPr bwMode="auto">
          <a:xfrm>
            <a:off x="1098550" y="5653088"/>
            <a:ext cx="335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Nested Clusters</a:t>
            </a:r>
          </a:p>
        </p:txBody>
      </p:sp>
      <p:sp>
        <p:nvSpPr>
          <p:cNvPr id="1637380" name="Text Box 4"/>
          <p:cNvSpPr txBox="1">
            <a:spLocks noChangeArrowheads="1"/>
          </p:cNvSpPr>
          <p:nvPr/>
        </p:nvSpPr>
        <p:spPr bwMode="auto">
          <a:xfrm>
            <a:off x="3467326" y="5653088"/>
            <a:ext cx="1797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/>
              <a:t>Dendrogram</a:t>
            </a:r>
            <a:endParaRPr lang="en-US" sz="1800" dirty="0"/>
          </a:p>
        </p:txBody>
      </p:sp>
      <p:pic>
        <p:nvPicPr>
          <p:cNvPr id="163738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89829"/>
            <a:ext cx="43878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37382" name="Group 6"/>
          <p:cNvGrpSpPr>
            <a:grpSpLocks/>
          </p:cNvGrpSpPr>
          <p:nvPr/>
        </p:nvGrpSpPr>
        <p:grpSpPr bwMode="auto">
          <a:xfrm>
            <a:off x="792163" y="2128838"/>
            <a:ext cx="2998787" cy="2687637"/>
            <a:chOff x="383" y="1437"/>
            <a:chExt cx="1889" cy="1693"/>
          </a:xfrm>
        </p:grpSpPr>
        <p:sp>
          <p:nvSpPr>
            <p:cNvPr id="1637383" name="Freeform 7"/>
            <p:cNvSpPr>
              <a:spLocks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7384" name="Freeform 8"/>
            <p:cNvSpPr>
              <a:spLocks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7385" name="Freeform 9"/>
            <p:cNvSpPr>
              <a:spLocks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7386" name="Freeform 10"/>
            <p:cNvSpPr>
              <a:spLocks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7387" name="Freeform 11"/>
            <p:cNvSpPr>
              <a:spLocks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7388" name="Freeform 12"/>
            <p:cNvSpPr>
              <a:spLocks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7389" name="Rectangle 13"/>
            <p:cNvSpPr>
              <a:spLocks noChangeArrowheads="1"/>
            </p:cNvSpPr>
            <p:nvPr/>
          </p:nvSpPr>
          <p:spPr bwMode="auto">
            <a:xfrm>
              <a:off x="1890" y="143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/>
            </a:p>
          </p:txBody>
        </p:sp>
        <p:sp>
          <p:nvSpPr>
            <p:cNvPr id="1637390" name="Rectangle 14"/>
            <p:cNvSpPr>
              <a:spLocks noChangeArrowheads="1"/>
            </p:cNvSpPr>
            <p:nvPr/>
          </p:nvSpPr>
          <p:spPr bwMode="auto">
            <a:xfrm>
              <a:off x="1089" y="206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/>
            </a:p>
          </p:txBody>
        </p:sp>
        <p:sp>
          <p:nvSpPr>
            <p:cNvPr id="1637391" name="Rectangle 15"/>
            <p:cNvSpPr>
              <a:spLocks noChangeArrowheads="1"/>
            </p:cNvSpPr>
            <p:nvPr/>
          </p:nvSpPr>
          <p:spPr bwMode="auto">
            <a:xfrm>
              <a:off x="1699" y="2373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/>
            </a:p>
          </p:txBody>
        </p:sp>
        <p:sp>
          <p:nvSpPr>
            <p:cNvPr id="1637392" name="Rectangle 16"/>
            <p:cNvSpPr>
              <a:spLocks noChangeArrowheads="1"/>
            </p:cNvSpPr>
            <p:nvPr/>
          </p:nvSpPr>
          <p:spPr bwMode="auto">
            <a:xfrm>
              <a:off x="1319" y="29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/>
            </a:p>
          </p:txBody>
        </p:sp>
        <p:sp>
          <p:nvSpPr>
            <p:cNvPr id="1637393" name="Rectangle 17"/>
            <p:cNvSpPr>
              <a:spLocks noChangeArrowheads="1"/>
            </p:cNvSpPr>
            <p:nvPr/>
          </p:nvSpPr>
          <p:spPr bwMode="auto">
            <a:xfrm>
              <a:off x="517" y="1940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/>
            </a:p>
          </p:txBody>
        </p:sp>
        <p:sp>
          <p:nvSpPr>
            <p:cNvPr id="1637394" name="Rectangle 18"/>
            <p:cNvSpPr>
              <a:spLocks noChangeArrowheads="1"/>
            </p:cNvSpPr>
            <p:nvPr/>
          </p:nvSpPr>
          <p:spPr bwMode="auto">
            <a:xfrm>
              <a:off x="2188" y="24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/>
            </a:p>
          </p:txBody>
        </p:sp>
      </p:grpSp>
      <p:grpSp>
        <p:nvGrpSpPr>
          <p:cNvPr id="1637395" name="Group 19"/>
          <p:cNvGrpSpPr>
            <a:grpSpLocks/>
          </p:cNvGrpSpPr>
          <p:nvPr/>
        </p:nvGrpSpPr>
        <p:grpSpPr bwMode="auto">
          <a:xfrm>
            <a:off x="2509838" y="3513138"/>
            <a:ext cx="1401762" cy="890587"/>
            <a:chOff x="1465" y="2309"/>
            <a:chExt cx="883" cy="561"/>
          </a:xfrm>
        </p:grpSpPr>
        <p:sp>
          <p:nvSpPr>
            <p:cNvPr id="1637396" name="Freeform 20"/>
            <p:cNvSpPr>
              <a:spLocks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7397" name="Rectangle 21"/>
            <p:cNvSpPr>
              <a:spLocks noChangeArrowheads="1"/>
            </p:cNvSpPr>
            <p:nvPr/>
          </p:nvSpPr>
          <p:spPr bwMode="auto">
            <a:xfrm>
              <a:off x="1831" y="2668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FF0000"/>
                  </a:solidFill>
                </a:rPr>
                <a:t>1</a:t>
              </a:r>
              <a:endParaRPr lang="en-US"/>
            </a:p>
          </p:txBody>
        </p:sp>
      </p:grpSp>
      <p:grpSp>
        <p:nvGrpSpPr>
          <p:cNvPr id="1637398" name="Group 22"/>
          <p:cNvGrpSpPr>
            <a:grpSpLocks/>
          </p:cNvGrpSpPr>
          <p:nvPr/>
        </p:nvGrpSpPr>
        <p:grpSpPr bwMode="auto">
          <a:xfrm>
            <a:off x="704850" y="2554288"/>
            <a:ext cx="1579563" cy="889000"/>
            <a:chOff x="328" y="1705"/>
            <a:chExt cx="995" cy="560"/>
          </a:xfrm>
        </p:grpSpPr>
        <p:sp>
          <p:nvSpPr>
            <p:cNvPr id="1637399" name="Freeform 23"/>
            <p:cNvSpPr>
              <a:spLocks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7400" name="Rectangle 24"/>
            <p:cNvSpPr>
              <a:spLocks noChangeArrowheads="1"/>
            </p:cNvSpPr>
            <p:nvPr/>
          </p:nvSpPr>
          <p:spPr bwMode="auto">
            <a:xfrm>
              <a:off x="853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FF0000"/>
                  </a:solidFill>
                </a:rPr>
                <a:t>2</a:t>
              </a:r>
              <a:endParaRPr lang="en-US"/>
            </a:p>
          </p:txBody>
        </p:sp>
      </p:grpSp>
      <p:grpSp>
        <p:nvGrpSpPr>
          <p:cNvPr id="1637401" name="Group 25"/>
          <p:cNvGrpSpPr>
            <a:grpSpLocks/>
          </p:cNvGrpSpPr>
          <p:nvPr/>
        </p:nvGrpSpPr>
        <p:grpSpPr bwMode="auto">
          <a:xfrm>
            <a:off x="360363" y="1887538"/>
            <a:ext cx="3935412" cy="3487737"/>
            <a:chOff x="111" y="1285"/>
            <a:chExt cx="2479" cy="2197"/>
          </a:xfrm>
        </p:grpSpPr>
        <p:sp>
          <p:nvSpPr>
            <p:cNvPr id="1637402" name="Rectangle 26"/>
            <p:cNvSpPr>
              <a:spLocks noChangeArrowheads="1"/>
            </p:cNvSpPr>
            <p:nvPr/>
          </p:nvSpPr>
          <p:spPr bwMode="auto">
            <a:xfrm>
              <a:off x="2484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FF0000"/>
                  </a:solidFill>
                </a:rPr>
                <a:t>5</a:t>
              </a:r>
              <a:endParaRPr lang="en-US"/>
            </a:p>
          </p:txBody>
        </p:sp>
        <p:sp>
          <p:nvSpPr>
            <p:cNvPr id="1637403" name="Freeform 27"/>
            <p:cNvSpPr>
              <a:spLocks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7404" name="Group 28"/>
          <p:cNvGrpSpPr>
            <a:grpSpLocks/>
          </p:cNvGrpSpPr>
          <p:nvPr/>
        </p:nvGrpSpPr>
        <p:grpSpPr bwMode="auto">
          <a:xfrm>
            <a:off x="1882775" y="3287713"/>
            <a:ext cx="2160588" cy="1652587"/>
            <a:chOff x="1070" y="2167"/>
            <a:chExt cx="1361" cy="1041"/>
          </a:xfrm>
        </p:grpSpPr>
        <p:sp>
          <p:nvSpPr>
            <p:cNvPr id="1637405" name="Rectangle 29"/>
            <p:cNvSpPr>
              <a:spLocks noChangeArrowheads="1"/>
            </p:cNvSpPr>
            <p:nvPr/>
          </p:nvSpPr>
          <p:spPr bwMode="auto">
            <a:xfrm>
              <a:off x="1070" y="256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FF0000"/>
                  </a:solidFill>
                </a:rPr>
                <a:t>3</a:t>
              </a:r>
              <a:endParaRPr lang="en-US"/>
            </a:p>
          </p:txBody>
        </p:sp>
        <p:sp>
          <p:nvSpPr>
            <p:cNvPr id="1637406" name="Freeform 30"/>
            <p:cNvSpPr>
              <a:spLocks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7407" name="Group 31"/>
          <p:cNvGrpSpPr>
            <a:grpSpLocks/>
          </p:cNvGrpSpPr>
          <p:nvPr/>
        </p:nvGrpSpPr>
        <p:grpSpPr bwMode="auto">
          <a:xfrm>
            <a:off x="615950" y="2025650"/>
            <a:ext cx="2906713" cy="1520825"/>
            <a:chOff x="272" y="1372"/>
            <a:chExt cx="1831" cy="958"/>
          </a:xfrm>
        </p:grpSpPr>
        <p:sp>
          <p:nvSpPr>
            <p:cNvPr id="1637408" name="Rectangle 32"/>
            <p:cNvSpPr>
              <a:spLocks noChangeArrowheads="1"/>
            </p:cNvSpPr>
            <p:nvPr/>
          </p:nvSpPr>
          <p:spPr bwMode="auto">
            <a:xfrm>
              <a:off x="1165" y="138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FF0000"/>
                  </a:solidFill>
                </a:rPr>
                <a:t>4</a:t>
              </a:r>
              <a:endParaRPr lang="en-US"/>
            </a:p>
          </p:txBody>
        </p:sp>
        <p:sp>
          <p:nvSpPr>
            <p:cNvPr id="1637409" name="Freeform 33"/>
            <p:cNvSpPr>
              <a:spLocks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460999" y="1505109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738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381000"/>
            <a:ext cx="8280400" cy="1295400"/>
          </a:xfrm>
        </p:spPr>
        <p:txBody>
          <a:bodyPr>
            <a:normAutofit/>
          </a:bodyPr>
          <a:lstStyle/>
          <a:p>
            <a:r>
              <a:rPr lang="en-US" dirty="0"/>
              <a:t>Strength of MAX</a:t>
            </a:r>
          </a:p>
        </p:txBody>
      </p:sp>
      <p:sp>
        <p:nvSpPr>
          <p:cNvPr id="1638403" name="Text Box 3"/>
          <p:cNvSpPr txBox="1">
            <a:spLocks noChangeArrowheads="1"/>
          </p:cNvSpPr>
          <p:nvPr/>
        </p:nvSpPr>
        <p:spPr bwMode="auto">
          <a:xfrm>
            <a:off x="1370013" y="4357688"/>
            <a:ext cx="2895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pic>
        <p:nvPicPr>
          <p:cNvPr id="16384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05"/>
          <a:stretch>
            <a:fillRect/>
          </a:stretch>
        </p:blipFill>
        <p:spPr bwMode="auto">
          <a:xfrm>
            <a:off x="303213" y="1295400"/>
            <a:ext cx="4268787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38405" name="Group 5"/>
          <p:cNvGrpSpPr>
            <a:grpSpLocks/>
          </p:cNvGrpSpPr>
          <p:nvPr/>
        </p:nvGrpSpPr>
        <p:grpSpPr bwMode="auto">
          <a:xfrm>
            <a:off x="4341813" y="1219200"/>
            <a:ext cx="4268787" cy="3505200"/>
            <a:chOff x="2735" y="768"/>
            <a:chExt cx="2689" cy="2208"/>
          </a:xfrm>
        </p:grpSpPr>
        <p:sp>
          <p:nvSpPr>
            <p:cNvPr id="1638406" name="Text Box 6"/>
            <p:cNvSpPr txBox="1">
              <a:spLocks noChangeArrowheads="1"/>
            </p:cNvSpPr>
            <p:nvPr/>
          </p:nvSpPr>
          <p:spPr bwMode="auto">
            <a:xfrm>
              <a:off x="3263" y="2745"/>
              <a:ext cx="18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Two Clusters</a:t>
              </a:r>
            </a:p>
          </p:txBody>
        </p:sp>
        <p:pic>
          <p:nvPicPr>
            <p:cNvPr id="1638407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905"/>
            <a:stretch>
              <a:fillRect/>
            </a:stretch>
          </p:blipFill>
          <p:spPr bwMode="auto">
            <a:xfrm>
              <a:off x="2735" y="768"/>
              <a:ext cx="2689" cy="1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638408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Less susceptible to noise and outliers</a:t>
            </a:r>
          </a:p>
        </p:txBody>
      </p:sp>
    </p:spTree>
    <p:extLst>
      <p:ext uri="{BB962C8B-B14F-4D97-AF65-F5344CB8AC3E}">
        <p14:creationId xmlns:p14="http://schemas.microsoft.com/office/powerpoint/2010/main" val="119844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08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81000"/>
            <a:ext cx="8280400" cy="1219200"/>
          </a:xfrm>
        </p:spPr>
        <p:txBody>
          <a:bodyPr>
            <a:normAutofit/>
          </a:bodyPr>
          <a:lstStyle/>
          <a:p>
            <a:r>
              <a:rPr lang="en-US" dirty="0"/>
              <a:t>Limitations of MAX</a:t>
            </a:r>
          </a:p>
        </p:txBody>
      </p:sp>
      <p:pic>
        <p:nvPicPr>
          <p:cNvPr id="16394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9428" name="Text Box 4"/>
          <p:cNvSpPr txBox="1">
            <a:spLocks noChangeArrowheads="1"/>
          </p:cNvSpPr>
          <p:nvPr/>
        </p:nvSpPr>
        <p:spPr bwMode="auto">
          <a:xfrm>
            <a:off x="1066800" y="4738688"/>
            <a:ext cx="2895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grpSp>
        <p:nvGrpSpPr>
          <p:cNvPr id="1639429" name="Group 5"/>
          <p:cNvGrpSpPr>
            <a:grpSpLocks/>
          </p:cNvGrpSpPr>
          <p:nvPr/>
        </p:nvGrpSpPr>
        <p:grpSpPr bwMode="auto">
          <a:xfrm>
            <a:off x="4418013" y="1371600"/>
            <a:ext cx="4268787" cy="3733800"/>
            <a:chOff x="2783" y="864"/>
            <a:chExt cx="2689" cy="2352"/>
          </a:xfrm>
        </p:grpSpPr>
        <p:pic>
          <p:nvPicPr>
            <p:cNvPr id="1639430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3" y="864"/>
              <a:ext cx="2689" cy="2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39431" name="Text Box 7"/>
            <p:cNvSpPr txBox="1">
              <a:spLocks noChangeArrowheads="1"/>
            </p:cNvSpPr>
            <p:nvPr/>
          </p:nvSpPr>
          <p:spPr bwMode="auto">
            <a:xfrm>
              <a:off x="3263" y="2985"/>
              <a:ext cx="18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Two Clusters</a:t>
              </a:r>
            </a:p>
          </p:txBody>
        </p:sp>
      </p:grpSp>
      <p:sp>
        <p:nvSpPr>
          <p:cNvPr id="1639432" name="Text Box 8"/>
          <p:cNvSpPr txBox="1">
            <a:spLocks noChangeArrowheads="1"/>
          </p:cNvSpPr>
          <p:nvPr/>
        </p:nvSpPr>
        <p:spPr bwMode="auto">
          <a:xfrm>
            <a:off x="609600" y="5486400"/>
            <a:ext cx="63246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Tends to break large clusters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Biased towards globular clusters</a:t>
            </a:r>
          </a:p>
        </p:txBody>
      </p:sp>
    </p:spTree>
    <p:extLst>
      <p:ext uri="{BB962C8B-B14F-4D97-AF65-F5344CB8AC3E}">
        <p14:creationId xmlns:p14="http://schemas.microsoft.com/office/powerpoint/2010/main" val="230953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432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990600"/>
          </a:xfrm>
        </p:spPr>
        <p:txBody>
          <a:bodyPr/>
          <a:lstStyle/>
          <a:p>
            <a:r>
              <a:rPr lang="en-US" dirty="0"/>
              <a:t>Cluster Similarity: Group Average</a:t>
            </a:r>
          </a:p>
        </p:txBody>
      </p:sp>
      <p:sp>
        <p:nvSpPr>
          <p:cNvPr id="1640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85875"/>
            <a:ext cx="8318500" cy="3505200"/>
          </a:xfrm>
        </p:spPr>
        <p:txBody>
          <a:bodyPr/>
          <a:lstStyle/>
          <a:p>
            <a:r>
              <a:rPr lang="en-US" sz="2200" dirty="0"/>
              <a:t>Proximity of two clusters is the average of pairwise proximity between points in the two clusters.</a:t>
            </a:r>
          </a:p>
          <a:p>
            <a:endParaRPr lang="en-US" sz="2200" dirty="0"/>
          </a:p>
          <a:p>
            <a:endParaRPr lang="en-US" sz="2200" dirty="0"/>
          </a:p>
          <a:p>
            <a:pPr lvl="4"/>
            <a:endParaRPr lang="en-US" sz="1800" dirty="0"/>
          </a:p>
          <a:p>
            <a:r>
              <a:rPr lang="en-US" sz="2200" dirty="0"/>
              <a:t>Need to use average connectivity for scalability since total proximity favors large clusters</a:t>
            </a:r>
          </a:p>
          <a:p>
            <a:endParaRPr lang="en-US" sz="2200" dirty="0"/>
          </a:p>
        </p:txBody>
      </p:sp>
      <p:graphicFrame>
        <p:nvGraphicFramePr>
          <p:cNvPr id="1640452" name="Object 4"/>
          <p:cNvGraphicFramePr>
            <a:graphicFrameLocks noChangeAspect="1"/>
          </p:cNvGraphicFramePr>
          <p:nvPr/>
        </p:nvGraphicFramePr>
        <p:xfrm>
          <a:off x="2057400" y="1905000"/>
          <a:ext cx="557530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73240" imgH="698400" progId="Equation.3">
                  <p:embed/>
                </p:oleObj>
              </mc:Choice>
              <mc:Fallback>
                <p:oleObj name="Equation" r:id="rId2" imgW="3873240" imgH="698400" progId="Equation.3">
                  <p:embed/>
                  <p:pic>
                    <p:nvPicPr>
                      <p:cNvPr id="16404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05000"/>
                        <a:ext cx="557530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38200" y="4114800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3087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301625"/>
            <a:ext cx="8661400" cy="1295400"/>
          </a:xfrm>
        </p:spPr>
        <p:txBody>
          <a:bodyPr>
            <a:noAutofit/>
          </a:bodyPr>
          <a:lstStyle/>
          <a:p>
            <a:r>
              <a:rPr lang="en-US" dirty="0"/>
              <a:t>Hierarchical Clustering: Group Average</a:t>
            </a:r>
          </a:p>
        </p:txBody>
      </p:sp>
      <p:sp>
        <p:nvSpPr>
          <p:cNvPr id="1641475" name="Text Box 3"/>
          <p:cNvSpPr txBox="1">
            <a:spLocks noChangeArrowheads="1"/>
          </p:cNvSpPr>
          <p:nvPr/>
        </p:nvSpPr>
        <p:spPr bwMode="auto">
          <a:xfrm>
            <a:off x="914400" y="5805487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Nested Clusters</a:t>
            </a:r>
          </a:p>
        </p:txBody>
      </p:sp>
      <p:sp>
        <p:nvSpPr>
          <p:cNvPr id="1641476" name="Text Box 4"/>
          <p:cNvSpPr txBox="1">
            <a:spLocks noChangeArrowheads="1"/>
          </p:cNvSpPr>
          <p:nvPr/>
        </p:nvSpPr>
        <p:spPr bwMode="auto">
          <a:xfrm>
            <a:off x="3267076" y="5805486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/>
              <a:t>Dendrogram</a:t>
            </a:r>
            <a:endParaRPr lang="en-US" sz="1800" dirty="0"/>
          </a:p>
        </p:txBody>
      </p:sp>
      <p:pic>
        <p:nvPicPr>
          <p:cNvPr id="16414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037013"/>
            <a:ext cx="43878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41478" name="Group 6"/>
          <p:cNvGrpSpPr>
            <a:grpSpLocks/>
          </p:cNvGrpSpPr>
          <p:nvPr/>
        </p:nvGrpSpPr>
        <p:grpSpPr bwMode="auto">
          <a:xfrm>
            <a:off x="808038" y="2230437"/>
            <a:ext cx="2901950" cy="2544763"/>
            <a:chOff x="509" y="1252"/>
            <a:chExt cx="1828" cy="1603"/>
          </a:xfrm>
        </p:grpSpPr>
        <p:sp>
          <p:nvSpPr>
            <p:cNvPr id="1641479" name="Freeform 7"/>
            <p:cNvSpPr>
              <a:spLocks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80" name="Freeform 8"/>
            <p:cNvSpPr>
              <a:spLocks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81" name="Freeform 9"/>
            <p:cNvSpPr>
              <a:spLocks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82" name="Freeform 10"/>
            <p:cNvSpPr>
              <a:spLocks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83" name="Freeform 11"/>
            <p:cNvSpPr>
              <a:spLocks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84" name="Freeform 12"/>
            <p:cNvSpPr>
              <a:spLocks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85" name="Rectangle 13"/>
            <p:cNvSpPr>
              <a:spLocks noChangeArrowheads="1"/>
            </p:cNvSpPr>
            <p:nvPr/>
          </p:nvSpPr>
          <p:spPr bwMode="auto">
            <a:xfrm>
              <a:off x="1908" y="1252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/>
            </a:p>
          </p:txBody>
        </p:sp>
        <p:sp>
          <p:nvSpPr>
            <p:cNvPr id="1641486" name="Rectangle 14"/>
            <p:cNvSpPr>
              <a:spLocks noChangeArrowheads="1"/>
            </p:cNvSpPr>
            <p:nvPr/>
          </p:nvSpPr>
          <p:spPr bwMode="auto">
            <a:xfrm>
              <a:off x="1163" y="1832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/>
            </a:p>
          </p:txBody>
        </p:sp>
        <p:sp>
          <p:nvSpPr>
            <p:cNvPr id="1641487" name="Rectangle 15"/>
            <p:cNvSpPr>
              <a:spLocks noChangeArrowheads="1"/>
            </p:cNvSpPr>
            <p:nvPr/>
          </p:nvSpPr>
          <p:spPr bwMode="auto">
            <a:xfrm>
              <a:off x="1732" y="2121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/>
            </a:p>
          </p:txBody>
        </p:sp>
        <p:sp>
          <p:nvSpPr>
            <p:cNvPr id="1641488" name="Rectangle 16"/>
            <p:cNvSpPr>
              <a:spLocks noChangeArrowheads="1"/>
            </p:cNvSpPr>
            <p:nvPr/>
          </p:nvSpPr>
          <p:spPr bwMode="auto">
            <a:xfrm>
              <a:off x="1379" y="2638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/>
            </a:p>
          </p:txBody>
        </p:sp>
        <p:sp>
          <p:nvSpPr>
            <p:cNvPr id="1641489" name="Rectangle 17"/>
            <p:cNvSpPr>
              <a:spLocks noChangeArrowheads="1"/>
            </p:cNvSpPr>
            <p:nvPr/>
          </p:nvSpPr>
          <p:spPr bwMode="auto">
            <a:xfrm>
              <a:off x="631" y="1719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/>
            </a:p>
          </p:txBody>
        </p:sp>
        <p:sp>
          <p:nvSpPr>
            <p:cNvPr id="1641490" name="Rectangle 18"/>
            <p:cNvSpPr>
              <a:spLocks noChangeArrowheads="1"/>
            </p:cNvSpPr>
            <p:nvPr/>
          </p:nvSpPr>
          <p:spPr bwMode="auto">
            <a:xfrm>
              <a:off x="2187" y="2173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/>
            </a:p>
          </p:txBody>
        </p:sp>
      </p:grpSp>
      <p:grpSp>
        <p:nvGrpSpPr>
          <p:cNvPr id="1641491" name="Group 19"/>
          <p:cNvGrpSpPr>
            <a:grpSpLocks/>
          </p:cNvGrpSpPr>
          <p:nvPr/>
        </p:nvGrpSpPr>
        <p:grpSpPr bwMode="auto">
          <a:xfrm>
            <a:off x="2405063" y="3516312"/>
            <a:ext cx="1301750" cy="889000"/>
            <a:chOff x="1515" y="2062"/>
            <a:chExt cx="820" cy="560"/>
          </a:xfrm>
        </p:grpSpPr>
        <p:sp>
          <p:nvSpPr>
            <p:cNvPr id="1641492" name="Freeform 20"/>
            <p:cNvSpPr>
              <a:spLocks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493" name="Rectangle 21"/>
            <p:cNvSpPr>
              <a:spLocks noChangeArrowheads="1"/>
            </p:cNvSpPr>
            <p:nvPr/>
          </p:nvSpPr>
          <p:spPr bwMode="auto">
            <a:xfrm>
              <a:off x="1855" y="2395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1</a:t>
              </a:r>
              <a:endParaRPr lang="en-US"/>
            </a:p>
          </p:txBody>
        </p:sp>
      </p:grpSp>
      <p:grpSp>
        <p:nvGrpSpPr>
          <p:cNvPr id="1641494" name="Group 22"/>
          <p:cNvGrpSpPr>
            <a:grpSpLocks/>
          </p:cNvGrpSpPr>
          <p:nvPr/>
        </p:nvGrpSpPr>
        <p:grpSpPr bwMode="auto">
          <a:xfrm>
            <a:off x="717550" y="2625725"/>
            <a:ext cx="1323975" cy="985837"/>
            <a:chOff x="452" y="1501"/>
            <a:chExt cx="834" cy="621"/>
          </a:xfrm>
        </p:grpSpPr>
        <p:sp>
          <p:nvSpPr>
            <p:cNvPr id="1641495" name="Freeform 23"/>
            <p:cNvSpPr>
              <a:spLocks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496" name="Rectangle 24"/>
            <p:cNvSpPr>
              <a:spLocks noChangeArrowheads="1"/>
            </p:cNvSpPr>
            <p:nvPr/>
          </p:nvSpPr>
          <p:spPr bwMode="auto">
            <a:xfrm>
              <a:off x="944" y="1501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2</a:t>
              </a:r>
              <a:endParaRPr lang="en-US"/>
            </a:p>
          </p:txBody>
        </p:sp>
      </p:grpSp>
      <p:grpSp>
        <p:nvGrpSpPr>
          <p:cNvPr id="1641497" name="Group 25"/>
          <p:cNvGrpSpPr>
            <a:grpSpLocks/>
          </p:cNvGrpSpPr>
          <p:nvPr/>
        </p:nvGrpSpPr>
        <p:grpSpPr bwMode="auto">
          <a:xfrm>
            <a:off x="403225" y="1865312"/>
            <a:ext cx="3659188" cy="3460750"/>
            <a:chOff x="254" y="1022"/>
            <a:chExt cx="2305" cy="2180"/>
          </a:xfrm>
        </p:grpSpPr>
        <p:sp>
          <p:nvSpPr>
            <p:cNvPr id="1641498" name="Rectangle 26"/>
            <p:cNvSpPr>
              <a:spLocks noChangeArrowheads="1"/>
            </p:cNvSpPr>
            <p:nvPr/>
          </p:nvSpPr>
          <p:spPr bwMode="auto">
            <a:xfrm>
              <a:off x="564" y="1148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5</a:t>
              </a:r>
              <a:endParaRPr lang="en-US"/>
            </a:p>
          </p:txBody>
        </p:sp>
        <p:sp>
          <p:nvSpPr>
            <p:cNvPr id="1641499" name="Freeform 27"/>
            <p:cNvSpPr>
              <a:spLocks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1500" name="Group 28"/>
          <p:cNvGrpSpPr>
            <a:grpSpLocks/>
          </p:cNvGrpSpPr>
          <p:nvPr/>
        </p:nvGrpSpPr>
        <p:grpSpPr bwMode="auto">
          <a:xfrm>
            <a:off x="1931988" y="3344862"/>
            <a:ext cx="1800225" cy="1720850"/>
            <a:chOff x="1217" y="1954"/>
            <a:chExt cx="1134" cy="1084"/>
          </a:xfrm>
        </p:grpSpPr>
        <p:sp>
          <p:nvSpPr>
            <p:cNvPr id="1641501" name="Rectangle 29"/>
            <p:cNvSpPr>
              <a:spLocks noChangeArrowheads="1"/>
            </p:cNvSpPr>
            <p:nvPr/>
          </p:nvSpPr>
          <p:spPr bwMode="auto">
            <a:xfrm>
              <a:off x="1665" y="2811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3</a:t>
              </a:r>
              <a:endParaRPr lang="en-US"/>
            </a:p>
          </p:txBody>
        </p:sp>
        <p:sp>
          <p:nvSpPr>
            <p:cNvPr id="1641502" name="Freeform 30"/>
            <p:cNvSpPr>
              <a:spLocks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1503" name="Group 31"/>
          <p:cNvGrpSpPr>
            <a:grpSpLocks/>
          </p:cNvGrpSpPr>
          <p:nvPr/>
        </p:nvGrpSpPr>
        <p:grpSpPr bwMode="auto">
          <a:xfrm>
            <a:off x="1893888" y="2165350"/>
            <a:ext cx="1933575" cy="3097212"/>
            <a:chOff x="1193" y="1211"/>
            <a:chExt cx="1218" cy="1951"/>
          </a:xfrm>
        </p:grpSpPr>
        <p:sp>
          <p:nvSpPr>
            <p:cNvPr id="1641504" name="Rectangle 32"/>
            <p:cNvSpPr>
              <a:spLocks noChangeArrowheads="1"/>
            </p:cNvSpPr>
            <p:nvPr/>
          </p:nvSpPr>
          <p:spPr bwMode="auto">
            <a:xfrm>
              <a:off x="1602" y="1211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4</a:t>
              </a:r>
              <a:endParaRPr lang="en-US"/>
            </a:p>
          </p:txBody>
        </p:sp>
        <p:sp>
          <p:nvSpPr>
            <p:cNvPr id="1641505" name="Freeform 33"/>
            <p:cNvSpPr>
              <a:spLocks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460999" y="1548765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657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47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8610600" cy="990600"/>
          </a:xfrm>
        </p:spPr>
        <p:txBody>
          <a:bodyPr>
            <a:noAutofit/>
          </a:bodyPr>
          <a:lstStyle/>
          <a:p>
            <a:r>
              <a:rPr lang="en-US" dirty="0"/>
              <a:t>Hierarchical Clustering: Group Average</a:t>
            </a:r>
          </a:p>
        </p:txBody>
      </p:sp>
      <p:sp>
        <p:nvSpPr>
          <p:cNvPr id="164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sz="3100"/>
              <a:t>Compromise between Single and Complete Link</a:t>
            </a:r>
          </a:p>
          <a:p>
            <a:pPr marL="533400" indent="-533400"/>
            <a:endParaRPr lang="en-US" sz="3100"/>
          </a:p>
          <a:p>
            <a:pPr marL="533400" indent="-533400"/>
            <a:r>
              <a:rPr lang="en-US" sz="3100"/>
              <a:t>Strengths</a:t>
            </a:r>
          </a:p>
          <a:p>
            <a:pPr marL="914400" lvl="1" indent="-457200"/>
            <a:r>
              <a:rPr lang="en-US" sz="2700"/>
              <a:t>Less susceptible to noise and outliers</a:t>
            </a:r>
          </a:p>
          <a:p>
            <a:pPr marL="533400" indent="-533400"/>
            <a:endParaRPr lang="en-US" sz="3100"/>
          </a:p>
          <a:p>
            <a:pPr marL="533400" indent="-533400"/>
            <a:r>
              <a:rPr lang="en-US" sz="3100"/>
              <a:t>Limitations</a:t>
            </a:r>
          </a:p>
          <a:p>
            <a:pPr marL="914400" lvl="1" indent="-457200"/>
            <a:r>
              <a:rPr lang="en-US" sz="2700"/>
              <a:t>Biased towards globular clusters</a:t>
            </a:r>
          </a:p>
        </p:txBody>
      </p:sp>
    </p:spTree>
    <p:extLst>
      <p:ext uri="{BB962C8B-B14F-4D97-AF65-F5344CB8AC3E}">
        <p14:creationId xmlns:p14="http://schemas.microsoft.com/office/powerpoint/2010/main" val="16545794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 Similarity: Ward’s Method</a:t>
            </a:r>
          </a:p>
        </p:txBody>
      </p:sp>
      <p:sp>
        <p:nvSpPr>
          <p:cNvPr id="164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Similarity of two clusters is based on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increase</a:t>
            </a:r>
            <a:r>
              <a:rPr lang="en-US" dirty="0"/>
              <a:t> in </a:t>
            </a:r>
            <a:r>
              <a:rPr lang="en-US" dirty="0">
                <a:solidFill>
                  <a:srgbClr val="00B0F0"/>
                </a:solidFill>
              </a:rPr>
              <a:t>squared error (SSE) </a:t>
            </a:r>
            <a:r>
              <a:rPr lang="en-US" dirty="0"/>
              <a:t>when two clusters are merged</a:t>
            </a:r>
          </a:p>
          <a:p>
            <a:pPr lvl="1"/>
            <a:r>
              <a:rPr lang="en-US" dirty="0"/>
              <a:t>Similar to group average if distance between points is distance squared</a:t>
            </a:r>
          </a:p>
          <a:p>
            <a:pPr lvl="4"/>
            <a:endParaRPr lang="en-US" dirty="0"/>
          </a:p>
          <a:p>
            <a:r>
              <a:rPr lang="en-US" dirty="0"/>
              <a:t>Less susceptible to noise and outliers</a:t>
            </a:r>
          </a:p>
          <a:p>
            <a:pPr lvl="4"/>
            <a:endParaRPr lang="en-US" dirty="0"/>
          </a:p>
          <a:p>
            <a:r>
              <a:rPr lang="en-US" dirty="0"/>
              <a:t>Biased towards globular clusters</a:t>
            </a:r>
          </a:p>
          <a:p>
            <a:pPr lvl="4"/>
            <a:endParaRPr lang="en-US" dirty="0"/>
          </a:p>
          <a:p>
            <a:r>
              <a:rPr lang="en-US" dirty="0"/>
              <a:t>Hierarchical analogue of K-means</a:t>
            </a:r>
          </a:p>
          <a:p>
            <a:pPr lvl="1"/>
            <a:r>
              <a:rPr lang="en-US" dirty="0"/>
              <a:t>Can be used to initialize K-means</a:t>
            </a:r>
          </a:p>
        </p:txBody>
      </p:sp>
    </p:spTree>
    <p:extLst>
      <p:ext uri="{BB962C8B-B14F-4D97-AF65-F5344CB8AC3E}">
        <p14:creationId xmlns:p14="http://schemas.microsoft.com/office/powerpoint/2010/main" val="4103955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15925" y="425003"/>
            <a:ext cx="8229600" cy="990600"/>
          </a:xfrm>
        </p:spPr>
        <p:txBody>
          <a:bodyPr>
            <a:normAutofit/>
          </a:bodyPr>
          <a:lstStyle/>
          <a:p>
            <a:r>
              <a:rPr lang="en-US" sz="3600" dirty="0"/>
              <a:t>Hierarchical Clustering: Comparison</a:t>
            </a:r>
          </a:p>
        </p:txBody>
      </p:sp>
      <p:sp>
        <p:nvSpPr>
          <p:cNvPr id="1644547" name="Text Box 3"/>
          <p:cNvSpPr txBox="1">
            <a:spLocks noChangeArrowheads="1"/>
          </p:cNvSpPr>
          <p:nvPr/>
        </p:nvSpPr>
        <p:spPr bwMode="auto">
          <a:xfrm>
            <a:off x="3235325" y="5410200"/>
            <a:ext cx="1676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Group Average</a:t>
            </a:r>
          </a:p>
        </p:txBody>
      </p:sp>
      <p:sp>
        <p:nvSpPr>
          <p:cNvPr id="1644548" name="Text Box 4"/>
          <p:cNvSpPr txBox="1">
            <a:spLocks noChangeArrowheads="1"/>
          </p:cNvSpPr>
          <p:nvPr/>
        </p:nvSpPr>
        <p:spPr bwMode="auto">
          <a:xfrm>
            <a:off x="4530725" y="5029200"/>
            <a:ext cx="1752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Ward’s Method</a:t>
            </a:r>
          </a:p>
        </p:txBody>
      </p:sp>
      <p:grpSp>
        <p:nvGrpSpPr>
          <p:cNvPr id="1644549" name="Group 5"/>
          <p:cNvGrpSpPr>
            <a:grpSpLocks noChangeAspect="1"/>
          </p:cNvGrpSpPr>
          <p:nvPr/>
        </p:nvGrpSpPr>
        <p:grpSpPr bwMode="auto">
          <a:xfrm>
            <a:off x="6270625" y="4589463"/>
            <a:ext cx="1858963" cy="1693862"/>
            <a:chOff x="509" y="1253"/>
            <a:chExt cx="1776" cy="1618"/>
          </a:xfrm>
        </p:grpSpPr>
        <p:sp>
          <p:nvSpPr>
            <p:cNvPr id="1644550" name="Freeform 6"/>
            <p:cNvSpPr>
              <a:spLocks noChangeAspect="1"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51" name="Freeform 7"/>
            <p:cNvSpPr>
              <a:spLocks noChangeAspect="1"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52" name="Freeform 8"/>
            <p:cNvSpPr>
              <a:spLocks noChangeAspect="1"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53" name="Freeform 9"/>
            <p:cNvSpPr>
              <a:spLocks noChangeAspect="1"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54" name="Freeform 10"/>
            <p:cNvSpPr>
              <a:spLocks noChangeAspect="1"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55" name="Freeform 11"/>
            <p:cNvSpPr>
              <a:spLocks noChangeAspect="1"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56" name="Rectangle 12"/>
            <p:cNvSpPr>
              <a:spLocks noChangeAspect="1" noChangeArrowheads="1"/>
            </p:cNvSpPr>
            <p:nvPr/>
          </p:nvSpPr>
          <p:spPr bwMode="auto">
            <a:xfrm>
              <a:off x="1909" y="125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sz="1600"/>
            </a:p>
          </p:txBody>
        </p:sp>
        <p:sp>
          <p:nvSpPr>
            <p:cNvPr id="1644557" name="Rectangle 13"/>
            <p:cNvSpPr>
              <a:spLocks noChangeAspect="1" noChangeArrowheads="1"/>
            </p:cNvSpPr>
            <p:nvPr/>
          </p:nvSpPr>
          <p:spPr bwMode="auto">
            <a:xfrm>
              <a:off x="1163" y="183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 sz="1600"/>
            </a:p>
          </p:txBody>
        </p:sp>
        <p:sp>
          <p:nvSpPr>
            <p:cNvPr id="1644558" name="Rectangle 14"/>
            <p:cNvSpPr>
              <a:spLocks noChangeAspect="1" noChangeArrowheads="1"/>
            </p:cNvSpPr>
            <p:nvPr/>
          </p:nvSpPr>
          <p:spPr bwMode="auto">
            <a:xfrm>
              <a:off x="1733" y="212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 sz="1600"/>
            </a:p>
          </p:txBody>
        </p:sp>
        <p:sp>
          <p:nvSpPr>
            <p:cNvPr id="1644559" name="Rectangle 15"/>
            <p:cNvSpPr>
              <a:spLocks noChangeAspect="1" noChangeArrowheads="1"/>
            </p:cNvSpPr>
            <p:nvPr/>
          </p:nvSpPr>
          <p:spPr bwMode="auto">
            <a:xfrm>
              <a:off x="1379" y="263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 sz="1600"/>
            </a:p>
          </p:txBody>
        </p:sp>
        <p:sp>
          <p:nvSpPr>
            <p:cNvPr id="1644560" name="Rectangle 16"/>
            <p:cNvSpPr>
              <a:spLocks noChangeAspect="1" noChangeArrowheads="1"/>
            </p:cNvSpPr>
            <p:nvPr/>
          </p:nvSpPr>
          <p:spPr bwMode="auto">
            <a:xfrm>
              <a:off x="630" y="1720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 sz="1600"/>
            </a:p>
          </p:txBody>
        </p:sp>
        <p:sp>
          <p:nvSpPr>
            <p:cNvPr id="1644561" name="Rectangle 17"/>
            <p:cNvSpPr>
              <a:spLocks noChangeAspect="1" noChangeArrowheads="1"/>
            </p:cNvSpPr>
            <p:nvPr/>
          </p:nvSpPr>
          <p:spPr bwMode="auto">
            <a:xfrm>
              <a:off x="2188" y="217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 sz="1600"/>
            </a:p>
          </p:txBody>
        </p:sp>
      </p:grpSp>
      <p:grpSp>
        <p:nvGrpSpPr>
          <p:cNvPr id="1644562" name="Group 18"/>
          <p:cNvGrpSpPr>
            <a:grpSpLocks noChangeAspect="1"/>
          </p:cNvGrpSpPr>
          <p:nvPr/>
        </p:nvGrpSpPr>
        <p:grpSpPr bwMode="auto">
          <a:xfrm>
            <a:off x="7324725" y="5437188"/>
            <a:ext cx="857250" cy="592137"/>
            <a:chOff x="1515" y="2062"/>
            <a:chExt cx="820" cy="566"/>
          </a:xfrm>
        </p:grpSpPr>
        <p:sp>
          <p:nvSpPr>
            <p:cNvPr id="1644563" name="Freeform 19"/>
            <p:cNvSpPr>
              <a:spLocks noChangeAspect="1"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564" name="Rectangle 20"/>
            <p:cNvSpPr>
              <a:spLocks noChangeAspect="1" noChangeArrowheads="1"/>
            </p:cNvSpPr>
            <p:nvPr/>
          </p:nvSpPr>
          <p:spPr bwMode="auto">
            <a:xfrm>
              <a:off x="1855" y="2394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1</a:t>
              </a:r>
              <a:endParaRPr lang="en-US" sz="1600"/>
            </a:p>
          </p:txBody>
        </p:sp>
      </p:grpSp>
      <p:grpSp>
        <p:nvGrpSpPr>
          <p:cNvPr id="1644565" name="Group 21"/>
          <p:cNvGrpSpPr>
            <a:grpSpLocks noChangeAspect="1"/>
          </p:cNvGrpSpPr>
          <p:nvPr/>
        </p:nvGrpSpPr>
        <p:grpSpPr bwMode="auto">
          <a:xfrm>
            <a:off x="6211888" y="4849813"/>
            <a:ext cx="873125" cy="649287"/>
            <a:chOff x="452" y="1501"/>
            <a:chExt cx="834" cy="621"/>
          </a:xfrm>
        </p:grpSpPr>
        <p:sp>
          <p:nvSpPr>
            <p:cNvPr id="1644566" name="Freeform 22"/>
            <p:cNvSpPr>
              <a:spLocks noChangeAspect="1"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567" name="Rectangle 23"/>
            <p:cNvSpPr>
              <a:spLocks noChangeAspect="1" noChangeArrowheads="1"/>
            </p:cNvSpPr>
            <p:nvPr/>
          </p:nvSpPr>
          <p:spPr bwMode="auto">
            <a:xfrm>
              <a:off x="943" y="1501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2</a:t>
              </a:r>
              <a:endParaRPr lang="en-US" sz="1600"/>
            </a:p>
          </p:txBody>
        </p:sp>
      </p:grpSp>
      <p:grpSp>
        <p:nvGrpSpPr>
          <p:cNvPr id="1644568" name="Group 24"/>
          <p:cNvGrpSpPr>
            <a:grpSpLocks noChangeAspect="1"/>
          </p:cNvGrpSpPr>
          <p:nvPr/>
        </p:nvGrpSpPr>
        <p:grpSpPr bwMode="auto">
          <a:xfrm>
            <a:off x="6003925" y="4348163"/>
            <a:ext cx="2413000" cy="2281237"/>
            <a:chOff x="254" y="1022"/>
            <a:chExt cx="2305" cy="2180"/>
          </a:xfrm>
        </p:grpSpPr>
        <p:sp>
          <p:nvSpPr>
            <p:cNvPr id="1644569" name="Rectangle 25"/>
            <p:cNvSpPr>
              <a:spLocks noChangeAspect="1" noChangeArrowheads="1"/>
            </p:cNvSpPr>
            <p:nvPr/>
          </p:nvSpPr>
          <p:spPr bwMode="auto">
            <a:xfrm>
              <a:off x="563" y="1148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5</a:t>
              </a:r>
              <a:endParaRPr lang="en-US" sz="1600"/>
            </a:p>
          </p:txBody>
        </p:sp>
        <p:sp>
          <p:nvSpPr>
            <p:cNvPr id="1644570" name="Freeform 26"/>
            <p:cNvSpPr>
              <a:spLocks noChangeAspect="1"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571" name="Group 27"/>
          <p:cNvGrpSpPr>
            <a:grpSpLocks noChangeAspect="1"/>
          </p:cNvGrpSpPr>
          <p:nvPr/>
        </p:nvGrpSpPr>
        <p:grpSpPr bwMode="auto">
          <a:xfrm>
            <a:off x="7011988" y="5322888"/>
            <a:ext cx="1187450" cy="1141412"/>
            <a:chOff x="1217" y="1954"/>
            <a:chExt cx="1134" cy="1090"/>
          </a:xfrm>
        </p:grpSpPr>
        <p:sp>
          <p:nvSpPr>
            <p:cNvPr id="1644572" name="Rectangle 28"/>
            <p:cNvSpPr>
              <a:spLocks noChangeAspect="1" noChangeArrowheads="1"/>
            </p:cNvSpPr>
            <p:nvPr/>
          </p:nvSpPr>
          <p:spPr bwMode="auto">
            <a:xfrm>
              <a:off x="1666" y="2811"/>
              <a:ext cx="1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3</a:t>
              </a:r>
              <a:endParaRPr lang="en-US" sz="1600"/>
            </a:p>
          </p:txBody>
        </p:sp>
        <p:sp>
          <p:nvSpPr>
            <p:cNvPr id="1644573" name="Freeform 29"/>
            <p:cNvSpPr>
              <a:spLocks noChangeAspect="1"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574" name="Group 30"/>
          <p:cNvGrpSpPr>
            <a:grpSpLocks noChangeAspect="1"/>
          </p:cNvGrpSpPr>
          <p:nvPr/>
        </p:nvGrpSpPr>
        <p:grpSpPr bwMode="auto">
          <a:xfrm>
            <a:off x="6986588" y="4546600"/>
            <a:ext cx="1274762" cy="2041525"/>
            <a:chOff x="1193" y="1212"/>
            <a:chExt cx="1218" cy="1950"/>
          </a:xfrm>
        </p:grpSpPr>
        <p:sp>
          <p:nvSpPr>
            <p:cNvPr id="1644575" name="Rectangle 31"/>
            <p:cNvSpPr>
              <a:spLocks noChangeAspect="1" noChangeArrowheads="1"/>
            </p:cNvSpPr>
            <p:nvPr/>
          </p:nvSpPr>
          <p:spPr bwMode="auto">
            <a:xfrm>
              <a:off x="1603" y="1212"/>
              <a:ext cx="10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4</a:t>
              </a:r>
              <a:endParaRPr lang="en-US" sz="1600"/>
            </a:p>
          </p:txBody>
        </p:sp>
        <p:sp>
          <p:nvSpPr>
            <p:cNvPr id="1644576" name="Freeform 32"/>
            <p:cNvSpPr>
              <a:spLocks noChangeAspect="1"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44577" name="Text Box 33"/>
          <p:cNvSpPr txBox="1">
            <a:spLocks noChangeArrowheads="1"/>
          </p:cNvSpPr>
          <p:nvPr/>
        </p:nvSpPr>
        <p:spPr bwMode="auto">
          <a:xfrm>
            <a:off x="3387725" y="2590800"/>
            <a:ext cx="1676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MIN</a:t>
            </a:r>
          </a:p>
        </p:txBody>
      </p:sp>
      <p:sp>
        <p:nvSpPr>
          <p:cNvPr id="1644578" name="Text Box 34"/>
          <p:cNvSpPr txBox="1">
            <a:spLocks noChangeArrowheads="1"/>
          </p:cNvSpPr>
          <p:nvPr/>
        </p:nvSpPr>
        <p:spPr bwMode="auto">
          <a:xfrm>
            <a:off x="5292725" y="2590800"/>
            <a:ext cx="1752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MAX</a:t>
            </a:r>
          </a:p>
        </p:txBody>
      </p:sp>
      <p:grpSp>
        <p:nvGrpSpPr>
          <p:cNvPr id="1644579" name="Group 35"/>
          <p:cNvGrpSpPr>
            <a:grpSpLocks noChangeAspect="1"/>
          </p:cNvGrpSpPr>
          <p:nvPr/>
        </p:nvGrpSpPr>
        <p:grpSpPr bwMode="auto">
          <a:xfrm>
            <a:off x="954088" y="4502150"/>
            <a:ext cx="1978025" cy="1795463"/>
            <a:chOff x="438" y="1309"/>
            <a:chExt cx="1937" cy="1757"/>
          </a:xfrm>
        </p:grpSpPr>
        <p:sp>
          <p:nvSpPr>
            <p:cNvPr id="1644580" name="Freeform 36"/>
            <p:cNvSpPr>
              <a:spLocks noChangeAspect="1"/>
            </p:cNvSpPr>
            <p:nvPr/>
          </p:nvSpPr>
          <p:spPr bwMode="auto">
            <a:xfrm>
              <a:off x="1038" y="2002"/>
              <a:ext cx="88" cy="87"/>
            </a:xfrm>
            <a:custGeom>
              <a:avLst/>
              <a:gdLst>
                <a:gd name="T0" fmla="*/ 0 w 88"/>
                <a:gd name="T1" fmla="*/ 43 h 87"/>
                <a:gd name="T2" fmla="*/ 4 w 88"/>
                <a:gd name="T3" fmla="*/ 26 h 87"/>
                <a:gd name="T4" fmla="*/ 13 w 88"/>
                <a:gd name="T5" fmla="*/ 13 h 87"/>
                <a:gd name="T6" fmla="*/ 28 w 88"/>
                <a:gd name="T7" fmla="*/ 2 h 87"/>
                <a:gd name="T8" fmla="*/ 45 w 88"/>
                <a:gd name="T9" fmla="*/ 0 h 87"/>
                <a:gd name="T10" fmla="*/ 62 w 88"/>
                <a:gd name="T11" fmla="*/ 2 h 87"/>
                <a:gd name="T12" fmla="*/ 75 w 88"/>
                <a:gd name="T13" fmla="*/ 13 h 87"/>
                <a:gd name="T14" fmla="*/ 86 w 88"/>
                <a:gd name="T15" fmla="*/ 26 h 87"/>
                <a:gd name="T16" fmla="*/ 88 w 88"/>
                <a:gd name="T17" fmla="*/ 43 h 87"/>
                <a:gd name="T18" fmla="*/ 86 w 88"/>
                <a:gd name="T19" fmla="*/ 61 h 87"/>
                <a:gd name="T20" fmla="*/ 75 w 88"/>
                <a:gd name="T21" fmla="*/ 74 h 87"/>
                <a:gd name="T22" fmla="*/ 62 w 88"/>
                <a:gd name="T23" fmla="*/ 84 h 87"/>
                <a:gd name="T24" fmla="*/ 45 w 88"/>
                <a:gd name="T25" fmla="*/ 87 h 87"/>
                <a:gd name="T26" fmla="*/ 28 w 88"/>
                <a:gd name="T27" fmla="*/ 84 h 87"/>
                <a:gd name="T28" fmla="*/ 13 w 88"/>
                <a:gd name="T29" fmla="*/ 74 h 87"/>
                <a:gd name="T30" fmla="*/ 4 w 88"/>
                <a:gd name="T31" fmla="*/ 61 h 87"/>
                <a:gd name="T32" fmla="*/ 0 w 88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6" y="26"/>
                  </a:lnTo>
                  <a:lnTo>
                    <a:pt x="88" y="43"/>
                  </a:lnTo>
                  <a:lnTo>
                    <a:pt x="86" y="61"/>
                  </a:lnTo>
                  <a:lnTo>
                    <a:pt x="75" y="74"/>
                  </a:lnTo>
                  <a:lnTo>
                    <a:pt x="62" y="84"/>
                  </a:lnTo>
                  <a:lnTo>
                    <a:pt x="45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81" name="Freeform 37"/>
            <p:cNvSpPr>
              <a:spLocks noChangeAspect="1"/>
            </p:cNvSpPr>
            <p:nvPr/>
          </p:nvSpPr>
          <p:spPr bwMode="auto">
            <a:xfrm>
              <a:off x="1860" y="1361"/>
              <a:ext cx="89" cy="88"/>
            </a:xfrm>
            <a:custGeom>
              <a:avLst/>
              <a:gdLst>
                <a:gd name="T0" fmla="*/ 0 w 89"/>
                <a:gd name="T1" fmla="*/ 43 h 88"/>
                <a:gd name="T2" fmla="*/ 4 w 89"/>
                <a:gd name="T3" fmla="*/ 26 h 88"/>
                <a:gd name="T4" fmla="*/ 13 w 89"/>
                <a:gd name="T5" fmla="*/ 13 h 88"/>
                <a:gd name="T6" fmla="*/ 28 w 89"/>
                <a:gd name="T7" fmla="*/ 2 h 88"/>
                <a:gd name="T8" fmla="*/ 45 w 89"/>
                <a:gd name="T9" fmla="*/ 0 h 88"/>
                <a:gd name="T10" fmla="*/ 63 w 89"/>
                <a:gd name="T11" fmla="*/ 2 h 88"/>
                <a:gd name="T12" fmla="*/ 76 w 89"/>
                <a:gd name="T13" fmla="*/ 13 h 88"/>
                <a:gd name="T14" fmla="*/ 86 w 89"/>
                <a:gd name="T15" fmla="*/ 26 h 88"/>
                <a:gd name="T16" fmla="*/ 89 w 89"/>
                <a:gd name="T17" fmla="*/ 43 h 88"/>
                <a:gd name="T18" fmla="*/ 86 w 89"/>
                <a:gd name="T19" fmla="*/ 60 h 88"/>
                <a:gd name="T20" fmla="*/ 76 w 89"/>
                <a:gd name="T21" fmla="*/ 76 h 88"/>
                <a:gd name="T22" fmla="*/ 63 w 89"/>
                <a:gd name="T23" fmla="*/ 84 h 88"/>
                <a:gd name="T24" fmla="*/ 45 w 89"/>
                <a:gd name="T25" fmla="*/ 88 h 88"/>
                <a:gd name="T26" fmla="*/ 28 w 89"/>
                <a:gd name="T27" fmla="*/ 84 h 88"/>
                <a:gd name="T28" fmla="*/ 13 w 89"/>
                <a:gd name="T29" fmla="*/ 76 h 88"/>
                <a:gd name="T30" fmla="*/ 4 w 89"/>
                <a:gd name="T31" fmla="*/ 60 h 88"/>
                <a:gd name="T32" fmla="*/ 0 w 89"/>
                <a:gd name="T33" fmla="*/ 43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8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6" y="26"/>
                  </a:lnTo>
                  <a:lnTo>
                    <a:pt x="89" y="43"/>
                  </a:lnTo>
                  <a:lnTo>
                    <a:pt x="86" y="60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8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82" name="Freeform 38"/>
            <p:cNvSpPr>
              <a:spLocks noChangeAspect="1"/>
            </p:cNvSpPr>
            <p:nvPr/>
          </p:nvSpPr>
          <p:spPr bwMode="auto">
            <a:xfrm>
              <a:off x="1260" y="2875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2 h 88"/>
                <a:gd name="T6" fmla="*/ 29 w 89"/>
                <a:gd name="T7" fmla="*/ 4 h 88"/>
                <a:gd name="T8" fmla="*/ 46 w 89"/>
                <a:gd name="T9" fmla="*/ 0 h 88"/>
                <a:gd name="T10" fmla="*/ 63 w 89"/>
                <a:gd name="T11" fmla="*/ 4 h 88"/>
                <a:gd name="T12" fmla="*/ 76 w 89"/>
                <a:gd name="T13" fmla="*/ 12 h 88"/>
                <a:gd name="T14" fmla="*/ 87 w 89"/>
                <a:gd name="T15" fmla="*/ 28 h 88"/>
                <a:gd name="T16" fmla="*/ 89 w 89"/>
                <a:gd name="T17" fmla="*/ 45 h 88"/>
                <a:gd name="T18" fmla="*/ 87 w 89"/>
                <a:gd name="T19" fmla="*/ 62 h 88"/>
                <a:gd name="T20" fmla="*/ 76 w 89"/>
                <a:gd name="T21" fmla="*/ 75 h 88"/>
                <a:gd name="T22" fmla="*/ 63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2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3" y="4"/>
                  </a:lnTo>
                  <a:lnTo>
                    <a:pt x="76" y="12"/>
                  </a:lnTo>
                  <a:lnTo>
                    <a:pt x="87" y="28"/>
                  </a:lnTo>
                  <a:lnTo>
                    <a:pt x="89" y="45"/>
                  </a:lnTo>
                  <a:lnTo>
                    <a:pt x="87" y="62"/>
                  </a:lnTo>
                  <a:lnTo>
                    <a:pt x="76" y="75"/>
                  </a:lnTo>
                  <a:lnTo>
                    <a:pt x="63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83" name="Freeform 39"/>
            <p:cNvSpPr>
              <a:spLocks noChangeAspect="1"/>
            </p:cNvSpPr>
            <p:nvPr/>
          </p:nvSpPr>
          <p:spPr bwMode="auto">
            <a:xfrm>
              <a:off x="438" y="1875"/>
              <a:ext cx="87" cy="88"/>
            </a:xfrm>
            <a:custGeom>
              <a:avLst/>
              <a:gdLst>
                <a:gd name="T0" fmla="*/ 0 w 87"/>
                <a:gd name="T1" fmla="*/ 45 h 88"/>
                <a:gd name="T2" fmla="*/ 2 w 87"/>
                <a:gd name="T3" fmla="*/ 28 h 88"/>
                <a:gd name="T4" fmla="*/ 11 w 87"/>
                <a:gd name="T5" fmla="*/ 13 h 88"/>
                <a:gd name="T6" fmla="*/ 26 w 87"/>
                <a:gd name="T7" fmla="*/ 4 h 88"/>
                <a:gd name="T8" fmla="*/ 44 w 87"/>
                <a:gd name="T9" fmla="*/ 0 h 88"/>
                <a:gd name="T10" fmla="*/ 61 w 87"/>
                <a:gd name="T11" fmla="*/ 4 h 88"/>
                <a:gd name="T12" fmla="*/ 74 w 87"/>
                <a:gd name="T13" fmla="*/ 13 h 88"/>
                <a:gd name="T14" fmla="*/ 85 w 87"/>
                <a:gd name="T15" fmla="*/ 28 h 88"/>
                <a:gd name="T16" fmla="*/ 87 w 87"/>
                <a:gd name="T17" fmla="*/ 45 h 88"/>
                <a:gd name="T18" fmla="*/ 85 w 87"/>
                <a:gd name="T19" fmla="*/ 62 h 88"/>
                <a:gd name="T20" fmla="*/ 74 w 87"/>
                <a:gd name="T21" fmla="*/ 75 h 88"/>
                <a:gd name="T22" fmla="*/ 61 w 87"/>
                <a:gd name="T23" fmla="*/ 86 h 88"/>
                <a:gd name="T24" fmla="*/ 44 w 87"/>
                <a:gd name="T25" fmla="*/ 88 h 88"/>
                <a:gd name="T26" fmla="*/ 26 w 87"/>
                <a:gd name="T27" fmla="*/ 86 h 88"/>
                <a:gd name="T28" fmla="*/ 11 w 87"/>
                <a:gd name="T29" fmla="*/ 75 h 88"/>
                <a:gd name="T30" fmla="*/ 2 w 87"/>
                <a:gd name="T31" fmla="*/ 62 h 88"/>
                <a:gd name="T32" fmla="*/ 0 w 87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8">
                  <a:moveTo>
                    <a:pt x="0" y="45"/>
                  </a:moveTo>
                  <a:lnTo>
                    <a:pt x="2" y="28"/>
                  </a:lnTo>
                  <a:lnTo>
                    <a:pt x="11" y="13"/>
                  </a:lnTo>
                  <a:lnTo>
                    <a:pt x="26" y="4"/>
                  </a:lnTo>
                  <a:lnTo>
                    <a:pt x="44" y="0"/>
                  </a:lnTo>
                  <a:lnTo>
                    <a:pt x="61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5"/>
                  </a:lnTo>
                  <a:lnTo>
                    <a:pt x="61" y="86"/>
                  </a:lnTo>
                  <a:lnTo>
                    <a:pt x="44" y="88"/>
                  </a:lnTo>
                  <a:lnTo>
                    <a:pt x="26" y="86"/>
                  </a:lnTo>
                  <a:lnTo>
                    <a:pt x="11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84" name="Freeform 40"/>
            <p:cNvSpPr>
              <a:spLocks noChangeAspect="1"/>
            </p:cNvSpPr>
            <p:nvPr/>
          </p:nvSpPr>
          <p:spPr bwMode="auto">
            <a:xfrm>
              <a:off x="1617" y="2309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3 h 88"/>
                <a:gd name="T6" fmla="*/ 29 w 89"/>
                <a:gd name="T7" fmla="*/ 4 h 88"/>
                <a:gd name="T8" fmla="*/ 46 w 89"/>
                <a:gd name="T9" fmla="*/ 0 h 88"/>
                <a:gd name="T10" fmla="*/ 61 w 89"/>
                <a:gd name="T11" fmla="*/ 4 h 88"/>
                <a:gd name="T12" fmla="*/ 76 w 89"/>
                <a:gd name="T13" fmla="*/ 13 h 88"/>
                <a:gd name="T14" fmla="*/ 85 w 89"/>
                <a:gd name="T15" fmla="*/ 28 h 88"/>
                <a:gd name="T16" fmla="*/ 89 w 89"/>
                <a:gd name="T17" fmla="*/ 45 h 88"/>
                <a:gd name="T18" fmla="*/ 85 w 89"/>
                <a:gd name="T19" fmla="*/ 62 h 88"/>
                <a:gd name="T20" fmla="*/ 76 w 89"/>
                <a:gd name="T21" fmla="*/ 75 h 88"/>
                <a:gd name="T22" fmla="*/ 61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3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1" y="4"/>
                  </a:lnTo>
                  <a:lnTo>
                    <a:pt x="76" y="13"/>
                  </a:lnTo>
                  <a:lnTo>
                    <a:pt x="85" y="28"/>
                  </a:lnTo>
                  <a:lnTo>
                    <a:pt x="89" y="45"/>
                  </a:lnTo>
                  <a:lnTo>
                    <a:pt x="85" y="62"/>
                  </a:lnTo>
                  <a:lnTo>
                    <a:pt x="76" y="75"/>
                  </a:lnTo>
                  <a:lnTo>
                    <a:pt x="61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85" name="Freeform 41"/>
            <p:cNvSpPr>
              <a:spLocks noChangeAspect="1"/>
            </p:cNvSpPr>
            <p:nvPr/>
          </p:nvSpPr>
          <p:spPr bwMode="auto">
            <a:xfrm>
              <a:off x="2100" y="2369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5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5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86" name="Rectangle 42"/>
            <p:cNvSpPr>
              <a:spLocks noChangeAspect="1" noChangeArrowheads="1"/>
            </p:cNvSpPr>
            <p:nvPr/>
          </p:nvSpPr>
          <p:spPr bwMode="auto">
            <a:xfrm>
              <a:off x="1971" y="1309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sz="1600"/>
            </a:p>
          </p:txBody>
        </p:sp>
        <p:sp>
          <p:nvSpPr>
            <p:cNvPr id="1644587" name="Rectangle 43"/>
            <p:cNvSpPr>
              <a:spLocks noChangeAspect="1" noChangeArrowheads="1"/>
            </p:cNvSpPr>
            <p:nvPr/>
          </p:nvSpPr>
          <p:spPr bwMode="auto">
            <a:xfrm>
              <a:off x="1155" y="1945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 sz="1600"/>
            </a:p>
          </p:txBody>
        </p:sp>
        <p:sp>
          <p:nvSpPr>
            <p:cNvPr id="1644588" name="Rectangle 44"/>
            <p:cNvSpPr>
              <a:spLocks noChangeAspect="1" noChangeArrowheads="1"/>
            </p:cNvSpPr>
            <p:nvPr/>
          </p:nvSpPr>
          <p:spPr bwMode="auto">
            <a:xfrm>
              <a:off x="1775" y="2262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 sz="1600"/>
            </a:p>
          </p:txBody>
        </p:sp>
        <p:sp>
          <p:nvSpPr>
            <p:cNvPr id="1644589" name="Rectangle 45"/>
            <p:cNvSpPr>
              <a:spLocks noChangeAspect="1" noChangeArrowheads="1"/>
            </p:cNvSpPr>
            <p:nvPr/>
          </p:nvSpPr>
          <p:spPr bwMode="auto">
            <a:xfrm>
              <a:off x="1388" y="282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 sz="1600"/>
            </a:p>
          </p:txBody>
        </p:sp>
        <p:sp>
          <p:nvSpPr>
            <p:cNvPr id="1644590" name="Rectangle 46"/>
            <p:cNvSpPr>
              <a:spLocks noChangeAspect="1" noChangeArrowheads="1"/>
            </p:cNvSpPr>
            <p:nvPr/>
          </p:nvSpPr>
          <p:spPr bwMode="auto">
            <a:xfrm>
              <a:off x="572" y="181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 sz="1600"/>
            </a:p>
          </p:txBody>
        </p:sp>
        <p:sp>
          <p:nvSpPr>
            <p:cNvPr id="1644591" name="Rectangle 47"/>
            <p:cNvSpPr>
              <a:spLocks noChangeAspect="1" noChangeArrowheads="1"/>
            </p:cNvSpPr>
            <p:nvPr/>
          </p:nvSpPr>
          <p:spPr bwMode="auto">
            <a:xfrm>
              <a:off x="2275" y="2316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 sz="1600"/>
            </a:p>
          </p:txBody>
        </p:sp>
      </p:grpSp>
      <p:grpSp>
        <p:nvGrpSpPr>
          <p:cNvPr id="1644592" name="Group 48"/>
          <p:cNvGrpSpPr>
            <a:grpSpLocks noChangeAspect="1"/>
          </p:cNvGrpSpPr>
          <p:nvPr/>
        </p:nvGrpSpPr>
        <p:grpSpPr bwMode="auto">
          <a:xfrm>
            <a:off x="2076450" y="5408613"/>
            <a:ext cx="917575" cy="617537"/>
            <a:chOff x="1537" y="2197"/>
            <a:chExt cx="898" cy="604"/>
          </a:xfrm>
        </p:grpSpPr>
        <p:sp>
          <p:nvSpPr>
            <p:cNvPr id="1644593" name="Freeform 49"/>
            <p:cNvSpPr>
              <a:spLocks noChangeAspect="1"/>
            </p:cNvSpPr>
            <p:nvPr/>
          </p:nvSpPr>
          <p:spPr bwMode="auto">
            <a:xfrm>
              <a:off x="1537" y="2197"/>
              <a:ext cx="898" cy="375"/>
            </a:xfrm>
            <a:custGeom>
              <a:avLst/>
              <a:gdLst>
                <a:gd name="T0" fmla="*/ 450 w 898"/>
                <a:gd name="T1" fmla="*/ 0 h 375"/>
                <a:gd name="T2" fmla="*/ 511 w 898"/>
                <a:gd name="T3" fmla="*/ 2 h 375"/>
                <a:gd name="T4" fmla="*/ 572 w 898"/>
                <a:gd name="T5" fmla="*/ 6 h 375"/>
                <a:gd name="T6" fmla="*/ 630 w 898"/>
                <a:gd name="T7" fmla="*/ 15 h 375"/>
                <a:gd name="T8" fmla="*/ 684 w 898"/>
                <a:gd name="T9" fmla="*/ 28 h 375"/>
                <a:gd name="T10" fmla="*/ 734 w 898"/>
                <a:gd name="T11" fmla="*/ 43 h 375"/>
                <a:gd name="T12" fmla="*/ 779 w 898"/>
                <a:gd name="T13" fmla="*/ 60 h 375"/>
                <a:gd name="T14" fmla="*/ 818 w 898"/>
                <a:gd name="T15" fmla="*/ 79 h 375"/>
                <a:gd name="T16" fmla="*/ 851 w 898"/>
                <a:gd name="T17" fmla="*/ 101 h 375"/>
                <a:gd name="T18" fmla="*/ 875 w 898"/>
                <a:gd name="T19" fmla="*/ 125 h 375"/>
                <a:gd name="T20" fmla="*/ 892 w 898"/>
                <a:gd name="T21" fmla="*/ 149 h 375"/>
                <a:gd name="T22" fmla="*/ 898 w 898"/>
                <a:gd name="T23" fmla="*/ 174 h 375"/>
                <a:gd name="T24" fmla="*/ 898 w 898"/>
                <a:gd name="T25" fmla="*/ 200 h 375"/>
                <a:gd name="T26" fmla="*/ 892 w 898"/>
                <a:gd name="T27" fmla="*/ 226 h 375"/>
                <a:gd name="T28" fmla="*/ 875 w 898"/>
                <a:gd name="T29" fmla="*/ 250 h 375"/>
                <a:gd name="T30" fmla="*/ 851 w 898"/>
                <a:gd name="T31" fmla="*/ 274 h 375"/>
                <a:gd name="T32" fmla="*/ 818 w 898"/>
                <a:gd name="T33" fmla="*/ 295 h 375"/>
                <a:gd name="T34" fmla="*/ 779 w 898"/>
                <a:gd name="T35" fmla="*/ 315 h 375"/>
                <a:gd name="T36" fmla="*/ 734 w 898"/>
                <a:gd name="T37" fmla="*/ 332 h 375"/>
                <a:gd name="T38" fmla="*/ 684 w 898"/>
                <a:gd name="T39" fmla="*/ 347 h 375"/>
                <a:gd name="T40" fmla="*/ 630 w 898"/>
                <a:gd name="T41" fmla="*/ 360 h 375"/>
                <a:gd name="T42" fmla="*/ 572 w 898"/>
                <a:gd name="T43" fmla="*/ 369 h 375"/>
                <a:gd name="T44" fmla="*/ 511 w 898"/>
                <a:gd name="T45" fmla="*/ 373 h 375"/>
                <a:gd name="T46" fmla="*/ 450 w 898"/>
                <a:gd name="T47" fmla="*/ 375 h 375"/>
                <a:gd name="T48" fmla="*/ 390 w 898"/>
                <a:gd name="T49" fmla="*/ 373 h 375"/>
                <a:gd name="T50" fmla="*/ 329 w 898"/>
                <a:gd name="T51" fmla="*/ 369 h 375"/>
                <a:gd name="T52" fmla="*/ 271 w 898"/>
                <a:gd name="T53" fmla="*/ 360 h 375"/>
                <a:gd name="T54" fmla="*/ 217 w 898"/>
                <a:gd name="T55" fmla="*/ 347 h 375"/>
                <a:gd name="T56" fmla="*/ 167 w 898"/>
                <a:gd name="T57" fmla="*/ 332 h 375"/>
                <a:gd name="T58" fmla="*/ 122 w 898"/>
                <a:gd name="T59" fmla="*/ 315 h 375"/>
                <a:gd name="T60" fmla="*/ 83 w 898"/>
                <a:gd name="T61" fmla="*/ 295 h 375"/>
                <a:gd name="T62" fmla="*/ 50 w 898"/>
                <a:gd name="T63" fmla="*/ 274 h 375"/>
                <a:gd name="T64" fmla="*/ 26 w 898"/>
                <a:gd name="T65" fmla="*/ 250 h 375"/>
                <a:gd name="T66" fmla="*/ 9 w 898"/>
                <a:gd name="T67" fmla="*/ 226 h 375"/>
                <a:gd name="T68" fmla="*/ 0 w 898"/>
                <a:gd name="T69" fmla="*/ 200 h 375"/>
                <a:gd name="T70" fmla="*/ 0 w 898"/>
                <a:gd name="T71" fmla="*/ 174 h 375"/>
                <a:gd name="T72" fmla="*/ 9 w 898"/>
                <a:gd name="T73" fmla="*/ 149 h 375"/>
                <a:gd name="T74" fmla="*/ 26 w 898"/>
                <a:gd name="T75" fmla="*/ 125 h 375"/>
                <a:gd name="T76" fmla="*/ 50 w 898"/>
                <a:gd name="T77" fmla="*/ 101 h 375"/>
                <a:gd name="T78" fmla="*/ 83 w 898"/>
                <a:gd name="T79" fmla="*/ 79 h 375"/>
                <a:gd name="T80" fmla="*/ 122 w 898"/>
                <a:gd name="T81" fmla="*/ 60 h 375"/>
                <a:gd name="T82" fmla="*/ 167 w 898"/>
                <a:gd name="T83" fmla="*/ 43 h 375"/>
                <a:gd name="T84" fmla="*/ 217 w 898"/>
                <a:gd name="T85" fmla="*/ 28 h 375"/>
                <a:gd name="T86" fmla="*/ 271 w 898"/>
                <a:gd name="T87" fmla="*/ 15 h 375"/>
                <a:gd name="T88" fmla="*/ 329 w 898"/>
                <a:gd name="T89" fmla="*/ 6 h 375"/>
                <a:gd name="T90" fmla="*/ 390 w 898"/>
                <a:gd name="T91" fmla="*/ 2 h 375"/>
                <a:gd name="T92" fmla="*/ 450 w 898"/>
                <a:gd name="T93" fmla="*/ 0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98" h="375">
                  <a:moveTo>
                    <a:pt x="450" y="0"/>
                  </a:moveTo>
                  <a:lnTo>
                    <a:pt x="511" y="2"/>
                  </a:lnTo>
                  <a:lnTo>
                    <a:pt x="572" y="6"/>
                  </a:lnTo>
                  <a:lnTo>
                    <a:pt x="630" y="15"/>
                  </a:lnTo>
                  <a:lnTo>
                    <a:pt x="684" y="28"/>
                  </a:lnTo>
                  <a:lnTo>
                    <a:pt x="734" y="43"/>
                  </a:lnTo>
                  <a:lnTo>
                    <a:pt x="779" y="60"/>
                  </a:lnTo>
                  <a:lnTo>
                    <a:pt x="818" y="79"/>
                  </a:lnTo>
                  <a:lnTo>
                    <a:pt x="851" y="101"/>
                  </a:lnTo>
                  <a:lnTo>
                    <a:pt x="875" y="125"/>
                  </a:lnTo>
                  <a:lnTo>
                    <a:pt x="892" y="149"/>
                  </a:lnTo>
                  <a:lnTo>
                    <a:pt x="898" y="174"/>
                  </a:lnTo>
                  <a:lnTo>
                    <a:pt x="898" y="200"/>
                  </a:lnTo>
                  <a:lnTo>
                    <a:pt x="892" y="226"/>
                  </a:lnTo>
                  <a:lnTo>
                    <a:pt x="875" y="250"/>
                  </a:lnTo>
                  <a:lnTo>
                    <a:pt x="851" y="274"/>
                  </a:lnTo>
                  <a:lnTo>
                    <a:pt x="818" y="295"/>
                  </a:lnTo>
                  <a:lnTo>
                    <a:pt x="779" y="315"/>
                  </a:lnTo>
                  <a:lnTo>
                    <a:pt x="734" y="332"/>
                  </a:lnTo>
                  <a:lnTo>
                    <a:pt x="684" y="347"/>
                  </a:lnTo>
                  <a:lnTo>
                    <a:pt x="630" y="360"/>
                  </a:lnTo>
                  <a:lnTo>
                    <a:pt x="572" y="369"/>
                  </a:lnTo>
                  <a:lnTo>
                    <a:pt x="511" y="373"/>
                  </a:lnTo>
                  <a:lnTo>
                    <a:pt x="450" y="375"/>
                  </a:lnTo>
                  <a:lnTo>
                    <a:pt x="390" y="373"/>
                  </a:lnTo>
                  <a:lnTo>
                    <a:pt x="329" y="369"/>
                  </a:lnTo>
                  <a:lnTo>
                    <a:pt x="271" y="360"/>
                  </a:lnTo>
                  <a:lnTo>
                    <a:pt x="217" y="347"/>
                  </a:lnTo>
                  <a:lnTo>
                    <a:pt x="167" y="332"/>
                  </a:lnTo>
                  <a:lnTo>
                    <a:pt x="122" y="315"/>
                  </a:lnTo>
                  <a:lnTo>
                    <a:pt x="83" y="295"/>
                  </a:lnTo>
                  <a:lnTo>
                    <a:pt x="50" y="274"/>
                  </a:lnTo>
                  <a:lnTo>
                    <a:pt x="26" y="250"/>
                  </a:lnTo>
                  <a:lnTo>
                    <a:pt x="9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9" y="149"/>
                  </a:lnTo>
                  <a:lnTo>
                    <a:pt x="26" y="125"/>
                  </a:lnTo>
                  <a:lnTo>
                    <a:pt x="50" y="101"/>
                  </a:lnTo>
                  <a:lnTo>
                    <a:pt x="83" y="79"/>
                  </a:lnTo>
                  <a:lnTo>
                    <a:pt x="122" y="60"/>
                  </a:lnTo>
                  <a:lnTo>
                    <a:pt x="167" y="43"/>
                  </a:lnTo>
                  <a:lnTo>
                    <a:pt x="217" y="28"/>
                  </a:lnTo>
                  <a:lnTo>
                    <a:pt x="271" y="15"/>
                  </a:lnTo>
                  <a:lnTo>
                    <a:pt x="329" y="6"/>
                  </a:lnTo>
                  <a:lnTo>
                    <a:pt x="390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594" name="Rectangle 50"/>
            <p:cNvSpPr>
              <a:spLocks noChangeAspect="1" noChangeArrowheads="1"/>
            </p:cNvSpPr>
            <p:nvPr/>
          </p:nvSpPr>
          <p:spPr bwMode="auto">
            <a:xfrm>
              <a:off x="1910" y="2562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1</a:t>
              </a:r>
              <a:endParaRPr lang="en-US" sz="1600"/>
            </a:p>
          </p:txBody>
        </p:sp>
      </p:grpSp>
      <p:grpSp>
        <p:nvGrpSpPr>
          <p:cNvPr id="1644595" name="Group 51"/>
          <p:cNvGrpSpPr>
            <a:grpSpLocks noChangeAspect="1"/>
          </p:cNvGrpSpPr>
          <p:nvPr/>
        </p:nvGrpSpPr>
        <p:grpSpPr bwMode="auto">
          <a:xfrm>
            <a:off x="893763" y="4779963"/>
            <a:ext cx="1035050" cy="582612"/>
            <a:chOff x="380" y="1581"/>
            <a:chExt cx="1012" cy="570"/>
          </a:xfrm>
        </p:grpSpPr>
        <p:sp>
          <p:nvSpPr>
            <p:cNvPr id="1644596" name="Freeform 52"/>
            <p:cNvSpPr>
              <a:spLocks noChangeAspect="1"/>
            </p:cNvSpPr>
            <p:nvPr/>
          </p:nvSpPr>
          <p:spPr bwMode="auto">
            <a:xfrm>
              <a:off x="380" y="1760"/>
              <a:ext cx="1012" cy="391"/>
            </a:xfrm>
            <a:custGeom>
              <a:avLst/>
              <a:gdLst>
                <a:gd name="T0" fmla="*/ 523 w 1012"/>
                <a:gd name="T1" fmla="*/ 5 h 391"/>
                <a:gd name="T2" fmla="*/ 586 w 1012"/>
                <a:gd name="T3" fmla="*/ 11 h 391"/>
                <a:gd name="T4" fmla="*/ 649 w 1012"/>
                <a:gd name="T5" fmla="*/ 22 h 391"/>
                <a:gd name="T6" fmla="*/ 707 w 1012"/>
                <a:gd name="T7" fmla="*/ 35 h 391"/>
                <a:gd name="T8" fmla="*/ 766 w 1012"/>
                <a:gd name="T9" fmla="*/ 50 h 391"/>
                <a:gd name="T10" fmla="*/ 818 w 1012"/>
                <a:gd name="T11" fmla="*/ 67 h 391"/>
                <a:gd name="T12" fmla="*/ 865 w 1012"/>
                <a:gd name="T13" fmla="*/ 87 h 391"/>
                <a:gd name="T14" fmla="*/ 906 w 1012"/>
                <a:gd name="T15" fmla="*/ 108 h 391"/>
                <a:gd name="T16" fmla="*/ 943 w 1012"/>
                <a:gd name="T17" fmla="*/ 130 h 391"/>
                <a:gd name="T18" fmla="*/ 971 w 1012"/>
                <a:gd name="T19" fmla="*/ 154 h 391"/>
                <a:gd name="T20" fmla="*/ 993 w 1012"/>
                <a:gd name="T21" fmla="*/ 180 h 391"/>
                <a:gd name="T22" fmla="*/ 1006 w 1012"/>
                <a:gd name="T23" fmla="*/ 203 h 391"/>
                <a:gd name="T24" fmla="*/ 1012 w 1012"/>
                <a:gd name="T25" fmla="*/ 227 h 391"/>
                <a:gd name="T26" fmla="*/ 1010 w 1012"/>
                <a:gd name="T27" fmla="*/ 251 h 391"/>
                <a:gd name="T28" fmla="*/ 999 w 1012"/>
                <a:gd name="T29" fmla="*/ 275 h 391"/>
                <a:gd name="T30" fmla="*/ 982 w 1012"/>
                <a:gd name="T31" fmla="*/ 296 h 391"/>
                <a:gd name="T32" fmla="*/ 956 w 1012"/>
                <a:gd name="T33" fmla="*/ 318 h 391"/>
                <a:gd name="T34" fmla="*/ 924 w 1012"/>
                <a:gd name="T35" fmla="*/ 335 h 391"/>
                <a:gd name="T36" fmla="*/ 885 w 1012"/>
                <a:gd name="T37" fmla="*/ 352 h 391"/>
                <a:gd name="T38" fmla="*/ 842 w 1012"/>
                <a:gd name="T39" fmla="*/ 365 h 391"/>
                <a:gd name="T40" fmla="*/ 790 w 1012"/>
                <a:gd name="T41" fmla="*/ 376 h 391"/>
                <a:gd name="T42" fmla="*/ 736 w 1012"/>
                <a:gd name="T43" fmla="*/ 385 h 391"/>
                <a:gd name="T44" fmla="*/ 677 w 1012"/>
                <a:gd name="T45" fmla="*/ 389 h 391"/>
                <a:gd name="T46" fmla="*/ 616 w 1012"/>
                <a:gd name="T47" fmla="*/ 391 h 391"/>
                <a:gd name="T48" fmla="*/ 554 w 1012"/>
                <a:gd name="T49" fmla="*/ 391 h 391"/>
                <a:gd name="T50" fmla="*/ 489 w 1012"/>
                <a:gd name="T51" fmla="*/ 387 h 391"/>
                <a:gd name="T52" fmla="*/ 426 w 1012"/>
                <a:gd name="T53" fmla="*/ 380 h 391"/>
                <a:gd name="T54" fmla="*/ 363 w 1012"/>
                <a:gd name="T55" fmla="*/ 370 h 391"/>
                <a:gd name="T56" fmla="*/ 305 w 1012"/>
                <a:gd name="T57" fmla="*/ 357 h 391"/>
                <a:gd name="T58" fmla="*/ 249 w 1012"/>
                <a:gd name="T59" fmla="*/ 342 h 391"/>
                <a:gd name="T60" fmla="*/ 195 w 1012"/>
                <a:gd name="T61" fmla="*/ 324 h 391"/>
                <a:gd name="T62" fmla="*/ 147 w 1012"/>
                <a:gd name="T63" fmla="*/ 305 h 391"/>
                <a:gd name="T64" fmla="*/ 106 w 1012"/>
                <a:gd name="T65" fmla="*/ 283 h 391"/>
                <a:gd name="T66" fmla="*/ 69 w 1012"/>
                <a:gd name="T67" fmla="*/ 262 h 391"/>
                <a:gd name="T68" fmla="*/ 41 w 1012"/>
                <a:gd name="T69" fmla="*/ 238 h 391"/>
                <a:gd name="T70" fmla="*/ 19 w 1012"/>
                <a:gd name="T71" fmla="*/ 212 h 391"/>
                <a:gd name="T72" fmla="*/ 6 w 1012"/>
                <a:gd name="T73" fmla="*/ 188 h 391"/>
                <a:gd name="T74" fmla="*/ 0 w 1012"/>
                <a:gd name="T75" fmla="*/ 164 h 391"/>
                <a:gd name="T76" fmla="*/ 2 w 1012"/>
                <a:gd name="T77" fmla="*/ 139 h 391"/>
                <a:gd name="T78" fmla="*/ 13 w 1012"/>
                <a:gd name="T79" fmla="*/ 117 h 391"/>
                <a:gd name="T80" fmla="*/ 30 w 1012"/>
                <a:gd name="T81" fmla="*/ 95 h 391"/>
                <a:gd name="T82" fmla="*/ 56 w 1012"/>
                <a:gd name="T83" fmla="*/ 74 h 391"/>
                <a:gd name="T84" fmla="*/ 89 w 1012"/>
                <a:gd name="T85" fmla="*/ 57 h 391"/>
                <a:gd name="T86" fmla="*/ 128 w 1012"/>
                <a:gd name="T87" fmla="*/ 39 h 391"/>
                <a:gd name="T88" fmla="*/ 171 w 1012"/>
                <a:gd name="T89" fmla="*/ 26 h 391"/>
                <a:gd name="T90" fmla="*/ 223 w 1012"/>
                <a:gd name="T91" fmla="*/ 16 h 391"/>
                <a:gd name="T92" fmla="*/ 277 w 1012"/>
                <a:gd name="T93" fmla="*/ 7 h 391"/>
                <a:gd name="T94" fmla="*/ 335 w 1012"/>
                <a:gd name="T95" fmla="*/ 3 h 391"/>
                <a:gd name="T96" fmla="*/ 396 w 1012"/>
                <a:gd name="T97" fmla="*/ 0 h 391"/>
                <a:gd name="T98" fmla="*/ 459 w 1012"/>
                <a:gd name="T99" fmla="*/ 0 h 391"/>
                <a:gd name="T100" fmla="*/ 523 w 1012"/>
                <a:gd name="T101" fmla="*/ 5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12" h="391">
                  <a:moveTo>
                    <a:pt x="523" y="5"/>
                  </a:moveTo>
                  <a:lnTo>
                    <a:pt x="586" y="11"/>
                  </a:lnTo>
                  <a:lnTo>
                    <a:pt x="649" y="22"/>
                  </a:lnTo>
                  <a:lnTo>
                    <a:pt x="707" y="35"/>
                  </a:lnTo>
                  <a:lnTo>
                    <a:pt x="766" y="50"/>
                  </a:lnTo>
                  <a:lnTo>
                    <a:pt x="818" y="67"/>
                  </a:lnTo>
                  <a:lnTo>
                    <a:pt x="865" y="87"/>
                  </a:lnTo>
                  <a:lnTo>
                    <a:pt x="906" y="108"/>
                  </a:lnTo>
                  <a:lnTo>
                    <a:pt x="943" y="130"/>
                  </a:lnTo>
                  <a:lnTo>
                    <a:pt x="971" y="154"/>
                  </a:lnTo>
                  <a:lnTo>
                    <a:pt x="993" y="180"/>
                  </a:lnTo>
                  <a:lnTo>
                    <a:pt x="1006" y="203"/>
                  </a:lnTo>
                  <a:lnTo>
                    <a:pt x="1012" y="227"/>
                  </a:lnTo>
                  <a:lnTo>
                    <a:pt x="1010" y="251"/>
                  </a:lnTo>
                  <a:lnTo>
                    <a:pt x="999" y="275"/>
                  </a:lnTo>
                  <a:lnTo>
                    <a:pt x="982" y="296"/>
                  </a:lnTo>
                  <a:lnTo>
                    <a:pt x="956" y="318"/>
                  </a:lnTo>
                  <a:lnTo>
                    <a:pt x="924" y="335"/>
                  </a:lnTo>
                  <a:lnTo>
                    <a:pt x="885" y="352"/>
                  </a:lnTo>
                  <a:lnTo>
                    <a:pt x="842" y="365"/>
                  </a:lnTo>
                  <a:lnTo>
                    <a:pt x="790" y="376"/>
                  </a:lnTo>
                  <a:lnTo>
                    <a:pt x="736" y="385"/>
                  </a:lnTo>
                  <a:lnTo>
                    <a:pt x="677" y="389"/>
                  </a:lnTo>
                  <a:lnTo>
                    <a:pt x="616" y="391"/>
                  </a:lnTo>
                  <a:lnTo>
                    <a:pt x="554" y="391"/>
                  </a:lnTo>
                  <a:lnTo>
                    <a:pt x="489" y="387"/>
                  </a:lnTo>
                  <a:lnTo>
                    <a:pt x="426" y="380"/>
                  </a:lnTo>
                  <a:lnTo>
                    <a:pt x="363" y="370"/>
                  </a:lnTo>
                  <a:lnTo>
                    <a:pt x="305" y="357"/>
                  </a:lnTo>
                  <a:lnTo>
                    <a:pt x="249" y="342"/>
                  </a:lnTo>
                  <a:lnTo>
                    <a:pt x="195" y="324"/>
                  </a:lnTo>
                  <a:lnTo>
                    <a:pt x="147" y="305"/>
                  </a:lnTo>
                  <a:lnTo>
                    <a:pt x="106" y="283"/>
                  </a:lnTo>
                  <a:lnTo>
                    <a:pt x="69" y="262"/>
                  </a:lnTo>
                  <a:lnTo>
                    <a:pt x="41" y="238"/>
                  </a:lnTo>
                  <a:lnTo>
                    <a:pt x="19" y="212"/>
                  </a:lnTo>
                  <a:lnTo>
                    <a:pt x="6" y="188"/>
                  </a:lnTo>
                  <a:lnTo>
                    <a:pt x="0" y="164"/>
                  </a:lnTo>
                  <a:lnTo>
                    <a:pt x="2" y="139"/>
                  </a:lnTo>
                  <a:lnTo>
                    <a:pt x="13" y="117"/>
                  </a:lnTo>
                  <a:lnTo>
                    <a:pt x="30" y="95"/>
                  </a:lnTo>
                  <a:lnTo>
                    <a:pt x="56" y="74"/>
                  </a:lnTo>
                  <a:lnTo>
                    <a:pt x="89" y="57"/>
                  </a:lnTo>
                  <a:lnTo>
                    <a:pt x="128" y="39"/>
                  </a:lnTo>
                  <a:lnTo>
                    <a:pt x="171" y="26"/>
                  </a:lnTo>
                  <a:lnTo>
                    <a:pt x="223" y="16"/>
                  </a:lnTo>
                  <a:lnTo>
                    <a:pt x="277" y="7"/>
                  </a:lnTo>
                  <a:lnTo>
                    <a:pt x="335" y="3"/>
                  </a:lnTo>
                  <a:lnTo>
                    <a:pt x="396" y="0"/>
                  </a:lnTo>
                  <a:lnTo>
                    <a:pt x="459" y="0"/>
                  </a:lnTo>
                  <a:lnTo>
                    <a:pt x="523" y="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597" name="Rectangle 53"/>
            <p:cNvSpPr>
              <a:spLocks noChangeAspect="1" noChangeArrowheads="1"/>
            </p:cNvSpPr>
            <p:nvPr/>
          </p:nvSpPr>
          <p:spPr bwMode="auto">
            <a:xfrm>
              <a:off x="914" y="158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2</a:t>
              </a:r>
              <a:endParaRPr lang="en-US" sz="1600"/>
            </a:p>
          </p:txBody>
        </p:sp>
      </p:grpSp>
      <p:grpSp>
        <p:nvGrpSpPr>
          <p:cNvPr id="1644598" name="Group 54"/>
          <p:cNvGrpSpPr>
            <a:grpSpLocks noChangeAspect="1"/>
          </p:cNvGrpSpPr>
          <p:nvPr/>
        </p:nvGrpSpPr>
        <p:grpSpPr bwMode="auto">
          <a:xfrm>
            <a:off x="668338" y="4343400"/>
            <a:ext cx="2578100" cy="2286000"/>
            <a:chOff x="159" y="1154"/>
            <a:chExt cx="2523" cy="2237"/>
          </a:xfrm>
        </p:grpSpPr>
        <p:sp>
          <p:nvSpPr>
            <p:cNvPr id="1644599" name="Rectangle 55"/>
            <p:cNvSpPr>
              <a:spLocks noChangeAspect="1" noChangeArrowheads="1"/>
            </p:cNvSpPr>
            <p:nvPr/>
          </p:nvSpPr>
          <p:spPr bwMode="auto">
            <a:xfrm>
              <a:off x="2186" y="1166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5</a:t>
              </a:r>
              <a:endParaRPr lang="en-US" sz="1600"/>
            </a:p>
          </p:txBody>
        </p:sp>
        <p:sp>
          <p:nvSpPr>
            <p:cNvPr id="1644600" name="Freeform 56"/>
            <p:cNvSpPr>
              <a:spLocks noChangeAspect="1"/>
            </p:cNvSpPr>
            <p:nvPr/>
          </p:nvSpPr>
          <p:spPr bwMode="auto">
            <a:xfrm>
              <a:off x="159" y="1154"/>
              <a:ext cx="2523" cy="2237"/>
            </a:xfrm>
            <a:custGeom>
              <a:avLst/>
              <a:gdLst>
                <a:gd name="T0" fmla="*/ 1363 w 2523"/>
                <a:gd name="T1" fmla="*/ 2 h 2237"/>
                <a:gd name="T2" fmla="*/ 1569 w 2523"/>
                <a:gd name="T3" fmla="*/ 32 h 2237"/>
                <a:gd name="T4" fmla="*/ 1766 w 2523"/>
                <a:gd name="T5" fmla="*/ 93 h 2237"/>
                <a:gd name="T6" fmla="*/ 1950 w 2523"/>
                <a:gd name="T7" fmla="*/ 179 h 2237"/>
                <a:gd name="T8" fmla="*/ 2114 w 2523"/>
                <a:gd name="T9" fmla="*/ 293 h 2237"/>
                <a:gd name="T10" fmla="*/ 2255 w 2523"/>
                <a:gd name="T11" fmla="*/ 429 h 2237"/>
                <a:gd name="T12" fmla="*/ 2369 w 2523"/>
                <a:gd name="T13" fmla="*/ 583 h 2237"/>
                <a:gd name="T14" fmla="*/ 2454 w 2523"/>
                <a:gd name="T15" fmla="*/ 753 h 2237"/>
                <a:gd name="T16" fmla="*/ 2506 w 2523"/>
                <a:gd name="T17" fmla="*/ 930 h 2237"/>
                <a:gd name="T18" fmla="*/ 2523 w 2523"/>
                <a:gd name="T19" fmla="*/ 1116 h 2237"/>
                <a:gd name="T20" fmla="*/ 2506 w 2523"/>
                <a:gd name="T21" fmla="*/ 1299 h 2237"/>
                <a:gd name="T22" fmla="*/ 2454 w 2523"/>
                <a:gd name="T23" fmla="*/ 1479 h 2237"/>
                <a:gd name="T24" fmla="*/ 2372 w 2523"/>
                <a:gd name="T25" fmla="*/ 1647 h 2237"/>
                <a:gd name="T26" fmla="*/ 2257 w 2523"/>
                <a:gd name="T27" fmla="*/ 1803 h 2237"/>
                <a:gd name="T28" fmla="*/ 2116 w 2523"/>
                <a:gd name="T29" fmla="*/ 1939 h 2237"/>
                <a:gd name="T30" fmla="*/ 1952 w 2523"/>
                <a:gd name="T31" fmla="*/ 2053 h 2237"/>
                <a:gd name="T32" fmla="*/ 1770 w 2523"/>
                <a:gd name="T33" fmla="*/ 2142 h 2237"/>
                <a:gd name="T34" fmla="*/ 1573 w 2523"/>
                <a:gd name="T35" fmla="*/ 2202 h 2237"/>
                <a:gd name="T36" fmla="*/ 1368 w 2523"/>
                <a:gd name="T37" fmla="*/ 2232 h 2237"/>
                <a:gd name="T38" fmla="*/ 1160 w 2523"/>
                <a:gd name="T39" fmla="*/ 2232 h 2237"/>
                <a:gd name="T40" fmla="*/ 954 w 2523"/>
                <a:gd name="T41" fmla="*/ 2202 h 2237"/>
                <a:gd name="T42" fmla="*/ 757 w 2523"/>
                <a:gd name="T43" fmla="*/ 2144 h 2237"/>
                <a:gd name="T44" fmla="*/ 574 w 2523"/>
                <a:gd name="T45" fmla="*/ 2055 h 2237"/>
                <a:gd name="T46" fmla="*/ 409 w 2523"/>
                <a:gd name="T47" fmla="*/ 1943 h 2237"/>
                <a:gd name="T48" fmla="*/ 268 w 2523"/>
                <a:gd name="T49" fmla="*/ 1807 h 2237"/>
                <a:gd name="T50" fmla="*/ 154 w 2523"/>
                <a:gd name="T51" fmla="*/ 1651 h 2237"/>
                <a:gd name="T52" fmla="*/ 69 w 2523"/>
                <a:gd name="T53" fmla="*/ 1483 h 2237"/>
                <a:gd name="T54" fmla="*/ 17 w 2523"/>
                <a:gd name="T55" fmla="*/ 1304 h 2237"/>
                <a:gd name="T56" fmla="*/ 0 w 2523"/>
                <a:gd name="T57" fmla="*/ 1120 h 2237"/>
                <a:gd name="T58" fmla="*/ 17 w 2523"/>
                <a:gd name="T59" fmla="*/ 935 h 2237"/>
                <a:gd name="T60" fmla="*/ 69 w 2523"/>
                <a:gd name="T61" fmla="*/ 755 h 2237"/>
                <a:gd name="T62" fmla="*/ 152 w 2523"/>
                <a:gd name="T63" fmla="*/ 587 h 2237"/>
                <a:gd name="T64" fmla="*/ 266 w 2523"/>
                <a:gd name="T65" fmla="*/ 431 h 2237"/>
                <a:gd name="T66" fmla="*/ 407 w 2523"/>
                <a:gd name="T67" fmla="*/ 295 h 2237"/>
                <a:gd name="T68" fmla="*/ 571 w 2523"/>
                <a:gd name="T69" fmla="*/ 183 h 2237"/>
                <a:gd name="T70" fmla="*/ 753 w 2523"/>
                <a:gd name="T71" fmla="*/ 95 h 2237"/>
                <a:gd name="T72" fmla="*/ 950 w 2523"/>
                <a:gd name="T73" fmla="*/ 34 h 2237"/>
                <a:gd name="T74" fmla="*/ 1156 w 2523"/>
                <a:gd name="T75" fmla="*/ 4 h 2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23" h="2237">
                  <a:moveTo>
                    <a:pt x="1259" y="0"/>
                  </a:moveTo>
                  <a:lnTo>
                    <a:pt x="1363" y="2"/>
                  </a:lnTo>
                  <a:lnTo>
                    <a:pt x="1467" y="15"/>
                  </a:lnTo>
                  <a:lnTo>
                    <a:pt x="1569" y="32"/>
                  </a:lnTo>
                  <a:lnTo>
                    <a:pt x="1668" y="58"/>
                  </a:lnTo>
                  <a:lnTo>
                    <a:pt x="1766" y="93"/>
                  </a:lnTo>
                  <a:lnTo>
                    <a:pt x="1861" y="134"/>
                  </a:lnTo>
                  <a:lnTo>
                    <a:pt x="1950" y="179"/>
                  </a:lnTo>
                  <a:lnTo>
                    <a:pt x="2034" y="233"/>
                  </a:lnTo>
                  <a:lnTo>
                    <a:pt x="2114" y="293"/>
                  </a:lnTo>
                  <a:lnTo>
                    <a:pt x="2188" y="358"/>
                  </a:lnTo>
                  <a:lnTo>
                    <a:pt x="2255" y="429"/>
                  </a:lnTo>
                  <a:lnTo>
                    <a:pt x="2315" y="505"/>
                  </a:lnTo>
                  <a:lnTo>
                    <a:pt x="2369" y="583"/>
                  </a:lnTo>
                  <a:lnTo>
                    <a:pt x="2415" y="667"/>
                  </a:lnTo>
                  <a:lnTo>
                    <a:pt x="2454" y="753"/>
                  </a:lnTo>
                  <a:lnTo>
                    <a:pt x="2484" y="842"/>
                  </a:lnTo>
                  <a:lnTo>
                    <a:pt x="2506" y="930"/>
                  </a:lnTo>
                  <a:lnTo>
                    <a:pt x="2519" y="1023"/>
                  </a:lnTo>
                  <a:lnTo>
                    <a:pt x="2523" y="1116"/>
                  </a:lnTo>
                  <a:lnTo>
                    <a:pt x="2519" y="1209"/>
                  </a:lnTo>
                  <a:lnTo>
                    <a:pt x="2506" y="1299"/>
                  </a:lnTo>
                  <a:lnTo>
                    <a:pt x="2484" y="1390"/>
                  </a:lnTo>
                  <a:lnTo>
                    <a:pt x="2454" y="1479"/>
                  </a:lnTo>
                  <a:lnTo>
                    <a:pt x="2417" y="1565"/>
                  </a:lnTo>
                  <a:lnTo>
                    <a:pt x="2372" y="1647"/>
                  </a:lnTo>
                  <a:lnTo>
                    <a:pt x="2317" y="1727"/>
                  </a:lnTo>
                  <a:lnTo>
                    <a:pt x="2257" y="1803"/>
                  </a:lnTo>
                  <a:lnTo>
                    <a:pt x="2190" y="1874"/>
                  </a:lnTo>
                  <a:lnTo>
                    <a:pt x="2116" y="1939"/>
                  </a:lnTo>
                  <a:lnTo>
                    <a:pt x="2038" y="1999"/>
                  </a:lnTo>
                  <a:lnTo>
                    <a:pt x="1952" y="2053"/>
                  </a:lnTo>
                  <a:lnTo>
                    <a:pt x="1863" y="2101"/>
                  </a:lnTo>
                  <a:lnTo>
                    <a:pt x="1770" y="2142"/>
                  </a:lnTo>
                  <a:lnTo>
                    <a:pt x="1673" y="2174"/>
                  </a:lnTo>
                  <a:lnTo>
                    <a:pt x="1573" y="2202"/>
                  </a:lnTo>
                  <a:lnTo>
                    <a:pt x="1471" y="2221"/>
                  </a:lnTo>
                  <a:lnTo>
                    <a:pt x="1368" y="2232"/>
                  </a:lnTo>
                  <a:lnTo>
                    <a:pt x="1264" y="2237"/>
                  </a:lnTo>
                  <a:lnTo>
                    <a:pt x="1160" y="2232"/>
                  </a:lnTo>
                  <a:lnTo>
                    <a:pt x="1056" y="2221"/>
                  </a:lnTo>
                  <a:lnTo>
                    <a:pt x="954" y="2202"/>
                  </a:lnTo>
                  <a:lnTo>
                    <a:pt x="855" y="2176"/>
                  </a:lnTo>
                  <a:lnTo>
                    <a:pt x="757" y="2144"/>
                  </a:lnTo>
                  <a:lnTo>
                    <a:pt x="662" y="2103"/>
                  </a:lnTo>
                  <a:lnTo>
                    <a:pt x="574" y="2055"/>
                  </a:lnTo>
                  <a:lnTo>
                    <a:pt x="489" y="2001"/>
                  </a:lnTo>
                  <a:lnTo>
                    <a:pt x="409" y="1943"/>
                  </a:lnTo>
                  <a:lnTo>
                    <a:pt x="336" y="1876"/>
                  </a:lnTo>
                  <a:lnTo>
                    <a:pt x="268" y="1807"/>
                  </a:lnTo>
                  <a:lnTo>
                    <a:pt x="208" y="1731"/>
                  </a:lnTo>
                  <a:lnTo>
                    <a:pt x="154" y="1651"/>
                  </a:lnTo>
                  <a:lnTo>
                    <a:pt x="108" y="1569"/>
                  </a:lnTo>
                  <a:lnTo>
                    <a:pt x="69" y="1483"/>
                  </a:lnTo>
                  <a:lnTo>
                    <a:pt x="39" y="1394"/>
                  </a:lnTo>
                  <a:lnTo>
                    <a:pt x="17" y="1304"/>
                  </a:lnTo>
                  <a:lnTo>
                    <a:pt x="4" y="1213"/>
                  </a:lnTo>
                  <a:lnTo>
                    <a:pt x="0" y="1120"/>
                  </a:lnTo>
                  <a:lnTo>
                    <a:pt x="4" y="1027"/>
                  </a:lnTo>
                  <a:lnTo>
                    <a:pt x="17" y="935"/>
                  </a:lnTo>
                  <a:lnTo>
                    <a:pt x="39" y="846"/>
                  </a:lnTo>
                  <a:lnTo>
                    <a:pt x="69" y="755"/>
                  </a:lnTo>
                  <a:lnTo>
                    <a:pt x="106" y="671"/>
                  </a:lnTo>
                  <a:lnTo>
                    <a:pt x="152" y="587"/>
                  </a:lnTo>
                  <a:lnTo>
                    <a:pt x="206" y="507"/>
                  </a:lnTo>
                  <a:lnTo>
                    <a:pt x="266" y="431"/>
                  </a:lnTo>
                  <a:lnTo>
                    <a:pt x="333" y="362"/>
                  </a:lnTo>
                  <a:lnTo>
                    <a:pt x="407" y="295"/>
                  </a:lnTo>
                  <a:lnTo>
                    <a:pt x="485" y="237"/>
                  </a:lnTo>
                  <a:lnTo>
                    <a:pt x="571" y="183"/>
                  </a:lnTo>
                  <a:lnTo>
                    <a:pt x="660" y="136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50" y="34"/>
                  </a:lnTo>
                  <a:lnTo>
                    <a:pt x="1052" y="15"/>
                  </a:lnTo>
                  <a:lnTo>
                    <a:pt x="1156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601" name="Group 57"/>
          <p:cNvGrpSpPr>
            <a:grpSpLocks noChangeAspect="1"/>
          </p:cNvGrpSpPr>
          <p:nvPr/>
        </p:nvGrpSpPr>
        <p:grpSpPr bwMode="auto">
          <a:xfrm>
            <a:off x="1665288" y="5294313"/>
            <a:ext cx="1357312" cy="1052512"/>
            <a:chOff x="1135" y="2084"/>
            <a:chExt cx="1328" cy="1030"/>
          </a:xfrm>
        </p:grpSpPr>
        <p:sp>
          <p:nvSpPr>
            <p:cNvPr id="1644602" name="Rectangle 58"/>
            <p:cNvSpPr>
              <a:spLocks noChangeAspect="1" noChangeArrowheads="1"/>
            </p:cNvSpPr>
            <p:nvPr/>
          </p:nvSpPr>
          <p:spPr bwMode="auto">
            <a:xfrm>
              <a:off x="1135" y="245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3</a:t>
              </a:r>
              <a:endParaRPr lang="en-US" sz="1600"/>
            </a:p>
          </p:txBody>
        </p:sp>
        <p:sp>
          <p:nvSpPr>
            <p:cNvPr id="1644603" name="Freeform 59"/>
            <p:cNvSpPr>
              <a:spLocks noChangeAspect="1"/>
            </p:cNvSpPr>
            <p:nvPr/>
          </p:nvSpPr>
          <p:spPr bwMode="auto">
            <a:xfrm>
              <a:off x="1178" y="2084"/>
              <a:ext cx="1285" cy="1030"/>
            </a:xfrm>
            <a:custGeom>
              <a:avLst/>
              <a:gdLst>
                <a:gd name="T0" fmla="*/ 422 w 1285"/>
                <a:gd name="T1" fmla="*/ 162 h 1030"/>
                <a:gd name="T2" fmla="*/ 487 w 1285"/>
                <a:gd name="T3" fmla="*/ 123 h 1030"/>
                <a:gd name="T4" fmla="*/ 556 w 1285"/>
                <a:gd name="T5" fmla="*/ 89 h 1030"/>
                <a:gd name="T6" fmla="*/ 626 w 1285"/>
                <a:gd name="T7" fmla="*/ 61 h 1030"/>
                <a:gd name="T8" fmla="*/ 695 w 1285"/>
                <a:gd name="T9" fmla="*/ 37 h 1030"/>
                <a:gd name="T10" fmla="*/ 764 w 1285"/>
                <a:gd name="T11" fmla="*/ 18 h 1030"/>
                <a:gd name="T12" fmla="*/ 831 w 1285"/>
                <a:gd name="T13" fmla="*/ 7 h 1030"/>
                <a:gd name="T14" fmla="*/ 896 w 1285"/>
                <a:gd name="T15" fmla="*/ 0 h 1030"/>
                <a:gd name="T16" fmla="*/ 959 w 1285"/>
                <a:gd name="T17" fmla="*/ 0 h 1030"/>
                <a:gd name="T18" fmla="*/ 1017 w 1285"/>
                <a:gd name="T19" fmla="*/ 7 h 1030"/>
                <a:gd name="T20" fmla="*/ 1071 w 1285"/>
                <a:gd name="T21" fmla="*/ 18 h 1030"/>
                <a:gd name="T22" fmla="*/ 1121 w 1285"/>
                <a:gd name="T23" fmla="*/ 35 h 1030"/>
                <a:gd name="T24" fmla="*/ 1164 w 1285"/>
                <a:gd name="T25" fmla="*/ 59 h 1030"/>
                <a:gd name="T26" fmla="*/ 1203 w 1285"/>
                <a:gd name="T27" fmla="*/ 87 h 1030"/>
                <a:gd name="T28" fmla="*/ 1234 w 1285"/>
                <a:gd name="T29" fmla="*/ 121 h 1030"/>
                <a:gd name="T30" fmla="*/ 1257 w 1285"/>
                <a:gd name="T31" fmla="*/ 160 h 1030"/>
                <a:gd name="T32" fmla="*/ 1275 w 1285"/>
                <a:gd name="T33" fmla="*/ 201 h 1030"/>
                <a:gd name="T34" fmla="*/ 1283 w 1285"/>
                <a:gd name="T35" fmla="*/ 249 h 1030"/>
                <a:gd name="T36" fmla="*/ 1285 w 1285"/>
                <a:gd name="T37" fmla="*/ 298 h 1030"/>
                <a:gd name="T38" fmla="*/ 1279 w 1285"/>
                <a:gd name="T39" fmla="*/ 350 h 1030"/>
                <a:gd name="T40" fmla="*/ 1266 w 1285"/>
                <a:gd name="T41" fmla="*/ 404 h 1030"/>
                <a:gd name="T42" fmla="*/ 1247 w 1285"/>
                <a:gd name="T43" fmla="*/ 458 h 1030"/>
                <a:gd name="T44" fmla="*/ 1218 w 1285"/>
                <a:gd name="T45" fmla="*/ 514 h 1030"/>
                <a:gd name="T46" fmla="*/ 1184 w 1285"/>
                <a:gd name="T47" fmla="*/ 570 h 1030"/>
                <a:gd name="T48" fmla="*/ 1145 w 1285"/>
                <a:gd name="T49" fmla="*/ 624 h 1030"/>
                <a:gd name="T50" fmla="*/ 1097 w 1285"/>
                <a:gd name="T51" fmla="*/ 678 h 1030"/>
                <a:gd name="T52" fmla="*/ 1045 w 1285"/>
                <a:gd name="T53" fmla="*/ 730 h 1030"/>
                <a:gd name="T54" fmla="*/ 989 w 1285"/>
                <a:gd name="T55" fmla="*/ 780 h 1030"/>
                <a:gd name="T56" fmla="*/ 928 w 1285"/>
                <a:gd name="T57" fmla="*/ 827 h 1030"/>
                <a:gd name="T58" fmla="*/ 866 w 1285"/>
                <a:gd name="T59" fmla="*/ 870 h 1030"/>
                <a:gd name="T60" fmla="*/ 799 w 1285"/>
                <a:gd name="T61" fmla="*/ 907 h 1030"/>
                <a:gd name="T62" fmla="*/ 729 w 1285"/>
                <a:gd name="T63" fmla="*/ 942 h 1030"/>
                <a:gd name="T64" fmla="*/ 660 w 1285"/>
                <a:gd name="T65" fmla="*/ 972 h 1030"/>
                <a:gd name="T66" fmla="*/ 591 w 1285"/>
                <a:gd name="T67" fmla="*/ 996 h 1030"/>
                <a:gd name="T68" fmla="*/ 522 w 1285"/>
                <a:gd name="T69" fmla="*/ 1013 h 1030"/>
                <a:gd name="T70" fmla="*/ 455 w 1285"/>
                <a:gd name="T71" fmla="*/ 1026 h 1030"/>
                <a:gd name="T72" fmla="*/ 390 w 1285"/>
                <a:gd name="T73" fmla="*/ 1030 h 1030"/>
                <a:gd name="T74" fmla="*/ 327 w 1285"/>
                <a:gd name="T75" fmla="*/ 1030 h 1030"/>
                <a:gd name="T76" fmla="*/ 269 w 1285"/>
                <a:gd name="T77" fmla="*/ 1026 h 1030"/>
                <a:gd name="T78" fmla="*/ 214 w 1285"/>
                <a:gd name="T79" fmla="*/ 1013 h 1030"/>
                <a:gd name="T80" fmla="*/ 165 w 1285"/>
                <a:gd name="T81" fmla="*/ 996 h 1030"/>
                <a:gd name="T82" fmla="*/ 121 w 1285"/>
                <a:gd name="T83" fmla="*/ 972 h 1030"/>
                <a:gd name="T84" fmla="*/ 85 w 1285"/>
                <a:gd name="T85" fmla="*/ 944 h 1030"/>
                <a:gd name="T86" fmla="*/ 52 w 1285"/>
                <a:gd name="T87" fmla="*/ 909 h 1030"/>
                <a:gd name="T88" fmla="*/ 28 w 1285"/>
                <a:gd name="T89" fmla="*/ 873 h 1030"/>
                <a:gd name="T90" fmla="*/ 13 w 1285"/>
                <a:gd name="T91" fmla="*/ 829 h 1030"/>
                <a:gd name="T92" fmla="*/ 2 w 1285"/>
                <a:gd name="T93" fmla="*/ 784 h 1030"/>
                <a:gd name="T94" fmla="*/ 0 w 1285"/>
                <a:gd name="T95" fmla="*/ 734 h 1030"/>
                <a:gd name="T96" fmla="*/ 7 w 1285"/>
                <a:gd name="T97" fmla="*/ 683 h 1030"/>
                <a:gd name="T98" fmla="*/ 20 w 1285"/>
                <a:gd name="T99" fmla="*/ 629 h 1030"/>
                <a:gd name="T100" fmla="*/ 39 w 1285"/>
                <a:gd name="T101" fmla="*/ 572 h 1030"/>
                <a:gd name="T102" fmla="*/ 67 w 1285"/>
                <a:gd name="T103" fmla="*/ 516 h 1030"/>
                <a:gd name="T104" fmla="*/ 102 w 1285"/>
                <a:gd name="T105" fmla="*/ 462 h 1030"/>
                <a:gd name="T106" fmla="*/ 143 w 1285"/>
                <a:gd name="T107" fmla="*/ 406 h 1030"/>
                <a:gd name="T108" fmla="*/ 188 w 1285"/>
                <a:gd name="T109" fmla="*/ 352 h 1030"/>
                <a:gd name="T110" fmla="*/ 240 w 1285"/>
                <a:gd name="T111" fmla="*/ 300 h 1030"/>
                <a:gd name="T112" fmla="*/ 297 w 1285"/>
                <a:gd name="T113" fmla="*/ 251 h 1030"/>
                <a:gd name="T114" fmla="*/ 357 w 1285"/>
                <a:gd name="T115" fmla="*/ 205 h 1030"/>
                <a:gd name="T116" fmla="*/ 422 w 1285"/>
                <a:gd name="T117" fmla="*/ 162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85" h="1030">
                  <a:moveTo>
                    <a:pt x="422" y="162"/>
                  </a:moveTo>
                  <a:lnTo>
                    <a:pt x="487" y="123"/>
                  </a:lnTo>
                  <a:lnTo>
                    <a:pt x="556" y="89"/>
                  </a:lnTo>
                  <a:lnTo>
                    <a:pt x="626" y="61"/>
                  </a:lnTo>
                  <a:lnTo>
                    <a:pt x="695" y="37"/>
                  </a:lnTo>
                  <a:lnTo>
                    <a:pt x="764" y="18"/>
                  </a:lnTo>
                  <a:lnTo>
                    <a:pt x="831" y="7"/>
                  </a:lnTo>
                  <a:lnTo>
                    <a:pt x="896" y="0"/>
                  </a:lnTo>
                  <a:lnTo>
                    <a:pt x="959" y="0"/>
                  </a:lnTo>
                  <a:lnTo>
                    <a:pt x="1017" y="7"/>
                  </a:lnTo>
                  <a:lnTo>
                    <a:pt x="1071" y="18"/>
                  </a:lnTo>
                  <a:lnTo>
                    <a:pt x="1121" y="35"/>
                  </a:lnTo>
                  <a:lnTo>
                    <a:pt x="1164" y="59"/>
                  </a:lnTo>
                  <a:lnTo>
                    <a:pt x="1203" y="87"/>
                  </a:lnTo>
                  <a:lnTo>
                    <a:pt x="1234" y="121"/>
                  </a:lnTo>
                  <a:lnTo>
                    <a:pt x="1257" y="160"/>
                  </a:lnTo>
                  <a:lnTo>
                    <a:pt x="1275" y="201"/>
                  </a:lnTo>
                  <a:lnTo>
                    <a:pt x="1283" y="249"/>
                  </a:lnTo>
                  <a:lnTo>
                    <a:pt x="1285" y="298"/>
                  </a:lnTo>
                  <a:lnTo>
                    <a:pt x="1279" y="350"/>
                  </a:lnTo>
                  <a:lnTo>
                    <a:pt x="1266" y="404"/>
                  </a:lnTo>
                  <a:lnTo>
                    <a:pt x="1247" y="458"/>
                  </a:lnTo>
                  <a:lnTo>
                    <a:pt x="1218" y="514"/>
                  </a:lnTo>
                  <a:lnTo>
                    <a:pt x="1184" y="570"/>
                  </a:lnTo>
                  <a:lnTo>
                    <a:pt x="1145" y="624"/>
                  </a:lnTo>
                  <a:lnTo>
                    <a:pt x="1097" y="678"/>
                  </a:lnTo>
                  <a:lnTo>
                    <a:pt x="1045" y="730"/>
                  </a:lnTo>
                  <a:lnTo>
                    <a:pt x="989" y="780"/>
                  </a:lnTo>
                  <a:lnTo>
                    <a:pt x="928" y="827"/>
                  </a:lnTo>
                  <a:lnTo>
                    <a:pt x="866" y="870"/>
                  </a:lnTo>
                  <a:lnTo>
                    <a:pt x="799" y="907"/>
                  </a:lnTo>
                  <a:lnTo>
                    <a:pt x="729" y="942"/>
                  </a:lnTo>
                  <a:lnTo>
                    <a:pt x="660" y="972"/>
                  </a:lnTo>
                  <a:lnTo>
                    <a:pt x="591" y="996"/>
                  </a:lnTo>
                  <a:lnTo>
                    <a:pt x="522" y="1013"/>
                  </a:lnTo>
                  <a:lnTo>
                    <a:pt x="455" y="1026"/>
                  </a:lnTo>
                  <a:lnTo>
                    <a:pt x="390" y="1030"/>
                  </a:lnTo>
                  <a:lnTo>
                    <a:pt x="327" y="1030"/>
                  </a:lnTo>
                  <a:lnTo>
                    <a:pt x="269" y="1026"/>
                  </a:lnTo>
                  <a:lnTo>
                    <a:pt x="214" y="1013"/>
                  </a:lnTo>
                  <a:lnTo>
                    <a:pt x="165" y="996"/>
                  </a:lnTo>
                  <a:lnTo>
                    <a:pt x="121" y="972"/>
                  </a:lnTo>
                  <a:lnTo>
                    <a:pt x="85" y="944"/>
                  </a:lnTo>
                  <a:lnTo>
                    <a:pt x="52" y="909"/>
                  </a:lnTo>
                  <a:lnTo>
                    <a:pt x="28" y="873"/>
                  </a:lnTo>
                  <a:lnTo>
                    <a:pt x="13" y="829"/>
                  </a:lnTo>
                  <a:lnTo>
                    <a:pt x="2" y="784"/>
                  </a:lnTo>
                  <a:lnTo>
                    <a:pt x="0" y="734"/>
                  </a:lnTo>
                  <a:lnTo>
                    <a:pt x="7" y="683"/>
                  </a:lnTo>
                  <a:lnTo>
                    <a:pt x="20" y="629"/>
                  </a:lnTo>
                  <a:lnTo>
                    <a:pt x="39" y="572"/>
                  </a:lnTo>
                  <a:lnTo>
                    <a:pt x="67" y="516"/>
                  </a:lnTo>
                  <a:lnTo>
                    <a:pt x="102" y="462"/>
                  </a:lnTo>
                  <a:lnTo>
                    <a:pt x="143" y="406"/>
                  </a:lnTo>
                  <a:lnTo>
                    <a:pt x="188" y="352"/>
                  </a:lnTo>
                  <a:lnTo>
                    <a:pt x="240" y="300"/>
                  </a:lnTo>
                  <a:lnTo>
                    <a:pt x="297" y="251"/>
                  </a:lnTo>
                  <a:lnTo>
                    <a:pt x="357" y="205"/>
                  </a:lnTo>
                  <a:lnTo>
                    <a:pt x="422" y="16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604" name="Group 60"/>
          <p:cNvGrpSpPr>
            <a:grpSpLocks noChangeAspect="1"/>
          </p:cNvGrpSpPr>
          <p:nvPr/>
        </p:nvGrpSpPr>
        <p:grpSpPr bwMode="auto">
          <a:xfrm>
            <a:off x="696913" y="4625975"/>
            <a:ext cx="2432050" cy="1789113"/>
            <a:chOff x="187" y="1430"/>
            <a:chExt cx="2380" cy="1751"/>
          </a:xfrm>
        </p:grpSpPr>
        <p:sp>
          <p:nvSpPr>
            <p:cNvPr id="1644605" name="Rectangle 61"/>
            <p:cNvSpPr>
              <a:spLocks noChangeAspect="1" noChangeArrowheads="1"/>
            </p:cNvSpPr>
            <p:nvPr/>
          </p:nvSpPr>
          <p:spPr bwMode="auto">
            <a:xfrm>
              <a:off x="417" y="2643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4</a:t>
              </a:r>
              <a:endParaRPr lang="en-US" sz="1600"/>
            </a:p>
          </p:txBody>
        </p:sp>
        <p:sp>
          <p:nvSpPr>
            <p:cNvPr id="1644606" name="Freeform 62"/>
            <p:cNvSpPr>
              <a:spLocks noChangeAspect="1"/>
            </p:cNvSpPr>
            <p:nvPr/>
          </p:nvSpPr>
          <p:spPr bwMode="auto">
            <a:xfrm>
              <a:off x="187" y="1430"/>
              <a:ext cx="2380" cy="1751"/>
            </a:xfrm>
            <a:custGeom>
              <a:avLst/>
              <a:gdLst>
                <a:gd name="T0" fmla="*/ 1275 w 2380"/>
                <a:gd name="T1" fmla="*/ 0 h 1751"/>
                <a:gd name="T2" fmla="*/ 1474 w 2380"/>
                <a:gd name="T3" fmla="*/ 22 h 1751"/>
                <a:gd name="T4" fmla="*/ 1664 w 2380"/>
                <a:gd name="T5" fmla="*/ 67 h 1751"/>
                <a:gd name="T6" fmla="*/ 1842 w 2380"/>
                <a:gd name="T7" fmla="*/ 136 h 1751"/>
                <a:gd name="T8" fmla="*/ 2002 w 2380"/>
                <a:gd name="T9" fmla="*/ 227 h 1751"/>
                <a:gd name="T10" fmla="*/ 2138 w 2380"/>
                <a:gd name="T11" fmla="*/ 335 h 1751"/>
                <a:gd name="T12" fmla="*/ 2246 w 2380"/>
                <a:gd name="T13" fmla="*/ 460 h 1751"/>
                <a:gd name="T14" fmla="*/ 2324 w 2380"/>
                <a:gd name="T15" fmla="*/ 596 h 1751"/>
                <a:gd name="T16" fmla="*/ 2370 w 2380"/>
                <a:gd name="T17" fmla="*/ 741 h 1751"/>
                <a:gd name="T18" fmla="*/ 2380 w 2380"/>
                <a:gd name="T19" fmla="*/ 887 h 1751"/>
                <a:gd name="T20" fmla="*/ 2359 w 2380"/>
                <a:gd name="T21" fmla="*/ 1036 h 1751"/>
                <a:gd name="T22" fmla="*/ 2302 w 2380"/>
                <a:gd name="T23" fmla="*/ 1179 h 1751"/>
                <a:gd name="T24" fmla="*/ 2214 w 2380"/>
                <a:gd name="T25" fmla="*/ 1313 h 1751"/>
                <a:gd name="T26" fmla="*/ 2097 w 2380"/>
                <a:gd name="T27" fmla="*/ 1436 h 1751"/>
                <a:gd name="T28" fmla="*/ 1954 w 2380"/>
                <a:gd name="T29" fmla="*/ 1542 h 1751"/>
                <a:gd name="T30" fmla="*/ 1787 w 2380"/>
                <a:gd name="T31" fmla="*/ 1628 h 1751"/>
                <a:gd name="T32" fmla="*/ 1606 w 2380"/>
                <a:gd name="T33" fmla="*/ 1693 h 1751"/>
                <a:gd name="T34" fmla="*/ 1411 w 2380"/>
                <a:gd name="T35" fmla="*/ 1736 h 1751"/>
                <a:gd name="T36" fmla="*/ 1210 w 2380"/>
                <a:gd name="T37" fmla="*/ 1751 h 1751"/>
                <a:gd name="T38" fmla="*/ 1009 w 2380"/>
                <a:gd name="T39" fmla="*/ 1742 h 1751"/>
                <a:gd name="T40" fmla="*/ 812 w 2380"/>
                <a:gd name="T41" fmla="*/ 1710 h 1751"/>
                <a:gd name="T42" fmla="*/ 626 w 2380"/>
                <a:gd name="T43" fmla="*/ 1652 h 1751"/>
                <a:gd name="T44" fmla="*/ 457 w 2380"/>
                <a:gd name="T45" fmla="*/ 1572 h 1751"/>
                <a:gd name="T46" fmla="*/ 310 w 2380"/>
                <a:gd name="T47" fmla="*/ 1473 h 1751"/>
                <a:gd name="T48" fmla="*/ 186 w 2380"/>
                <a:gd name="T49" fmla="*/ 1356 h 1751"/>
                <a:gd name="T50" fmla="*/ 93 w 2380"/>
                <a:gd name="T51" fmla="*/ 1226 h 1751"/>
                <a:gd name="T52" fmla="*/ 31 w 2380"/>
                <a:gd name="T53" fmla="*/ 1084 h 1751"/>
                <a:gd name="T54" fmla="*/ 2 w 2380"/>
                <a:gd name="T55" fmla="*/ 937 h 1751"/>
                <a:gd name="T56" fmla="*/ 9 w 2380"/>
                <a:gd name="T57" fmla="*/ 788 h 1751"/>
                <a:gd name="T58" fmla="*/ 48 w 2380"/>
                <a:gd name="T59" fmla="*/ 643 h 1751"/>
                <a:gd name="T60" fmla="*/ 119 w 2380"/>
                <a:gd name="T61" fmla="*/ 503 h 1751"/>
                <a:gd name="T62" fmla="*/ 223 w 2380"/>
                <a:gd name="T63" fmla="*/ 374 h 1751"/>
                <a:gd name="T64" fmla="*/ 355 w 2380"/>
                <a:gd name="T65" fmla="*/ 259 h 1751"/>
                <a:gd name="T66" fmla="*/ 509 w 2380"/>
                <a:gd name="T67" fmla="*/ 164 h 1751"/>
                <a:gd name="T68" fmla="*/ 684 w 2380"/>
                <a:gd name="T69" fmla="*/ 86 h 1751"/>
                <a:gd name="T70" fmla="*/ 874 w 2380"/>
                <a:gd name="T71" fmla="*/ 35 h 1751"/>
                <a:gd name="T72" fmla="*/ 1071 w 2380"/>
                <a:gd name="T73" fmla="*/ 4 h 1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80" h="1751">
                  <a:moveTo>
                    <a:pt x="1173" y="0"/>
                  </a:moveTo>
                  <a:lnTo>
                    <a:pt x="1275" y="0"/>
                  </a:lnTo>
                  <a:lnTo>
                    <a:pt x="1374" y="9"/>
                  </a:lnTo>
                  <a:lnTo>
                    <a:pt x="1474" y="22"/>
                  </a:lnTo>
                  <a:lnTo>
                    <a:pt x="1571" y="41"/>
                  </a:lnTo>
                  <a:lnTo>
                    <a:pt x="1664" y="67"/>
                  </a:lnTo>
                  <a:lnTo>
                    <a:pt x="1755" y="99"/>
                  </a:lnTo>
                  <a:lnTo>
                    <a:pt x="1842" y="136"/>
                  </a:lnTo>
                  <a:lnTo>
                    <a:pt x="1924" y="179"/>
                  </a:lnTo>
                  <a:lnTo>
                    <a:pt x="2002" y="227"/>
                  </a:lnTo>
                  <a:lnTo>
                    <a:pt x="2073" y="279"/>
                  </a:lnTo>
                  <a:lnTo>
                    <a:pt x="2138" y="335"/>
                  </a:lnTo>
                  <a:lnTo>
                    <a:pt x="2194" y="395"/>
                  </a:lnTo>
                  <a:lnTo>
                    <a:pt x="2246" y="460"/>
                  </a:lnTo>
                  <a:lnTo>
                    <a:pt x="2289" y="527"/>
                  </a:lnTo>
                  <a:lnTo>
                    <a:pt x="2324" y="596"/>
                  </a:lnTo>
                  <a:lnTo>
                    <a:pt x="2350" y="667"/>
                  </a:lnTo>
                  <a:lnTo>
                    <a:pt x="2370" y="741"/>
                  </a:lnTo>
                  <a:lnTo>
                    <a:pt x="2380" y="814"/>
                  </a:lnTo>
                  <a:lnTo>
                    <a:pt x="2380" y="887"/>
                  </a:lnTo>
                  <a:lnTo>
                    <a:pt x="2374" y="963"/>
                  </a:lnTo>
                  <a:lnTo>
                    <a:pt x="2359" y="1036"/>
                  </a:lnTo>
                  <a:lnTo>
                    <a:pt x="2335" y="1108"/>
                  </a:lnTo>
                  <a:lnTo>
                    <a:pt x="2302" y="1179"/>
                  </a:lnTo>
                  <a:lnTo>
                    <a:pt x="2261" y="1248"/>
                  </a:lnTo>
                  <a:lnTo>
                    <a:pt x="2214" y="1313"/>
                  </a:lnTo>
                  <a:lnTo>
                    <a:pt x="2160" y="1378"/>
                  </a:lnTo>
                  <a:lnTo>
                    <a:pt x="2097" y="1436"/>
                  </a:lnTo>
                  <a:lnTo>
                    <a:pt x="2028" y="1492"/>
                  </a:lnTo>
                  <a:lnTo>
                    <a:pt x="1954" y="1542"/>
                  </a:lnTo>
                  <a:lnTo>
                    <a:pt x="1872" y="1587"/>
                  </a:lnTo>
                  <a:lnTo>
                    <a:pt x="1787" y="1628"/>
                  </a:lnTo>
                  <a:lnTo>
                    <a:pt x="1699" y="1665"/>
                  </a:lnTo>
                  <a:lnTo>
                    <a:pt x="1606" y="1693"/>
                  </a:lnTo>
                  <a:lnTo>
                    <a:pt x="1508" y="1717"/>
                  </a:lnTo>
                  <a:lnTo>
                    <a:pt x="1411" y="1736"/>
                  </a:lnTo>
                  <a:lnTo>
                    <a:pt x="1309" y="1747"/>
                  </a:lnTo>
                  <a:lnTo>
                    <a:pt x="1210" y="1751"/>
                  </a:lnTo>
                  <a:lnTo>
                    <a:pt x="1108" y="1751"/>
                  </a:lnTo>
                  <a:lnTo>
                    <a:pt x="1009" y="1742"/>
                  </a:lnTo>
                  <a:lnTo>
                    <a:pt x="909" y="1730"/>
                  </a:lnTo>
                  <a:lnTo>
                    <a:pt x="812" y="1710"/>
                  </a:lnTo>
                  <a:lnTo>
                    <a:pt x="719" y="1684"/>
                  </a:lnTo>
                  <a:lnTo>
                    <a:pt x="626" y="1652"/>
                  </a:lnTo>
                  <a:lnTo>
                    <a:pt x="539" y="1615"/>
                  </a:lnTo>
                  <a:lnTo>
                    <a:pt x="457" y="1572"/>
                  </a:lnTo>
                  <a:lnTo>
                    <a:pt x="381" y="1524"/>
                  </a:lnTo>
                  <a:lnTo>
                    <a:pt x="310" y="1473"/>
                  </a:lnTo>
                  <a:lnTo>
                    <a:pt x="245" y="1416"/>
                  </a:lnTo>
                  <a:lnTo>
                    <a:pt x="186" y="1356"/>
                  </a:lnTo>
                  <a:lnTo>
                    <a:pt x="137" y="1291"/>
                  </a:lnTo>
                  <a:lnTo>
                    <a:pt x="93" y="1226"/>
                  </a:lnTo>
                  <a:lnTo>
                    <a:pt x="59" y="1155"/>
                  </a:lnTo>
                  <a:lnTo>
                    <a:pt x="31" y="1084"/>
                  </a:lnTo>
                  <a:lnTo>
                    <a:pt x="13" y="1011"/>
                  </a:lnTo>
                  <a:lnTo>
                    <a:pt x="2" y="937"/>
                  </a:lnTo>
                  <a:lnTo>
                    <a:pt x="0" y="864"/>
                  </a:lnTo>
                  <a:lnTo>
                    <a:pt x="9" y="788"/>
                  </a:lnTo>
                  <a:lnTo>
                    <a:pt x="24" y="715"/>
                  </a:lnTo>
                  <a:lnTo>
                    <a:pt x="48" y="643"/>
                  </a:lnTo>
                  <a:lnTo>
                    <a:pt x="80" y="572"/>
                  </a:lnTo>
                  <a:lnTo>
                    <a:pt x="119" y="503"/>
                  </a:lnTo>
                  <a:lnTo>
                    <a:pt x="167" y="438"/>
                  </a:lnTo>
                  <a:lnTo>
                    <a:pt x="223" y="374"/>
                  </a:lnTo>
                  <a:lnTo>
                    <a:pt x="286" y="315"/>
                  </a:lnTo>
                  <a:lnTo>
                    <a:pt x="355" y="259"/>
                  </a:lnTo>
                  <a:lnTo>
                    <a:pt x="429" y="209"/>
                  </a:lnTo>
                  <a:lnTo>
                    <a:pt x="509" y="164"/>
                  </a:lnTo>
                  <a:lnTo>
                    <a:pt x="595" y="123"/>
                  </a:lnTo>
                  <a:lnTo>
                    <a:pt x="684" y="86"/>
                  </a:lnTo>
                  <a:lnTo>
                    <a:pt x="777" y="58"/>
                  </a:lnTo>
                  <a:lnTo>
                    <a:pt x="874" y="35"/>
                  </a:lnTo>
                  <a:lnTo>
                    <a:pt x="972" y="15"/>
                  </a:lnTo>
                  <a:lnTo>
                    <a:pt x="1071" y="4"/>
                  </a:lnTo>
                  <a:lnTo>
                    <a:pt x="1173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607" name="Group 63"/>
          <p:cNvGrpSpPr>
            <a:grpSpLocks noChangeAspect="1"/>
          </p:cNvGrpSpPr>
          <p:nvPr/>
        </p:nvGrpSpPr>
        <p:grpSpPr bwMode="auto">
          <a:xfrm>
            <a:off x="6157913" y="1909763"/>
            <a:ext cx="1979612" cy="1797050"/>
            <a:chOff x="383" y="1437"/>
            <a:chExt cx="1902" cy="1727"/>
          </a:xfrm>
        </p:grpSpPr>
        <p:sp>
          <p:nvSpPr>
            <p:cNvPr id="1644608" name="Freeform 64"/>
            <p:cNvSpPr>
              <a:spLocks noChangeAspect="1"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09" name="Freeform 65"/>
            <p:cNvSpPr>
              <a:spLocks noChangeAspect="1"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10" name="Freeform 66"/>
            <p:cNvSpPr>
              <a:spLocks noChangeAspect="1"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11" name="Freeform 67"/>
            <p:cNvSpPr>
              <a:spLocks noChangeAspect="1"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12" name="Freeform 68"/>
            <p:cNvSpPr>
              <a:spLocks noChangeAspect="1"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13" name="Freeform 69"/>
            <p:cNvSpPr>
              <a:spLocks noChangeAspect="1"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14" name="Rectangle 70"/>
            <p:cNvSpPr>
              <a:spLocks noChangeAspect="1" noChangeArrowheads="1"/>
            </p:cNvSpPr>
            <p:nvPr/>
          </p:nvSpPr>
          <p:spPr bwMode="auto">
            <a:xfrm>
              <a:off x="1890" y="1437"/>
              <a:ext cx="97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sz="1600"/>
            </a:p>
          </p:txBody>
        </p:sp>
        <p:sp>
          <p:nvSpPr>
            <p:cNvPr id="1644615" name="Rectangle 71"/>
            <p:cNvSpPr>
              <a:spLocks noChangeAspect="1" noChangeArrowheads="1"/>
            </p:cNvSpPr>
            <p:nvPr/>
          </p:nvSpPr>
          <p:spPr bwMode="auto">
            <a:xfrm>
              <a:off x="1089" y="2061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 sz="1600"/>
            </a:p>
          </p:txBody>
        </p:sp>
        <p:sp>
          <p:nvSpPr>
            <p:cNvPr id="1644616" name="Rectangle 72"/>
            <p:cNvSpPr>
              <a:spLocks noChangeAspect="1" noChangeArrowheads="1"/>
            </p:cNvSpPr>
            <p:nvPr/>
          </p:nvSpPr>
          <p:spPr bwMode="auto">
            <a:xfrm>
              <a:off x="1699" y="2374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 sz="1600"/>
            </a:p>
          </p:txBody>
        </p:sp>
        <p:sp>
          <p:nvSpPr>
            <p:cNvPr id="1644617" name="Rectangle 73"/>
            <p:cNvSpPr>
              <a:spLocks noChangeAspect="1" noChangeArrowheads="1"/>
            </p:cNvSpPr>
            <p:nvPr/>
          </p:nvSpPr>
          <p:spPr bwMode="auto">
            <a:xfrm>
              <a:off x="1319" y="29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 sz="1600"/>
            </a:p>
          </p:txBody>
        </p:sp>
        <p:sp>
          <p:nvSpPr>
            <p:cNvPr id="1644618" name="Rectangle 74"/>
            <p:cNvSpPr>
              <a:spLocks noChangeAspect="1" noChangeArrowheads="1"/>
            </p:cNvSpPr>
            <p:nvPr/>
          </p:nvSpPr>
          <p:spPr bwMode="auto">
            <a:xfrm>
              <a:off x="517" y="1940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 sz="1600"/>
            </a:p>
          </p:txBody>
        </p:sp>
        <p:sp>
          <p:nvSpPr>
            <p:cNvPr id="1644619" name="Rectangle 75"/>
            <p:cNvSpPr>
              <a:spLocks noChangeAspect="1" noChangeArrowheads="1"/>
            </p:cNvSpPr>
            <p:nvPr/>
          </p:nvSpPr>
          <p:spPr bwMode="auto">
            <a:xfrm>
              <a:off x="2187" y="24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 sz="1600"/>
            </a:p>
          </p:txBody>
        </p:sp>
      </p:grpSp>
      <p:grpSp>
        <p:nvGrpSpPr>
          <p:cNvPr id="1644620" name="Group 76"/>
          <p:cNvGrpSpPr>
            <a:grpSpLocks noChangeAspect="1"/>
          </p:cNvGrpSpPr>
          <p:nvPr/>
        </p:nvGrpSpPr>
        <p:grpSpPr bwMode="auto">
          <a:xfrm>
            <a:off x="7285038" y="2817813"/>
            <a:ext cx="919162" cy="617537"/>
            <a:chOff x="1465" y="2309"/>
            <a:chExt cx="883" cy="594"/>
          </a:xfrm>
        </p:grpSpPr>
        <p:sp>
          <p:nvSpPr>
            <p:cNvPr id="1644621" name="Freeform 77"/>
            <p:cNvSpPr>
              <a:spLocks noChangeAspect="1"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22" name="Rectangle 78"/>
            <p:cNvSpPr>
              <a:spLocks noChangeAspect="1" noChangeArrowheads="1"/>
            </p:cNvSpPr>
            <p:nvPr/>
          </p:nvSpPr>
          <p:spPr bwMode="auto">
            <a:xfrm>
              <a:off x="1831" y="2668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1</a:t>
              </a:r>
              <a:endParaRPr lang="en-US" sz="1600"/>
            </a:p>
          </p:txBody>
        </p:sp>
      </p:grpSp>
      <p:grpSp>
        <p:nvGrpSpPr>
          <p:cNvPr id="1644623" name="Group 79"/>
          <p:cNvGrpSpPr>
            <a:grpSpLocks noChangeAspect="1"/>
          </p:cNvGrpSpPr>
          <p:nvPr/>
        </p:nvGrpSpPr>
        <p:grpSpPr bwMode="auto">
          <a:xfrm>
            <a:off x="6100763" y="2187575"/>
            <a:ext cx="1036637" cy="584200"/>
            <a:chOff x="328" y="1704"/>
            <a:chExt cx="995" cy="561"/>
          </a:xfrm>
        </p:grpSpPr>
        <p:sp>
          <p:nvSpPr>
            <p:cNvPr id="1644624" name="Freeform 80"/>
            <p:cNvSpPr>
              <a:spLocks noChangeAspect="1"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25" name="Rectangle 81"/>
            <p:cNvSpPr>
              <a:spLocks noChangeAspect="1" noChangeArrowheads="1"/>
            </p:cNvSpPr>
            <p:nvPr/>
          </p:nvSpPr>
          <p:spPr bwMode="auto">
            <a:xfrm>
              <a:off x="85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2</a:t>
              </a:r>
              <a:endParaRPr lang="en-US" sz="1600"/>
            </a:p>
          </p:txBody>
        </p:sp>
      </p:grpSp>
      <p:grpSp>
        <p:nvGrpSpPr>
          <p:cNvPr id="1644626" name="Group 82"/>
          <p:cNvGrpSpPr>
            <a:grpSpLocks noChangeAspect="1"/>
          </p:cNvGrpSpPr>
          <p:nvPr/>
        </p:nvGrpSpPr>
        <p:grpSpPr bwMode="auto">
          <a:xfrm>
            <a:off x="5875338" y="1751013"/>
            <a:ext cx="2582862" cy="2287587"/>
            <a:chOff x="111" y="1285"/>
            <a:chExt cx="2481" cy="2197"/>
          </a:xfrm>
        </p:grpSpPr>
        <p:sp>
          <p:nvSpPr>
            <p:cNvPr id="1644627" name="Rectangle 83"/>
            <p:cNvSpPr>
              <a:spLocks noChangeAspect="1" noChangeArrowheads="1"/>
            </p:cNvSpPr>
            <p:nvPr/>
          </p:nvSpPr>
          <p:spPr bwMode="auto">
            <a:xfrm>
              <a:off x="248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5</a:t>
              </a:r>
              <a:endParaRPr lang="en-US" sz="1600"/>
            </a:p>
          </p:txBody>
        </p:sp>
        <p:sp>
          <p:nvSpPr>
            <p:cNvPr id="1644628" name="Freeform 84"/>
            <p:cNvSpPr>
              <a:spLocks noChangeAspect="1"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629" name="Group 85"/>
          <p:cNvGrpSpPr>
            <a:grpSpLocks noChangeAspect="1"/>
          </p:cNvGrpSpPr>
          <p:nvPr/>
        </p:nvGrpSpPr>
        <p:grpSpPr bwMode="auto">
          <a:xfrm>
            <a:off x="6873875" y="2668588"/>
            <a:ext cx="1416050" cy="1084262"/>
            <a:chOff x="1070" y="2167"/>
            <a:chExt cx="1361" cy="1041"/>
          </a:xfrm>
        </p:grpSpPr>
        <p:sp>
          <p:nvSpPr>
            <p:cNvPr id="1644630" name="Rectangle 86"/>
            <p:cNvSpPr>
              <a:spLocks noChangeAspect="1" noChangeArrowheads="1"/>
            </p:cNvSpPr>
            <p:nvPr/>
          </p:nvSpPr>
          <p:spPr bwMode="auto">
            <a:xfrm>
              <a:off x="1070" y="256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3</a:t>
              </a:r>
              <a:endParaRPr lang="en-US" sz="1600"/>
            </a:p>
          </p:txBody>
        </p:sp>
        <p:sp>
          <p:nvSpPr>
            <p:cNvPr id="1644631" name="Freeform 87"/>
            <p:cNvSpPr>
              <a:spLocks noChangeAspect="1"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632" name="Group 88"/>
          <p:cNvGrpSpPr>
            <a:grpSpLocks noChangeAspect="1"/>
          </p:cNvGrpSpPr>
          <p:nvPr/>
        </p:nvGrpSpPr>
        <p:grpSpPr bwMode="auto">
          <a:xfrm>
            <a:off x="6043613" y="1841500"/>
            <a:ext cx="1905000" cy="996950"/>
            <a:chOff x="272" y="1372"/>
            <a:chExt cx="1831" cy="958"/>
          </a:xfrm>
        </p:grpSpPr>
        <p:sp>
          <p:nvSpPr>
            <p:cNvPr id="1644633" name="Rectangle 89"/>
            <p:cNvSpPr>
              <a:spLocks noChangeAspect="1" noChangeArrowheads="1"/>
            </p:cNvSpPr>
            <p:nvPr/>
          </p:nvSpPr>
          <p:spPr bwMode="auto">
            <a:xfrm>
              <a:off x="1165" y="138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4</a:t>
              </a:r>
              <a:endParaRPr lang="en-US" sz="1600"/>
            </a:p>
          </p:txBody>
        </p:sp>
        <p:sp>
          <p:nvSpPr>
            <p:cNvPr id="1644634" name="Freeform 90"/>
            <p:cNvSpPr>
              <a:spLocks noChangeAspect="1"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635" name="Group 91"/>
          <p:cNvGrpSpPr>
            <a:grpSpLocks noChangeAspect="1"/>
          </p:cNvGrpSpPr>
          <p:nvPr/>
        </p:nvGrpSpPr>
        <p:grpSpPr bwMode="auto">
          <a:xfrm>
            <a:off x="1009650" y="1819275"/>
            <a:ext cx="1990725" cy="1806575"/>
            <a:chOff x="471" y="1117"/>
            <a:chExt cx="1935" cy="1755"/>
          </a:xfrm>
        </p:grpSpPr>
        <p:sp>
          <p:nvSpPr>
            <p:cNvPr id="1644636" name="Freeform 92"/>
            <p:cNvSpPr>
              <a:spLocks noChangeAspect="1"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37" name="Freeform 93"/>
            <p:cNvSpPr>
              <a:spLocks noChangeAspect="1"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38" name="Freeform 94"/>
            <p:cNvSpPr>
              <a:spLocks noChangeAspect="1"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39" name="Freeform 95"/>
            <p:cNvSpPr>
              <a:spLocks noChangeAspect="1"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40" name="Freeform 96"/>
            <p:cNvSpPr>
              <a:spLocks noChangeAspect="1"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41" name="Freeform 97"/>
            <p:cNvSpPr>
              <a:spLocks noChangeAspect="1"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42" name="Rectangle 98"/>
            <p:cNvSpPr>
              <a:spLocks noChangeAspect="1" noChangeArrowheads="1"/>
            </p:cNvSpPr>
            <p:nvPr/>
          </p:nvSpPr>
          <p:spPr bwMode="auto">
            <a:xfrm>
              <a:off x="2033" y="1117"/>
              <a:ext cx="9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sz="1600"/>
            </a:p>
          </p:txBody>
        </p:sp>
        <p:sp>
          <p:nvSpPr>
            <p:cNvPr id="1644643" name="Rectangle 99"/>
            <p:cNvSpPr>
              <a:spLocks noChangeAspect="1" noChangeArrowheads="1"/>
            </p:cNvSpPr>
            <p:nvPr/>
          </p:nvSpPr>
          <p:spPr bwMode="auto">
            <a:xfrm>
              <a:off x="1256" y="1765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 sz="1600"/>
            </a:p>
          </p:txBody>
        </p:sp>
        <p:sp>
          <p:nvSpPr>
            <p:cNvPr id="1644644" name="Rectangle 100"/>
            <p:cNvSpPr>
              <a:spLocks noChangeAspect="1" noChangeArrowheads="1"/>
            </p:cNvSpPr>
            <p:nvPr/>
          </p:nvSpPr>
          <p:spPr bwMode="auto">
            <a:xfrm>
              <a:off x="1810" y="2069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 sz="1600"/>
            </a:p>
          </p:txBody>
        </p:sp>
        <p:sp>
          <p:nvSpPr>
            <p:cNvPr id="1644645" name="Rectangle 101"/>
            <p:cNvSpPr>
              <a:spLocks noChangeAspect="1" noChangeArrowheads="1"/>
            </p:cNvSpPr>
            <p:nvPr/>
          </p:nvSpPr>
          <p:spPr bwMode="auto">
            <a:xfrm>
              <a:off x="1422" y="2635"/>
              <a:ext cx="98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 sz="1600"/>
            </a:p>
          </p:txBody>
        </p:sp>
        <p:sp>
          <p:nvSpPr>
            <p:cNvPr id="1644646" name="Rectangle 102"/>
            <p:cNvSpPr>
              <a:spLocks noChangeAspect="1" noChangeArrowheads="1"/>
            </p:cNvSpPr>
            <p:nvPr/>
          </p:nvSpPr>
          <p:spPr bwMode="auto">
            <a:xfrm>
              <a:off x="648" y="16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 sz="1600"/>
            </a:p>
          </p:txBody>
        </p:sp>
        <p:sp>
          <p:nvSpPr>
            <p:cNvPr id="1644647" name="Rectangle 103"/>
            <p:cNvSpPr>
              <a:spLocks noChangeAspect="1" noChangeArrowheads="1"/>
            </p:cNvSpPr>
            <p:nvPr/>
          </p:nvSpPr>
          <p:spPr bwMode="auto">
            <a:xfrm>
              <a:off x="2307" y="21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 sz="1600"/>
            </a:p>
          </p:txBody>
        </p:sp>
      </p:grpSp>
      <p:grpSp>
        <p:nvGrpSpPr>
          <p:cNvPr id="1644648" name="Group 104"/>
          <p:cNvGrpSpPr>
            <a:grpSpLocks noChangeAspect="1"/>
          </p:cNvGrpSpPr>
          <p:nvPr/>
        </p:nvGrpSpPr>
        <p:grpSpPr bwMode="auto">
          <a:xfrm>
            <a:off x="2141538" y="2527300"/>
            <a:ext cx="923925" cy="592138"/>
            <a:chOff x="1572" y="1805"/>
            <a:chExt cx="897" cy="575"/>
          </a:xfrm>
        </p:grpSpPr>
        <p:sp>
          <p:nvSpPr>
            <p:cNvPr id="1644649" name="Freeform 105"/>
            <p:cNvSpPr>
              <a:spLocks noChangeAspect="1"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50" name="Rectangle 106"/>
            <p:cNvSpPr>
              <a:spLocks noChangeAspect="1" noChangeArrowheads="1"/>
            </p:cNvSpPr>
            <p:nvPr/>
          </p:nvSpPr>
          <p:spPr bwMode="auto">
            <a:xfrm>
              <a:off x="1943" y="1805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1</a:t>
              </a:r>
              <a:endParaRPr lang="en-US" sz="1600"/>
            </a:p>
          </p:txBody>
        </p:sp>
      </p:grpSp>
      <p:grpSp>
        <p:nvGrpSpPr>
          <p:cNvPr id="1644651" name="Group 107"/>
          <p:cNvGrpSpPr>
            <a:grpSpLocks noChangeAspect="1"/>
          </p:cNvGrpSpPr>
          <p:nvPr/>
        </p:nvGrpSpPr>
        <p:grpSpPr bwMode="auto">
          <a:xfrm>
            <a:off x="865188" y="2282825"/>
            <a:ext cx="1125537" cy="742950"/>
            <a:chOff x="332" y="1568"/>
            <a:chExt cx="1093" cy="721"/>
          </a:xfrm>
        </p:grpSpPr>
        <p:sp>
          <p:nvSpPr>
            <p:cNvPr id="1644652" name="Freeform 108"/>
            <p:cNvSpPr>
              <a:spLocks noChangeAspect="1"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53" name="Rectangle 109"/>
            <p:cNvSpPr>
              <a:spLocks noChangeAspect="1" noChangeArrowheads="1"/>
            </p:cNvSpPr>
            <p:nvPr/>
          </p:nvSpPr>
          <p:spPr bwMode="auto">
            <a:xfrm>
              <a:off x="949" y="2052"/>
              <a:ext cx="10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2</a:t>
              </a:r>
              <a:endParaRPr lang="en-US" sz="1600"/>
            </a:p>
          </p:txBody>
        </p:sp>
      </p:grpSp>
      <p:grpSp>
        <p:nvGrpSpPr>
          <p:cNvPr id="1644654" name="Group 110"/>
          <p:cNvGrpSpPr>
            <a:grpSpLocks noChangeAspect="1"/>
          </p:cNvGrpSpPr>
          <p:nvPr/>
        </p:nvGrpSpPr>
        <p:grpSpPr bwMode="auto">
          <a:xfrm>
            <a:off x="812800" y="2012950"/>
            <a:ext cx="2382838" cy="1358900"/>
            <a:chOff x="280" y="1305"/>
            <a:chExt cx="2315" cy="1321"/>
          </a:xfrm>
        </p:grpSpPr>
        <p:sp>
          <p:nvSpPr>
            <p:cNvPr id="1644655" name="Freeform 111"/>
            <p:cNvSpPr>
              <a:spLocks noChangeAspect="1"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56" name="Rectangle 112"/>
            <p:cNvSpPr>
              <a:spLocks noChangeAspect="1" noChangeArrowheads="1"/>
            </p:cNvSpPr>
            <p:nvPr/>
          </p:nvSpPr>
          <p:spPr bwMode="auto">
            <a:xfrm>
              <a:off x="1390" y="1305"/>
              <a:ext cx="11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3</a:t>
              </a:r>
              <a:endParaRPr lang="en-US" sz="1600"/>
            </a:p>
          </p:txBody>
        </p:sp>
      </p:grpSp>
      <p:grpSp>
        <p:nvGrpSpPr>
          <p:cNvPr id="1644657" name="Group 113"/>
          <p:cNvGrpSpPr>
            <a:grpSpLocks noChangeAspect="1"/>
          </p:cNvGrpSpPr>
          <p:nvPr/>
        </p:nvGrpSpPr>
        <p:grpSpPr bwMode="auto">
          <a:xfrm>
            <a:off x="771525" y="1935163"/>
            <a:ext cx="2462213" cy="1887537"/>
            <a:chOff x="241" y="1229"/>
            <a:chExt cx="2391" cy="1834"/>
          </a:xfrm>
        </p:grpSpPr>
        <p:sp>
          <p:nvSpPr>
            <p:cNvPr id="1644658" name="Freeform 114"/>
            <p:cNvSpPr>
              <a:spLocks noChangeAspect="1"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59" name="Rectangle 115"/>
            <p:cNvSpPr>
              <a:spLocks noChangeAspect="1" noChangeArrowheads="1"/>
            </p:cNvSpPr>
            <p:nvPr/>
          </p:nvSpPr>
          <p:spPr bwMode="auto">
            <a:xfrm>
              <a:off x="1238" y="2826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4</a:t>
              </a:r>
              <a:endParaRPr lang="en-US" sz="1600"/>
            </a:p>
          </p:txBody>
        </p:sp>
      </p:grpSp>
      <p:grpSp>
        <p:nvGrpSpPr>
          <p:cNvPr id="1644660" name="Group 116"/>
          <p:cNvGrpSpPr>
            <a:grpSpLocks noChangeAspect="1"/>
          </p:cNvGrpSpPr>
          <p:nvPr/>
        </p:nvGrpSpPr>
        <p:grpSpPr bwMode="auto">
          <a:xfrm>
            <a:off x="723900" y="1673225"/>
            <a:ext cx="2595563" cy="2289175"/>
            <a:chOff x="194" y="975"/>
            <a:chExt cx="2522" cy="2224"/>
          </a:xfrm>
        </p:grpSpPr>
        <p:sp>
          <p:nvSpPr>
            <p:cNvPr id="1644661" name="Rectangle 117"/>
            <p:cNvSpPr>
              <a:spLocks noChangeAspect="1" noChangeArrowheads="1"/>
            </p:cNvSpPr>
            <p:nvPr/>
          </p:nvSpPr>
          <p:spPr bwMode="auto">
            <a:xfrm>
              <a:off x="2138" y="975"/>
              <a:ext cx="109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5</a:t>
              </a:r>
              <a:endParaRPr lang="en-US" sz="1600"/>
            </a:p>
          </p:txBody>
        </p:sp>
        <p:sp>
          <p:nvSpPr>
            <p:cNvPr id="1644662" name="Freeform 118"/>
            <p:cNvSpPr>
              <a:spLocks noChangeAspect="1"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390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295400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Clustering:  </a:t>
            </a:r>
            <a:br>
              <a:rPr lang="en-US" dirty="0"/>
            </a:br>
            <a:r>
              <a:rPr lang="en-US" dirty="0"/>
              <a:t>Time and Space requirements</a:t>
            </a:r>
          </a:p>
        </p:txBody>
      </p:sp>
      <p:sp>
        <p:nvSpPr>
          <p:cNvPr id="164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133600"/>
            <a:ext cx="8229600" cy="4229100"/>
          </a:xfrm>
        </p:spPr>
        <p:txBody>
          <a:bodyPr/>
          <a:lstStyle/>
          <a:p>
            <a:r>
              <a:rPr lang="en-US" dirty="0"/>
              <a:t>O(</a:t>
            </a:r>
            <a:r>
              <a:rPr lang="en-US" dirty="0" err="1"/>
              <a:t>N</a:t>
            </a:r>
            <a:r>
              <a:rPr lang="en-US" baseline="30000" dirty="0" err="1"/>
              <a:t>2</a:t>
            </a:r>
            <a:r>
              <a:rPr lang="en-US" dirty="0"/>
              <a:t>) space since it uses the proximity matrix.  </a:t>
            </a:r>
          </a:p>
          <a:p>
            <a:pPr lvl="1"/>
            <a:r>
              <a:rPr lang="en-US" dirty="0"/>
              <a:t>N is the number of points.</a:t>
            </a:r>
          </a:p>
          <a:p>
            <a:pPr lvl="1"/>
            <a:endParaRPr lang="en-US" dirty="0"/>
          </a:p>
          <a:p>
            <a:r>
              <a:rPr lang="en-US" dirty="0"/>
              <a:t>O(</a:t>
            </a:r>
            <a:r>
              <a:rPr lang="en-US" dirty="0" err="1"/>
              <a:t>N</a:t>
            </a:r>
            <a:r>
              <a:rPr lang="en-US" baseline="30000" dirty="0" err="1"/>
              <a:t>3</a:t>
            </a:r>
            <a:r>
              <a:rPr lang="en-US" dirty="0"/>
              <a:t>) time in many cases</a:t>
            </a:r>
          </a:p>
          <a:p>
            <a:pPr lvl="1"/>
            <a:r>
              <a:rPr lang="en-US" dirty="0"/>
              <a:t>There are N steps and at each step the size, </a:t>
            </a:r>
            <a:r>
              <a:rPr lang="en-US" dirty="0" err="1"/>
              <a:t>N</a:t>
            </a:r>
            <a:r>
              <a:rPr lang="en-US" baseline="30000" dirty="0" err="1"/>
              <a:t>2</a:t>
            </a:r>
            <a:r>
              <a:rPr lang="en-US" dirty="0"/>
              <a:t>, proximity matrix must be updated and searched</a:t>
            </a:r>
          </a:p>
          <a:p>
            <a:pPr lvl="1"/>
            <a:r>
              <a:rPr lang="en-US" dirty="0"/>
              <a:t>Complexity can be reduced to O(</a:t>
            </a:r>
            <a:r>
              <a:rPr lang="en-US" dirty="0" err="1"/>
              <a:t>N</a:t>
            </a:r>
            <a:r>
              <a:rPr lang="en-US" baseline="30000" dirty="0" err="1"/>
              <a:t>2</a:t>
            </a:r>
            <a:r>
              <a:rPr lang="en-US" dirty="0"/>
              <a:t> log(N) ) time for some approaches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9301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5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Autofit/>
          </a:bodyPr>
          <a:lstStyle/>
          <a:p>
            <a:r>
              <a:rPr lang="en-US" dirty="0"/>
              <a:t>Hierarchical Clustering:  </a:t>
            </a:r>
            <a:br>
              <a:rPr lang="en-US" dirty="0"/>
            </a:br>
            <a:r>
              <a:rPr lang="en-US" dirty="0"/>
              <a:t>Problems and Limitations</a:t>
            </a:r>
          </a:p>
        </p:txBody>
      </p:sp>
      <p:sp>
        <p:nvSpPr>
          <p:cNvPr id="164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Computational complexity in time and space</a:t>
            </a:r>
          </a:p>
          <a:p>
            <a:endParaRPr lang="en-US" dirty="0"/>
          </a:p>
          <a:p>
            <a:r>
              <a:rPr lang="en-US" dirty="0"/>
              <a:t>Once a decision is made to combine two clusters, it cannot be undone</a:t>
            </a:r>
          </a:p>
          <a:p>
            <a:pPr lvl="4"/>
            <a:endParaRPr lang="en-US" dirty="0"/>
          </a:p>
          <a:p>
            <a:r>
              <a:rPr lang="en-US" dirty="0"/>
              <a:t>No objective function is directly minimized</a:t>
            </a:r>
          </a:p>
          <a:p>
            <a:pPr lvl="4"/>
            <a:endParaRPr lang="en-US" dirty="0"/>
          </a:p>
          <a:p>
            <a:r>
              <a:rPr lang="en-US" dirty="0"/>
              <a:t>Different schemes have problems with one or more of the following:</a:t>
            </a:r>
          </a:p>
          <a:p>
            <a:pPr lvl="1"/>
            <a:r>
              <a:rPr lang="en-US" dirty="0"/>
              <a:t>Sensitivity to noise and outliers</a:t>
            </a:r>
          </a:p>
          <a:p>
            <a:pPr lvl="1"/>
            <a:r>
              <a:rPr lang="en-US" dirty="0"/>
              <a:t>Difficulty handling different sized clusters and convex shapes</a:t>
            </a:r>
          </a:p>
          <a:p>
            <a:pPr lvl="1"/>
            <a:r>
              <a:rPr lang="en-US" dirty="0"/>
              <a:t>Breaking large clusters</a:t>
            </a:r>
          </a:p>
        </p:txBody>
      </p:sp>
    </p:spTree>
    <p:extLst>
      <p:ext uri="{BB962C8B-B14F-4D97-AF65-F5344CB8AC3E}">
        <p14:creationId xmlns:p14="http://schemas.microsoft.com/office/powerpoint/2010/main" val="20473221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9185</TotalTime>
  <Words>3608</Words>
  <Application>Microsoft Macintosh PowerPoint</Application>
  <PresentationFormat>On-screen Show (4:3)</PresentationFormat>
  <Paragraphs>875</Paragraphs>
  <Slides>76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76</vt:i4>
      </vt:variant>
    </vt:vector>
  </HeadingPairs>
  <TitlesOfParts>
    <vt:vector size="90" baseType="lpstr">
      <vt:lpstr>Arial</vt:lpstr>
      <vt:lpstr>Calibri</vt:lpstr>
      <vt:lpstr>Cambria Math</vt:lpstr>
      <vt:lpstr>Monotype Sorts</vt:lpstr>
      <vt:lpstr>Symbol</vt:lpstr>
      <vt:lpstr>Tahoma</vt:lpstr>
      <vt:lpstr>Times New Roman</vt:lpstr>
      <vt:lpstr>Wingdings</vt:lpstr>
      <vt:lpstr>Clarity</vt:lpstr>
      <vt:lpstr>Document</vt:lpstr>
      <vt:lpstr>VISIO</vt:lpstr>
      <vt:lpstr>Bitmap Image</vt:lpstr>
      <vt:lpstr>Visio</vt:lpstr>
      <vt:lpstr>Equation</vt:lpstr>
      <vt:lpstr>DATA MINING LECTURE 7</vt:lpstr>
      <vt:lpstr>CLUSTERING</vt:lpstr>
      <vt:lpstr>What is a Clustering?</vt:lpstr>
      <vt:lpstr>What is Cluster Analysis?</vt:lpstr>
      <vt:lpstr>Applications of Cluster Analysis</vt:lpstr>
      <vt:lpstr>Clustering for Data Understanding and Applications</vt:lpstr>
      <vt:lpstr>Clustering as a Preprocessing Tool (Utility)</vt:lpstr>
      <vt:lpstr>Notion of a Cluster can be Ambiguous</vt:lpstr>
      <vt:lpstr>Quality: What Is Good Clustering?</vt:lpstr>
      <vt:lpstr>Measure the Quality of Clustering</vt:lpstr>
      <vt:lpstr>Considerations for Cluster Analysis</vt:lpstr>
      <vt:lpstr>Requirements and Challenges</vt:lpstr>
      <vt:lpstr>Major Clustering Approaches (I)</vt:lpstr>
      <vt:lpstr>Major Clustering Approaches (II)</vt:lpstr>
      <vt:lpstr>Types of Clustering</vt:lpstr>
      <vt:lpstr>Partitional Clustering</vt:lpstr>
      <vt:lpstr>Hierarchical Clustering</vt:lpstr>
      <vt:lpstr>Other types of clustering</vt:lpstr>
      <vt:lpstr>Types of Clusters: Well-Separated</vt:lpstr>
      <vt:lpstr>Types of Clusters: Center-Based</vt:lpstr>
      <vt:lpstr>Types of Clusters: Contiguity-Based</vt:lpstr>
      <vt:lpstr>Types of Clusters: Density-Based</vt:lpstr>
      <vt:lpstr>Types of Clusters: Conceptual Clusters</vt:lpstr>
      <vt:lpstr>Types of Clusters: Objective Function</vt:lpstr>
      <vt:lpstr>Clustering Algorithms</vt:lpstr>
      <vt:lpstr>K-means</vt:lpstr>
      <vt:lpstr>K-means Clustering</vt:lpstr>
      <vt:lpstr>K-means Clustering</vt:lpstr>
      <vt:lpstr>K-means Clustering</vt:lpstr>
      <vt:lpstr>Complexity of the k-means problem</vt:lpstr>
      <vt:lpstr>K-means Algorithm</vt:lpstr>
      <vt:lpstr>K-means Algorithm – Initialization</vt:lpstr>
      <vt:lpstr>Two different K-means Clusterings</vt:lpstr>
      <vt:lpstr>Importance of Choosing Initial Centroids</vt:lpstr>
      <vt:lpstr>Importance of Choosing Initial Centroids</vt:lpstr>
      <vt:lpstr>Importance of Choosing Initial Centroids</vt:lpstr>
      <vt:lpstr>Importance of Choosing Initial Centroids …</vt:lpstr>
      <vt:lpstr>Dealing with Initialization</vt:lpstr>
      <vt:lpstr>K-means Algorithm – Centroids</vt:lpstr>
      <vt:lpstr>K-means Algorithm – Convergence</vt:lpstr>
      <vt:lpstr>Limitations of K-means</vt:lpstr>
      <vt:lpstr>Limitations of K-means: Differing Sizes</vt:lpstr>
      <vt:lpstr>Limitations of K-means: Differing Density</vt:lpstr>
      <vt:lpstr>Limitations of K-means: Non-globular Shapes</vt:lpstr>
      <vt:lpstr>Overcoming K-means Limitations</vt:lpstr>
      <vt:lpstr>Overcoming K-means Limitations</vt:lpstr>
      <vt:lpstr>Overcoming K-means Limitations</vt:lpstr>
      <vt:lpstr>Variations</vt:lpstr>
      <vt:lpstr>HIERARCHICAL CLUSTERING</vt:lpstr>
      <vt:lpstr>Hierarchical Clustering</vt:lpstr>
      <vt:lpstr>Hierarchical Clustering </vt:lpstr>
      <vt:lpstr>Strengths of Hierarchical Clustering</vt:lpstr>
      <vt:lpstr>Agglomerative Clustering Algorithm</vt:lpstr>
      <vt:lpstr>Starting Situation </vt:lpstr>
      <vt:lpstr>Intermediate Situation</vt:lpstr>
      <vt:lpstr>Intermediate Situation</vt:lpstr>
      <vt:lpstr>After Merging</vt:lpstr>
      <vt:lpstr>How to Define Inter-Cluster Similarity</vt:lpstr>
      <vt:lpstr>How to Define Inter-Cluster Similarity</vt:lpstr>
      <vt:lpstr>How to Define Inter-Cluster Similarity</vt:lpstr>
      <vt:lpstr>How to Define Inter-Cluster Similarity</vt:lpstr>
      <vt:lpstr>How to Define Inter-Cluster Similarity</vt:lpstr>
      <vt:lpstr>Single Link – Complete Link</vt:lpstr>
      <vt:lpstr>Hierarchical Clustering: MIN</vt:lpstr>
      <vt:lpstr>Strength of MIN</vt:lpstr>
      <vt:lpstr>Limitations of MIN</vt:lpstr>
      <vt:lpstr>Hierarchical Clustering: MAX</vt:lpstr>
      <vt:lpstr>Strength of MAX</vt:lpstr>
      <vt:lpstr>Limitations of MAX</vt:lpstr>
      <vt:lpstr>Cluster Similarity: Group Average</vt:lpstr>
      <vt:lpstr>Hierarchical Clustering: Group Average</vt:lpstr>
      <vt:lpstr>Hierarchical Clustering: Group Average</vt:lpstr>
      <vt:lpstr>Cluster Similarity: Ward’s Method</vt:lpstr>
      <vt:lpstr>Hierarchical Clustering: Comparison</vt:lpstr>
      <vt:lpstr>Hierarchical Clustering:   Time and Space requirements</vt:lpstr>
      <vt:lpstr>Hierarchical Clustering:   Problems and 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tsap</dc:creator>
  <cp:lastModifiedBy>Omar, Prof. Mostafa</cp:lastModifiedBy>
  <cp:revision>340</cp:revision>
  <dcterms:created xsi:type="dcterms:W3CDTF">2011-10-17T19:46:53Z</dcterms:created>
  <dcterms:modified xsi:type="dcterms:W3CDTF">2025-10-21T20:31:10Z</dcterms:modified>
</cp:coreProperties>
</file>