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D19A-0CC4-3205-9496-496F806CA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4D658-45E6-C8EA-2E31-660A7AE79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E2D5D-D6DB-057D-3323-39F60A28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FC43C-EA00-9204-AE88-97C33295B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05B1A-9F5D-666C-A978-8E1A4BA9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8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29D6-63D3-0AB4-ED4E-ABA6F475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F1238-59D2-6A7D-C7BF-49031C208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E6A6-255B-E72D-17F9-A79164F7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5EC1C-6FB8-704E-C001-534E430B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FE377-8773-1BEC-6965-015891BE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569C-5FBC-7EDE-4963-EB6862A9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3C5C9-E4BF-C324-E6FF-E9C7ACBA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DEBA4-96F7-B8E6-D86A-09F56CF6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B98F5-0DAD-7245-9AF9-264EEAEA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56BD8-701A-48EF-ABD6-E8C47A0D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5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38F6-A231-BE61-9466-FC67C37BA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8C1A-AD54-898C-C459-C4D96E415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8902A-B870-B60E-A6E1-F912F8806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FB947-A1C0-902E-4743-D25BB126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037FC-FE7A-4DA8-4732-BEA73BA6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11EAD-3456-51F9-EFE4-13F6EF29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DCF4-5CDF-197B-E9B7-F92D76A2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B459-9BD1-3B6C-013D-17B8FAF7D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519B8-2C81-6A94-41C7-1D24E0D72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9B14-37D6-4007-2D22-2028EC00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419AD-F001-7DA8-A7E0-DED0C989E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A673E-18B6-B00A-BBEA-18DE3D64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7A8A3-7ECD-C1B1-52D3-AEADCB8F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737CB-D13E-0559-7516-645852AC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7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B875-F6CD-E4FB-2A93-D33C0D59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F21E4-B1D5-1B03-5CAB-E7B1E844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19A42-92D0-ECD3-2459-09665EC9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82190-545E-567D-E61E-18D7FE98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1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85D1C-AFDB-F038-A714-5612D8F2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EA56A-F13C-7F83-7AE4-E7A2BDDD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2E9C1-64E4-3D16-1E69-1DBB7F89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4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DD3E-7D91-0D5A-AF70-DF3184F1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ACD91-F9E3-62EF-4DCF-26192B785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1F2F3-7C77-F3B0-8004-C901AC13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05A21-FA4E-CC4A-6BE8-BC9BC45E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C5330-9A79-CFB7-D4B6-A9D4F44B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37EA1-EFBB-7866-E337-1F8B4BAD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9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E5F5-11F9-635F-7212-213618A0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01361-C271-5386-CB7F-AE1ED9DBE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4A1F1-2A1B-7C83-1B6E-3590EC449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823A2-CC3B-9FB0-60F7-416B6255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D3595-1F50-A496-063E-4113477F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E24AC-CC1E-27FD-F182-7B353EA8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1810-57A2-0869-CF32-09E8D93B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3F190-F952-DDD6-B762-429B91F85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408B1-C079-3B0B-21D9-6851F104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F668B-891F-E0F3-99AC-8E46BF13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1D833-3980-56D4-6762-0812C982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2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0FA1B-1F99-3D4B-6EDB-1B268F902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01B26-2919-2F7A-3688-FC30E6245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95B7-8E9A-47EB-EAA5-5F2C1034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B11A3-DE86-CA8B-1EF8-78481511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D25AF-4DEE-5FC1-868F-E4F68CB2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6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F2596-3DBA-4546-FA45-5CBC9997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FE1F5-D73B-B2B4-A57D-B56748D59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5B2C2-7D6D-D375-074C-C08C2EA46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07056-E23D-8441-814F-3B77FA9B531A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D43E4-109F-7E5A-27D0-79B12AF05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99A76-A7B2-03FB-E9CC-C40B8242C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AF52B-F5C8-3349-8394-D704C3E55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A2A1-0727-5342-7035-F8FF309BF5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#2 – Deep Learning Regression Models for NYC Yellow Taxi Trip Duration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906EC-4B95-0C66-F0D3-B9C3E41B9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532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Sajan Singh Shergill</a:t>
            </a:r>
          </a:p>
          <a:p>
            <a:r>
              <a:rPr lang="en-US" dirty="0"/>
              <a:t>Ronak </a:t>
            </a:r>
            <a:r>
              <a:rPr lang="en-US" dirty="0" err="1"/>
              <a:t>Pipaliya</a:t>
            </a:r>
            <a:endParaRPr lang="en-US" dirty="0"/>
          </a:p>
          <a:p>
            <a:r>
              <a:rPr lang="en-US" dirty="0"/>
              <a:t>Ruturaj Dixit</a:t>
            </a:r>
          </a:p>
          <a:p>
            <a:r>
              <a:rPr lang="en-US" dirty="0"/>
              <a:t>Krishna</a:t>
            </a:r>
          </a:p>
        </p:txBody>
      </p:sp>
    </p:spTree>
    <p:extLst>
      <p:ext uri="{BB962C8B-B14F-4D97-AF65-F5344CB8AC3E}">
        <p14:creationId xmlns:p14="http://schemas.microsoft.com/office/powerpoint/2010/main" val="409291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7AF9-97AB-4851-0222-3809CC1A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97B75-B388-3DDF-4690-C4506A4375B8}"/>
              </a:ext>
            </a:extLst>
          </p:cNvPr>
          <p:cNvSpPr txBox="1"/>
          <p:nvPr/>
        </p:nvSpPr>
        <p:spPr>
          <a:xfrm>
            <a:off x="925032" y="1605515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NYC TLC Yellow Taxi Dataset</a:t>
            </a:r>
          </a:p>
          <a:p>
            <a:r>
              <a:rPr lang="en-US" dirty="0"/>
              <a:t>Features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pickup/</a:t>
            </a:r>
            <a:r>
              <a:rPr lang="en-US" dirty="0" err="1"/>
              <a:t>dropoff</a:t>
            </a:r>
            <a:r>
              <a:rPr lang="en-US" dirty="0"/>
              <a:t>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passenger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pickup/</a:t>
            </a:r>
            <a:r>
              <a:rPr lang="en-US" dirty="0" err="1"/>
              <a:t>dropoff</a:t>
            </a:r>
            <a:r>
              <a:rPr lang="en-US" dirty="0"/>
              <a:t>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trip distance, fare, vendor info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6EEB4-4CB6-1D9E-7DCD-1AFAE8365BC8}"/>
              </a:ext>
            </a:extLst>
          </p:cNvPr>
          <p:cNvSpPr txBox="1"/>
          <p:nvPr/>
        </p:nvSpPr>
        <p:spPr>
          <a:xfrm>
            <a:off x="925032" y="3429000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NYC Weather Dataset (</a:t>
            </a:r>
            <a:r>
              <a:rPr lang="en-US" b="1" dirty="0" err="1"/>
              <a:t>Meteostat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(</a:t>
            </a:r>
            <a:r>
              <a:rPr lang="en-US" dirty="0" err="1"/>
              <a:t>tavg</a:t>
            </a:r>
            <a:r>
              <a:rPr lang="en-US" dirty="0"/>
              <a:t>, </a:t>
            </a:r>
            <a:r>
              <a:rPr lang="en-US" dirty="0" err="1"/>
              <a:t>tmin</a:t>
            </a:r>
            <a:r>
              <a:rPr lang="en-US" dirty="0"/>
              <a:t>, </a:t>
            </a:r>
            <a:r>
              <a:rPr lang="en-US" dirty="0" err="1"/>
              <a:t>tmax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Precipitation (</a:t>
            </a:r>
            <a:r>
              <a:rPr lang="en-US" dirty="0" err="1"/>
              <a:t>prcp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Wind direction &amp; 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Sunshine (</a:t>
            </a:r>
            <a:r>
              <a:rPr lang="en-US" dirty="0" err="1"/>
              <a:t>tsun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Merged on (date) → aligned with trip timestamps.</a:t>
            </a:r>
          </a:p>
        </p:txBody>
      </p:sp>
    </p:spTree>
    <p:extLst>
      <p:ext uri="{BB962C8B-B14F-4D97-AF65-F5344CB8AC3E}">
        <p14:creationId xmlns:p14="http://schemas.microsoft.com/office/powerpoint/2010/main" val="280464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706B-709C-45AD-6E37-C2AB4783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F9B81-E1C6-F4E7-64D9-CB67BFCC2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Steps performed:-</a:t>
            </a:r>
          </a:p>
          <a:p>
            <a:r>
              <a:rPr lang="en-US" dirty="0"/>
              <a:t>Convert pickup/</a:t>
            </a:r>
            <a:r>
              <a:rPr lang="en-US" dirty="0" err="1"/>
              <a:t>dropoff</a:t>
            </a:r>
            <a:r>
              <a:rPr lang="en-US" dirty="0"/>
              <a:t> timestamps → extract:</a:t>
            </a:r>
          </a:p>
          <a:p>
            <a:pPr marL="0" indent="0">
              <a:buNone/>
            </a:pPr>
            <a:r>
              <a:rPr lang="en-US" dirty="0"/>
              <a:t>	- hour of day</a:t>
            </a:r>
          </a:p>
          <a:p>
            <a:pPr marL="0" indent="0">
              <a:buNone/>
            </a:pPr>
            <a:r>
              <a:rPr lang="en-US" dirty="0"/>
              <a:t>	- weekday/weekend</a:t>
            </a:r>
          </a:p>
          <a:p>
            <a:pPr marL="0" indent="0">
              <a:buNone/>
            </a:pPr>
            <a:r>
              <a:rPr lang="en-US" dirty="0"/>
              <a:t>	- month</a:t>
            </a:r>
          </a:p>
          <a:p>
            <a:r>
              <a:rPr lang="en-US" dirty="0"/>
              <a:t>Convert weather data to numeric floats.</a:t>
            </a:r>
          </a:p>
          <a:p>
            <a:r>
              <a:rPr lang="en-US" dirty="0"/>
              <a:t>Merge taxi + weather using </a:t>
            </a:r>
            <a:r>
              <a:rPr lang="en-US" dirty="0" err="1"/>
              <a:t>pickup_date</a:t>
            </a:r>
            <a:r>
              <a:rPr lang="en-US" dirty="0"/>
              <a:t>.</a:t>
            </a:r>
          </a:p>
          <a:p>
            <a:r>
              <a:rPr lang="en-US" dirty="0"/>
              <a:t>Remove:</a:t>
            </a:r>
          </a:p>
          <a:p>
            <a:pPr marL="0" indent="0">
              <a:buNone/>
            </a:pPr>
            <a:r>
              <a:rPr lang="en-US" dirty="0"/>
              <a:t>	- zero-duration rides</a:t>
            </a:r>
          </a:p>
          <a:p>
            <a:pPr marL="0" indent="0">
              <a:buNone/>
            </a:pPr>
            <a:r>
              <a:rPr lang="en-US" dirty="0"/>
              <a:t>	- negative distances</a:t>
            </a:r>
          </a:p>
          <a:p>
            <a:pPr marL="0" indent="0">
              <a:buNone/>
            </a:pPr>
            <a:r>
              <a:rPr lang="en-US" dirty="0"/>
              <a:t>	- extreme outliers (&gt;99th percentile)</a:t>
            </a:r>
          </a:p>
          <a:p>
            <a:r>
              <a:rPr lang="en-US" dirty="0"/>
              <a:t>Scale all features → </a:t>
            </a:r>
            <a:r>
              <a:rPr lang="en-US" dirty="0" err="1"/>
              <a:t>MinMaxScaler</a:t>
            </a:r>
            <a:r>
              <a:rPr lang="en-US" dirty="0"/>
              <a:t> / </a:t>
            </a:r>
            <a:r>
              <a:rPr lang="en-US" dirty="0" err="1"/>
              <a:t>StandardScaler</a:t>
            </a:r>
            <a:r>
              <a:rPr lang="en-US" dirty="0"/>
              <a:t> (as recommended on page 2).</a:t>
            </a:r>
          </a:p>
          <a:p>
            <a:r>
              <a:rPr lang="en-US" dirty="0"/>
              <a:t>Final shape: (N rows × M features)</a:t>
            </a:r>
          </a:p>
        </p:txBody>
      </p:sp>
    </p:spTree>
    <p:extLst>
      <p:ext uri="{BB962C8B-B14F-4D97-AF65-F5344CB8AC3E}">
        <p14:creationId xmlns:p14="http://schemas.microsoft.com/office/powerpoint/2010/main" val="293811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4FE8-32B5-1E62-DA3D-0E2C6015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Train/Validation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F264-6956-4A83-F063-847422CB2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Required: 80% / 20% split (page 2)</a:t>
            </a:r>
          </a:p>
          <a:p>
            <a:r>
              <a:rPr lang="en-US" dirty="0"/>
              <a:t>Important: Time-sensitive → use chronological split, not random</a:t>
            </a:r>
          </a:p>
          <a:p>
            <a:pPr marL="0" indent="0">
              <a:buNone/>
            </a:pPr>
            <a:r>
              <a:rPr lang="en-US" dirty="0"/>
              <a:t>	→ First 80% = training</a:t>
            </a:r>
          </a:p>
          <a:p>
            <a:pPr marL="0" indent="0">
              <a:buNone/>
            </a:pPr>
            <a:r>
              <a:rPr lang="en-US" dirty="0"/>
              <a:t>	→ Last 20% = validation</a:t>
            </a:r>
          </a:p>
        </p:txBody>
      </p:sp>
    </p:spTree>
    <p:extLst>
      <p:ext uri="{BB962C8B-B14F-4D97-AF65-F5344CB8AC3E}">
        <p14:creationId xmlns:p14="http://schemas.microsoft.com/office/powerpoint/2010/main" val="307369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5F40-EDE5-1ACD-DE3E-A5D243E1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Implemented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E497B-A71A-45D4-EED4-318F3BFB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088"/>
            <a:ext cx="10515600" cy="46458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1️⃣ Linear Regression (TF Sequential, no hidden layers)</a:t>
            </a:r>
          </a:p>
          <a:p>
            <a:pPr marL="0" indent="0">
              <a:buNone/>
            </a:pPr>
            <a:r>
              <a:rPr lang="en-US" dirty="0"/>
              <a:t>	- Single Dense layer</a:t>
            </a:r>
          </a:p>
          <a:p>
            <a:pPr marL="0" indent="0">
              <a:buNone/>
            </a:pPr>
            <a:r>
              <a:rPr lang="en-US" dirty="0"/>
              <a:t>	- Acts as baseline NN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2️⃣ MLP (Multi-Layer Perceptron)</a:t>
            </a:r>
          </a:p>
          <a:p>
            <a:pPr marL="0" indent="0">
              <a:buNone/>
            </a:pPr>
            <a:r>
              <a:rPr lang="en-US" dirty="0"/>
              <a:t>	- Input layer</a:t>
            </a:r>
          </a:p>
          <a:p>
            <a:pPr marL="0" indent="0">
              <a:buNone/>
            </a:pPr>
            <a:r>
              <a:rPr lang="en-US" dirty="0"/>
              <a:t>	- 1 hidden layer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- Output layer (linear)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3️⃣ DNN (Deep Neural Network)</a:t>
            </a:r>
          </a:p>
          <a:p>
            <a:pPr marL="0" indent="0">
              <a:buNone/>
            </a:pPr>
            <a:r>
              <a:rPr lang="en-US" dirty="0"/>
              <a:t>	- At least 2+ hidden layers</a:t>
            </a:r>
          </a:p>
          <a:p>
            <a:pPr marL="0" indent="0">
              <a:buNone/>
            </a:pPr>
            <a:r>
              <a:rPr lang="en-US" dirty="0"/>
              <a:t>	- Dropout or </a:t>
            </a:r>
            <a:r>
              <a:rPr lang="en-US" dirty="0" err="1"/>
              <a:t>BatchNorm</a:t>
            </a:r>
            <a:r>
              <a:rPr lang="en-US" dirty="0"/>
              <a:t> optional</a:t>
            </a:r>
          </a:p>
          <a:p>
            <a:pPr marL="0" indent="0">
              <a:buNone/>
            </a:pPr>
            <a:r>
              <a:rPr lang="en-US" dirty="0"/>
              <a:t>	- Activation: </a:t>
            </a:r>
            <a:r>
              <a:rPr lang="en-US" dirty="0" err="1"/>
              <a:t>ReLU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Output: regression (linear)</a:t>
            </a:r>
          </a:p>
        </p:txBody>
      </p:sp>
    </p:spTree>
    <p:extLst>
      <p:ext uri="{BB962C8B-B14F-4D97-AF65-F5344CB8AC3E}">
        <p14:creationId xmlns:p14="http://schemas.microsoft.com/office/powerpoint/2010/main" val="26226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8236-9E28-D169-D366-20AD8F5A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9F92-C13F-0878-CB09-2717B4117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Loss Functions</a:t>
            </a:r>
          </a:p>
          <a:p>
            <a:pPr marL="0" indent="0">
              <a:buNone/>
            </a:pPr>
            <a:r>
              <a:rPr lang="en-US" dirty="0"/>
              <a:t>	- Mean Squared Error (MSE)</a:t>
            </a:r>
          </a:p>
          <a:p>
            <a:pPr marL="0" indent="0">
              <a:buNone/>
            </a:pPr>
            <a:r>
              <a:rPr lang="en-US" dirty="0"/>
              <a:t>	- Mean Absolute Error (MAE)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Optimizers (test all)</a:t>
            </a:r>
          </a:p>
          <a:p>
            <a:pPr marL="0" indent="0">
              <a:buNone/>
            </a:pPr>
            <a:r>
              <a:rPr lang="en-US" dirty="0"/>
              <a:t>	- SGD</a:t>
            </a:r>
          </a:p>
          <a:p>
            <a:pPr marL="0" indent="0">
              <a:buNone/>
            </a:pPr>
            <a:r>
              <a:rPr lang="en-US" dirty="0"/>
              <a:t>	- Adam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RMSProp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Learning Rates Tested</a:t>
            </a:r>
          </a:p>
          <a:p>
            <a:pPr marL="0" indent="0">
              <a:buNone/>
            </a:pPr>
            <a:r>
              <a:rPr lang="en-US" dirty="0"/>
              <a:t>	- 0.001</a:t>
            </a:r>
          </a:p>
          <a:p>
            <a:pPr marL="0" indent="0">
              <a:buNone/>
            </a:pPr>
            <a:r>
              <a:rPr lang="en-US" dirty="0"/>
              <a:t>	- 0.01</a:t>
            </a:r>
          </a:p>
          <a:p>
            <a:pPr marL="0" indent="0">
              <a:buNone/>
            </a:pPr>
            <a:r>
              <a:rPr lang="en-US" dirty="0"/>
              <a:t>	- 0.1</a:t>
            </a:r>
          </a:p>
          <a:p>
            <a:pPr marL="0" indent="0">
              <a:buNone/>
            </a:pPr>
            <a:r>
              <a:rPr lang="en-US" dirty="0"/>
              <a:t>Epochs</a:t>
            </a:r>
          </a:p>
          <a:p>
            <a:pPr marL="0" indent="0">
              <a:buNone/>
            </a:pPr>
            <a:r>
              <a:rPr lang="en-US" dirty="0"/>
              <a:t>	- epoch = 100 for every model (mandatory)</a:t>
            </a:r>
          </a:p>
          <a:p>
            <a:pPr marL="0" indent="0">
              <a:buNone/>
            </a:pPr>
            <a:r>
              <a:rPr lang="en-US" dirty="0"/>
              <a:t>Batch size</a:t>
            </a:r>
          </a:p>
          <a:p>
            <a:pPr marL="0" indent="0">
              <a:buNone/>
            </a:pPr>
            <a:r>
              <a:rPr lang="en-US" dirty="0"/>
              <a:t>	- Default 32</a:t>
            </a:r>
          </a:p>
        </p:txBody>
      </p:sp>
    </p:spTree>
    <p:extLst>
      <p:ext uri="{BB962C8B-B14F-4D97-AF65-F5344CB8AC3E}">
        <p14:creationId xmlns:p14="http://schemas.microsoft.com/office/powerpoint/2010/main" val="3924027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09CD8-1AFB-1FC4-98D4-5C9F1CBC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Training vs Validation Loss Plots</a:t>
            </a: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13453-D3A9-9647-9689-DF6F54FFA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Linear Regression Loss Curve</a:t>
            </a:r>
          </a:p>
          <a:p>
            <a:pPr marL="0" indent="0">
              <a:buNone/>
            </a:pPr>
            <a:r>
              <a:rPr lang="en-US" sz="1800"/>
              <a:t>(Insert plot: training_loss vs val_loss)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17A426-E0D4-62CF-D9F6-42665FD90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571" y="2729397"/>
            <a:ext cx="508593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648C398-DDB4-7515-D630-8FC9B6108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8658" y="2729397"/>
            <a:ext cx="5123328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46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0E1F9-1985-6384-3B5C-B9A96251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70DB8B-F897-55D4-2D99-E185840F8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59305"/>
              </p:ext>
            </p:extLst>
          </p:nvPr>
        </p:nvGraphicFramePr>
        <p:xfrm>
          <a:off x="432225" y="2156166"/>
          <a:ext cx="11327552" cy="4072416"/>
        </p:xfrm>
        <a:graphic>
          <a:graphicData uri="http://schemas.openxmlformats.org/drawingml/2006/table">
            <a:tbl>
              <a:tblPr/>
              <a:tblGrid>
                <a:gridCol w="1429320">
                  <a:extLst>
                    <a:ext uri="{9D8B030D-6E8A-4147-A177-3AD203B41FA5}">
                      <a16:colId xmlns:a16="http://schemas.microsoft.com/office/drawing/2014/main" val="564738268"/>
                    </a:ext>
                  </a:extLst>
                </a:gridCol>
                <a:gridCol w="1964360">
                  <a:extLst>
                    <a:ext uri="{9D8B030D-6E8A-4147-A177-3AD203B41FA5}">
                      <a16:colId xmlns:a16="http://schemas.microsoft.com/office/drawing/2014/main" val="1767819499"/>
                    </a:ext>
                  </a:extLst>
                </a:gridCol>
                <a:gridCol w="1696840">
                  <a:extLst>
                    <a:ext uri="{9D8B030D-6E8A-4147-A177-3AD203B41FA5}">
                      <a16:colId xmlns:a16="http://schemas.microsoft.com/office/drawing/2014/main" val="3417804851"/>
                    </a:ext>
                  </a:extLst>
                </a:gridCol>
                <a:gridCol w="1811491">
                  <a:extLst>
                    <a:ext uri="{9D8B030D-6E8A-4147-A177-3AD203B41FA5}">
                      <a16:colId xmlns:a16="http://schemas.microsoft.com/office/drawing/2014/main" val="3505092569"/>
                    </a:ext>
                  </a:extLst>
                </a:gridCol>
                <a:gridCol w="1811491">
                  <a:extLst>
                    <a:ext uri="{9D8B030D-6E8A-4147-A177-3AD203B41FA5}">
                      <a16:colId xmlns:a16="http://schemas.microsoft.com/office/drawing/2014/main" val="3677152466"/>
                    </a:ext>
                  </a:extLst>
                </a:gridCol>
                <a:gridCol w="2614050">
                  <a:extLst>
                    <a:ext uri="{9D8B030D-6E8A-4147-A177-3AD203B41FA5}">
                      <a16:colId xmlns:a16="http://schemas.microsoft.com/office/drawing/2014/main" val="3918253074"/>
                    </a:ext>
                  </a:extLst>
                </a:gridCol>
              </a:tblGrid>
              <a:tr h="1018104"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Best Optimizer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Best LR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Val MSE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Val MAE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Notes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81812"/>
                  </a:ext>
                </a:extLst>
              </a:tr>
              <a:tr h="1018104"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Linear NN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Adam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Baseline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219042"/>
                  </a:ext>
                </a:extLst>
              </a:tr>
              <a:tr h="1018104"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MLP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RMSProp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0.001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...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Better generalization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237823"/>
                  </a:ext>
                </a:extLst>
              </a:tr>
              <a:tr h="1018104"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DNN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Adam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0.001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lowest loss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1" i="0" u="none" strike="noStrike">
                          <a:effectLst/>
                          <a:latin typeface="Arial" panose="020B0604020202020204" pitchFamily="34" charset="0"/>
                        </a:rPr>
                        <a:t>lowest MAE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Best model</a:t>
                      </a:r>
                    </a:p>
                  </a:txBody>
                  <a:tcPr marL="137582" marR="137582" marT="68791" marB="68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15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84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923D-E055-EB7B-2BF7-1BE18156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EAE0-D629-88DC-9286-3087BA1E2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26"/>
            <a:ext cx="10515600" cy="4699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🏆 Best Performing Model: DNN</a:t>
            </a:r>
          </a:p>
          <a:p>
            <a:pPr marL="0" indent="0">
              <a:buNone/>
            </a:pPr>
            <a:r>
              <a:rPr lang="en-US" dirty="0"/>
              <a:t>	- 2–3 hidden layers</a:t>
            </a:r>
          </a:p>
          <a:p>
            <a:pPr marL="0" indent="0">
              <a:buNone/>
            </a:pPr>
            <a:r>
              <a:rPr lang="en-US" dirty="0"/>
              <a:t>	- Neurons (example): 128 → 64 → 32</a:t>
            </a:r>
          </a:p>
          <a:p>
            <a:pPr marL="0" indent="0">
              <a:buNone/>
            </a:pPr>
            <a:r>
              <a:rPr lang="en-US" dirty="0"/>
              <a:t>	- Activation: </a:t>
            </a:r>
            <a:r>
              <a:rPr lang="en-US" dirty="0" err="1"/>
              <a:t>ReLU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Optimizer: Adam (</a:t>
            </a:r>
            <a:r>
              <a:rPr lang="en-US" dirty="0" err="1"/>
              <a:t>lr</a:t>
            </a:r>
            <a:r>
              <a:rPr lang="en-US" dirty="0"/>
              <a:t>=0.001)</a:t>
            </a:r>
          </a:p>
          <a:p>
            <a:pPr marL="0" indent="0">
              <a:buNone/>
            </a:pPr>
            <a:r>
              <a:rPr lang="en-US" dirty="0"/>
              <a:t>	- Loss: MAE</a:t>
            </a:r>
          </a:p>
          <a:p>
            <a:pPr marL="0" indent="0">
              <a:buNone/>
            </a:pPr>
            <a:r>
              <a:rPr lang="en-US" dirty="0"/>
              <a:t>	- Achieved:</a:t>
            </a:r>
          </a:p>
          <a:p>
            <a:pPr marL="0" indent="0">
              <a:buNone/>
            </a:pPr>
            <a:r>
              <a:rPr lang="en-US" dirty="0"/>
              <a:t>		- Val MSE = X.XX</a:t>
            </a:r>
          </a:p>
          <a:p>
            <a:pPr marL="0" indent="0">
              <a:buNone/>
            </a:pPr>
            <a:r>
              <a:rPr lang="en-US" dirty="0"/>
              <a:t>		- Val MAE = X.XX</a:t>
            </a:r>
          </a:p>
        </p:txBody>
      </p:sp>
    </p:spTree>
    <p:extLst>
      <p:ext uri="{BB962C8B-B14F-4D97-AF65-F5344CB8AC3E}">
        <p14:creationId xmlns:p14="http://schemas.microsoft.com/office/powerpoint/2010/main" val="293369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BA6A-310C-4D55-7799-85DB887C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Predictions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1FC74-1F4B-1B2B-1089-79DA5C5B4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1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487</Words>
  <Application>Microsoft Macintosh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Project #2 – Deep Learning Regression Models for NYC Yellow Taxi Trip Duration</vt:lpstr>
      <vt:lpstr>Problem Statement</vt:lpstr>
      <vt:lpstr>Data Preprocessing</vt:lpstr>
      <vt:lpstr>Train/Validation Split</vt:lpstr>
      <vt:lpstr>Models Implemented</vt:lpstr>
      <vt:lpstr>Training Configuration</vt:lpstr>
      <vt:lpstr>Training vs Validation Loss Plots</vt:lpstr>
      <vt:lpstr>Model Comparison</vt:lpstr>
      <vt:lpstr>Best Model</vt:lpstr>
      <vt:lpstr>Predictions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Shergill, Mr. Sajan</dc:creator>
  <cp:lastModifiedBy>Shergill, Mr. Sajan</cp:lastModifiedBy>
  <cp:revision>1</cp:revision>
  <dcterms:created xsi:type="dcterms:W3CDTF">2025-11-23T16:08:54Z</dcterms:created>
  <dcterms:modified xsi:type="dcterms:W3CDTF">2025-11-23T20:42:42Z</dcterms:modified>
</cp:coreProperties>
</file>