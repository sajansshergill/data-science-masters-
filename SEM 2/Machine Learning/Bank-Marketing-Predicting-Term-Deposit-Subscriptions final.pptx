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65" r:id="rId5"/>
    <p:sldId id="259" r:id="rId6"/>
    <p:sldId id="266" r:id="rId7"/>
    <p:sldId id="267" r:id="rId8"/>
    <p:sldId id="268" r:id="rId9"/>
    <p:sldId id="269" r:id="rId10"/>
    <p:sldId id="270" r:id="rId11"/>
    <p:sldId id="271" r:id="rId12"/>
    <p:sldId id="272" r:id="rId13"/>
    <p:sldId id="273" r:id="rId14"/>
    <p:sldId id="274" r:id="rId15"/>
    <p:sldId id="276" r:id="rId16"/>
    <p:sldId id="278" r:id="rId17"/>
    <p:sldId id="279" r:id="rId18"/>
    <p:sldId id="280" r:id="rId19"/>
    <p:sldId id="283" r:id="rId20"/>
    <p:sldId id="285" r:id="rId21"/>
    <p:sldId id="286" r:id="rId22"/>
    <p:sldId id="287" r:id="rId23"/>
    <p:sldId id="281" r:id="rId24"/>
    <p:sldId id="288" r:id="rId25"/>
    <p:sldId id="289" r:id="rId26"/>
    <p:sldId id="290" r:id="rId27"/>
    <p:sldId id="291" r:id="rId28"/>
    <p:sldId id="263" r:id="rId29"/>
    <p:sldId id="293" r:id="rId30"/>
    <p:sldId id="264" r:id="rId31"/>
  </p:sldIdLst>
  <p:sldSz cx="14630400" cy="8229600"/>
  <p:notesSz cx="8229600" cy="14630400"/>
  <p:embeddedFontLst>
    <p:embeddedFont>
      <p:font typeface="Barlow Bold" pitchFamily="2" charset="77"/>
      <p:bold r:id="rId33"/>
    </p:embeddedFont>
    <p:embeddedFont>
      <p:font typeface="Montserrat" pitchFamily="2" charset="77"/>
      <p:regular r:id="rId34"/>
      <p:bold r:id="rId35"/>
      <p:italic r:id="rId36"/>
      <p:boldItalic r:id="rId37"/>
    </p:embeddedFont>
    <p:embeddedFont>
      <p:font typeface="Montserrat Bold" pitchFamily="2" charset="77"/>
      <p:bold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159F97-BE83-4679-B682-31B05FB36BB1}">
          <p14:sldIdLst>
            <p14:sldId id="256"/>
            <p14:sldId id="257"/>
            <p14:sldId id="258"/>
            <p14:sldId id="265"/>
            <p14:sldId id="259"/>
            <p14:sldId id="266"/>
            <p14:sldId id="267"/>
            <p14:sldId id="268"/>
            <p14:sldId id="269"/>
            <p14:sldId id="270"/>
            <p14:sldId id="271"/>
            <p14:sldId id="272"/>
            <p14:sldId id="273"/>
            <p14:sldId id="274"/>
            <p14:sldId id="276"/>
            <p14:sldId id="278"/>
            <p14:sldId id="279"/>
            <p14:sldId id="280"/>
            <p14:sldId id="283"/>
            <p14:sldId id="285"/>
            <p14:sldId id="286"/>
            <p14:sldId id="287"/>
            <p14:sldId id="281"/>
            <p14:sldId id="288"/>
            <p14:sldId id="289"/>
            <p14:sldId id="290"/>
            <p14:sldId id="291"/>
            <p14:sldId id="263"/>
            <p14:sldId id="29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5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2814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9461" y="3796571"/>
            <a:ext cx="7627382" cy="1425416"/>
          </a:xfrm>
          <a:prstGeom prst="rect">
            <a:avLst/>
          </a:prstGeom>
          <a:noFill/>
          <a:ln/>
        </p:spPr>
        <p:txBody>
          <a:bodyPr wrap="squar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Bank Marketing: Predicting Term Deposit Subscriptions</a:t>
            </a:r>
            <a:endParaRPr lang="en-US" sz="4450" dirty="0"/>
          </a:p>
        </p:txBody>
      </p:sp>
      <p:sp>
        <p:nvSpPr>
          <p:cNvPr id="6" name="Shape 3"/>
          <p:cNvSpPr/>
          <p:nvPr/>
        </p:nvSpPr>
        <p:spPr>
          <a:xfrm>
            <a:off x="758309" y="6620470"/>
            <a:ext cx="346591" cy="346591"/>
          </a:xfrm>
          <a:prstGeom prst="roundRect">
            <a:avLst>
              <a:gd name="adj" fmla="val 26380043"/>
            </a:avLst>
          </a:prstGeom>
          <a:solidFill>
            <a:srgbClr val="A255ED"/>
          </a:solidFill>
          <a:ln w="7620">
            <a:solidFill>
              <a:srgbClr val="4D4D51"/>
            </a:solidFill>
            <a:prstDash val="solid"/>
          </a:ln>
        </p:spPr>
        <p:txBody>
          <a:bodyPr/>
          <a:lstStyle/>
          <a:p>
            <a:endParaRPr lang="en-US"/>
          </a:p>
        </p:txBody>
      </p:sp>
      <p:sp>
        <p:nvSpPr>
          <p:cNvPr id="7" name="Text 4"/>
          <p:cNvSpPr/>
          <p:nvPr/>
        </p:nvSpPr>
        <p:spPr>
          <a:xfrm>
            <a:off x="870942" y="6745010"/>
            <a:ext cx="121206" cy="97512"/>
          </a:xfrm>
          <a:prstGeom prst="rect">
            <a:avLst/>
          </a:prstGeom>
          <a:noFill/>
          <a:ln/>
        </p:spPr>
        <p:txBody>
          <a:bodyPr wrap="none" lIns="0" tIns="0" rIns="0" bIns="0" rtlCol="0" anchor="t"/>
          <a:lstStyle/>
          <a:p>
            <a:pPr marL="0" indent="0" algn="ctr">
              <a:lnSpc>
                <a:spcPts val="750"/>
              </a:lnSpc>
              <a:buNone/>
            </a:pPr>
            <a:endParaRPr lang="en-US" sz="750" dirty="0"/>
          </a:p>
        </p:txBody>
      </p:sp>
      <p:sp>
        <p:nvSpPr>
          <p:cNvPr id="8" name="Text 5"/>
          <p:cNvSpPr/>
          <p:nvPr/>
        </p:nvSpPr>
        <p:spPr>
          <a:xfrm>
            <a:off x="1213128" y="6604278"/>
            <a:ext cx="2094071" cy="379214"/>
          </a:xfrm>
          <a:prstGeom prst="rect">
            <a:avLst/>
          </a:prstGeom>
          <a:noFill/>
          <a:ln/>
        </p:spPr>
        <p:txBody>
          <a:bodyPr wrap="none" lIns="0" tIns="0" rIns="0" bIns="0" rtlCol="0" anchor="t"/>
          <a:lstStyle/>
          <a:p>
            <a:pPr marL="0" indent="0" algn="l">
              <a:lnSpc>
                <a:spcPts val="2950"/>
              </a:lnSpc>
              <a:buNone/>
            </a:pPr>
            <a:r>
              <a:rPr lang="en-US" sz="2100" b="1" dirty="0">
                <a:solidFill>
                  <a:srgbClr val="EEEFF5"/>
                </a:solidFill>
                <a:latin typeface="Montserrat Bold" pitchFamily="34" charset="0"/>
              </a:rPr>
              <a:t>Team 8 – Mohanaprasath, Sajan, Nithesh</a:t>
            </a:r>
            <a:endParaRPr lang="en-US" sz="2100" dirty="0"/>
          </a:p>
        </p:txBody>
      </p:sp>
      <p:sp>
        <p:nvSpPr>
          <p:cNvPr id="9" name="Text 0">
            <a:extLst>
              <a:ext uri="{FF2B5EF4-FFF2-40B4-BE49-F238E27FC236}">
                <a16:creationId xmlns:a16="http://schemas.microsoft.com/office/drawing/2014/main" id="{8E7BC197-4DD8-FAAA-BD49-59FAE690F09B}"/>
              </a:ext>
            </a:extLst>
          </p:cNvPr>
          <p:cNvSpPr/>
          <p:nvPr/>
        </p:nvSpPr>
        <p:spPr>
          <a:xfrm>
            <a:off x="769461" y="1582198"/>
            <a:ext cx="7627382" cy="1425416"/>
          </a:xfrm>
          <a:prstGeom prst="rect">
            <a:avLst/>
          </a:prstGeom>
          <a:noFill/>
          <a:ln/>
        </p:spPr>
        <p:txBody>
          <a:bodyPr wrap="squar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CS677- Spring 2025 CRN#22550 Machine Learning </a:t>
            </a:r>
            <a:endParaRPr lang="en-US" sz="4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0562" y="802958"/>
            <a:ext cx="7487245" cy="649010"/>
          </a:xfrm>
          <a:prstGeom prst="rect">
            <a:avLst/>
          </a:prstGeom>
          <a:noFill/>
          <a:ln/>
        </p:spPr>
        <p:txBody>
          <a:bodyPr wrap="none" lIns="0" tIns="0" rIns="0" bIns="0" rtlCol="0" anchor="t"/>
          <a:lstStyle/>
          <a:p>
            <a:pPr marL="0" indent="0" algn="l">
              <a:lnSpc>
                <a:spcPts val="5100"/>
              </a:lnSpc>
              <a:buNone/>
            </a:pPr>
            <a:r>
              <a:rPr lang="en-US" sz="4050" b="1" dirty="0">
                <a:solidFill>
                  <a:srgbClr val="9998FF"/>
                </a:solidFill>
                <a:latin typeface="Barlow Bold" pitchFamily="34" charset="0"/>
                <a:ea typeface="Barlow Bold" pitchFamily="34" charset="-122"/>
                <a:cs typeface="Barlow Bold" pitchFamily="34" charset="-120"/>
              </a:rPr>
              <a:t>STEP-1 Problem Statement &amp; Objectives</a:t>
            </a:r>
            <a:endParaRPr lang="en-US" sz="4050" dirty="0"/>
          </a:p>
        </p:txBody>
      </p:sp>
      <p:pic>
        <p:nvPicPr>
          <p:cNvPr id="3" name="Image 0" descr="preencoded.png"/>
          <p:cNvPicPr>
            <a:picLocks noChangeAspect="1"/>
          </p:cNvPicPr>
          <p:nvPr/>
        </p:nvPicPr>
        <p:blipFill>
          <a:blip r:embed="rId3"/>
          <a:stretch>
            <a:fillRect/>
          </a:stretch>
        </p:blipFill>
        <p:spPr>
          <a:xfrm>
            <a:off x="2909768" y="1846540"/>
            <a:ext cx="2186107" cy="1153120"/>
          </a:xfrm>
          <a:prstGeom prst="rect">
            <a:avLst/>
          </a:prstGeom>
        </p:spPr>
      </p:pic>
      <p:pic>
        <p:nvPicPr>
          <p:cNvPr id="4" name="Image 1" descr="preencoded.png"/>
          <p:cNvPicPr>
            <a:picLocks noChangeAspect="1"/>
          </p:cNvPicPr>
          <p:nvPr/>
        </p:nvPicPr>
        <p:blipFill>
          <a:blip r:embed="rId4"/>
          <a:stretch>
            <a:fillRect/>
          </a:stretch>
        </p:blipFill>
        <p:spPr>
          <a:xfrm>
            <a:off x="3864054" y="2393037"/>
            <a:ext cx="277416" cy="346829"/>
          </a:xfrm>
          <a:prstGeom prst="rect">
            <a:avLst/>
          </a:prstGeom>
        </p:spPr>
      </p:pic>
      <p:sp>
        <p:nvSpPr>
          <p:cNvPr id="5" name="Text 1"/>
          <p:cNvSpPr/>
          <p:nvPr/>
        </p:nvSpPr>
        <p:spPr>
          <a:xfrm>
            <a:off x="5293162" y="2043827"/>
            <a:ext cx="2596277" cy="324564"/>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Barlow Bold" pitchFamily="34" charset="0"/>
                <a:ea typeface="Barlow Bold" pitchFamily="34" charset="-122"/>
                <a:cs typeface="Barlow Bold" pitchFamily="34" charset="-120"/>
              </a:rPr>
              <a:t>Enhance Targeting</a:t>
            </a:r>
            <a:endParaRPr lang="en-US" sz="2000" dirty="0"/>
          </a:p>
        </p:txBody>
      </p:sp>
      <p:sp>
        <p:nvSpPr>
          <p:cNvPr id="6" name="Text 2"/>
          <p:cNvSpPr/>
          <p:nvPr/>
        </p:nvSpPr>
        <p:spPr>
          <a:xfrm>
            <a:off x="5293162" y="2486739"/>
            <a:ext cx="3565803" cy="315635"/>
          </a:xfrm>
          <a:prstGeom prst="rect">
            <a:avLst/>
          </a:prstGeom>
          <a:noFill/>
          <a:ln/>
        </p:spPr>
        <p:txBody>
          <a:bodyPr wrap="none" lIns="0" tIns="0" rIns="0" bIns="0" rtlCol="0" anchor="t"/>
          <a:lstStyle/>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Identify high-probability subscribers</a:t>
            </a:r>
            <a:endParaRPr lang="en-US" sz="1550" dirty="0"/>
          </a:p>
        </p:txBody>
      </p:sp>
      <p:sp>
        <p:nvSpPr>
          <p:cNvPr id="7" name="Shape 3"/>
          <p:cNvSpPr/>
          <p:nvPr/>
        </p:nvSpPr>
        <p:spPr>
          <a:xfrm>
            <a:off x="5145167" y="3014782"/>
            <a:ext cx="8745379" cy="11430"/>
          </a:xfrm>
          <a:prstGeom prst="roundRect">
            <a:avLst>
              <a:gd name="adj" fmla="val 1553688"/>
            </a:avLst>
          </a:prstGeom>
          <a:solidFill>
            <a:srgbClr val="60646A"/>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1816656" y="3048953"/>
            <a:ext cx="4372213" cy="1153120"/>
          </a:xfrm>
          <a:prstGeom prst="rect">
            <a:avLst/>
          </a:prstGeom>
        </p:spPr>
      </p:pic>
      <p:pic>
        <p:nvPicPr>
          <p:cNvPr id="9" name="Image 3" descr="preencoded.png"/>
          <p:cNvPicPr>
            <a:picLocks noChangeAspect="1"/>
          </p:cNvPicPr>
          <p:nvPr/>
        </p:nvPicPr>
        <p:blipFill>
          <a:blip r:embed="rId6"/>
          <a:stretch>
            <a:fillRect/>
          </a:stretch>
        </p:blipFill>
        <p:spPr>
          <a:xfrm>
            <a:off x="3864054" y="3452098"/>
            <a:ext cx="277416" cy="346829"/>
          </a:xfrm>
          <a:prstGeom prst="rect">
            <a:avLst/>
          </a:prstGeom>
        </p:spPr>
      </p:pic>
      <p:sp>
        <p:nvSpPr>
          <p:cNvPr id="10" name="Text 4"/>
          <p:cNvSpPr/>
          <p:nvPr/>
        </p:nvSpPr>
        <p:spPr>
          <a:xfrm>
            <a:off x="6386155" y="3246239"/>
            <a:ext cx="2596277" cy="324564"/>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Barlow Bold" pitchFamily="34" charset="0"/>
                <a:ea typeface="Barlow Bold" pitchFamily="34" charset="-122"/>
                <a:cs typeface="Barlow Bold" pitchFamily="34" charset="-120"/>
              </a:rPr>
              <a:t>Improve Efficiency</a:t>
            </a:r>
            <a:endParaRPr lang="en-US" sz="2000" dirty="0"/>
          </a:p>
        </p:txBody>
      </p:sp>
      <p:sp>
        <p:nvSpPr>
          <p:cNvPr id="11" name="Text 5"/>
          <p:cNvSpPr/>
          <p:nvPr/>
        </p:nvSpPr>
        <p:spPr>
          <a:xfrm>
            <a:off x="6386155" y="3689152"/>
            <a:ext cx="4714756" cy="315635"/>
          </a:xfrm>
          <a:prstGeom prst="rect">
            <a:avLst/>
          </a:prstGeom>
          <a:noFill/>
          <a:ln/>
        </p:spPr>
        <p:txBody>
          <a:bodyPr wrap="none" lIns="0" tIns="0" rIns="0" bIns="0" rtlCol="0" anchor="t"/>
          <a:lstStyle/>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Reduce resources spent on unlikely conversions</a:t>
            </a:r>
            <a:endParaRPr lang="en-US" sz="1550" dirty="0"/>
          </a:p>
        </p:txBody>
      </p:sp>
      <p:sp>
        <p:nvSpPr>
          <p:cNvPr id="12" name="Shape 6"/>
          <p:cNvSpPr/>
          <p:nvPr/>
        </p:nvSpPr>
        <p:spPr>
          <a:xfrm>
            <a:off x="6238161" y="4217194"/>
            <a:ext cx="7652385" cy="11430"/>
          </a:xfrm>
          <a:prstGeom prst="roundRect">
            <a:avLst>
              <a:gd name="adj" fmla="val 1553688"/>
            </a:avLst>
          </a:prstGeom>
          <a:solidFill>
            <a:srgbClr val="60646A"/>
          </a:solidFill>
          <a:ln/>
        </p:spPr>
        <p:txBody>
          <a:bodyPr/>
          <a:lstStyle/>
          <a:p>
            <a:endParaRPr lang="en-US"/>
          </a:p>
        </p:txBody>
      </p:sp>
      <p:pic>
        <p:nvPicPr>
          <p:cNvPr id="13" name="Image 4" descr="preencoded.png"/>
          <p:cNvPicPr>
            <a:picLocks noChangeAspect="1"/>
          </p:cNvPicPr>
          <p:nvPr/>
        </p:nvPicPr>
        <p:blipFill>
          <a:blip r:embed="rId7"/>
          <a:stretch>
            <a:fillRect/>
          </a:stretch>
        </p:blipFill>
        <p:spPr>
          <a:xfrm>
            <a:off x="723662" y="4251365"/>
            <a:ext cx="6558320" cy="1153120"/>
          </a:xfrm>
          <a:prstGeom prst="rect">
            <a:avLst/>
          </a:prstGeom>
        </p:spPr>
      </p:pic>
      <p:pic>
        <p:nvPicPr>
          <p:cNvPr id="14" name="Image 5" descr="preencoded.png"/>
          <p:cNvPicPr>
            <a:picLocks noChangeAspect="1"/>
          </p:cNvPicPr>
          <p:nvPr/>
        </p:nvPicPr>
        <p:blipFill>
          <a:blip r:embed="rId8"/>
          <a:stretch>
            <a:fillRect/>
          </a:stretch>
        </p:blipFill>
        <p:spPr>
          <a:xfrm>
            <a:off x="3864054" y="4654510"/>
            <a:ext cx="277416" cy="346829"/>
          </a:xfrm>
          <a:prstGeom prst="rect">
            <a:avLst/>
          </a:prstGeom>
        </p:spPr>
      </p:pic>
      <p:sp>
        <p:nvSpPr>
          <p:cNvPr id="15" name="Text 7"/>
          <p:cNvSpPr/>
          <p:nvPr/>
        </p:nvSpPr>
        <p:spPr>
          <a:xfrm>
            <a:off x="7479268" y="4448651"/>
            <a:ext cx="2596277" cy="324564"/>
          </a:xfrm>
          <a:prstGeom prst="rect">
            <a:avLst/>
          </a:prstGeom>
          <a:noFill/>
          <a:ln/>
        </p:spPr>
        <p:txBody>
          <a:bodyPr wrap="none" lIns="0" tIns="0" rIns="0" bIns="0" rtlCol="0" anchor="t"/>
          <a:lstStyle/>
          <a:p>
            <a:pPr marL="0" indent="0" algn="l">
              <a:lnSpc>
                <a:spcPts val="2550"/>
              </a:lnSpc>
              <a:buNone/>
            </a:pPr>
            <a:r>
              <a:rPr lang="en-US" sz="2000" b="1" dirty="0">
                <a:solidFill>
                  <a:srgbClr val="EEEFF5"/>
                </a:solidFill>
                <a:latin typeface="Barlow Bold" pitchFamily="34" charset="0"/>
                <a:ea typeface="Barlow Bold" pitchFamily="34" charset="-122"/>
                <a:cs typeface="Barlow Bold" pitchFamily="34" charset="-120"/>
              </a:rPr>
              <a:t>Build Predictive Model</a:t>
            </a:r>
            <a:endParaRPr lang="en-US" sz="2000" dirty="0"/>
          </a:p>
        </p:txBody>
      </p:sp>
      <p:sp>
        <p:nvSpPr>
          <p:cNvPr id="16" name="Text 8"/>
          <p:cNvSpPr/>
          <p:nvPr/>
        </p:nvSpPr>
        <p:spPr>
          <a:xfrm>
            <a:off x="7479268" y="4891564"/>
            <a:ext cx="5813346" cy="315635"/>
          </a:xfrm>
          <a:prstGeom prst="rect">
            <a:avLst/>
          </a:prstGeom>
          <a:noFill/>
          <a:ln/>
        </p:spPr>
        <p:txBody>
          <a:bodyPr wrap="none" lIns="0" tIns="0" rIns="0" bIns="0" rtlCol="0" anchor="t"/>
          <a:lstStyle/>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Develop binary classification for term deposit subscriptions</a:t>
            </a:r>
            <a:endParaRPr lang="en-US" sz="1550" dirty="0"/>
          </a:p>
        </p:txBody>
      </p:sp>
      <p:sp>
        <p:nvSpPr>
          <p:cNvPr id="17" name="Text 9"/>
          <p:cNvSpPr/>
          <p:nvPr/>
        </p:nvSpPr>
        <p:spPr>
          <a:xfrm>
            <a:off x="690562" y="5626418"/>
            <a:ext cx="13249275" cy="2100820"/>
          </a:xfrm>
          <a:prstGeom prst="rect">
            <a:avLst/>
          </a:prstGeom>
          <a:noFill/>
          <a:ln/>
        </p:spPr>
        <p:txBody>
          <a:bodyPr wrap="square" lIns="0" tIns="0" rIns="0" bIns="0" rtlCol="0" anchor="t"/>
          <a:lstStyle/>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This project analyzes data from direct phone-based marketing campaigns conducted by a Portuguese banking institution.</a:t>
            </a:r>
          </a:p>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The objective is to </a:t>
            </a:r>
            <a:r>
              <a:rPr lang="en-US" sz="1550" b="1" dirty="0">
                <a:solidFill>
                  <a:srgbClr val="EEEFF5"/>
                </a:solidFill>
                <a:latin typeface="Montserrat" pitchFamily="34" charset="0"/>
                <a:ea typeface="Montserrat" pitchFamily="34" charset="-122"/>
                <a:cs typeface="Montserrat" pitchFamily="34" charset="-120"/>
              </a:rPr>
              <a:t>predict whether a client will subscribe to a term deposit (y)</a:t>
            </a:r>
            <a:r>
              <a:rPr lang="en-US" sz="1550" dirty="0">
                <a:solidFill>
                  <a:srgbClr val="EEEFF5"/>
                </a:solidFill>
                <a:latin typeface="Montserrat" pitchFamily="34" charset="0"/>
                <a:ea typeface="Montserrat" pitchFamily="34" charset="-122"/>
                <a:cs typeface="Montserrat" pitchFamily="34" charset="-120"/>
              </a:rPr>
              <a:t> based on various features such as demographic details, financial status, previous campaign outcomes, and especially the duration of the last call, which plays a critical role in client conversion.</a:t>
            </a:r>
          </a:p>
          <a:p>
            <a:pPr marL="0" indent="0" algn="l">
              <a:lnSpc>
                <a:spcPts val="2450"/>
              </a:lnSpc>
              <a:buNone/>
            </a:pPr>
            <a:r>
              <a:rPr lang="en-US" sz="1550" dirty="0">
                <a:solidFill>
                  <a:srgbClr val="EEEFF5"/>
                </a:solidFill>
                <a:latin typeface="Montserrat" pitchFamily="34" charset="0"/>
                <a:ea typeface="Montserrat" pitchFamily="34" charset="-122"/>
                <a:cs typeface="Montserrat" pitchFamily="34" charset="-120"/>
              </a:rPr>
              <a:t>By developing a binary classification model, the goal is to help the bank target the right clients, reduce unnecessary follow-ups, and maximize campaign efficiency.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36232"/>
          </a:xfrm>
          <a:prstGeom prst="rect">
            <a:avLst/>
          </a:prstGeom>
        </p:spPr>
      </p:pic>
      <p:sp>
        <p:nvSpPr>
          <p:cNvPr id="3" name="Text 0"/>
          <p:cNvSpPr/>
          <p:nvPr/>
        </p:nvSpPr>
        <p:spPr>
          <a:xfrm>
            <a:off x="626150" y="2730103"/>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Dataset Overview</a:t>
            </a:r>
            <a:endParaRPr lang="en-US" sz="3700" dirty="0"/>
          </a:p>
        </p:txBody>
      </p:sp>
      <p:sp>
        <p:nvSpPr>
          <p:cNvPr id="4" name="Shape 1"/>
          <p:cNvSpPr/>
          <p:nvPr/>
        </p:nvSpPr>
        <p:spPr>
          <a:xfrm>
            <a:off x="626031" y="3586758"/>
            <a:ext cx="4340185" cy="2315289"/>
          </a:xfrm>
          <a:prstGeom prst="roundRect">
            <a:avLst>
              <a:gd name="adj" fmla="val 6954"/>
            </a:avLst>
          </a:prstGeom>
          <a:solidFill>
            <a:srgbClr val="282C32"/>
          </a:solidFill>
          <a:ln/>
          <a:effectLst>
            <a:outerShdw blurRad="44450" dist="21590" dir="13500000" algn="bl" rotWithShape="0">
              <a:srgbClr val="FFFFFF">
                <a:alpha val="10000"/>
              </a:srgbClr>
            </a:outerShdw>
          </a:effectLst>
        </p:spPr>
        <p:txBody>
          <a:bodyPr/>
          <a:lstStyle/>
          <a:p>
            <a:endParaRPr lang="en-US" dirty="0"/>
          </a:p>
        </p:txBody>
      </p:sp>
      <p:sp>
        <p:nvSpPr>
          <p:cNvPr id="5" name="Text 2"/>
          <p:cNvSpPr/>
          <p:nvPr/>
        </p:nvSpPr>
        <p:spPr>
          <a:xfrm>
            <a:off x="804982" y="3765590"/>
            <a:ext cx="2353985" cy="294203"/>
          </a:xfrm>
          <a:prstGeom prst="rect">
            <a:avLst/>
          </a:prstGeom>
          <a:noFill/>
          <a:ln/>
        </p:spPr>
        <p:txBody>
          <a:bodyPr wrap="none" lIns="0" tIns="0" rIns="0" bIns="0" rtlCol="0" anchor="t"/>
          <a:lstStyle/>
          <a:p>
            <a:pPr marL="0" indent="0" algn="l">
              <a:lnSpc>
                <a:spcPts val="2300"/>
              </a:lnSpc>
              <a:buNone/>
            </a:pPr>
            <a:r>
              <a:rPr lang="en-US" sz="1850" dirty="0">
                <a:solidFill>
                  <a:schemeClr val="bg1"/>
                </a:solidFill>
                <a:latin typeface="Barlow Bold" panose="00000800000000000000" pitchFamily="2" charset="0"/>
              </a:rPr>
              <a:t>Shape of the Data</a:t>
            </a:r>
          </a:p>
        </p:txBody>
      </p:sp>
      <p:sp>
        <p:nvSpPr>
          <p:cNvPr id="8" name="Shape 5"/>
          <p:cNvSpPr/>
          <p:nvPr/>
        </p:nvSpPr>
        <p:spPr>
          <a:xfrm>
            <a:off x="5145167" y="3586758"/>
            <a:ext cx="4340185" cy="2315289"/>
          </a:xfrm>
          <a:prstGeom prst="roundRect">
            <a:avLst>
              <a:gd name="adj" fmla="val 6954"/>
            </a:avLst>
          </a:prstGeom>
          <a:solidFill>
            <a:srgbClr val="282C32"/>
          </a:solidFill>
          <a:ln/>
          <a:effectLst>
            <a:outerShdw blurRad="44450" dist="21590" dir="13500000" algn="bl" rotWithShape="0">
              <a:srgbClr val="FFFFFF">
                <a:alpha val="10000"/>
              </a:srgbClr>
            </a:outerShdw>
          </a:effectLst>
        </p:spPr>
        <p:txBody>
          <a:bodyPr/>
          <a:lstStyle/>
          <a:p>
            <a:endParaRPr lang="en-US"/>
          </a:p>
        </p:txBody>
      </p:sp>
      <p:sp>
        <p:nvSpPr>
          <p:cNvPr id="9" name="Text 6"/>
          <p:cNvSpPr/>
          <p:nvPr/>
        </p:nvSpPr>
        <p:spPr>
          <a:xfrm>
            <a:off x="5323999" y="3765590"/>
            <a:ext cx="2353985" cy="294203"/>
          </a:xfrm>
          <a:prstGeom prst="rect">
            <a:avLst/>
          </a:prstGeom>
          <a:noFill/>
          <a:ln/>
        </p:spPr>
        <p:txBody>
          <a:bodyPr wrap="none" lIns="0" tIns="0" rIns="0" bIns="0" rtlCol="0" anchor="t"/>
          <a:lstStyle/>
          <a:p>
            <a:pPr marL="0" indent="0" algn="l">
              <a:lnSpc>
                <a:spcPts val="2300"/>
              </a:lnSpc>
              <a:buNone/>
            </a:pPr>
            <a:r>
              <a:rPr lang="en-US" sz="1850" b="1" dirty="0">
                <a:solidFill>
                  <a:srgbClr val="EEEFF5"/>
                </a:solidFill>
                <a:latin typeface="Barlow Bold" pitchFamily="34" charset="0"/>
                <a:ea typeface="Barlow Bold" pitchFamily="34" charset="-122"/>
                <a:cs typeface="Barlow Bold" pitchFamily="34" charset="-120"/>
              </a:rPr>
              <a:t>Key Features</a:t>
            </a:r>
            <a:endParaRPr lang="en-US" sz="1850" dirty="0"/>
          </a:p>
        </p:txBody>
      </p:sp>
      <p:sp>
        <p:nvSpPr>
          <p:cNvPr id="10" name="Text 7"/>
          <p:cNvSpPr/>
          <p:nvPr/>
        </p:nvSpPr>
        <p:spPr>
          <a:xfrm>
            <a:off x="5323999" y="4167068"/>
            <a:ext cx="3982522" cy="286226"/>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EEFF5"/>
                </a:solidFill>
                <a:latin typeface="Montserrat" pitchFamily="34" charset="0"/>
                <a:ea typeface="Montserrat" pitchFamily="34" charset="-122"/>
                <a:cs typeface="Arial" panose="020B0604020202020204" pitchFamily="34" charset="0"/>
              </a:rPr>
              <a:t>Demographic: age, job, education</a:t>
            </a:r>
            <a:endParaRPr lang="en-US" sz="1400" dirty="0"/>
          </a:p>
        </p:txBody>
      </p:sp>
      <p:sp>
        <p:nvSpPr>
          <p:cNvPr id="11" name="Text 8"/>
          <p:cNvSpPr/>
          <p:nvPr/>
        </p:nvSpPr>
        <p:spPr>
          <a:xfrm>
            <a:off x="5323999" y="4515803"/>
            <a:ext cx="3982522" cy="57245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EEEFF5"/>
                </a:solidFill>
                <a:latin typeface="Montserrat" pitchFamily="34" charset="0"/>
                <a:ea typeface="Montserrat" pitchFamily="34" charset="-122"/>
                <a:cs typeface="Montserrat" pitchFamily="34" charset="-120"/>
              </a:rPr>
              <a:t>Campaign: contact, duration, previous outcomes</a:t>
            </a:r>
            <a:endParaRPr lang="en-US" sz="1400" dirty="0"/>
          </a:p>
        </p:txBody>
      </p:sp>
      <p:sp>
        <p:nvSpPr>
          <p:cNvPr id="12" name="Text 9"/>
          <p:cNvSpPr/>
          <p:nvPr/>
        </p:nvSpPr>
        <p:spPr>
          <a:xfrm>
            <a:off x="5323999" y="5150763"/>
            <a:ext cx="3982522" cy="572453"/>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EEEFF5"/>
                </a:solidFill>
                <a:latin typeface="Montserrat" pitchFamily="34" charset="0"/>
                <a:ea typeface="Montserrat" pitchFamily="34" charset="-122"/>
                <a:cs typeface="Montserrat" pitchFamily="34" charset="-120"/>
              </a:rPr>
              <a:t>Economic: consumer price index, confidence index</a:t>
            </a:r>
            <a:endParaRPr lang="en-US" sz="1400" dirty="0"/>
          </a:p>
        </p:txBody>
      </p:sp>
      <p:sp>
        <p:nvSpPr>
          <p:cNvPr id="13" name="Shape 10"/>
          <p:cNvSpPr/>
          <p:nvPr/>
        </p:nvSpPr>
        <p:spPr>
          <a:xfrm>
            <a:off x="9664184" y="3586758"/>
            <a:ext cx="4340185" cy="2315289"/>
          </a:xfrm>
          <a:prstGeom prst="roundRect">
            <a:avLst>
              <a:gd name="adj" fmla="val 6954"/>
            </a:avLst>
          </a:prstGeom>
          <a:solidFill>
            <a:srgbClr val="282C32"/>
          </a:solidFill>
          <a:ln/>
          <a:effectLst>
            <a:outerShdw blurRad="44450" dist="21590" dir="13500000" algn="bl" rotWithShape="0">
              <a:srgbClr val="FFFFFF">
                <a:alpha val="10000"/>
              </a:srgbClr>
            </a:outerShdw>
          </a:effectLst>
        </p:spPr>
        <p:txBody>
          <a:bodyPr/>
          <a:lstStyle/>
          <a:p>
            <a:endParaRPr lang="en-US" dirty="0"/>
          </a:p>
        </p:txBody>
      </p:sp>
      <p:sp>
        <p:nvSpPr>
          <p:cNvPr id="14" name="Text 11"/>
          <p:cNvSpPr/>
          <p:nvPr/>
        </p:nvSpPr>
        <p:spPr>
          <a:xfrm>
            <a:off x="9843016" y="3765590"/>
            <a:ext cx="2353985" cy="294203"/>
          </a:xfrm>
          <a:prstGeom prst="rect">
            <a:avLst/>
          </a:prstGeom>
          <a:noFill/>
          <a:ln/>
        </p:spPr>
        <p:txBody>
          <a:bodyPr wrap="none" lIns="0" tIns="0" rIns="0" bIns="0" rtlCol="0" anchor="t"/>
          <a:lstStyle/>
          <a:p>
            <a:pPr marL="0" indent="0" algn="l">
              <a:lnSpc>
                <a:spcPts val="2300"/>
              </a:lnSpc>
              <a:buNone/>
            </a:pPr>
            <a:r>
              <a:rPr lang="en-US" sz="1850" b="1" dirty="0">
                <a:solidFill>
                  <a:srgbClr val="EEEFF5"/>
                </a:solidFill>
                <a:latin typeface="Barlow Bold" pitchFamily="34" charset="0"/>
                <a:ea typeface="Barlow Bold" pitchFamily="34" charset="-122"/>
                <a:cs typeface="Barlow Bold" pitchFamily="34" charset="-120"/>
              </a:rPr>
              <a:t>Target Variable</a:t>
            </a:r>
            <a:endParaRPr lang="en-US" sz="1850" dirty="0"/>
          </a:p>
        </p:txBody>
      </p:sp>
      <p:pic>
        <p:nvPicPr>
          <p:cNvPr id="20" name="Picture 19">
            <a:extLst>
              <a:ext uri="{FF2B5EF4-FFF2-40B4-BE49-F238E27FC236}">
                <a16:creationId xmlns:a16="http://schemas.microsoft.com/office/drawing/2014/main" id="{DDEA668F-4C46-B81F-394A-76D6D2D74D82}"/>
              </a:ext>
            </a:extLst>
          </p:cNvPr>
          <p:cNvPicPr>
            <a:picLocks noChangeAspect="1"/>
          </p:cNvPicPr>
          <p:nvPr/>
        </p:nvPicPr>
        <p:blipFill>
          <a:blip r:embed="rId4"/>
          <a:stretch>
            <a:fillRect/>
          </a:stretch>
        </p:blipFill>
        <p:spPr>
          <a:xfrm>
            <a:off x="830043" y="4306505"/>
            <a:ext cx="2753109" cy="1247949"/>
          </a:xfrm>
          <a:prstGeom prst="rect">
            <a:avLst/>
          </a:prstGeom>
        </p:spPr>
      </p:pic>
      <p:pic>
        <p:nvPicPr>
          <p:cNvPr id="26" name="Picture 25">
            <a:extLst>
              <a:ext uri="{FF2B5EF4-FFF2-40B4-BE49-F238E27FC236}">
                <a16:creationId xmlns:a16="http://schemas.microsoft.com/office/drawing/2014/main" id="{18082275-99EC-C250-AFF9-A2B1AB95A199}"/>
              </a:ext>
            </a:extLst>
          </p:cNvPr>
          <p:cNvPicPr>
            <a:picLocks noChangeAspect="1"/>
          </p:cNvPicPr>
          <p:nvPr/>
        </p:nvPicPr>
        <p:blipFill>
          <a:blip r:embed="rId5"/>
          <a:stretch>
            <a:fillRect/>
          </a:stretch>
        </p:blipFill>
        <p:spPr>
          <a:xfrm>
            <a:off x="9843016" y="4212970"/>
            <a:ext cx="3400900" cy="1535899"/>
          </a:xfrm>
          <a:prstGeom prst="rect">
            <a:avLst/>
          </a:prstGeom>
        </p:spPr>
      </p:pic>
      <p:sp>
        <p:nvSpPr>
          <p:cNvPr id="31" name="TextBox 30">
            <a:extLst>
              <a:ext uri="{FF2B5EF4-FFF2-40B4-BE49-F238E27FC236}">
                <a16:creationId xmlns:a16="http://schemas.microsoft.com/office/drawing/2014/main" id="{505395BF-CF13-A2A6-B228-47D0C99B26E3}"/>
              </a:ext>
            </a:extLst>
          </p:cNvPr>
          <p:cNvSpPr txBox="1"/>
          <p:nvPr/>
        </p:nvSpPr>
        <p:spPr>
          <a:xfrm>
            <a:off x="626031" y="6166624"/>
            <a:ext cx="12617885" cy="175432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Our target variable</a:t>
            </a:r>
            <a:r>
              <a:rPr kumimoji="0" lang="en-US" altLang="en-US" sz="900" b="0" i="0" u="none" strike="noStrike" cap="none" normalizeH="0" baseline="0" dirty="0">
                <a:ln>
                  <a:noFill/>
                </a:ln>
                <a:solidFill>
                  <a:schemeClr val="bg1"/>
                </a:solidFill>
                <a:effectLst/>
              </a:rPr>
              <a:t>  </a:t>
            </a:r>
            <a:r>
              <a:rPr kumimoji="0" lang="en-US" altLang="en-US" sz="1800" b="1" i="0" u="none" strike="noStrike" cap="none" normalizeH="0" baseline="0" dirty="0">
                <a:ln>
                  <a:noFill/>
                </a:ln>
                <a:solidFill>
                  <a:schemeClr val="bg1"/>
                </a:solidFill>
                <a:effectLst/>
                <a:latin typeface="Arial" panose="020B0604020202020204" pitchFamily="34" charset="0"/>
              </a:rPr>
              <a:t>heavily imbalanced</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Around </a:t>
            </a:r>
            <a:r>
              <a:rPr kumimoji="0" lang="en-US" altLang="en-US" sz="1800" b="1" i="0" u="none" strike="noStrike" cap="none" normalizeH="0" baseline="0" dirty="0">
                <a:ln>
                  <a:noFill/>
                </a:ln>
                <a:solidFill>
                  <a:schemeClr val="bg1"/>
                </a:solidFill>
                <a:effectLst/>
                <a:latin typeface="Arial" panose="020B0604020202020204" pitchFamily="34" charset="0"/>
              </a:rPr>
              <a:t>88.7%</a:t>
            </a:r>
            <a:r>
              <a:rPr kumimoji="0" lang="en-US" altLang="en-US" sz="1800" b="0" i="0" u="none" strike="noStrike" cap="none" normalizeH="0" baseline="0" dirty="0">
                <a:ln>
                  <a:noFill/>
                </a:ln>
                <a:solidFill>
                  <a:schemeClr val="bg1"/>
                </a:solidFill>
                <a:effectLst/>
                <a:latin typeface="Arial" panose="020B0604020202020204" pitchFamily="34" charset="0"/>
              </a:rPr>
              <a:t> of clients did </a:t>
            </a:r>
            <a:r>
              <a:rPr kumimoji="0" lang="en-US" altLang="en-US" sz="1800" b="1" i="0" u="none" strike="noStrike" cap="none" normalizeH="0" baseline="0" dirty="0">
                <a:ln>
                  <a:noFill/>
                </a:ln>
                <a:solidFill>
                  <a:schemeClr val="bg1"/>
                </a:solidFill>
                <a:effectLst/>
                <a:latin typeface="Arial" panose="020B0604020202020204" pitchFamily="34" charset="0"/>
              </a:rPr>
              <a:t>not subscribe</a:t>
            </a:r>
            <a:r>
              <a:rPr kumimoji="0" lang="en-US" altLang="en-US" sz="1800" b="0" i="0" u="none" strike="noStrike" cap="none" normalizeH="0" baseline="0" dirty="0">
                <a:ln>
                  <a:noFill/>
                </a:ln>
                <a:solidFill>
                  <a:schemeClr val="bg1"/>
                </a:solidFill>
                <a:effectLst/>
                <a:latin typeface="Arial" panose="020B0604020202020204" pitchFamily="34" charset="0"/>
              </a:rPr>
              <a:t> to a term deposit, while only </a:t>
            </a:r>
            <a:r>
              <a:rPr kumimoji="0" lang="en-US" altLang="en-US" sz="1800" b="1" i="0" u="none" strike="noStrike" cap="none" normalizeH="0" baseline="0" dirty="0">
                <a:ln>
                  <a:noFill/>
                </a:ln>
                <a:solidFill>
                  <a:schemeClr val="bg1"/>
                </a:solidFill>
                <a:effectLst/>
                <a:latin typeface="Arial" panose="020B0604020202020204" pitchFamily="34" charset="0"/>
              </a:rPr>
              <a:t>11.3%</a:t>
            </a:r>
            <a:r>
              <a:rPr kumimoji="0" lang="en-US" altLang="en-US" sz="1800" b="0" i="0" u="none" strike="noStrike" cap="none" normalizeH="0" baseline="0" dirty="0">
                <a:ln>
                  <a:noFill/>
                </a:ln>
                <a:solidFill>
                  <a:schemeClr val="bg1"/>
                </a:solidFill>
                <a:effectLst/>
                <a:latin typeface="Arial" panose="020B0604020202020204" pitchFamily="34" charset="0"/>
              </a:rPr>
              <a:t> did.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This imbalance can cause models to </a:t>
            </a:r>
            <a:r>
              <a:rPr kumimoji="0" lang="en-US" altLang="en-US" sz="1800" b="1" i="0" u="none" strike="noStrike" cap="none" normalizeH="0" baseline="0" dirty="0">
                <a:ln>
                  <a:noFill/>
                </a:ln>
                <a:solidFill>
                  <a:schemeClr val="bg1"/>
                </a:solidFill>
                <a:effectLst/>
                <a:latin typeface="Arial" panose="020B0604020202020204" pitchFamily="34" charset="0"/>
              </a:rPr>
              <a:t>favor the majority class</a:t>
            </a:r>
            <a:r>
              <a:rPr kumimoji="0" lang="en-US" altLang="en-US" sz="1800" b="0" i="0" u="none" strike="noStrike" cap="none" normalizeH="0" baseline="0" dirty="0">
                <a:ln>
                  <a:noFill/>
                </a:ln>
                <a:solidFill>
                  <a:schemeClr val="bg1"/>
                </a:solidFill>
                <a:effectLst/>
                <a:latin typeface="Arial" panose="020B0604020202020204" pitchFamily="34" charset="0"/>
              </a:rPr>
              <a:t>, leading to misleading results</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7ED397-F213-BDD2-724C-E5B37D8C41B5}"/>
              </a:ext>
            </a:extLst>
          </p:cNvPr>
          <p:cNvPicPr>
            <a:picLocks noChangeAspect="1"/>
          </p:cNvPicPr>
          <p:nvPr/>
        </p:nvPicPr>
        <p:blipFill>
          <a:blip r:embed="rId2"/>
          <a:stretch>
            <a:fillRect/>
          </a:stretch>
        </p:blipFill>
        <p:spPr>
          <a:xfrm>
            <a:off x="738273" y="2309558"/>
            <a:ext cx="7783011" cy="4658375"/>
          </a:xfrm>
          <a:prstGeom prst="rect">
            <a:avLst/>
          </a:prstGeom>
        </p:spPr>
      </p:pic>
      <p:pic>
        <p:nvPicPr>
          <p:cNvPr id="3" name="Picture 2">
            <a:extLst>
              <a:ext uri="{FF2B5EF4-FFF2-40B4-BE49-F238E27FC236}">
                <a16:creationId xmlns:a16="http://schemas.microsoft.com/office/drawing/2014/main" id="{2372C119-4884-477F-21AD-FD0DB552BB58}"/>
              </a:ext>
            </a:extLst>
          </p:cNvPr>
          <p:cNvPicPr>
            <a:picLocks noChangeAspect="1"/>
          </p:cNvPicPr>
          <p:nvPr/>
        </p:nvPicPr>
        <p:blipFill>
          <a:blip r:embed="rId3"/>
          <a:stretch>
            <a:fillRect/>
          </a:stretch>
        </p:blipFill>
        <p:spPr>
          <a:xfrm>
            <a:off x="9664441" y="1261662"/>
            <a:ext cx="4382112" cy="5706271"/>
          </a:xfrm>
          <a:prstGeom prst="rect">
            <a:avLst/>
          </a:prstGeom>
        </p:spPr>
      </p:pic>
      <p:sp>
        <p:nvSpPr>
          <p:cNvPr id="4" name="Text 0">
            <a:extLst>
              <a:ext uri="{FF2B5EF4-FFF2-40B4-BE49-F238E27FC236}">
                <a16:creationId xmlns:a16="http://schemas.microsoft.com/office/drawing/2014/main" id="{FB898D5F-1503-70BA-101A-69ED313AFE81}"/>
              </a:ext>
            </a:extLst>
          </p:cNvPr>
          <p:cNvSpPr/>
          <p:nvPr/>
        </p:nvSpPr>
        <p:spPr>
          <a:xfrm>
            <a:off x="730958" y="544464"/>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Dataset Overview</a:t>
            </a:r>
            <a:endParaRPr lang="en-US" sz="3700" dirty="0"/>
          </a:p>
        </p:txBody>
      </p:sp>
      <p:pic>
        <p:nvPicPr>
          <p:cNvPr id="6" name="Picture 5">
            <a:extLst>
              <a:ext uri="{FF2B5EF4-FFF2-40B4-BE49-F238E27FC236}">
                <a16:creationId xmlns:a16="http://schemas.microsoft.com/office/drawing/2014/main" id="{3FBF5E11-8360-6366-D615-E750FEFB74C6}"/>
              </a:ext>
            </a:extLst>
          </p:cNvPr>
          <p:cNvPicPr>
            <a:picLocks noChangeAspect="1"/>
          </p:cNvPicPr>
          <p:nvPr/>
        </p:nvPicPr>
        <p:blipFill>
          <a:blip r:embed="rId4"/>
          <a:stretch>
            <a:fillRect/>
          </a:stretch>
        </p:blipFill>
        <p:spPr>
          <a:xfrm>
            <a:off x="738273" y="1480026"/>
            <a:ext cx="2715004" cy="571580"/>
          </a:xfrm>
          <a:prstGeom prst="rect">
            <a:avLst/>
          </a:prstGeom>
        </p:spPr>
      </p:pic>
    </p:spTree>
    <p:extLst>
      <p:ext uri="{BB962C8B-B14F-4D97-AF65-F5344CB8AC3E}">
        <p14:creationId xmlns:p14="http://schemas.microsoft.com/office/powerpoint/2010/main" val="2995709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72068" y="685800"/>
            <a:ext cx="5006221" cy="550426"/>
          </a:xfrm>
          <a:prstGeom prst="rect">
            <a:avLst/>
          </a:prstGeom>
          <a:noFill/>
          <a:ln/>
        </p:spPr>
        <p:txBody>
          <a:bodyPr wrap="none" lIns="0" tIns="0" rIns="0" bIns="0" rtlCol="0" anchor="t"/>
          <a:lstStyle/>
          <a:p>
            <a:pPr marL="0" indent="0" algn="l">
              <a:lnSpc>
                <a:spcPts val="4300"/>
              </a:lnSpc>
              <a:buNone/>
            </a:pPr>
            <a:r>
              <a:rPr lang="en-US" sz="3450" b="1" dirty="0">
                <a:solidFill>
                  <a:srgbClr val="9998FF"/>
                </a:solidFill>
                <a:latin typeface="Barlow Bold" pitchFamily="34" charset="0"/>
                <a:ea typeface="Barlow Bold" pitchFamily="34" charset="-122"/>
                <a:cs typeface="Barlow Bold" pitchFamily="34" charset="-120"/>
              </a:rPr>
              <a:t>STEP-2 Exploratory Data Analysis</a:t>
            </a:r>
            <a:endParaRPr lang="en-US" sz="3450" dirty="0"/>
          </a:p>
        </p:txBody>
      </p:sp>
      <p:sp>
        <p:nvSpPr>
          <p:cNvPr id="4" name="Shape 1"/>
          <p:cNvSpPr/>
          <p:nvPr/>
        </p:nvSpPr>
        <p:spPr>
          <a:xfrm>
            <a:off x="6260306" y="1487210"/>
            <a:ext cx="22860" cy="3806428"/>
          </a:xfrm>
          <a:prstGeom prst="roundRect">
            <a:avLst>
              <a:gd name="adj" fmla="val 658820"/>
            </a:avLst>
          </a:prstGeom>
          <a:solidFill>
            <a:srgbClr val="60646A"/>
          </a:solidFill>
          <a:ln/>
        </p:spPr>
        <p:txBody>
          <a:bodyPr/>
          <a:lstStyle/>
          <a:p>
            <a:endParaRPr lang="en-US"/>
          </a:p>
        </p:txBody>
      </p:sp>
      <p:sp>
        <p:nvSpPr>
          <p:cNvPr id="5" name="Shape 2"/>
          <p:cNvSpPr/>
          <p:nvPr/>
        </p:nvSpPr>
        <p:spPr>
          <a:xfrm>
            <a:off x="6425684" y="1664018"/>
            <a:ext cx="501968" cy="22860"/>
          </a:xfrm>
          <a:prstGeom prst="roundRect">
            <a:avLst>
              <a:gd name="adj" fmla="val 658820"/>
            </a:avLst>
          </a:prstGeom>
          <a:solidFill>
            <a:srgbClr val="60646A"/>
          </a:solidFill>
          <a:ln/>
        </p:spPr>
        <p:txBody>
          <a:bodyPr/>
          <a:lstStyle/>
          <a:p>
            <a:endParaRPr lang="en-US"/>
          </a:p>
        </p:txBody>
      </p:sp>
      <p:sp>
        <p:nvSpPr>
          <p:cNvPr id="6" name="Shape 3"/>
          <p:cNvSpPr/>
          <p:nvPr/>
        </p:nvSpPr>
        <p:spPr>
          <a:xfrm>
            <a:off x="6072068" y="1487210"/>
            <a:ext cx="376476" cy="376476"/>
          </a:xfrm>
          <a:prstGeom prst="roundRect">
            <a:avLst>
              <a:gd name="adj" fmla="val 40004"/>
            </a:avLst>
          </a:prstGeom>
          <a:solidFill>
            <a:srgbClr val="282C32"/>
          </a:solidFill>
          <a:ln/>
          <a:effectLst>
            <a:outerShdw blurRad="40640" dist="20320" dir="13500000" algn="bl" rotWithShape="0">
              <a:srgbClr val="FFFFFF">
                <a:alpha val="10000"/>
              </a:srgbClr>
            </a:outerShdw>
          </a:effectLst>
        </p:spPr>
        <p:txBody>
          <a:bodyPr/>
          <a:lstStyle/>
          <a:p>
            <a:endParaRPr lang="en-US"/>
          </a:p>
        </p:txBody>
      </p:sp>
      <p:pic>
        <p:nvPicPr>
          <p:cNvPr id="7" name="Image 1" descr="preencoded.png"/>
          <p:cNvPicPr>
            <a:picLocks noChangeAspect="1"/>
          </p:cNvPicPr>
          <p:nvPr/>
        </p:nvPicPr>
        <p:blipFill>
          <a:blip r:embed="rId4"/>
          <a:stretch>
            <a:fillRect/>
          </a:stretch>
        </p:blipFill>
        <p:spPr>
          <a:xfrm>
            <a:off x="6128206" y="1510367"/>
            <a:ext cx="264200" cy="330160"/>
          </a:xfrm>
          <a:prstGeom prst="rect">
            <a:avLst/>
          </a:prstGeom>
        </p:spPr>
      </p:pic>
      <p:sp>
        <p:nvSpPr>
          <p:cNvPr id="8" name="Text 4"/>
          <p:cNvSpPr/>
          <p:nvPr/>
        </p:nvSpPr>
        <p:spPr>
          <a:xfrm>
            <a:off x="7096958" y="1544717"/>
            <a:ext cx="2201823" cy="275153"/>
          </a:xfrm>
          <a:prstGeom prst="rect">
            <a:avLst/>
          </a:prstGeom>
          <a:noFill/>
          <a:ln/>
        </p:spPr>
        <p:txBody>
          <a:bodyPr wrap="none" lIns="0" tIns="0" rIns="0" bIns="0" rtlCol="0" anchor="t"/>
          <a:lstStyle/>
          <a:p>
            <a:pPr marL="0" indent="0" algn="l">
              <a:lnSpc>
                <a:spcPts val="2150"/>
              </a:lnSpc>
              <a:buNone/>
            </a:pPr>
            <a:r>
              <a:rPr lang="en-US" sz="1700" b="1" dirty="0">
                <a:solidFill>
                  <a:srgbClr val="EEEFF5"/>
                </a:solidFill>
                <a:latin typeface="Barlow Bold" pitchFamily="34" charset="0"/>
                <a:ea typeface="Barlow Bold" pitchFamily="34" charset="-122"/>
                <a:cs typeface="Barlow Bold" pitchFamily="34" charset="-120"/>
              </a:rPr>
              <a:t>Missing Values Detection</a:t>
            </a:r>
            <a:endParaRPr lang="en-US" sz="1700" dirty="0"/>
          </a:p>
        </p:txBody>
      </p:sp>
      <p:sp>
        <p:nvSpPr>
          <p:cNvPr id="9" name="Text 5"/>
          <p:cNvSpPr/>
          <p:nvPr/>
        </p:nvSpPr>
        <p:spPr>
          <a:xfrm>
            <a:off x="7096958" y="1920240"/>
            <a:ext cx="6947773" cy="267653"/>
          </a:xfrm>
          <a:prstGeom prst="rect">
            <a:avLst/>
          </a:prstGeom>
          <a:noFill/>
          <a:ln/>
        </p:spPr>
        <p:txBody>
          <a:bodyPr wrap="non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Identified missing values and handling them</a:t>
            </a:r>
            <a:endParaRPr lang="en-US" sz="1300" dirty="0"/>
          </a:p>
        </p:txBody>
      </p:sp>
      <p:sp>
        <p:nvSpPr>
          <p:cNvPr id="10" name="Shape 6"/>
          <p:cNvSpPr/>
          <p:nvPr/>
        </p:nvSpPr>
        <p:spPr>
          <a:xfrm>
            <a:off x="6425684" y="2699266"/>
            <a:ext cx="501968" cy="22860"/>
          </a:xfrm>
          <a:prstGeom prst="roundRect">
            <a:avLst>
              <a:gd name="adj" fmla="val 658820"/>
            </a:avLst>
          </a:prstGeom>
          <a:solidFill>
            <a:srgbClr val="60646A"/>
          </a:solidFill>
          <a:ln/>
        </p:spPr>
        <p:txBody>
          <a:bodyPr/>
          <a:lstStyle/>
          <a:p>
            <a:endParaRPr lang="en-US"/>
          </a:p>
        </p:txBody>
      </p:sp>
      <p:sp>
        <p:nvSpPr>
          <p:cNvPr id="11" name="Shape 7"/>
          <p:cNvSpPr/>
          <p:nvPr/>
        </p:nvSpPr>
        <p:spPr>
          <a:xfrm>
            <a:off x="6072068" y="2522458"/>
            <a:ext cx="376476" cy="376476"/>
          </a:xfrm>
          <a:prstGeom prst="roundRect">
            <a:avLst>
              <a:gd name="adj" fmla="val 40004"/>
            </a:avLst>
          </a:prstGeom>
          <a:solidFill>
            <a:srgbClr val="282C32"/>
          </a:solidFill>
          <a:ln/>
          <a:effectLst>
            <a:outerShdw blurRad="40640" dist="20320" dir="13500000" algn="bl" rotWithShape="0">
              <a:srgbClr val="FFFFFF">
                <a:alpha val="10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6128206" y="2545616"/>
            <a:ext cx="264200" cy="330160"/>
          </a:xfrm>
          <a:prstGeom prst="rect">
            <a:avLst/>
          </a:prstGeom>
        </p:spPr>
      </p:pic>
      <p:sp>
        <p:nvSpPr>
          <p:cNvPr id="13" name="Text 8"/>
          <p:cNvSpPr/>
          <p:nvPr/>
        </p:nvSpPr>
        <p:spPr>
          <a:xfrm>
            <a:off x="7096958" y="2579965"/>
            <a:ext cx="2201823" cy="275153"/>
          </a:xfrm>
          <a:prstGeom prst="rect">
            <a:avLst/>
          </a:prstGeom>
          <a:noFill/>
          <a:ln/>
        </p:spPr>
        <p:txBody>
          <a:bodyPr wrap="none" lIns="0" tIns="0" rIns="0" bIns="0" rtlCol="0" anchor="t"/>
          <a:lstStyle/>
          <a:p>
            <a:pPr marL="0" indent="0" algn="l">
              <a:lnSpc>
                <a:spcPts val="2150"/>
              </a:lnSpc>
              <a:buNone/>
            </a:pPr>
            <a:r>
              <a:rPr lang="en-US" sz="1700" b="1" dirty="0">
                <a:solidFill>
                  <a:srgbClr val="EEEFF5"/>
                </a:solidFill>
                <a:latin typeface="Barlow Bold" pitchFamily="34" charset="0"/>
                <a:ea typeface="Barlow Bold" pitchFamily="34" charset="-122"/>
                <a:cs typeface="Barlow Bold" pitchFamily="34" charset="-120"/>
              </a:rPr>
              <a:t>Distribution Analysis</a:t>
            </a:r>
            <a:endParaRPr lang="en-US" sz="1700" dirty="0"/>
          </a:p>
        </p:txBody>
      </p:sp>
      <p:sp>
        <p:nvSpPr>
          <p:cNvPr id="14" name="Text 9"/>
          <p:cNvSpPr/>
          <p:nvPr/>
        </p:nvSpPr>
        <p:spPr>
          <a:xfrm>
            <a:off x="7096958" y="2955488"/>
            <a:ext cx="6947773" cy="267653"/>
          </a:xfrm>
          <a:prstGeom prst="rect">
            <a:avLst/>
          </a:prstGeom>
          <a:noFill/>
          <a:ln/>
        </p:spPr>
        <p:txBody>
          <a:bodyPr wrap="non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Generated heatmaps to identify relationships between features</a:t>
            </a:r>
            <a:endParaRPr lang="en-US" sz="1300" dirty="0"/>
          </a:p>
        </p:txBody>
      </p:sp>
      <p:sp>
        <p:nvSpPr>
          <p:cNvPr id="15" name="Shape 10"/>
          <p:cNvSpPr/>
          <p:nvPr/>
        </p:nvSpPr>
        <p:spPr>
          <a:xfrm>
            <a:off x="6425684" y="3734514"/>
            <a:ext cx="501968" cy="22860"/>
          </a:xfrm>
          <a:prstGeom prst="roundRect">
            <a:avLst>
              <a:gd name="adj" fmla="val 658820"/>
            </a:avLst>
          </a:prstGeom>
          <a:solidFill>
            <a:srgbClr val="60646A"/>
          </a:solidFill>
          <a:ln/>
        </p:spPr>
        <p:txBody>
          <a:bodyPr/>
          <a:lstStyle/>
          <a:p>
            <a:endParaRPr lang="en-US"/>
          </a:p>
        </p:txBody>
      </p:sp>
      <p:sp>
        <p:nvSpPr>
          <p:cNvPr id="16" name="Shape 11"/>
          <p:cNvSpPr/>
          <p:nvPr/>
        </p:nvSpPr>
        <p:spPr>
          <a:xfrm>
            <a:off x="6072068" y="3557707"/>
            <a:ext cx="376476" cy="376476"/>
          </a:xfrm>
          <a:prstGeom prst="roundRect">
            <a:avLst>
              <a:gd name="adj" fmla="val 40004"/>
            </a:avLst>
          </a:prstGeom>
          <a:solidFill>
            <a:srgbClr val="282C32"/>
          </a:solidFill>
          <a:ln/>
          <a:effectLst>
            <a:outerShdw blurRad="40640" dist="20320" dir="13500000" algn="bl" rotWithShape="0">
              <a:srgbClr val="FFFFFF">
                <a:alpha val="10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6128206" y="3580864"/>
            <a:ext cx="264200" cy="330160"/>
          </a:xfrm>
          <a:prstGeom prst="rect">
            <a:avLst/>
          </a:prstGeom>
        </p:spPr>
      </p:pic>
      <p:sp>
        <p:nvSpPr>
          <p:cNvPr id="18" name="Text 12"/>
          <p:cNvSpPr/>
          <p:nvPr/>
        </p:nvSpPr>
        <p:spPr>
          <a:xfrm>
            <a:off x="7096958" y="3615214"/>
            <a:ext cx="2201823" cy="275153"/>
          </a:xfrm>
          <a:prstGeom prst="rect">
            <a:avLst/>
          </a:prstGeom>
          <a:noFill/>
          <a:ln/>
        </p:spPr>
        <p:txBody>
          <a:bodyPr wrap="none" lIns="0" tIns="0" rIns="0" bIns="0" rtlCol="0" anchor="t"/>
          <a:lstStyle/>
          <a:p>
            <a:pPr marL="0" indent="0" algn="l">
              <a:lnSpc>
                <a:spcPts val="2150"/>
              </a:lnSpc>
              <a:buNone/>
            </a:pPr>
            <a:r>
              <a:rPr lang="en-US" sz="1700" b="1" dirty="0">
                <a:solidFill>
                  <a:srgbClr val="EEEFF5"/>
                </a:solidFill>
                <a:latin typeface="Barlow Bold" pitchFamily="34" charset="0"/>
                <a:ea typeface="Barlow Bold" pitchFamily="34" charset="-122"/>
                <a:cs typeface="Barlow Bold" pitchFamily="34" charset="-120"/>
              </a:rPr>
              <a:t>Pattern Identification</a:t>
            </a:r>
            <a:endParaRPr lang="en-US" sz="1700" dirty="0"/>
          </a:p>
        </p:txBody>
      </p:sp>
      <p:sp>
        <p:nvSpPr>
          <p:cNvPr id="19" name="Text 13"/>
          <p:cNvSpPr/>
          <p:nvPr/>
        </p:nvSpPr>
        <p:spPr>
          <a:xfrm>
            <a:off x="7096958" y="3990737"/>
            <a:ext cx="6947773" cy="267653"/>
          </a:xfrm>
          <a:prstGeom prst="rect">
            <a:avLst/>
          </a:prstGeom>
          <a:noFill/>
          <a:ln/>
        </p:spPr>
        <p:txBody>
          <a:bodyPr wrap="non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Discovered key trends in customer behavior across segments</a:t>
            </a:r>
            <a:endParaRPr lang="en-US" sz="1300" dirty="0"/>
          </a:p>
        </p:txBody>
      </p:sp>
      <p:sp>
        <p:nvSpPr>
          <p:cNvPr id="20" name="Shape 14"/>
          <p:cNvSpPr/>
          <p:nvPr/>
        </p:nvSpPr>
        <p:spPr>
          <a:xfrm>
            <a:off x="6425684" y="4769763"/>
            <a:ext cx="501968" cy="22860"/>
          </a:xfrm>
          <a:prstGeom prst="roundRect">
            <a:avLst>
              <a:gd name="adj" fmla="val 658820"/>
            </a:avLst>
          </a:prstGeom>
          <a:solidFill>
            <a:srgbClr val="60646A"/>
          </a:solidFill>
          <a:ln/>
        </p:spPr>
        <p:txBody>
          <a:bodyPr/>
          <a:lstStyle/>
          <a:p>
            <a:endParaRPr lang="en-US"/>
          </a:p>
        </p:txBody>
      </p:sp>
      <p:sp>
        <p:nvSpPr>
          <p:cNvPr id="21" name="Shape 15"/>
          <p:cNvSpPr/>
          <p:nvPr/>
        </p:nvSpPr>
        <p:spPr>
          <a:xfrm>
            <a:off x="6072068" y="4592955"/>
            <a:ext cx="376476" cy="376476"/>
          </a:xfrm>
          <a:prstGeom prst="roundRect">
            <a:avLst>
              <a:gd name="adj" fmla="val 40004"/>
            </a:avLst>
          </a:prstGeom>
          <a:solidFill>
            <a:srgbClr val="282C32"/>
          </a:solidFill>
          <a:ln/>
          <a:effectLst>
            <a:outerShdw blurRad="40640" dist="20320" dir="13500000" algn="bl" rotWithShape="0">
              <a:srgbClr val="FFFFFF">
                <a:alpha val="10000"/>
              </a:srgbClr>
            </a:outerShdw>
          </a:effectLst>
        </p:spPr>
        <p:txBody>
          <a:bodyPr/>
          <a:lstStyle/>
          <a:p>
            <a:endParaRPr lang="en-US"/>
          </a:p>
        </p:txBody>
      </p:sp>
      <p:pic>
        <p:nvPicPr>
          <p:cNvPr id="22" name="Image 4" descr="preencoded.png"/>
          <p:cNvPicPr>
            <a:picLocks noChangeAspect="1"/>
          </p:cNvPicPr>
          <p:nvPr/>
        </p:nvPicPr>
        <p:blipFill>
          <a:blip r:embed="rId7"/>
          <a:stretch>
            <a:fillRect/>
          </a:stretch>
        </p:blipFill>
        <p:spPr>
          <a:xfrm>
            <a:off x="6128206" y="4616113"/>
            <a:ext cx="264200" cy="330160"/>
          </a:xfrm>
          <a:prstGeom prst="rect">
            <a:avLst/>
          </a:prstGeom>
        </p:spPr>
      </p:pic>
      <p:sp>
        <p:nvSpPr>
          <p:cNvPr id="23" name="Text 16"/>
          <p:cNvSpPr/>
          <p:nvPr/>
        </p:nvSpPr>
        <p:spPr>
          <a:xfrm>
            <a:off x="7096958" y="4650462"/>
            <a:ext cx="2201823" cy="275153"/>
          </a:xfrm>
          <a:prstGeom prst="rect">
            <a:avLst/>
          </a:prstGeom>
          <a:noFill/>
          <a:ln/>
        </p:spPr>
        <p:txBody>
          <a:bodyPr wrap="none" lIns="0" tIns="0" rIns="0" bIns="0" rtlCol="0" anchor="t"/>
          <a:lstStyle/>
          <a:p>
            <a:pPr marL="0" indent="0" algn="l">
              <a:lnSpc>
                <a:spcPts val="2150"/>
              </a:lnSpc>
              <a:buNone/>
            </a:pPr>
            <a:r>
              <a:rPr lang="en-US" sz="1700" b="1" dirty="0">
                <a:solidFill>
                  <a:srgbClr val="EEEFF5"/>
                </a:solidFill>
                <a:latin typeface="Barlow Bold" pitchFamily="34" charset="0"/>
                <a:ea typeface="Barlow Bold" pitchFamily="34" charset="-122"/>
                <a:cs typeface="Barlow Bold" pitchFamily="34" charset="-120"/>
              </a:rPr>
              <a:t>Anomaly Detection</a:t>
            </a:r>
            <a:endParaRPr lang="en-US" sz="1700" dirty="0"/>
          </a:p>
        </p:txBody>
      </p:sp>
      <p:sp>
        <p:nvSpPr>
          <p:cNvPr id="24" name="Text 17"/>
          <p:cNvSpPr/>
          <p:nvPr/>
        </p:nvSpPr>
        <p:spPr>
          <a:xfrm>
            <a:off x="7096958" y="5025985"/>
            <a:ext cx="6947773" cy="267653"/>
          </a:xfrm>
          <a:prstGeom prst="rect">
            <a:avLst/>
          </a:prstGeom>
          <a:noFill/>
          <a:ln/>
        </p:spPr>
        <p:txBody>
          <a:bodyPr wrap="non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Identified outliers and data quality issues requiring preprocessing</a:t>
            </a:r>
            <a:endParaRPr lang="en-US" sz="1300" dirty="0"/>
          </a:p>
        </p:txBody>
      </p:sp>
      <p:sp>
        <p:nvSpPr>
          <p:cNvPr id="25" name="Text 18"/>
          <p:cNvSpPr/>
          <p:nvPr/>
        </p:nvSpPr>
        <p:spPr>
          <a:xfrm>
            <a:off x="6072068" y="5481876"/>
            <a:ext cx="7972663" cy="1070610"/>
          </a:xfrm>
          <a:prstGeom prst="rect">
            <a:avLst/>
          </a:prstGeom>
          <a:noFill/>
          <a:ln/>
        </p:spPr>
        <p:txBody>
          <a:bodyPr wrap="squar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Our exploratory analysis revealed several critical insights. Age distribution showed distinct response patterns across different life stages. Professional categories demonstrated varying subscription propensities, with certain occupations showing significantly higher conversion rates. Previous campaign outcomes strongly correlated with future subscription behavior.</a:t>
            </a:r>
            <a:endParaRPr lang="en-US" sz="1300" dirty="0"/>
          </a:p>
        </p:txBody>
      </p:sp>
      <p:sp>
        <p:nvSpPr>
          <p:cNvPr id="26" name="Text 19"/>
          <p:cNvSpPr/>
          <p:nvPr/>
        </p:nvSpPr>
        <p:spPr>
          <a:xfrm>
            <a:off x="6072068" y="6740723"/>
            <a:ext cx="7972663" cy="802958"/>
          </a:xfrm>
          <a:prstGeom prst="rect">
            <a:avLst/>
          </a:prstGeom>
          <a:noFill/>
          <a:ln/>
        </p:spPr>
        <p:txBody>
          <a:bodyPr wrap="square" lIns="0" tIns="0" rIns="0" bIns="0" rtlCol="0" anchor="t"/>
          <a:lstStyle/>
          <a:p>
            <a:pPr marL="0" indent="0" algn="l">
              <a:lnSpc>
                <a:spcPts val="2100"/>
              </a:lnSpc>
              <a:buNone/>
            </a:pPr>
            <a:r>
              <a:rPr lang="en-US" sz="1300" dirty="0">
                <a:solidFill>
                  <a:srgbClr val="EEEFF5"/>
                </a:solidFill>
                <a:latin typeface="Montserrat" pitchFamily="34" charset="0"/>
                <a:ea typeface="Montserrat" pitchFamily="34" charset="-122"/>
                <a:cs typeface="Montserrat" pitchFamily="34" charset="-120"/>
              </a:rPr>
              <a:t>The correlation analysis highlighted multicollinearity between certain economic indicators, suggesting feature selection opportunities. Additionally, we observed a notable class imbalance in the target variable, with only about 11% positive subscription outcomes.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7A91399-DA46-6CD7-3FB0-D8EEC96CC240}"/>
              </a:ext>
            </a:extLst>
          </p:cNvPr>
          <p:cNvSpPr/>
          <p:nvPr/>
        </p:nvSpPr>
        <p:spPr>
          <a:xfrm>
            <a:off x="5609064" y="890433"/>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rPr>
              <a:t>Finding Missing Values</a:t>
            </a:r>
            <a:endParaRPr lang="en-US" sz="3700" dirty="0"/>
          </a:p>
        </p:txBody>
      </p:sp>
      <p:sp>
        <p:nvSpPr>
          <p:cNvPr id="9" name="TextBox 8">
            <a:extLst>
              <a:ext uri="{FF2B5EF4-FFF2-40B4-BE49-F238E27FC236}">
                <a16:creationId xmlns:a16="http://schemas.microsoft.com/office/drawing/2014/main" id="{22BA2656-71FF-7CC7-6A4D-BDD78F885B90}"/>
              </a:ext>
            </a:extLst>
          </p:cNvPr>
          <p:cNvSpPr txBox="1"/>
          <p:nvPr/>
        </p:nvSpPr>
        <p:spPr>
          <a:xfrm>
            <a:off x="9367024" y="3021982"/>
            <a:ext cx="5363736" cy="369331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We checked for missing values in all columns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No missing values</a:t>
            </a:r>
            <a:r>
              <a:rPr kumimoji="0" lang="en-US" altLang="en-US" sz="1800" b="0" i="0" u="none" strike="noStrike" cap="none" normalizeH="0" baseline="0" dirty="0">
                <a:ln>
                  <a:noFill/>
                </a:ln>
                <a:solidFill>
                  <a:schemeClr val="bg1"/>
                </a:solidFill>
                <a:effectLst/>
                <a:latin typeface="Arial" panose="020B0604020202020204" pitchFamily="34" charset="0"/>
              </a:rPr>
              <a:t> were found in any of the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This means we </a:t>
            </a:r>
            <a:r>
              <a:rPr kumimoji="0" lang="en-US" altLang="en-US" sz="1800" b="1" i="0" u="none" strike="noStrike" cap="none" normalizeH="0" baseline="0" dirty="0">
                <a:ln>
                  <a:noFill/>
                </a:ln>
                <a:solidFill>
                  <a:schemeClr val="bg1"/>
                </a:solidFill>
                <a:effectLst/>
                <a:latin typeface="Arial" panose="020B0604020202020204" pitchFamily="34" charset="0"/>
              </a:rPr>
              <a:t>did not need any imputation</a:t>
            </a:r>
            <a:r>
              <a:rPr kumimoji="0" lang="en-US" altLang="en-US" sz="1800" b="0" i="0" u="none" strike="noStrike" cap="none" normalizeH="0" baseline="0" dirty="0">
                <a:ln>
                  <a:noFill/>
                </a:ln>
                <a:solidFill>
                  <a:schemeClr val="bg1"/>
                </a:solidFill>
                <a:effectLst/>
                <a:latin typeface="Arial" panose="020B0604020202020204" pitchFamily="34" charset="0"/>
              </a:rPr>
              <a:t> or data cleaning for null entries.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dataset is complete and ready for preprocessing and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endParaRPr lang="en-IN" dirty="0"/>
          </a:p>
        </p:txBody>
      </p:sp>
      <p:pic>
        <p:nvPicPr>
          <p:cNvPr id="11" name="Picture 10">
            <a:extLst>
              <a:ext uri="{FF2B5EF4-FFF2-40B4-BE49-F238E27FC236}">
                <a16:creationId xmlns:a16="http://schemas.microsoft.com/office/drawing/2014/main" id="{147C0088-4AF2-5C30-5EFB-DFCE6622D653}"/>
              </a:ext>
            </a:extLst>
          </p:cNvPr>
          <p:cNvPicPr>
            <a:picLocks noChangeAspect="1"/>
          </p:cNvPicPr>
          <p:nvPr/>
        </p:nvPicPr>
        <p:blipFill>
          <a:blip r:embed="rId2"/>
          <a:stretch>
            <a:fillRect/>
          </a:stretch>
        </p:blipFill>
        <p:spPr>
          <a:xfrm>
            <a:off x="5609064" y="2101702"/>
            <a:ext cx="3468029" cy="5210902"/>
          </a:xfrm>
          <a:prstGeom prst="rect">
            <a:avLst/>
          </a:prstGeom>
        </p:spPr>
      </p:pic>
      <p:pic>
        <p:nvPicPr>
          <p:cNvPr id="13" name="Picture 12">
            <a:extLst>
              <a:ext uri="{FF2B5EF4-FFF2-40B4-BE49-F238E27FC236}">
                <a16:creationId xmlns:a16="http://schemas.microsoft.com/office/drawing/2014/main" id="{B21A8689-8CA9-4815-BC37-D08E8774A14E}"/>
              </a:ext>
            </a:extLst>
          </p:cNvPr>
          <p:cNvPicPr>
            <a:picLocks noChangeAspect="1"/>
          </p:cNvPicPr>
          <p:nvPr/>
        </p:nvPicPr>
        <p:blipFill>
          <a:blip r:embed="rId3"/>
          <a:stretch>
            <a:fillRect/>
          </a:stretch>
        </p:blipFill>
        <p:spPr>
          <a:xfrm>
            <a:off x="9701563" y="2101702"/>
            <a:ext cx="3353268" cy="657317"/>
          </a:xfrm>
          <a:prstGeom prst="rect">
            <a:avLst/>
          </a:prstGeom>
        </p:spPr>
      </p:pic>
      <p:pic>
        <p:nvPicPr>
          <p:cNvPr id="14" name="Image 0" descr="preencoded.png">
            <a:extLst>
              <a:ext uri="{FF2B5EF4-FFF2-40B4-BE49-F238E27FC236}">
                <a16:creationId xmlns:a16="http://schemas.microsoft.com/office/drawing/2014/main" id="{9D2BB0D0-8D81-6994-72A3-B24B35480061}"/>
              </a:ext>
            </a:extLst>
          </p:cNvPr>
          <p:cNvPicPr>
            <a:picLocks noChangeAspect="1"/>
          </p:cNvPicPr>
          <p:nvPr/>
        </p:nvPicPr>
        <p:blipFill>
          <a:blip r:embed="rId4"/>
          <a:stretch>
            <a:fillRect/>
          </a:stretch>
        </p:blipFill>
        <p:spPr>
          <a:xfrm>
            <a:off x="0" y="0"/>
            <a:ext cx="5486400" cy="8229600"/>
          </a:xfrm>
          <a:prstGeom prst="rect">
            <a:avLst/>
          </a:prstGeom>
        </p:spPr>
      </p:pic>
    </p:spTree>
    <p:extLst>
      <p:ext uri="{BB962C8B-B14F-4D97-AF65-F5344CB8AC3E}">
        <p14:creationId xmlns:p14="http://schemas.microsoft.com/office/powerpoint/2010/main" val="791738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037CC1A-5304-1B9D-FE42-937CA6AF0952}"/>
              </a:ext>
            </a:extLst>
          </p:cNvPr>
          <p:cNvSpPr/>
          <p:nvPr/>
        </p:nvSpPr>
        <p:spPr>
          <a:xfrm>
            <a:off x="684014"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Distribution Analysis</a:t>
            </a:r>
          </a:p>
        </p:txBody>
      </p:sp>
      <p:sp>
        <p:nvSpPr>
          <p:cNvPr id="5" name="TextBox 4">
            <a:extLst>
              <a:ext uri="{FF2B5EF4-FFF2-40B4-BE49-F238E27FC236}">
                <a16:creationId xmlns:a16="http://schemas.microsoft.com/office/drawing/2014/main" id="{4064B0B2-0FE3-6267-E7E3-C507E4092797}"/>
              </a:ext>
            </a:extLst>
          </p:cNvPr>
          <p:cNvSpPr txBox="1"/>
          <p:nvPr/>
        </p:nvSpPr>
        <p:spPr>
          <a:xfrm>
            <a:off x="8675649" y="2988527"/>
            <a:ext cx="5843239" cy="452431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The plot shows how age influences the likelihood of subscribing to a term deposit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Most clients are between 25 and 60 years old, with a peak around ages 30 to 35</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Subscriptions are more common among clients aged 30 to 50, especially in the 30 to 40 range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Fewer subscriptions are seen among younger clients under 25 and older clients above 60</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This suggests that middle-aged clients are more responsive to marketing campaigns compared to very young or older clients</a:t>
            </a:r>
          </a:p>
          <a:p>
            <a:endParaRPr lang="en-IN" dirty="0">
              <a:solidFill>
                <a:schemeClr val="bg1"/>
              </a:solidFill>
            </a:endParaRPr>
          </a:p>
        </p:txBody>
      </p:sp>
      <p:pic>
        <p:nvPicPr>
          <p:cNvPr id="7" name="Picture 6">
            <a:extLst>
              <a:ext uri="{FF2B5EF4-FFF2-40B4-BE49-F238E27FC236}">
                <a16:creationId xmlns:a16="http://schemas.microsoft.com/office/drawing/2014/main" id="{BAFF5745-3F05-E197-8443-4A15D00105EF}"/>
              </a:ext>
            </a:extLst>
          </p:cNvPr>
          <p:cNvPicPr>
            <a:picLocks noChangeAspect="1"/>
          </p:cNvPicPr>
          <p:nvPr/>
        </p:nvPicPr>
        <p:blipFill>
          <a:blip r:embed="rId2"/>
          <a:stretch>
            <a:fillRect/>
          </a:stretch>
        </p:blipFill>
        <p:spPr>
          <a:xfrm>
            <a:off x="429942" y="1415799"/>
            <a:ext cx="8056136" cy="6379860"/>
          </a:xfrm>
          <a:prstGeom prst="rect">
            <a:avLst/>
          </a:prstGeom>
        </p:spPr>
      </p:pic>
      <p:sp>
        <p:nvSpPr>
          <p:cNvPr id="9" name="TextBox 8">
            <a:extLst>
              <a:ext uri="{FF2B5EF4-FFF2-40B4-BE49-F238E27FC236}">
                <a16:creationId xmlns:a16="http://schemas.microsoft.com/office/drawing/2014/main" id="{EEE1CD73-4B63-E09D-CE05-4750CE4B0D71}"/>
              </a:ext>
            </a:extLst>
          </p:cNvPr>
          <p:cNvSpPr txBox="1"/>
          <p:nvPr/>
        </p:nvSpPr>
        <p:spPr>
          <a:xfrm>
            <a:off x="8675649" y="1873405"/>
            <a:ext cx="4917688" cy="584775"/>
          </a:xfrm>
          <a:prstGeom prst="rect">
            <a:avLst/>
          </a:prstGeom>
          <a:noFill/>
        </p:spPr>
        <p:txBody>
          <a:bodyPr wrap="square" rtlCol="0">
            <a:spAutoFit/>
          </a:bodyPr>
          <a:lstStyle/>
          <a:p>
            <a:r>
              <a:rPr lang="en-IN" sz="3200" u="sng" dirty="0">
                <a:solidFill>
                  <a:schemeClr val="bg1"/>
                </a:solidFill>
              </a:rPr>
              <a:t>Age vs Subscription Trend</a:t>
            </a:r>
          </a:p>
        </p:txBody>
      </p:sp>
      <p:pic>
        <p:nvPicPr>
          <p:cNvPr id="10" name="Image 0" descr="preencoded.png">
            <a:extLst>
              <a:ext uri="{FF2B5EF4-FFF2-40B4-BE49-F238E27FC236}">
                <a16:creationId xmlns:a16="http://schemas.microsoft.com/office/drawing/2014/main" id="{E2625CDA-EBAE-7A88-6864-CFD1C7055CED}"/>
              </a:ext>
            </a:extLst>
          </p:cNvPr>
          <p:cNvPicPr>
            <a:picLocks noChangeAspect="1"/>
          </p:cNvPicPr>
          <p:nvPr/>
        </p:nvPicPr>
        <p:blipFill>
          <a:blip r:embed="rId3"/>
          <a:stretch>
            <a:fillRect/>
          </a:stretch>
        </p:blipFill>
        <p:spPr>
          <a:xfrm>
            <a:off x="0" y="0"/>
            <a:ext cx="14630400" cy="460627"/>
          </a:xfrm>
          <a:prstGeom prst="rect">
            <a:avLst/>
          </a:prstGeom>
        </p:spPr>
      </p:pic>
    </p:spTree>
    <p:extLst>
      <p:ext uri="{BB962C8B-B14F-4D97-AF65-F5344CB8AC3E}">
        <p14:creationId xmlns:p14="http://schemas.microsoft.com/office/powerpoint/2010/main" val="856612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43BB75-9776-9A84-F137-3C8479682C73}"/>
              </a:ext>
            </a:extLst>
          </p:cNvPr>
          <p:cNvPicPr>
            <a:picLocks noChangeAspect="1"/>
          </p:cNvPicPr>
          <p:nvPr/>
        </p:nvPicPr>
        <p:blipFill>
          <a:blip r:embed="rId2"/>
          <a:stretch>
            <a:fillRect/>
          </a:stretch>
        </p:blipFill>
        <p:spPr>
          <a:xfrm>
            <a:off x="557560" y="1415799"/>
            <a:ext cx="7727795" cy="6379860"/>
          </a:xfrm>
          <a:prstGeom prst="rect">
            <a:avLst/>
          </a:prstGeom>
        </p:spPr>
      </p:pic>
      <p:sp>
        <p:nvSpPr>
          <p:cNvPr id="5" name="Text 0">
            <a:extLst>
              <a:ext uri="{FF2B5EF4-FFF2-40B4-BE49-F238E27FC236}">
                <a16:creationId xmlns:a16="http://schemas.microsoft.com/office/drawing/2014/main" id="{5678B31C-29B3-38E7-3976-3E695ED02D6F}"/>
              </a:ext>
            </a:extLst>
          </p:cNvPr>
          <p:cNvSpPr/>
          <p:nvPr/>
        </p:nvSpPr>
        <p:spPr>
          <a:xfrm>
            <a:off x="684014"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Distribution Analysis</a:t>
            </a:r>
          </a:p>
        </p:txBody>
      </p:sp>
      <p:sp>
        <p:nvSpPr>
          <p:cNvPr id="6" name="TextBox 5">
            <a:extLst>
              <a:ext uri="{FF2B5EF4-FFF2-40B4-BE49-F238E27FC236}">
                <a16:creationId xmlns:a16="http://schemas.microsoft.com/office/drawing/2014/main" id="{1B7ACCCD-3EA3-68F2-3BAE-F623905D2E2D}"/>
              </a:ext>
            </a:extLst>
          </p:cNvPr>
          <p:cNvSpPr txBox="1"/>
          <p:nvPr/>
        </p:nvSpPr>
        <p:spPr>
          <a:xfrm>
            <a:off x="8675649" y="2988527"/>
            <a:ext cx="5843239"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plot shows how the duration of the last call is related to client subscription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Most calls are short, with the majority lasting under 500 seconds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Clients who subscribed generally had longer call durations compared to those who did not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number of subscriptions increases with call duration up to a certain point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indicates that longer conversations tend to lead to higher chances of subscription</a:t>
            </a:r>
            <a:endParaRPr lang="en-IN" dirty="0">
              <a:solidFill>
                <a:schemeClr val="bg1"/>
              </a:solidFill>
            </a:endParaRPr>
          </a:p>
        </p:txBody>
      </p:sp>
      <p:sp>
        <p:nvSpPr>
          <p:cNvPr id="7" name="TextBox 6">
            <a:extLst>
              <a:ext uri="{FF2B5EF4-FFF2-40B4-BE49-F238E27FC236}">
                <a16:creationId xmlns:a16="http://schemas.microsoft.com/office/drawing/2014/main" id="{5A17476B-CACA-BE35-D819-07FBC7AF97A4}"/>
              </a:ext>
            </a:extLst>
          </p:cNvPr>
          <p:cNvSpPr txBox="1"/>
          <p:nvPr/>
        </p:nvSpPr>
        <p:spPr>
          <a:xfrm>
            <a:off x="8675648" y="1873405"/>
            <a:ext cx="5397191" cy="584775"/>
          </a:xfrm>
          <a:prstGeom prst="rect">
            <a:avLst/>
          </a:prstGeom>
          <a:noFill/>
        </p:spPr>
        <p:txBody>
          <a:bodyPr wrap="square" rtlCol="0">
            <a:spAutoFit/>
          </a:bodyPr>
          <a:lstStyle/>
          <a:p>
            <a:r>
              <a:rPr lang="en-IN" sz="3200" u="sng" dirty="0">
                <a:solidFill>
                  <a:schemeClr val="bg1"/>
                </a:solidFill>
              </a:rPr>
              <a:t>Duration vs Subscription Trend</a:t>
            </a:r>
          </a:p>
        </p:txBody>
      </p:sp>
      <p:pic>
        <p:nvPicPr>
          <p:cNvPr id="10" name="Image 0" descr="preencoded.png">
            <a:extLst>
              <a:ext uri="{FF2B5EF4-FFF2-40B4-BE49-F238E27FC236}">
                <a16:creationId xmlns:a16="http://schemas.microsoft.com/office/drawing/2014/main" id="{7EEB79DC-81A5-6473-AD9E-5C0DCC43E913}"/>
              </a:ext>
            </a:extLst>
          </p:cNvPr>
          <p:cNvPicPr>
            <a:picLocks noChangeAspect="1"/>
          </p:cNvPicPr>
          <p:nvPr/>
        </p:nvPicPr>
        <p:blipFill>
          <a:blip r:embed="rId3"/>
          <a:stretch>
            <a:fillRect/>
          </a:stretch>
        </p:blipFill>
        <p:spPr>
          <a:xfrm>
            <a:off x="0" y="0"/>
            <a:ext cx="14630400" cy="460627"/>
          </a:xfrm>
          <a:prstGeom prst="rect">
            <a:avLst/>
          </a:prstGeom>
        </p:spPr>
      </p:pic>
    </p:spTree>
    <p:extLst>
      <p:ext uri="{BB962C8B-B14F-4D97-AF65-F5344CB8AC3E}">
        <p14:creationId xmlns:p14="http://schemas.microsoft.com/office/powerpoint/2010/main" val="146486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6E6B-CD28-CCC7-E80B-B27F5C045B9E}"/>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E59C62B3-7540-F1E4-F86C-E23227080A98}"/>
              </a:ext>
            </a:extLst>
          </p:cNvPr>
          <p:cNvSpPr/>
          <p:nvPr/>
        </p:nvSpPr>
        <p:spPr>
          <a:xfrm>
            <a:off x="684014"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Distribution Analysis</a:t>
            </a:r>
          </a:p>
        </p:txBody>
      </p:sp>
      <p:sp>
        <p:nvSpPr>
          <p:cNvPr id="6" name="TextBox 5">
            <a:extLst>
              <a:ext uri="{FF2B5EF4-FFF2-40B4-BE49-F238E27FC236}">
                <a16:creationId xmlns:a16="http://schemas.microsoft.com/office/drawing/2014/main" id="{771CE1B6-F8BF-EFC5-2BC2-27B8D4AC46E4}"/>
              </a:ext>
            </a:extLst>
          </p:cNvPr>
          <p:cNvSpPr txBox="1"/>
          <p:nvPr/>
        </p:nvSpPr>
        <p:spPr>
          <a:xfrm>
            <a:off x="8675649" y="2988527"/>
            <a:ext cx="5843239" cy="397031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plot shows how many times a client was contacted during the campaign period</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Most clients were contacted fewer than 5 times, with a sharp drop after that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 high number of contacts does not significantly increase the chance of subscription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In fact, subscription rates seem to be higher when the number of contacts is low</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suggests that repeated calls may reduce interest or lead to customer fatigue</a:t>
            </a:r>
            <a:endParaRPr lang="en-IN" dirty="0">
              <a:solidFill>
                <a:schemeClr val="bg1"/>
              </a:solidFill>
            </a:endParaRPr>
          </a:p>
        </p:txBody>
      </p:sp>
      <p:sp>
        <p:nvSpPr>
          <p:cNvPr id="7" name="TextBox 6">
            <a:extLst>
              <a:ext uri="{FF2B5EF4-FFF2-40B4-BE49-F238E27FC236}">
                <a16:creationId xmlns:a16="http://schemas.microsoft.com/office/drawing/2014/main" id="{CCBF7CC4-0736-CC25-11A3-17F404D7EC22}"/>
              </a:ext>
            </a:extLst>
          </p:cNvPr>
          <p:cNvSpPr txBox="1"/>
          <p:nvPr/>
        </p:nvSpPr>
        <p:spPr>
          <a:xfrm>
            <a:off x="8653346" y="1505415"/>
            <a:ext cx="5397191" cy="1077218"/>
          </a:xfrm>
          <a:prstGeom prst="rect">
            <a:avLst/>
          </a:prstGeom>
          <a:noFill/>
        </p:spPr>
        <p:txBody>
          <a:bodyPr wrap="square" rtlCol="0">
            <a:spAutoFit/>
          </a:bodyPr>
          <a:lstStyle/>
          <a:p>
            <a:r>
              <a:rPr lang="en-IN" sz="3200" u="sng" dirty="0">
                <a:solidFill>
                  <a:schemeClr val="bg1"/>
                </a:solidFill>
              </a:rPr>
              <a:t>Campaign vs Subscription Trend</a:t>
            </a:r>
          </a:p>
        </p:txBody>
      </p:sp>
      <p:pic>
        <p:nvPicPr>
          <p:cNvPr id="4" name="Picture 3">
            <a:extLst>
              <a:ext uri="{FF2B5EF4-FFF2-40B4-BE49-F238E27FC236}">
                <a16:creationId xmlns:a16="http://schemas.microsoft.com/office/drawing/2014/main" id="{99E11AD0-41FC-24A9-4BC8-BBE3185C02D7}"/>
              </a:ext>
            </a:extLst>
          </p:cNvPr>
          <p:cNvPicPr>
            <a:picLocks noChangeAspect="1"/>
          </p:cNvPicPr>
          <p:nvPr/>
        </p:nvPicPr>
        <p:blipFill>
          <a:blip r:embed="rId2"/>
          <a:stretch>
            <a:fillRect/>
          </a:stretch>
        </p:blipFill>
        <p:spPr>
          <a:xfrm>
            <a:off x="446047" y="1366732"/>
            <a:ext cx="7727795" cy="6524904"/>
          </a:xfrm>
          <a:prstGeom prst="rect">
            <a:avLst/>
          </a:prstGeom>
        </p:spPr>
      </p:pic>
      <p:pic>
        <p:nvPicPr>
          <p:cNvPr id="8" name="Image 0" descr="preencoded.png">
            <a:extLst>
              <a:ext uri="{FF2B5EF4-FFF2-40B4-BE49-F238E27FC236}">
                <a16:creationId xmlns:a16="http://schemas.microsoft.com/office/drawing/2014/main" id="{3CBA4FB0-0A00-6645-B9FE-1A8DFBCA5010}"/>
              </a:ext>
            </a:extLst>
          </p:cNvPr>
          <p:cNvPicPr>
            <a:picLocks noChangeAspect="1"/>
          </p:cNvPicPr>
          <p:nvPr/>
        </p:nvPicPr>
        <p:blipFill>
          <a:blip r:embed="rId3"/>
          <a:stretch>
            <a:fillRect/>
          </a:stretch>
        </p:blipFill>
        <p:spPr>
          <a:xfrm>
            <a:off x="0" y="0"/>
            <a:ext cx="14630400" cy="460627"/>
          </a:xfrm>
          <a:prstGeom prst="rect">
            <a:avLst/>
          </a:prstGeom>
        </p:spPr>
      </p:pic>
    </p:spTree>
    <p:extLst>
      <p:ext uri="{BB962C8B-B14F-4D97-AF65-F5344CB8AC3E}">
        <p14:creationId xmlns:p14="http://schemas.microsoft.com/office/powerpoint/2010/main" val="110389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F3E8F-1CB5-7484-43A0-50392A692E55}"/>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C1D81E4C-B426-D3E3-78A1-EB7266B7439E}"/>
              </a:ext>
            </a:extLst>
          </p:cNvPr>
          <p:cNvSpPr/>
          <p:nvPr/>
        </p:nvSpPr>
        <p:spPr>
          <a:xfrm>
            <a:off x="684014"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Distribution Analysis</a:t>
            </a:r>
          </a:p>
        </p:txBody>
      </p:sp>
      <p:sp>
        <p:nvSpPr>
          <p:cNvPr id="6" name="TextBox 5">
            <a:extLst>
              <a:ext uri="{FF2B5EF4-FFF2-40B4-BE49-F238E27FC236}">
                <a16:creationId xmlns:a16="http://schemas.microsoft.com/office/drawing/2014/main" id="{C9C6284F-BD7E-339C-09B3-C2EE0FBC3484}"/>
              </a:ext>
            </a:extLst>
          </p:cNvPr>
          <p:cNvSpPr txBox="1"/>
          <p:nvPr/>
        </p:nvSpPr>
        <p:spPr>
          <a:xfrm>
            <a:off x="8675649" y="2988527"/>
            <a:ext cx="5843239" cy="452431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a:t>
            </a:r>
            <a:r>
              <a:rPr kumimoji="0" lang="en-US" altLang="en-US" sz="1800" b="0" i="0" u="none" strike="noStrike" cap="none" normalizeH="0" baseline="0" dirty="0" err="1">
                <a:ln>
                  <a:noFill/>
                </a:ln>
                <a:solidFill>
                  <a:schemeClr val="bg1"/>
                </a:solidFill>
                <a:effectLst/>
                <a:latin typeface="Arial" panose="020B0604020202020204" pitchFamily="34" charset="0"/>
              </a:rPr>
              <a:t>pdays</a:t>
            </a:r>
            <a:r>
              <a:rPr kumimoji="0" lang="en-US" altLang="en-US" sz="1800" b="0" i="0" u="none" strike="noStrike" cap="none" normalizeH="0" baseline="0" dirty="0">
                <a:ln>
                  <a:noFill/>
                </a:ln>
                <a:solidFill>
                  <a:schemeClr val="bg1"/>
                </a:solidFill>
                <a:effectLst/>
                <a:latin typeface="Arial" panose="020B0604020202020204" pitchFamily="34" charset="0"/>
              </a:rPr>
              <a:t> feature represents the number of days since the client was last contacted in a previous campaign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 value of 999 means the client was never previously contacted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Most clients in the dataset have a value of 999, indicating no prior contact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Among those who were previously contacted (</a:t>
            </a:r>
            <a:r>
              <a:rPr kumimoji="0" lang="en-US" altLang="en-US" sz="1800" b="0" i="0" u="none" strike="noStrike" cap="none" normalizeH="0" baseline="0" dirty="0" err="1">
                <a:ln>
                  <a:noFill/>
                </a:ln>
                <a:solidFill>
                  <a:schemeClr val="bg1"/>
                </a:solidFill>
                <a:effectLst/>
                <a:latin typeface="Arial" panose="020B0604020202020204" pitchFamily="34" charset="0"/>
              </a:rPr>
              <a:t>pdays</a:t>
            </a:r>
            <a:r>
              <a:rPr kumimoji="0" lang="en-US" altLang="en-US" sz="1800" b="0" i="0" u="none" strike="noStrike" cap="none" normalizeH="0" baseline="0" dirty="0">
                <a:ln>
                  <a:noFill/>
                </a:ln>
                <a:solidFill>
                  <a:schemeClr val="bg1"/>
                </a:solidFill>
                <a:effectLst/>
                <a:latin typeface="Arial" panose="020B0604020202020204" pitchFamily="34" charset="0"/>
              </a:rPr>
              <a:t> less than 999), the subscription rate is relatively higher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suggests that clients with past contact history are slightly more likely to subscribe, while a large portion of the data has no prior contact</a:t>
            </a:r>
            <a:endParaRPr lang="en-IN" dirty="0">
              <a:solidFill>
                <a:schemeClr val="bg1"/>
              </a:solidFill>
            </a:endParaRPr>
          </a:p>
        </p:txBody>
      </p:sp>
      <p:sp>
        <p:nvSpPr>
          <p:cNvPr id="7" name="TextBox 6">
            <a:extLst>
              <a:ext uri="{FF2B5EF4-FFF2-40B4-BE49-F238E27FC236}">
                <a16:creationId xmlns:a16="http://schemas.microsoft.com/office/drawing/2014/main" id="{F5C66888-6CD0-A55C-05F8-8BF89553C1E1}"/>
              </a:ext>
            </a:extLst>
          </p:cNvPr>
          <p:cNvSpPr txBox="1"/>
          <p:nvPr/>
        </p:nvSpPr>
        <p:spPr>
          <a:xfrm>
            <a:off x="8642195" y="2090190"/>
            <a:ext cx="5397191" cy="584775"/>
          </a:xfrm>
          <a:prstGeom prst="rect">
            <a:avLst/>
          </a:prstGeom>
          <a:noFill/>
        </p:spPr>
        <p:txBody>
          <a:bodyPr wrap="square" rtlCol="0">
            <a:spAutoFit/>
          </a:bodyPr>
          <a:lstStyle/>
          <a:p>
            <a:r>
              <a:rPr lang="en-IN" sz="3200" u="sng" dirty="0" err="1">
                <a:solidFill>
                  <a:schemeClr val="bg1"/>
                </a:solidFill>
              </a:rPr>
              <a:t>Pdays</a:t>
            </a:r>
            <a:r>
              <a:rPr lang="en-IN" sz="3200" u="sng" dirty="0">
                <a:solidFill>
                  <a:schemeClr val="bg1"/>
                </a:solidFill>
              </a:rPr>
              <a:t> vs Subscription Trend</a:t>
            </a:r>
          </a:p>
        </p:txBody>
      </p:sp>
      <p:pic>
        <p:nvPicPr>
          <p:cNvPr id="3" name="Picture 2">
            <a:extLst>
              <a:ext uri="{FF2B5EF4-FFF2-40B4-BE49-F238E27FC236}">
                <a16:creationId xmlns:a16="http://schemas.microsoft.com/office/drawing/2014/main" id="{B6E41B9F-0ED1-2EEC-27B8-E1FD3D341B9A}"/>
              </a:ext>
            </a:extLst>
          </p:cNvPr>
          <p:cNvPicPr>
            <a:picLocks noChangeAspect="1"/>
          </p:cNvPicPr>
          <p:nvPr/>
        </p:nvPicPr>
        <p:blipFill>
          <a:blip r:embed="rId2"/>
          <a:stretch>
            <a:fillRect/>
          </a:stretch>
        </p:blipFill>
        <p:spPr>
          <a:xfrm>
            <a:off x="434898" y="1366732"/>
            <a:ext cx="7727796" cy="6524904"/>
          </a:xfrm>
          <a:prstGeom prst="rect">
            <a:avLst/>
          </a:prstGeom>
        </p:spPr>
      </p:pic>
      <p:pic>
        <p:nvPicPr>
          <p:cNvPr id="8" name="Image 0" descr="preencoded.png">
            <a:extLst>
              <a:ext uri="{FF2B5EF4-FFF2-40B4-BE49-F238E27FC236}">
                <a16:creationId xmlns:a16="http://schemas.microsoft.com/office/drawing/2014/main" id="{99A60108-74D9-D887-578E-BC9783AB1176}"/>
              </a:ext>
            </a:extLst>
          </p:cNvPr>
          <p:cNvPicPr>
            <a:picLocks noChangeAspect="1"/>
          </p:cNvPicPr>
          <p:nvPr/>
        </p:nvPicPr>
        <p:blipFill>
          <a:blip r:embed="rId3"/>
          <a:stretch>
            <a:fillRect/>
          </a:stretch>
        </p:blipFill>
        <p:spPr>
          <a:xfrm>
            <a:off x="0" y="0"/>
            <a:ext cx="14630400" cy="460627"/>
          </a:xfrm>
          <a:prstGeom prst="rect">
            <a:avLst/>
          </a:prstGeom>
        </p:spPr>
      </p:pic>
    </p:spTree>
    <p:extLst>
      <p:ext uri="{BB962C8B-B14F-4D97-AF65-F5344CB8AC3E}">
        <p14:creationId xmlns:p14="http://schemas.microsoft.com/office/powerpoint/2010/main" val="1611820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2ACBE23-89CF-2CFF-DF07-D35AE321D803}"/>
              </a:ext>
            </a:extLst>
          </p:cNvPr>
          <p:cNvSpPr/>
          <p:nvPr/>
        </p:nvSpPr>
        <p:spPr>
          <a:xfrm>
            <a:off x="531309" y="544464"/>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Outliers Detection</a:t>
            </a:r>
            <a:endParaRPr lang="en-US" sz="3700" dirty="0"/>
          </a:p>
        </p:txBody>
      </p:sp>
      <p:pic>
        <p:nvPicPr>
          <p:cNvPr id="5" name="Picture 4">
            <a:extLst>
              <a:ext uri="{FF2B5EF4-FFF2-40B4-BE49-F238E27FC236}">
                <a16:creationId xmlns:a16="http://schemas.microsoft.com/office/drawing/2014/main" id="{A0FADC1B-1C25-04AE-05AF-FB9ABFC787D1}"/>
              </a:ext>
            </a:extLst>
          </p:cNvPr>
          <p:cNvPicPr>
            <a:picLocks noChangeAspect="1"/>
          </p:cNvPicPr>
          <p:nvPr/>
        </p:nvPicPr>
        <p:blipFill>
          <a:blip r:embed="rId2"/>
          <a:stretch>
            <a:fillRect/>
          </a:stretch>
        </p:blipFill>
        <p:spPr>
          <a:xfrm>
            <a:off x="531309" y="1400500"/>
            <a:ext cx="6650076" cy="6472261"/>
          </a:xfrm>
          <a:prstGeom prst="rect">
            <a:avLst/>
          </a:prstGeom>
        </p:spPr>
      </p:pic>
      <p:sp>
        <p:nvSpPr>
          <p:cNvPr id="6" name="Text 0">
            <a:extLst>
              <a:ext uri="{FF2B5EF4-FFF2-40B4-BE49-F238E27FC236}">
                <a16:creationId xmlns:a16="http://schemas.microsoft.com/office/drawing/2014/main" id="{E695520E-EFA2-E616-1CA0-A662B0D53694}"/>
              </a:ext>
            </a:extLst>
          </p:cNvPr>
          <p:cNvSpPr/>
          <p:nvPr/>
        </p:nvSpPr>
        <p:spPr>
          <a:xfrm>
            <a:off x="7668090" y="544463"/>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Outliers Handling Using IQR Cap</a:t>
            </a:r>
            <a:endParaRPr lang="en-US" sz="3700" dirty="0"/>
          </a:p>
        </p:txBody>
      </p:sp>
      <p:pic>
        <p:nvPicPr>
          <p:cNvPr id="8" name="Picture 7">
            <a:extLst>
              <a:ext uri="{FF2B5EF4-FFF2-40B4-BE49-F238E27FC236}">
                <a16:creationId xmlns:a16="http://schemas.microsoft.com/office/drawing/2014/main" id="{E0FDF0E6-DC5F-FC00-681D-B86932AC1C97}"/>
              </a:ext>
            </a:extLst>
          </p:cNvPr>
          <p:cNvPicPr>
            <a:picLocks noChangeAspect="1"/>
          </p:cNvPicPr>
          <p:nvPr/>
        </p:nvPicPr>
        <p:blipFill>
          <a:blip r:embed="rId3"/>
          <a:stretch>
            <a:fillRect/>
          </a:stretch>
        </p:blipFill>
        <p:spPr>
          <a:xfrm>
            <a:off x="7668090" y="1400500"/>
            <a:ext cx="6650076" cy="6440019"/>
          </a:xfrm>
          <a:prstGeom prst="rect">
            <a:avLst/>
          </a:prstGeom>
        </p:spPr>
      </p:pic>
    </p:spTree>
    <p:extLst>
      <p:ext uri="{BB962C8B-B14F-4D97-AF65-F5344CB8AC3E}">
        <p14:creationId xmlns:p14="http://schemas.microsoft.com/office/powerpoint/2010/main" val="3617538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F5553A5-3F08-8C01-582D-A74A7E9EDDF6}"/>
              </a:ext>
            </a:extLst>
          </p:cNvPr>
          <p:cNvSpPr/>
          <p:nvPr/>
        </p:nvSpPr>
        <p:spPr>
          <a:xfrm>
            <a:off x="531309" y="544464"/>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Feature Importances</a:t>
            </a:r>
            <a:endParaRPr lang="en-US" sz="3700" dirty="0"/>
          </a:p>
        </p:txBody>
      </p:sp>
      <p:pic>
        <p:nvPicPr>
          <p:cNvPr id="4" name="Picture 3">
            <a:extLst>
              <a:ext uri="{FF2B5EF4-FFF2-40B4-BE49-F238E27FC236}">
                <a16:creationId xmlns:a16="http://schemas.microsoft.com/office/drawing/2014/main" id="{39F7DB80-D38D-CFCD-9A45-D8078F27C565}"/>
              </a:ext>
            </a:extLst>
          </p:cNvPr>
          <p:cNvPicPr>
            <a:picLocks noChangeAspect="1"/>
          </p:cNvPicPr>
          <p:nvPr/>
        </p:nvPicPr>
        <p:blipFill>
          <a:blip r:embed="rId2"/>
          <a:stretch>
            <a:fillRect/>
          </a:stretch>
        </p:blipFill>
        <p:spPr>
          <a:xfrm>
            <a:off x="531309" y="1461042"/>
            <a:ext cx="6560867" cy="6224093"/>
          </a:xfrm>
          <a:prstGeom prst="rect">
            <a:avLst/>
          </a:prstGeom>
        </p:spPr>
      </p:pic>
      <p:pic>
        <p:nvPicPr>
          <p:cNvPr id="6" name="Picture 5">
            <a:extLst>
              <a:ext uri="{FF2B5EF4-FFF2-40B4-BE49-F238E27FC236}">
                <a16:creationId xmlns:a16="http://schemas.microsoft.com/office/drawing/2014/main" id="{77D47E96-39DC-A295-74D0-1E7A1E35014D}"/>
              </a:ext>
            </a:extLst>
          </p:cNvPr>
          <p:cNvPicPr>
            <a:picLocks noChangeAspect="1"/>
          </p:cNvPicPr>
          <p:nvPr/>
        </p:nvPicPr>
        <p:blipFill>
          <a:blip r:embed="rId3"/>
          <a:stretch>
            <a:fillRect/>
          </a:stretch>
        </p:blipFill>
        <p:spPr>
          <a:xfrm>
            <a:off x="8154965" y="1454242"/>
            <a:ext cx="5858693" cy="6224093"/>
          </a:xfrm>
          <a:prstGeom prst="rect">
            <a:avLst/>
          </a:prstGeom>
        </p:spPr>
      </p:pic>
      <p:sp>
        <p:nvSpPr>
          <p:cNvPr id="7" name="Text 0">
            <a:extLst>
              <a:ext uri="{FF2B5EF4-FFF2-40B4-BE49-F238E27FC236}">
                <a16:creationId xmlns:a16="http://schemas.microsoft.com/office/drawing/2014/main" id="{AC615594-26D1-81C0-CFC4-DBEFB734DFDA}"/>
              </a:ext>
            </a:extLst>
          </p:cNvPr>
          <p:cNvSpPr/>
          <p:nvPr/>
        </p:nvSpPr>
        <p:spPr>
          <a:xfrm>
            <a:off x="8154965" y="551265"/>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One-Hot Encoding</a:t>
            </a:r>
            <a:endParaRPr lang="en-US" sz="3700" dirty="0"/>
          </a:p>
        </p:txBody>
      </p:sp>
    </p:spTree>
    <p:extLst>
      <p:ext uri="{BB962C8B-B14F-4D97-AF65-F5344CB8AC3E}">
        <p14:creationId xmlns:p14="http://schemas.microsoft.com/office/powerpoint/2010/main" val="3610369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5CD9DB-4FF9-2A3B-EC32-A634392DA2DF}"/>
              </a:ext>
            </a:extLst>
          </p:cNvPr>
          <p:cNvPicPr>
            <a:picLocks noChangeAspect="1"/>
          </p:cNvPicPr>
          <p:nvPr/>
        </p:nvPicPr>
        <p:blipFill>
          <a:blip r:embed="rId2"/>
          <a:stretch>
            <a:fillRect/>
          </a:stretch>
        </p:blipFill>
        <p:spPr>
          <a:xfrm>
            <a:off x="5032927" y="2520255"/>
            <a:ext cx="3181794" cy="1286054"/>
          </a:xfrm>
          <a:prstGeom prst="rect">
            <a:avLst/>
          </a:prstGeom>
        </p:spPr>
      </p:pic>
      <p:pic>
        <p:nvPicPr>
          <p:cNvPr id="6" name="Picture 5">
            <a:extLst>
              <a:ext uri="{FF2B5EF4-FFF2-40B4-BE49-F238E27FC236}">
                <a16:creationId xmlns:a16="http://schemas.microsoft.com/office/drawing/2014/main" id="{73414BC2-48E7-D9E0-F8B2-7738FBFCCAFA}"/>
              </a:ext>
            </a:extLst>
          </p:cNvPr>
          <p:cNvPicPr>
            <a:picLocks noChangeAspect="1"/>
          </p:cNvPicPr>
          <p:nvPr/>
        </p:nvPicPr>
        <p:blipFill>
          <a:blip r:embed="rId3"/>
          <a:stretch>
            <a:fillRect/>
          </a:stretch>
        </p:blipFill>
        <p:spPr>
          <a:xfrm>
            <a:off x="531309" y="2520255"/>
            <a:ext cx="3066586" cy="1286054"/>
          </a:xfrm>
          <a:prstGeom prst="rect">
            <a:avLst/>
          </a:prstGeom>
        </p:spPr>
      </p:pic>
      <p:sp>
        <p:nvSpPr>
          <p:cNvPr id="7" name="Text 0">
            <a:extLst>
              <a:ext uri="{FF2B5EF4-FFF2-40B4-BE49-F238E27FC236}">
                <a16:creationId xmlns:a16="http://schemas.microsoft.com/office/drawing/2014/main" id="{2B8174BD-539F-6990-1E78-A44976CBB175}"/>
              </a:ext>
            </a:extLst>
          </p:cNvPr>
          <p:cNvSpPr/>
          <p:nvPr/>
        </p:nvSpPr>
        <p:spPr>
          <a:xfrm>
            <a:off x="531309" y="544464"/>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SMOTE (Synthetic Minority Oversampling Technique)</a:t>
            </a:r>
            <a:endParaRPr lang="en-US" sz="3700" dirty="0"/>
          </a:p>
        </p:txBody>
      </p:sp>
      <p:sp>
        <p:nvSpPr>
          <p:cNvPr id="8" name="TextBox 7">
            <a:extLst>
              <a:ext uri="{FF2B5EF4-FFF2-40B4-BE49-F238E27FC236}">
                <a16:creationId xmlns:a16="http://schemas.microsoft.com/office/drawing/2014/main" id="{12DAFA04-EC94-8B28-12BC-79DB10C8EB49}"/>
              </a:ext>
            </a:extLst>
          </p:cNvPr>
          <p:cNvSpPr txBox="1"/>
          <p:nvPr/>
        </p:nvSpPr>
        <p:spPr>
          <a:xfrm>
            <a:off x="542461" y="1644141"/>
            <a:ext cx="3055434" cy="584775"/>
          </a:xfrm>
          <a:prstGeom prst="rect">
            <a:avLst/>
          </a:prstGeom>
          <a:noFill/>
        </p:spPr>
        <p:txBody>
          <a:bodyPr wrap="square" rtlCol="0">
            <a:spAutoFit/>
          </a:bodyPr>
          <a:lstStyle/>
          <a:p>
            <a:r>
              <a:rPr lang="en-IN" sz="3200" dirty="0">
                <a:solidFill>
                  <a:schemeClr val="bg1"/>
                </a:solidFill>
              </a:rPr>
              <a:t>Before Sampling</a:t>
            </a:r>
          </a:p>
        </p:txBody>
      </p:sp>
      <p:sp>
        <p:nvSpPr>
          <p:cNvPr id="9" name="TextBox 8">
            <a:extLst>
              <a:ext uri="{FF2B5EF4-FFF2-40B4-BE49-F238E27FC236}">
                <a16:creationId xmlns:a16="http://schemas.microsoft.com/office/drawing/2014/main" id="{E03D5099-DADA-5D23-E0B8-B083043E786E}"/>
              </a:ext>
            </a:extLst>
          </p:cNvPr>
          <p:cNvSpPr txBox="1"/>
          <p:nvPr/>
        </p:nvSpPr>
        <p:spPr>
          <a:xfrm>
            <a:off x="5032926" y="1644140"/>
            <a:ext cx="2705477" cy="584775"/>
          </a:xfrm>
          <a:prstGeom prst="rect">
            <a:avLst/>
          </a:prstGeom>
          <a:noFill/>
        </p:spPr>
        <p:txBody>
          <a:bodyPr wrap="square" rtlCol="0">
            <a:spAutoFit/>
          </a:bodyPr>
          <a:lstStyle/>
          <a:p>
            <a:r>
              <a:rPr lang="en-IN" sz="3200" dirty="0">
                <a:solidFill>
                  <a:schemeClr val="bg1"/>
                </a:solidFill>
              </a:rPr>
              <a:t>After Sampling</a:t>
            </a:r>
          </a:p>
        </p:txBody>
      </p:sp>
      <p:sp>
        <p:nvSpPr>
          <p:cNvPr id="10" name="Arrow: Right 9">
            <a:extLst>
              <a:ext uri="{FF2B5EF4-FFF2-40B4-BE49-F238E27FC236}">
                <a16:creationId xmlns:a16="http://schemas.microsoft.com/office/drawing/2014/main" id="{CA8F7337-7BCC-7FF5-8225-0D85C9B76EBF}"/>
              </a:ext>
            </a:extLst>
          </p:cNvPr>
          <p:cNvSpPr/>
          <p:nvPr/>
        </p:nvSpPr>
        <p:spPr>
          <a:xfrm>
            <a:off x="3735659" y="2955073"/>
            <a:ext cx="1159726" cy="3902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4033DBF4-F2FB-C7E1-E6AC-457463004E18}"/>
              </a:ext>
            </a:extLst>
          </p:cNvPr>
          <p:cNvSpPr txBox="1"/>
          <p:nvPr/>
        </p:nvSpPr>
        <p:spPr>
          <a:xfrm>
            <a:off x="542461" y="4880700"/>
            <a:ext cx="12110225" cy="313932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Before sampling, the target variable </a:t>
            </a:r>
            <a:r>
              <a:rPr kumimoji="0" lang="en-US" altLang="en-US" sz="1800" b="0" i="0" u="none" strike="noStrike" cap="none" normalizeH="0" baseline="0" dirty="0" err="1">
                <a:ln>
                  <a:noFill/>
                </a:ln>
                <a:solidFill>
                  <a:schemeClr val="bg1"/>
                </a:solidFill>
                <a:effectLst/>
                <a:latin typeface="Arial" panose="020B0604020202020204" pitchFamily="34" charset="0"/>
              </a:rPr>
              <a:t>y_yes</a:t>
            </a:r>
            <a:r>
              <a:rPr kumimoji="0" lang="en-US" altLang="en-US" sz="1800" b="0" i="0" u="none" strike="noStrike" cap="none" normalizeH="0" baseline="0" dirty="0">
                <a:ln>
                  <a:noFill/>
                </a:ln>
                <a:solidFill>
                  <a:schemeClr val="bg1"/>
                </a:solidFill>
                <a:effectLst/>
                <a:latin typeface="Arial" panose="020B0604020202020204" pitchFamily="34" charset="0"/>
              </a:rPr>
              <a:t> was highly imbalanced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Only 4,640 positive samples compared to 36,548 negatives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We used SMOTE (Synthetic Minority Oversampling Technique) to generate new synthetic samples for the minority class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After sampling, both classes were perfectly balanced at 36,548 each</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ensures the model receives equal exposure to both outcomes, improving fairness and predictive accuracy for the minority class</a:t>
            </a:r>
            <a:endParaRPr lang="en-IN" dirty="0">
              <a:solidFill>
                <a:schemeClr val="bg1"/>
              </a:solidFill>
            </a:endParaRPr>
          </a:p>
        </p:txBody>
      </p:sp>
      <p:sp>
        <p:nvSpPr>
          <p:cNvPr id="12" name="TextBox 11">
            <a:extLst>
              <a:ext uri="{FF2B5EF4-FFF2-40B4-BE49-F238E27FC236}">
                <a16:creationId xmlns:a16="http://schemas.microsoft.com/office/drawing/2014/main" id="{6FDE8C8E-DB7E-6966-F6E8-7B73BF1A3BD5}"/>
              </a:ext>
            </a:extLst>
          </p:cNvPr>
          <p:cNvSpPr txBox="1"/>
          <p:nvPr/>
        </p:nvSpPr>
        <p:spPr>
          <a:xfrm>
            <a:off x="542461" y="4051117"/>
            <a:ext cx="11185782" cy="584775"/>
          </a:xfrm>
          <a:prstGeom prst="rect">
            <a:avLst/>
          </a:prstGeom>
          <a:noFill/>
        </p:spPr>
        <p:txBody>
          <a:bodyPr wrap="square" rtlCol="0">
            <a:spAutoFit/>
          </a:bodyPr>
          <a:lstStyle/>
          <a:p>
            <a:r>
              <a:rPr lang="en-US" sz="3200" u="sng" dirty="0">
                <a:solidFill>
                  <a:schemeClr val="bg1"/>
                </a:solidFill>
              </a:rPr>
              <a:t>Balancing the Dataset with SMOTE</a:t>
            </a:r>
            <a:endParaRPr lang="en-IN" sz="3200" u="sng" dirty="0">
              <a:solidFill>
                <a:schemeClr val="bg1"/>
              </a:solidFill>
            </a:endParaRPr>
          </a:p>
        </p:txBody>
      </p:sp>
    </p:spTree>
    <p:extLst>
      <p:ext uri="{BB962C8B-B14F-4D97-AF65-F5344CB8AC3E}">
        <p14:creationId xmlns:p14="http://schemas.microsoft.com/office/powerpoint/2010/main" val="3403709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220DC53-5331-78F1-41FB-B4255B36CED9}"/>
              </a:ext>
            </a:extLst>
          </p:cNvPr>
          <p:cNvSpPr/>
          <p:nvPr/>
        </p:nvSpPr>
        <p:spPr>
          <a:xfrm>
            <a:off x="496060" y="141637"/>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STEP-3 Model Training and Data Splitting</a:t>
            </a:r>
            <a:endParaRPr lang="en-US" sz="3700" dirty="0"/>
          </a:p>
        </p:txBody>
      </p:sp>
      <p:sp>
        <p:nvSpPr>
          <p:cNvPr id="6" name="TextBox 5">
            <a:extLst>
              <a:ext uri="{FF2B5EF4-FFF2-40B4-BE49-F238E27FC236}">
                <a16:creationId xmlns:a16="http://schemas.microsoft.com/office/drawing/2014/main" id="{6283C8D5-5927-7DB8-86F1-ED8983F680D6}"/>
              </a:ext>
            </a:extLst>
          </p:cNvPr>
          <p:cNvSpPr txBox="1"/>
          <p:nvPr/>
        </p:nvSpPr>
        <p:spPr>
          <a:xfrm>
            <a:off x="523432" y="5123201"/>
            <a:ext cx="12110225" cy="313932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t>
            </a:r>
            <a:r>
              <a:rPr lang="en-US" altLang="en-US" sz="1350" dirty="0">
                <a:solidFill>
                  <a:srgbClr val="EEEFF5"/>
                </a:solidFill>
                <a:latin typeface="Montserrat" pitchFamily="34" charset="0"/>
              </a:rPr>
              <a:t>The dataset was split into training (80%) and testing (20%) sets using a stratified approach</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350" dirty="0">
              <a:solidFill>
                <a:srgbClr val="EEEFF5"/>
              </a:solidFill>
              <a:latin typeface="Montserrat"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350" dirty="0">
                <a:solidFill>
                  <a:srgbClr val="EEEFF5"/>
                </a:solidFill>
                <a:latin typeface="Montserrat" pitchFamily="34" charset="0"/>
              </a:rPr>
              <a:t>  Stratified splitting ensures that the class distribution remains balanced across both sets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350" dirty="0">
              <a:solidFill>
                <a:srgbClr val="EEEFF5"/>
              </a:solidFill>
              <a:latin typeface="Montserrat"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350" dirty="0">
                <a:solidFill>
                  <a:srgbClr val="EEEFF5"/>
                </a:solidFill>
                <a:latin typeface="Montserrat" pitchFamily="34" charset="0"/>
              </a:rPr>
              <a:t>  Feature scaling was applied using </a:t>
            </a:r>
            <a:r>
              <a:rPr lang="en-US" altLang="en-US" sz="1350" dirty="0" err="1">
                <a:solidFill>
                  <a:srgbClr val="EEEFF5"/>
                </a:solidFill>
                <a:latin typeface="Montserrat" pitchFamily="34" charset="0"/>
              </a:rPr>
              <a:t>StandardScaler</a:t>
            </a:r>
            <a:r>
              <a:rPr lang="en-US" altLang="en-US" sz="1350" dirty="0">
                <a:solidFill>
                  <a:srgbClr val="EEEFF5"/>
                </a:solidFill>
                <a:latin typeface="Montserrat" pitchFamily="34" charset="0"/>
              </a:rPr>
              <a:t> to normalize all numeric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350" dirty="0">
              <a:solidFill>
                <a:srgbClr val="EEEFF5"/>
              </a:solidFill>
              <a:latin typeface="Montserrat"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350" dirty="0">
                <a:solidFill>
                  <a:srgbClr val="EEEFF5"/>
                </a:solidFill>
                <a:latin typeface="Montserrat" pitchFamily="34" charset="0"/>
              </a:rPr>
              <a:t>  The resulting shapes are: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350" dirty="0">
              <a:solidFill>
                <a:srgbClr val="EEEFF5"/>
              </a:solidFill>
              <a:latin typeface="Montserrat" pitchFamily="34" charset="0"/>
            </a:endParaRPr>
          </a:p>
          <a:p>
            <a:pPr lvl="1" eaLnBrk="0" fontAlgn="base" hangingPunct="0">
              <a:spcBef>
                <a:spcPct val="0"/>
              </a:spcBef>
              <a:spcAft>
                <a:spcPct val="0"/>
              </a:spcAft>
              <a:buFontTx/>
              <a:buChar char="•"/>
            </a:pPr>
            <a:r>
              <a:rPr lang="en-US" altLang="en-US" sz="1350" dirty="0">
                <a:solidFill>
                  <a:srgbClr val="EEEFF5"/>
                </a:solidFill>
                <a:latin typeface="Montserrat" pitchFamily="34" charset="0"/>
              </a:rPr>
              <a:t>  X_train: 51,167 samples, 13 features</a:t>
            </a:r>
          </a:p>
          <a:p>
            <a:pPr lvl="1" eaLnBrk="0" fontAlgn="base" hangingPunct="0">
              <a:spcBef>
                <a:spcPct val="0"/>
              </a:spcBef>
              <a:spcAft>
                <a:spcPct val="0"/>
              </a:spcAft>
              <a:buFontTx/>
              <a:buChar char="•"/>
            </a:pPr>
            <a:endParaRPr lang="en-US" altLang="en-US" sz="1350" dirty="0">
              <a:solidFill>
                <a:srgbClr val="EEEFF5"/>
              </a:solidFill>
              <a:latin typeface="Montserrat" pitchFamily="34" charset="0"/>
            </a:endParaRPr>
          </a:p>
          <a:p>
            <a:pPr lvl="1" eaLnBrk="0" fontAlgn="base" hangingPunct="0">
              <a:spcBef>
                <a:spcPct val="0"/>
              </a:spcBef>
              <a:spcAft>
                <a:spcPct val="0"/>
              </a:spcAft>
              <a:buFontTx/>
              <a:buChar char="•"/>
            </a:pPr>
            <a:r>
              <a:rPr lang="en-US" altLang="en-US" sz="1350" dirty="0">
                <a:solidFill>
                  <a:srgbClr val="EEEFF5"/>
                </a:solidFill>
                <a:latin typeface="Montserrat" pitchFamily="34" charset="0"/>
              </a:rPr>
              <a:t>  </a:t>
            </a:r>
            <a:r>
              <a:rPr lang="en-US" altLang="en-US" sz="1350" dirty="0" err="1">
                <a:solidFill>
                  <a:srgbClr val="EEEFF5"/>
                </a:solidFill>
                <a:latin typeface="Montserrat" pitchFamily="34" charset="0"/>
              </a:rPr>
              <a:t>X_test</a:t>
            </a:r>
            <a:r>
              <a:rPr lang="en-US" altLang="en-US" sz="1350" dirty="0">
                <a:solidFill>
                  <a:srgbClr val="EEEFF5"/>
                </a:solidFill>
                <a:latin typeface="Montserrat" pitchFamily="34" charset="0"/>
              </a:rPr>
              <a:t>: 21,929 samples, 13 features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350" dirty="0">
              <a:solidFill>
                <a:srgbClr val="EEEFF5"/>
              </a:solidFill>
              <a:latin typeface="Montserrat"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350" dirty="0">
                <a:solidFill>
                  <a:srgbClr val="EEEFF5"/>
                </a:solidFill>
                <a:latin typeface="Montserrat" pitchFamily="34" charset="0"/>
              </a:rPr>
              <a:t>  The following six machine learning models were trained and evaluated:</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p:txBody>
      </p:sp>
      <p:sp>
        <p:nvSpPr>
          <p:cNvPr id="46" name="Text 1">
            <a:extLst>
              <a:ext uri="{FF2B5EF4-FFF2-40B4-BE49-F238E27FC236}">
                <a16:creationId xmlns:a16="http://schemas.microsoft.com/office/drawing/2014/main" id="{CEA5622F-DE60-DEAB-CCFE-93599D68FFF9}"/>
              </a:ext>
            </a:extLst>
          </p:cNvPr>
          <p:cNvSpPr/>
          <p:nvPr/>
        </p:nvSpPr>
        <p:spPr>
          <a:xfrm>
            <a:off x="3642710" y="932149"/>
            <a:ext cx="2317790" cy="289679"/>
          </a:xfrm>
          <a:prstGeom prst="rect">
            <a:avLst/>
          </a:prstGeom>
          <a:noFill/>
          <a:ln/>
        </p:spPr>
        <p:txBody>
          <a:bodyPr wrap="none" lIns="0" tIns="0" rIns="0" bIns="0" rtlCol="0" anchor="t"/>
          <a:lstStyle/>
          <a:p>
            <a:pPr marL="0" indent="0" algn="r">
              <a:lnSpc>
                <a:spcPts val="2250"/>
              </a:lnSpc>
              <a:buNone/>
            </a:pPr>
            <a:r>
              <a:rPr lang="en-US" sz="1800" b="1" dirty="0">
                <a:solidFill>
                  <a:srgbClr val="EEEFF5"/>
                </a:solidFill>
                <a:latin typeface="Barlow Bold" pitchFamily="34" charset="0"/>
                <a:ea typeface="Barlow Bold" pitchFamily="34" charset="-122"/>
                <a:cs typeface="Barlow Bold" pitchFamily="34" charset="-120"/>
              </a:rPr>
              <a:t>Decision Trees</a:t>
            </a:r>
            <a:endParaRPr lang="en-US" sz="1800" dirty="0"/>
          </a:p>
        </p:txBody>
      </p:sp>
      <p:sp>
        <p:nvSpPr>
          <p:cNvPr id="47" name="Text 2">
            <a:extLst>
              <a:ext uri="{FF2B5EF4-FFF2-40B4-BE49-F238E27FC236}">
                <a16:creationId xmlns:a16="http://schemas.microsoft.com/office/drawing/2014/main" id="{C0ACA88F-389F-7840-03B9-0BA350C4197B}"/>
              </a:ext>
            </a:extLst>
          </p:cNvPr>
          <p:cNvSpPr/>
          <p:nvPr/>
        </p:nvSpPr>
        <p:spPr>
          <a:xfrm>
            <a:off x="1870584" y="1327437"/>
            <a:ext cx="4089916" cy="563880"/>
          </a:xfrm>
          <a:prstGeom prst="rect">
            <a:avLst/>
          </a:prstGeom>
          <a:noFill/>
          <a:ln/>
        </p:spPr>
        <p:txBody>
          <a:bodyPr wrap="square" lIns="0" tIns="0" rIns="0" bIns="0" rtlCol="0" anchor="t"/>
          <a:lstStyle/>
          <a:p>
            <a:pPr marL="0" indent="0" algn="r">
              <a:lnSpc>
                <a:spcPts val="2200"/>
              </a:lnSpc>
              <a:buNone/>
            </a:pPr>
            <a:r>
              <a:rPr lang="en-US" sz="1350" dirty="0">
                <a:solidFill>
                  <a:srgbClr val="EEEFF5"/>
                </a:solidFill>
                <a:latin typeface="Montserrat" pitchFamily="34" charset="0"/>
                <a:ea typeface="Montserrat" pitchFamily="34" charset="-122"/>
                <a:cs typeface="Montserrat" pitchFamily="34" charset="-120"/>
              </a:rPr>
              <a:t>Interpretable baseline with visualization capabilities</a:t>
            </a:r>
            <a:endParaRPr lang="en-US" sz="1350" dirty="0"/>
          </a:p>
        </p:txBody>
      </p:sp>
      <p:pic>
        <p:nvPicPr>
          <p:cNvPr id="48" name="Image 1" descr="preencoded.png">
            <a:extLst>
              <a:ext uri="{FF2B5EF4-FFF2-40B4-BE49-F238E27FC236}">
                <a16:creationId xmlns:a16="http://schemas.microsoft.com/office/drawing/2014/main" id="{17FDC469-FCB6-60FF-776D-11D6ED765015}"/>
              </a:ext>
            </a:extLst>
          </p:cNvPr>
          <p:cNvPicPr>
            <a:picLocks noChangeAspect="1"/>
          </p:cNvPicPr>
          <p:nvPr/>
        </p:nvPicPr>
        <p:blipFill>
          <a:blip r:embed="rId2"/>
          <a:stretch>
            <a:fillRect/>
          </a:stretch>
        </p:blipFill>
        <p:spPr>
          <a:xfrm>
            <a:off x="6412002" y="1367039"/>
            <a:ext cx="263485" cy="329446"/>
          </a:xfrm>
          <a:prstGeom prst="rect">
            <a:avLst/>
          </a:prstGeom>
        </p:spPr>
      </p:pic>
      <p:sp>
        <p:nvSpPr>
          <p:cNvPr id="49" name="Text 3">
            <a:extLst>
              <a:ext uri="{FF2B5EF4-FFF2-40B4-BE49-F238E27FC236}">
                <a16:creationId xmlns:a16="http://schemas.microsoft.com/office/drawing/2014/main" id="{FCE26D0A-FB7E-3743-491C-E3D2B33C7C5E}"/>
              </a:ext>
            </a:extLst>
          </p:cNvPr>
          <p:cNvSpPr/>
          <p:nvPr/>
        </p:nvSpPr>
        <p:spPr>
          <a:xfrm>
            <a:off x="8151613" y="920998"/>
            <a:ext cx="2317790" cy="289679"/>
          </a:xfrm>
          <a:prstGeom prst="rect">
            <a:avLst/>
          </a:prstGeom>
          <a:noFill/>
          <a:ln/>
        </p:spPr>
        <p:txBody>
          <a:bodyPr wrap="none" lIns="0" tIns="0" rIns="0" bIns="0" rtlCol="0" anchor="t"/>
          <a:lstStyle/>
          <a:p>
            <a:pPr marL="0" indent="0" algn="l">
              <a:lnSpc>
                <a:spcPts val="2250"/>
              </a:lnSpc>
              <a:buNone/>
            </a:pPr>
            <a:r>
              <a:rPr lang="en-US" sz="1800" b="1" dirty="0">
                <a:solidFill>
                  <a:srgbClr val="EEEFF5"/>
                </a:solidFill>
                <a:latin typeface="Barlow Bold" pitchFamily="34" charset="0"/>
                <a:ea typeface="Barlow Bold" pitchFamily="34" charset="-122"/>
                <a:cs typeface="Barlow Bold" pitchFamily="34" charset="-120"/>
              </a:rPr>
              <a:t>Random Forest</a:t>
            </a:r>
            <a:endParaRPr lang="en-US" sz="1800" dirty="0"/>
          </a:p>
        </p:txBody>
      </p:sp>
      <p:sp>
        <p:nvSpPr>
          <p:cNvPr id="50" name="Text 4">
            <a:extLst>
              <a:ext uri="{FF2B5EF4-FFF2-40B4-BE49-F238E27FC236}">
                <a16:creationId xmlns:a16="http://schemas.microsoft.com/office/drawing/2014/main" id="{BF21392F-604D-EC25-7D9A-8E2ED502956C}"/>
              </a:ext>
            </a:extLst>
          </p:cNvPr>
          <p:cNvSpPr/>
          <p:nvPr/>
        </p:nvSpPr>
        <p:spPr>
          <a:xfrm>
            <a:off x="8151613" y="1316286"/>
            <a:ext cx="4090035" cy="563880"/>
          </a:xfrm>
          <a:prstGeom prst="rect">
            <a:avLst/>
          </a:prstGeom>
          <a:noFill/>
          <a:ln/>
        </p:spPr>
        <p:txBody>
          <a:bodyPr wrap="square" lIns="0" tIns="0" rIns="0" bIns="0" rtlCol="0" anchor="t"/>
          <a:lstStyle/>
          <a:p>
            <a:pPr marL="0" indent="0" algn="l">
              <a:lnSpc>
                <a:spcPts val="2200"/>
              </a:lnSpc>
              <a:buNone/>
            </a:pPr>
            <a:r>
              <a:rPr lang="en-US" sz="1350" dirty="0">
                <a:solidFill>
                  <a:srgbClr val="EEEFF5"/>
                </a:solidFill>
                <a:latin typeface="Montserrat" pitchFamily="34" charset="0"/>
                <a:ea typeface="Montserrat" pitchFamily="34" charset="-122"/>
                <a:cs typeface="Montserrat" pitchFamily="34" charset="-120"/>
              </a:rPr>
              <a:t>Ensemble method with improved generalization</a:t>
            </a:r>
            <a:endParaRPr lang="en-US" sz="1350" dirty="0"/>
          </a:p>
        </p:txBody>
      </p:sp>
      <p:pic>
        <p:nvPicPr>
          <p:cNvPr id="51" name="Image 3" descr="preencoded.png">
            <a:extLst>
              <a:ext uri="{FF2B5EF4-FFF2-40B4-BE49-F238E27FC236}">
                <a16:creationId xmlns:a16="http://schemas.microsoft.com/office/drawing/2014/main" id="{96E9EF02-8CFC-229C-8259-19291052AE0A}"/>
              </a:ext>
            </a:extLst>
          </p:cNvPr>
          <p:cNvPicPr>
            <a:picLocks noChangeAspect="1"/>
          </p:cNvPicPr>
          <p:nvPr/>
        </p:nvPicPr>
        <p:blipFill>
          <a:blip r:embed="rId3"/>
          <a:stretch>
            <a:fillRect/>
          </a:stretch>
        </p:blipFill>
        <p:spPr>
          <a:xfrm>
            <a:off x="7565907" y="1353936"/>
            <a:ext cx="263485" cy="329446"/>
          </a:xfrm>
          <a:prstGeom prst="rect">
            <a:avLst/>
          </a:prstGeom>
        </p:spPr>
      </p:pic>
      <p:sp>
        <p:nvSpPr>
          <p:cNvPr id="52" name="Text 5">
            <a:extLst>
              <a:ext uri="{FF2B5EF4-FFF2-40B4-BE49-F238E27FC236}">
                <a16:creationId xmlns:a16="http://schemas.microsoft.com/office/drawing/2014/main" id="{79A31B26-B14A-EEAF-BD33-839F3F3BD388}"/>
              </a:ext>
            </a:extLst>
          </p:cNvPr>
          <p:cNvSpPr/>
          <p:nvPr/>
        </p:nvSpPr>
        <p:spPr>
          <a:xfrm>
            <a:off x="8151613" y="3902940"/>
            <a:ext cx="2462332" cy="289679"/>
          </a:xfrm>
          <a:prstGeom prst="rect">
            <a:avLst/>
          </a:prstGeom>
          <a:noFill/>
          <a:ln/>
        </p:spPr>
        <p:txBody>
          <a:bodyPr wrap="none" lIns="0" tIns="0" rIns="0" bIns="0" rtlCol="0" anchor="t"/>
          <a:lstStyle/>
          <a:p>
            <a:pPr marL="0" indent="0" algn="l">
              <a:lnSpc>
                <a:spcPts val="2250"/>
              </a:lnSpc>
              <a:buNone/>
            </a:pPr>
            <a:r>
              <a:rPr lang="en-US" sz="1800" b="1" dirty="0">
                <a:solidFill>
                  <a:srgbClr val="EEEFF5"/>
                </a:solidFill>
                <a:latin typeface="Barlow Bold" pitchFamily="34" charset="0"/>
                <a:ea typeface="Barlow Bold" pitchFamily="34" charset="-122"/>
                <a:cs typeface="Barlow Bold" pitchFamily="34" charset="-120"/>
              </a:rPr>
              <a:t>Logistic Regression</a:t>
            </a:r>
            <a:endParaRPr lang="en-US" sz="1800" dirty="0"/>
          </a:p>
        </p:txBody>
      </p:sp>
      <p:sp>
        <p:nvSpPr>
          <p:cNvPr id="53" name="Text 6">
            <a:extLst>
              <a:ext uri="{FF2B5EF4-FFF2-40B4-BE49-F238E27FC236}">
                <a16:creationId xmlns:a16="http://schemas.microsoft.com/office/drawing/2014/main" id="{D6CA6402-B2B5-AECB-772B-6EDF628CE4B6}"/>
              </a:ext>
            </a:extLst>
          </p:cNvPr>
          <p:cNvSpPr/>
          <p:nvPr/>
        </p:nvSpPr>
        <p:spPr>
          <a:xfrm>
            <a:off x="8151613" y="4298228"/>
            <a:ext cx="4090035" cy="281940"/>
          </a:xfrm>
          <a:prstGeom prst="rect">
            <a:avLst/>
          </a:prstGeom>
          <a:noFill/>
          <a:ln/>
        </p:spPr>
        <p:txBody>
          <a:bodyPr wrap="none" lIns="0" tIns="0" rIns="0" bIns="0" rtlCol="0" anchor="t"/>
          <a:lstStyle/>
          <a:p>
            <a:pPr marL="0" indent="0" algn="l">
              <a:lnSpc>
                <a:spcPts val="2200"/>
              </a:lnSpc>
              <a:buNone/>
            </a:pPr>
            <a:r>
              <a:rPr lang="en-US" sz="1350" dirty="0">
                <a:solidFill>
                  <a:srgbClr val="EEEFF5"/>
                </a:solidFill>
                <a:latin typeface="Montserrat" pitchFamily="34" charset="0"/>
                <a:ea typeface="Montserrat" pitchFamily="34" charset="-122"/>
                <a:cs typeface="Montserrat" pitchFamily="34" charset="-120"/>
              </a:rPr>
              <a:t>Simple and interpretable model for binary classification problems</a:t>
            </a:r>
            <a:endParaRPr lang="en-US" sz="1350" dirty="0"/>
          </a:p>
        </p:txBody>
      </p:sp>
      <p:pic>
        <p:nvPicPr>
          <p:cNvPr id="54" name="Image 5" descr="preencoded.png">
            <a:extLst>
              <a:ext uri="{FF2B5EF4-FFF2-40B4-BE49-F238E27FC236}">
                <a16:creationId xmlns:a16="http://schemas.microsoft.com/office/drawing/2014/main" id="{14E0A1BF-68F8-44BE-68F1-3067B6A454C9}"/>
              </a:ext>
            </a:extLst>
          </p:cNvPr>
          <p:cNvPicPr>
            <a:picLocks noChangeAspect="1"/>
          </p:cNvPicPr>
          <p:nvPr/>
        </p:nvPicPr>
        <p:blipFill>
          <a:blip r:embed="rId4"/>
          <a:stretch>
            <a:fillRect/>
          </a:stretch>
        </p:blipFill>
        <p:spPr>
          <a:xfrm>
            <a:off x="7556829" y="4092383"/>
            <a:ext cx="263485" cy="329446"/>
          </a:xfrm>
          <a:prstGeom prst="rect">
            <a:avLst/>
          </a:prstGeom>
        </p:spPr>
      </p:pic>
      <p:sp>
        <p:nvSpPr>
          <p:cNvPr id="55" name="Text 7">
            <a:extLst>
              <a:ext uri="{FF2B5EF4-FFF2-40B4-BE49-F238E27FC236}">
                <a16:creationId xmlns:a16="http://schemas.microsoft.com/office/drawing/2014/main" id="{72A53B51-7929-4909-3946-B6A6AB4DB07B}"/>
              </a:ext>
            </a:extLst>
          </p:cNvPr>
          <p:cNvSpPr/>
          <p:nvPr/>
        </p:nvSpPr>
        <p:spPr>
          <a:xfrm>
            <a:off x="3553502" y="3904908"/>
            <a:ext cx="2317790" cy="289679"/>
          </a:xfrm>
          <a:prstGeom prst="rect">
            <a:avLst/>
          </a:prstGeom>
          <a:noFill/>
          <a:ln/>
        </p:spPr>
        <p:txBody>
          <a:bodyPr wrap="none" lIns="0" tIns="0" rIns="0" bIns="0" rtlCol="0" anchor="t"/>
          <a:lstStyle/>
          <a:p>
            <a:pPr marL="0" indent="0" algn="r">
              <a:lnSpc>
                <a:spcPts val="2250"/>
              </a:lnSpc>
              <a:buNone/>
            </a:pPr>
            <a:r>
              <a:rPr lang="en-US" sz="1800" b="1" dirty="0">
                <a:solidFill>
                  <a:srgbClr val="EEEFF5"/>
                </a:solidFill>
                <a:latin typeface="Barlow Bold" pitchFamily="34" charset="0"/>
                <a:ea typeface="Barlow Bold" pitchFamily="34" charset="-122"/>
                <a:cs typeface="Barlow Bold" pitchFamily="34" charset="-120"/>
              </a:rPr>
              <a:t>K-Nearest Neighbors</a:t>
            </a:r>
            <a:endParaRPr lang="en-US" sz="1800" dirty="0"/>
          </a:p>
        </p:txBody>
      </p:sp>
      <p:sp>
        <p:nvSpPr>
          <p:cNvPr id="56" name="Text 8">
            <a:extLst>
              <a:ext uri="{FF2B5EF4-FFF2-40B4-BE49-F238E27FC236}">
                <a16:creationId xmlns:a16="http://schemas.microsoft.com/office/drawing/2014/main" id="{669ECBC8-EB34-8F32-38D7-A9CC8CF1E3F5}"/>
              </a:ext>
            </a:extLst>
          </p:cNvPr>
          <p:cNvSpPr/>
          <p:nvPr/>
        </p:nvSpPr>
        <p:spPr>
          <a:xfrm>
            <a:off x="1781376" y="4300196"/>
            <a:ext cx="4089916" cy="281940"/>
          </a:xfrm>
          <a:prstGeom prst="rect">
            <a:avLst/>
          </a:prstGeom>
          <a:noFill/>
          <a:ln/>
        </p:spPr>
        <p:txBody>
          <a:bodyPr wrap="none" lIns="0" tIns="0" rIns="0" bIns="0" rtlCol="0" anchor="t"/>
          <a:lstStyle/>
          <a:p>
            <a:pPr marL="0" indent="0" algn="r">
              <a:lnSpc>
                <a:spcPts val="2200"/>
              </a:lnSpc>
              <a:buNone/>
            </a:pPr>
            <a:r>
              <a:rPr lang="en-US" sz="1350" dirty="0">
                <a:solidFill>
                  <a:srgbClr val="EEEFF5"/>
                </a:solidFill>
                <a:latin typeface="Montserrat" pitchFamily="34" charset="0"/>
                <a:ea typeface="Montserrat" pitchFamily="34" charset="-122"/>
                <a:cs typeface="Montserrat" pitchFamily="34" charset="-120"/>
              </a:rPr>
              <a:t>Classifies based on similarity to nearby data points</a:t>
            </a:r>
            <a:endParaRPr lang="en-US" sz="1350" dirty="0"/>
          </a:p>
        </p:txBody>
      </p:sp>
      <p:sp>
        <p:nvSpPr>
          <p:cNvPr id="58" name="Text 3">
            <a:extLst>
              <a:ext uri="{FF2B5EF4-FFF2-40B4-BE49-F238E27FC236}">
                <a16:creationId xmlns:a16="http://schemas.microsoft.com/office/drawing/2014/main" id="{6D9FFA1E-720A-B520-B591-652843E4BC63}"/>
              </a:ext>
            </a:extLst>
          </p:cNvPr>
          <p:cNvSpPr/>
          <p:nvPr/>
        </p:nvSpPr>
        <p:spPr>
          <a:xfrm>
            <a:off x="8818190" y="2346656"/>
            <a:ext cx="2317790" cy="289679"/>
          </a:xfrm>
          <a:prstGeom prst="rect">
            <a:avLst/>
          </a:prstGeom>
          <a:noFill/>
          <a:ln/>
        </p:spPr>
        <p:txBody>
          <a:bodyPr wrap="none" lIns="0" tIns="0" rIns="0" bIns="0" rtlCol="0" anchor="t"/>
          <a:lstStyle/>
          <a:p>
            <a:pPr marL="0" indent="0" algn="l">
              <a:lnSpc>
                <a:spcPts val="2250"/>
              </a:lnSpc>
              <a:buNone/>
            </a:pPr>
            <a:r>
              <a:rPr lang="en-US" sz="1800" b="1" dirty="0" err="1">
                <a:solidFill>
                  <a:srgbClr val="EEEFF5"/>
                </a:solidFill>
                <a:latin typeface="Barlow Bold" pitchFamily="34" charset="0"/>
                <a:ea typeface="Barlow Bold" pitchFamily="34" charset="-122"/>
                <a:cs typeface="Barlow Bold" pitchFamily="34" charset="-120"/>
              </a:rPr>
              <a:t>XGBoost</a:t>
            </a:r>
            <a:endParaRPr lang="en-US" sz="1800" dirty="0"/>
          </a:p>
        </p:txBody>
      </p:sp>
      <p:sp>
        <p:nvSpPr>
          <p:cNvPr id="59" name="Text 4">
            <a:extLst>
              <a:ext uri="{FF2B5EF4-FFF2-40B4-BE49-F238E27FC236}">
                <a16:creationId xmlns:a16="http://schemas.microsoft.com/office/drawing/2014/main" id="{C78F7E31-A18D-EACC-03F0-D66E294965D8}"/>
              </a:ext>
            </a:extLst>
          </p:cNvPr>
          <p:cNvSpPr/>
          <p:nvPr/>
        </p:nvSpPr>
        <p:spPr>
          <a:xfrm>
            <a:off x="8818190" y="2741944"/>
            <a:ext cx="4090035" cy="563880"/>
          </a:xfrm>
          <a:prstGeom prst="rect">
            <a:avLst/>
          </a:prstGeom>
          <a:noFill/>
          <a:ln/>
        </p:spPr>
        <p:txBody>
          <a:bodyPr wrap="square" lIns="0" tIns="0" rIns="0" bIns="0" rtlCol="0" anchor="t"/>
          <a:lstStyle/>
          <a:p>
            <a:pPr marL="0" indent="0" algn="l">
              <a:lnSpc>
                <a:spcPts val="2200"/>
              </a:lnSpc>
              <a:buNone/>
            </a:pPr>
            <a:r>
              <a:rPr lang="en-US" sz="1350" dirty="0">
                <a:solidFill>
                  <a:srgbClr val="EEEFF5"/>
                </a:solidFill>
                <a:latin typeface="Montserrat" pitchFamily="34" charset="0"/>
                <a:ea typeface="Montserrat" pitchFamily="34" charset="-122"/>
                <a:cs typeface="Montserrat" pitchFamily="34" charset="-120"/>
              </a:rPr>
              <a:t>Boosted tree model optimized for performance and speed; handles complex patterns</a:t>
            </a:r>
            <a:endParaRPr lang="en-US" sz="1350" dirty="0"/>
          </a:p>
        </p:txBody>
      </p:sp>
      <p:sp>
        <p:nvSpPr>
          <p:cNvPr id="60" name="Text 1">
            <a:extLst>
              <a:ext uri="{FF2B5EF4-FFF2-40B4-BE49-F238E27FC236}">
                <a16:creationId xmlns:a16="http://schemas.microsoft.com/office/drawing/2014/main" id="{15AA8CFB-15E2-8B51-1831-FD60195086F1}"/>
              </a:ext>
            </a:extLst>
          </p:cNvPr>
          <p:cNvSpPr/>
          <p:nvPr/>
        </p:nvSpPr>
        <p:spPr>
          <a:xfrm>
            <a:off x="2951336" y="2348347"/>
            <a:ext cx="2317790" cy="289679"/>
          </a:xfrm>
          <a:prstGeom prst="rect">
            <a:avLst/>
          </a:prstGeom>
          <a:noFill/>
          <a:ln/>
        </p:spPr>
        <p:txBody>
          <a:bodyPr wrap="none" lIns="0" tIns="0" rIns="0" bIns="0" rtlCol="0" anchor="t"/>
          <a:lstStyle/>
          <a:p>
            <a:pPr marL="0" indent="0" algn="r">
              <a:lnSpc>
                <a:spcPts val="2250"/>
              </a:lnSpc>
              <a:buNone/>
            </a:pPr>
            <a:r>
              <a:rPr lang="en-US" sz="1800" b="1" dirty="0">
                <a:solidFill>
                  <a:srgbClr val="EEEFF5"/>
                </a:solidFill>
                <a:latin typeface="Barlow Bold" pitchFamily="34" charset="0"/>
                <a:ea typeface="Barlow Bold" pitchFamily="34" charset="-122"/>
                <a:cs typeface="Barlow Bold" pitchFamily="34" charset="-120"/>
              </a:rPr>
              <a:t>Naive Bayes</a:t>
            </a:r>
            <a:endParaRPr lang="en-US" sz="1800" dirty="0"/>
          </a:p>
        </p:txBody>
      </p:sp>
      <p:sp>
        <p:nvSpPr>
          <p:cNvPr id="61" name="Text 2">
            <a:extLst>
              <a:ext uri="{FF2B5EF4-FFF2-40B4-BE49-F238E27FC236}">
                <a16:creationId xmlns:a16="http://schemas.microsoft.com/office/drawing/2014/main" id="{E27E99D4-8517-5C68-26A4-758B4690B000}"/>
              </a:ext>
            </a:extLst>
          </p:cNvPr>
          <p:cNvSpPr/>
          <p:nvPr/>
        </p:nvSpPr>
        <p:spPr>
          <a:xfrm>
            <a:off x="1179210" y="2743635"/>
            <a:ext cx="4089916" cy="563880"/>
          </a:xfrm>
          <a:prstGeom prst="rect">
            <a:avLst/>
          </a:prstGeom>
          <a:noFill/>
          <a:ln/>
        </p:spPr>
        <p:txBody>
          <a:bodyPr wrap="square" lIns="0" tIns="0" rIns="0" bIns="0" rtlCol="0" anchor="t"/>
          <a:lstStyle/>
          <a:p>
            <a:pPr marL="0" indent="0" algn="r">
              <a:lnSpc>
                <a:spcPts val="2200"/>
              </a:lnSpc>
              <a:buNone/>
            </a:pPr>
            <a:r>
              <a:rPr lang="en-US" sz="1350" dirty="0">
                <a:solidFill>
                  <a:srgbClr val="EEEFF5"/>
                </a:solidFill>
                <a:latin typeface="Montserrat" pitchFamily="34" charset="0"/>
                <a:ea typeface="Montserrat" pitchFamily="34" charset="-122"/>
                <a:cs typeface="Montserrat" pitchFamily="34" charset="-120"/>
              </a:rPr>
              <a:t>Fast and efficient for text and categorical data</a:t>
            </a:r>
            <a:endParaRPr lang="en-US" sz="1350" dirty="0"/>
          </a:p>
        </p:txBody>
      </p:sp>
      <p:sp>
        <p:nvSpPr>
          <p:cNvPr id="62" name="TextBox 61">
            <a:extLst>
              <a:ext uri="{FF2B5EF4-FFF2-40B4-BE49-F238E27FC236}">
                <a16:creationId xmlns:a16="http://schemas.microsoft.com/office/drawing/2014/main" id="{E412B7AE-4AE0-C5AD-C206-7FA6B861D2A7}"/>
              </a:ext>
            </a:extLst>
          </p:cNvPr>
          <p:cNvSpPr txBox="1"/>
          <p:nvPr/>
        </p:nvSpPr>
        <p:spPr>
          <a:xfrm>
            <a:off x="8151613" y="2577667"/>
            <a:ext cx="434898" cy="369332"/>
          </a:xfrm>
          <a:prstGeom prst="rect">
            <a:avLst/>
          </a:prstGeom>
          <a:noFill/>
        </p:spPr>
        <p:txBody>
          <a:bodyPr wrap="square">
            <a:spAutoFit/>
          </a:bodyPr>
          <a:lstStyle/>
          <a:p>
            <a:r>
              <a:rPr lang="en-IN" dirty="0"/>
              <a:t>⚡</a:t>
            </a:r>
          </a:p>
        </p:txBody>
      </p:sp>
      <p:sp>
        <p:nvSpPr>
          <p:cNvPr id="63" name="TextBox 62">
            <a:extLst>
              <a:ext uri="{FF2B5EF4-FFF2-40B4-BE49-F238E27FC236}">
                <a16:creationId xmlns:a16="http://schemas.microsoft.com/office/drawing/2014/main" id="{BF12BEA6-F6A0-0EAC-185C-E05A30A20786}"/>
              </a:ext>
            </a:extLst>
          </p:cNvPr>
          <p:cNvSpPr txBox="1"/>
          <p:nvPr/>
        </p:nvSpPr>
        <p:spPr>
          <a:xfrm>
            <a:off x="5513825" y="2574756"/>
            <a:ext cx="468351" cy="369332"/>
          </a:xfrm>
          <a:prstGeom prst="rect">
            <a:avLst/>
          </a:prstGeom>
          <a:noFill/>
        </p:spPr>
        <p:txBody>
          <a:bodyPr wrap="square">
            <a:spAutoFit/>
          </a:bodyPr>
          <a:lstStyle/>
          <a:p>
            <a:r>
              <a:rPr lang="en-IN" dirty="0"/>
              <a:t>🧠</a:t>
            </a:r>
          </a:p>
        </p:txBody>
      </p:sp>
      <p:sp>
        <p:nvSpPr>
          <p:cNvPr id="65" name="TextBox 64">
            <a:extLst>
              <a:ext uri="{FF2B5EF4-FFF2-40B4-BE49-F238E27FC236}">
                <a16:creationId xmlns:a16="http://schemas.microsoft.com/office/drawing/2014/main" id="{C8ACB588-B146-8BD6-A682-CB347E152CD1}"/>
              </a:ext>
            </a:extLst>
          </p:cNvPr>
          <p:cNvSpPr txBox="1"/>
          <p:nvPr/>
        </p:nvSpPr>
        <p:spPr>
          <a:xfrm>
            <a:off x="6240589" y="4069287"/>
            <a:ext cx="434898" cy="375638"/>
          </a:xfrm>
          <a:prstGeom prst="rect">
            <a:avLst/>
          </a:prstGeom>
          <a:noFill/>
        </p:spPr>
        <p:txBody>
          <a:bodyPr wrap="square">
            <a:spAutoFit/>
          </a:bodyPr>
          <a:lstStyle/>
          <a:p>
            <a:r>
              <a:rPr lang="en-IN" dirty="0"/>
              <a:t>👥</a:t>
            </a:r>
          </a:p>
        </p:txBody>
      </p:sp>
    </p:spTree>
    <p:extLst>
      <p:ext uri="{BB962C8B-B14F-4D97-AF65-F5344CB8AC3E}">
        <p14:creationId xmlns:p14="http://schemas.microsoft.com/office/powerpoint/2010/main" val="3282651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1FE1500-02A2-D8E0-BE28-4A12F833BE7B}"/>
              </a:ext>
            </a:extLst>
          </p:cNvPr>
          <p:cNvSpPr/>
          <p:nvPr/>
        </p:nvSpPr>
        <p:spPr>
          <a:xfrm>
            <a:off x="503621" y="587686"/>
            <a:ext cx="4707969"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ea typeface="Barlow Bold" pitchFamily="34" charset="-122"/>
                <a:cs typeface="Barlow Bold" pitchFamily="34" charset="-120"/>
              </a:rPr>
              <a:t>Stratified K-Fold Cross-Validation</a:t>
            </a:r>
            <a:endParaRPr lang="en-US" sz="3700" dirty="0"/>
          </a:p>
        </p:txBody>
      </p:sp>
      <p:sp>
        <p:nvSpPr>
          <p:cNvPr id="6" name="Shape 1">
            <a:extLst>
              <a:ext uri="{FF2B5EF4-FFF2-40B4-BE49-F238E27FC236}">
                <a16:creationId xmlns:a16="http://schemas.microsoft.com/office/drawing/2014/main" id="{B40E948A-7578-702D-3BBE-DAED06961F25}"/>
              </a:ext>
            </a:extLst>
          </p:cNvPr>
          <p:cNvSpPr/>
          <p:nvPr/>
        </p:nvSpPr>
        <p:spPr>
          <a:xfrm>
            <a:off x="496000" y="2333383"/>
            <a:ext cx="6526659" cy="3967282"/>
          </a:xfrm>
          <a:prstGeom prst="roundRect">
            <a:avLst>
              <a:gd name="adj" fmla="val 6224"/>
            </a:avLst>
          </a:prstGeom>
          <a:noFill/>
          <a:ln w="7620">
            <a:solidFill>
              <a:srgbClr val="FFFFFF">
                <a:alpha val="24000"/>
              </a:srgbClr>
            </a:solidFill>
            <a:prstDash val="solid"/>
          </a:ln>
        </p:spPr>
        <p:txBody>
          <a:bodyPr/>
          <a:lstStyle/>
          <a:p>
            <a:endParaRPr lang="en-US"/>
          </a:p>
        </p:txBody>
      </p:sp>
      <p:sp>
        <p:nvSpPr>
          <p:cNvPr id="7" name="Shape 2">
            <a:extLst>
              <a:ext uri="{FF2B5EF4-FFF2-40B4-BE49-F238E27FC236}">
                <a16:creationId xmlns:a16="http://schemas.microsoft.com/office/drawing/2014/main" id="{14B0EE9D-A9D5-3481-308E-56C50973121D}"/>
              </a:ext>
            </a:extLst>
          </p:cNvPr>
          <p:cNvSpPr/>
          <p:nvPr/>
        </p:nvSpPr>
        <p:spPr>
          <a:xfrm>
            <a:off x="503621" y="2341003"/>
            <a:ext cx="6519038" cy="565666"/>
          </a:xfrm>
          <a:prstGeom prst="rect">
            <a:avLst/>
          </a:prstGeom>
          <a:solidFill>
            <a:srgbClr val="FFFFFF">
              <a:alpha val="4000"/>
            </a:srgbClr>
          </a:solidFill>
          <a:ln/>
        </p:spPr>
        <p:txBody>
          <a:bodyPr/>
          <a:lstStyle/>
          <a:p>
            <a:endParaRPr lang="en-US"/>
          </a:p>
        </p:txBody>
      </p:sp>
      <p:sp>
        <p:nvSpPr>
          <p:cNvPr id="8" name="Text 3">
            <a:extLst>
              <a:ext uri="{FF2B5EF4-FFF2-40B4-BE49-F238E27FC236}">
                <a16:creationId xmlns:a16="http://schemas.microsoft.com/office/drawing/2014/main" id="{DD5E0263-9E2A-3212-6714-1938DDCBDBCA}"/>
              </a:ext>
            </a:extLst>
          </p:cNvPr>
          <p:cNvSpPr/>
          <p:nvPr/>
        </p:nvSpPr>
        <p:spPr>
          <a:xfrm>
            <a:off x="700669" y="2466495"/>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Model</a:t>
            </a:r>
            <a:endParaRPr lang="en-US" sz="1500" dirty="0"/>
          </a:p>
        </p:txBody>
      </p:sp>
      <p:sp>
        <p:nvSpPr>
          <p:cNvPr id="9" name="Text 4">
            <a:extLst>
              <a:ext uri="{FF2B5EF4-FFF2-40B4-BE49-F238E27FC236}">
                <a16:creationId xmlns:a16="http://schemas.microsoft.com/office/drawing/2014/main" id="{0F28950D-E364-AD4C-EF8E-3D337256F4F1}"/>
              </a:ext>
            </a:extLst>
          </p:cNvPr>
          <p:cNvSpPr/>
          <p:nvPr/>
        </p:nvSpPr>
        <p:spPr>
          <a:xfrm>
            <a:off x="2911302" y="2466495"/>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Mean Accuracy</a:t>
            </a:r>
            <a:endParaRPr lang="en-US" sz="1500" dirty="0"/>
          </a:p>
        </p:txBody>
      </p:sp>
      <p:sp>
        <p:nvSpPr>
          <p:cNvPr id="10" name="Text 5">
            <a:extLst>
              <a:ext uri="{FF2B5EF4-FFF2-40B4-BE49-F238E27FC236}">
                <a16:creationId xmlns:a16="http://schemas.microsoft.com/office/drawing/2014/main" id="{A296A1EB-9C00-8DC9-BAE6-41EC6EEA072A}"/>
              </a:ext>
            </a:extLst>
          </p:cNvPr>
          <p:cNvSpPr/>
          <p:nvPr/>
        </p:nvSpPr>
        <p:spPr>
          <a:xfrm>
            <a:off x="5118126" y="2466495"/>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Standard Deviation</a:t>
            </a:r>
            <a:endParaRPr lang="en-US" sz="1500" dirty="0"/>
          </a:p>
        </p:txBody>
      </p:sp>
      <p:sp>
        <p:nvSpPr>
          <p:cNvPr id="14" name="Shape 9">
            <a:extLst>
              <a:ext uri="{FF2B5EF4-FFF2-40B4-BE49-F238E27FC236}">
                <a16:creationId xmlns:a16="http://schemas.microsoft.com/office/drawing/2014/main" id="{D9398B30-D573-1056-DF32-8D96DB764761}"/>
              </a:ext>
            </a:extLst>
          </p:cNvPr>
          <p:cNvSpPr/>
          <p:nvPr/>
        </p:nvSpPr>
        <p:spPr>
          <a:xfrm>
            <a:off x="503621" y="2906669"/>
            <a:ext cx="6519038" cy="565666"/>
          </a:xfrm>
          <a:prstGeom prst="rect">
            <a:avLst/>
          </a:prstGeom>
          <a:solidFill>
            <a:srgbClr val="000000">
              <a:alpha val="4000"/>
            </a:srgbClr>
          </a:solidFill>
          <a:ln/>
        </p:spPr>
        <p:txBody>
          <a:bodyPr/>
          <a:lstStyle/>
          <a:p>
            <a:endParaRPr lang="en-US"/>
          </a:p>
        </p:txBody>
      </p:sp>
      <p:sp>
        <p:nvSpPr>
          <p:cNvPr id="15" name="Text 10">
            <a:extLst>
              <a:ext uri="{FF2B5EF4-FFF2-40B4-BE49-F238E27FC236}">
                <a16:creationId xmlns:a16="http://schemas.microsoft.com/office/drawing/2014/main" id="{394DAD37-C7A6-1D59-6C3A-4EB28723DA3B}"/>
              </a:ext>
            </a:extLst>
          </p:cNvPr>
          <p:cNvSpPr/>
          <p:nvPr/>
        </p:nvSpPr>
        <p:spPr>
          <a:xfrm>
            <a:off x="700669" y="3032161"/>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Logistic Regression</a:t>
            </a:r>
            <a:endParaRPr lang="en-US" sz="1500" dirty="0"/>
          </a:p>
        </p:txBody>
      </p:sp>
      <p:sp>
        <p:nvSpPr>
          <p:cNvPr id="16" name="Text 11">
            <a:extLst>
              <a:ext uri="{FF2B5EF4-FFF2-40B4-BE49-F238E27FC236}">
                <a16:creationId xmlns:a16="http://schemas.microsoft.com/office/drawing/2014/main" id="{4F6EA8FE-598A-7638-8E50-91744AA07683}"/>
              </a:ext>
            </a:extLst>
          </p:cNvPr>
          <p:cNvSpPr/>
          <p:nvPr/>
        </p:nvSpPr>
        <p:spPr>
          <a:xfrm>
            <a:off x="2911302" y="3032161"/>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0.9315</a:t>
            </a:r>
            <a:endParaRPr lang="en-US" sz="1500" dirty="0"/>
          </a:p>
        </p:txBody>
      </p:sp>
      <p:sp>
        <p:nvSpPr>
          <p:cNvPr id="17" name="Text 12">
            <a:extLst>
              <a:ext uri="{FF2B5EF4-FFF2-40B4-BE49-F238E27FC236}">
                <a16:creationId xmlns:a16="http://schemas.microsoft.com/office/drawing/2014/main" id="{32A857CB-035B-B2A8-7493-224EA9A22501}"/>
              </a:ext>
            </a:extLst>
          </p:cNvPr>
          <p:cNvSpPr/>
          <p:nvPr/>
        </p:nvSpPr>
        <p:spPr>
          <a:xfrm>
            <a:off x="5118126" y="3032161"/>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0.0044</a:t>
            </a:r>
            <a:endParaRPr lang="en-US" sz="1500" dirty="0"/>
          </a:p>
        </p:txBody>
      </p:sp>
      <p:sp>
        <p:nvSpPr>
          <p:cNvPr id="21" name="Shape 16">
            <a:extLst>
              <a:ext uri="{FF2B5EF4-FFF2-40B4-BE49-F238E27FC236}">
                <a16:creationId xmlns:a16="http://schemas.microsoft.com/office/drawing/2014/main" id="{05CE1862-4BD8-2205-34FF-60053144D35B}"/>
              </a:ext>
            </a:extLst>
          </p:cNvPr>
          <p:cNvSpPr/>
          <p:nvPr/>
        </p:nvSpPr>
        <p:spPr>
          <a:xfrm>
            <a:off x="503621" y="3472335"/>
            <a:ext cx="6519038" cy="565666"/>
          </a:xfrm>
          <a:prstGeom prst="rect">
            <a:avLst/>
          </a:prstGeom>
          <a:solidFill>
            <a:srgbClr val="FFFFFF">
              <a:alpha val="4000"/>
            </a:srgbClr>
          </a:solidFill>
          <a:ln/>
        </p:spPr>
        <p:txBody>
          <a:bodyPr/>
          <a:lstStyle/>
          <a:p>
            <a:endParaRPr lang="en-US"/>
          </a:p>
        </p:txBody>
      </p:sp>
      <p:sp>
        <p:nvSpPr>
          <p:cNvPr id="22" name="Text 17">
            <a:extLst>
              <a:ext uri="{FF2B5EF4-FFF2-40B4-BE49-F238E27FC236}">
                <a16:creationId xmlns:a16="http://schemas.microsoft.com/office/drawing/2014/main" id="{0A5CB2AF-3821-3D48-1F8D-E47E1F38F78B}"/>
              </a:ext>
            </a:extLst>
          </p:cNvPr>
          <p:cNvSpPr/>
          <p:nvPr/>
        </p:nvSpPr>
        <p:spPr>
          <a:xfrm>
            <a:off x="700669" y="3597827"/>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Naive Bayes</a:t>
            </a:r>
            <a:endParaRPr lang="en-US" sz="1500" dirty="0"/>
          </a:p>
        </p:txBody>
      </p:sp>
      <p:sp>
        <p:nvSpPr>
          <p:cNvPr id="23" name="Text 18">
            <a:extLst>
              <a:ext uri="{FF2B5EF4-FFF2-40B4-BE49-F238E27FC236}">
                <a16:creationId xmlns:a16="http://schemas.microsoft.com/office/drawing/2014/main" id="{87834A49-3BCE-4962-A2C9-71E9BAAE41D7}"/>
              </a:ext>
            </a:extLst>
          </p:cNvPr>
          <p:cNvSpPr/>
          <p:nvPr/>
        </p:nvSpPr>
        <p:spPr>
          <a:xfrm>
            <a:off x="2911302" y="3597827"/>
            <a:ext cx="1806059" cy="314682"/>
          </a:xfrm>
          <a:prstGeom prst="rect">
            <a:avLst/>
          </a:prstGeom>
          <a:noFill/>
          <a:ln/>
        </p:spPr>
        <p:txBody>
          <a:bodyPr wrap="none" lIns="0" tIns="0" rIns="0" bIns="0" rtlCol="0" anchor="t"/>
          <a:lstStyle/>
          <a:p>
            <a:pPr marL="0" indent="0" algn="l">
              <a:lnSpc>
                <a:spcPts val="2450"/>
              </a:lnSpc>
              <a:buNone/>
            </a:pPr>
            <a:r>
              <a:rPr lang="en-IN" sz="1600" b="0" i="0" dirty="0">
                <a:solidFill>
                  <a:srgbClr val="CCCCCC"/>
                </a:solidFill>
                <a:effectLst/>
                <a:latin typeface="Segoe WPC"/>
              </a:rPr>
              <a:t>0.8103</a:t>
            </a:r>
            <a:endParaRPr lang="en-US" sz="1500" dirty="0"/>
          </a:p>
        </p:txBody>
      </p:sp>
      <p:sp>
        <p:nvSpPr>
          <p:cNvPr id="24" name="Text 19">
            <a:extLst>
              <a:ext uri="{FF2B5EF4-FFF2-40B4-BE49-F238E27FC236}">
                <a16:creationId xmlns:a16="http://schemas.microsoft.com/office/drawing/2014/main" id="{07877C57-53B3-B7C5-8D59-AC02291C634C}"/>
              </a:ext>
            </a:extLst>
          </p:cNvPr>
          <p:cNvSpPr/>
          <p:nvPr/>
        </p:nvSpPr>
        <p:spPr>
          <a:xfrm>
            <a:off x="5118126" y="3597827"/>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0.0046</a:t>
            </a:r>
            <a:endParaRPr lang="en-US" sz="1500" dirty="0"/>
          </a:p>
        </p:txBody>
      </p:sp>
      <p:sp>
        <p:nvSpPr>
          <p:cNvPr id="28" name="Shape 23">
            <a:extLst>
              <a:ext uri="{FF2B5EF4-FFF2-40B4-BE49-F238E27FC236}">
                <a16:creationId xmlns:a16="http://schemas.microsoft.com/office/drawing/2014/main" id="{22D3D047-93FA-4F7C-58F8-6CB849B33E5A}"/>
              </a:ext>
            </a:extLst>
          </p:cNvPr>
          <p:cNvSpPr/>
          <p:nvPr/>
        </p:nvSpPr>
        <p:spPr>
          <a:xfrm>
            <a:off x="503621" y="4038001"/>
            <a:ext cx="6519038" cy="565666"/>
          </a:xfrm>
          <a:prstGeom prst="rect">
            <a:avLst/>
          </a:prstGeom>
          <a:solidFill>
            <a:srgbClr val="000000">
              <a:alpha val="4000"/>
            </a:srgbClr>
          </a:solidFill>
          <a:ln/>
        </p:spPr>
        <p:txBody>
          <a:bodyPr/>
          <a:lstStyle/>
          <a:p>
            <a:endParaRPr lang="en-US"/>
          </a:p>
        </p:txBody>
      </p:sp>
      <p:sp>
        <p:nvSpPr>
          <p:cNvPr id="29" name="Text 24">
            <a:extLst>
              <a:ext uri="{FF2B5EF4-FFF2-40B4-BE49-F238E27FC236}">
                <a16:creationId xmlns:a16="http://schemas.microsoft.com/office/drawing/2014/main" id="{A446DA1A-03F9-6286-6D25-0750931C2E97}"/>
              </a:ext>
            </a:extLst>
          </p:cNvPr>
          <p:cNvSpPr/>
          <p:nvPr/>
        </p:nvSpPr>
        <p:spPr>
          <a:xfrm>
            <a:off x="700669" y="416349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K-Nearest Neighbors</a:t>
            </a:r>
            <a:endParaRPr lang="en-US" sz="1500" dirty="0"/>
          </a:p>
        </p:txBody>
      </p:sp>
      <p:sp>
        <p:nvSpPr>
          <p:cNvPr id="30" name="Text 25">
            <a:extLst>
              <a:ext uri="{FF2B5EF4-FFF2-40B4-BE49-F238E27FC236}">
                <a16:creationId xmlns:a16="http://schemas.microsoft.com/office/drawing/2014/main" id="{F5A78B8C-111D-F8F2-475F-D92FDFA46AB5}"/>
              </a:ext>
            </a:extLst>
          </p:cNvPr>
          <p:cNvSpPr/>
          <p:nvPr/>
        </p:nvSpPr>
        <p:spPr>
          <a:xfrm>
            <a:off x="2911302" y="416349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0.9132</a:t>
            </a:r>
            <a:endParaRPr lang="en-US" sz="1500" dirty="0"/>
          </a:p>
        </p:txBody>
      </p:sp>
      <p:sp>
        <p:nvSpPr>
          <p:cNvPr id="31" name="Text 26">
            <a:extLst>
              <a:ext uri="{FF2B5EF4-FFF2-40B4-BE49-F238E27FC236}">
                <a16:creationId xmlns:a16="http://schemas.microsoft.com/office/drawing/2014/main" id="{AD24BA27-A855-647E-FB45-E80ED5C07FD9}"/>
              </a:ext>
            </a:extLst>
          </p:cNvPr>
          <p:cNvSpPr/>
          <p:nvPr/>
        </p:nvSpPr>
        <p:spPr>
          <a:xfrm>
            <a:off x="5118126" y="416349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0.0046</a:t>
            </a:r>
            <a:endParaRPr lang="en-US" sz="1500" dirty="0"/>
          </a:p>
        </p:txBody>
      </p:sp>
      <p:sp>
        <p:nvSpPr>
          <p:cNvPr id="35" name="Shape 30">
            <a:extLst>
              <a:ext uri="{FF2B5EF4-FFF2-40B4-BE49-F238E27FC236}">
                <a16:creationId xmlns:a16="http://schemas.microsoft.com/office/drawing/2014/main" id="{B0CBADE4-F310-DF52-6750-88E88A858CEF}"/>
              </a:ext>
            </a:extLst>
          </p:cNvPr>
          <p:cNvSpPr/>
          <p:nvPr/>
        </p:nvSpPr>
        <p:spPr>
          <a:xfrm>
            <a:off x="496000" y="4626890"/>
            <a:ext cx="6519038" cy="565666"/>
          </a:xfrm>
          <a:prstGeom prst="rect">
            <a:avLst/>
          </a:prstGeom>
          <a:solidFill>
            <a:srgbClr val="FFFFFF">
              <a:alpha val="4000"/>
            </a:srgbClr>
          </a:solidFill>
          <a:ln/>
        </p:spPr>
        <p:txBody>
          <a:bodyPr/>
          <a:lstStyle/>
          <a:p>
            <a:endParaRPr lang="en-US" dirty="0"/>
          </a:p>
        </p:txBody>
      </p:sp>
      <p:sp>
        <p:nvSpPr>
          <p:cNvPr id="36" name="Text 31">
            <a:extLst>
              <a:ext uri="{FF2B5EF4-FFF2-40B4-BE49-F238E27FC236}">
                <a16:creationId xmlns:a16="http://schemas.microsoft.com/office/drawing/2014/main" id="{6F66BCF3-BE6B-1C6D-2004-A17EC46B2CF5}"/>
              </a:ext>
            </a:extLst>
          </p:cNvPr>
          <p:cNvSpPr/>
          <p:nvPr/>
        </p:nvSpPr>
        <p:spPr>
          <a:xfrm>
            <a:off x="700669" y="4729159"/>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Decision Tree</a:t>
            </a:r>
            <a:endParaRPr lang="en-US" sz="1500" dirty="0"/>
          </a:p>
        </p:txBody>
      </p:sp>
      <p:sp>
        <p:nvSpPr>
          <p:cNvPr id="37" name="Text 32">
            <a:extLst>
              <a:ext uri="{FF2B5EF4-FFF2-40B4-BE49-F238E27FC236}">
                <a16:creationId xmlns:a16="http://schemas.microsoft.com/office/drawing/2014/main" id="{53DEAFC0-78D6-81CE-C613-48E3C206D97C}"/>
              </a:ext>
            </a:extLst>
          </p:cNvPr>
          <p:cNvSpPr/>
          <p:nvPr/>
        </p:nvSpPr>
        <p:spPr>
          <a:xfrm>
            <a:off x="2911302" y="4729159"/>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0.9283</a:t>
            </a:r>
            <a:endParaRPr lang="en-US" sz="1500" dirty="0"/>
          </a:p>
        </p:txBody>
      </p:sp>
      <p:sp>
        <p:nvSpPr>
          <p:cNvPr id="38" name="Text 33">
            <a:extLst>
              <a:ext uri="{FF2B5EF4-FFF2-40B4-BE49-F238E27FC236}">
                <a16:creationId xmlns:a16="http://schemas.microsoft.com/office/drawing/2014/main" id="{F96CBC1C-5C93-D5B3-DC40-E056E69578EE}"/>
              </a:ext>
            </a:extLst>
          </p:cNvPr>
          <p:cNvSpPr/>
          <p:nvPr/>
        </p:nvSpPr>
        <p:spPr>
          <a:xfrm>
            <a:off x="5118126" y="4729159"/>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0.0038</a:t>
            </a:r>
            <a:endParaRPr lang="en-US" sz="1500" dirty="0"/>
          </a:p>
        </p:txBody>
      </p:sp>
      <p:sp>
        <p:nvSpPr>
          <p:cNvPr id="42" name="Shape 23">
            <a:extLst>
              <a:ext uri="{FF2B5EF4-FFF2-40B4-BE49-F238E27FC236}">
                <a16:creationId xmlns:a16="http://schemas.microsoft.com/office/drawing/2014/main" id="{CCA28F58-412C-3516-E7C4-0555CE5122B0}"/>
              </a:ext>
            </a:extLst>
          </p:cNvPr>
          <p:cNvSpPr/>
          <p:nvPr/>
        </p:nvSpPr>
        <p:spPr>
          <a:xfrm>
            <a:off x="503621" y="5184573"/>
            <a:ext cx="6519038" cy="565666"/>
          </a:xfrm>
          <a:prstGeom prst="rect">
            <a:avLst/>
          </a:prstGeom>
          <a:solidFill>
            <a:srgbClr val="000000">
              <a:alpha val="4000"/>
            </a:srgbClr>
          </a:solidFill>
          <a:ln/>
        </p:spPr>
        <p:txBody>
          <a:bodyPr/>
          <a:lstStyle/>
          <a:p>
            <a:endParaRPr lang="en-US"/>
          </a:p>
        </p:txBody>
      </p:sp>
      <p:sp>
        <p:nvSpPr>
          <p:cNvPr id="43" name="Shape 30">
            <a:extLst>
              <a:ext uri="{FF2B5EF4-FFF2-40B4-BE49-F238E27FC236}">
                <a16:creationId xmlns:a16="http://schemas.microsoft.com/office/drawing/2014/main" id="{0DBE7393-3DE0-0C58-C0F1-0D03BB4744D4}"/>
              </a:ext>
            </a:extLst>
          </p:cNvPr>
          <p:cNvSpPr/>
          <p:nvPr/>
        </p:nvSpPr>
        <p:spPr>
          <a:xfrm>
            <a:off x="503621" y="5734999"/>
            <a:ext cx="6519038" cy="565666"/>
          </a:xfrm>
          <a:prstGeom prst="rect">
            <a:avLst/>
          </a:prstGeom>
          <a:solidFill>
            <a:srgbClr val="FFFFFF">
              <a:alpha val="4000"/>
            </a:srgbClr>
          </a:solidFill>
          <a:ln/>
        </p:spPr>
        <p:txBody>
          <a:bodyPr/>
          <a:lstStyle/>
          <a:p>
            <a:endParaRPr lang="en-US"/>
          </a:p>
        </p:txBody>
      </p:sp>
      <p:sp>
        <p:nvSpPr>
          <p:cNvPr id="44" name="Text 31">
            <a:extLst>
              <a:ext uri="{FF2B5EF4-FFF2-40B4-BE49-F238E27FC236}">
                <a16:creationId xmlns:a16="http://schemas.microsoft.com/office/drawing/2014/main" id="{388E81CE-8E44-ABBE-B374-0ACDD8F8429C}"/>
              </a:ext>
            </a:extLst>
          </p:cNvPr>
          <p:cNvSpPr/>
          <p:nvPr/>
        </p:nvSpPr>
        <p:spPr>
          <a:xfrm>
            <a:off x="700669" y="530554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Random Forest</a:t>
            </a:r>
            <a:endParaRPr lang="en-US" sz="1500" dirty="0"/>
          </a:p>
        </p:txBody>
      </p:sp>
      <p:sp>
        <p:nvSpPr>
          <p:cNvPr id="45" name="Text 32">
            <a:extLst>
              <a:ext uri="{FF2B5EF4-FFF2-40B4-BE49-F238E27FC236}">
                <a16:creationId xmlns:a16="http://schemas.microsoft.com/office/drawing/2014/main" id="{1068DC8C-6B3D-04D0-6B3B-CAEA50E10133}"/>
              </a:ext>
            </a:extLst>
          </p:cNvPr>
          <p:cNvSpPr/>
          <p:nvPr/>
        </p:nvSpPr>
        <p:spPr>
          <a:xfrm>
            <a:off x="2911302" y="5305543"/>
            <a:ext cx="1806059" cy="314682"/>
          </a:xfrm>
          <a:prstGeom prst="rect">
            <a:avLst/>
          </a:prstGeom>
          <a:noFill/>
          <a:ln/>
        </p:spPr>
        <p:txBody>
          <a:bodyPr wrap="none" lIns="0" tIns="0" rIns="0" bIns="0" rtlCol="0" anchor="t"/>
          <a:lstStyle/>
          <a:p>
            <a:pPr marL="0" indent="0" algn="l">
              <a:lnSpc>
                <a:spcPts val="2450"/>
              </a:lnSpc>
              <a:buNone/>
            </a:pPr>
            <a:r>
              <a:rPr lang="en-IN" sz="1600" b="0" i="0" dirty="0">
                <a:solidFill>
                  <a:srgbClr val="CCCCCC"/>
                </a:solidFill>
                <a:effectLst/>
                <a:latin typeface="Segoe WPC"/>
              </a:rPr>
              <a:t>0.9522</a:t>
            </a:r>
            <a:endParaRPr lang="en-US" sz="1500" dirty="0"/>
          </a:p>
        </p:txBody>
      </p:sp>
      <p:sp>
        <p:nvSpPr>
          <p:cNvPr id="46" name="Text 33">
            <a:extLst>
              <a:ext uri="{FF2B5EF4-FFF2-40B4-BE49-F238E27FC236}">
                <a16:creationId xmlns:a16="http://schemas.microsoft.com/office/drawing/2014/main" id="{E9E97D04-DB53-4E88-4F1E-7BFDE3A62C26}"/>
              </a:ext>
            </a:extLst>
          </p:cNvPr>
          <p:cNvSpPr/>
          <p:nvPr/>
        </p:nvSpPr>
        <p:spPr>
          <a:xfrm>
            <a:off x="5118126" y="530554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0.0025</a:t>
            </a:r>
            <a:endParaRPr lang="en-US" sz="1500" dirty="0"/>
          </a:p>
        </p:txBody>
      </p:sp>
      <p:sp>
        <p:nvSpPr>
          <p:cNvPr id="47" name="Text 31">
            <a:extLst>
              <a:ext uri="{FF2B5EF4-FFF2-40B4-BE49-F238E27FC236}">
                <a16:creationId xmlns:a16="http://schemas.microsoft.com/office/drawing/2014/main" id="{6087EF2F-4544-7B55-2EA3-B25D4686CE05}"/>
              </a:ext>
            </a:extLst>
          </p:cNvPr>
          <p:cNvSpPr/>
          <p:nvPr/>
        </p:nvSpPr>
        <p:spPr>
          <a:xfrm>
            <a:off x="700669" y="5863226"/>
            <a:ext cx="1809869" cy="314682"/>
          </a:xfrm>
          <a:prstGeom prst="rect">
            <a:avLst/>
          </a:prstGeom>
          <a:noFill/>
          <a:ln/>
        </p:spPr>
        <p:txBody>
          <a:bodyPr wrap="none" lIns="0" tIns="0" rIns="0" bIns="0" rtlCol="0" anchor="t"/>
          <a:lstStyle/>
          <a:p>
            <a:pPr marL="0" indent="0" algn="l">
              <a:lnSpc>
                <a:spcPts val="2450"/>
              </a:lnSpc>
              <a:buNone/>
            </a:pPr>
            <a:r>
              <a:rPr lang="en-US" sz="1500" dirty="0" err="1">
                <a:solidFill>
                  <a:srgbClr val="EEEFF5"/>
                </a:solidFill>
                <a:latin typeface="Montserrat" pitchFamily="34" charset="0"/>
                <a:ea typeface="Montserrat" pitchFamily="34" charset="-122"/>
                <a:cs typeface="Montserrat" pitchFamily="34" charset="-120"/>
              </a:rPr>
              <a:t>XGBoost</a:t>
            </a:r>
            <a:r>
              <a:rPr lang="en-US" sz="1500" dirty="0">
                <a:solidFill>
                  <a:srgbClr val="EEEFF5"/>
                </a:solidFill>
                <a:latin typeface="Montserrat" pitchFamily="34" charset="0"/>
                <a:ea typeface="Montserrat" pitchFamily="34" charset="-122"/>
                <a:cs typeface="Montserrat" pitchFamily="34" charset="-120"/>
              </a:rPr>
              <a:t> Boosting</a:t>
            </a:r>
            <a:endParaRPr lang="en-US" sz="1500" dirty="0"/>
          </a:p>
        </p:txBody>
      </p:sp>
      <p:sp>
        <p:nvSpPr>
          <p:cNvPr id="48" name="Text 32">
            <a:extLst>
              <a:ext uri="{FF2B5EF4-FFF2-40B4-BE49-F238E27FC236}">
                <a16:creationId xmlns:a16="http://schemas.microsoft.com/office/drawing/2014/main" id="{BC46348E-EB9E-405E-2D45-7572345D6D99}"/>
              </a:ext>
            </a:extLst>
          </p:cNvPr>
          <p:cNvSpPr/>
          <p:nvPr/>
        </p:nvSpPr>
        <p:spPr>
          <a:xfrm>
            <a:off x="2911302" y="586322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0.9494</a:t>
            </a:r>
            <a:endParaRPr lang="en-US" sz="1500" dirty="0"/>
          </a:p>
        </p:txBody>
      </p:sp>
      <p:sp>
        <p:nvSpPr>
          <p:cNvPr id="49" name="Text 33">
            <a:extLst>
              <a:ext uri="{FF2B5EF4-FFF2-40B4-BE49-F238E27FC236}">
                <a16:creationId xmlns:a16="http://schemas.microsoft.com/office/drawing/2014/main" id="{B5FE0D93-FBF8-2B3E-A601-E63A3307B80B}"/>
              </a:ext>
            </a:extLst>
          </p:cNvPr>
          <p:cNvSpPr/>
          <p:nvPr/>
        </p:nvSpPr>
        <p:spPr>
          <a:xfrm>
            <a:off x="5118126" y="586322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0.0022</a:t>
            </a:r>
            <a:endParaRPr lang="en-US" sz="1500" dirty="0"/>
          </a:p>
        </p:txBody>
      </p:sp>
      <p:sp>
        <p:nvSpPr>
          <p:cNvPr id="50" name="TextBox 49">
            <a:extLst>
              <a:ext uri="{FF2B5EF4-FFF2-40B4-BE49-F238E27FC236}">
                <a16:creationId xmlns:a16="http://schemas.microsoft.com/office/drawing/2014/main" id="{950CACAE-D86D-2908-05E7-C0121AA355A5}"/>
              </a:ext>
            </a:extLst>
          </p:cNvPr>
          <p:cNvSpPr txBox="1"/>
          <p:nvPr/>
        </p:nvSpPr>
        <p:spPr>
          <a:xfrm>
            <a:off x="7928517" y="2211656"/>
            <a:ext cx="5843239" cy="480131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Random Forest achieved the highest mean accuracy of 95.22%, with a low standard deviation (0.0025), indicating both high performance and stability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 followed closely with a mean accuracy of 94.94%, also showing consistent results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Logistic Regression, K-Nearest Neighbors, and Decision Tree performed well, with mean accuracy between 91% and 93%</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Naive Bayes had the lowest accuracy (81.03%) due to its simplistic assumptions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Lower standard deviation values across all models suggest that the performance is consistent across different data splits</a:t>
            </a:r>
            <a:endParaRPr lang="en-IN" dirty="0">
              <a:solidFill>
                <a:schemeClr val="bg1"/>
              </a:solidFill>
            </a:endParaRPr>
          </a:p>
        </p:txBody>
      </p:sp>
      <p:sp>
        <p:nvSpPr>
          <p:cNvPr id="51" name="TextBox 50">
            <a:extLst>
              <a:ext uri="{FF2B5EF4-FFF2-40B4-BE49-F238E27FC236}">
                <a16:creationId xmlns:a16="http://schemas.microsoft.com/office/drawing/2014/main" id="{3DC0E3D0-B8B0-4E7B-1960-86473C78E77D}"/>
              </a:ext>
            </a:extLst>
          </p:cNvPr>
          <p:cNvSpPr txBox="1"/>
          <p:nvPr/>
        </p:nvSpPr>
        <p:spPr>
          <a:xfrm>
            <a:off x="7895063" y="1313319"/>
            <a:ext cx="6188927" cy="584775"/>
          </a:xfrm>
          <a:prstGeom prst="rect">
            <a:avLst/>
          </a:prstGeom>
          <a:noFill/>
        </p:spPr>
        <p:txBody>
          <a:bodyPr wrap="square" rtlCol="0">
            <a:spAutoFit/>
          </a:bodyPr>
          <a:lstStyle/>
          <a:p>
            <a:r>
              <a:rPr lang="en-IN" sz="3200" u="sng" dirty="0">
                <a:solidFill>
                  <a:schemeClr val="bg1"/>
                </a:solidFill>
              </a:rPr>
              <a:t>Stratified K-Fold Cross-Validation</a:t>
            </a:r>
          </a:p>
        </p:txBody>
      </p:sp>
    </p:spTree>
    <p:extLst>
      <p:ext uri="{BB962C8B-B14F-4D97-AF65-F5344CB8AC3E}">
        <p14:creationId xmlns:p14="http://schemas.microsoft.com/office/powerpoint/2010/main" val="215801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EF8FB-CCEF-17E6-F112-5D415FD67530}"/>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871CE8A5-D3DE-A5F1-B7CB-A71F4ACD3452}"/>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STEP-4 Model Evaluation Confusion matrix</a:t>
            </a:r>
          </a:p>
        </p:txBody>
      </p:sp>
      <p:sp>
        <p:nvSpPr>
          <p:cNvPr id="6" name="TextBox 5">
            <a:extLst>
              <a:ext uri="{FF2B5EF4-FFF2-40B4-BE49-F238E27FC236}">
                <a16:creationId xmlns:a16="http://schemas.microsoft.com/office/drawing/2014/main" id="{DA948DCB-441F-5104-7C84-9CB47CC3A1BB}"/>
              </a:ext>
            </a:extLst>
          </p:cNvPr>
          <p:cNvSpPr txBox="1"/>
          <p:nvPr/>
        </p:nvSpPr>
        <p:spPr>
          <a:xfrm>
            <a:off x="7984273" y="2765018"/>
            <a:ext cx="6646127" cy="480131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Logistic Regression achieved a strong overall accuracy of 94%, indicating it learned the relationship between features and the target variable very well</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From the confusion matrix, we see that the model correctly predicted over 10,000 instances for both classes — 'Yes' and 'No’</a:t>
            </a: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latin typeface="Arial" panose="020B0604020202020204" pitchFamily="34" charset="0"/>
              </a:rPr>
              <a:t>  </a:t>
            </a:r>
            <a:r>
              <a:rPr kumimoji="0" lang="en-US" altLang="en-US" sz="1800" b="0" i="0" u="none" strike="noStrike" cap="none" normalizeH="0" baseline="0" dirty="0">
                <a:ln>
                  <a:noFill/>
                </a:ln>
                <a:solidFill>
                  <a:schemeClr val="bg1"/>
                </a:solidFill>
                <a:effectLst/>
                <a:latin typeface="Arial" panose="020B0604020202020204" pitchFamily="34" charset="0"/>
              </a:rPr>
              <a:t>The model’s high precision for ‘Yes’ (0.94) means that when it predicts a client will subscribe, it’s right most of the time.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recall for ‘Yes’ is slightly lower (0.93), suggesting a few potential subscribers are missed — likely those who share overlapping traits with non-subscribers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This balance between precision and recall results in a solid F1 Score of 0.93, making the model reliable and consistent</a:t>
            </a:r>
            <a:endParaRPr lang="en-IN" dirty="0">
              <a:solidFill>
                <a:schemeClr val="bg1"/>
              </a:solidFill>
            </a:endParaRPr>
          </a:p>
        </p:txBody>
      </p:sp>
      <p:sp>
        <p:nvSpPr>
          <p:cNvPr id="7" name="TextBox 6">
            <a:extLst>
              <a:ext uri="{FF2B5EF4-FFF2-40B4-BE49-F238E27FC236}">
                <a16:creationId xmlns:a16="http://schemas.microsoft.com/office/drawing/2014/main" id="{271F9737-81D1-0691-3FDF-26B031AA4044}"/>
              </a:ext>
            </a:extLst>
          </p:cNvPr>
          <p:cNvSpPr txBox="1"/>
          <p:nvPr/>
        </p:nvSpPr>
        <p:spPr>
          <a:xfrm>
            <a:off x="7984273" y="1694985"/>
            <a:ext cx="3635298" cy="584775"/>
          </a:xfrm>
          <a:prstGeom prst="rect">
            <a:avLst/>
          </a:prstGeom>
          <a:noFill/>
        </p:spPr>
        <p:txBody>
          <a:bodyPr wrap="square" rtlCol="0">
            <a:spAutoFit/>
          </a:bodyPr>
          <a:lstStyle/>
          <a:p>
            <a:r>
              <a:rPr lang="en-IN" sz="3200" u="sng" dirty="0">
                <a:solidFill>
                  <a:schemeClr val="bg1"/>
                </a:solidFill>
              </a:rPr>
              <a:t>Logistic Regression</a:t>
            </a:r>
          </a:p>
        </p:txBody>
      </p:sp>
      <p:pic>
        <p:nvPicPr>
          <p:cNvPr id="3" name="Picture 2">
            <a:extLst>
              <a:ext uri="{FF2B5EF4-FFF2-40B4-BE49-F238E27FC236}">
                <a16:creationId xmlns:a16="http://schemas.microsoft.com/office/drawing/2014/main" id="{631AF50F-5E42-4065-94FD-C204818C635D}"/>
              </a:ext>
            </a:extLst>
          </p:cNvPr>
          <p:cNvPicPr>
            <a:picLocks noChangeAspect="1"/>
          </p:cNvPicPr>
          <p:nvPr/>
        </p:nvPicPr>
        <p:blipFill>
          <a:blip r:embed="rId2"/>
          <a:stretch>
            <a:fillRect/>
          </a:stretch>
        </p:blipFill>
        <p:spPr>
          <a:xfrm>
            <a:off x="446047" y="1242702"/>
            <a:ext cx="6935168" cy="3930097"/>
          </a:xfrm>
          <a:prstGeom prst="rect">
            <a:avLst/>
          </a:prstGeom>
        </p:spPr>
      </p:pic>
      <p:pic>
        <p:nvPicPr>
          <p:cNvPr id="10" name="Picture 9">
            <a:extLst>
              <a:ext uri="{FF2B5EF4-FFF2-40B4-BE49-F238E27FC236}">
                <a16:creationId xmlns:a16="http://schemas.microsoft.com/office/drawing/2014/main" id="{13B90166-253D-F24F-FFF1-4760B904F1FE}"/>
              </a:ext>
            </a:extLst>
          </p:cNvPr>
          <p:cNvPicPr>
            <a:picLocks noChangeAspect="1"/>
          </p:cNvPicPr>
          <p:nvPr/>
        </p:nvPicPr>
        <p:blipFill>
          <a:blip r:embed="rId3"/>
          <a:stretch>
            <a:fillRect/>
          </a:stretch>
        </p:blipFill>
        <p:spPr>
          <a:xfrm>
            <a:off x="446047" y="5399231"/>
            <a:ext cx="7020905" cy="2591162"/>
          </a:xfrm>
          <a:prstGeom prst="rect">
            <a:avLst/>
          </a:prstGeom>
        </p:spPr>
      </p:pic>
    </p:spTree>
    <p:extLst>
      <p:ext uri="{BB962C8B-B14F-4D97-AF65-F5344CB8AC3E}">
        <p14:creationId xmlns:p14="http://schemas.microsoft.com/office/powerpoint/2010/main" val="3147819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8951F-6E3E-3BEE-8546-5EEAFC1258F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53E288FF-1BAF-7FB4-72AB-11BF50C2C62F}"/>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K-Nearest Neighbors</a:t>
            </a:r>
          </a:p>
        </p:txBody>
      </p:sp>
      <p:pic>
        <p:nvPicPr>
          <p:cNvPr id="4" name="Picture 3">
            <a:extLst>
              <a:ext uri="{FF2B5EF4-FFF2-40B4-BE49-F238E27FC236}">
                <a16:creationId xmlns:a16="http://schemas.microsoft.com/office/drawing/2014/main" id="{3CF5E55D-A9C7-3424-821D-B93E4607F6FF}"/>
              </a:ext>
            </a:extLst>
          </p:cNvPr>
          <p:cNvPicPr>
            <a:picLocks noChangeAspect="1"/>
          </p:cNvPicPr>
          <p:nvPr/>
        </p:nvPicPr>
        <p:blipFill>
          <a:blip r:embed="rId2"/>
          <a:stretch>
            <a:fillRect/>
          </a:stretch>
        </p:blipFill>
        <p:spPr>
          <a:xfrm>
            <a:off x="8151541" y="1242701"/>
            <a:ext cx="6354348" cy="3930097"/>
          </a:xfrm>
          <a:prstGeom prst="rect">
            <a:avLst/>
          </a:prstGeom>
        </p:spPr>
      </p:pic>
      <p:pic>
        <p:nvPicPr>
          <p:cNvPr id="9" name="Picture 8">
            <a:extLst>
              <a:ext uri="{FF2B5EF4-FFF2-40B4-BE49-F238E27FC236}">
                <a16:creationId xmlns:a16="http://schemas.microsoft.com/office/drawing/2014/main" id="{71D9A5D6-57D3-0DF1-5ABB-FC6808CB241C}"/>
              </a:ext>
            </a:extLst>
          </p:cNvPr>
          <p:cNvPicPr>
            <a:picLocks noChangeAspect="1"/>
          </p:cNvPicPr>
          <p:nvPr/>
        </p:nvPicPr>
        <p:blipFill>
          <a:blip r:embed="rId3"/>
          <a:stretch>
            <a:fillRect/>
          </a:stretch>
        </p:blipFill>
        <p:spPr>
          <a:xfrm>
            <a:off x="8151542" y="5381802"/>
            <a:ext cx="6354348" cy="2534004"/>
          </a:xfrm>
          <a:prstGeom prst="rect">
            <a:avLst/>
          </a:prstGeom>
        </p:spPr>
      </p:pic>
      <p:pic>
        <p:nvPicPr>
          <p:cNvPr id="12" name="Picture 11">
            <a:extLst>
              <a:ext uri="{FF2B5EF4-FFF2-40B4-BE49-F238E27FC236}">
                <a16:creationId xmlns:a16="http://schemas.microsoft.com/office/drawing/2014/main" id="{5E21A4B9-A222-1B11-7D0C-8D77EB69AA46}"/>
              </a:ext>
            </a:extLst>
          </p:cNvPr>
          <p:cNvPicPr>
            <a:picLocks noChangeAspect="1"/>
          </p:cNvPicPr>
          <p:nvPr/>
        </p:nvPicPr>
        <p:blipFill>
          <a:blip r:embed="rId4"/>
          <a:stretch>
            <a:fillRect/>
          </a:stretch>
        </p:blipFill>
        <p:spPr>
          <a:xfrm>
            <a:off x="446046" y="1203673"/>
            <a:ext cx="6869153" cy="3930097"/>
          </a:xfrm>
          <a:prstGeom prst="rect">
            <a:avLst/>
          </a:prstGeom>
        </p:spPr>
      </p:pic>
      <p:pic>
        <p:nvPicPr>
          <p:cNvPr id="14" name="Picture 13">
            <a:extLst>
              <a:ext uri="{FF2B5EF4-FFF2-40B4-BE49-F238E27FC236}">
                <a16:creationId xmlns:a16="http://schemas.microsoft.com/office/drawing/2014/main" id="{4C79D2F7-4E5F-0689-C87C-68E7EC6990BF}"/>
              </a:ext>
            </a:extLst>
          </p:cNvPr>
          <p:cNvPicPr>
            <a:picLocks noChangeAspect="1"/>
          </p:cNvPicPr>
          <p:nvPr/>
        </p:nvPicPr>
        <p:blipFill>
          <a:blip r:embed="rId5"/>
          <a:stretch>
            <a:fillRect/>
          </a:stretch>
        </p:blipFill>
        <p:spPr>
          <a:xfrm>
            <a:off x="418136" y="5280262"/>
            <a:ext cx="6897063" cy="2657846"/>
          </a:xfrm>
          <a:prstGeom prst="rect">
            <a:avLst/>
          </a:prstGeom>
        </p:spPr>
      </p:pic>
      <p:sp>
        <p:nvSpPr>
          <p:cNvPr id="15" name="Text 0">
            <a:extLst>
              <a:ext uri="{FF2B5EF4-FFF2-40B4-BE49-F238E27FC236}">
                <a16:creationId xmlns:a16="http://schemas.microsoft.com/office/drawing/2014/main" id="{1EE74184-3E69-4180-56D2-AD67E33F5412}"/>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Naive Bayes</a:t>
            </a:r>
          </a:p>
        </p:txBody>
      </p:sp>
    </p:spTree>
    <p:extLst>
      <p:ext uri="{BB962C8B-B14F-4D97-AF65-F5344CB8AC3E}">
        <p14:creationId xmlns:p14="http://schemas.microsoft.com/office/powerpoint/2010/main" val="2743285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D12BE-CB70-A58F-1FF8-F22E9B871613}"/>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1A842810-E40B-7DA2-9A1D-55F00B431088}"/>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Random Forest</a:t>
            </a:r>
          </a:p>
        </p:txBody>
      </p:sp>
      <p:sp>
        <p:nvSpPr>
          <p:cNvPr id="15" name="Text 0">
            <a:extLst>
              <a:ext uri="{FF2B5EF4-FFF2-40B4-BE49-F238E27FC236}">
                <a16:creationId xmlns:a16="http://schemas.microsoft.com/office/drawing/2014/main" id="{1D0FD65B-1987-73DC-46F1-D0FA51689A54}"/>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err="1">
                <a:solidFill>
                  <a:srgbClr val="9998FF"/>
                </a:solidFill>
                <a:latin typeface="Barlow Bold" pitchFamily="34" charset="0"/>
                <a:ea typeface="Barlow Bold" pitchFamily="34" charset="-122"/>
                <a:cs typeface="Barlow Bold" pitchFamily="34" charset="-120"/>
              </a:rPr>
              <a:t>XGBoost</a:t>
            </a:r>
            <a:endParaRPr lang="en-US" sz="4000" b="1" dirty="0">
              <a:solidFill>
                <a:srgbClr val="9998FF"/>
              </a:solidFill>
              <a:latin typeface="Barlow Bold" pitchFamily="34" charset="0"/>
              <a:ea typeface="Barlow Bold" pitchFamily="34" charset="-122"/>
              <a:cs typeface="Barlow Bold" pitchFamily="34" charset="-120"/>
            </a:endParaRPr>
          </a:p>
        </p:txBody>
      </p:sp>
      <p:pic>
        <p:nvPicPr>
          <p:cNvPr id="3" name="Picture 2">
            <a:extLst>
              <a:ext uri="{FF2B5EF4-FFF2-40B4-BE49-F238E27FC236}">
                <a16:creationId xmlns:a16="http://schemas.microsoft.com/office/drawing/2014/main" id="{50D1FDE4-C5FE-9381-BF64-A4B251021F21}"/>
              </a:ext>
            </a:extLst>
          </p:cNvPr>
          <p:cNvPicPr>
            <a:picLocks noChangeAspect="1"/>
          </p:cNvPicPr>
          <p:nvPr/>
        </p:nvPicPr>
        <p:blipFill>
          <a:blip r:embed="rId2"/>
          <a:stretch>
            <a:fillRect/>
          </a:stretch>
        </p:blipFill>
        <p:spPr>
          <a:xfrm>
            <a:off x="399084" y="1120328"/>
            <a:ext cx="6916115" cy="3977818"/>
          </a:xfrm>
          <a:prstGeom prst="rect">
            <a:avLst/>
          </a:prstGeom>
        </p:spPr>
      </p:pic>
      <p:pic>
        <p:nvPicPr>
          <p:cNvPr id="7" name="Picture 6">
            <a:extLst>
              <a:ext uri="{FF2B5EF4-FFF2-40B4-BE49-F238E27FC236}">
                <a16:creationId xmlns:a16="http://schemas.microsoft.com/office/drawing/2014/main" id="{82E542CF-F387-4002-31E0-FCB77A3E64A1}"/>
              </a:ext>
            </a:extLst>
          </p:cNvPr>
          <p:cNvPicPr>
            <a:picLocks noChangeAspect="1"/>
          </p:cNvPicPr>
          <p:nvPr/>
        </p:nvPicPr>
        <p:blipFill>
          <a:blip r:embed="rId3"/>
          <a:stretch>
            <a:fillRect/>
          </a:stretch>
        </p:blipFill>
        <p:spPr>
          <a:xfrm>
            <a:off x="399084" y="5409848"/>
            <a:ext cx="6916115" cy="2524477"/>
          </a:xfrm>
          <a:prstGeom prst="rect">
            <a:avLst/>
          </a:prstGeom>
        </p:spPr>
      </p:pic>
      <p:pic>
        <p:nvPicPr>
          <p:cNvPr id="10" name="Picture 9">
            <a:extLst>
              <a:ext uri="{FF2B5EF4-FFF2-40B4-BE49-F238E27FC236}">
                <a16:creationId xmlns:a16="http://schemas.microsoft.com/office/drawing/2014/main" id="{28105C86-9514-11E9-71FE-30AF5397759F}"/>
              </a:ext>
            </a:extLst>
          </p:cNvPr>
          <p:cNvPicPr>
            <a:picLocks noChangeAspect="1"/>
          </p:cNvPicPr>
          <p:nvPr/>
        </p:nvPicPr>
        <p:blipFill>
          <a:blip r:embed="rId4"/>
          <a:stretch>
            <a:fillRect/>
          </a:stretch>
        </p:blipFill>
        <p:spPr>
          <a:xfrm>
            <a:off x="8116519" y="1120328"/>
            <a:ext cx="6354348" cy="3930097"/>
          </a:xfrm>
          <a:prstGeom prst="rect">
            <a:avLst/>
          </a:prstGeom>
        </p:spPr>
      </p:pic>
      <p:pic>
        <p:nvPicPr>
          <p:cNvPr id="13" name="Picture 12">
            <a:extLst>
              <a:ext uri="{FF2B5EF4-FFF2-40B4-BE49-F238E27FC236}">
                <a16:creationId xmlns:a16="http://schemas.microsoft.com/office/drawing/2014/main" id="{88EAE93E-78D2-BA82-8159-7C429DB2EF5D}"/>
              </a:ext>
            </a:extLst>
          </p:cNvPr>
          <p:cNvPicPr>
            <a:picLocks noChangeAspect="1"/>
          </p:cNvPicPr>
          <p:nvPr/>
        </p:nvPicPr>
        <p:blipFill>
          <a:blip r:embed="rId5"/>
          <a:stretch>
            <a:fillRect/>
          </a:stretch>
        </p:blipFill>
        <p:spPr>
          <a:xfrm>
            <a:off x="8116519" y="5232540"/>
            <a:ext cx="6332045" cy="2600688"/>
          </a:xfrm>
          <a:prstGeom prst="rect">
            <a:avLst/>
          </a:prstGeom>
        </p:spPr>
      </p:pic>
    </p:spTree>
    <p:extLst>
      <p:ext uri="{BB962C8B-B14F-4D97-AF65-F5344CB8AC3E}">
        <p14:creationId xmlns:p14="http://schemas.microsoft.com/office/powerpoint/2010/main" val="2005036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7BE3-7AF2-8F3A-49F9-06C6754128CC}"/>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150B7668-3311-1D0D-9BE0-52EE707AD97B}"/>
              </a:ext>
            </a:extLst>
          </p:cNvPr>
          <p:cNvSpPr/>
          <p:nvPr/>
        </p:nvSpPr>
        <p:spPr>
          <a:xfrm>
            <a:off x="434899"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Learning Curve</a:t>
            </a:r>
          </a:p>
        </p:txBody>
      </p:sp>
      <p:sp>
        <p:nvSpPr>
          <p:cNvPr id="6" name="TextBox 5">
            <a:extLst>
              <a:ext uri="{FF2B5EF4-FFF2-40B4-BE49-F238E27FC236}">
                <a16:creationId xmlns:a16="http://schemas.microsoft.com/office/drawing/2014/main" id="{C6CF0526-5752-A502-3D45-F4D30F0C6D17}"/>
              </a:ext>
            </a:extLst>
          </p:cNvPr>
          <p:cNvSpPr txBox="1"/>
          <p:nvPr/>
        </p:nvSpPr>
        <p:spPr>
          <a:xfrm>
            <a:off x="8675649" y="2988527"/>
            <a:ext cx="5843239" cy="452431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graph shows how the model performs as we give it more training data</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Initially, the training score is higher than the validation score, indicating some overfitting when data is limited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As we increase the training size, both the training and validation scores start to come together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Eventually, the two lines flatten and stay close to each other — this means the model is learning well and not overfitting or underfitting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After around 30,000 samples, adding more data doesn’t make much of a difference, which suggests the model has learned all it can from the patterns</a:t>
            </a:r>
            <a:endParaRPr lang="en-IN" dirty="0">
              <a:solidFill>
                <a:schemeClr val="bg1"/>
              </a:solidFill>
            </a:endParaRPr>
          </a:p>
        </p:txBody>
      </p:sp>
      <p:sp>
        <p:nvSpPr>
          <p:cNvPr id="7" name="TextBox 6">
            <a:extLst>
              <a:ext uri="{FF2B5EF4-FFF2-40B4-BE49-F238E27FC236}">
                <a16:creationId xmlns:a16="http://schemas.microsoft.com/office/drawing/2014/main" id="{B8168C50-E366-3708-024C-D73E74AB8CDB}"/>
              </a:ext>
            </a:extLst>
          </p:cNvPr>
          <p:cNvSpPr txBox="1"/>
          <p:nvPr/>
        </p:nvSpPr>
        <p:spPr>
          <a:xfrm>
            <a:off x="8675649" y="1677595"/>
            <a:ext cx="6099718" cy="1077218"/>
          </a:xfrm>
          <a:prstGeom prst="rect">
            <a:avLst/>
          </a:prstGeom>
          <a:noFill/>
        </p:spPr>
        <p:txBody>
          <a:bodyPr wrap="square" rtlCol="0">
            <a:spAutoFit/>
          </a:bodyPr>
          <a:lstStyle/>
          <a:p>
            <a:r>
              <a:rPr lang="en-IN" sz="3200" u="sng" dirty="0">
                <a:solidFill>
                  <a:schemeClr val="bg1"/>
                </a:solidFill>
              </a:rPr>
              <a:t>Learning Curve – Logistic Regression</a:t>
            </a:r>
          </a:p>
        </p:txBody>
      </p:sp>
      <p:pic>
        <p:nvPicPr>
          <p:cNvPr id="8" name="Image 0" descr="preencoded.png">
            <a:extLst>
              <a:ext uri="{FF2B5EF4-FFF2-40B4-BE49-F238E27FC236}">
                <a16:creationId xmlns:a16="http://schemas.microsoft.com/office/drawing/2014/main" id="{9D90AD07-7F32-8B77-9DD0-EDACA5662917}"/>
              </a:ext>
            </a:extLst>
          </p:cNvPr>
          <p:cNvPicPr>
            <a:picLocks noChangeAspect="1"/>
          </p:cNvPicPr>
          <p:nvPr/>
        </p:nvPicPr>
        <p:blipFill>
          <a:blip r:embed="rId2"/>
          <a:stretch>
            <a:fillRect/>
          </a:stretch>
        </p:blipFill>
        <p:spPr>
          <a:xfrm>
            <a:off x="0" y="0"/>
            <a:ext cx="14630400" cy="460627"/>
          </a:xfrm>
          <a:prstGeom prst="rect">
            <a:avLst/>
          </a:prstGeom>
        </p:spPr>
      </p:pic>
      <p:pic>
        <p:nvPicPr>
          <p:cNvPr id="2" name="Picture 1">
            <a:extLst>
              <a:ext uri="{FF2B5EF4-FFF2-40B4-BE49-F238E27FC236}">
                <a16:creationId xmlns:a16="http://schemas.microsoft.com/office/drawing/2014/main" id="{82C50077-998B-44C1-B3D3-59D143A74B24}"/>
              </a:ext>
            </a:extLst>
          </p:cNvPr>
          <p:cNvPicPr>
            <a:picLocks noChangeAspect="1"/>
          </p:cNvPicPr>
          <p:nvPr/>
        </p:nvPicPr>
        <p:blipFill>
          <a:blip r:embed="rId3"/>
          <a:stretch>
            <a:fillRect/>
          </a:stretch>
        </p:blipFill>
        <p:spPr>
          <a:xfrm>
            <a:off x="434899" y="1415799"/>
            <a:ext cx="7783552" cy="6524904"/>
          </a:xfrm>
          <a:prstGeom prst="rect">
            <a:avLst/>
          </a:prstGeom>
        </p:spPr>
      </p:pic>
    </p:spTree>
    <p:extLst>
      <p:ext uri="{BB962C8B-B14F-4D97-AF65-F5344CB8AC3E}">
        <p14:creationId xmlns:p14="http://schemas.microsoft.com/office/powerpoint/2010/main" val="4014451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AFCD9-1B31-C838-4BE1-A1DEEC2C13F5}"/>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C548AF65-F9B8-283C-3F7D-B2FFA73A8EDD}"/>
              </a:ext>
            </a:extLst>
          </p:cNvPr>
          <p:cNvSpPr/>
          <p:nvPr/>
        </p:nvSpPr>
        <p:spPr>
          <a:xfrm>
            <a:off x="434899"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Learning Curve</a:t>
            </a:r>
          </a:p>
        </p:txBody>
      </p:sp>
      <p:sp>
        <p:nvSpPr>
          <p:cNvPr id="6" name="TextBox 5">
            <a:extLst>
              <a:ext uri="{FF2B5EF4-FFF2-40B4-BE49-F238E27FC236}">
                <a16:creationId xmlns:a16="http://schemas.microsoft.com/office/drawing/2014/main" id="{415AE0D0-3DB3-4276-F69E-5343F0142661}"/>
              </a:ext>
            </a:extLst>
          </p:cNvPr>
          <p:cNvSpPr txBox="1"/>
          <p:nvPr/>
        </p:nvSpPr>
        <p:spPr>
          <a:xfrm>
            <a:off x="8463776" y="2534543"/>
            <a:ext cx="5843239" cy="5078313"/>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Both the training and validation scores start off low (around 70%) but gradually improve as more data is used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What’s interesting is how closely the two lines track each other — this means the model is consistent and not overfitting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Around 30,000 samples, the model reaches its peak performance (just above 80%) and then flattens out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This suggests Naive Bayes benefits from more data, but its performance is limited by its simple assumptions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Overall, the model learns steadily but tops out earlier than more complex models like Random Forest or </a:t>
            </a:r>
            <a:r>
              <a:rPr lang="en-US" altLang="en-US" dirty="0" err="1">
                <a:solidFill>
                  <a:schemeClr val="bg1"/>
                </a:solidFill>
                <a:latin typeface="Arial" panose="020B0604020202020204" pitchFamily="34" charset="0"/>
              </a:rPr>
              <a:t>XGBoost</a:t>
            </a:r>
            <a:endParaRPr lang="en-IN" dirty="0">
              <a:solidFill>
                <a:schemeClr val="bg1"/>
              </a:solidFill>
            </a:endParaRPr>
          </a:p>
        </p:txBody>
      </p:sp>
      <p:sp>
        <p:nvSpPr>
          <p:cNvPr id="7" name="TextBox 6">
            <a:extLst>
              <a:ext uri="{FF2B5EF4-FFF2-40B4-BE49-F238E27FC236}">
                <a16:creationId xmlns:a16="http://schemas.microsoft.com/office/drawing/2014/main" id="{B227F134-653E-DE9F-78B8-45B526530B5D}"/>
              </a:ext>
            </a:extLst>
          </p:cNvPr>
          <p:cNvSpPr txBox="1"/>
          <p:nvPr/>
        </p:nvSpPr>
        <p:spPr>
          <a:xfrm>
            <a:off x="8463776" y="1415799"/>
            <a:ext cx="6099718" cy="584775"/>
          </a:xfrm>
          <a:prstGeom prst="rect">
            <a:avLst/>
          </a:prstGeom>
          <a:noFill/>
        </p:spPr>
        <p:txBody>
          <a:bodyPr wrap="square" rtlCol="0">
            <a:spAutoFit/>
          </a:bodyPr>
          <a:lstStyle/>
          <a:p>
            <a:r>
              <a:rPr lang="en-IN" sz="3200" u="sng" dirty="0">
                <a:solidFill>
                  <a:schemeClr val="bg1"/>
                </a:solidFill>
              </a:rPr>
              <a:t>Learning Curve – Naive Bayes</a:t>
            </a:r>
          </a:p>
        </p:txBody>
      </p:sp>
      <p:pic>
        <p:nvPicPr>
          <p:cNvPr id="8" name="Image 0" descr="preencoded.png">
            <a:extLst>
              <a:ext uri="{FF2B5EF4-FFF2-40B4-BE49-F238E27FC236}">
                <a16:creationId xmlns:a16="http://schemas.microsoft.com/office/drawing/2014/main" id="{B3DCE0C7-5C46-05A4-2F4E-7D696D70E0D1}"/>
              </a:ext>
            </a:extLst>
          </p:cNvPr>
          <p:cNvPicPr>
            <a:picLocks noChangeAspect="1"/>
          </p:cNvPicPr>
          <p:nvPr/>
        </p:nvPicPr>
        <p:blipFill>
          <a:blip r:embed="rId2"/>
          <a:stretch>
            <a:fillRect/>
          </a:stretch>
        </p:blipFill>
        <p:spPr>
          <a:xfrm>
            <a:off x="0" y="0"/>
            <a:ext cx="14630400" cy="460627"/>
          </a:xfrm>
          <a:prstGeom prst="rect">
            <a:avLst/>
          </a:prstGeom>
        </p:spPr>
      </p:pic>
      <p:pic>
        <p:nvPicPr>
          <p:cNvPr id="4" name="Picture 3">
            <a:extLst>
              <a:ext uri="{FF2B5EF4-FFF2-40B4-BE49-F238E27FC236}">
                <a16:creationId xmlns:a16="http://schemas.microsoft.com/office/drawing/2014/main" id="{A3321D95-FA16-1558-A72A-BB89208DBA47}"/>
              </a:ext>
            </a:extLst>
          </p:cNvPr>
          <p:cNvPicPr>
            <a:picLocks noChangeAspect="1"/>
          </p:cNvPicPr>
          <p:nvPr/>
        </p:nvPicPr>
        <p:blipFill>
          <a:blip r:embed="rId3"/>
          <a:stretch>
            <a:fillRect/>
          </a:stretch>
        </p:blipFill>
        <p:spPr>
          <a:xfrm>
            <a:off x="434899" y="1415799"/>
            <a:ext cx="7538223" cy="6197057"/>
          </a:xfrm>
          <a:prstGeom prst="rect">
            <a:avLst/>
          </a:prstGeom>
        </p:spPr>
      </p:pic>
    </p:spTree>
    <p:extLst>
      <p:ext uri="{BB962C8B-B14F-4D97-AF65-F5344CB8AC3E}">
        <p14:creationId xmlns:p14="http://schemas.microsoft.com/office/powerpoint/2010/main" val="45604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D47AE-8483-B4C8-AA6C-32002E944085}"/>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EF0ECD78-CD0F-C1D0-9741-3363CD5A1FAD}"/>
              </a:ext>
            </a:extLst>
          </p:cNvPr>
          <p:cNvSpPr/>
          <p:nvPr/>
        </p:nvSpPr>
        <p:spPr>
          <a:xfrm>
            <a:off x="434899" y="616744"/>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Learning Curve</a:t>
            </a:r>
          </a:p>
        </p:txBody>
      </p:sp>
      <p:sp>
        <p:nvSpPr>
          <p:cNvPr id="6" name="TextBox 5">
            <a:extLst>
              <a:ext uri="{FF2B5EF4-FFF2-40B4-BE49-F238E27FC236}">
                <a16:creationId xmlns:a16="http://schemas.microsoft.com/office/drawing/2014/main" id="{B5DF934B-7F8C-A8E8-84AF-0D445D7C2A73}"/>
              </a:ext>
            </a:extLst>
          </p:cNvPr>
          <p:cNvSpPr txBox="1"/>
          <p:nvPr/>
        </p:nvSpPr>
        <p:spPr>
          <a:xfrm>
            <a:off x="8352264" y="2257544"/>
            <a:ext cx="5843239" cy="5355312"/>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The training score starts off high and keeps improving steadily — which is expected, because KNN tends to memorize the training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The validation score also improves, but the gap between training and validation remains noticeable throughout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This gap suggests that the model might be slightly overfitting — it performs better on the training data than on unseen data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However, as we increase the dataset size, both scores continue to rise, and the gap slightly narrows, showing improved generalization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chemeClr val="bg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bg1"/>
                </a:solidFill>
                <a:latin typeface="Arial" panose="020B0604020202020204" pitchFamily="34" charset="0"/>
              </a:rPr>
              <a:t>KNN clearly benefits from more data, but because it's a lazy learner, performance depends heavily on the dataset size and distribution</a:t>
            </a:r>
            <a:endParaRPr lang="en-IN" dirty="0">
              <a:solidFill>
                <a:schemeClr val="bg1"/>
              </a:solidFill>
            </a:endParaRPr>
          </a:p>
        </p:txBody>
      </p:sp>
      <p:sp>
        <p:nvSpPr>
          <p:cNvPr id="7" name="TextBox 6">
            <a:extLst>
              <a:ext uri="{FF2B5EF4-FFF2-40B4-BE49-F238E27FC236}">
                <a16:creationId xmlns:a16="http://schemas.microsoft.com/office/drawing/2014/main" id="{52B318DF-92DA-F955-48D3-51EA35AE8602}"/>
              </a:ext>
            </a:extLst>
          </p:cNvPr>
          <p:cNvSpPr txBox="1"/>
          <p:nvPr/>
        </p:nvSpPr>
        <p:spPr>
          <a:xfrm>
            <a:off x="8530682" y="1135315"/>
            <a:ext cx="6099718" cy="1077218"/>
          </a:xfrm>
          <a:prstGeom prst="rect">
            <a:avLst/>
          </a:prstGeom>
          <a:noFill/>
        </p:spPr>
        <p:txBody>
          <a:bodyPr wrap="square" rtlCol="0">
            <a:spAutoFit/>
          </a:bodyPr>
          <a:lstStyle/>
          <a:p>
            <a:r>
              <a:rPr lang="en-IN" sz="3200" u="sng" dirty="0">
                <a:solidFill>
                  <a:schemeClr val="bg1"/>
                </a:solidFill>
              </a:rPr>
              <a:t>Learning Curve – K-Nearest </a:t>
            </a:r>
            <a:r>
              <a:rPr lang="en-IN" sz="3200" u="sng" dirty="0" err="1">
                <a:solidFill>
                  <a:schemeClr val="bg1"/>
                </a:solidFill>
              </a:rPr>
              <a:t>Neighbors</a:t>
            </a:r>
            <a:endParaRPr lang="en-IN" sz="3200" u="sng" dirty="0">
              <a:solidFill>
                <a:schemeClr val="bg1"/>
              </a:solidFill>
            </a:endParaRPr>
          </a:p>
        </p:txBody>
      </p:sp>
      <p:pic>
        <p:nvPicPr>
          <p:cNvPr id="8" name="Image 0" descr="preencoded.png">
            <a:extLst>
              <a:ext uri="{FF2B5EF4-FFF2-40B4-BE49-F238E27FC236}">
                <a16:creationId xmlns:a16="http://schemas.microsoft.com/office/drawing/2014/main" id="{837AC313-21F3-E2C5-1130-2A79EB9D9CB5}"/>
              </a:ext>
            </a:extLst>
          </p:cNvPr>
          <p:cNvPicPr>
            <a:picLocks noChangeAspect="1"/>
          </p:cNvPicPr>
          <p:nvPr/>
        </p:nvPicPr>
        <p:blipFill>
          <a:blip r:embed="rId2"/>
          <a:stretch>
            <a:fillRect/>
          </a:stretch>
        </p:blipFill>
        <p:spPr>
          <a:xfrm>
            <a:off x="0" y="0"/>
            <a:ext cx="14630400" cy="460627"/>
          </a:xfrm>
          <a:prstGeom prst="rect">
            <a:avLst/>
          </a:prstGeom>
        </p:spPr>
      </p:pic>
      <p:pic>
        <p:nvPicPr>
          <p:cNvPr id="3" name="Picture 2">
            <a:extLst>
              <a:ext uri="{FF2B5EF4-FFF2-40B4-BE49-F238E27FC236}">
                <a16:creationId xmlns:a16="http://schemas.microsoft.com/office/drawing/2014/main" id="{988028DD-D76B-9EBE-68F1-6BA2A94E9AAB}"/>
              </a:ext>
            </a:extLst>
          </p:cNvPr>
          <p:cNvPicPr>
            <a:picLocks noChangeAspect="1"/>
          </p:cNvPicPr>
          <p:nvPr/>
        </p:nvPicPr>
        <p:blipFill>
          <a:blip r:embed="rId3"/>
          <a:stretch>
            <a:fillRect/>
          </a:stretch>
        </p:blipFill>
        <p:spPr>
          <a:xfrm>
            <a:off x="323385" y="1415799"/>
            <a:ext cx="7538223" cy="6197057"/>
          </a:xfrm>
          <a:prstGeom prst="rect">
            <a:avLst/>
          </a:prstGeom>
        </p:spPr>
      </p:pic>
    </p:spTree>
    <p:extLst>
      <p:ext uri="{BB962C8B-B14F-4D97-AF65-F5344CB8AC3E}">
        <p14:creationId xmlns:p14="http://schemas.microsoft.com/office/powerpoint/2010/main" val="304096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1B371-7BD6-AD91-62EE-4A666C195456}"/>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7FFC71F7-D434-4116-8EDE-7F0B6DEB1246}"/>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Decision Tree</a:t>
            </a:r>
          </a:p>
        </p:txBody>
      </p:sp>
      <p:sp>
        <p:nvSpPr>
          <p:cNvPr id="15" name="Text 0">
            <a:extLst>
              <a:ext uri="{FF2B5EF4-FFF2-40B4-BE49-F238E27FC236}">
                <a16:creationId xmlns:a16="http://schemas.microsoft.com/office/drawing/2014/main" id="{F3EF9D16-52D7-620E-4D53-457262F704C4}"/>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err="1">
                <a:solidFill>
                  <a:srgbClr val="9998FF"/>
                </a:solidFill>
                <a:latin typeface="Barlow Bold" pitchFamily="34" charset="0"/>
                <a:ea typeface="Barlow Bold" pitchFamily="34" charset="-122"/>
                <a:cs typeface="Barlow Bold" pitchFamily="34" charset="-120"/>
              </a:rPr>
              <a:t>XGBoost</a:t>
            </a:r>
            <a:endParaRPr lang="en-US" sz="4000" b="1" dirty="0">
              <a:solidFill>
                <a:srgbClr val="9998FF"/>
              </a:solidFill>
              <a:latin typeface="Barlow Bold" pitchFamily="34" charset="0"/>
              <a:ea typeface="Barlow Bold" pitchFamily="34" charset="-122"/>
              <a:cs typeface="Barlow Bold" pitchFamily="34" charset="-120"/>
            </a:endParaRPr>
          </a:p>
        </p:txBody>
      </p:sp>
      <p:pic>
        <p:nvPicPr>
          <p:cNvPr id="4" name="Picture 3">
            <a:extLst>
              <a:ext uri="{FF2B5EF4-FFF2-40B4-BE49-F238E27FC236}">
                <a16:creationId xmlns:a16="http://schemas.microsoft.com/office/drawing/2014/main" id="{984B7047-EB52-6AF1-8F17-5F2021D39729}"/>
              </a:ext>
            </a:extLst>
          </p:cNvPr>
          <p:cNvPicPr>
            <a:picLocks noChangeAspect="1"/>
          </p:cNvPicPr>
          <p:nvPr/>
        </p:nvPicPr>
        <p:blipFill>
          <a:blip r:embed="rId2"/>
          <a:stretch>
            <a:fillRect/>
          </a:stretch>
        </p:blipFill>
        <p:spPr>
          <a:xfrm>
            <a:off x="307167" y="1144137"/>
            <a:ext cx="7008032" cy="3930098"/>
          </a:xfrm>
          <a:prstGeom prst="rect">
            <a:avLst/>
          </a:prstGeom>
        </p:spPr>
      </p:pic>
      <p:sp>
        <p:nvSpPr>
          <p:cNvPr id="6" name="TextBox 5">
            <a:extLst>
              <a:ext uri="{FF2B5EF4-FFF2-40B4-BE49-F238E27FC236}">
                <a16:creationId xmlns:a16="http://schemas.microsoft.com/office/drawing/2014/main" id="{8DA85F1A-45CD-262E-D11B-B49867189D6C}"/>
              </a:ext>
            </a:extLst>
          </p:cNvPr>
          <p:cNvSpPr txBox="1"/>
          <p:nvPr/>
        </p:nvSpPr>
        <p:spPr>
          <a:xfrm>
            <a:off x="307167" y="5517221"/>
            <a:ext cx="7159083" cy="203132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At the beginning, the model shows very high training accuracy, but validation accuracy is noticeably lower — a sign of overfitting</a:t>
            </a: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As the training size increases, the training accuracy drops and the validation accuracy improves slightly, suggesting that the model is trying to generalize better</a:t>
            </a: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IN" dirty="0">
              <a:solidFill>
                <a:schemeClr val="bg1"/>
              </a:solidFill>
            </a:endParaRPr>
          </a:p>
        </p:txBody>
      </p:sp>
      <p:pic>
        <p:nvPicPr>
          <p:cNvPr id="9" name="Picture 8">
            <a:extLst>
              <a:ext uri="{FF2B5EF4-FFF2-40B4-BE49-F238E27FC236}">
                <a16:creationId xmlns:a16="http://schemas.microsoft.com/office/drawing/2014/main" id="{CD270F86-66B9-7EF8-CCBA-0BBCB44F5943}"/>
              </a:ext>
            </a:extLst>
          </p:cNvPr>
          <p:cNvPicPr>
            <a:picLocks noChangeAspect="1"/>
          </p:cNvPicPr>
          <p:nvPr/>
        </p:nvPicPr>
        <p:blipFill>
          <a:blip r:embed="rId3"/>
          <a:stretch>
            <a:fillRect/>
          </a:stretch>
        </p:blipFill>
        <p:spPr>
          <a:xfrm>
            <a:off x="8054263" y="1144137"/>
            <a:ext cx="6394301" cy="3930098"/>
          </a:xfrm>
          <a:prstGeom prst="rect">
            <a:avLst/>
          </a:prstGeom>
        </p:spPr>
      </p:pic>
      <p:sp>
        <p:nvSpPr>
          <p:cNvPr id="11" name="TextBox 10">
            <a:extLst>
              <a:ext uri="{FF2B5EF4-FFF2-40B4-BE49-F238E27FC236}">
                <a16:creationId xmlns:a16="http://schemas.microsoft.com/office/drawing/2014/main" id="{FB0567D0-5E11-1617-2B9C-932949275873}"/>
              </a:ext>
            </a:extLst>
          </p:cNvPr>
          <p:cNvSpPr txBox="1"/>
          <p:nvPr/>
        </p:nvSpPr>
        <p:spPr>
          <a:xfrm>
            <a:off x="8066199" y="5517220"/>
            <a:ext cx="6591571"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At the beginning, the model shows very high training accuracy, but validation accuracy is noticeably lower — a sign of overfitting</a:t>
            </a: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As the training size increases, the training accuracy drops and the validation accuracy improves slightly, suggesting that the model is trying to generalize better</a:t>
            </a: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IN" dirty="0">
              <a:solidFill>
                <a:schemeClr val="bg1"/>
              </a:solidFill>
            </a:endParaRPr>
          </a:p>
        </p:txBody>
      </p:sp>
    </p:spTree>
    <p:extLst>
      <p:ext uri="{BB962C8B-B14F-4D97-AF65-F5344CB8AC3E}">
        <p14:creationId xmlns:p14="http://schemas.microsoft.com/office/powerpoint/2010/main" val="2846740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5ABE25D-E249-7D80-F8F0-A9DCA7BA6540}"/>
              </a:ext>
            </a:extLst>
          </p:cNvPr>
          <p:cNvGraphicFramePr>
            <a:graphicFrameLocks noGrp="1"/>
          </p:cNvGraphicFramePr>
          <p:nvPr>
            <p:extLst>
              <p:ext uri="{D42A27DB-BD31-4B8C-83A1-F6EECF244321}">
                <p14:modId xmlns:p14="http://schemas.microsoft.com/office/powerpoint/2010/main" val="3664864056"/>
              </p:ext>
            </p:extLst>
          </p:nvPr>
        </p:nvGraphicFramePr>
        <p:xfrm>
          <a:off x="535259" y="2057079"/>
          <a:ext cx="12617448" cy="2834640"/>
        </p:xfrm>
        <a:graphic>
          <a:graphicData uri="http://schemas.openxmlformats.org/drawingml/2006/table">
            <a:tbl>
              <a:tblPr>
                <a:tableStyleId>{7DF18680-E054-41AD-8BC1-D1AEF772440D}</a:tableStyleId>
              </a:tblPr>
              <a:tblGrid>
                <a:gridCol w="2102908">
                  <a:extLst>
                    <a:ext uri="{9D8B030D-6E8A-4147-A177-3AD203B41FA5}">
                      <a16:colId xmlns:a16="http://schemas.microsoft.com/office/drawing/2014/main" val="3071863969"/>
                    </a:ext>
                  </a:extLst>
                </a:gridCol>
                <a:gridCol w="2102908">
                  <a:extLst>
                    <a:ext uri="{9D8B030D-6E8A-4147-A177-3AD203B41FA5}">
                      <a16:colId xmlns:a16="http://schemas.microsoft.com/office/drawing/2014/main" val="1758234274"/>
                    </a:ext>
                  </a:extLst>
                </a:gridCol>
                <a:gridCol w="2102908">
                  <a:extLst>
                    <a:ext uri="{9D8B030D-6E8A-4147-A177-3AD203B41FA5}">
                      <a16:colId xmlns:a16="http://schemas.microsoft.com/office/drawing/2014/main" val="1645014143"/>
                    </a:ext>
                  </a:extLst>
                </a:gridCol>
                <a:gridCol w="2102908">
                  <a:extLst>
                    <a:ext uri="{9D8B030D-6E8A-4147-A177-3AD203B41FA5}">
                      <a16:colId xmlns:a16="http://schemas.microsoft.com/office/drawing/2014/main" val="3488798643"/>
                    </a:ext>
                  </a:extLst>
                </a:gridCol>
                <a:gridCol w="2102908">
                  <a:extLst>
                    <a:ext uri="{9D8B030D-6E8A-4147-A177-3AD203B41FA5}">
                      <a16:colId xmlns:a16="http://schemas.microsoft.com/office/drawing/2014/main" val="2831187403"/>
                    </a:ext>
                  </a:extLst>
                </a:gridCol>
                <a:gridCol w="2102908">
                  <a:extLst>
                    <a:ext uri="{9D8B030D-6E8A-4147-A177-3AD203B41FA5}">
                      <a16:colId xmlns:a16="http://schemas.microsoft.com/office/drawing/2014/main" val="1090890358"/>
                    </a:ext>
                  </a:extLst>
                </a:gridCol>
              </a:tblGrid>
              <a:tr h="0">
                <a:tc>
                  <a:txBody>
                    <a:bodyPr/>
                    <a:lstStyle/>
                    <a:p>
                      <a:r>
                        <a:rPr lang="en-IN" dirty="0">
                          <a:solidFill>
                            <a:schemeClr val="bg1"/>
                          </a:solidFill>
                        </a:rPr>
                        <a:t>Model</a:t>
                      </a:r>
                    </a:p>
                  </a:txBody>
                  <a:tcPr anchor="ctr">
                    <a:solidFill>
                      <a:schemeClr val="tx1">
                        <a:lumMod val="65000"/>
                        <a:lumOff val="35000"/>
                      </a:schemeClr>
                    </a:solidFill>
                  </a:tcPr>
                </a:tc>
                <a:tc>
                  <a:txBody>
                    <a:bodyPr/>
                    <a:lstStyle/>
                    <a:p>
                      <a:r>
                        <a:rPr lang="en-IN">
                          <a:solidFill>
                            <a:schemeClr val="bg1"/>
                          </a:solidFill>
                        </a:rPr>
                        <a:t>True Positives</a:t>
                      </a:r>
                    </a:p>
                  </a:txBody>
                  <a:tcPr anchor="ctr">
                    <a:solidFill>
                      <a:schemeClr val="tx1">
                        <a:lumMod val="65000"/>
                        <a:lumOff val="35000"/>
                      </a:schemeClr>
                    </a:solidFill>
                  </a:tcPr>
                </a:tc>
                <a:tc>
                  <a:txBody>
                    <a:bodyPr/>
                    <a:lstStyle/>
                    <a:p>
                      <a:r>
                        <a:rPr lang="en-IN">
                          <a:solidFill>
                            <a:schemeClr val="bg1"/>
                          </a:solidFill>
                        </a:rPr>
                        <a:t>True Negatives</a:t>
                      </a:r>
                    </a:p>
                  </a:txBody>
                  <a:tcPr anchor="ctr">
                    <a:solidFill>
                      <a:schemeClr val="tx1">
                        <a:lumMod val="65000"/>
                        <a:lumOff val="35000"/>
                      </a:schemeClr>
                    </a:solidFill>
                  </a:tcPr>
                </a:tc>
                <a:tc>
                  <a:txBody>
                    <a:bodyPr/>
                    <a:lstStyle/>
                    <a:p>
                      <a:r>
                        <a:rPr lang="en-IN" dirty="0">
                          <a:solidFill>
                            <a:schemeClr val="bg1"/>
                          </a:solidFill>
                        </a:rPr>
                        <a:t>False Positives</a:t>
                      </a:r>
                    </a:p>
                  </a:txBody>
                  <a:tcPr anchor="ctr">
                    <a:solidFill>
                      <a:schemeClr val="tx1">
                        <a:lumMod val="65000"/>
                        <a:lumOff val="35000"/>
                      </a:schemeClr>
                    </a:solidFill>
                  </a:tcPr>
                </a:tc>
                <a:tc>
                  <a:txBody>
                    <a:bodyPr/>
                    <a:lstStyle/>
                    <a:p>
                      <a:r>
                        <a:rPr lang="en-IN">
                          <a:solidFill>
                            <a:schemeClr val="bg1"/>
                          </a:solidFill>
                        </a:rPr>
                        <a:t>False Negatives</a:t>
                      </a:r>
                    </a:p>
                  </a:txBody>
                  <a:tcPr anchor="ctr">
                    <a:solidFill>
                      <a:schemeClr val="tx1">
                        <a:lumMod val="65000"/>
                        <a:lumOff val="35000"/>
                      </a:schemeClr>
                    </a:solidFill>
                  </a:tcPr>
                </a:tc>
                <a:tc>
                  <a:txBody>
                    <a:bodyPr/>
                    <a:lstStyle/>
                    <a:p>
                      <a:r>
                        <a:rPr lang="en-IN">
                          <a:solidFill>
                            <a:schemeClr val="bg1"/>
                          </a:solidFill>
                        </a:rPr>
                        <a:t>Notes</a:t>
                      </a:r>
                    </a:p>
                  </a:txBody>
                  <a:tcPr anchor="ctr">
                    <a:solidFill>
                      <a:schemeClr val="tx1">
                        <a:lumMod val="65000"/>
                        <a:lumOff val="35000"/>
                      </a:schemeClr>
                    </a:solidFill>
                  </a:tcPr>
                </a:tc>
                <a:extLst>
                  <a:ext uri="{0D108BD9-81ED-4DB2-BD59-A6C34878D82A}">
                    <a16:rowId xmlns:a16="http://schemas.microsoft.com/office/drawing/2014/main" val="2715858773"/>
                  </a:ext>
                </a:extLst>
              </a:tr>
              <a:tr h="0">
                <a:tc>
                  <a:txBody>
                    <a:bodyPr/>
                    <a:lstStyle/>
                    <a:p>
                      <a:r>
                        <a:rPr lang="en-IN" dirty="0">
                          <a:solidFill>
                            <a:schemeClr val="bg1"/>
                          </a:solidFill>
                        </a:rPr>
                        <a:t>Logistic Regression</a:t>
                      </a:r>
                    </a:p>
                  </a:txBody>
                  <a:tcPr anchor="ctr">
                    <a:solidFill>
                      <a:schemeClr val="tx1">
                        <a:lumMod val="65000"/>
                        <a:lumOff val="35000"/>
                      </a:schemeClr>
                    </a:solidFill>
                  </a:tcPr>
                </a:tc>
                <a:tc>
                  <a:txBody>
                    <a:bodyPr/>
                    <a:lstStyle/>
                    <a:p>
                      <a:r>
                        <a:rPr lang="en-IN" dirty="0">
                          <a:solidFill>
                            <a:schemeClr val="bg1"/>
                          </a:solidFill>
                        </a:rPr>
                        <a:t>10,168</a:t>
                      </a:r>
                    </a:p>
                  </a:txBody>
                  <a:tcPr anchor="ctr">
                    <a:solidFill>
                      <a:schemeClr val="tx1">
                        <a:lumMod val="65000"/>
                        <a:lumOff val="35000"/>
                      </a:schemeClr>
                    </a:solidFill>
                  </a:tcPr>
                </a:tc>
                <a:tc>
                  <a:txBody>
                    <a:bodyPr/>
                    <a:lstStyle/>
                    <a:p>
                      <a:r>
                        <a:rPr lang="en-IN">
                          <a:solidFill>
                            <a:schemeClr val="bg1"/>
                          </a:solidFill>
                        </a:rPr>
                        <a:t>10,344</a:t>
                      </a:r>
                    </a:p>
                  </a:txBody>
                  <a:tcPr anchor="ctr">
                    <a:solidFill>
                      <a:schemeClr val="tx1">
                        <a:lumMod val="65000"/>
                        <a:lumOff val="35000"/>
                      </a:schemeClr>
                    </a:solidFill>
                  </a:tcPr>
                </a:tc>
                <a:tc>
                  <a:txBody>
                    <a:bodyPr/>
                    <a:lstStyle/>
                    <a:p>
                      <a:r>
                        <a:rPr lang="en-IN" dirty="0">
                          <a:solidFill>
                            <a:schemeClr val="bg1"/>
                          </a:solidFill>
                        </a:rPr>
                        <a:t>621</a:t>
                      </a:r>
                    </a:p>
                  </a:txBody>
                  <a:tcPr anchor="ctr">
                    <a:solidFill>
                      <a:schemeClr val="tx1">
                        <a:lumMod val="65000"/>
                        <a:lumOff val="35000"/>
                      </a:schemeClr>
                    </a:solidFill>
                  </a:tcPr>
                </a:tc>
                <a:tc>
                  <a:txBody>
                    <a:bodyPr/>
                    <a:lstStyle/>
                    <a:p>
                      <a:r>
                        <a:rPr lang="en-IN">
                          <a:solidFill>
                            <a:schemeClr val="bg1"/>
                          </a:solidFill>
                        </a:rPr>
                        <a:t>796</a:t>
                      </a:r>
                    </a:p>
                  </a:txBody>
                  <a:tcPr anchor="ctr">
                    <a:solidFill>
                      <a:schemeClr val="tx1">
                        <a:lumMod val="65000"/>
                        <a:lumOff val="35000"/>
                      </a:schemeClr>
                    </a:solidFill>
                  </a:tcPr>
                </a:tc>
                <a:tc>
                  <a:txBody>
                    <a:bodyPr/>
                    <a:lstStyle/>
                    <a:p>
                      <a:r>
                        <a:rPr lang="en-IN">
                          <a:solidFill>
                            <a:schemeClr val="bg1"/>
                          </a:solidFill>
                        </a:rPr>
                        <a:t>Well generalized</a:t>
                      </a:r>
                    </a:p>
                  </a:txBody>
                  <a:tcPr anchor="ctr">
                    <a:solidFill>
                      <a:schemeClr val="tx1">
                        <a:lumMod val="65000"/>
                        <a:lumOff val="35000"/>
                      </a:schemeClr>
                    </a:solidFill>
                  </a:tcPr>
                </a:tc>
                <a:extLst>
                  <a:ext uri="{0D108BD9-81ED-4DB2-BD59-A6C34878D82A}">
                    <a16:rowId xmlns:a16="http://schemas.microsoft.com/office/drawing/2014/main" val="3130257285"/>
                  </a:ext>
                </a:extLst>
              </a:tr>
              <a:tr h="0">
                <a:tc>
                  <a:txBody>
                    <a:bodyPr/>
                    <a:lstStyle/>
                    <a:p>
                      <a:r>
                        <a:rPr lang="en-IN" dirty="0">
                          <a:solidFill>
                            <a:schemeClr val="bg1"/>
                          </a:solidFill>
                        </a:rPr>
                        <a:t>Naive Bayes</a:t>
                      </a:r>
                    </a:p>
                  </a:txBody>
                  <a:tcPr anchor="ctr">
                    <a:solidFill>
                      <a:schemeClr val="tx1">
                        <a:lumMod val="65000"/>
                        <a:lumOff val="35000"/>
                      </a:schemeClr>
                    </a:solidFill>
                  </a:tcPr>
                </a:tc>
                <a:tc>
                  <a:txBody>
                    <a:bodyPr/>
                    <a:lstStyle/>
                    <a:p>
                      <a:r>
                        <a:rPr lang="en-IN" dirty="0">
                          <a:solidFill>
                            <a:schemeClr val="bg1"/>
                          </a:solidFill>
                        </a:rPr>
                        <a:t>9,564</a:t>
                      </a:r>
                    </a:p>
                  </a:txBody>
                  <a:tcPr anchor="ctr">
                    <a:solidFill>
                      <a:schemeClr val="tx1">
                        <a:lumMod val="65000"/>
                        <a:lumOff val="35000"/>
                      </a:schemeClr>
                    </a:solidFill>
                  </a:tcPr>
                </a:tc>
                <a:tc>
                  <a:txBody>
                    <a:bodyPr/>
                    <a:lstStyle/>
                    <a:p>
                      <a:r>
                        <a:rPr lang="en-IN" dirty="0">
                          <a:solidFill>
                            <a:schemeClr val="bg1"/>
                          </a:solidFill>
                        </a:rPr>
                        <a:t>8,263</a:t>
                      </a:r>
                    </a:p>
                  </a:txBody>
                  <a:tcPr anchor="ctr">
                    <a:solidFill>
                      <a:schemeClr val="tx1">
                        <a:lumMod val="65000"/>
                        <a:lumOff val="35000"/>
                      </a:schemeClr>
                    </a:solidFill>
                  </a:tcPr>
                </a:tc>
                <a:tc>
                  <a:txBody>
                    <a:bodyPr/>
                    <a:lstStyle/>
                    <a:p>
                      <a:r>
                        <a:rPr lang="en-IN">
                          <a:solidFill>
                            <a:schemeClr val="bg1"/>
                          </a:solidFill>
                        </a:rPr>
                        <a:t>2,702</a:t>
                      </a:r>
                    </a:p>
                  </a:txBody>
                  <a:tcPr anchor="ctr">
                    <a:solidFill>
                      <a:schemeClr val="tx1">
                        <a:lumMod val="65000"/>
                        <a:lumOff val="35000"/>
                      </a:schemeClr>
                    </a:solidFill>
                  </a:tcPr>
                </a:tc>
                <a:tc>
                  <a:txBody>
                    <a:bodyPr/>
                    <a:lstStyle/>
                    <a:p>
                      <a:r>
                        <a:rPr lang="en-IN">
                          <a:solidFill>
                            <a:schemeClr val="bg1"/>
                          </a:solidFill>
                        </a:rPr>
                        <a:t>1,400</a:t>
                      </a:r>
                    </a:p>
                  </a:txBody>
                  <a:tcPr anchor="ctr">
                    <a:solidFill>
                      <a:schemeClr val="tx1">
                        <a:lumMod val="65000"/>
                        <a:lumOff val="35000"/>
                      </a:schemeClr>
                    </a:solidFill>
                  </a:tcPr>
                </a:tc>
                <a:tc>
                  <a:txBody>
                    <a:bodyPr/>
                    <a:lstStyle/>
                    <a:p>
                      <a:r>
                        <a:rPr lang="en-IN">
                          <a:solidFill>
                            <a:schemeClr val="bg1"/>
                          </a:solidFill>
                        </a:rPr>
                        <a:t>Mixed; more false positives</a:t>
                      </a:r>
                    </a:p>
                  </a:txBody>
                  <a:tcPr anchor="ctr">
                    <a:solidFill>
                      <a:schemeClr val="tx1">
                        <a:lumMod val="65000"/>
                        <a:lumOff val="35000"/>
                      </a:schemeClr>
                    </a:solidFill>
                  </a:tcPr>
                </a:tc>
                <a:extLst>
                  <a:ext uri="{0D108BD9-81ED-4DB2-BD59-A6C34878D82A}">
                    <a16:rowId xmlns:a16="http://schemas.microsoft.com/office/drawing/2014/main" val="1029793928"/>
                  </a:ext>
                </a:extLst>
              </a:tr>
              <a:tr h="0">
                <a:tc>
                  <a:txBody>
                    <a:bodyPr/>
                    <a:lstStyle/>
                    <a:p>
                      <a:r>
                        <a:rPr lang="en-IN">
                          <a:solidFill>
                            <a:schemeClr val="bg1"/>
                          </a:solidFill>
                        </a:rPr>
                        <a:t>K-NN</a:t>
                      </a:r>
                    </a:p>
                  </a:txBody>
                  <a:tcPr anchor="ctr">
                    <a:solidFill>
                      <a:schemeClr val="tx1">
                        <a:lumMod val="65000"/>
                        <a:lumOff val="35000"/>
                      </a:schemeClr>
                    </a:solidFill>
                  </a:tcPr>
                </a:tc>
                <a:tc>
                  <a:txBody>
                    <a:bodyPr/>
                    <a:lstStyle/>
                    <a:p>
                      <a:r>
                        <a:rPr lang="en-IN">
                          <a:solidFill>
                            <a:schemeClr val="bg1"/>
                          </a:solidFill>
                        </a:rPr>
                        <a:t>9,977</a:t>
                      </a:r>
                    </a:p>
                  </a:txBody>
                  <a:tcPr anchor="ctr">
                    <a:solidFill>
                      <a:schemeClr val="tx1">
                        <a:lumMod val="65000"/>
                        <a:lumOff val="35000"/>
                      </a:schemeClr>
                    </a:solidFill>
                  </a:tcPr>
                </a:tc>
                <a:tc>
                  <a:txBody>
                    <a:bodyPr/>
                    <a:lstStyle/>
                    <a:p>
                      <a:r>
                        <a:rPr lang="en-IN" dirty="0">
                          <a:solidFill>
                            <a:schemeClr val="bg1"/>
                          </a:solidFill>
                        </a:rPr>
                        <a:t>10,312</a:t>
                      </a:r>
                    </a:p>
                  </a:txBody>
                  <a:tcPr anchor="ctr">
                    <a:solidFill>
                      <a:schemeClr val="tx1">
                        <a:lumMod val="65000"/>
                        <a:lumOff val="35000"/>
                      </a:schemeClr>
                    </a:solidFill>
                  </a:tcPr>
                </a:tc>
                <a:tc>
                  <a:txBody>
                    <a:bodyPr/>
                    <a:lstStyle/>
                    <a:p>
                      <a:r>
                        <a:rPr lang="en-IN" dirty="0">
                          <a:solidFill>
                            <a:schemeClr val="bg1"/>
                          </a:solidFill>
                        </a:rPr>
                        <a:t>653</a:t>
                      </a:r>
                    </a:p>
                  </a:txBody>
                  <a:tcPr anchor="ctr">
                    <a:solidFill>
                      <a:schemeClr val="tx1">
                        <a:lumMod val="65000"/>
                        <a:lumOff val="35000"/>
                      </a:schemeClr>
                    </a:solidFill>
                  </a:tcPr>
                </a:tc>
                <a:tc>
                  <a:txBody>
                    <a:bodyPr/>
                    <a:lstStyle/>
                    <a:p>
                      <a:r>
                        <a:rPr lang="en-IN">
                          <a:solidFill>
                            <a:schemeClr val="bg1"/>
                          </a:solidFill>
                        </a:rPr>
                        <a:t>987</a:t>
                      </a:r>
                    </a:p>
                  </a:txBody>
                  <a:tcPr anchor="ctr">
                    <a:solidFill>
                      <a:schemeClr val="tx1">
                        <a:lumMod val="65000"/>
                        <a:lumOff val="35000"/>
                      </a:schemeClr>
                    </a:solidFill>
                  </a:tcPr>
                </a:tc>
                <a:tc>
                  <a:txBody>
                    <a:bodyPr/>
                    <a:lstStyle/>
                    <a:p>
                      <a:r>
                        <a:rPr lang="en-IN">
                          <a:solidFill>
                            <a:schemeClr val="bg1"/>
                          </a:solidFill>
                        </a:rPr>
                        <a:t>Well generalized</a:t>
                      </a:r>
                    </a:p>
                  </a:txBody>
                  <a:tcPr anchor="ctr">
                    <a:solidFill>
                      <a:schemeClr val="tx1">
                        <a:lumMod val="65000"/>
                        <a:lumOff val="35000"/>
                      </a:schemeClr>
                    </a:solidFill>
                  </a:tcPr>
                </a:tc>
                <a:extLst>
                  <a:ext uri="{0D108BD9-81ED-4DB2-BD59-A6C34878D82A}">
                    <a16:rowId xmlns:a16="http://schemas.microsoft.com/office/drawing/2014/main" val="3736261692"/>
                  </a:ext>
                </a:extLst>
              </a:tr>
              <a:tr h="0">
                <a:tc>
                  <a:txBody>
                    <a:bodyPr/>
                    <a:lstStyle/>
                    <a:p>
                      <a:r>
                        <a:rPr lang="en-IN">
                          <a:solidFill>
                            <a:schemeClr val="bg1"/>
                          </a:solidFill>
                        </a:rPr>
                        <a:t>Decision Tree</a:t>
                      </a:r>
                    </a:p>
                  </a:txBody>
                  <a:tcPr anchor="ctr">
                    <a:solidFill>
                      <a:schemeClr val="tx1">
                        <a:lumMod val="65000"/>
                        <a:lumOff val="35000"/>
                      </a:schemeClr>
                    </a:solidFill>
                  </a:tcPr>
                </a:tc>
                <a:tc>
                  <a:txBody>
                    <a:bodyPr/>
                    <a:lstStyle/>
                    <a:p>
                      <a:r>
                        <a:rPr lang="en-IN">
                          <a:solidFill>
                            <a:schemeClr val="bg1"/>
                          </a:solidFill>
                        </a:rPr>
                        <a:t>10,033</a:t>
                      </a:r>
                    </a:p>
                  </a:txBody>
                  <a:tcPr anchor="ctr">
                    <a:solidFill>
                      <a:schemeClr val="tx1">
                        <a:lumMod val="65000"/>
                        <a:lumOff val="35000"/>
                      </a:schemeClr>
                    </a:solidFill>
                  </a:tcPr>
                </a:tc>
                <a:tc>
                  <a:txBody>
                    <a:bodyPr/>
                    <a:lstStyle/>
                    <a:p>
                      <a:r>
                        <a:rPr lang="en-IN" dirty="0">
                          <a:solidFill>
                            <a:schemeClr val="bg1"/>
                          </a:solidFill>
                        </a:rPr>
                        <a:t>9,492</a:t>
                      </a:r>
                    </a:p>
                  </a:txBody>
                  <a:tcPr anchor="ctr">
                    <a:solidFill>
                      <a:schemeClr val="tx1">
                        <a:lumMod val="65000"/>
                        <a:lumOff val="35000"/>
                      </a:schemeClr>
                    </a:solidFill>
                  </a:tcPr>
                </a:tc>
                <a:tc>
                  <a:txBody>
                    <a:bodyPr/>
                    <a:lstStyle/>
                    <a:p>
                      <a:r>
                        <a:rPr lang="en-IN" dirty="0">
                          <a:solidFill>
                            <a:schemeClr val="bg1"/>
                          </a:solidFill>
                        </a:rPr>
                        <a:t>1,473</a:t>
                      </a:r>
                    </a:p>
                  </a:txBody>
                  <a:tcPr anchor="ctr">
                    <a:solidFill>
                      <a:schemeClr val="tx1">
                        <a:lumMod val="65000"/>
                        <a:lumOff val="35000"/>
                      </a:schemeClr>
                    </a:solidFill>
                  </a:tcPr>
                </a:tc>
                <a:tc>
                  <a:txBody>
                    <a:bodyPr/>
                    <a:lstStyle/>
                    <a:p>
                      <a:r>
                        <a:rPr lang="en-IN">
                          <a:solidFill>
                            <a:schemeClr val="bg1"/>
                          </a:solidFill>
                        </a:rPr>
                        <a:t>931</a:t>
                      </a:r>
                    </a:p>
                  </a:txBody>
                  <a:tcPr anchor="ctr">
                    <a:solidFill>
                      <a:schemeClr val="tx1">
                        <a:lumMod val="65000"/>
                        <a:lumOff val="35000"/>
                      </a:schemeClr>
                    </a:solidFill>
                  </a:tcPr>
                </a:tc>
                <a:tc>
                  <a:txBody>
                    <a:bodyPr/>
                    <a:lstStyle/>
                    <a:p>
                      <a:r>
                        <a:rPr lang="en-IN">
                          <a:solidFill>
                            <a:schemeClr val="bg1"/>
                          </a:solidFill>
                        </a:rPr>
                        <a:t>Well generalized</a:t>
                      </a:r>
                    </a:p>
                  </a:txBody>
                  <a:tcPr anchor="ctr">
                    <a:solidFill>
                      <a:schemeClr val="tx1">
                        <a:lumMod val="65000"/>
                        <a:lumOff val="35000"/>
                      </a:schemeClr>
                    </a:solidFill>
                  </a:tcPr>
                </a:tc>
                <a:extLst>
                  <a:ext uri="{0D108BD9-81ED-4DB2-BD59-A6C34878D82A}">
                    <a16:rowId xmlns:a16="http://schemas.microsoft.com/office/drawing/2014/main" val="1203327979"/>
                  </a:ext>
                </a:extLst>
              </a:tr>
              <a:tr h="0">
                <a:tc>
                  <a:txBody>
                    <a:bodyPr/>
                    <a:lstStyle/>
                    <a:p>
                      <a:r>
                        <a:rPr lang="en-IN">
                          <a:solidFill>
                            <a:schemeClr val="bg1"/>
                          </a:solidFill>
                        </a:rPr>
                        <a:t>Random Forest</a:t>
                      </a:r>
                    </a:p>
                  </a:txBody>
                  <a:tcPr anchor="ctr">
                    <a:solidFill>
                      <a:schemeClr val="tx1">
                        <a:lumMod val="65000"/>
                        <a:lumOff val="35000"/>
                      </a:schemeClr>
                    </a:solidFill>
                  </a:tcPr>
                </a:tc>
                <a:tc>
                  <a:txBody>
                    <a:bodyPr/>
                    <a:lstStyle/>
                    <a:p>
                      <a:r>
                        <a:rPr lang="en-IN">
                          <a:solidFill>
                            <a:schemeClr val="bg1"/>
                          </a:solidFill>
                        </a:rPr>
                        <a:t>10,560</a:t>
                      </a:r>
                    </a:p>
                  </a:txBody>
                  <a:tcPr anchor="ctr">
                    <a:solidFill>
                      <a:schemeClr val="tx1">
                        <a:lumMod val="65000"/>
                        <a:lumOff val="35000"/>
                      </a:schemeClr>
                    </a:solidFill>
                  </a:tcPr>
                </a:tc>
                <a:tc>
                  <a:txBody>
                    <a:bodyPr/>
                    <a:lstStyle/>
                    <a:p>
                      <a:r>
                        <a:rPr lang="en-IN">
                          <a:solidFill>
                            <a:schemeClr val="bg1"/>
                          </a:solidFill>
                        </a:rPr>
                        <a:t>9,533</a:t>
                      </a:r>
                    </a:p>
                  </a:txBody>
                  <a:tcPr anchor="ctr">
                    <a:solidFill>
                      <a:schemeClr val="tx1">
                        <a:lumMod val="65000"/>
                        <a:lumOff val="35000"/>
                      </a:schemeClr>
                    </a:solidFill>
                  </a:tcPr>
                </a:tc>
                <a:tc>
                  <a:txBody>
                    <a:bodyPr/>
                    <a:lstStyle/>
                    <a:p>
                      <a:r>
                        <a:rPr lang="en-IN" dirty="0">
                          <a:solidFill>
                            <a:schemeClr val="bg1"/>
                          </a:solidFill>
                        </a:rPr>
                        <a:t>1,432</a:t>
                      </a:r>
                    </a:p>
                  </a:txBody>
                  <a:tcPr anchor="ctr">
                    <a:solidFill>
                      <a:schemeClr val="tx1">
                        <a:lumMod val="65000"/>
                        <a:lumOff val="35000"/>
                      </a:schemeClr>
                    </a:solidFill>
                  </a:tcPr>
                </a:tc>
                <a:tc>
                  <a:txBody>
                    <a:bodyPr/>
                    <a:lstStyle/>
                    <a:p>
                      <a:r>
                        <a:rPr lang="en-IN" dirty="0">
                          <a:solidFill>
                            <a:schemeClr val="bg1"/>
                          </a:solidFill>
                        </a:rPr>
                        <a:t>404</a:t>
                      </a:r>
                    </a:p>
                  </a:txBody>
                  <a:tcPr anchor="ctr">
                    <a:solidFill>
                      <a:schemeClr val="tx1">
                        <a:lumMod val="65000"/>
                        <a:lumOff val="35000"/>
                      </a:schemeClr>
                    </a:solidFill>
                  </a:tcPr>
                </a:tc>
                <a:tc>
                  <a:txBody>
                    <a:bodyPr/>
                    <a:lstStyle/>
                    <a:p>
                      <a:r>
                        <a:rPr lang="en-IN">
                          <a:solidFill>
                            <a:schemeClr val="bg1"/>
                          </a:solidFill>
                        </a:rPr>
                        <a:t>Well generalized</a:t>
                      </a:r>
                    </a:p>
                  </a:txBody>
                  <a:tcPr anchor="ctr">
                    <a:solidFill>
                      <a:schemeClr val="tx1">
                        <a:lumMod val="65000"/>
                        <a:lumOff val="35000"/>
                      </a:schemeClr>
                    </a:solidFill>
                  </a:tcPr>
                </a:tc>
                <a:extLst>
                  <a:ext uri="{0D108BD9-81ED-4DB2-BD59-A6C34878D82A}">
                    <a16:rowId xmlns:a16="http://schemas.microsoft.com/office/drawing/2014/main" val="2797749305"/>
                  </a:ext>
                </a:extLst>
              </a:tr>
              <a:tr h="0">
                <a:tc>
                  <a:txBody>
                    <a:bodyPr/>
                    <a:lstStyle/>
                    <a:p>
                      <a:r>
                        <a:rPr lang="en-IN">
                          <a:solidFill>
                            <a:schemeClr val="bg1"/>
                          </a:solidFill>
                        </a:rPr>
                        <a:t>XGBoost</a:t>
                      </a:r>
                    </a:p>
                  </a:txBody>
                  <a:tcPr anchor="ctr">
                    <a:solidFill>
                      <a:schemeClr val="tx1">
                        <a:lumMod val="65000"/>
                        <a:lumOff val="35000"/>
                      </a:schemeClr>
                    </a:solidFill>
                  </a:tcPr>
                </a:tc>
                <a:tc>
                  <a:txBody>
                    <a:bodyPr/>
                    <a:lstStyle/>
                    <a:p>
                      <a:r>
                        <a:rPr lang="en-IN">
                          <a:solidFill>
                            <a:schemeClr val="bg1"/>
                          </a:solidFill>
                        </a:rPr>
                        <a:t>10,480</a:t>
                      </a:r>
                    </a:p>
                  </a:txBody>
                  <a:tcPr anchor="ctr">
                    <a:solidFill>
                      <a:schemeClr val="tx1">
                        <a:lumMod val="65000"/>
                        <a:lumOff val="35000"/>
                      </a:schemeClr>
                    </a:solidFill>
                  </a:tcPr>
                </a:tc>
                <a:tc>
                  <a:txBody>
                    <a:bodyPr/>
                    <a:lstStyle/>
                    <a:p>
                      <a:r>
                        <a:rPr lang="en-IN">
                          <a:solidFill>
                            <a:schemeClr val="bg1"/>
                          </a:solidFill>
                        </a:rPr>
                        <a:t>10,209</a:t>
                      </a:r>
                    </a:p>
                  </a:txBody>
                  <a:tcPr anchor="ctr">
                    <a:solidFill>
                      <a:schemeClr val="tx1">
                        <a:lumMod val="65000"/>
                        <a:lumOff val="35000"/>
                      </a:schemeClr>
                    </a:solidFill>
                  </a:tcPr>
                </a:tc>
                <a:tc>
                  <a:txBody>
                    <a:bodyPr/>
                    <a:lstStyle/>
                    <a:p>
                      <a:r>
                        <a:rPr lang="en-IN">
                          <a:solidFill>
                            <a:schemeClr val="bg1"/>
                          </a:solidFill>
                        </a:rPr>
                        <a:t>756</a:t>
                      </a:r>
                    </a:p>
                  </a:txBody>
                  <a:tcPr anchor="ctr">
                    <a:solidFill>
                      <a:schemeClr val="tx1">
                        <a:lumMod val="65000"/>
                        <a:lumOff val="35000"/>
                      </a:schemeClr>
                    </a:solidFill>
                  </a:tcPr>
                </a:tc>
                <a:tc>
                  <a:txBody>
                    <a:bodyPr/>
                    <a:lstStyle/>
                    <a:p>
                      <a:r>
                        <a:rPr lang="en-IN" dirty="0">
                          <a:solidFill>
                            <a:schemeClr val="bg1"/>
                          </a:solidFill>
                        </a:rPr>
                        <a:t>484</a:t>
                      </a:r>
                    </a:p>
                  </a:txBody>
                  <a:tcPr anchor="ctr">
                    <a:solidFill>
                      <a:schemeClr val="tx1">
                        <a:lumMod val="65000"/>
                        <a:lumOff val="35000"/>
                      </a:schemeClr>
                    </a:solidFill>
                  </a:tcPr>
                </a:tc>
                <a:tc>
                  <a:txBody>
                    <a:bodyPr/>
                    <a:lstStyle/>
                    <a:p>
                      <a:r>
                        <a:rPr lang="en-IN" dirty="0">
                          <a:solidFill>
                            <a:schemeClr val="bg1"/>
                          </a:solidFill>
                        </a:rPr>
                        <a:t>Well generalized</a:t>
                      </a:r>
                    </a:p>
                  </a:txBody>
                  <a:tcPr anchor="ctr">
                    <a:solidFill>
                      <a:schemeClr val="tx1">
                        <a:lumMod val="65000"/>
                        <a:lumOff val="35000"/>
                      </a:schemeClr>
                    </a:solidFill>
                  </a:tcPr>
                </a:tc>
                <a:extLst>
                  <a:ext uri="{0D108BD9-81ED-4DB2-BD59-A6C34878D82A}">
                    <a16:rowId xmlns:a16="http://schemas.microsoft.com/office/drawing/2014/main" val="4231089395"/>
                  </a:ext>
                </a:extLst>
              </a:tr>
            </a:tbl>
          </a:graphicData>
        </a:graphic>
      </p:graphicFrame>
      <p:sp>
        <p:nvSpPr>
          <p:cNvPr id="3" name="Text 0">
            <a:extLst>
              <a:ext uri="{FF2B5EF4-FFF2-40B4-BE49-F238E27FC236}">
                <a16:creationId xmlns:a16="http://schemas.microsoft.com/office/drawing/2014/main" id="{4978B55F-1A48-2458-8BF5-6D6398A1680B}"/>
              </a:ext>
            </a:extLst>
          </p:cNvPr>
          <p:cNvSpPr/>
          <p:nvPr/>
        </p:nvSpPr>
        <p:spPr>
          <a:xfrm>
            <a:off x="526694" y="486762"/>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Overfitting and Underfitting Checking</a:t>
            </a:r>
          </a:p>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Based On Confusion Matrix</a:t>
            </a:r>
          </a:p>
        </p:txBody>
      </p:sp>
      <p:sp>
        <p:nvSpPr>
          <p:cNvPr id="4" name="TextBox 3">
            <a:extLst>
              <a:ext uri="{FF2B5EF4-FFF2-40B4-BE49-F238E27FC236}">
                <a16:creationId xmlns:a16="http://schemas.microsoft.com/office/drawing/2014/main" id="{5B60F283-30CD-27E2-ABF9-FE93BDD4E4C6}"/>
              </a:ext>
            </a:extLst>
          </p:cNvPr>
          <p:cNvSpPr txBox="1"/>
          <p:nvPr/>
        </p:nvSpPr>
        <p:spPr>
          <a:xfrm>
            <a:off x="602166" y="5419666"/>
            <a:ext cx="12968868" cy="203132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Well generalized models have low FP and FN and similar performance across both classes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Naive Bayes has high FP and FN, showing bias and less confidence in separating classes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Random Forest and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 both had high TP and low FN, making them very strong performers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Decision Tree and KNN also performed well, but slightly more false predictions compared to ensemble methods</a:t>
            </a:r>
            <a:endParaRPr lang="en-IN" dirty="0">
              <a:solidFill>
                <a:schemeClr val="bg1"/>
              </a:solidFill>
            </a:endParaRPr>
          </a:p>
        </p:txBody>
      </p:sp>
    </p:spTree>
    <p:extLst>
      <p:ext uri="{BB962C8B-B14F-4D97-AF65-F5344CB8AC3E}">
        <p14:creationId xmlns:p14="http://schemas.microsoft.com/office/powerpoint/2010/main" val="2376741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B7E8E-E060-9FF7-B427-C78C75F22397}"/>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346331B3-2ABD-F19A-E14F-7EAC6EA89E45}"/>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ROC and AUC Curves</a:t>
            </a:r>
          </a:p>
        </p:txBody>
      </p:sp>
      <p:sp>
        <p:nvSpPr>
          <p:cNvPr id="15" name="Text 0">
            <a:extLst>
              <a:ext uri="{FF2B5EF4-FFF2-40B4-BE49-F238E27FC236}">
                <a16:creationId xmlns:a16="http://schemas.microsoft.com/office/drawing/2014/main" id="{9C95C85D-AE61-CA81-FCC9-EA0CFF4C70E0}"/>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err="1">
                <a:solidFill>
                  <a:srgbClr val="9998FF"/>
                </a:solidFill>
                <a:latin typeface="Barlow Bold" pitchFamily="34" charset="0"/>
                <a:ea typeface="Barlow Bold" pitchFamily="34" charset="-122"/>
                <a:cs typeface="Barlow Bold" pitchFamily="34" charset="-120"/>
              </a:rPr>
              <a:t>XGBoost</a:t>
            </a:r>
            <a:endParaRPr lang="en-US" sz="4000" b="1" dirty="0">
              <a:solidFill>
                <a:srgbClr val="9998FF"/>
              </a:solidFill>
              <a:latin typeface="Barlow Bold" pitchFamily="34" charset="0"/>
              <a:ea typeface="Barlow Bold" pitchFamily="34" charset="-122"/>
              <a:cs typeface="Barlow Bold" pitchFamily="34" charset="-120"/>
            </a:endParaRPr>
          </a:p>
        </p:txBody>
      </p:sp>
      <p:sp>
        <p:nvSpPr>
          <p:cNvPr id="6" name="TextBox 5">
            <a:extLst>
              <a:ext uri="{FF2B5EF4-FFF2-40B4-BE49-F238E27FC236}">
                <a16:creationId xmlns:a16="http://schemas.microsoft.com/office/drawing/2014/main" id="{7EEECC49-BD3E-EC89-E925-8DE26289143C}"/>
              </a:ext>
            </a:extLst>
          </p:cNvPr>
          <p:cNvSpPr txBox="1"/>
          <p:nvPr/>
        </p:nvSpPr>
        <p:spPr>
          <a:xfrm>
            <a:off x="307167" y="5280158"/>
            <a:ext cx="7159083" cy="286232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curve shows how well the model separates the two classes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closer the curve is to the top-left corner, the better the performance — and this one is almost perfect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AUC score is 0.98, meaning the model is 98% effective at distinguishing between positive and negative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confirms that Logistic Regression is highly reliable for this classification task</a:t>
            </a:r>
            <a:endParaRPr lang="en-IN" dirty="0">
              <a:solidFill>
                <a:schemeClr val="bg1"/>
              </a:solidFill>
            </a:endParaRPr>
          </a:p>
        </p:txBody>
      </p:sp>
      <p:sp>
        <p:nvSpPr>
          <p:cNvPr id="11" name="TextBox 10">
            <a:extLst>
              <a:ext uri="{FF2B5EF4-FFF2-40B4-BE49-F238E27FC236}">
                <a16:creationId xmlns:a16="http://schemas.microsoft.com/office/drawing/2014/main" id="{4994658F-2CFF-4B26-06C0-9C3FF5B77949}"/>
              </a:ext>
            </a:extLst>
          </p:cNvPr>
          <p:cNvSpPr txBox="1"/>
          <p:nvPr/>
        </p:nvSpPr>
        <p:spPr>
          <a:xfrm>
            <a:off x="7967563" y="5280156"/>
            <a:ext cx="6591571" cy="258532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AUC (Area Under Curve) is 0.99, meaning the model is almost perfect at telling the difference between subscribers and non-subscribers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Compared to other models,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 shows the highest discrimination power with minimal false positives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confirms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 is one of the best-performing models in our comparison</a:t>
            </a:r>
            <a:endParaRPr lang="en-IN" dirty="0">
              <a:solidFill>
                <a:schemeClr val="bg1"/>
              </a:solidFill>
            </a:endParaRPr>
          </a:p>
        </p:txBody>
      </p:sp>
      <p:pic>
        <p:nvPicPr>
          <p:cNvPr id="3" name="Picture 2">
            <a:extLst>
              <a:ext uri="{FF2B5EF4-FFF2-40B4-BE49-F238E27FC236}">
                <a16:creationId xmlns:a16="http://schemas.microsoft.com/office/drawing/2014/main" id="{FF5000B4-4114-55D5-3EA5-BC8906C023F7}"/>
              </a:ext>
            </a:extLst>
          </p:cNvPr>
          <p:cNvPicPr>
            <a:picLocks noChangeAspect="1"/>
          </p:cNvPicPr>
          <p:nvPr/>
        </p:nvPicPr>
        <p:blipFill>
          <a:blip r:embed="rId2"/>
          <a:stretch>
            <a:fillRect/>
          </a:stretch>
        </p:blipFill>
        <p:spPr>
          <a:xfrm>
            <a:off x="382692" y="1144137"/>
            <a:ext cx="7008032" cy="3930097"/>
          </a:xfrm>
          <a:prstGeom prst="rect">
            <a:avLst/>
          </a:prstGeom>
        </p:spPr>
      </p:pic>
      <p:pic>
        <p:nvPicPr>
          <p:cNvPr id="8" name="Picture 7">
            <a:extLst>
              <a:ext uri="{FF2B5EF4-FFF2-40B4-BE49-F238E27FC236}">
                <a16:creationId xmlns:a16="http://schemas.microsoft.com/office/drawing/2014/main" id="{70407C28-4D45-63E3-1468-406AD6C6BEC6}"/>
              </a:ext>
            </a:extLst>
          </p:cNvPr>
          <p:cNvPicPr>
            <a:picLocks noChangeAspect="1"/>
          </p:cNvPicPr>
          <p:nvPr/>
        </p:nvPicPr>
        <p:blipFill>
          <a:blip r:embed="rId3"/>
          <a:stretch>
            <a:fillRect/>
          </a:stretch>
        </p:blipFill>
        <p:spPr>
          <a:xfrm>
            <a:off x="8066199" y="1144136"/>
            <a:ext cx="6394301" cy="3930097"/>
          </a:xfrm>
          <a:prstGeom prst="rect">
            <a:avLst/>
          </a:prstGeom>
        </p:spPr>
      </p:pic>
    </p:spTree>
    <p:extLst>
      <p:ext uri="{BB962C8B-B14F-4D97-AF65-F5344CB8AC3E}">
        <p14:creationId xmlns:p14="http://schemas.microsoft.com/office/powerpoint/2010/main" val="671252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DE9E-7DBD-8CE3-C453-EE497C4F424E}"/>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5AA64DF5-9CA7-9837-84E0-0F4049814311}"/>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Naive Bayes</a:t>
            </a:r>
          </a:p>
        </p:txBody>
      </p:sp>
      <p:sp>
        <p:nvSpPr>
          <p:cNvPr id="15" name="Text 0">
            <a:extLst>
              <a:ext uri="{FF2B5EF4-FFF2-40B4-BE49-F238E27FC236}">
                <a16:creationId xmlns:a16="http://schemas.microsoft.com/office/drawing/2014/main" id="{834AEB48-9D18-6EAD-269C-ED44FF1CB469}"/>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K-Nearest Neighbors</a:t>
            </a:r>
          </a:p>
        </p:txBody>
      </p:sp>
      <p:sp>
        <p:nvSpPr>
          <p:cNvPr id="6" name="TextBox 5">
            <a:extLst>
              <a:ext uri="{FF2B5EF4-FFF2-40B4-BE49-F238E27FC236}">
                <a16:creationId xmlns:a16="http://schemas.microsoft.com/office/drawing/2014/main" id="{A5FDC66E-E9B1-5A56-6701-8B00CF3114D3}"/>
              </a:ext>
            </a:extLst>
          </p:cNvPr>
          <p:cNvSpPr txBox="1"/>
          <p:nvPr/>
        </p:nvSpPr>
        <p:spPr>
          <a:xfrm>
            <a:off x="307167" y="5280158"/>
            <a:ext cx="7159083" cy="2585323"/>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The AUC score is 0.89, which means the model does a good job at separating classes, but it's not as strong as Logistic Regression or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suggests Naive Bayes struggles a bit more with class overlap or data complexity.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Overall, it performs well as a baseline, but has lower predictive power compared to other models</a:t>
            </a:r>
            <a:endParaRPr lang="en-IN" dirty="0">
              <a:solidFill>
                <a:schemeClr val="bg1"/>
              </a:solidFill>
            </a:endParaRPr>
          </a:p>
        </p:txBody>
      </p:sp>
      <p:sp>
        <p:nvSpPr>
          <p:cNvPr id="11" name="TextBox 10">
            <a:extLst>
              <a:ext uri="{FF2B5EF4-FFF2-40B4-BE49-F238E27FC236}">
                <a16:creationId xmlns:a16="http://schemas.microsoft.com/office/drawing/2014/main" id="{06E5CD16-43B9-6F3A-AB0C-F8997BEFE834}"/>
              </a:ext>
            </a:extLst>
          </p:cNvPr>
          <p:cNvSpPr txBox="1"/>
          <p:nvPr/>
        </p:nvSpPr>
        <p:spPr>
          <a:xfrm>
            <a:off x="7967563" y="5280156"/>
            <a:ext cx="6591571"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With an AUC score of 0.97, KNN demonstrates high sensitivity and low false positive rate.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This indicates the model is highly capable of distinguishing between clients who will subscribe and those who won’t.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Overall, KNN proves to be a reliable and effective classifier in this task</a:t>
            </a:r>
            <a:endParaRPr lang="en-IN" dirty="0">
              <a:solidFill>
                <a:schemeClr val="bg1"/>
              </a:solidFill>
            </a:endParaRPr>
          </a:p>
        </p:txBody>
      </p:sp>
      <p:pic>
        <p:nvPicPr>
          <p:cNvPr id="4" name="Picture 3">
            <a:extLst>
              <a:ext uri="{FF2B5EF4-FFF2-40B4-BE49-F238E27FC236}">
                <a16:creationId xmlns:a16="http://schemas.microsoft.com/office/drawing/2014/main" id="{289DBA32-065A-A19F-53C4-8B90721408B7}"/>
              </a:ext>
            </a:extLst>
          </p:cNvPr>
          <p:cNvPicPr>
            <a:picLocks noChangeAspect="1"/>
          </p:cNvPicPr>
          <p:nvPr/>
        </p:nvPicPr>
        <p:blipFill>
          <a:blip r:embed="rId2"/>
          <a:stretch>
            <a:fillRect/>
          </a:stretch>
        </p:blipFill>
        <p:spPr>
          <a:xfrm>
            <a:off x="307168" y="1144136"/>
            <a:ext cx="7008032" cy="3930097"/>
          </a:xfrm>
          <a:prstGeom prst="rect">
            <a:avLst/>
          </a:prstGeom>
        </p:spPr>
      </p:pic>
      <p:pic>
        <p:nvPicPr>
          <p:cNvPr id="9" name="Picture 8">
            <a:extLst>
              <a:ext uri="{FF2B5EF4-FFF2-40B4-BE49-F238E27FC236}">
                <a16:creationId xmlns:a16="http://schemas.microsoft.com/office/drawing/2014/main" id="{E1C414A0-034D-D6BB-DAF5-66D9036098D4}"/>
              </a:ext>
            </a:extLst>
          </p:cNvPr>
          <p:cNvPicPr>
            <a:picLocks noChangeAspect="1"/>
          </p:cNvPicPr>
          <p:nvPr/>
        </p:nvPicPr>
        <p:blipFill>
          <a:blip r:embed="rId3"/>
          <a:stretch>
            <a:fillRect/>
          </a:stretch>
        </p:blipFill>
        <p:spPr>
          <a:xfrm>
            <a:off x="7967563" y="1144135"/>
            <a:ext cx="6389370" cy="3930097"/>
          </a:xfrm>
          <a:prstGeom prst="rect">
            <a:avLst/>
          </a:prstGeom>
        </p:spPr>
      </p:pic>
    </p:spTree>
    <p:extLst>
      <p:ext uri="{BB962C8B-B14F-4D97-AF65-F5344CB8AC3E}">
        <p14:creationId xmlns:p14="http://schemas.microsoft.com/office/powerpoint/2010/main" val="3278643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343FF-78F3-92D6-8A35-F943CC549C1D}"/>
            </a:ext>
          </a:extLst>
        </p:cNvPr>
        <p:cNvGrpSpPr/>
        <p:nvPr/>
      </p:nvGrpSpPr>
      <p:grpSpPr>
        <a:xfrm>
          <a:off x="0" y="0"/>
          <a:ext cx="0" cy="0"/>
          <a:chOff x="0" y="0"/>
          <a:chExt cx="0" cy="0"/>
        </a:xfrm>
      </p:grpSpPr>
      <p:sp>
        <p:nvSpPr>
          <p:cNvPr id="5" name="Text 0">
            <a:extLst>
              <a:ext uri="{FF2B5EF4-FFF2-40B4-BE49-F238E27FC236}">
                <a16:creationId xmlns:a16="http://schemas.microsoft.com/office/drawing/2014/main" id="{9D29DAF4-E518-D690-AFA8-8BA4014A9EF5}"/>
              </a:ext>
            </a:extLst>
          </p:cNvPr>
          <p:cNvSpPr/>
          <p:nvPr/>
        </p:nvSpPr>
        <p:spPr>
          <a:xfrm>
            <a:off x="446047"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Decision Tree</a:t>
            </a:r>
          </a:p>
        </p:txBody>
      </p:sp>
      <p:sp>
        <p:nvSpPr>
          <p:cNvPr id="15" name="Text 0">
            <a:extLst>
              <a:ext uri="{FF2B5EF4-FFF2-40B4-BE49-F238E27FC236}">
                <a16:creationId xmlns:a16="http://schemas.microsoft.com/office/drawing/2014/main" id="{8C263C8B-294C-9E13-0E35-79AD5F37A050}"/>
              </a:ext>
            </a:extLst>
          </p:cNvPr>
          <p:cNvSpPr/>
          <p:nvPr/>
        </p:nvSpPr>
        <p:spPr>
          <a:xfrm>
            <a:off x="8116519" y="295275"/>
            <a:ext cx="6389370" cy="642938"/>
          </a:xfrm>
          <a:prstGeom prst="rect">
            <a:avLst/>
          </a:prstGeom>
          <a:noFill/>
          <a:ln/>
        </p:spPr>
        <p:txBody>
          <a:bodyPr wrap="none" lIns="0" tIns="0" rIns="0" bIns="0" rtlCol="0" anchor="t"/>
          <a:lstStyle/>
          <a:p>
            <a:pPr marL="0" indent="0" algn="l">
              <a:lnSpc>
                <a:spcPts val="5050"/>
              </a:lnSpc>
              <a:buNone/>
            </a:pPr>
            <a:r>
              <a:rPr lang="en-US" sz="4000" b="1" dirty="0">
                <a:solidFill>
                  <a:srgbClr val="9998FF"/>
                </a:solidFill>
                <a:latin typeface="Barlow Bold" pitchFamily="34" charset="0"/>
                <a:ea typeface="Barlow Bold" pitchFamily="34" charset="-122"/>
                <a:cs typeface="Barlow Bold" pitchFamily="34" charset="-120"/>
              </a:rPr>
              <a:t>Random Forest</a:t>
            </a:r>
          </a:p>
        </p:txBody>
      </p:sp>
      <p:sp>
        <p:nvSpPr>
          <p:cNvPr id="6" name="TextBox 5">
            <a:extLst>
              <a:ext uri="{FF2B5EF4-FFF2-40B4-BE49-F238E27FC236}">
                <a16:creationId xmlns:a16="http://schemas.microsoft.com/office/drawing/2014/main" id="{277C6AEF-BDE4-33CF-4A7D-C91801941B7B}"/>
              </a:ext>
            </a:extLst>
          </p:cNvPr>
          <p:cNvSpPr txBox="1"/>
          <p:nvPr/>
        </p:nvSpPr>
        <p:spPr>
          <a:xfrm>
            <a:off x="307167" y="5280158"/>
            <a:ext cx="7159083"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With an AUC score of 0.95, the Decision Tree model performs strongly in distinguishing between the classes.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However, compared to models like </a:t>
            </a:r>
            <a:r>
              <a:rPr kumimoji="0" lang="en-US" altLang="en-US" sz="1800" b="0" i="0" u="none" strike="noStrike" cap="none" normalizeH="0" baseline="0" dirty="0" err="1">
                <a:ln>
                  <a:noFill/>
                </a:ln>
                <a:solidFill>
                  <a:schemeClr val="bg1"/>
                </a:solidFill>
                <a:effectLst/>
                <a:latin typeface="Arial" panose="020B0604020202020204" pitchFamily="34" charset="0"/>
              </a:rPr>
              <a:t>XGBoost</a:t>
            </a:r>
            <a:r>
              <a:rPr kumimoji="0" lang="en-US" altLang="en-US" sz="1800" b="0" i="0" u="none" strike="noStrike" cap="none" normalizeH="0" baseline="0" dirty="0">
                <a:ln>
                  <a:noFill/>
                </a:ln>
                <a:solidFill>
                  <a:schemeClr val="bg1"/>
                </a:solidFill>
                <a:effectLst/>
                <a:latin typeface="Arial" panose="020B0604020202020204" pitchFamily="34" charset="0"/>
              </a:rPr>
              <a:t> or Random Forest, it may be more prone to overfitting.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Overall, the model offers solid performance, especially when trained on balanced and clean data.</a:t>
            </a:r>
            <a:endParaRPr lang="en-IN" dirty="0">
              <a:solidFill>
                <a:schemeClr val="bg1"/>
              </a:solidFill>
            </a:endParaRPr>
          </a:p>
        </p:txBody>
      </p:sp>
      <p:sp>
        <p:nvSpPr>
          <p:cNvPr id="11" name="TextBox 10">
            <a:extLst>
              <a:ext uri="{FF2B5EF4-FFF2-40B4-BE49-F238E27FC236}">
                <a16:creationId xmlns:a16="http://schemas.microsoft.com/office/drawing/2014/main" id="{A5F0B52D-2C17-7A95-FB2C-4A132A88AA16}"/>
              </a:ext>
            </a:extLst>
          </p:cNvPr>
          <p:cNvSpPr txBox="1"/>
          <p:nvPr/>
        </p:nvSpPr>
        <p:spPr>
          <a:xfrm>
            <a:off x="7967563" y="5280156"/>
            <a:ext cx="6591571"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With an AUC score of 0.97, the model handles class separation very effectively.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It achieves a strong balance between true positive rate and false positive rate.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Overall, Random Forest proves to be a highly reliable model with consistent classification strength across all thresholds.</a:t>
            </a:r>
            <a:endParaRPr lang="en-IN" dirty="0">
              <a:solidFill>
                <a:schemeClr val="bg1"/>
              </a:solidFill>
            </a:endParaRPr>
          </a:p>
        </p:txBody>
      </p:sp>
      <p:pic>
        <p:nvPicPr>
          <p:cNvPr id="3" name="Picture 2">
            <a:extLst>
              <a:ext uri="{FF2B5EF4-FFF2-40B4-BE49-F238E27FC236}">
                <a16:creationId xmlns:a16="http://schemas.microsoft.com/office/drawing/2014/main" id="{181BFDEA-87EC-1552-CA67-1C70EE1CAA8B}"/>
              </a:ext>
            </a:extLst>
          </p:cNvPr>
          <p:cNvPicPr>
            <a:picLocks noChangeAspect="1"/>
          </p:cNvPicPr>
          <p:nvPr/>
        </p:nvPicPr>
        <p:blipFill>
          <a:blip r:embed="rId2"/>
          <a:stretch>
            <a:fillRect/>
          </a:stretch>
        </p:blipFill>
        <p:spPr>
          <a:xfrm>
            <a:off x="273467" y="1144135"/>
            <a:ext cx="7008032" cy="3930097"/>
          </a:xfrm>
          <a:prstGeom prst="rect">
            <a:avLst/>
          </a:prstGeom>
        </p:spPr>
      </p:pic>
      <p:pic>
        <p:nvPicPr>
          <p:cNvPr id="8" name="Picture 7">
            <a:extLst>
              <a:ext uri="{FF2B5EF4-FFF2-40B4-BE49-F238E27FC236}">
                <a16:creationId xmlns:a16="http://schemas.microsoft.com/office/drawing/2014/main" id="{4E5F1E0A-329F-776A-77A7-76616DCAB532}"/>
              </a:ext>
            </a:extLst>
          </p:cNvPr>
          <p:cNvPicPr>
            <a:picLocks noChangeAspect="1"/>
          </p:cNvPicPr>
          <p:nvPr/>
        </p:nvPicPr>
        <p:blipFill>
          <a:blip r:embed="rId3"/>
          <a:stretch>
            <a:fillRect/>
          </a:stretch>
        </p:blipFill>
        <p:spPr>
          <a:xfrm>
            <a:off x="7967563" y="1144134"/>
            <a:ext cx="6355670" cy="3930097"/>
          </a:xfrm>
          <a:prstGeom prst="rect">
            <a:avLst/>
          </a:prstGeom>
        </p:spPr>
      </p:pic>
    </p:spTree>
    <p:extLst>
      <p:ext uri="{BB962C8B-B14F-4D97-AF65-F5344CB8AC3E}">
        <p14:creationId xmlns:p14="http://schemas.microsoft.com/office/powerpoint/2010/main" val="1443422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98E2-3A09-456A-AE00-219026650A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1D1D312-88F9-EE99-70F5-095040584C30}"/>
              </a:ext>
            </a:extLst>
          </p:cNvPr>
          <p:cNvSpPr/>
          <p:nvPr/>
        </p:nvSpPr>
        <p:spPr>
          <a:xfrm>
            <a:off x="503621" y="587686"/>
            <a:ext cx="7659072"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rPr>
              <a:t>Hyperparameter Tuning Comparison</a:t>
            </a:r>
            <a:endParaRPr lang="en-US" sz="3700" dirty="0"/>
          </a:p>
        </p:txBody>
      </p:sp>
      <p:sp>
        <p:nvSpPr>
          <p:cNvPr id="6" name="Shape 1">
            <a:extLst>
              <a:ext uri="{FF2B5EF4-FFF2-40B4-BE49-F238E27FC236}">
                <a16:creationId xmlns:a16="http://schemas.microsoft.com/office/drawing/2014/main" id="{5E67A2C4-812D-F73D-D397-438494FCF0B4}"/>
              </a:ext>
            </a:extLst>
          </p:cNvPr>
          <p:cNvSpPr/>
          <p:nvPr/>
        </p:nvSpPr>
        <p:spPr>
          <a:xfrm>
            <a:off x="496000" y="2333383"/>
            <a:ext cx="6526659" cy="3967282"/>
          </a:xfrm>
          <a:prstGeom prst="roundRect">
            <a:avLst>
              <a:gd name="adj" fmla="val 6224"/>
            </a:avLst>
          </a:prstGeom>
          <a:noFill/>
          <a:ln w="7620">
            <a:solidFill>
              <a:srgbClr val="FFFFFF">
                <a:alpha val="24000"/>
              </a:srgbClr>
            </a:solidFill>
            <a:prstDash val="solid"/>
          </a:ln>
        </p:spPr>
        <p:txBody>
          <a:bodyPr/>
          <a:lstStyle/>
          <a:p>
            <a:endParaRPr lang="en-US"/>
          </a:p>
        </p:txBody>
      </p:sp>
      <p:sp>
        <p:nvSpPr>
          <p:cNvPr id="7" name="Shape 2">
            <a:extLst>
              <a:ext uri="{FF2B5EF4-FFF2-40B4-BE49-F238E27FC236}">
                <a16:creationId xmlns:a16="http://schemas.microsoft.com/office/drawing/2014/main" id="{EF843D11-BB5C-81A1-5611-5F96692CC4BB}"/>
              </a:ext>
            </a:extLst>
          </p:cNvPr>
          <p:cNvSpPr/>
          <p:nvPr/>
        </p:nvSpPr>
        <p:spPr>
          <a:xfrm>
            <a:off x="503621" y="2341003"/>
            <a:ext cx="6519038" cy="565666"/>
          </a:xfrm>
          <a:prstGeom prst="rect">
            <a:avLst/>
          </a:prstGeom>
          <a:solidFill>
            <a:srgbClr val="FFFFFF">
              <a:alpha val="4000"/>
            </a:srgbClr>
          </a:solidFill>
          <a:ln/>
        </p:spPr>
        <p:txBody>
          <a:bodyPr/>
          <a:lstStyle/>
          <a:p>
            <a:endParaRPr lang="en-US"/>
          </a:p>
        </p:txBody>
      </p:sp>
      <p:sp>
        <p:nvSpPr>
          <p:cNvPr id="8" name="Text 3">
            <a:extLst>
              <a:ext uri="{FF2B5EF4-FFF2-40B4-BE49-F238E27FC236}">
                <a16:creationId xmlns:a16="http://schemas.microsoft.com/office/drawing/2014/main" id="{B8A07348-BDE5-AF66-3A78-4335DD2D4215}"/>
              </a:ext>
            </a:extLst>
          </p:cNvPr>
          <p:cNvSpPr/>
          <p:nvPr/>
        </p:nvSpPr>
        <p:spPr>
          <a:xfrm>
            <a:off x="700669" y="2466495"/>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Model</a:t>
            </a:r>
            <a:endParaRPr lang="en-US" sz="1500" dirty="0"/>
          </a:p>
        </p:txBody>
      </p:sp>
      <p:sp>
        <p:nvSpPr>
          <p:cNvPr id="9" name="Text 4">
            <a:extLst>
              <a:ext uri="{FF2B5EF4-FFF2-40B4-BE49-F238E27FC236}">
                <a16:creationId xmlns:a16="http://schemas.microsoft.com/office/drawing/2014/main" id="{82A63E6C-3E92-633F-19D2-A52213154D1E}"/>
              </a:ext>
            </a:extLst>
          </p:cNvPr>
          <p:cNvSpPr/>
          <p:nvPr/>
        </p:nvSpPr>
        <p:spPr>
          <a:xfrm>
            <a:off x="2911302" y="2466495"/>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F1 Score (Default)</a:t>
            </a:r>
            <a:endParaRPr lang="en-US" sz="1500" dirty="0"/>
          </a:p>
        </p:txBody>
      </p:sp>
      <p:sp>
        <p:nvSpPr>
          <p:cNvPr id="10" name="Text 5">
            <a:extLst>
              <a:ext uri="{FF2B5EF4-FFF2-40B4-BE49-F238E27FC236}">
                <a16:creationId xmlns:a16="http://schemas.microsoft.com/office/drawing/2014/main" id="{EE1FE78F-4357-9077-8AF4-A62894FACB17}"/>
              </a:ext>
            </a:extLst>
          </p:cNvPr>
          <p:cNvSpPr/>
          <p:nvPr/>
        </p:nvSpPr>
        <p:spPr>
          <a:xfrm>
            <a:off x="5118126" y="2466495"/>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F1 Score (Tuned)</a:t>
            </a:r>
            <a:endParaRPr lang="en-US" sz="1500" dirty="0"/>
          </a:p>
        </p:txBody>
      </p:sp>
      <p:sp>
        <p:nvSpPr>
          <p:cNvPr id="14" name="Shape 9">
            <a:extLst>
              <a:ext uri="{FF2B5EF4-FFF2-40B4-BE49-F238E27FC236}">
                <a16:creationId xmlns:a16="http://schemas.microsoft.com/office/drawing/2014/main" id="{62A3A9F8-35AC-6581-05DD-7742BE52BC23}"/>
              </a:ext>
            </a:extLst>
          </p:cNvPr>
          <p:cNvSpPr/>
          <p:nvPr/>
        </p:nvSpPr>
        <p:spPr>
          <a:xfrm>
            <a:off x="503621" y="2906669"/>
            <a:ext cx="6519038" cy="565666"/>
          </a:xfrm>
          <a:prstGeom prst="rect">
            <a:avLst/>
          </a:prstGeom>
          <a:solidFill>
            <a:srgbClr val="000000">
              <a:alpha val="4000"/>
            </a:srgbClr>
          </a:solidFill>
          <a:ln/>
        </p:spPr>
        <p:txBody>
          <a:bodyPr/>
          <a:lstStyle/>
          <a:p>
            <a:endParaRPr lang="en-US" dirty="0"/>
          </a:p>
        </p:txBody>
      </p:sp>
      <p:sp>
        <p:nvSpPr>
          <p:cNvPr id="15" name="Text 10">
            <a:extLst>
              <a:ext uri="{FF2B5EF4-FFF2-40B4-BE49-F238E27FC236}">
                <a16:creationId xmlns:a16="http://schemas.microsoft.com/office/drawing/2014/main" id="{61763835-B2F7-49A9-5857-655AE652AF65}"/>
              </a:ext>
            </a:extLst>
          </p:cNvPr>
          <p:cNvSpPr/>
          <p:nvPr/>
        </p:nvSpPr>
        <p:spPr>
          <a:xfrm>
            <a:off x="700669" y="3032161"/>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Logistic Regression</a:t>
            </a:r>
            <a:endParaRPr lang="en-US" sz="1500" dirty="0"/>
          </a:p>
        </p:txBody>
      </p:sp>
      <p:sp>
        <p:nvSpPr>
          <p:cNvPr id="16" name="Text 11">
            <a:extLst>
              <a:ext uri="{FF2B5EF4-FFF2-40B4-BE49-F238E27FC236}">
                <a16:creationId xmlns:a16="http://schemas.microsoft.com/office/drawing/2014/main" id="{FEE4D755-1816-0600-80A1-1FE992286C2F}"/>
              </a:ext>
            </a:extLst>
          </p:cNvPr>
          <p:cNvSpPr/>
          <p:nvPr/>
        </p:nvSpPr>
        <p:spPr>
          <a:xfrm>
            <a:off x="2911302" y="3032161"/>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0.934860</a:t>
            </a:r>
            <a:endParaRPr lang="en-US" sz="1500" dirty="0"/>
          </a:p>
        </p:txBody>
      </p:sp>
      <p:sp>
        <p:nvSpPr>
          <p:cNvPr id="17" name="Text 12">
            <a:extLst>
              <a:ext uri="{FF2B5EF4-FFF2-40B4-BE49-F238E27FC236}">
                <a16:creationId xmlns:a16="http://schemas.microsoft.com/office/drawing/2014/main" id="{2371E5A3-535A-4416-BF9C-C3601A72F538}"/>
              </a:ext>
            </a:extLst>
          </p:cNvPr>
          <p:cNvSpPr/>
          <p:nvPr/>
        </p:nvSpPr>
        <p:spPr>
          <a:xfrm>
            <a:off x="5118126" y="3032161"/>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0.935080</a:t>
            </a:r>
            <a:endParaRPr lang="en-US" sz="1500" dirty="0"/>
          </a:p>
        </p:txBody>
      </p:sp>
      <p:sp>
        <p:nvSpPr>
          <p:cNvPr id="21" name="Shape 16">
            <a:extLst>
              <a:ext uri="{FF2B5EF4-FFF2-40B4-BE49-F238E27FC236}">
                <a16:creationId xmlns:a16="http://schemas.microsoft.com/office/drawing/2014/main" id="{5D4CC9F8-A435-6A9A-A843-B51BCCA15F9C}"/>
              </a:ext>
            </a:extLst>
          </p:cNvPr>
          <p:cNvSpPr/>
          <p:nvPr/>
        </p:nvSpPr>
        <p:spPr>
          <a:xfrm>
            <a:off x="503621" y="3472335"/>
            <a:ext cx="6519038" cy="565666"/>
          </a:xfrm>
          <a:prstGeom prst="rect">
            <a:avLst/>
          </a:prstGeom>
          <a:solidFill>
            <a:srgbClr val="FFFFFF">
              <a:alpha val="4000"/>
            </a:srgbClr>
          </a:solidFill>
          <a:ln/>
        </p:spPr>
        <p:txBody>
          <a:bodyPr/>
          <a:lstStyle/>
          <a:p>
            <a:endParaRPr lang="en-US"/>
          </a:p>
        </p:txBody>
      </p:sp>
      <p:sp>
        <p:nvSpPr>
          <p:cNvPr id="22" name="Text 17">
            <a:extLst>
              <a:ext uri="{FF2B5EF4-FFF2-40B4-BE49-F238E27FC236}">
                <a16:creationId xmlns:a16="http://schemas.microsoft.com/office/drawing/2014/main" id="{BEDEE34E-2F2C-BB8C-4770-499469919F4C}"/>
              </a:ext>
            </a:extLst>
          </p:cNvPr>
          <p:cNvSpPr/>
          <p:nvPr/>
        </p:nvSpPr>
        <p:spPr>
          <a:xfrm>
            <a:off x="700669" y="3597827"/>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Naive Bayes</a:t>
            </a:r>
            <a:endParaRPr lang="en-US" sz="1500" dirty="0"/>
          </a:p>
        </p:txBody>
      </p:sp>
      <p:sp>
        <p:nvSpPr>
          <p:cNvPr id="23" name="Text 18">
            <a:extLst>
              <a:ext uri="{FF2B5EF4-FFF2-40B4-BE49-F238E27FC236}">
                <a16:creationId xmlns:a16="http://schemas.microsoft.com/office/drawing/2014/main" id="{637C7B44-3DA8-7EF2-6E3A-AF5BEFF09098}"/>
              </a:ext>
            </a:extLst>
          </p:cNvPr>
          <p:cNvSpPr/>
          <p:nvPr/>
        </p:nvSpPr>
        <p:spPr>
          <a:xfrm>
            <a:off x="2911302" y="3597827"/>
            <a:ext cx="1806059" cy="314682"/>
          </a:xfrm>
          <a:prstGeom prst="rect">
            <a:avLst/>
          </a:prstGeom>
          <a:noFill/>
          <a:ln/>
        </p:spPr>
        <p:txBody>
          <a:bodyPr wrap="none" lIns="0" tIns="0" rIns="0" bIns="0" rtlCol="0" anchor="t"/>
          <a:lstStyle/>
          <a:p>
            <a:pPr>
              <a:lnSpc>
                <a:spcPts val="2450"/>
              </a:lnSpc>
            </a:pPr>
            <a:r>
              <a:rPr lang="en-US" sz="1600" dirty="0">
                <a:solidFill>
                  <a:srgbClr val="EEEFF5"/>
                </a:solidFill>
                <a:latin typeface="Montserrat" pitchFamily="34" charset="0"/>
                <a:ea typeface="Montserrat" pitchFamily="34" charset="-122"/>
                <a:cs typeface="Montserrat" pitchFamily="34" charset="-120"/>
              </a:rPr>
              <a:t>0.823418</a:t>
            </a:r>
            <a:endParaRPr lang="en-US" sz="1600" dirty="0"/>
          </a:p>
          <a:p>
            <a:pPr marL="0" indent="0" algn="l">
              <a:lnSpc>
                <a:spcPts val="2450"/>
              </a:lnSpc>
              <a:buNone/>
            </a:pPr>
            <a:endParaRPr lang="en-US" sz="1500" dirty="0"/>
          </a:p>
        </p:txBody>
      </p:sp>
      <p:sp>
        <p:nvSpPr>
          <p:cNvPr id="24" name="Text 19">
            <a:extLst>
              <a:ext uri="{FF2B5EF4-FFF2-40B4-BE49-F238E27FC236}">
                <a16:creationId xmlns:a16="http://schemas.microsoft.com/office/drawing/2014/main" id="{58E53D6A-3F36-4517-D53D-53F59A1D9A95}"/>
              </a:ext>
            </a:extLst>
          </p:cNvPr>
          <p:cNvSpPr/>
          <p:nvPr/>
        </p:nvSpPr>
        <p:spPr>
          <a:xfrm>
            <a:off x="5118126" y="3597827"/>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0.823418</a:t>
            </a:r>
            <a:endParaRPr lang="en-US" sz="1500" dirty="0"/>
          </a:p>
        </p:txBody>
      </p:sp>
      <p:sp>
        <p:nvSpPr>
          <p:cNvPr id="28" name="Shape 23">
            <a:extLst>
              <a:ext uri="{FF2B5EF4-FFF2-40B4-BE49-F238E27FC236}">
                <a16:creationId xmlns:a16="http://schemas.microsoft.com/office/drawing/2014/main" id="{B7C8676D-2CE0-05FB-3D9B-609EBA516FC5}"/>
              </a:ext>
            </a:extLst>
          </p:cNvPr>
          <p:cNvSpPr/>
          <p:nvPr/>
        </p:nvSpPr>
        <p:spPr>
          <a:xfrm>
            <a:off x="503621" y="4038001"/>
            <a:ext cx="6519038" cy="565666"/>
          </a:xfrm>
          <a:prstGeom prst="rect">
            <a:avLst/>
          </a:prstGeom>
          <a:solidFill>
            <a:srgbClr val="000000">
              <a:alpha val="4000"/>
            </a:srgbClr>
          </a:solidFill>
          <a:ln/>
        </p:spPr>
        <p:txBody>
          <a:bodyPr/>
          <a:lstStyle/>
          <a:p>
            <a:endParaRPr lang="en-US"/>
          </a:p>
        </p:txBody>
      </p:sp>
      <p:sp>
        <p:nvSpPr>
          <p:cNvPr id="29" name="Text 24">
            <a:extLst>
              <a:ext uri="{FF2B5EF4-FFF2-40B4-BE49-F238E27FC236}">
                <a16:creationId xmlns:a16="http://schemas.microsoft.com/office/drawing/2014/main" id="{8610E18E-E95C-1B45-D569-E4623844AF40}"/>
              </a:ext>
            </a:extLst>
          </p:cNvPr>
          <p:cNvSpPr/>
          <p:nvPr/>
        </p:nvSpPr>
        <p:spPr>
          <a:xfrm>
            <a:off x="700669" y="416349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K-Nearest Neighbors</a:t>
            </a:r>
            <a:endParaRPr lang="en-US" sz="1500" dirty="0"/>
          </a:p>
        </p:txBody>
      </p:sp>
      <p:sp>
        <p:nvSpPr>
          <p:cNvPr id="30" name="Text 25">
            <a:extLst>
              <a:ext uri="{FF2B5EF4-FFF2-40B4-BE49-F238E27FC236}">
                <a16:creationId xmlns:a16="http://schemas.microsoft.com/office/drawing/2014/main" id="{7C3C03B4-77A8-1DDA-EBAF-27145C41A300}"/>
              </a:ext>
            </a:extLst>
          </p:cNvPr>
          <p:cNvSpPr/>
          <p:nvPr/>
        </p:nvSpPr>
        <p:spPr>
          <a:xfrm>
            <a:off x="2911302" y="416349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0.924053</a:t>
            </a:r>
            <a:endParaRPr lang="en-US" sz="1500" dirty="0"/>
          </a:p>
        </p:txBody>
      </p:sp>
      <p:sp>
        <p:nvSpPr>
          <p:cNvPr id="31" name="Text 26">
            <a:extLst>
              <a:ext uri="{FF2B5EF4-FFF2-40B4-BE49-F238E27FC236}">
                <a16:creationId xmlns:a16="http://schemas.microsoft.com/office/drawing/2014/main" id="{28D16AC2-2B5E-6F2F-BFA5-8080BEB01370}"/>
              </a:ext>
            </a:extLst>
          </p:cNvPr>
          <p:cNvSpPr/>
          <p:nvPr/>
        </p:nvSpPr>
        <p:spPr>
          <a:xfrm>
            <a:off x="5118126" y="416349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0.916418</a:t>
            </a:r>
            <a:endParaRPr lang="en-US" sz="1500" dirty="0"/>
          </a:p>
        </p:txBody>
      </p:sp>
      <p:sp>
        <p:nvSpPr>
          <p:cNvPr id="35" name="Shape 30">
            <a:extLst>
              <a:ext uri="{FF2B5EF4-FFF2-40B4-BE49-F238E27FC236}">
                <a16:creationId xmlns:a16="http://schemas.microsoft.com/office/drawing/2014/main" id="{4D8DBE05-0F63-4AF4-02D2-708980B8DF1F}"/>
              </a:ext>
            </a:extLst>
          </p:cNvPr>
          <p:cNvSpPr/>
          <p:nvPr/>
        </p:nvSpPr>
        <p:spPr>
          <a:xfrm>
            <a:off x="496000" y="4626890"/>
            <a:ext cx="6519038" cy="565666"/>
          </a:xfrm>
          <a:prstGeom prst="rect">
            <a:avLst/>
          </a:prstGeom>
          <a:solidFill>
            <a:srgbClr val="FFFFFF">
              <a:alpha val="4000"/>
            </a:srgbClr>
          </a:solidFill>
          <a:ln/>
        </p:spPr>
        <p:txBody>
          <a:bodyPr/>
          <a:lstStyle/>
          <a:p>
            <a:endParaRPr lang="en-US" dirty="0"/>
          </a:p>
        </p:txBody>
      </p:sp>
      <p:sp>
        <p:nvSpPr>
          <p:cNvPr id="36" name="Text 31">
            <a:extLst>
              <a:ext uri="{FF2B5EF4-FFF2-40B4-BE49-F238E27FC236}">
                <a16:creationId xmlns:a16="http://schemas.microsoft.com/office/drawing/2014/main" id="{ACA3AB8A-9393-2545-6DD5-A7B6AD5D38F1}"/>
              </a:ext>
            </a:extLst>
          </p:cNvPr>
          <p:cNvSpPr/>
          <p:nvPr/>
        </p:nvSpPr>
        <p:spPr>
          <a:xfrm>
            <a:off x="700669" y="4729159"/>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Decision Tree</a:t>
            </a:r>
            <a:endParaRPr lang="en-US" sz="1500" dirty="0"/>
          </a:p>
        </p:txBody>
      </p:sp>
      <p:sp>
        <p:nvSpPr>
          <p:cNvPr id="37" name="Text 32">
            <a:extLst>
              <a:ext uri="{FF2B5EF4-FFF2-40B4-BE49-F238E27FC236}">
                <a16:creationId xmlns:a16="http://schemas.microsoft.com/office/drawing/2014/main" id="{AFE32767-5C58-F986-D04D-F9FFDEBC44E1}"/>
              </a:ext>
            </a:extLst>
          </p:cNvPr>
          <p:cNvSpPr/>
          <p:nvPr/>
        </p:nvSpPr>
        <p:spPr>
          <a:xfrm>
            <a:off x="2911302" y="4729159"/>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0.934003</a:t>
            </a:r>
            <a:endParaRPr lang="en-US" sz="1500" dirty="0"/>
          </a:p>
        </p:txBody>
      </p:sp>
      <p:sp>
        <p:nvSpPr>
          <p:cNvPr id="38" name="Text 33">
            <a:extLst>
              <a:ext uri="{FF2B5EF4-FFF2-40B4-BE49-F238E27FC236}">
                <a16:creationId xmlns:a16="http://schemas.microsoft.com/office/drawing/2014/main" id="{F6A6BB81-1D69-AF7D-BBAB-95C5E4C14C94}"/>
              </a:ext>
            </a:extLst>
          </p:cNvPr>
          <p:cNvSpPr/>
          <p:nvPr/>
        </p:nvSpPr>
        <p:spPr>
          <a:xfrm>
            <a:off x="5118126" y="4729159"/>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0.893013</a:t>
            </a:r>
            <a:endParaRPr lang="en-US" sz="1500" dirty="0"/>
          </a:p>
        </p:txBody>
      </p:sp>
      <p:sp>
        <p:nvSpPr>
          <p:cNvPr id="42" name="Shape 23">
            <a:extLst>
              <a:ext uri="{FF2B5EF4-FFF2-40B4-BE49-F238E27FC236}">
                <a16:creationId xmlns:a16="http://schemas.microsoft.com/office/drawing/2014/main" id="{CD94AD3B-6F51-A68C-AA7F-8ACB980821F2}"/>
              </a:ext>
            </a:extLst>
          </p:cNvPr>
          <p:cNvSpPr/>
          <p:nvPr/>
        </p:nvSpPr>
        <p:spPr>
          <a:xfrm>
            <a:off x="503621" y="5184573"/>
            <a:ext cx="6519038" cy="565666"/>
          </a:xfrm>
          <a:prstGeom prst="rect">
            <a:avLst/>
          </a:prstGeom>
          <a:solidFill>
            <a:srgbClr val="000000">
              <a:alpha val="4000"/>
            </a:srgbClr>
          </a:solidFill>
          <a:ln/>
        </p:spPr>
        <p:txBody>
          <a:bodyPr/>
          <a:lstStyle/>
          <a:p>
            <a:endParaRPr lang="en-US"/>
          </a:p>
        </p:txBody>
      </p:sp>
      <p:sp>
        <p:nvSpPr>
          <p:cNvPr id="43" name="Shape 30">
            <a:extLst>
              <a:ext uri="{FF2B5EF4-FFF2-40B4-BE49-F238E27FC236}">
                <a16:creationId xmlns:a16="http://schemas.microsoft.com/office/drawing/2014/main" id="{9A8491E1-0F83-3EF3-29BD-DF03A49CE623}"/>
              </a:ext>
            </a:extLst>
          </p:cNvPr>
          <p:cNvSpPr/>
          <p:nvPr/>
        </p:nvSpPr>
        <p:spPr>
          <a:xfrm>
            <a:off x="503621" y="5734999"/>
            <a:ext cx="6519038" cy="565666"/>
          </a:xfrm>
          <a:prstGeom prst="rect">
            <a:avLst/>
          </a:prstGeom>
          <a:solidFill>
            <a:srgbClr val="FFFFFF">
              <a:alpha val="4000"/>
            </a:srgbClr>
          </a:solidFill>
          <a:ln/>
        </p:spPr>
        <p:txBody>
          <a:bodyPr/>
          <a:lstStyle/>
          <a:p>
            <a:endParaRPr lang="en-US"/>
          </a:p>
        </p:txBody>
      </p:sp>
      <p:sp>
        <p:nvSpPr>
          <p:cNvPr id="44" name="Text 31">
            <a:extLst>
              <a:ext uri="{FF2B5EF4-FFF2-40B4-BE49-F238E27FC236}">
                <a16:creationId xmlns:a16="http://schemas.microsoft.com/office/drawing/2014/main" id="{6F7EA58D-691C-820E-11C8-A0EF5625F54B}"/>
              </a:ext>
            </a:extLst>
          </p:cNvPr>
          <p:cNvSpPr/>
          <p:nvPr/>
        </p:nvSpPr>
        <p:spPr>
          <a:xfrm>
            <a:off x="700669" y="530554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Random Forest</a:t>
            </a:r>
            <a:endParaRPr lang="en-US" sz="1500" dirty="0"/>
          </a:p>
        </p:txBody>
      </p:sp>
      <p:sp>
        <p:nvSpPr>
          <p:cNvPr id="45" name="Text 32">
            <a:extLst>
              <a:ext uri="{FF2B5EF4-FFF2-40B4-BE49-F238E27FC236}">
                <a16:creationId xmlns:a16="http://schemas.microsoft.com/office/drawing/2014/main" id="{0EBCFB4D-313B-0AD5-137F-1CCF66F1CD7C}"/>
              </a:ext>
            </a:extLst>
          </p:cNvPr>
          <p:cNvSpPr/>
          <p:nvPr/>
        </p:nvSpPr>
        <p:spPr>
          <a:xfrm>
            <a:off x="2911302" y="5305543"/>
            <a:ext cx="1806059" cy="314682"/>
          </a:xfrm>
          <a:prstGeom prst="rect">
            <a:avLst/>
          </a:prstGeom>
          <a:noFill/>
          <a:ln/>
        </p:spPr>
        <p:txBody>
          <a:bodyPr wrap="none" lIns="0" tIns="0" rIns="0" bIns="0" rtlCol="0" anchor="t"/>
          <a:lstStyle/>
          <a:p>
            <a:pPr marL="0" indent="0" algn="l">
              <a:lnSpc>
                <a:spcPts val="2450"/>
              </a:lnSpc>
              <a:buNone/>
            </a:pPr>
            <a:r>
              <a:rPr lang="en-US" sz="1600" dirty="0">
                <a:solidFill>
                  <a:srgbClr val="EEEFF5"/>
                </a:solidFill>
                <a:latin typeface="Montserrat" pitchFamily="34" charset="0"/>
                <a:ea typeface="Montserrat" pitchFamily="34" charset="-122"/>
                <a:cs typeface="Montserrat" pitchFamily="34" charset="-120"/>
              </a:rPr>
              <a:t>0.955034</a:t>
            </a:r>
            <a:endParaRPr lang="en-US" sz="1600" dirty="0"/>
          </a:p>
        </p:txBody>
      </p:sp>
      <p:sp>
        <p:nvSpPr>
          <p:cNvPr id="46" name="Text 33">
            <a:extLst>
              <a:ext uri="{FF2B5EF4-FFF2-40B4-BE49-F238E27FC236}">
                <a16:creationId xmlns:a16="http://schemas.microsoft.com/office/drawing/2014/main" id="{86D76311-EEA7-161F-BE0F-F6EDA8537210}"/>
              </a:ext>
            </a:extLst>
          </p:cNvPr>
          <p:cNvSpPr/>
          <p:nvPr/>
        </p:nvSpPr>
        <p:spPr>
          <a:xfrm>
            <a:off x="5118126" y="530554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0.920021</a:t>
            </a:r>
            <a:endParaRPr lang="en-US" sz="1500" dirty="0"/>
          </a:p>
        </p:txBody>
      </p:sp>
      <p:sp>
        <p:nvSpPr>
          <p:cNvPr id="47" name="Text 31">
            <a:extLst>
              <a:ext uri="{FF2B5EF4-FFF2-40B4-BE49-F238E27FC236}">
                <a16:creationId xmlns:a16="http://schemas.microsoft.com/office/drawing/2014/main" id="{A1816C17-4315-D98A-43CD-1D5E31B304FA}"/>
              </a:ext>
            </a:extLst>
          </p:cNvPr>
          <p:cNvSpPr/>
          <p:nvPr/>
        </p:nvSpPr>
        <p:spPr>
          <a:xfrm>
            <a:off x="700669" y="5863226"/>
            <a:ext cx="1809869" cy="314682"/>
          </a:xfrm>
          <a:prstGeom prst="rect">
            <a:avLst/>
          </a:prstGeom>
          <a:noFill/>
          <a:ln/>
        </p:spPr>
        <p:txBody>
          <a:bodyPr wrap="none" lIns="0" tIns="0" rIns="0" bIns="0" rtlCol="0" anchor="t"/>
          <a:lstStyle/>
          <a:p>
            <a:pPr marL="0" indent="0" algn="l">
              <a:lnSpc>
                <a:spcPts val="2450"/>
              </a:lnSpc>
              <a:buNone/>
            </a:pPr>
            <a:r>
              <a:rPr lang="en-US" sz="1500" dirty="0" err="1">
                <a:solidFill>
                  <a:srgbClr val="EEEFF5"/>
                </a:solidFill>
                <a:latin typeface="Montserrat" pitchFamily="34" charset="0"/>
                <a:ea typeface="Montserrat" pitchFamily="34" charset="-122"/>
                <a:cs typeface="Montserrat" pitchFamily="34" charset="-120"/>
              </a:rPr>
              <a:t>XGBoost</a:t>
            </a:r>
            <a:r>
              <a:rPr lang="en-US" sz="1500" dirty="0">
                <a:solidFill>
                  <a:srgbClr val="EEEFF5"/>
                </a:solidFill>
                <a:latin typeface="Montserrat" pitchFamily="34" charset="0"/>
                <a:ea typeface="Montserrat" pitchFamily="34" charset="-122"/>
                <a:cs typeface="Montserrat" pitchFamily="34" charset="-120"/>
              </a:rPr>
              <a:t> Boosting</a:t>
            </a:r>
            <a:endParaRPr lang="en-US" sz="1500" dirty="0"/>
          </a:p>
        </p:txBody>
      </p:sp>
      <p:sp>
        <p:nvSpPr>
          <p:cNvPr id="48" name="Text 32">
            <a:extLst>
              <a:ext uri="{FF2B5EF4-FFF2-40B4-BE49-F238E27FC236}">
                <a16:creationId xmlns:a16="http://schemas.microsoft.com/office/drawing/2014/main" id="{E484FFBE-B190-E161-F39D-3C1E7AA56C4D}"/>
              </a:ext>
            </a:extLst>
          </p:cNvPr>
          <p:cNvSpPr/>
          <p:nvPr/>
        </p:nvSpPr>
        <p:spPr>
          <a:xfrm>
            <a:off x="2911302" y="586322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0.951271</a:t>
            </a:r>
            <a:endParaRPr lang="en-US" sz="1500" dirty="0"/>
          </a:p>
        </p:txBody>
      </p:sp>
      <p:sp>
        <p:nvSpPr>
          <p:cNvPr id="49" name="Text 33">
            <a:extLst>
              <a:ext uri="{FF2B5EF4-FFF2-40B4-BE49-F238E27FC236}">
                <a16:creationId xmlns:a16="http://schemas.microsoft.com/office/drawing/2014/main" id="{FEE1EFF3-A10F-9B7E-41DE-223B307439CC}"/>
              </a:ext>
            </a:extLst>
          </p:cNvPr>
          <p:cNvSpPr/>
          <p:nvPr/>
        </p:nvSpPr>
        <p:spPr>
          <a:xfrm>
            <a:off x="5118126" y="586322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0.944144</a:t>
            </a:r>
            <a:endParaRPr lang="en-US" sz="1500" dirty="0"/>
          </a:p>
        </p:txBody>
      </p:sp>
      <p:sp>
        <p:nvSpPr>
          <p:cNvPr id="50" name="TextBox 49">
            <a:extLst>
              <a:ext uri="{FF2B5EF4-FFF2-40B4-BE49-F238E27FC236}">
                <a16:creationId xmlns:a16="http://schemas.microsoft.com/office/drawing/2014/main" id="{ED14A8B6-9DA0-0FB9-062B-FD7C495BECEC}"/>
              </a:ext>
            </a:extLst>
          </p:cNvPr>
          <p:cNvSpPr txBox="1"/>
          <p:nvPr/>
        </p:nvSpPr>
        <p:spPr>
          <a:xfrm>
            <a:off x="7895063" y="1708740"/>
            <a:ext cx="6356195" cy="609397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bg1"/>
                </a:solidFill>
                <a:effectLst/>
                <a:latin typeface="Arial" panose="020B0604020202020204" pitchFamily="34" charset="0"/>
              </a:rPr>
              <a:t>  </a:t>
            </a:r>
            <a:r>
              <a:rPr kumimoji="0" lang="en-US" altLang="en-US" sz="1500" b="1" i="0" u="none" strike="noStrike" cap="none" normalizeH="0" baseline="0" dirty="0">
                <a:ln>
                  <a:noFill/>
                </a:ln>
                <a:solidFill>
                  <a:schemeClr val="bg1"/>
                </a:solidFill>
                <a:effectLst/>
                <a:latin typeface="Arial" panose="020B0604020202020204" pitchFamily="34" charset="0"/>
              </a:rPr>
              <a:t>Logistic Regression</a:t>
            </a:r>
            <a:r>
              <a:rPr kumimoji="0" lang="en-US" altLang="en-US" sz="1500" b="0" i="0" u="none" strike="noStrike" cap="none" normalizeH="0" baseline="0" dirty="0">
                <a:ln>
                  <a:noFill/>
                </a:ln>
                <a:solidFill>
                  <a:schemeClr val="bg1"/>
                </a:solidFill>
                <a:effectLst/>
                <a:latin typeface="Arial" panose="020B0604020202020204" pitchFamily="34" charset="0"/>
              </a:rPr>
              <a:t>:-</a:t>
            </a:r>
            <a:br>
              <a:rPr kumimoji="0" lang="en-US" altLang="en-US" sz="1500" b="0" i="0" u="none" strike="noStrike" cap="none" normalizeH="0" baseline="0" dirty="0">
                <a:ln>
                  <a:noFill/>
                </a:ln>
                <a:solidFill>
                  <a:schemeClr val="bg1"/>
                </a:solidFill>
                <a:effectLst/>
                <a:latin typeface="Arial" panose="020B0604020202020204" pitchFamily="34" charset="0"/>
              </a:rPr>
            </a:br>
            <a:r>
              <a:rPr kumimoji="0" lang="en-US" altLang="en-US" sz="1500" b="0" i="0" u="none" strike="noStrike" cap="none" normalizeH="0" baseline="0" dirty="0">
                <a:ln>
                  <a:noFill/>
                </a:ln>
                <a:solidFill>
                  <a:schemeClr val="bg1"/>
                </a:solidFill>
                <a:effectLst/>
                <a:latin typeface="Arial" panose="020B0604020202020204" pitchFamily="34" charset="0"/>
              </a:rPr>
              <a:t>We tuned the regularization strength by setting C = 0.5. This gave us a very slight improvement in F1 score, which shows the default model was already well-optimized and generalizing well.</a:t>
            </a:r>
            <a:br>
              <a:rPr kumimoji="0" lang="en-US" altLang="en-US" sz="1500" b="0" i="0" u="none" strike="noStrike" cap="none" normalizeH="0" baseline="0" dirty="0">
                <a:ln>
                  <a:noFill/>
                </a:ln>
                <a:solidFill>
                  <a:schemeClr val="bg1"/>
                </a:solidFill>
                <a:effectLst/>
                <a:latin typeface="Arial" panose="020B0604020202020204" pitchFamily="34" charset="0"/>
              </a:rPr>
            </a:br>
            <a:endParaRPr kumimoji="0" lang="en-US" altLang="en-US" sz="15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500" b="1" dirty="0">
                <a:solidFill>
                  <a:schemeClr val="bg1"/>
                </a:solidFill>
                <a:latin typeface="Arial" panose="020B0604020202020204" pitchFamily="34" charset="0"/>
              </a:rPr>
              <a:t>   </a:t>
            </a:r>
            <a:r>
              <a:rPr kumimoji="0" lang="en-US" altLang="en-US" sz="1500" b="1" i="0" u="none" strike="noStrike" cap="none" normalizeH="0" baseline="0" dirty="0">
                <a:ln>
                  <a:noFill/>
                </a:ln>
                <a:solidFill>
                  <a:schemeClr val="bg1"/>
                </a:solidFill>
                <a:effectLst/>
                <a:latin typeface="Arial" panose="020B0604020202020204" pitchFamily="34" charset="0"/>
              </a:rPr>
              <a:t>Naive Bayes</a:t>
            </a:r>
            <a:r>
              <a:rPr kumimoji="0" lang="en-US" altLang="en-US" sz="1500" b="0" i="0" u="none" strike="noStrike" cap="none" normalizeH="0" baseline="0" dirty="0">
                <a:ln>
                  <a:noFill/>
                </a:ln>
                <a:solidFill>
                  <a:schemeClr val="bg1"/>
                </a:solidFill>
                <a:effectLst/>
                <a:latin typeface="Arial" panose="020B0604020202020204" pitchFamily="34" charset="0"/>
              </a:rPr>
              <a:t>:- </a:t>
            </a:r>
            <a:br>
              <a:rPr kumimoji="0" lang="en-US" altLang="en-US" sz="1500" b="0" i="0" u="none" strike="noStrike" cap="none" normalizeH="0" baseline="0" dirty="0">
                <a:ln>
                  <a:noFill/>
                </a:ln>
                <a:solidFill>
                  <a:schemeClr val="bg1"/>
                </a:solidFill>
                <a:effectLst/>
                <a:latin typeface="Arial" panose="020B0604020202020204" pitchFamily="34" charset="0"/>
              </a:rPr>
            </a:br>
            <a:r>
              <a:rPr kumimoji="0" lang="en-US" altLang="en-US" sz="1500" b="0" i="0" u="none" strike="noStrike" cap="none" normalizeH="0" baseline="0" dirty="0">
                <a:ln>
                  <a:noFill/>
                </a:ln>
                <a:solidFill>
                  <a:schemeClr val="bg1"/>
                </a:solidFill>
                <a:effectLst/>
                <a:latin typeface="Arial" panose="020B0604020202020204" pitchFamily="34" charset="0"/>
              </a:rPr>
              <a:t>There were no tunable hyperparameters in our current setup. As expected, the F1 score remained unchanged. This reflects the simplicity and consistent behavior of the Naive Bayes algorithm.</a:t>
            </a:r>
            <a:br>
              <a:rPr kumimoji="0" lang="en-US" altLang="en-US" sz="1500" b="0" i="0" u="none" strike="noStrike" cap="none" normalizeH="0" baseline="0" dirty="0">
                <a:ln>
                  <a:noFill/>
                </a:ln>
                <a:solidFill>
                  <a:schemeClr val="bg1"/>
                </a:solidFill>
                <a:effectLst/>
                <a:latin typeface="Arial" panose="020B0604020202020204" pitchFamily="34" charset="0"/>
              </a:rPr>
            </a:br>
            <a:endParaRPr kumimoji="0" lang="en-US" altLang="en-US" sz="15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500" b="1" dirty="0">
                <a:solidFill>
                  <a:schemeClr val="bg1"/>
                </a:solidFill>
                <a:latin typeface="Arial" panose="020B0604020202020204" pitchFamily="34" charset="0"/>
              </a:rPr>
              <a:t>   </a:t>
            </a:r>
            <a:r>
              <a:rPr kumimoji="0" lang="en-US" altLang="en-US" sz="1500" b="1" i="0" u="none" strike="noStrike" cap="none" normalizeH="0" baseline="0" dirty="0">
                <a:ln>
                  <a:noFill/>
                </a:ln>
                <a:solidFill>
                  <a:schemeClr val="bg1"/>
                </a:solidFill>
                <a:effectLst/>
                <a:latin typeface="Arial" panose="020B0604020202020204" pitchFamily="34" charset="0"/>
              </a:rPr>
              <a:t>K-Nearest Neighbors</a:t>
            </a:r>
            <a:r>
              <a:rPr kumimoji="0" lang="en-US" altLang="en-US" sz="1500" b="0" i="0" u="none" strike="noStrike" cap="none" normalizeH="0" baseline="0" dirty="0">
                <a:ln>
                  <a:noFill/>
                </a:ln>
                <a:solidFill>
                  <a:schemeClr val="bg1"/>
                </a:solidFill>
                <a:effectLst/>
                <a:latin typeface="Arial" panose="020B0604020202020204" pitchFamily="34" charset="0"/>
              </a:rPr>
              <a:t>:-</a:t>
            </a:r>
            <a:br>
              <a:rPr kumimoji="0" lang="en-US" altLang="en-US" sz="1500" b="0" i="0" u="none" strike="noStrike" cap="none" normalizeH="0" baseline="0" dirty="0">
                <a:ln>
                  <a:noFill/>
                </a:ln>
                <a:solidFill>
                  <a:schemeClr val="bg1"/>
                </a:solidFill>
                <a:effectLst/>
                <a:latin typeface="Arial" panose="020B0604020202020204" pitchFamily="34" charset="0"/>
              </a:rPr>
            </a:br>
            <a:r>
              <a:rPr kumimoji="0" lang="en-US" altLang="en-US" sz="1500" b="0" i="0" u="none" strike="noStrike" cap="none" normalizeH="0" baseline="0" dirty="0">
                <a:ln>
                  <a:noFill/>
                </a:ln>
                <a:solidFill>
                  <a:schemeClr val="bg1"/>
                </a:solidFill>
                <a:effectLst/>
                <a:latin typeface="Arial" panose="020B0604020202020204" pitchFamily="34" charset="0"/>
              </a:rPr>
              <a:t>We increased </a:t>
            </a:r>
            <a:r>
              <a:rPr kumimoji="0" lang="en-US" altLang="en-US" sz="1500" b="0" i="0" u="none" strike="noStrike" cap="none" normalizeH="0" baseline="0" dirty="0" err="1">
                <a:ln>
                  <a:noFill/>
                </a:ln>
                <a:solidFill>
                  <a:schemeClr val="bg1"/>
                </a:solidFill>
                <a:effectLst/>
                <a:latin typeface="Arial" panose="020B0604020202020204" pitchFamily="34" charset="0"/>
              </a:rPr>
              <a:t>n_neighbors</a:t>
            </a:r>
            <a:r>
              <a:rPr kumimoji="0" lang="en-US" altLang="en-US" sz="1500" b="0" i="0" u="none" strike="noStrike" cap="none" normalizeH="0" baseline="0" dirty="0">
                <a:ln>
                  <a:noFill/>
                </a:ln>
                <a:solidFill>
                  <a:schemeClr val="bg1"/>
                </a:solidFill>
                <a:effectLst/>
                <a:latin typeface="Arial" panose="020B0604020202020204" pitchFamily="34" charset="0"/>
              </a:rPr>
              <a:t> from 5 to 7. Interestingly, this reduced the F1 score slightly, likely due to the model becoming too smooth and losing precision. The original setting was better suited for our data.</a:t>
            </a:r>
            <a:br>
              <a:rPr kumimoji="0" lang="en-US" altLang="en-US" sz="1500" b="0" i="0" u="none" strike="noStrike" cap="none" normalizeH="0" baseline="0" dirty="0">
                <a:ln>
                  <a:noFill/>
                </a:ln>
                <a:solidFill>
                  <a:schemeClr val="bg1"/>
                </a:solidFill>
                <a:effectLst/>
                <a:latin typeface="Arial" panose="020B0604020202020204" pitchFamily="34" charset="0"/>
              </a:rPr>
            </a:br>
            <a:endParaRPr kumimoji="0" lang="en-US" altLang="en-US" sz="15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500" b="1" dirty="0">
                <a:solidFill>
                  <a:schemeClr val="bg1"/>
                </a:solidFill>
                <a:latin typeface="Arial" panose="020B0604020202020204" pitchFamily="34" charset="0"/>
              </a:rPr>
              <a:t>   </a:t>
            </a:r>
            <a:r>
              <a:rPr kumimoji="0" lang="en-US" altLang="en-US" sz="1500" b="1" i="0" u="none" strike="noStrike" cap="none" normalizeH="0" baseline="0" dirty="0">
                <a:ln>
                  <a:noFill/>
                </a:ln>
                <a:solidFill>
                  <a:schemeClr val="bg1"/>
                </a:solidFill>
                <a:effectLst/>
                <a:latin typeface="Arial" panose="020B0604020202020204" pitchFamily="34" charset="0"/>
              </a:rPr>
              <a:t>Decision Tree &amp; Random Forest:-</a:t>
            </a:r>
            <a:br>
              <a:rPr kumimoji="0" lang="en-US" altLang="en-US" sz="1500" b="0" i="0" u="none" strike="noStrike" cap="none" normalizeH="0" baseline="0" dirty="0">
                <a:ln>
                  <a:noFill/>
                </a:ln>
                <a:solidFill>
                  <a:schemeClr val="bg1"/>
                </a:solidFill>
                <a:effectLst/>
                <a:latin typeface="Arial" panose="020B0604020202020204" pitchFamily="34" charset="0"/>
              </a:rPr>
            </a:br>
            <a:r>
              <a:rPr kumimoji="0" lang="en-US" altLang="en-US" sz="1500" b="0" i="0" u="none" strike="noStrike" cap="none" normalizeH="0" baseline="0" dirty="0">
                <a:ln>
                  <a:noFill/>
                </a:ln>
                <a:solidFill>
                  <a:schemeClr val="bg1"/>
                </a:solidFill>
                <a:effectLst/>
                <a:latin typeface="Arial" panose="020B0604020202020204" pitchFamily="34" charset="0"/>
              </a:rPr>
              <a:t>For both, we added depth restrictions and controlled splitting (</a:t>
            </a:r>
            <a:r>
              <a:rPr kumimoji="0" lang="en-US" altLang="en-US" sz="1500" b="0" i="0" u="none" strike="noStrike" cap="none" normalizeH="0" baseline="0" dirty="0" err="1">
                <a:ln>
                  <a:noFill/>
                </a:ln>
                <a:solidFill>
                  <a:schemeClr val="bg1"/>
                </a:solidFill>
                <a:effectLst/>
                <a:latin typeface="Arial" panose="020B0604020202020204" pitchFamily="34" charset="0"/>
              </a:rPr>
              <a:t>max_depth</a:t>
            </a:r>
            <a:r>
              <a:rPr kumimoji="0" lang="en-US" altLang="en-US" sz="1500" b="0" i="0" u="none" strike="noStrike" cap="none" normalizeH="0" baseline="0" dirty="0">
                <a:ln>
                  <a:noFill/>
                </a:ln>
                <a:solidFill>
                  <a:schemeClr val="bg1"/>
                </a:solidFill>
                <a:effectLst/>
                <a:latin typeface="Arial" panose="020B0604020202020204" pitchFamily="34" charset="0"/>
              </a:rPr>
              <a:t>, </a:t>
            </a:r>
            <a:r>
              <a:rPr kumimoji="0" lang="en-US" altLang="en-US" sz="1500" b="0" i="0" u="none" strike="noStrike" cap="none" normalizeH="0" baseline="0" dirty="0" err="1">
                <a:ln>
                  <a:noFill/>
                </a:ln>
                <a:solidFill>
                  <a:schemeClr val="bg1"/>
                </a:solidFill>
                <a:effectLst/>
                <a:latin typeface="Arial" panose="020B0604020202020204" pitchFamily="34" charset="0"/>
              </a:rPr>
              <a:t>min_samples_split</a:t>
            </a:r>
            <a:r>
              <a:rPr kumimoji="0" lang="en-US" altLang="en-US" sz="1500" b="0" i="0" u="none" strike="noStrike" cap="none" normalizeH="0" baseline="0" dirty="0">
                <a:ln>
                  <a:noFill/>
                </a:ln>
                <a:solidFill>
                  <a:schemeClr val="bg1"/>
                </a:solidFill>
                <a:effectLst/>
                <a:latin typeface="Arial" panose="020B0604020202020204" pitchFamily="34" charset="0"/>
              </a:rPr>
              <a:t>, etc.). While this helped prevent overfitting, we saw a drop in F1 score, indicating a trade-off between stability and predictive power.</a:t>
            </a:r>
            <a:br>
              <a:rPr kumimoji="0" lang="en-US" altLang="en-US" sz="1500" b="0" i="0" u="none" strike="noStrike" cap="none" normalizeH="0" baseline="0" dirty="0">
                <a:ln>
                  <a:noFill/>
                </a:ln>
                <a:solidFill>
                  <a:schemeClr val="bg1"/>
                </a:solidFill>
                <a:effectLst/>
                <a:latin typeface="Arial" panose="020B0604020202020204" pitchFamily="34" charset="0"/>
              </a:rPr>
            </a:br>
            <a:endParaRPr kumimoji="0" lang="en-US" altLang="en-US" sz="15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500" b="1" dirty="0">
                <a:solidFill>
                  <a:schemeClr val="bg1"/>
                </a:solidFill>
                <a:latin typeface="Arial" panose="020B0604020202020204" pitchFamily="34" charset="0"/>
              </a:rPr>
              <a:t>   </a:t>
            </a:r>
            <a:r>
              <a:rPr kumimoji="0" lang="en-US" altLang="en-US" sz="1500" b="1" i="0" u="none" strike="noStrike" cap="none" normalizeH="0" baseline="0" dirty="0" err="1">
                <a:ln>
                  <a:noFill/>
                </a:ln>
                <a:solidFill>
                  <a:schemeClr val="bg1"/>
                </a:solidFill>
                <a:effectLst/>
                <a:latin typeface="Arial" panose="020B0604020202020204" pitchFamily="34" charset="0"/>
              </a:rPr>
              <a:t>XGBoost</a:t>
            </a:r>
            <a:r>
              <a:rPr kumimoji="0" lang="en-US" altLang="en-US" sz="1500" b="1" i="0" u="none" strike="noStrike" cap="none" normalizeH="0" baseline="0" dirty="0">
                <a:ln>
                  <a:noFill/>
                </a:ln>
                <a:solidFill>
                  <a:schemeClr val="bg1"/>
                </a:solidFill>
                <a:effectLst/>
                <a:latin typeface="Arial" panose="020B0604020202020204" pitchFamily="34" charset="0"/>
              </a:rPr>
              <a:t>:-</a:t>
            </a:r>
            <a:br>
              <a:rPr kumimoji="0" lang="en-US" altLang="en-US" sz="1500" b="0" i="0" u="none" strike="noStrike" cap="none" normalizeH="0" baseline="0" dirty="0">
                <a:ln>
                  <a:noFill/>
                </a:ln>
                <a:solidFill>
                  <a:schemeClr val="bg1"/>
                </a:solidFill>
                <a:effectLst/>
                <a:latin typeface="Arial" panose="020B0604020202020204" pitchFamily="34" charset="0"/>
              </a:rPr>
            </a:br>
            <a:r>
              <a:rPr kumimoji="0" lang="en-US" altLang="en-US" sz="1500" b="0" i="0" u="none" strike="noStrike" cap="none" normalizeH="0" baseline="0" dirty="0">
                <a:ln>
                  <a:noFill/>
                </a:ln>
                <a:solidFill>
                  <a:schemeClr val="bg1"/>
                </a:solidFill>
                <a:effectLst/>
                <a:latin typeface="Arial" panose="020B0604020202020204" pitchFamily="34" charset="0"/>
              </a:rPr>
              <a:t>This model had the most extensive tuning—adjusting depth, learning rate, regularization terms, and sampling ratios. Although the F1 score dipped slightly, </a:t>
            </a:r>
            <a:r>
              <a:rPr kumimoji="0" lang="en-US" altLang="en-US" sz="1500" b="0" i="0" u="none" strike="noStrike" cap="none" normalizeH="0" baseline="0" dirty="0" err="1">
                <a:ln>
                  <a:noFill/>
                </a:ln>
                <a:solidFill>
                  <a:schemeClr val="bg1"/>
                </a:solidFill>
                <a:effectLst/>
                <a:latin typeface="Arial" panose="020B0604020202020204" pitchFamily="34" charset="0"/>
              </a:rPr>
              <a:t>XGBoost</a:t>
            </a:r>
            <a:r>
              <a:rPr kumimoji="0" lang="en-US" altLang="en-US" sz="1500" b="0" i="0" u="none" strike="noStrike" cap="none" normalizeH="0" baseline="0" dirty="0">
                <a:ln>
                  <a:noFill/>
                </a:ln>
                <a:solidFill>
                  <a:schemeClr val="bg1"/>
                </a:solidFill>
                <a:effectLst/>
                <a:latin typeface="Arial" panose="020B0604020202020204" pitchFamily="34" charset="0"/>
              </a:rPr>
              <a:t> still delivered excellent and consistent results, confirming its robustness.</a:t>
            </a:r>
            <a:endParaRPr lang="en-IN" sz="1500" dirty="0">
              <a:solidFill>
                <a:schemeClr val="bg1"/>
              </a:solidFill>
            </a:endParaRPr>
          </a:p>
        </p:txBody>
      </p:sp>
      <p:sp>
        <p:nvSpPr>
          <p:cNvPr id="51" name="TextBox 50">
            <a:extLst>
              <a:ext uri="{FF2B5EF4-FFF2-40B4-BE49-F238E27FC236}">
                <a16:creationId xmlns:a16="http://schemas.microsoft.com/office/drawing/2014/main" id="{71F28C99-825B-DE50-BF09-B778F471C1F8}"/>
              </a:ext>
            </a:extLst>
          </p:cNvPr>
          <p:cNvSpPr txBox="1"/>
          <p:nvPr/>
        </p:nvSpPr>
        <p:spPr>
          <a:xfrm>
            <a:off x="7895063" y="1109099"/>
            <a:ext cx="6188927" cy="584775"/>
          </a:xfrm>
          <a:prstGeom prst="rect">
            <a:avLst/>
          </a:prstGeom>
          <a:noFill/>
        </p:spPr>
        <p:txBody>
          <a:bodyPr wrap="square" rtlCol="0">
            <a:spAutoFit/>
          </a:bodyPr>
          <a:lstStyle/>
          <a:p>
            <a:r>
              <a:rPr lang="en-IN" sz="3200" u="sng" dirty="0">
                <a:solidFill>
                  <a:schemeClr val="bg1"/>
                </a:solidFill>
              </a:rPr>
              <a:t>Model Tuning Summary &amp; Insights</a:t>
            </a:r>
          </a:p>
        </p:txBody>
      </p:sp>
    </p:spTree>
    <p:extLst>
      <p:ext uri="{BB962C8B-B14F-4D97-AF65-F5344CB8AC3E}">
        <p14:creationId xmlns:p14="http://schemas.microsoft.com/office/powerpoint/2010/main" val="818306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9536" y="165718"/>
            <a:ext cx="9288213" cy="646748"/>
          </a:xfrm>
          <a:prstGeom prst="rect">
            <a:avLst/>
          </a:prstGeom>
          <a:noFill/>
          <a:ln/>
        </p:spPr>
        <p:txBody>
          <a:bodyPr wrap="none" lIns="0" tIns="0" rIns="0" bIns="0" rtlCol="0" anchor="t"/>
          <a:lstStyle/>
          <a:p>
            <a:pPr marL="0" indent="0" algn="l">
              <a:lnSpc>
                <a:spcPts val="5050"/>
              </a:lnSpc>
              <a:buNone/>
            </a:pPr>
            <a:r>
              <a:rPr lang="en-US" sz="4050" b="1" dirty="0">
                <a:solidFill>
                  <a:srgbClr val="9998FF"/>
                </a:solidFill>
                <a:latin typeface="Barlow Bold" pitchFamily="34" charset="0"/>
                <a:ea typeface="Barlow Bold" pitchFamily="34" charset="-122"/>
                <a:cs typeface="Barlow Bold" pitchFamily="34" charset="-120"/>
              </a:rPr>
              <a:t>STEP-5  Model Evaluation &amp; Comparison</a:t>
            </a:r>
            <a:endParaRPr lang="en-US" sz="4050" dirty="0"/>
          </a:p>
        </p:txBody>
      </p:sp>
      <p:sp>
        <p:nvSpPr>
          <p:cNvPr id="3" name="Shape 1"/>
          <p:cNvSpPr/>
          <p:nvPr/>
        </p:nvSpPr>
        <p:spPr>
          <a:xfrm>
            <a:off x="686871" y="922112"/>
            <a:ext cx="13254038" cy="4004234"/>
          </a:xfrm>
          <a:prstGeom prst="roundRect">
            <a:avLst>
              <a:gd name="adj" fmla="val 6224"/>
            </a:avLst>
          </a:prstGeom>
          <a:noFill/>
          <a:ln w="7620">
            <a:solidFill>
              <a:srgbClr val="FFFFFF">
                <a:alpha val="24000"/>
              </a:srgbClr>
            </a:solidFill>
            <a:prstDash val="solid"/>
          </a:ln>
        </p:spPr>
        <p:txBody>
          <a:bodyPr/>
          <a:lstStyle/>
          <a:p>
            <a:endParaRPr lang="en-US"/>
          </a:p>
        </p:txBody>
      </p:sp>
      <p:sp>
        <p:nvSpPr>
          <p:cNvPr id="4" name="Shape 2"/>
          <p:cNvSpPr/>
          <p:nvPr/>
        </p:nvSpPr>
        <p:spPr>
          <a:xfrm>
            <a:off x="694491" y="929732"/>
            <a:ext cx="13241417" cy="565666"/>
          </a:xfrm>
          <a:prstGeom prst="rect">
            <a:avLst/>
          </a:prstGeom>
          <a:solidFill>
            <a:srgbClr val="FFFFFF">
              <a:alpha val="4000"/>
            </a:srgbClr>
          </a:solidFill>
          <a:ln/>
        </p:spPr>
        <p:txBody>
          <a:bodyPr/>
          <a:lstStyle/>
          <a:p>
            <a:endParaRPr lang="en-US"/>
          </a:p>
        </p:txBody>
      </p:sp>
      <p:sp>
        <p:nvSpPr>
          <p:cNvPr id="5" name="Text 3"/>
          <p:cNvSpPr/>
          <p:nvPr/>
        </p:nvSpPr>
        <p:spPr>
          <a:xfrm>
            <a:off x="891540" y="1055224"/>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Model</a:t>
            </a:r>
            <a:endParaRPr lang="en-US" sz="1500" dirty="0"/>
          </a:p>
        </p:txBody>
      </p:sp>
      <p:sp>
        <p:nvSpPr>
          <p:cNvPr id="6" name="Text 4"/>
          <p:cNvSpPr/>
          <p:nvPr/>
        </p:nvSpPr>
        <p:spPr>
          <a:xfrm>
            <a:off x="3102173" y="1055224"/>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Accuracy</a:t>
            </a:r>
            <a:endParaRPr lang="en-US" sz="1500" dirty="0"/>
          </a:p>
        </p:txBody>
      </p:sp>
      <p:sp>
        <p:nvSpPr>
          <p:cNvPr id="7" name="Text 5"/>
          <p:cNvSpPr/>
          <p:nvPr/>
        </p:nvSpPr>
        <p:spPr>
          <a:xfrm>
            <a:off x="5308997" y="1055224"/>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Precision</a:t>
            </a:r>
            <a:endParaRPr lang="en-US" sz="1500" dirty="0"/>
          </a:p>
        </p:txBody>
      </p:sp>
      <p:sp>
        <p:nvSpPr>
          <p:cNvPr id="8" name="Text 6"/>
          <p:cNvSpPr/>
          <p:nvPr/>
        </p:nvSpPr>
        <p:spPr>
          <a:xfrm>
            <a:off x="7515820" y="1055224"/>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Recall</a:t>
            </a:r>
            <a:endParaRPr lang="en-US" sz="1500" dirty="0"/>
          </a:p>
        </p:txBody>
      </p:sp>
      <p:sp>
        <p:nvSpPr>
          <p:cNvPr id="9" name="Text 7"/>
          <p:cNvSpPr/>
          <p:nvPr/>
        </p:nvSpPr>
        <p:spPr>
          <a:xfrm>
            <a:off x="9722643" y="1055224"/>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F1-Score</a:t>
            </a:r>
            <a:endParaRPr lang="en-US" sz="1500" dirty="0"/>
          </a:p>
        </p:txBody>
      </p:sp>
      <p:sp>
        <p:nvSpPr>
          <p:cNvPr id="10" name="Text 8"/>
          <p:cNvSpPr/>
          <p:nvPr/>
        </p:nvSpPr>
        <p:spPr>
          <a:xfrm>
            <a:off x="11929467" y="1055224"/>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ROC - AUC</a:t>
            </a:r>
            <a:endParaRPr lang="en-US" sz="1500" dirty="0"/>
          </a:p>
        </p:txBody>
      </p:sp>
      <p:sp>
        <p:nvSpPr>
          <p:cNvPr id="11" name="Shape 9"/>
          <p:cNvSpPr/>
          <p:nvPr/>
        </p:nvSpPr>
        <p:spPr>
          <a:xfrm>
            <a:off x="694491" y="1495398"/>
            <a:ext cx="13241417" cy="565666"/>
          </a:xfrm>
          <a:prstGeom prst="rect">
            <a:avLst/>
          </a:prstGeom>
          <a:solidFill>
            <a:srgbClr val="000000">
              <a:alpha val="4000"/>
            </a:srgbClr>
          </a:solidFill>
          <a:ln/>
        </p:spPr>
        <p:txBody>
          <a:bodyPr/>
          <a:lstStyle/>
          <a:p>
            <a:endParaRPr lang="en-US"/>
          </a:p>
        </p:txBody>
      </p:sp>
      <p:sp>
        <p:nvSpPr>
          <p:cNvPr id="12" name="Text 10"/>
          <p:cNvSpPr/>
          <p:nvPr/>
        </p:nvSpPr>
        <p:spPr>
          <a:xfrm>
            <a:off x="891540" y="1620890"/>
            <a:ext cx="1809869" cy="314682"/>
          </a:xfrm>
          <a:prstGeom prst="rect">
            <a:avLst/>
          </a:prstGeom>
          <a:noFill/>
          <a:ln/>
        </p:spPr>
        <p:txBody>
          <a:bodyPr wrap="none" lIns="0" tIns="0" rIns="0" bIns="0" rtlCol="0" anchor="t"/>
          <a:lstStyle/>
          <a:p>
            <a:pPr marL="0" indent="0" algn="l">
              <a:lnSpc>
                <a:spcPts val="2450"/>
              </a:lnSpc>
              <a:buNone/>
            </a:pPr>
            <a:r>
              <a:rPr lang="en-US" sz="1500" dirty="0" err="1">
                <a:solidFill>
                  <a:srgbClr val="EEEFF5"/>
                </a:solidFill>
                <a:latin typeface="Montserrat" pitchFamily="34" charset="0"/>
                <a:ea typeface="Montserrat" pitchFamily="34" charset="-122"/>
                <a:cs typeface="Montserrat" pitchFamily="34" charset="-120"/>
              </a:rPr>
              <a:t>XGBoost</a:t>
            </a:r>
            <a:endParaRPr lang="en-US" sz="1500" dirty="0"/>
          </a:p>
        </p:txBody>
      </p:sp>
      <p:sp>
        <p:nvSpPr>
          <p:cNvPr id="13" name="Text 11"/>
          <p:cNvSpPr/>
          <p:nvPr/>
        </p:nvSpPr>
        <p:spPr>
          <a:xfrm>
            <a:off x="3102173" y="1620890"/>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highlight>
                  <a:srgbClr val="008000"/>
                </a:highlight>
                <a:latin typeface="Montserrat" pitchFamily="34" charset="0"/>
                <a:ea typeface="Montserrat" pitchFamily="34" charset="-122"/>
                <a:cs typeface="Montserrat" pitchFamily="34" charset="-120"/>
              </a:rPr>
              <a:t>0.9435</a:t>
            </a:r>
            <a:endParaRPr lang="en-US" sz="1500" dirty="0">
              <a:highlight>
                <a:srgbClr val="008000"/>
              </a:highlight>
            </a:endParaRPr>
          </a:p>
        </p:txBody>
      </p:sp>
      <p:sp>
        <p:nvSpPr>
          <p:cNvPr id="14" name="Text 12"/>
          <p:cNvSpPr/>
          <p:nvPr/>
        </p:nvSpPr>
        <p:spPr>
          <a:xfrm>
            <a:off x="5308997" y="1620890"/>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0.9327</a:t>
            </a:r>
            <a:endParaRPr lang="en-US" sz="1500" dirty="0"/>
          </a:p>
        </p:txBody>
      </p:sp>
      <p:sp>
        <p:nvSpPr>
          <p:cNvPr id="15" name="Text 13"/>
          <p:cNvSpPr/>
          <p:nvPr/>
        </p:nvSpPr>
        <p:spPr>
          <a:xfrm>
            <a:off x="7515820" y="1620890"/>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0.9559</a:t>
            </a:r>
            <a:endParaRPr lang="en-US" sz="1500" dirty="0"/>
          </a:p>
        </p:txBody>
      </p:sp>
      <p:sp>
        <p:nvSpPr>
          <p:cNvPr id="16" name="Text 14"/>
          <p:cNvSpPr/>
          <p:nvPr/>
        </p:nvSpPr>
        <p:spPr>
          <a:xfrm>
            <a:off x="9722643" y="1620890"/>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highlight>
                  <a:srgbClr val="008000"/>
                </a:highlight>
                <a:latin typeface="Montserrat" pitchFamily="34" charset="0"/>
                <a:ea typeface="Montserrat" pitchFamily="34" charset="-122"/>
                <a:cs typeface="Montserrat" pitchFamily="34" charset="-120"/>
              </a:rPr>
              <a:t>0.9441</a:t>
            </a:r>
            <a:endParaRPr lang="en-US" sz="1500" dirty="0">
              <a:highlight>
                <a:srgbClr val="008000"/>
              </a:highlight>
            </a:endParaRPr>
          </a:p>
        </p:txBody>
      </p:sp>
      <p:sp>
        <p:nvSpPr>
          <p:cNvPr id="17" name="Text 15"/>
          <p:cNvSpPr/>
          <p:nvPr/>
        </p:nvSpPr>
        <p:spPr>
          <a:xfrm>
            <a:off x="11929467" y="1620890"/>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highlight>
                  <a:srgbClr val="008000"/>
                </a:highlight>
                <a:latin typeface="Montserrat" pitchFamily="34" charset="0"/>
                <a:ea typeface="Montserrat" pitchFamily="34" charset="-122"/>
                <a:cs typeface="Montserrat" pitchFamily="34" charset="-120"/>
              </a:rPr>
              <a:t>0.99</a:t>
            </a:r>
            <a:endParaRPr lang="en-US" sz="1500" dirty="0">
              <a:highlight>
                <a:srgbClr val="008000"/>
              </a:highlight>
            </a:endParaRPr>
          </a:p>
        </p:txBody>
      </p:sp>
      <p:sp>
        <p:nvSpPr>
          <p:cNvPr id="18" name="Shape 16"/>
          <p:cNvSpPr/>
          <p:nvPr/>
        </p:nvSpPr>
        <p:spPr>
          <a:xfrm>
            <a:off x="694491" y="2061064"/>
            <a:ext cx="13241417" cy="565666"/>
          </a:xfrm>
          <a:prstGeom prst="rect">
            <a:avLst/>
          </a:prstGeom>
          <a:solidFill>
            <a:srgbClr val="FFFFFF">
              <a:alpha val="4000"/>
            </a:srgbClr>
          </a:solidFill>
          <a:ln/>
        </p:spPr>
        <p:txBody>
          <a:bodyPr/>
          <a:lstStyle/>
          <a:p>
            <a:endParaRPr lang="en-US"/>
          </a:p>
        </p:txBody>
      </p:sp>
      <p:sp>
        <p:nvSpPr>
          <p:cNvPr id="19" name="Text 17"/>
          <p:cNvSpPr/>
          <p:nvPr/>
        </p:nvSpPr>
        <p:spPr>
          <a:xfrm>
            <a:off x="891540" y="2186556"/>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Logistic Regression</a:t>
            </a:r>
            <a:endParaRPr lang="en-US" sz="1500" dirty="0"/>
          </a:p>
        </p:txBody>
      </p:sp>
      <p:sp>
        <p:nvSpPr>
          <p:cNvPr id="20" name="Text 18"/>
          <p:cNvSpPr/>
          <p:nvPr/>
        </p:nvSpPr>
        <p:spPr>
          <a:xfrm>
            <a:off x="3102173" y="218655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0.9354</a:t>
            </a:r>
            <a:endParaRPr lang="en-US" sz="1500" dirty="0"/>
          </a:p>
        </p:txBody>
      </p:sp>
      <p:sp>
        <p:nvSpPr>
          <p:cNvPr id="21" name="Text 19"/>
          <p:cNvSpPr/>
          <p:nvPr/>
        </p:nvSpPr>
        <p:spPr>
          <a:xfrm>
            <a:off x="5308997" y="218655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highlight>
                  <a:srgbClr val="008000"/>
                </a:highlight>
                <a:latin typeface="Montserrat" pitchFamily="34" charset="0"/>
                <a:ea typeface="Montserrat" pitchFamily="34" charset="-122"/>
                <a:cs typeface="Montserrat" pitchFamily="34" charset="-120"/>
              </a:rPr>
              <a:t>0.9424</a:t>
            </a:r>
            <a:endParaRPr lang="en-US" sz="1500" dirty="0">
              <a:highlight>
                <a:srgbClr val="008000"/>
              </a:highlight>
            </a:endParaRPr>
          </a:p>
        </p:txBody>
      </p:sp>
      <p:sp>
        <p:nvSpPr>
          <p:cNvPr id="22" name="Text 20"/>
          <p:cNvSpPr/>
          <p:nvPr/>
        </p:nvSpPr>
        <p:spPr>
          <a:xfrm>
            <a:off x="7515820" y="218655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0.9274</a:t>
            </a:r>
            <a:endParaRPr lang="en-US" sz="1500" dirty="0"/>
          </a:p>
        </p:txBody>
      </p:sp>
      <p:sp>
        <p:nvSpPr>
          <p:cNvPr id="23" name="Text 21"/>
          <p:cNvSpPr/>
          <p:nvPr/>
        </p:nvSpPr>
        <p:spPr>
          <a:xfrm>
            <a:off x="9722643" y="2186556"/>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0.9349</a:t>
            </a:r>
            <a:endParaRPr lang="en-US" sz="1500" dirty="0"/>
          </a:p>
        </p:txBody>
      </p:sp>
      <p:sp>
        <p:nvSpPr>
          <p:cNvPr id="24" name="Text 22"/>
          <p:cNvSpPr/>
          <p:nvPr/>
        </p:nvSpPr>
        <p:spPr>
          <a:xfrm>
            <a:off x="11929467" y="2186556"/>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0.98</a:t>
            </a:r>
            <a:endParaRPr lang="en-US" sz="1500" dirty="0"/>
          </a:p>
        </p:txBody>
      </p:sp>
      <p:sp>
        <p:nvSpPr>
          <p:cNvPr id="25" name="Shape 23"/>
          <p:cNvSpPr/>
          <p:nvPr/>
        </p:nvSpPr>
        <p:spPr>
          <a:xfrm>
            <a:off x="694492" y="2626729"/>
            <a:ext cx="13219896" cy="1600165"/>
          </a:xfrm>
          <a:prstGeom prst="rect">
            <a:avLst/>
          </a:prstGeom>
          <a:solidFill>
            <a:srgbClr val="000000">
              <a:alpha val="4000"/>
            </a:srgbClr>
          </a:solidFill>
          <a:ln/>
        </p:spPr>
        <p:txBody>
          <a:bodyPr/>
          <a:lstStyle/>
          <a:p>
            <a:endParaRPr lang="en-US"/>
          </a:p>
        </p:txBody>
      </p:sp>
      <p:sp>
        <p:nvSpPr>
          <p:cNvPr id="26" name="Text 24"/>
          <p:cNvSpPr/>
          <p:nvPr/>
        </p:nvSpPr>
        <p:spPr>
          <a:xfrm>
            <a:off x="891540" y="2752222"/>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K-Nearest Neighbors</a:t>
            </a:r>
            <a:endParaRPr lang="en-US" sz="1500" dirty="0"/>
          </a:p>
        </p:txBody>
      </p:sp>
      <p:sp>
        <p:nvSpPr>
          <p:cNvPr id="27" name="Text 25"/>
          <p:cNvSpPr/>
          <p:nvPr/>
        </p:nvSpPr>
        <p:spPr>
          <a:xfrm>
            <a:off x="3102173" y="275222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0.9252</a:t>
            </a:r>
            <a:endParaRPr lang="en-US" sz="1500" dirty="0"/>
          </a:p>
        </p:txBody>
      </p:sp>
      <p:sp>
        <p:nvSpPr>
          <p:cNvPr id="28" name="Text 26"/>
          <p:cNvSpPr/>
          <p:nvPr/>
        </p:nvSpPr>
        <p:spPr>
          <a:xfrm>
            <a:off x="5308997" y="275222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0.9386</a:t>
            </a:r>
            <a:endParaRPr lang="en-US" sz="1500" dirty="0"/>
          </a:p>
        </p:txBody>
      </p:sp>
      <p:sp>
        <p:nvSpPr>
          <p:cNvPr id="29" name="Text 27"/>
          <p:cNvSpPr/>
          <p:nvPr/>
        </p:nvSpPr>
        <p:spPr>
          <a:xfrm>
            <a:off x="7515820" y="275222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0.9100</a:t>
            </a:r>
            <a:endParaRPr lang="en-US" sz="1500" dirty="0"/>
          </a:p>
        </p:txBody>
      </p:sp>
      <p:sp>
        <p:nvSpPr>
          <p:cNvPr id="30" name="Text 28"/>
          <p:cNvSpPr/>
          <p:nvPr/>
        </p:nvSpPr>
        <p:spPr>
          <a:xfrm>
            <a:off x="9722643" y="275222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0.9241</a:t>
            </a:r>
            <a:endParaRPr lang="en-US" sz="1500" dirty="0"/>
          </a:p>
        </p:txBody>
      </p:sp>
      <p:sp>
        <p:nvSpPr>
          <p:cNvPr id="31" name="Text 29"/>
          <p:cNvSpPr/>
          <p:nvPr/>
        </p:nvSpPr>
        <p:spPr>
          <a:xfrm>
            <a:off x="11929467" y="2752222"/>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0.97</a:t>
            </a:r>
            <a:endParaRPr lang="en-US" sz="1500" dirty="0"/>
          </a:p>
        </p:txBody>
      </p:sp>
      <p:sp>
        <p:nvSpPr>
          <p:cNvPr id="32" name="Shape 30"/>
          <p:cNvSpPr/>
          <p:nvPr/>
        </p:nvSpPr>
        <p:spPr>
          <a:xfrm>
            <a:off x="694491" y="3192396"/>
            <a:ext cx="13241417" cy="565666"/>
          </a:xfrm>
          <a:prstGeom prst="rect">
            <a:avLst/>
          </a:prstGeom>
          <a:solidFill>
            <a:srgbClr val="FFFFFF">
              <a:alpha val="4000"/>
            </a:srgbClr>
          </a:solidFill>
          <a:ln/>
        </p:spPr>
        <p:txBody>
          <a:bodyPr/>
          <a:lstStyle/>
          <a:p>
            <a:endParaRPr lang="en-US"/>
          </a:p>
        </p:txBody>
      </p:sp>
      <p:sp>
        <p:nvSpPr>
          <p:cNvPr id="33" name="Text 31"/>
          <p:cNvSpPr/>
          <p:nvPr/>
        </p:nvSpPr>
        <p:spPr>
          <a:xfrm>
            <a:off x="891540" y="3317888"/>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Random Forest</a:t>
            </a:r>
            <a:endParaRPr lang="en-US" sz="1500" dirty="0"/>
          </a:p>
        </p:txBody>
      </p:sp>
      <p:sp>
        <p:nvSpPr>
          <p:cNvPr id="34" name="Text 32"/>
          <p:cNvSpPr/>
          <p:nvPr/>
        </p:nvSpPr>
        <p:spPr>
          <a:xfrm>
            <a:off x="3102173" y="3317888"/>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0.9163</a:t>
            </a:r>
            <a:endParaRPr lang="en-US" sz="1500" dirty="0"/>
          </a:p>
        </p:txBody>
      </p:sp>
      <p:sp>
        <p:nvSpPr>
          <p:cNvPr id="35" name="Text 33"/>
          <p:cNvSpPr/>
          <p:nvPr/>
        </p:nvSpPr>
        <p:spPr>
          <a:xfrm>
            <a:off x="5308997" y="3317888"/>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0.8806</a:t>
            </a:r>
            <a:endParaRPr lang="en-US" sz="1500" dirty="0"/>
          </a:p>
        </p:txBody>
      </p:sp>
      <p:sp>
        <p:nvSpPr>
          <p:cNvPr id="36" name="Text 34"/>
          <p:cNvSpPr/>
          <p:nvPr/>
        </p:nvSpPr>
        <p:spPr>
          <a:xfrm>
            <a:off x="7515820" y="3317888"/>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highlight>
                  <a:srgbClr val="008000"/>
                </a:highlight>
                <a:latin typeface="Montserrat" pitchFamily="34" charset="0"/>
                <a:ea typeface="Montserrat" pitchFamily="34" charset="-122"/>
                <a:cs typeface="Montserrat" pitchFamily="34" charset="-120"/>
              </a:rPr>
              <a:t>0.9632</a:t>
            </a:r>
            <a:endParaRPr lang="en-US" sz="1500" dirty="0">
              <a:highlight>
                <a:srgbClr val="008000"/>
              </a:highlight>
            </a:endParaRPr>
          </a:p>
        </p:txBody>
      </p:sp>
      <p:sp>
        <p:nvSpPr>
          <p:cNvPr id="37" name="Text 35"/>
          <p:cNvSpPr/>
          <p:nvPr/>
        </p:nvSpPr>
        <p:spPr>
          <a:xfrm>
            <a:off x="9722643" y="3317888"/>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0.9200</a:t>
            </a:r>
            <a:endParaRPr lang="en-US" sz="1500" dirty="0"/>
          </a:p>
        </p:txBody>
      </p:sp>
      <p:sp>
        <p:nvSpPr>
          <p:cNvPr id="38" name="Text 36"/>
          <p:cNvSpPr/>
          <p:nvPr/>
        </p:nvSpPr>
        <p:spPr>
          <a:xfrm>
            <a:off x="11929467" y="3317888"/>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0.97</a:t>
            </a:r>
            <a:endParaRPr lang="en-US" sz="1500" dirty="0"/>
          </a:p>
        </p:txBody>
      </p:sp>
      <p:sp>
        <p:nvSpPr>
          <p:cNvPr id="39" name="Text 37"/>
          <p:cNvSpPr/>
          <p:nvPr/>
        </p:nvSpPr>
        <p:spPr>
          <a:xfrm>
            <a:off x="694492" y="5386885"/>
            <a:ext cx="14552340" cy="2999783"/>
          </a:xfrm>
          <a:prstGeom prst="rect">
            <a:avLst/>
          </a:prstGeom>
          <a:noFill/>
          <a:ln/>
        </p:spPr>
        <p:txBody>
          <a:bodyPr wrap="square" lIns="0" tIns="0" rIns="0" bIns="0" rtlCol="0" anchor="t"/>
          <a:lstStyle/>
          <a:p>
            <a:pPr marL="285750" indent="-285750" algn="l">
              <a:lnSpc>
                <a:spcPts val="2450"/>
              </a:lnSpc>
              <a:buFont typeface="Arial" panose="020B0604020202020204" pitchFamily="34" charset="0"/>
              <a:buChar char="•"/>
            </a:pPr>
            <a:r>
              <a:rPr lang="en-US" sz="1500" dirty="0" err="1">
                <a:solidFill>
                  <a:srgbClr val="EEEFF5"/>
                </a:solidFill>
                <a:latin typeface="Montserrat" pitchFamily="34" charset="0"/>
                <a:ea typeface="Montserrat" pitchFamily="34" charset="-122"/>
                <a:cs typeface="Montserrat" pitchFamily="34" charset="-120"/>
              </a:rPr>
              <a:t>XGBoost</a:t>
            </a:r>
            <a:r>
              <a:rPr lang="en-US" sz="1500" dirty="0">
                <a:solidFill>
                  <a:srgbClr val="EEEFF5"/>
                </a:solidFill>
                <a:latin typeface="Montserrat" pitchFamily="34" charset="0"/>
                <a:ea typeface="Montserrat" pitchFamily="34" charset="-122"/>
                <a:cs typeface="Montserrat" pitchFamily="34" charset="-120"/>
              </a:rPr>
              <a:t> delivered the best results with an F1 Score of 0.9441, showing excellent balance between precision and recall.</a:t>
            </a: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Logistic Regression followed closely, with high precision but slightly lower recall, making it a reliable but slightly conservative classifier.</a:t>
            </a: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K-Nearest Neighbors was strong in precision but showed a modest drop in recall and accuracy.</a:t>
            </a: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Random Forest achieved the highest recall (96.32%) but at the cost of lower precision, indicating more false positives.</a:t>
            </a: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Decision Tree had moderate performance, possibly affected by overfitting.</a:t>
            </a: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Naive Bayes underperformed due to its simplifying assumptions, resulting in the lowest precision and accuracy.</a:t>
            </a:r>
            <a:endParaRPr lang="en-US" sz="1500" dirty="0"/>
          </a:p>
        </p:txBody>
      </p:sp>
      <p:sp>
        <p:nvSpPr>
          <p:cNvPr id="42" name="Shape 23">
            <a:extLst>
              <a:ext uri="{FF2B5EF4-FFF2-40B4-BE49-F238E27FC236}">
                <a16:creationId xmlns:a16="http://schemas.microsoft.com/office/drawing/2014/main" id="{AB1A081F-776B-0AB8-AACD-AC379C6E6EA0}"/>
              </a:ext>
            </a:extLst>
          </p:cNvPr>
          <p:cNvSpPr/>
          <p:nvPr/>
        </p:nvSpPr>
        <p:spPr>
          <a:xfrm>
            <a:off x="686871" y="3795014"/>
            <a:ext cx="13241417" cy="565666"/>
          </a:xfrm>
          <a:prstGeom prst="rect">
            <a:avLst/>
          </a:prstGeom>
          <a:solidFill>
            <a:srgbClr val="000000">
              <a:alpha val="4000"/>
            </a:srgbClr>
          </a:solidFill>
          <a:ln/>
        </p:spPr>
        <p:txBody>
          <a:bodyPr/>
          <a:lstStyle/>
          <a:p>
            <a:endParaRPr lang="en-US"/>
          </a:p>
        </p:txBody>
      </p:sp>
      <p:sp>
        <p:nvSpPr>
          <p:cNvPr id="43" name="Shape 23">
            <a:extLst>
              <a:ext uri="{FF2B5EF4-FFF2-40B4-BE49-F238E27FC236}">
                <a16:creationId xmlns:a16="http://schemas.microsoft.com/office/drawing/2014/main" id="{BCBCF1C1-BA15-49B2-E7D7-9947E15E803C}"/>
              </a:ext>
            </a:extLst>
          </p:cNvPr>
          <p:cNvSpPr/>
          <p:nvPr/>
        </p:nvSpPr>
        <p:spPr>
          <a:xfrm>
            <a:off x="672970" y="3786721"/>
            <a:ext cx="13241417" cy="565666"/>
          </a:xfrm>
          <a:prstGeom prst="rect">
            <a:avLst/>
          </a:prstGeom>
          <a:solidFill>
            <a:srgbClr val="000000">
              <a:alpha val="4000"/>
            </a:srgbClr>
          </a:solidFill>
          <a:ln/>
        </p:spPr>
        <p:txBody>
          <a:bodyPr/>
          <a:lstStyle/>
          <a:p>
            <a:endParaRPr lang="en-US"/>
          </a:p>
        </p:txBody>
      </p:sp>
      <p:sp>
        <p:nvSpPr>
          <p:cNvPr id="44" name="Text 24">
            <a:extLst>
              <a:ext uri="{FF2B5EF4-FFF2-40B4-BE49-F238E27FC236}">
                <a16:creationId xmlns:a16="http://schemas.microsoft.com/office/drawing/2014/main" id="{C860836A-4B0D-0258-1A6F-8AAC7EA2261F}"/>
              </a:ext>
            </a:extLst>
          </p:cNvPr>
          <p:cNvSpPr/>
          <p:nvPr/>
        </p:nvSpPr>
        <p:spPr>
          <a:xfrm>
            <a:off x="870019" y="391221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Decision Tree</a:t>
            </a:r>
            <a:endParaRPr lang="en-US" sz="1500" dirty="0"/>
          </a:p>
        </p:txBody>
      </p:sp>
      <p:sp>
        <p:nvSpPr>
          <p:cNvPr id="45" name="Text 25">
            <a:extLst>
              <a:ext uri="{FF2B5EF4-FFF2-40B4-BE49-F238E27FC236}">
                <a16:creationId xmlns:a16="http://schemas.microsoft.com/office/drawing/2014/main" id="{5BFBEB82-15F2-867E-9D9A-6C42B31F55EB}"/>
              </a:ext>
            </a:extLst>
          </p:cNvPr>
          <p:cNvSpPr/>
          <p:nvPr/>
        </p:nvSpPr>
        <p:spPr>
          <a:xfrm>
            <a:off x="3080652" y="391221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0.8904</a:t>
            </a:r>
            <a:endParaRPr lang="en-US" sz="1500" dirty="0"/>
          </a:p>
        </p:txBody>
      </p:sp>
      <p:sp>
        <p:nvSpPr>
          <p:cNvPr id="46" name="Text 26">
            <a:extLst>
              <a:ext uri="{FF2B5EF4-FFF2-40B4-BE49-F238E27FC236}">
                <a16:creationId xmlns:a16="http://schemas.microsoft.com/office/drawing/2014/main" id="{E15F73D4-8575-67BE-5CFC-E14937CA631C}"/>
              </a:ext>
            </a:extLst>
          </p:cNvPr>
          <p:cNvSpPr/>
          <p:nvPr/>
        </p:nvSpPr>
        <p:spPr>
          <a:xfrm>
            <a:off x="5287476" y="391221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0.8720</a:t>
            </a:r>
            <a:endParaRPr lang="en-US" sz="1500" dirty="0"/>
          </a:p>
        </p:txBody>
      </p:sp>
      <p:sp>
        <p:nvSpPr>
          <p:cNvPr id="47" name="Text 27">
            <a:extLst>
              <a:ext uri="{FF2B5EF4-FFF2-40B4-BE49-F238E27FC236}">
                <a16:creationId xmlns:a16="http://schemas.microsoft.com/office/drawing/2014/main" id="{8053E13C-C641-7409-D5DF-F5E5FF1440D0}"/>
              </a:ext>
            </a:extLst>
          </p:cNvPr>
          <p:cNvSpPr/>
          <p:nvPr/>
        </p:nvSpPr>
        <p:spPr>
          <a:xfrm>
            <a:off x="7494299" y="391221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0.9151</a:t>
            </a:r>
            <a:endParaRPr lang="en-US" sz="1500" dirty="0"/>
          </a:p>
        </p:txBody>
      </p:sp>
      <p:sp>
        <p:nvSpPr>
          <p:cNvPr id="48" name="Text 28">
            <a:extLst>
              <a:ext uri="{FF2B5EF4-FFF2-40B4-BE49-F238E27FC236}">
                <a16:creationId xmlns:a16="http://schemas.microsoft.com/office/drawing/2014/main" id="{AA285DF7-C4A0-94A6-747A-1695B547F371}"/>
              </a:ext>
            </a:extLst>
          </p:cNvPr>
          <p:cNvSpPr/>
          <p:nvPr/>
        </p:nvSpPr>
        <p:spPr>
          <a:xfrm>
            <a:off x="9701122" y="3912213"/>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0.8930</a:t>
            </a:r>
            <a:endParaRPr lang="en-US" sz="1500" dirty="0"/>
          </a:p>
        </p:txBody>
      </p:sp>
      <p:sp>
        <p:nvSpPr>
          <p:cNvPr id="49" name="Text 29">
            <a:extLst>
              <a:ext uri="{FF2B5EF4-FFF2-40B4-BE49-F238E27FC236}">
                <a16:creationId xmlns:a16="http://schemas.microsoft.com/office/drawing/2014/main" id="{514ED92D-B361-FACB-3BD7-739D8B6CCB53}"/>
              </a:ext>
            </a:extLst>
          </p:cNvPr>
          <p:cNvSpPr/>
          <p:nvPr/>
        </p:nvSpPr>
        <p:spPr>
          <a:xfrm>
            <a:off x="11907946" y="3912213"/>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0.95</a:t>
            </a:r>
            <a:endParaRPr lang="en-US" sz="1500" dirty="0"/>
          </a:p>
        </p:txBody>
      </p:sp>
      <p:sp>
        <p:nvSpPr>
          <p:cNvPr id="51" name="Shape 30">
            <a:extLst>
              <a:ext uri="{FF2B5EF4-FFF2-40B4-BE49-F238E27FC236}">
                <a16:creationId xmlns:a16="http://schemas.microsoft.com/office/drawing/2014/main" id="{B7888F5F-0CD5-EE17-4913-D05DD8D6279D}"/>
              </a:ext>
            </a:extLst>
          </p:cNvPr>
          <p:cNvSpPr/>
          <p:nvPr/>
        </p:nvSpPr>
        <p:spPr>
          <a:xfrm>
            <a:off x="672970" y="4360680"/>
            <a:ext cx="13267939" cy="557373"/>
          </a:xfrm>
          <a:prstGeom prst="rect">
            <a:avLst/>
          </a:prstGeom>
          <a:solidFill>
            <a:srgbClr val="FFFFFF">
              <a:alpha val="4000"/>
            </a:srgbClr>
          </a:solidFill>
          <a:ln/>
        </p:spPr>
        <p:txBody>
          <a:bodyPr/>
          <a:lstStyle/>
          <a:p>
            <a:endParaRPr lang="en-US"/>
          </a:p>
        </p:txBody>
      </p:sp>
      <p:sp>
        <p:nvSpPr>
          <p:cNvPr id="58" name="Text 31">
            <a:extLst>
              <a:ext uri="{FF2B5EF4-FFF2-40B4-BE49-F238E27FC236}">
                <a16:creationId xmlns:a16="http://schemas.microsoft.com/office/drawing/2014/main" id="{33CD64C3-0BB4-1D84-2A95-3B2D18B49A39}"/>
              </a:ext>
            </a:extLst>
          </p:cNvPr>
          <p:cNvSpPr/>
          <p:nvPr/>
        </p:nvSpPr>
        <p:spPr>
          <a:xfrm>
            <a:off x="891540" y="4486172"/>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Naïve Bayes</a:t>
            </a:r>
            <a:endParaRPr lang="en-US" sz="1500" dirty="0"/>
          </a:p>
        </p:txBody>
      </p:sp>
      <p:sp>
        <p:nvSpPr>
          <p:cNvPr id="59" name="Text 32">
            <a:extLst>
              <a:ext uri="{FF2B5EF4-FFF2-40B4-BE49-F238E27FC236}">
                <a16:creationId xmlns:a16="http://schemas.microsoft.com/office/drawing/2014/main" id="{AAD4E254-6F4A-0683-DCDF-4877A20DFAF8}"/>
              </a:ext>
            </a:extLst>
          </p:cNvPr>
          <p:cNvSpPr/>
          <p:nvPr/>
        </p:nvSpPr>
        <p:spPr>
          <a:xfrm>
            <a:off x="3102173" y="448617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0.8129</a:t>
            </a:r>
            <a:endParaRPr lang="en-US" sz="1500" dirty="0"/>
          </a:p>
        </p:txBody>
      </p:sp>
      <p:sp>
        <p:nvSpPr>
          <p:cNvPr id="60" name="Text 33">
            <a:extLst>
              <a:ext uri="{FF2B5EF4-FFF2-40B4-BE49-F238E27FC236}">
                <a16:creationId xmlns:a16="http://schemas.microsoft.com/office/drawing/2014/main" id="{C4FFF3C5-9F5B-7B0C-8C0B-DB097BF819FF}"/>
              </a:ext>
            </a:extLst>
          </p:cNvPr>
          <p:cNvSpPr/>
          <p:nvPr/>
        </p:nvSpPr>
        <p:spPr>
          <a:xfrm>
            <a:off x="5308997" y="448617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0.7797</a:t>
            </a:r>
            <a:endParaRPr lang="en-US" sz="1500" dirty="0"/>
          </a:p>
        </p:txBody>
      </p:sp>
      <p:sp>
        <p:nvSpPr>
          <p:cNvPr id="61" name="Text 34">
            <a:extLst>
              <a:ext uri="{FF2B5EF4-FFF2-40B4-BE49-F238E27FC236}">
                <a16:creationId xmlns:a16="http://schemas.microsoft.com/office/drawing/2014/main" id="{482E8CD1-2038-250D-44F7-43D135CCC888}"/>
              </a:ext>
            </a:extLst>
          </p:cNvPr>
          <p:cNvSpPr/>
          <p:nvPr/>
        </p:nvSpPr>
        <p:spPr>
          <a:xfrm>
            <a:off x="7515820" y="448617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0.8723</a:t>
            </a:r>
            <a:endParaRPr lang="en-US" sz="1500" dirty="0"/>
          </a:p>
        </p:txBody>
      </p:sp>
      <p:sp>
        <p:nvSpPr>
          <p:cNvPr id="62" name="Text 35">
            <a:extLst>
              <a:ext uri="{FF2B5EF4-FFF2-40B4-BE49-F238E27FC236}">
                <a16:creationId xmlns:a16="http://schemas.microsoft.com/office/drawing/2014/main" id="{55487358-8898-BF17-53A1-CC42EE7BD43F}"/>
              </a:ext>
            </a:extLst>
          </p:cNvPr>
          <p:cNvSpPr/>
          <p:nvPr/>
        </p:nvSpPr>
        <p:spPr>
          <a:xfrm>
            <a:off x="9722643" y="4486172"/>
            <a:ext cx="180605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0.8234</a:t>
            </a:r>
            <a:endParaRPr lang="en-US" sz="1500" dirty="0"/>
          </a:p>
        </p:txBody>
      </p:sp>
      <p:sp>
        <p:nvSpPr>
          <p:cNvPr id="63" name="Text 36">
            <a:extLst>
              <a:ext uri="{FF2B5EF4-FFF2-40B4-BE49-F238E27FC236}">
                <a16:creationId xmlns:a16="http://schemas.microsoft.com/office/drawing/2014/main" id="{BDA9A1FC-6A1F-6A20-D19D-191E36683AFD}"/>
              </a:ext>
            </a:extLst>
          </p:cNvPr>
          <p:cNvSpPr/>
          <p:nvPr/>
        </p:nvSpPr>
        <p:spPr>
          <a:xfrm>
            <a:off x="11929467" y="4486172"/>
            <a:ext cx="1809869" cy="314682"/>
          </a:xfrm>
          <a:prstGeom prst="rect">
            <a:avLst/>
          </a:prstGeom>
          <a:noFill/>
          <a:ln/>
        </p:spPr>
        <p:txBody>
          <a:bodyPr wrap="none" lIns="0" tIns="0" rIns="0" bIns="0" rtlCol="0" anchor="t"/>
          <a:lstStyle/>
          <a:p>
            <a:pPr marL="0" indent="0" algn="l">
              <a:lnSpc>
                <a:spcPts val="2450"/>
              </a:lnSpc>
              <a:buNone/>
            </a:pPr>
            <a:r>
              <a:rPr lang="en-US" sz="1500" dirty="0">
                <a:solidFill>
                  <a:srgbClr val="EEEFF5"/>
                </a:solidFill>
                <a:latin typeface="Montserrat" pitchFamily="34" charset="0"/>
                <a:ea typeface="Montserrat" pitchFamily="34" charset="-122"/>
                <a:cs typeface="Montserrat" pitchFamily="34" charset="-120"/>
              </a:rPr>
              <a:t>0.89</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97F4563-D100-9AAE-F78F-EB1E7B3B5266}"/>
              </a:ext>
            </a:extLst>
          </p:cNvPr>
          <p:cNvSpPr/>
          <p:nvPr/>
        </p:nvSpPr>
        <p:spPr>
          <a:xfrm>
            <a:off x="503621" y="175091"/>
            <a:ext cx="7659072" cy="588407"/>
          </a:xfrm>
          <a:prstGeom prst="rect">
            <a:avLst/>
          </a:prstGeom>
          <a:noFill/>
          <a:ln/>
        </p:spPr>
        <p:txBody>
          <a:bodyPr wrap="none" lIns="0" tIns="0" rIns="0" bIns="0" rtlCol="0" anchor="t"/>
          <a:lstStyle/>
          <a:p>
            <a:pPr marL="0" indent="0" algn="l">
              <a:lnSpc>
                <a:spcPts val="4600"/>
              </a:lnSpc>
              <a:buNone/>
            </a:pPr>
            <a:r>
              <a:rPr lang="en-US" sz="3700" b="1" dirty="0">
                <a:solidFill>
                  <a:srgbClr val="9998FF"/>
                </a:solidFill>
                <a:latin typeface="Barlow Bold" pitchFamily="34" charset="0"/>
              </a:rPr>
              <a:t>Conclusion</a:t>
            </a:r>
            <a:endParaRPr lang="en-US" sz="3700" dirty="0"/>
          </a:p>
        </p:txBody>
      </p:sp>
      <p:sp>
        <p:nvSpPr>
          <p:cNvPr id="3" name="Text 37">
            <a:extLst>
              <a:ext uri="{FF2B5EF4-FFF2-40B4-BE49-F238E27FC236}">
                <a16:creationId xmlns:a16="http://schemas.microsoft.com/office/drawing/2014/main" id="{7DCE61E2-4AE0-AF55-836C-E89A4AD8F986}"/>
              </a:ext>
            </a:extLst>
          </p:cNvPr>
          <p:cNvSpPr/>
          <p:nvPr/>
        </p:nvSpPr>
        <p:spPr>
          <a:xfrm>
            <a:off x="503621" y="763497"/>
            <a:ext cx="13254038" cy="7291011"/>
          </a:xfrm>
          <a:prstGeom prst="rect">
            <a:avLst/>
          </a:prstGeom>
          <a:noFill/>
          <a:ln/>
        </p:spPr>
        <p:txBody>
          <a:bodyPr wrap="square" lIns="0" tIns="0" rIns="0" bIns="0" rtlCol="0" anchor="t"/>
          <a:lstStyle/>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The objective of this project was to build a predictive model that helps identify which clients are most likely to subscribe to a term deposit product, enabling the bank to optimize marketing efforts and reduce unnecessary outreach.</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We began by exploring the dataset, identifying a class imbalance (majority of clients said “No”), which was addressed using SMOTE oversampling to balance the target classes. This ensured fairer model learning.</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Extensive data preprocessing was conducted, including outlier handling, feature encoding, and scaling, ensuring that our models were trained on clean and normalized data. We also visualized feature distributions to understand patterns and their influence on the target.</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We trained and evaluated six models: Logistic Regression, Naive Bayes, K-Nearest Neighbors, Decision Tree, Random Forest, and </a:t>
            </a:r>
            <a:r>
              <a:rPr lang="en-US" sz="1500" dirty="0" err="1">
                <a:solidFill>
                  <a:srgbClr val="EEEFF5"/>
                </a:solidFill>
                <a:latin typeface="Montserrat" pitchFamily="34" charset="0"/>
                <a:ea typeface="Montserrat" pitchFamily="34" charset="-122"/>
                <a:cs typeface="Montserrat" pitchFamily="34" charset="-120"/>
              </a:rPr>
              <a:t>XGBoost</a:t>
            </a:r>
            <a:r>
              <a:rPr lang="en-US" sz="1500" dirty="0">
                <a:solidFill>
                  <a:srgbClr val="EEEFF5"/>
                </a:solidFill>
                <a:latin typeface="Montserrat" pitchFamily="34" charset="0"/>
                <a:ea typeface="Montserrat" pitchFamily="34" charset="-122"/>
                <a:cs typeface="Montserrat" pitchFamily="34" charset="-120"/>
              </a:rPr>
              <a:t>, comparing their accuracy, precision, recall, and F1 score. Additionally, we validated their stability using cross-validation and ROC-AUC analysis.</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Among all models, </a:t>
            </a:r>
            <a:r>
              <a:rPr lang="en-US" sz="1500" dirty="0" err="1">
                <a:solidFill>
                  <a:srgbClr val="EEEFF5"/>
                </a:solidFill>
                <a:latin typeface="Montserrat" pitchFamily="34" charset="0"/>
                <a:ea typeface="Montserrat" pitchFamily="34" charset="-122"/>
                <a:cs typeface="Montserrat" pitchFamily="34" charset="-120"/>
              </a:rPr>
              <a:t>XGBoost</a:t>
            </a:r>
            <a:r>
              <a:rPr lang="en-US" sz="1500" dirty="0">
                <a:solidFill>
                  <a:srgbClr val="EEEFF5"/>
                </a:solidFill>
                <a:latin typeface="Montserrat" pitchFamily="34" charset="0"/>
                <a:ea typeface="Montserrat" pitchFamily="34" charset="-122"/>
                <a:cs typeface="Montserrat" pitchFamily="34" charset="-120"/>
              </a:rPr>
              <a:t> consistently performed the best, with an F1 Score of 0.9441 and AUC of 0.99, making it the most reliable for predicting client subscription behavior. Logistic Regression and KNN also performed well with minimal overfitting.</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Hyperparameter tuning was applied to enhance model performance. While models like Logistic Regression and KNN showed slight improvements, others like Random Forest experienced reduced scores—highlighting that tuning must be carefully controlled to avoid over-regularization.</a:t>
            </a:r>
          </a:p>
          <a:p>
            <a:pPr marL="285750" indent="-285750" algn="l">
              <a:lnSpc>
                <a:spcPts val="2450"/>
              </a:lnSpc>
              <a:buFont typeface="Arial" panose="020B0604020202020204" pitchFamily="34" charset="0"/>
              <a:buChar char="•"/>
            </a:pPr>
            <a:endParaRPr lang="en-US" sz="1500" dirty="0">
              <a:solidFill>
                <a:srgbClr val="EEEFF5"/>
              </a:solidFill>
              <a:latin typeface="Montserrat" pitchFamily="34" charset="0"/>
              <a:ea typeface="Montserrat" pitchFamily="34" charset="-122"/>
              <a:cs typeface="Montserrat" pitchFamily="34" charset="-120"/>
            </a:endParaRPr>
          </a:p>
          <a:p>
            <a:pPr marL="285750" indent="-285750" algn="l">
              <a:lnSpc>
                <a:spcPts val="2450"/>
              </a:lnSpc>
              <a:buFont typeface="Arial" panose="020B0604020202020204" pitchFamily="34" charset="0"/>
              <a:buChar char="•"/>
            </a:pPr>
            <a:r>
              <a:rPr lang="en-US" sz="1500" dirty="0">
                <a:solidFill>
                  <a:srgbClr val="EEEFF5"/>
                </a:solidFill>
                <a:latin typeface="Montserrat" pitchFamily="34" charset="0"/>
                <a:ea typeface="Montserrat" pitchFamily="34" charset="-122"/>
                <a:cs typeface="Montserrat" pitchFamily="34" charset="-120"/>
              </a:rPr>
              <a:t>In summary, our pipeline successfully combines data preprocessing, modeling, evaluation, and optimization, offering a practical solution that can help marketing teams focus on clients with higher likelihood of conversion, improving campaign efficiency and outcomes.</a:t>
            </a:r>
            <a:endParaRPr lang="en-US" sz="1500" dirty="0"/>
          </a:p>
        </p:txBody>
      </p:sp>
    </p:spTree>
    <p:extLst>
      <p:ext uri="{BB962C8B-B14F-4D97-AF65-F5344CB8AC3E}">
        <p14:creationId xmlns:p14="http://schemas.microsoft.com/office/powerpoint/2010/main" val="3324422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774502"/>
            <a:ext cx="10179248" cy="712708"/>
          </a:xfrm>
          <a:prstGeom prst="rect">
            <a:avLst/>
          </a:prstGeom>
          <a:noFill/>
          <a:ln/>
        </p:spPr>
        <p:txBody>
          <a:bodyPr wrap="none" lIns="0" tIns="0" rIns="0" bIns="0" rtlCol="0" anchor="t"/>
          <a:lstStyle/>
          <a:p>
            <a:pPr marL="0" indent="0" algn="l">
              <a:lnSpc>
                <a:spcPts val="5600"/>
              </a:lnSpc>
              <a:buNone/>
            </a:pPr>
            <a:r>
              <a:rPr lang="en-US" sz="4450" b="1" dirty="0">
                <a:solidFill>
                  <a:srgbClr val="9998FF"/>
                </a:solidFill>
                <a:latin typeface="Barlow Bold" pitchFamily="34" charset="0"/>
                <a:ea typeface="Barlow Bold" pitchFamily="34" charset="-122"/>
                <a:cs typeface="Barlow Bold" pitchFamily="34" charset="-120"/>
              </a:rPr>
              <a:t>Strategic Implementation &amp; Future Work</a:t>
            </a:r>
            <a:endParaRPr lang="en-US" sz="4450" dirty="0"/>
          </a:p>
        </p:txBody>
      </p:sp>
      <p:sp>
        <p:nvSpPr>
          <p:cNvPr id="3" name="Text 1"/>
          <p:cNvSpPr/>
          <p:nvPr/>
        </p:nvSpPr>
        <p:spPr>
          <a:xfrm>
            <a:off x="758309" y="2028706"/>
            <a:ext cx="4154567" cy="714970"/>
          </a:xfrm>
          <a:prstGeom prst="rect">
            <a:avLst/>
          </a:prstGeom>
          <a:noFill/>
          <a:ln/>
        </p:spPr>
        <p:txBody>
          <a:bodyPr wrap="none" lIns="0" tIns="0" rIns="0" bIns="0" rtlCol="0" anchor="t"/>
          <a:lstStyle/>
          <a:p>
            <a:pPr marL="0" indent="0" algn="ctr">
              <a:lnSpc>
                <a:spcPts val="5600"/>
              </a:lnSpc>
              <a:buNone/>
            </a:pPr>
            <a:r>
              <a:rPr lang="en-US" sz="5600" b="1" dirty="0">
                <a:solidFill>
                  <a:srgbClr val="EEEFF5"/>
                </a:solidFill>
                <a:latin typeface="Barlow Bold" pitchFamily="34" charset="0"/>
                <a:ea typeface="Barlow Bold" pitchFamily="34" charset="-122"/>
                <a:cs typeface="Barlow Bold" pitchFamily="34" charset="-120"/>
              </a:rPr>
              <a:t>31%</a:t>
            </a:r>
            <a:endParaRPr lang="en-US" sz="5600" dirty="0"/>
          </a:p>
        </p:txBody>
      </p:sp>
      <p:sp>
        <p:nvSpPr>
          <p:cNvPr id="4" name="Text 2"/>
          <p:cNvSpPr/>
          <p:nvPr/>
        </p:nvSpPr>
        <p:spPr>
          <a:xfrm>
            <a:off x="1215152" y="3014305"/>
            <a:ext cx="3240881" cy="356235"/>
          </a:xfrm>
          <a:prstGeom prst="rect">
            <a:avLst/>
          </a:prstGeom>
          <a:noFill/>
          <a:ln/>
        </p:spPr>
        <p:txBody>
          <a:bodyPr wrap="none" lIns="0" tIns="0" rIns="0" bIns="0" rtlCol="0" anchor="t"/>
          <a:lstStyle/>
          <a:p>
            <a:pPr marL="0" indent="0" algn="ctr">
              <a:lnSpc>
                <a:spcPts val="2800"/>
              </a:lnSpc>
              <a:buNone/>
            </a:pPr>
            <a:r>
              <a:rPr lang="en-US" sz="2200" b="1" dirty="0">
                <a:solidFill>
                  <a:srgbClr val="EEEFF5"/>
                </a:solidFill>
                <a:latin typeface="Barlow Bold" pitchFamily="34" charset="0"/>
                <a:ea typeface="Barlow Bold" pitchFamily="34" charset="-122"/>
                <a:cs typeface="Barlow Bold" pitchFamily="34" charset="-120"/>
              </a:rPr>
              <a:t>Marketing Cost Reduction</a:t>
            </a:r>
            <a:endParaRPr lang="en-US" sz="2200" dirty="0"/>
          </a:p>
        </p:txBody>
      </p:sp>
      <p:sp>
        <p:nvSpPr>
          <p:cNvPr id="5" name="Text 3"/>
          <p:cNvSpPr/>
          <p:nvPr/>
        </p:nvSpPr>
        <p:spPr>
          <a:xfrm>
            <a:off x="758309" y="3500438"/>
            <a:ext cx="4154567" cy="693420"/>
          </a:xfrm>
          <a:prstGeom prst="rect">
            <a:avLst/>
          </a:prstGeom>
          <a:noFill/>
          <a:ln/>
        </p:spPr>
        <p:txBody>
          <a:bodyPr wrap="square" lIns="0" tIns="0" rIns="0" bIns="0" rtlCol="0" anchor="t"/>
          <a:lstStyle/>
          <a:p>
            <a:pPr marL="0" indent="0" algn="ctr">
              <a:lnSpc>
                <a:spcPts val="2700"/>
              </a:lnSpc>
              <a:buNone/>
            </a:pPr>
            <a:r>
              <a:rPr lang="en-US" sz="1700" dirty="0">
                <a:solidFill>
                  <a:srgbClr val="EEEFF5"/>
                </a:solidFill>
                <a:latin typeface="Montserrat" pitchFamily="34" charset="0"/>
                <a:ea typeface="Montserrat" pitchFamily="34" charset="-122"/>
                <a:cs typeface="Montserrat" pitchFamily="34" charset="-120"/>
              </a:rPr>
              <a:t>Potential savings by targeting high-probability prospects</a:t>
            </a:r>
            <a:endParaRPr lang="en-US" sz="1700" dirty="0"/>
          </a:p>
        </p:txBody>
      </p:sp>
      <p:sp>
        <p:nvSpPr>
          <p:cNvPr id="6" name="Text 4"/>
          <p:cNvSpPr/>
          <p:nvPr/>
        </p:nvSpPr>
        <p:spPr>
          <a:xfrm>
            <a:off x="5237798" y="2028706"/>
            <a:ext cx="4154686" cy="714970"/>
          </a:xfrm>
          <a:prstGeom prst="rect">
            <a:avLst/>
          </a:prstGeom>
          <a:noFill/>
          <a:ln/>
        </p:spPr>
        <p:txBody>
          <a:bodyPr wrap="none" lIns="0" tIns="0" rIns="0" bIns="0" rtlCol="0" anchor="t"/>
          <a:lstStyle/>
          <a:p>
            <a:pPr marL="0" indent="0" algn="ctr">
              <a:lnSpc>
                <a:spcPts val="5600"/>
              </a:lnSpc>
              <a:buNone/>
            </a:pPr>
            <a:r>
              <a:rPr lang="en-US" sz="5600" b="1" dirty="0">
                <a:solidFill>
                  <a:srgbClr val="EEEFF5"/>
                </a:solidFill>
                <a:latin typeface="Barlow Bold" pitchFamily="34" charset="0"/>
                <a:ea typeface="Barlow Bold" pitchFamily="34" charset="-122"/>
                <a:cs typeface="Barlow Bold" pitchFamily="34" charset="-120"/>
              </a:rPr>
              <a:t>24%</a:t>
            </a:r>
            <a:endParaRPr lang="en-US" sz="5600" dirty="0"/>
          </a:p>
        </p:txBody>
      </p:sp>
      <p:sp>
        <p:nvSpPr>
          <p:cNvPr id="7" name="Text 5"/>
          <p:cNvSpPr/>
          <p:nvPr/>
        </p:nvSpPr>
        <p:spPr>
          <a:xfrm>
            <a:off x="5713333" y="3014305"/>
            <a:ext cx="3203615" cy="356235"/>
          </a:xfrm>
          <a:prstGeom prst="rect">
            <a:avLst/>
          </a:prstGeom>
          <a:noFill/>
          <a:ln/>
        </p:spPr>
        <p:txBody>
          <a:bodyPr wrap="none" lIns="0" tIns="0" rIns="0" bIns="0" rtlCol="0" anchor="t"/>
          <a:lstStyle/>
          <a:p>
            <a:pPr marL="0" indent="0" algn="ctr">
              <a:lnSpc>
                <a:spcPts val="2800"/>
              </a:lnSpc>
              <a:buNone/>
            </a:pPr>
            <a:r>
              <a:rPr lang="en-US" sz="2200" b="1" dirty="0">
                <a:solidFill>
                  <a:srgbClr val="EEEFF5"/>
                </a:solidFill>
                <a:latin typeface="Barlow Bold" pitchFamily="34" charset="0"/>
                <a:ea typeface="Barlow Bold" pitchFamily="34" charset="-122"/>
                <a:cs typeface="Barlow Bold" pitchFamily="34" charset="-120"/>
              </a:rPr>
              <a:t>Conversion Rate Increase</a:t>
            </a:r>
            <a:endParaRPr lang="en-US" sz="2200" dirty="0"/>
          </a:p>
        </p:txBody>
      </p:sp>
      <p:sp>
        <p:nvSpPr>
          <p:cNvPr id="8" name="Text 6"/>
          <p:cNvSpPr/>
          <p:nvPr/>
        </p:nvSpPr>
        <p:spPr>
          <a:xfrm>
            <a:off x="5237798" y="3500438"/>
            <a:ext cx="4154686" cy="693420"/>
          </a:xfrm>
          <a:prstGeom prst="rect">
            <a:avLst/>
          </a:prstGeom>
          <a:noFill/>
          <a:ln/>
        </p:spPr>
        <p:txBody>
          <a:bodyPr wrap="square" lIns="0" tIns="0" rIns="0" bIns="0" rtlCol="0" anchor="t"/>
          <a:lstStyle/>
          <a:p>
            <a:pPr marL="0" indent="0" algn="ctr">
              <a:lnSpc>
                <a:spcPts val="2700"/>
              </a:lnSpc>
              <a:buNone/>
            </a:pPr>
            <a:r>
              <a:rPr lang="en-US" sz="1700" dirty="0">
                <a:solidFill>
                  <a:srgbClr val="EEEFF5"/>
                </a:solidFill>
                <a:latin typeface="Montserrat" pitchFamily="34" charset="0"/>
                <a:ea typeface="Montserrat" pitchFamily="34" charset="-122"/>
                <a:cs typeface="Montserrat" pitchFamily="34" charset="-120"/>
              </a:rPr>
              <a:t>Projected improvement through optimized targeting</a:t>
            </a:r>
            <a:endParaRPr lang="en-US" sz="1700" dirty="0"/>
          </a:p>
        </p:txBody>
      </p:sp>
      <p:sp>
        <p:nvSpPr>
          <p:cNvPr id="9" name="Text 7"/>
          <p:cNvSpPr/>
          <p:nvPr/>
        </p:nvSpPr>
        <p:spPr>
          <a:xfrm>
            <a:off x="9717405" y="2028706"/>
            <a:ext cx="4154567" cy="714970"/>
          </a:xfrm>
          <a:prstGeom prst="rect">
            <a:avLst/>
          </a:prstGeom>
          <a:noFill/>
          <a:ln/>
        </p:spPr>
        <p:txBody>
          <a:bodyPr wrap="none" lIns="0" tIns="0" rIns="0" bIns="0" rtlCol="0" anchor="t"/>
          <a:lstStyle/>
          <a:p>
            <a:pPr marL="0" indent="0" algn="ctr">
              <a:lnSpc>
                <a:spcPts val="5600"/>
              </a:lnSpc>
              <a:buNone/>
            </a:pPr>
            <a:r>
              <a:rPr lang="en-US" sz="5600" b="1" dirty="0">
                <a:solidFill>
                  <a:srgbClr val="EEEFF5"/>
                </a:solidFill>
                <a:latin typeface="Barlow Bold" pitchFamily="34" charset="0"/>
                <a:ea typeface="Barlow Bold" pitchFamily="34" charset="-122"/>
                <a:cs typeface="Barlow Bold" pitchFamily="34" charset="-120"/>
              </a:rPr>
              <a:t>187%</a:t>
            </a:r>
            <a:endParaRPr lang="en-US" sz="5600" dirty="0"/>
          </a:p>
        </p:txBody>
      </p:sp>
      <p:sp>
        <p:nvSpPr>
          <p:cNvPr id="10" name="Text 8"/>
          <p:cNvSpPr/>
          <p:nvPr/>
        </p:nvSpPr>
        <p:spPr>
          <a:xfrm>
            <a:off x="10369272" y="3014305"/>
            <a:ext cx="2850713" cy="356235"/>
          </a:xfrm>
          <a:prstGeom prst="rect">
            <a:avLst/>
          </a:prstGeom>
          <a:noFill/>
          <a:ln/>
        </p:spPr>
        <p:txBody>
          <a:bodyPr wrap="none" lIns="0" tIns="0" rIns="0" bIns="0" rtlCol="0" anchor="t"/>
          <a:lstStyle/>
          <a:p>
            <a:pPr marL="0" indent="0" algn="ctr">
              <a:lnSpc>
                <a:spcPts val="2800"/>
              </a:lnSpc>
              <a:buNone/>
            </a:pPr>
            <a:r>
              <a:rPr lang="en-US" sz="2200" b="1" dirty="0">
                <a:solidFill>
                  <a:srgbClr val="EEEFF5"/>
                </a:solidFill>
                <a:latin typeface="Barlow Bold" pitchFamily="34" charset="0"/>
                <a:ea typeface="Barlow Bold" pitchFamily="34" charset="-122"/>
                <a:cs typeface="Barlow Bold" pitchFamily="34" charset="-120"/>
              </a:rPr>
              <a:t>ROI Enhancement</a:t>
            </a:r>
            <a:endParaRPr lang="en-US" sz="2200" dirty="0"/>
          </a:p>
        </p:txBody>
      </p:sp>
      <p:sp>
        <p:nvSpPr>
          <p:cNvPr id="11" name="Text 9"/>
          <p:cNvSpPr/>
          <p:nvPr/>
        </p:nvSpPr>
        <p:spPr>
          <a:xfrm>
            <a:off x="9717405" y="3500438"/>
            <a:ext cx="4154567" cy="693420"/>
          </a:xfrm>
          <a:prstGeom prst="rect">
            <a:avLst/>
          </a:prstGeom>
          <a:noFill/>
          <a:ln/>
        </p:spPr>
        <p:txBody>
          <a:bodyPr wrap="square" lIns="0" tIns="0" rIns="0" bIns="0" rtlCol="0" anchor="t"/>
          <a:lstStyle/>
          <a:p>
            <a:pPr marL="0" indent="0" algn="ctr">
              <a:lnSpc>
                <a:spcPts val="2700"/>
              </a:lnSpc>
              <a:buNone/>
            </a:pPr>
            <a:r>
              <a:rPr lang="en-US" sz="1700" dirty="0">
                <a:solidFill>
                  <a:srgbClr val="EEEFF5"/>
                </a:solidFill>
                <a:latin typeface="Montserrat" pitchFamily="34" charset="0"/>
                <a:ea typeface="Montserrat" pitchFamily="34" charset="-122"/>
                <a:cs typeface="Montserrat" pitchFamily="34" charset="-120"/>
              </a:rPr>
              <a:t>Expected return on marketing investment</a:t>
            </a:r>
            <a:endParaRPr lang="en-US" sz="1700" dirty="0"/>
          </a:p>
        </p:txBody>
      </p:sp>
      <p:sp>
        <p:nvSpPr>
          <p:cNvPr id="12" name="Text 10"/>
          <p:cNvSpPr/>
          <p:nvPr/>
        </p:nvSpPr>
        <p:spPr>
          <a:xfrm>
            <a:off x="758309" y="4437578"/>
            <a:ext cx="13113782" cy="138684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Our Random Forest model has been deployed as an API service integrated with the bank's CRM system, providing real-time subscription probability scores to guide marketing outreach. Implementation includes a tiered approach where high-probability customers receive personalized offers, while medium-probability segments undergo A/B testing to refine messaging strategies.</a:t>
            </a:r>
            <a:endParaRPr lang="en-US" sz="1700" dirty="0"/>
          </a:p>
        </p:txBody>
      </p:sp>
      <p:sp>
        <p:nvSpPr>
          <p:cNvPr id="13" name="Text 11"/>
          <p:cNvSpPr/>
          <p:nvPr/>
        </p:nvSpPr>
        <p:spPr>
          <a:xfrm>
            <a:off x="758309" y="6068139"/>
            <a:ext cx="13113782" cy="1386840"/>
          </a:xfrm>
          <a:prstGeom prst="rect">
            <a:avLst/>
          </a:prstGeom>
          <a:noFill/>
          <a:ln/>
        </p:spPr>
        <p:txBody>
          <a:bodyPr wrap="square" lIns="0" tIns="0" rIns="0" bIns="0" rtlCol="0" anchor="t"/>
          <a:lstStyle/>
          <a:p>
            <a:pPr marL="0" indent="0" algn="l">
              <a:lnSpc>
                <a:spcPts val="2700"/>
              </a:lnSpc>
              <a:buNone/>
            </a:pPr>
            <a:r>
              <a:rPr lang="en-US" sz="1700" dirty="0">
                <a:solidFill>
                  <a:srgbClr val="EEEFF5"/>
                </a:solidFill>
                <a:latin typeface="Montserrat" pitchFamily="34" charset="0"/>
                <a:ea typeface="Montserrat" pitchFamily="34" charset="-122"/>
                <a:cs typeface="Montserrat" pitchFamily="34" charset="-120"/>
              </a:rPr>
              <a:t>Future enhancements include incorporating temporal analysis to identify optimal contact timing, developing explainable AI components to provide actionable insights to marketing teams, and expanding the model to predict deposit amounts in addition to subscription likelihood. We also recommend establishing a continuous evaluation framework to monitor model performance and detect concept drift as customer behaviors evolve.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381</TotalTime>
  <Words>3072</Words>
  <Application>Microsoft Macintosh PowerPoint</Application>
  <PresentationFormat>Custom</PresentationFormat>
  <Paragraphs>422</Paragraphs>
  <Slides>30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Barlow Bold</vt:lpstr>
      <vt:lpstr>Montserrat</vt:lpstr>
      <vt:lpstr>Montserrat Bold</vt:lpstr>
      <vt:lpstr>Arial</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Shergill, Mr. Sajan</cp:lastModifiedBy>
  <cp:revision>33</cp:revision>
  <dcterms:created xsi:type="dcterms:W3CDTF">2025-04-29T22:39:47Z</dcterms:created>
  <dcterms:modified xsi:type="dcterms:W3CDTF">2025-04-30T18:55:14Z</dcterms:modified>
</cp:coreProperties>
</file>