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handoutMasterIdLst>
    <p:handoutMasterId r:id="rId35"/>
  </p:handoutMasterIdLst>
  <p:sldIdLst>
    <p:sldId id="281" r:id="rId5"/>
    <p:sldId id="293" r:id="rId6"/>
    <p:sldId id="314" r:id="rId7"/>
    <p:sldId id="294" r:id="rId8"/>
    <p:sldId id="280" r:id="rId9"/>
    <p:sldId id="278" r:id="rId10"/>
    <p:sldId id="295" r:id="rId11"/>
    <p:sldId id="261" r:id="rId12"/>
    <p:sldId id="296" r:id="rId13"/>
    <p:sldId id="273" r:id="rId14"/>
    <p:sldId id="279" r:id="rId15"/>
    <p:sldId id="297" r:id="rId16"/>
    <p:sldId id="298" r:id="rId17"/>
    <p:sldId id="313" r:id="rId18"/>
    <p:sldId id="299" r:id="rId19"/>
    <p:sldId id="315" r:id="rId20"/>
    <p:sldId id="265" r:id="rId21"/>
    <p:sldId id="300" r:id="rId22"/>
    <p:sldId id="301" r:id="rId23"/>
    <p:sldId id="302" r:id="rId24"/>
    <p:sldId id="310" r:id="rId25"/>
    <p:sldId id="303" r:id="rId26"/>
    <p:sldId id="305" r:id="rId27"/>
    <p:sldId id="307" r:id="rId28"/>
    <p:sldId id="308" r:id="rId29"/>
    <p:sldId id="309" r:id="rId30"/>
    <p:sldId id="312" r:id="rId31"/>
    <p:sldId id="311" r:id="rId32"/>
    <p:sldId id="28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05" autoAdjust="0"/>
    <p:restoredTop sz="95014" autoAdjust="0"/>
  </p:normalViewPr>
  <p:slideViewPr>
    <p:cSldViewPr snapToGrid="0">
      <p:cViewPr>
        <p:scale>
          <a:sx n="122" d="100"/>
          <a:sy n="122" d="100"/>
        </p:scale>
        <p:origin x="1000" y="120"/>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C4CD45-113C-4370-8F58-72243A0CABD9}" type="doc">
      <dgm:prSet loTypeId="urn:microsoft.com/office/officeart/2018/5/layout/IconCircleLabelList" loCatId="icon" qsTypeId="urn:microsoft.com/office/officeart/2005/8/quickstyle/simple1" qsCatId="simple" csTypeId="urn:microsoft.com/office/officeart/2005/8/colors/accent3_2" csCatId="accent3" phldr="1"/>
      <dgm:spPr/>
      <dgm:t>
        <a:bodyPr/>
        <a:lstStyle/>
        <a:p>
          <a:endParaRPr lang="en-US"/>
        </a:p>
      </dgm:t>
    </dgm:pt>
    <dgm:pt modelId="{D2A01074-1779-48AD-9F60-262098674D65}">
      <dgm:prSet custT="1"/>
      <dgm:spPr/>
      <dgm:t>
        <a:bodyPr/>
        <a:lstStyle/>
        <a:p>
          <a:pPr>
            <a:defRPr cap="all"/>
          </a:pPr>
          <a:r>
            <a:rPr lang="en-US" sz="1500" dirty="0"/>
            <a:t>Predict whether a business license issued by DCWP is likely to lapse (1) or renew (0) using available license-level attributes.</a:t>
          </a:r>
        </a:p>
      </dgm:t>
    </dgm:pt>
    <dgm:pt modelId="{164FE135-EC69-42D1-B4A4-4A6003E531FE}" type="parTrans" cxnId="{3CD7A298-3D99-4DE7-9173-5DF11C6142CA}">
      <dgm:prSet/>
      <dgm:spPr/>
      <dgm:t>
        <a:bodyPr/>
        <a:lstStyle/>
        <a:p>
          <a:endParaRPr lang="en-US"/>
        </a:p>
      </dgm:t>
    </dgm:pt>
    <dgm:pt modelId="{E238BB8D-4B45-4F25-B62E-D1D71C969B74}" type="sibTrans" cxnId="{3CD7A298-3D99-4DE7-9173-5DF11C6142CA}">
      <dgm:prSet/>
      <dgm:spPr/>
      <dgm:t>
        <a:bodyPr/>
        <a:lstStyle/>
        <a:p>
          <a:endParaRPr lang="en-US"/>
        </a:p>
      </dgm:t>
    </dgm:pt>
    <dgm:pt modelId="{133F0BD4-E2B2-4EE2-952D-3E3CF61BD56D}">
      <dgm:prSet/>
      <dgm:spPr/>
      <dgm:t>
        <a:bodyPr/>
        <a:lstStyle/>
        <a:p>
          <a:pPr>
            <a:defRPr cap="all"/>
          </a:pPr>
          <a:r>
            <a:rPr lang="en-US" dirty="0"/>
            <a:t>The goal is to identify renewal behavior patterns to support DCWP in prioritizing renewal reminders and compliance outreach.</a:t>
          </a:r>
        </a:p>
      </dgm:t>
    </dgm:pt>
    <dgm:pt modelId="{D7B3A72B-7BA4-4597-82A1-2B4933CA5BB5}" type="parTrans" cxnId="{58DEAD64-1A4E-4735-86CD-94838B11CF3F}">
      <dgm:prSet/>
      <dgm:spPr/>
      <dgm:t>
        <a:bodyPr/>
        <a:lstStyle/>
        <a:p>
          <a:endParaRPr lang="en-US"/>
        </a:p>
      </dgm:t>
    </dgm:pt>
    <dgm:pt modelId="{77F5000C-5CE5-42AB-B26F-9CA0E46768FF}" type="sibTrans" cxnId="{58DEAD64-1A4E-4735-86CD-94838B11CF3F}">
      <dgm:prSet/>
      <dgm:spPr/>
      <dgm:t>
        <a:bodyPr/>
        <a:lstStyle/>
        <a:p>
          <a:endParaRPr lang="en-US"/>
        </a:p>
      </dgm:t>
    </dgm:pt>
    <dgm:pt modelId="{73DA70B1-A61D-4613-89A6-1A539C09B921}" type="pres">
      <dgm:prSet presAssocID="{F9C4CD45-113C-4370-8F58-72243A0CABD9}" presName="root" presStyleCnt="0">
        <dgm:presLayoutVars>
          <dgm:dir/>
          <dgm:resizeHandles val="exact"/>
        </dgm:presLayoutVars>
      </dgm:prSet>
      <dgm:spPr/>
    </dgm:pt>
    <dgm:pt modelId="{74E37A31-5DDE-4133-83EF-FA7416539663}" type="pres">
      <dgm:prSet presAssocID="{D2A01074-1779-48AD-9F60-262098674D65}" presName="compNode" presStyleCnt="0"/>
      <dgm:spPr/>
    </dgm:pt>
    <dgm:pt modelId="{24D3BE5B-25B7-45C8-8B41-8B0D3165B928}" type="pres">
      <dgm:prSet presAssocID="{D2A01074-1779-48AD-9F60-262098674D65}" presName="iconBgRect" presStyleLbl="bgShp" presStyleIdx="0" presStyleCnt="2"/>
      <dgm:spPr/>
    </dgm:pt>
    <dgm:pt modelId="{876EDEE4-FB03-40D0-B2B9-63D6DC2B0B48}" type="pres">
      <dgm:prSet presAssocID="{D2A01074-1779-48AD-9F60-262098674D6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rtial Sun"/>
        </a:ext>
      </dgm:extLst>
    </dgm:pt>
    <dgm:pt modelId="{9DC74384-9C1E-457C-B0D0-C9560667EF32}" type="pres">
      <dgm:prSet presAssocID="{D2A01074-1779-48AD-9F60-262098674D65}" presName="spaceRect" presStyleCnt="0"/>
      <dgm:spPr/>
    </dgm:pt>
    <dgm:pt modelId="{DAA8F27C-3520-463E-8DA6-77D04F67D8BC}" type="pres">
      <dgm:prSet presAssocID="{D2A01074-1779-48AD-9F60-262098674D65}" presName="textRect" presStyleLbl="revTx" presStyleIdx="0" presStyleCnt="2">
        <dgm:presLayoutVars>
          <dgm:chMax val="1"/>
          <dgm:chPref val="1"/>
        </dgm:presLayoutVars>
      </dgm:prSet>
      <dgm:spPr/>
    </dgm:pt>
    <dgm:pt modelId="{ACD1A401-80C5-4372-B773-1E788291D7A1}" type="pres">
      <dgm:prSet presAssocID="{E238BB8D-4B45-4F25-B62E-D1D71C969B74}" presName="sibTrans" presStyleCnt="0"/>
      <dgm:spPr/>
    </dgm:pt>
    <dgm:pt modelId="{B6DC1F0D-08E6-4114-AC4F-B8E13AC96FDF}" type="pres">
      <dgm:prSet presAssocID="{133F0BD4-E2B2-4EE2-952D-3E3CF61BD56D}" presName="compNode" presStyleCnt="0"/>
      <dgm:spPr/>
    </dgm:pt>
    <dgm:pt modelId="{37AB70D8-6FBD-4CC0-ADE0-A3D14910D295}" type="pres">
      <dgm:prSet presAssocID="{133F0BD4-E2B2-4EE2-952D-3E3CF61BD56D}" presName="iconBgRect" presStyleLbl="bgShp" presStyleIdx="1" presStyleCnt="2"/>
      <dgm:spPr/>
    </dgm:pt>
    <dgm:pt modelId="{5A6AC26A-59E6-4974-AF4C-84730D77E5D4}" type="pres">
      <dgm:prSet presAssocID="{133F0BD4-E2B2-4EE2-952D-3E3CF61BD56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0AC4AC05-6BA2-413D-B3F1-465B0AABA693}" type="pres">
      <dgm:prSet presAssocID="{133F0BD4-E2B2-4EE2-952D-3E3CF61BD56D}" presName="spaceRect" presStyleCnt="0"/>
      <dgm:spPr/>
    </dgm:pt>
    <dgm:pt modelId="{85C4DDFE-16F9-48DB-A38E-63DCF20ED3CA}" type="pres">
      <dgm:prSet presAssocID="{133F0BD4-E2B2-4EE2-952D-3E3CF61BD56D}" presName="textRect" presStyleLbl="revTx" presStyleIdx="1" presStyleCnt="2">
        <dgm:presLayoutVars>
          <dgm:chMax val="1"/>
          <dgm:chPref val="1"/>
        </dgm:presLayoutVars>
      </dgm:prSet>
      <dgm:spPr/>
    </dgm:pt>
  </dgm:ptLst>
  <dgm:cxnLst>
    <dgm:cxn modelId="{6489640B-0F43-4356-89E2-B7E39930C814}" type="presOf" srcId="{133F0BD4-E2B2-4EE2-952D-3E3CF61BD56D}" destId="{85C4DDFE-16F9-48DB-A38E-63DCF20ED3CA}" srcOrd="0" destOrd="0" presId="urn:microsoft.com/office/officeart/2018/5/layout/IconCircleLabelList"/>
    <dgm:cxn modelId="{58DEAD64-1A4E-4735-86CD-94838B11CF3F}" srcId="{F9C4CD45-113C-4370-8F58-72243A0CABD9}" destId="{133F0BD4-E2B2-4EE2-952D-3E3CF61BD56D}" srcOrd="1" destOrd="0" parTransId="{D7B3A72B-7BA4-4597-82A1-2B4933CA5BB5}" sibTransId="{77F5000C-5CE5-42AB-B26F-9CA0E46768FF}"/>
    <dgm:cxn modelId="{4F233076-FB16-4377-BBDB-5DE1B87F5E48}" type="presOf" srcId="{D2A01074-1779-48AD-9F60-262098674D65}" destId="{DAA8F27C-3520-463E-8DA6-77D04F67D8BC}" srcOrd="0" destOrd="0" presId="urn:microsoft.com/office/officeart/2018/5/layout/IconCircleLabelList"/>
    <dgm:cxn modelId="{3CD7A298-3D99-4DE7-9173-5DF11C6142CA}" srcId="{F9C4CD45-113C-4370-8F58-72243A0CABD9}" destId="{D2A01074-1779-48AD-9F60-262098674D65}" srcOrd="0" destOrd="0" parTransId="{164FE135-EC69-42D1-B4A4-4A6003E531FE}" sibTransId="{E238BB8D-4B45-4F25-B62E-D1D71C969B74}"/>
    <dgm:cxn modelId="{7F6681E6-821A-4FFA-8B7D-47A8F20BFD73}" type="presOf" srcId="{F9C4CD45-113C-4370-8F58-72243A0CABD9}" destId="{73DA70B1-A61D-4613-89A6-1A539C09B921}" srcOrd="0" destOrd="0" presId="urn:microsoft.com/office/officeart/2018/5/layout/IconCircleLabelList"/>
    <dgm:cxn modelId="{FF67D8E9-D7A2-430D-BA29-C6032A16D313}" type="presParOf" srcId="{73DA70B1-A61D-4613-89A6-1A539C09B921}" destId="{74E37A31-5DDE-4133-83EF-FA7416539663}" srcOrd="0" destOrd="0" presId="urn:microsoft.com/office/officeart/2018/5/layout/IconCircleLabelList"/>
    <dgm:cxn modelId="{A976EC41-B639-4AB8-9799-ACF04BD29BE0}" type="presParOf" srcId="{74E37A31-5DDE-4133-83EF-FA7416539663}" destId="{24D3BE5B-25B7-45C8-8B41-8B0D3165B928}" srcOrd="0" destOrd="0" presId="urn:microsoft.com/office/officeart/2018/5/layout/IconCircleLabelList"/>
    <dgm:cxn modelId="{5DD65AE3-68B4-4182-9AFF-698C9F67271E}" type="presParOf" srcId="{74E37A31-5DDE-4133-83EF-FA7416539663}" destId="{876EDEE4-FB03-40D0-B2B9-63D6DC2B0B48}" srcOrd="1" destOrd="0" presId="urn:microsoft.com/office/officeart/2018/5/layout/IconCircleLabelList"/>
    <dgm:cxn modelId="{74623E2B-44D1-4556-A48E-86C2255E9E78}" type="presParOf" srcId="{74E37A31-5DDE-4133-83EF-FA7416539663}" destId="{9DC74384-9C1E-457C-B0D0-C9560667EF32}" srcOrd="2" destOrd="0" presId="urn:microsoft.com/office/officeart/2018/5/layout/IconCircleLabelList"/>
    <dgm:cxn modelId="{BB0B349E-E1E0-490C-BC06-F75A39DE3DA8}" type="presParOf" srcId="{74E37A31-5DDE-4133-83EF-FA7416539663}" destId="{DAA8F27C-3520-463E-8DA6-77D04F67D8BC}" srcOrd="3" destOrd="0" presId="urn:microsoft.com/office/officeart/2018/5/layout/IconCircleLabelList"/>
    <dgm:cxn modelId="{B496973A-456E-4FB0-9463-D83E7A34EDAF}" type="presParOf" srcId="{73DA70B1-A61D-4613-89A6-1A539C09B921}" destId="{ACD1A401-80C5-4372-B773-1E788291D7A1}" srcOrd="1" destOrd="0" presId="urn:microsoft.com/office/officeart/2018/5/layout/IconCircleLabelList"/>
    <dgm:cxn modelId="{117CFB43-2FF3-4238-9B7E-F6DD65A05A3A}" type="presParOf" srcId="{73DA70B1-A61D-4613-89A6-1A539C09B921}" destId="{B6DC1F0D-08E6-4114-AC4F-B8E13AC96FDF}" srcOrd="2" destOrd="0" presId="urn:microsoft.com/office/officeart/2018/5/layout/IconCircleLabelList"/>
    <dgm:cxn modelId="{1E1684A8-2880-4660-91C5-B0F04FB92FB4}" type="presParOf" srcId="{B6DC1F0D-08E6-4114-AC4F-B8E13AC96FDF}" destId="{37AB70D8-6FBD-4CC0-ADE0-A3D14910D295}" srcOrd="0" destOrd="0" presId="urn:microsoft.com/office/officeart/2018/5/layout/IconCircleLabelList"/>
    <dgm:cxn modelId="{D1FA066A-3FBA-4E4A-9E23-B21ACAA84826}" type="presParOf" srcId="{B6DC1F0D-08E6-4114-AC4F-B8E13AC96FDF}" destId="{5A6AC26A-59E6-4974-AF4C-84730D77E5D4}" srcOrd="1" destOrd="0" presId="urn:microsoft.com/office/officeart/2018/5/layout/IconCircleLabelList"/>
    <dgm:cxn modelId="{A552D0E1-2A1A-4082-B79F-AD6BA3926AE2}" type="presParOf" srcId="{B6DC1F0D-08E6-4114-AC4F-B8E13AC96FDF}" destId="{0AC4AC05-6BA2-413D-B3F1-465B0AABA693}" srcOrd="2" destOrd="0" presId="urn:microsoft.com/office/officeart/2018/5/layout/IconCircleLabelList"/>
    <dgm:cxn modelId="{C1A9D22C-C0C1-4389-9F78-2A4AAC035DD9}" type="presParOf" srcId="{B6DC1F0D-08E6-4114-AC4F-B8E13AC96FDF}" destId="{85C4DDFE-16F9-48DB-A38E-63DCF20ED3CA}"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0F15FB-0B42-4179-BB73-294FB69EF2DE}" type="doc">
      <dgm:prSet loTypeId="urn:microsoft.com/office/officeart/2005/8/layout/hierarchy1" loCatId="hierarchy" qsTypeId="urn:microsoft.com/office/officeart/2005/8/quickstyle/simple2" qsCatId="simple" csTypeId="urn:microsoft.com/office/officeart/2005/8/colors/accent2_2" csCatId="accent2" phldr="1"/>
      <dgm:spPr/>
      <dgm:t>
        <a:bodyPr/>
        <a:lstStyle/>
        <a:p>
          <a:endParaRPr lang="en-US"/>
        </a:p>
      </dgm:t>
    </dgm:pt>
    <dgm:pt modelId="{ECD7B0A1-A4A2-4F86-9877-68CE45C229BE}">
      <dgm:prSet/>
      <dgm:spPr/>
      <dgm:t>
        <a:bodyPr/>
        <a:lstStyle/>
        <a:p>
          <a:r>
            <a:rPr lang="en-US" dirty="0"/>
            <a:t>Many license records in the DCWP dataset lack valid Latitude / Longitude values.</a:t>
          </a:r>
        </a:p>
      </dgm:t>
    </dgm:pt>
    <dgm:pt modelId="{6C9B307C-ACC5-46ED-AC5E-DD7D19485481}" type="parTrans" cxnId="{F3811190-3C09-4A59-873F-916F19115027}">
      <dgm:prSet/>
      <dgm:spPr/>
      <dgm:t>
        <a:bodyPr/>
        <a:lstStyle/>
        <a:p>
          <a:endParaRPr lang="en-US"/>
        </a:p>
      </dgm:t>
    </dgm:pt>
    <dgm:pt modelId="{6A6A84ED-D717-4E4B-B855-63B3F76FF603}" type="sibTrans" cxnId="{F3811190-3C09-4A59-873F-916F19115027}">
      <dgm:prSet/>
      <dgm:spPr/>
      <dgm:t>
        <a:bodyPr/>
        <a:lstStyle/>
        <a:p>
          <a:endParaRPr lang="en-US"/>
        </a:p>
      </dgm:t>
    </dgm:pt>
    <dgm:pt modelId="{FD9A7866-8627-4B63-A48F-FC04751DA072}">
      <dgm:prSet/>
      <dgm:spPr/>
      <dgm:t>
        <a:bodyPr/>
        <a:lstStyle/>
        <a:p>
          <a:r>
            <a:rPr lang="en-US" dirty="0"/>
            <a:t>The goal of this model is to predict both coordinates simultaneously using spatially related categorical features:</a:t>
          </a:r>
        </a:p>
        <a:p>
          <a:r>
            <a:rPr lang="en-US" dirty="0"/>
            <a:t>1. ZIP Code</a:t>
          </a:r>
        </a:p>
        <a:p>
          <a:r>
            <a:rPr lang="en-US" dirty="0"/>
            <a:t>2. Borough</a:t>
          </a:r>
        </a:p>
        <a:p>
          <a:r>
            <a:rPr lang="en-US" dirty="0"/>
            <a:t>3. Business Category</a:t>
          </a:r>
        </a:p>
      </dgm:t>
    </dgm:pt>
    <dgm:pt modelId="{09A668BA-72F2-4F27-BD68-57DC0EEA6278}" type="parTrans" cxnId="{0E0DA81A-3613-4256-96A3-D431770811C0}">
      <dgm:prSet/>
      <dgm:spPr/>
      <dgm:t>
        <a:bodyPr/>
        <a:lstStyle/>
        <a:p>
          <a:endParaRPr lang="en-US"/>
        </a:p>
      </dgm:t>
    </dgm:pt>
    <dgm:pt modelId="{7652EEC9-ABD2-42A1-90F6-D084491D276A}" type="sibTrans" cxnId="{0E0DA81A-3613-4256-96A3-D431770811C0}">
      <dgm:prSet/>
      <dgm:spPr/>
      <dgm:t>
        <a:bodyPr/>
        <a:lstStyle/>
        <a:p>
          <a:endParaRPr lang="en-US"/>
        </a:p>
      </dgm:t>
    </dgm:pt>
    <dgm:pt modelId="{4D345837-34AC-0542-8B6E-7572A8094D46}" type="pres">
      <dgm:prSet presAssocID="{D10F15FB-0B42-4179-BB73-294FB69EF2DE}" presName="hierChild1" presStyleCnt="0">
        <dgm:presLayoutVars>
          <dgm:chPref val="1"/>
          <dgm:dir/>
          <dgm:animOne val="branch"/>
          <dgm:animLvl val="lvl"/>
          <dgm:resizeHandles/>
        </dgm:presLayoutVars>
      </dgm:prSet>
      <dgm:spPr/>
    </dgm:pt>
    <dgm:pt modelId="{C31BD73D-C0D4-104B-8618-40C47B8B9DF1}" type="pres">
      <dgm:prSet presAssocID="{ECD7B0A1-A4A2-4F86-9877-68CE45C229BE}" presName="hierRoot1" presStyleCnt="0"/>
      <dgm:spPr/>
    </dgm:pt>
    <dgm:pt modelId="{A2818C64-DD75-3548-8207-CC7421382CB8}" type="pres">
      <dgm:prSet presAssocID="{ECD7B0A1-A4A2-4F86-9877-68CE45C229BE}" presName="composite" presStyleCnt="0"/>
      <dgm:spPr/>
    </dgm:pt>
    <dgm:pt modelId="{D50F3F01-A979-DF46-AD2F-FA2BC26EB773}" type="pres">
      <dgm:prSet presAssocID="{ECD7B0A1-A4A2-4F86-9877-68CE45C229BE}" presName="background" presStyleLbl="node0" presStyleIdx="0" presStyleCnt="2"/>
      <dgm:spPr/>
    </dgm:pt>
    <dgm:pt modelId="{0DBDB69F-32CF-C84D-B4B8-92FCED08970A}" type="pres">
      <dgm:prSet presAssocID="{ECD7B0A1-A4A2-4F86-9877-68CE45C229BE}" presName="text" presStyleLbl="fgAcc0" presStyleIdx="0" presStyleCnt="2">
        <dgm:presLayoutVars>
          <dgm:chPref val="3"/>
        </dgm:presLayoutVars>
      </dgm:prSet>
      <dgm:spPr/>
    </dgm:pt>
    <dgm:pt modelId="{831A9EC1-90EF-AA4E-95F0-F07F719C51C6}" type="pres">
      <dgm:prSet presAssocID="{ECD7B0A1-A4A2-4F86-9877-68CE45C229BE}" presName="hierChild2" presStyleCnt="0"/>
      <dgm:spPr/>
    </dgm:pt>
    <dgm:pt modelId="{CEDE5DB6-A05A-694C-9F94-A8B2846D9C0E}" type="pres">
      <dgm:prSet presAssocID="{FD9A7866-8627-4B63-A48F-FC04751DA072}" presName="hierRoot1" presStyleCnt="0"/>
      <dgm:spPr/>
    </dgm:pt>
    <dgm:pt modelId="{4B2A7016-6989-EC45-8FF8-AAB961E0D0F5}" type="pres">
      <dgm:prSet presAssocID="{FD9A7866-8627-4B63-A48F-FC04751DA072}" presName="composite" presStyleCnt="0"/>
      <dgm:spPr/>
    </dgm:pt>
    <dgm:pt modelId="{8A86EFBB-90F5-AB40-B9B3-F17D36273B2C}" type="pres">
      <dgm:prSet presAssocID="{FD9A7866-8627-4B63-A48F-FC04751DA072}" presName="background" presStyleLbl="node0" presStyleIdx="1" presStyleCnt="2"/>
      <dgm:spPr/>
    </dgm:pt>
    <dgm:pt modelId="{C2A26E24-FCE0-BE47-9375-4E270F65BAA0}" type="pres">
      <dgm:prSet presAssocID="{FD9A7866-8627-4B63-A48F-FC04751DA072}" presName="text" presStyleLbl="fgAcc0" presStyleIdx="1" presStyleCnt="2">
        <dgm:presLayoutVars>
          <dgm:chPref val="3"/>
        </dgm:presLayoutVars>
      </dgm:prSet>
      <dgm:spPr/>
    </dgm:pt>
    <dgm:pt modelId="{3ABF9921-420B-344E-A357-E8CD8A6FA655}" type="pres">
      <dgm:prSet presAssocID="{FD9A7866-8627-4B63-A48F-FC04751DA072}" presName="hierChild2" presStyleCnt="0"/>
      <dgm:spPr/>
    </dgm:pt>
  </dgm:ptLst>
  <dgm:cxnLst>
    <dgm:cxn modelId="{0E0DA81A-3613-4256-96A3-D431770811C0}" srcId="{D10F15FB-0B42-4179-BB73-294FB69EF2DE}" destId="{FD9A7866-8627-4B63-A48F-FC04751DA072}" srcOrd="1" destOrd="0" parTransId="{09A668BA-72F2-4F27-BD68-57DC0EEA6278}" sibTransId="{7652EEC9-ABD2-42A1-90F6-D084491D276A}"/>
    <dgm:cxn modelId="{823A235F-7DDA-0342-8A7F-34387ED449B4}" type="presOf" srcId="{D10F15FB-0B42-4179-BB73-294FB69EF2DE}" destId="{4D345837-34AC-0542-8B6E-7572A8094D46}" srcOrd="0" destOrd="0" presId="urn:microsoft.com/office/officeart/2005/8/layout/hierarchy1"/>
    <dgm:cxn modelId="{F3811190-3C09-4A59-873F-916F19115027}" srcId="{D10F15FB-0B42-4179-BB73-294FB69EF2DE}" destId="{ECD7B0A1-A4A2-4F86-9877-68CE45C229BE}" srcOrd="0" destOrd="0" parTransId="{6C9B307C-ACC5-46ED-AC5E-DD7D19485481}" sibTransId="{6A6A84ED-D717-4E4B-B855-63B3F76FF603}"/>
    <dgm:cxn modelId="{9A31D3AB-F116-934F-9349-9563F3B70375}" type="presOf" srcId="{FD9A7866-8627-4B63-A48F-FC04751DA072}" destId="{C2A26E24-FCE0-BE47-9375-4E270F65BAA0}" srcOrd="0" destOrd="0" presId="urn:microsoft.com/office/officeart/2005/8/layout/hierarchy1"/>
    <dgm:cxn modelId="{002F7EEC-3932-AB48-94F3-33CA9D8239DE}" type="presOf" srcId="{ECD7B0A1-A4A2-4F86-9877-68CE45C229BE}" destId="{0DBDB69F-32CF-C84D-B4B8-92FCED08970A}" srcOrd="0" destOrd="0" presId="urn:microsoft.com/office/officeart/2005/8/layout/hierarchy1"/>
    <dgm:cxn modelId="{5F09574C-0017-0541-963B-54FA8356B4C6}" type="presParOf" srcId="{4D345837-34AC-0542-8B6E-7572A8094D46}" destId="{C31BD73D-C0D4-104B-8618-40C47B8B9DF1}" srcOrd="0" destOrd="0" presId="urn:microsoft.com/office/officeart/2005/8/layout/hierarchy1"/>
    <dgm:cxn modelId="{2657CD5D-E0E8-C44D-A6E0-ADFF7C13EEE3}" type="presParOf" srcId="{C31BD73D-C0D4-104B-8618-40C47B8B9DF1}" destId="{A2818C64-DD75-3548-8207-CC7421382CB8}" srcOrd="0" destOrd="0" presId="urn:microsoft.com/office/officeart/2005/8/layout/hierarchy1"/>
    <dgm:cxn modelId="{581F9649-5431-2248-9869-CBB70C13B4A8}" type="presParOf" srcId="{A2818C64-DD75-3548-8207-CC7421382CB8}" destId="{D50F3F01-A979-DF46-AD2F-FA2BC26EB773}" srcOrd="0" destOrd="0" presId="urn:microsoft.com/office/officeart/2005/8/layout/hierarchy1"/>
    <dgm:cxn modelId="{AE2C23BA-7973-A644-A22B-C7A4ED70298C}" type="presParOf" srcId="{A2818C64-DD75-3548-8207-CC7421382CB8}" destId="{0DBDB69F-32CF-C84D-B4B8-92FCED08970A}" srcOrd="1" destOrd="0" presId="urn:microsoft.com/office/officeart/2005/8/layout/hierarchy1"/>
    <dgm:cxn modelId="{271868D0-DC54-B142-93B0-709EA504113A}" type="presParOf" srcId="{C31BD73D-C0D4-104B-8618-40C47B8B9DF1}" destId="{831A9EC1-90EF-AA4E-95F0-F07F719C51C6}" srcOrd="1" destOrd="0" presId="urn:microsoft.com/office/officeart/2005/8/layout/hierarchy1"/>
    <dgm:cxn modelId="{AE8F49A2-CA74-7B40-9EF7-27A6AFE65BD9}" type="presParOf" srcId="{4D345837-34AC-0542-8B6E-7572A8094D46}" destId="{CEDE5DB6-A05A-694C-9F94-A8B2846D9C0E}" srcOrd="1" destOrd="0" presId="urn:microsoft.com/office/officeart/2005/8/layout/hierarchy1"/>
    <dgm:cxn modelId="{0BF4736A-622B-2140-B228-D4A0215721D2}" type="presParOf" srcId="{CEDE5DB6-A05A-694C-9F94-A8B2846D9C0E}" destId="{4B2A7016-6989-EC45-8FF8-AAB961E0D0F5}" srcOrd="0" destOrd="0" presId="urn:microsoft.com/office/officeart/2005/8/layout/hierarchy1"/>
    <dgm:cxn modelId="{49DFDB9C-2A94-CE43-B3DE-093A64FA4184}" type="presParOf" srcId="{4B2A7016-6989-EC45-8FF8-AAB961E0D0F5}" destId="{8A86EFBB-90F5-AB40-B9B3-F17D36273B2C}" srcOrd="0" destOrd="0" presId="urn:microsoft.com/office/officeart/2005/8/layout/hierarchy1"/>
    <dgm:cxn modelId="{73A01177-4F6C-8442-98A9-D378C9116921}" type="presParOf" srcId="{4B2A7016-6989-EC45-8FF8-AAB961E0D0F5}" destId="{C2A26E24-FCE0-BE47-9375-4E270F65BAA0}" srcOrd="1" destOrd="0" presId="urn:microsoft.com/office/officeart/2005/8/layout/hierarchy1"/>
    <dgm:cxn modelId="{94412C29-7115-8245-ACA0-946C7EB844D8}" type="presParOf" srcId="{CEDE5DB6-A05A-694C-9F94-A8B2846D9C0E}" destId="{3ABF9921-420B-344E-A357-E8CD8A6FA65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D3BE5B-25B7-45C8-8B41-8B0D3165B928}">
      <dsp:nvSpPr>
        <dsp:cNvPr id="0" name=""/>
        <dsp:cNvSpPr/>
      </dsp:nvSpPr>
      <dsp:spPr>
        <a:xfrm>
          <a:off x="497508" y="495703"/>
          <a:ext cx="1441125" cy="144112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6EDEE4-FB03-40D0-B2B9-63D6DC2B0B48}">
      <dsp:nvSpPr>
        <dsp:cNvPr id="0" name=""/>
        <dsp:cNvSpPr/>
      </dsp:nvSpPr>
      <dsp:spPr>
        <a:xfrm>
          <a:off x="804633" y="802828"/>
          <a:ext cx="826875" cy="8268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A8F27C-3520-463E-8DA6-77D04F67D8BC}">
      <dsp:nvSpPr>
        <dsp:cNvPr id="0" name=""/>
        <dsp:cNvSpPr/>
      </dsp:nvSpPr>
      <dsp:spPr>
        <a:xfrm>
          <a:off x="36820" y="2385703"/>
          <a:ext cx="2362500" cy="125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dirty="0"/>
            <a:t>Predict whether a business license issued by DCWP is likely to lapse (1) or renew (0) using available license-level attributes.</a:t>
          </a:r>
        </a:p>
      </dsp:txBody>
      <dsp:txXfrm>
        <a:off x="36820" y="2385703"/>
        <a:ext cx="2362500" cy="1255781"/>
      </dsp:txXfrm>
    </dsp:sp>
    <dsp:sp modelId="{37AB70D8-6FBD-4CC0-ADE0-A3D14910D295}">
      <dsp:nvSpPr>
        <dsp:cNvPr id="0" name=""/>
        <dsp:cNvSpPr/>
      </dsp:nvSpPr>
      <dsp:spPr>
        <a:xfrm>
          <a:off x="3273445" y="495703"/>
          <a:ext cx="1441125" cy="1441125"/>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6AC26A-59E6-4974-AF4C-84730D77E5D4}">
      <dsp:nvSpPr>
        <dsp:cNvPr id="0" name=""/>
        <dsp:cNvSpPr/>
      </dsp:nvSpPr>
      <dsp:spPr>
        <a:xfrm>
          <a:off x="3580570" y="802828"/>
          <a:ext cx="826875" cy="8268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C4DDFE-16F9-48DB-A38E-63DCF20ED3CA}">
      <dsp:nvSpPr>
        <dsp:cNvPr id="0" name=""/>
        <dsp:cNvSpPr/>
      </dsp:nvSpPr>
      <dsp:spPr>
        <a:xfrm>
          <a:off x="2812758" y="2385703"/>
          <a:ext cx="2362500" cy="1255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cap="all"/>
          </a:pPr>
          <a:r>
            <a:rPr lang="en-US" sz="1500" kern="1200" dirty="0"/>
            <a:t>The goal is to identify renewal behavior patterns to support DCWP in prioritizing renewal reminders and compliance outreach.</a:t>
          </a:r>
        </a:p>
      </dsp:txBody>
      <dsp:txXfrm>
        <a:off x="2812758" y="2385703"/>
        <a:ext cx="2362500" cy="12557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F3F01-A979-DF46-AD2F-FA2BC26EB773}">
      <dsp:nvSpPr>
        <dsp:cNvPr id="0" name=""/>
        <dsp:cNvSpPr/>
      </dsp:nvSpPr>
      <dsp:spPr>
        <a:xfrm>
          <a:off x="1338" y="220382"/>
          <a:ext cx="4698407" cy="298348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DBDB69F-32CF-C84D-B4B8-92FCED08970A}">
      <dsp:nvSpPr>
        <dsp:cNvPr id="0" name=""/>
        <dsp:cNvSpPr/>
      </dsp:nvSpPr>
      <dsp:spPr>
        <a:xfrm>
          <a:off x="523383" y="716325"/>
          <a:ext cx="4698407" cy="2983488"/>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Many license records in the DCWP dataset lack valid Latitude / Longitude values.</a:t>
          </a:r>
        </a:p>
      </dsp:txBody>
      <dsp:txXfrm>
        <a:off x="610766" y="803708"/>
        <a:ext cx="4523641" cy="2808722"/>
      </dsp:txXfrm>
    </dsp:sp>
    <dsp:sp modelId="{8A86EFBB-90F5-AB40-B9B3-F17D36273B2C}">
      <dsp:nvSpPr>
        <dsp:cNvPr id="0" name=""/>
        <dsp:cNvSpPr/>
      </dsp:nvSpPr>
      <dsp:spPr>
        <a:xfrm>
          <a:off x="5743836" y="220382"/>
          <a:ext cx="4698407" cy="298348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C2A26E24-FCE0-BE47-9375-4E270F65BAA0}">
      <dsp:nvSpPr>
        <dsp:cNvPr id="0" name=""/>
        <dsp:cNvSpPr/>
      </dsp:nvSpPr>
      <dsp:spPr>
        <a:xfrm>
          <a:off x="6265881" y="716325"/>
          <a:ext cx="4698407" cy="2983488"/>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The goal of this model is to predict both coordinates simultaneously using spatially related categorical features:</a:t>
          </a:r>
        </a:p>
        <a:p>
          <a:pPr marL="0" lvl="0" indent="0" algn="ctr" defTabSz="1022350">
            <a:lnSpc>
              <a:spcPct val="90000"/>
            </a:lnSpc>
            <a:spcBef>
              <a:spcPct val="0"/>
            </a:spcBef>
            <a:spcAft>
              <a:spcPct val="35000"/>
            </a:spcAft>
            <a:buNone/>
          </a:pPr>
          <a:r>
            <a:rPr lang="en-US" sz="2300" kern="1200" dirty="0"/>
            <a:t>1. ZIP Code</a:t>
          </a:r>
        </a:p>
        <a:p>
          <a:pPr marL="0" lvl="0" indent="0" algn="ctr" defTabSz="1022350">
            <a:lnSpc>
              <a:spcPct val="90000"/>
            </a:lnSpc>
            <a:spcBef>
              <a:spcPct val="0"/>
            </a:spcBef>
            <a:spcAft>
              <a:spcPct val="35000"/>
            </a:spcAft>
            <a:buNone/>
          </a:pPr>
          <a:r>
            <a:rPr lang="en-US" sz="2300" kern="1200" dirty="0"/>
            <a:t>2. Borough</a:t>
          </a:r>
        </a:p>
        <a:p>
          <a:pPr marL="0" lvl="0" indent="0" algn="ctr" defTabSz="1022350">
            <a:lnSpc>
              <a:spcPct val="90000"/>
            </a:lnSpc>
            <a:spcBef>
              <a:spcPct val="0"/>
            </a:spcBef>
            <a:spcAft>
              <a:spcPct val="35000"/>
            </a:spcAft>
            <a:buNone/>
          </a:pPr>
          <a:r>
            <a:rPr lang="en-US" sz="2300" kern="1200" dirty="0"/>
            <a:t>3. Business Category</a:t>
          </a:r>
        </a:p>
      </dsp:txBody>
      <dsp:txXfrm>
        <a:off x="6353264" y="803708"/>
        <a:ext cx="4523641" cy="2808722"/>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11/5/25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8</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17</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824F5-7625-3E93-E882-145BA8B99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3F9AE-40A6-E883-4445-DEDD49F0B5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CC7AFA-C018-0396-5E5F-CD4266EA53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F48AB8-25F9-6235-5D7F-38635C142474}"/>
              </a:ext>
            </a:extLst>
          </p:cNvPr>
          <p:cNvSpPr>
            <a:spLocks noGrp="1"/>
          </p:cNvSpPr>
          <p:nvPr>
            <p:ph type="sldNum" sz="quarter" idx="5"/>
          </p:nvPr>
        </p:nvSpPr>
        <p:spPr/>
        <p:txBody>
          <a:bodyPr/>
          <a:lstStyle/>
          <a:p>
            <a:fld id="{55247812-3409-784D-BAE7-ABE53735D59F}" type="slidenum">
              <a:rPr lang="en-US" smtClean="0"/>
              <a:t>22</a:t>
            </a:fld>
            <a:endParaRPr lang="en-US"/>
          </a:p>
        </p:txBody>
      </p:sp>
    </p:spTree>
    <p:extLst>
      <p:ext uri="{BB962C8B-B14F-4D97-AF65-F5344CB8AC3E}">
        <p14:creationId xmlns:p14="http://schemas.microsoft.com/office/powerpoint/2010/main" val="353057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11/5/25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11/5/25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11/5/25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11/5/25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11/5/25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11/5/25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uides.library.vcu.edu/open-licenses/cc" TargetMode="External"/><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1209675"/>
            <a:ext cx="9144000" cy="2286000"/>
          </a:xfrm>
        </p:spPr>
        <p:txBody>
          <a:bodyPr/>
          <a:lstStyle/>
          <a:p>
            <a:r>
              <a:rPr lang="en-US" dirty="0"/>
              <a:t>A Dual Analysis of NYC Business Licenses</a:t>
            </a:r>
          </a:p>
        </p:txBody>
      </p:sp>
      <p:sp>
        <p:nvSpPr>
          <p:cNvPr id="2" name="TextBox 1">
            <a:extLst>
              <a:ext uri="{FF2B5EF4-FFF2-40B4-BE49-F238E27FC236}">
                <a16:creationId xmlns:a16="http://schemas.microsoft.com/office/drawing/2014/main" id="{93ABF243-8999-F420-2D15-36E774D89627}"/>
              </a:ext>
            </a:extLst>
          </p:cNvPr>
          <p:cNvSpPr txBox="1"/>
          <p:nvPr/>
        </p:nvSpPr>
        <p:spPr>
          <a:xfrm>
            <a:off x="196850" y="4775244"/>
            <a:ext cx="6572250" cy="1643527"/>
          </a:xfrm>
          <a:prstGeom prst="rect">
            <a:avLst/>
          </a:prstGeom>
          <a:noFill/>
        </p:spPr>
        <p:txBody>
          <a:bodyPr wrap="square" rtlCol="0">
            <a:spAutoFit/>
          </a:bodyPr>
          <a:lstStyle/>
          <a:p>
            <a:pPr>
              <a:lnSpc>
                <a:spcPct val="90000"/>
              </a:lnSpc>
            </a:pPr>
            <a:r>
              <a:rPr lang="en-US" sz="2800" dirty="0">
                <a:solidFill>
                  <a:schemeClr val="bg1"/>
                </a:solidFill>
              </a:rPr>
              <a:t>Team #8 | CS667 – Practical Data Science</a:t>
            </a:r>
          </a:p>
          <a:p>
            <a:pPr>
              <a:lnSpc>
                <a:spcPct val="90000"/>
              </a:lnSpc>
            </a:pPr>
            <a:r>
              <a:rPr lang="en-US" sz="2800" dirty="0">
                <a:solidFill>
                  <a:schemeClr val="bg1"/>
                </a:solidFill>
              </a:rPr>
              <a:t>Members :- Ronak Pipaliya | Sajan Shergil | </a:t>
            </a:r>
          </a:p>
          <a:p>
            <a:pPr>
              <a:lnSpc>
                <a:spcPct val="90000"/>
              </a:lnSpc>
            </a:pPr>
            <a:r>
              <a:rPr lang="en-US" sz="2800" dirty="0">
                <a:solidFill>
                  <a:schemeClr val="bg1"/>
                </a:solidFill>
              </a:rPr>
              <a:t>Darpan </a:t>
            </a:r>
            <a:r>
              <a:rPr lang="en-US" sz="2800" dirty="0" err="1">
                <a:solidFill>
                  <a:schemeClr val="bg1"/>
                </a:solidFill>
              </a:rPr>
              <a:t>Gorasiya</a:t>
            </a:r>
            <a:endParaRPr lang="en-US" sz="2800" dirty="0">
              <a:solidFill>
                <a:schemeClr val="bg1"/>
              </a:solidFill>
            </a:endParaRPr>
          </a:p>
          <a:p>
            <a:pPr>
              <a:lnSpc>
                <a:spcPct val="90000"/>
              </a:lnSpc>
            </a:pPr>
            <a:r>
              <a:rPr lang="en-US" sz="2800" dirty="0">
                <a:solidFill>
                  <a:schemeClr val="bg1"/>
                </a:solidFill>
              </a:rPr>
              <a:t>Instructor: Dr. Krishna Bathula</a:t>
            </a:r>
            <a:endParaRPr lang="en-US" sz="2200" dirty="0">
              <a:solidFill>
                <a:schemeClr val="bg1"/>
              </a:solidFill>
            </a:endParaRPr>
          </a:p>
        </p:txBody>
      </p:sp>
      <p:sp>
        <p:nvSpPr>
          <p:cNvPr id="3" name="TextBox 2">
            <a:extLst>
              <a:ext uri="{FF2B5EF4-FFF2-40B4-BE49-F238E27FC236}">
                <a16:creationId xmlns:a16="http://schemas.microsoft.com/office/drawing/2014/main" id="{6A58560B-022D-0E82-A366-6BA623A07F6F}"/>
              </a:ext>
            </a:extLst>
          </p:cNvPr>
          <p:cNvSpPr txBox="1"/>
          <p:nvPr/>
        </p:nvSpPr>
        <p:spPr>
          <a:xfrm>
            <a:off x="4038599" y="3311008"/>
            <a:ext cx="4611915" cy="523220"/>
          </a:xfrm>
          <a:prstGeom prst="rect">
            <a:avLst/>
          </a:prstGeom>
          <a:noFill/>
        </p:spPr>
        <p:txBody>
          <a:bodyPr wrap="square" rtlCol="0">
            <a:spAutoFit/>
          </a:bodyPr>
          <a:lstStyle/>
          <a:p>
            <a:pPr algn="ctr"/>
            <a:r>
              <a:rPr lang="en-US" sz="2800" dirty="0">
                <a:solidFill>
                  <a:schemeClr val="bg1"/>
                </a:solidFill>
              </a:rPr>
              <a:t>A Machine-Learning Approach</a:t>
            </a:r>
          </a:p>
        </p:txBody>
      </p:sp>
    </p:spTree>
    <p:extLst>
      <p:ext uri="{BB962C8B-B14F-4D97-AF65-F5344CB8AC3E}">
        <p14:creationId xmlns:p14="http://schemas.microsoft.com/office/powerpoint/2010/main" val="639264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66B14-C30B-DCA5-FE9D-0D1FAD93BDD1}"/>
              </a:ext>
            </a:extLst>
          </p:cNvPr>
          <p:cNvSpPr>
            <a:spLocks noGrp="1"/>
          </p:cNvSpPr>
          <p:nvPr>
            <p:ph type="title"/>
          </p:nvPr>
        </p:nvSpPr>
        <p:spPr>
          <a:xfrm>
            <a:off x="5242425" y="466344"/>
            <a:ext cx="6241651" cy="1710354"/>
          </a:xfrm>
        </p:spPr>
        <p:txBody>
          <a:bodyPr anchor="ctr">
            <a:normAutofit/>
          </a:bodyPr>
          <a:lstStyle/>
          <a:p>
            <a:r>
              <a:rPr lang="en-US" dirty="0"/>
              <a:t>Introduction</a:t>
            </a:r>
          </a:p>
        </p:txBody>
      </p:sp>
      <p:pic>
        <p:nvPicPr>
          <p:cNvPr id="6" name="Picture Placeholder 5" descr="A white circle with a black arrow in it&#10;&#10;AI-generated content may be incorrect.">
            <a:extLst>
              <a:ext uri="{FF2B5EF4-FFF2-40B4-BE49-F238E27FC236}">
                <a16:creationId xmlns:a16="http://schemas.microsoft.com/office/drawing/2014/main" id="{1C6FB309-5346-FA44-EF29-5D8062A1F0AF}"/>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320" r="18157"/>
          <a:stretch>
            <a:fillRect/>
          </a:stretch>
        </p:blipFill>
        <p:spPr>
          <a:xfrm>
            <a:off x="20" y="10"/>
            <a:ext cx="4287818" cy="6857990"/>
          </a:xfrm>
          <a:noFill/>
        </p:spPr>
      </p:pic>
      <p:sp>
        <p:nvSpPr>
          <p:cNvPr id="4" name="Content Placeholder 3">
            <a:extLst>
              <a:ext uri="{FF2B5EF4-FFF2-40B4-BE49-F238E27FC236}">
                <a16:creationId xmlns:a16="http://schemas.microsoft.com/office/drawing/2014/main" id="{43D0941A-B7C7-B814-694D-D48411D0905C}"/>
              </a:ext>
            </a:extLst>
          </p:cNvPr>
          <p:cNvSpPr>
            <a:spLocks noGrp="1"/>
          </p:cNvSpPr>
          <p:nvPr>
            <p:ph idx="1"/>
          </p:nvPr>
        </p:nvSpPr>
        <p:spPr>
          <a:xfrm>
            <a:off x="5242426" y="2286000"/>
            <a:ext cx="6241650" cy="3474720"/>
          </a:xfrm>
        </p:spPr>
        <p:txBody>
          <a:bodyPr>
            <a:normAutofit/>
          </a:bodyPr>
          <a:lstStyle/>
          <a:p>
            <a:pPr>
              <a:buNone/>
            </a:pPr>
            <a:r>
              <a:rPr lang="en-US" b="1" dirty="0">
                <a:effectLst/>
              </a:rPr>
              <a:t>This presentation provides an overview of the analysis conducted on the NYC Business Licenses dataset containing over 66,000 records across the five boroughs. </a:t>
            </a:r>
          </a:p>
          <a:p>
            <a:pPr>
              <a:buNone/>
            </a:pPr>
            <a:r>
              <a:rPr lang="en-US" b="1" dirty="0">
                <a:effectLst/>
              </a:rPr>
              <a:t>It highlights the methodologies used to predict missing business geolocations through regression modeling and forecast license renewal or lapse through classification. </a:t>
            </a:r>
          </a:p>
          <a:p>
            <a:pPr>
              <a:buNone/>
            </a:pPr>
            <a:r>
              <a:rPr lang="en-US" b="1" dirty="0">
                <a:effectLst/>
              </a:rPr>
              <a:t>The presentation outlines key data cleaning steps, machine learning techniques, model evaluations, and the insights derived to support data-driven decision-making for business regulation and urban policy planning.</a:t>
            </a:r>
            <a:endParaRPr lang="en-US" dirty="0">
              <a:effectLst/>
            </a:endParaRPr>
          </a:p>
          <a:p>
            <a:endParaRPr lang="en-US" dirty="0"/>
          </a:p>
        </p:txBody>
      </p:sp>
    </p:spTree>
    <p:extLst>
      <p:ext uri="{BB962C8B-B14F-4D97-AF65-F5344CB8AC3E}">
        <p14:creationId xmlns:p14="http://schemas.microsoft.com/office/powerpoint/2010/main" val="6408370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82BEF1-7549-2BD7-F03C-41D0D01C089B}"/>
              </a:ext>
            </a:extLst>
          </p:cNvPr>
          <p:cNvPicPr>
            <a:picLocks noChangeAspect="1"/>
          </p:cNvPicPr>
          <p:nvPr/>
        </p:nvPicPr>
        <p:blipFill>
          <a:blip r:embed="rId2"/>
          <a:srcRect t="5780"/>
          <a:stretch>
            <a:fillRect/>
          </a:stretch>
        </p:blipFill>
        <p:spPr>
          <a:xfrm>
            <a:off x="738580" y="399393"/>
            <a:ext cx="10370854" cy="5862836"/>
          </a:xfrm>
          <a:prstGeom prst="rect">
            <a:avLst/>
          </a:prstGeom>
        </p:spPr>
      </p:pic>
    </p:spTree>
    <p:extLst>
      <p:ext uri="{BB962C8B-B14F-4D97-AF65-F5344CB8AC3E}">
        <p14:creationId xmlns:p14="http://schemas.microsoft.com/office/powerpoint/2010/main" val="16416237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Video 6" descr="Graphs And Numbers">
            <a:extLst>
              <a:ext uri="{FF2B5EF4-FFF2-40B4-BE49-F238E27FC236}">
                <a16:creationId xmlns:a16="http://schemas.microsoft.com/office/drawing/2014/main" id="{9C99702D-8811-0D0C-25D0-E0BBA430467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34891" r="29839" b="-1"/>
          <a:stretch>
            <a:fillRect/>
          </a:stretch>
        </p:blipFill>
        <p:spPr>
          <a:xfrm>
            <a:off x="20" y="10"/>
            <a:ext cx="4287818" cy="6857990"/>
          </a:xfrm>
          <a:prstGeom prst="rect">
            <a:avLst/>
          </a:prstGeom>
          <a:noFill/>
        </p:spPr>
      </p:pic>
      <p:sp>
        <p:nvSpPr>
          <p:cNvPr id="5" name="Rectangle 1">
            <a:extLst>
              <a:ext uri="{FF2B5EF4-FFF2-40B4-BE49-F238E27FC236}">
                <a16:creationId xmlns:a16="http://schemas.microsoft.com/office/drawing/2014/main" id="{84ACDEBF-1BE8-F550-D26B-3117633E1D25}"/>
              </a:ext>
            </a:extLst>
          </p:cNvPr>
          <p:cNvSpPr>
            <a:spLocks noGrp="1" noChangeArrowheads="1"/>
          </p:cNvSpPr>
          <p:nvPr>
            <p:ph idx="1"/>
          </p:nvPr>
        </p:nvSpPr>
        <p:spPr bwMode="auto">
          <a:xfrm>
            <a:off x="5242426" y="613064"/>
            <a:ext cx="6241650" cy="5147656"/>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1" i="0" u="none" strike="noStrike" cap="none" normalizeH="0" baseline="0" dirty="0">
                <a:ln>
                  <a:noFill/>
                </a:ln>
                <a:effectLst/>
              </a:rPr>
              <a:t>Loaded Dataset</a:t>
            </a:r>
            <a:br>
              <a:rPr kumimoji="0" lang="en-US" altLang="en-US" b="0" i="0" u="none" strike="noStrike" cap="none" normalizeH="0" baseline="0" dirty="0">
                <a:ln>
                  <a:noFill/>
                </a:ln>
                <a:effectLst/>
              </a:rPr>
            </a:br>
            <a:r>
              <a:rPr kumimoji="0" lang="en-US" altLang="en-US" b="0" i="0" u="none" strike="noStrike" cap="none" normalizeH="0" baseline="0" dirty="0">
                <a:ln>
                  <a:noFill/>
                </a:ln>
                <a:effectLst/>
              </a:rPr>
              <a:t>The NYC Business Licenses dataset was loaded into a Pandas </a:t>
            </a:r>
            <a:r>
              <a:rPr kumimoji="0" lang="en-US" altLang="en-US" b="0" i="0" u="none" strike="noStrike" cap="none" normalizeH="0" baseline="0" dirty="0" err="1">
                <a:ln>
                  <a:noFill/>
                </a:ln>
                <a:effectLst/>
              </a:rPr>
              <a:t>Dataframe</a:t>
            </a:r>
            <a:r>
              <a:rPr kumimoji="0" lang="en-US" altLang="en-US" b="0" i="0" u="none" strike="noStrike" cap="none" normalizeH="0" baseline="0" dirty="0">
                <a:ln>
                  <a:noFill/>
                </a:ln>
                <a:effectLst/>
              </a:rPr>
              <a:t> for preprocessing and exploration. The dataset contained approximately 66,000 records and 31 attributes, covering business details, license information, geographic identifiers, and issuance timelines.</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US" altLang="en-US" b="1" i="0" u="none" strike="noStrike" cap="none" normalizeH="0" baseline="0" dirty="0">
                <a:ln>
                  <a:noFill/>
                </a:ln>
                <a:effectLst/>
              </a:rPr>
              <a:t>Initial Data Inspection</a:t>
            </a:r>
            <a:br>
              <a:rPr kumimoji="0" lang="en-US" altLang="en-US" b="0" i="0" u="none" strike="noStrike" cap="none" normalizeH="0" baseline="0" dirty="0">
                <a:ln>
                  <a:noFill/>
                </a:ln>
                <a:effectLst/>
              </a:rPr>
            </a:br>
            <a:r>
              <a:rPr kumimoji="0" lang="en-US" altLang="en-US" b="0" i="0" u="none" strike="noStrike" cap="none" normalizeH="0" baseline="0" dirty="0">
                <a:ln>
                  <a:noFill/>
                </a:ln>
                <a:effectLst/>
              </a:rPr>
              <a:t>Exploratory methods such as head(), info(), and describe() were applied to understand the dataset’s structure, data types, and completeness. This preliminary inspection revealed multiple missing fields, mixed data types, and non-standard ZIP code formats—indicating the need for thorough data cleaning and transformation before analysis.</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effectLst/>
            </a:endParaRPr>
          </a:p>
        </p:txBody>
      </p:sp>
    </p:spTree>
    <p:extLst>
      <p:ext uri="{BB962C8B-B14F-4D97-AF65-F5344CB8AC3E}">
        <p14:creationId xmlns:p14="http://schemas.microsoft.com/office/powerpoint/2010/main" val="36216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F3FA79-DE26-1F2A-0CF7-5671B73C8B6F}"/>
              </a:ext>
            </a:extLst>
          </p:cNvPr>
          <p:cNvSpPr>
            <a:spLocks noGrp="1"/>
          </p:cNvSpPr>
          <p:nvPr>
            <p:ph type="title"/>
          </p:nvPr>
        </p:nvSpPr>
        <p:spPr>
          <a:xfrm>
            <a:off x="671947" y="2096470"/>
            <a:ext cx="6172200" cy="1581912"/>
          </a:xfrm>
        </p:spPr>
        <p:txBody>
          <a:bodyPr anchor="b">
            <a:normAutofit/>
          </a:bodyPr>
          <a:lstStyle/>
          <a:p>
            <a:r>
              <a:rPr lang="en-US" u="sng" dirty="0"/>
              <a:t>Dataset Overview</a:t>
            </a:r>
          </a:p>
        </p:txBody>
      </p:sp>
      <p:pic>
        <p:nvPicPr>
          <p:cNvPr id="10" name="Picture 9" descr="A screenshot of a computer&#10;&#10;AI-generated content may be incorrect.">
            <a:extLst>
              <a:ext uri="{FF2B5EF4-FFF2-40B4-BE49-F238E27FC236}">
                <a16:creationId xmlns:a16="http://schemas.microsoft.com/office/drawing/2014/main" id="{1F710C49-1CFD-6568-485F-3D25A0BB1F01}"/>
              </a:ext>
            </a:extLst>
          </p:cNvPr>
          <p:cNvPicPr>
            <a:picLocks noChangeAspect="1"/>
          </p:cNvPicPr>
          <p:nvPr/>
        </p:nvPicPr>
        <p:blipFill>
          <a:blip r:embed="rId3">
            <a:extLst>
              <a:ext uri="{28A0092B-C50C-407E-A947-70E740481C1C}">
                <a14:useLocalDpi xmlns:a14="http://schemas.microsoft.com/office/drawing/2010/main" val="0"/>
              </a:ext>
            </a:extLst>
          </a:blip>
          <a:srcRect r="13402" b="3"/>
          <a:stretch>
            <a:fillRect/>
          </a:stretch>
        </p:blipFill>
        <p:spPr>
          <a:xfrm>
            <a:off x="7500938" y="-22225"/>
            <a:ext cx="4714875" cy="6880225"/>
          </a:xfrm>
          <a:prstGeom prst="rect">
            <a:avLst/>
          </a:prstGeom>
          <a:noFill/>
        </p:spPr>
      </p:pic>
    </p:spTree>
    <p:extLst>
      <p:ext uri="{BB962C8B-B14F-4D97-AF65-F5344CB8AC3E}">
        <p14:creationId xmlns:p14="http://schemas.microsoft.com/office/powerpoint/2010/main" val="467869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5242425" y="790194"/>
            <a:ext cx="6241651" cy="1710354"/>
          </a:xfrm>
        </p:spPr>
        <p:txBody>
          <a:bodyPr anchor="ctr">
            <a:normAutofit/>
          </a:bodyPr>
          <a:lstStyle/>
          <a:p>
            <a:r>
              <a:rPr lang="en-US" dirty="0"/>
              <a:t>Data preprocessing &amp; cleaning</a:t>
            </a:r>
            <a:br>
              <a:rPr lang="en-US" dirty="0"/>
            </a:br>
            <a:endParaRPr lang="en-US" sz="2000" u="sng" dirty="0"/>
          </a:p>
        </p:txBody>
      </p:sp>
      <p:pic>
        <p:nvPicPr>
          <p:cNvPr id="14" name="Picture 13" descr="A screenshot of a computer&#10;&#10;AI-generated content may be incorrect.">
            <a:extLst>
              <a:ext uri="{FF2B5EF4-FFF2-40B4-BE49-F238E27FC236}">
                <a16:creationId xmlns:a16="http://schemas.microsoft.com/office/drawing/2014/main" id="{2E5F7369-636B-2175-6EFC-D5C37291C8DD}"/>
              </a:ext>
            </a:extLst>
          </p:cNvPr>
          <p:cNvPicPr>
            <a:picLocks noChangeAspect="1"/>
          </p:cNvPicPr>
          <p:nvPr/>
        </p:nvPicPr>
        <p:blipFill>
          <a:blip r:embed="rId3">
            <a:extLst>
              <a:ext uri="{28A0092B-C50C-407E-A947-70E740481C1C}">
                <a14:useLocalDpi xmlns:a14="http://schemas.microsoft.com/office/drawing/2010/main" val="0"/>
              </a:ext>
            </a:extLst>
          </a:blip>
          <a:srcRect r="5925" b="2"/>
          <a:stretch>
            <a:fillRect/>
          </a:stretch>
        </p:blipFill>
        <p:spPr>
          <a:xfrm>
            <a:off x="20" y="10"/>
            <a:ext cx="4287818" cy="6857990"/>
          </a:xfrm>
          <a:prstGeom prst="rect">
            <a:avLst/>
          </a:prstGeom>
          <a:noFill/>
        </p:spPr>
      </p:pic>
      <p:sp>
        <p:nvSpPr>
          <p:cNvPr id="15" name="Subtitle 14">
            <a:extLst>
              <a:ext uri="{FF2B5EF4-FFF2-40B4-BE49-F238E27FC236}">
                <a16:creationId xmlns:a16="http://schemas.microsoft.com/office/drawing/2014/main" id="{9C373000-EEA1-D16F-189A-338FFDA2E708}"/>
              </a:ext>
            </a:extLst>
          </p:cNvPr>
          <p:cNvSpPr>
            <a:spLocks noGrp="1"/>
          </p:cNvSpPr>
          <p:nvPr>
            <p:ph idx="1"/>
          </p:nvPr>
        </p:nvSpPr>
        <p:spPr>
          <a:xfrm>
            <a:off x="5242425" y="2620093"/>
            <a:ext cx="6241650" cy="3474720"/>
          </a:xfrm>
        </p:spPr>
        <p:txBody>
          <a:bodyPr>
            <a:normAutofit/>
          </a:bodyPr>
          <a:lstStyle/>
          <a:p>
            <a:r>
              <a:rPr lang="en-US" dirty="0"/>
              <a:t>Check the null value</a:t>
            </a:r>
          </a:p>
          <a:p>
            <a:r>
              <a:rPr lang="en-US" dirty="0"/>
              <a:t>Initial issuance date/Expiration date converted to datetime.</a:t>
            </a:r>
          </a:p>
          <a:p>
            <a:r>
              <a:rPr lang="en-US" dirty="0"/>
              <a:t>Cardinality of object columns shows the important features need to taken into consideration for model training.</a:t>
            </a:r>
          </a:p>
          <a:p>
            <a:r>
              <a:rPr lang="en-US" dirty="0"/>
              <a:t>Identifying object type columns, exclude identifier columns, calculate the number of unique values for each, and print the results to assess cardinality for one-hot encoding suitability.</a:t>
            </a:r>
          </a:p>
        </p:txBody>
      </p:sp>
    </p:spTree>
    <p:extLst>
      <p:ext uri="{BB962C8B-B14F-4D97-AF65-F5344CB8AC3E}">
        <p14:creationId xmlns:p14="http://schemas.microsoft.com/office/powerpoint/2010/main" val="39304385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342FE5-5B31-B373-0620-9114A5A01E27}"/>
              </a:ext>
            </a:extLst>
          </p:cNvPr>
          <p:cNvPicPr>
            <a:picLocks noChangeAspect="1"/>
          </p:cNvPicPr>
          <p:nvPr/>
        </p:nvPicPr>
        <p:blipFill>
          <a:blip r:embed="rId2"/>
          <a:stretch>
            <a:fillRect/>
          </a:stretch>
        </p:blipFill>
        <p:spPr>
          <a:xfrm>
            <a:off x="614430" y="0"/>
            <a:ext cx="10963140" cy="6858000"/>
          </a:xfrm>
          <a:prstGeom prst="rect">
            <a:avLst/>
          </a:prstGeom>
          <a:noFill/>
        </p:spPr>
      </p:pic>
    </p:spTree>
    <p:extLst>
      <p:ext uri="{BB962C8B-B14F-4D97-AF65-F5344CB8AC3E}">
        <p14:creationId xmlns:p14="http://schemas.microsoft.com/office/powerpoint/2010/main" val="2583986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0" y="248031"/>
            <a:ext cx="6172200" cy="1581912"/>
          </a:xfrm>
        </p:spPr>
        <p:txBody>
          <a:bodyPr anchor="b">
            <a:normAutofit/>
          </a:bodyPr>
          <a:lstStyle/>
          <a:p>
            <a:r>
              <a:rPr lang="en-US" dirty="0"/>
              <a:t>ONE HOT ENCODED COLUMNS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4"/>
          </p:nvPr>
        </p:nvSpPr>
        <p:spPr>
          <a:xfrm>
            <a:off x="838200" y="1980838"/>
            <a:ext cx="4894006" cy="3904906"/>
          </a:xfrm>
        </p:spPr>
        <p:txBody>
          <a:bodyPr vert="horz" lIns="91440" tIns="45720" rIns="91440" bIns="45720" rtlCol="0">
            <a:normAutofit/>
          </a:bodyPr>
          <a:lstStyle/>
          <a:p>
            <a:pPr marL="285750" indent="-285750">
              <a:buFont typeface="Arial" panose="020B0604020202020204" pitchFamily="34" charset="0"/>
              <a:buChar char="•"/>
            </a:pPr>
            <a:r>
              <a:rPr lang="en-US" sz="1700" dirty="0"/>
              <a:t>Dataset contains 66,670 records and 15 features after cleaning.</a:t>
            </a:r>
          </a:p>
          <a:p>
            <a:pPr marL="285750" indent="-285750">
              <a:buFont typeface="Arial" panose="020B0604020202020204" pitchFamily="34" charset="0"/>
              <a:buChar char="•"/>
            </a:pPr>
            <a:r>
              <a:rPr lang="en-US" sz="1700" dirty="0"/>
              <a:t>Focused on NYC-based businesses only (removed “Outside NYC”).</a:t>
            </a:r>
          </a:p>
          <a:p>
            <a:pPr marL="285750" indent="-285750">
              <a:buFont typeface="Arial" panose="020B0604020202020204" pitchFamily="34" charset="0"/>
              <a:buChar char="•"/>
            </a:pPr>
            <a:r>
              <a:rPr lang="en-US" sz="1700" dirty="0"/>
              <a:t>Data types: 11 categorical, 2 numeric, 2 datetime.</a:t>
            </a:r>
          </a:p>
          <a:p>
            <a:pPr marL="285750" indent="-285750">
              <a:buFont typeface="Arial" panose="020B0604020202020204" pitchFamily="34" charset="0"/>
              <a:buChar char="•"/>
            </a:pPr>
            <a:r>
              <a:rPr lang="en-US" sz="1700" dirty="0"/>
              <a:t>Missing values present in Borough, NTA, Latitude, and Longitude.</a:t>
            </a:r>
          </a:p>
          <a:p>
            <a:pPr marL="285750" indent="-285750">
              <a:buFont typeface="Arial" panose="020B0604020202020204" pitchFamily="34" charset="0"/>
              <a:buChar char="•"/>
            </a:pPr>
            <a:r>
              <a:rPr lang="en-US" sz="1700" dirty="0"/>
              <a:t>Datetime conversion: Initial Issuance Date, Expiration Date → datetime64.</a:t>
            </a:r>
          </a:p>
          <a:p>
            <a:pPr marL="285750" indent="-285750">
              <a:buFont typeface="Arial" panose="020B0604020202020204" pitchFamily="34" charset="0"/>
              <a:buChar char="•"/>
            </a:pPr>
            <a:r>
              <a:rPr lang="en-US" sz="1700" dirty="0"/>
              <a:t>Dataset size: ~7.6 MB, memory-efficient for Pandas operations.</a:t>
            </a:r>
          </a:p>
          <a:p>
            <a:pPr marL="285750" indent="-285750">
              <a:buFont typeface="Arial" panose="020B0604020202020204" pitchFamily="34" charset="0"/>
              <a:buChar char="•"/>
            </a:pPr>
            <a:r>
              <a:rPr lang="en-US" sz="1700" dirty="0"/>
              <a:t>Structured and ready for feature engineering (encoding, imputation, scaling).</a:t>
            </a:r>
          </a:p>
        </p:txBody>
      </p:sp>
      <p:pic>
        <p:nvPicPr>
          <p:cNvPr id="9" name="Picture 8">
            <a:extLst>
              <a:ext uri="{FF2B5EF4-FFF2-40B4-BE49-F238E27FC236}">
                <a16:creationId xmlns:a16="http://schemas.microsoft.com/office/drawing/2014/main" id="{64B9D04C-AAAC-6F30-FC87-68B284A3F54E}"/>
              </a:ext>
            </a:extLst>
          </p:cNvPr>
          <p:cNvPicPr>
            <a:picLocks noChangeAspect="1"/>
          </p:cNvPicPr>
          <p:nvPr/>
        </p:nvPicPr>
        <p:blipFill>
          <a:blip r:embed="rId3"/>
          <a:stretch>
            <a:fillRect/>
          </a:stretch>
        </p:blipFill>
        <p:spPr>
          <a:xfrm>
            <a:off x="7386638" y="1719858"/>
            <a:ext cx="4714875" cy="3418284"/>
          </a:xfrm>
          <a:prstGeom prst="rect">
            <a:avLst/>
          </a:prstGeom>
          <a:noFill/>
        </p:spPr>
      </p:pic>
    </p:spTree>
    <p:extLst>
      <p:ext uri="{BB962C8B-B14F-4D97-AF65-F5344CB8AC3E}">
        <p14:creationId xmlns:p14="http://schemas.microsoft.com/office/powerpoint/2010/main" val="3666674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45111B3-7350-AA12-EC8B-66FCBC018360}"/>
              </a:ext>
            </a:extLst>
          </p:cNvPr>
          <p:cNvPicPr>
            <a:picLocks noChangeAspect="1"/>
          </p:cNvPicPr>
          <p:nvPr/>
        </p:nvPicPr>
        <p:blipFill>
          <a:blip r:embed="rId2"/>
          <a:stretch>
            <a:fillRect/>
          </a:stretch>
        </p:blipFill>
        <p:spPr>
          <a:xfrm>
            <a:off x="0" y="2270760"/>
            <a:ext cx="12192000" cy="2316480"/>
          </a:xfrm>
          <a:prstGeom prst="rect">
            <a:avLst/>
          </a:prstGeom>
          <a:noFill/>
        </p:spPr>
      </p:pic>
    </p:spTree>
    <p:extLst>
      <p:ext uri="{BB962C8B-B14F-4D97-AF65-F5344CB8AC3E}">
        <p14:creationId xmlns:p14="http://schemas.microsoft.com/office/powerpoint/2010/main" val="2885840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title"/>
          </p:nvPr>
        </p:nvSpPr>
        <p:spPr>
          <a:xfrm>
            <a:off x="5242425" y="466344"/>
            <a:ext cx="6241651" cy="1710354"/>
          </a:xfrm>
        </p:spPr>
        <p:txBody>
          <a:bodyPr anchor="ctr">
            <a:normAutofit/>
          </a:bodyPr>
          <a:lstStyle/>
          <a:p>
            <a:r>
              <a:rPr lang="en-US" dirty="0"/>
              <a:t>Impute missing value with median and mode</a:t>
            </a:r>
          </a:p>
        </p:txBody>
      </p:sp>
      <p:pic>
        <p:nvPicPr>
          <p:cNvPr id="7" name="Picture 6">
            <a:extLst>
              <a:ext uri="{FF2B5EF4-FFF2-40B4-BE49-F238E27FC236}">
                <a16:creationId xmlns:a16="http://schemas.microsoft.com/office/drawing/2014/main" id="{DF329535-7C5F-1FF0-0291-3780312ED81B}"/>
              </a:ext>
            </a:extLst>
          </p:cNvPr>
          <p:cNvPicPr>
            <a:picLocks noChangeAspect="1"/>
          </p:cNvPicPr>
          <p:nvPr/>
        </p:nvPicPr>
        <p:blipFill>
          <a:blip r:embed="rId3"/>
          <a:stretch>
            <a:fillRect/>
          </a:stretch>
        </p:blipFill>
        <p:spPr>
          <a:xfrm>
            <a:off x="132202" y="2082450"/>
            <a:ext cx="4700458" cy="2952258"/>
          </a:xfrm>
          <a:prstGeom prst="rect">
            <a:avLst/>
          </a:prstGeom>
          <a:noFill/>
        </p:spPr>
      </p:pic>
      <p:sp>
        <p:nvSpPr>
          <p:cNvPr id="8" name="Rectangle 1">
            <a:extLst>
              <a:ext uri="{FF2B5EF4-FFF2-40B4-BE49-F238E27FC236}">
                <a16:creationId xmlns:a16="http://schemas.microsoft.com/office/drawing/2014/main" id="{B979A2C6-894D-EF1E-7365-B192470D9A9D}"/>
              </a:ext>
            </a:extLst>
          </p:cNvPr>
          <p:cNvSpPr>
            <a:spLocks noGrp="1" noChangeArrowheads="1"/>
          </p:cNvSpPr>
          <p:nvPr>
            <p:ph idx="1"/>
          </p:nvPr>
        </p:nvSpPr>
        <p:spPr bwMode="auto">
          <a:xfrm>
            <a:off x="5242426" y="1795749"/>
            <a:ext cx="6241650" cy="3964971"/>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ts val="600"/>
              </a:spcAft>
              <a:buClrTx/>
              <a:buSzTx/>
              <a:buFontTx/>
              <a:buNone/>
              <a:tabLst/>
            </a:pPr>
            <a:r>
              <a:rPr kumimoji="0" lang="en-US" altLang="en-US" sz="1500" b="1" i="0" u="none" strike="noStrike" cap="none" normalizeH="0" baseline="0" dirty="0">
                <a:ln>
                  <a:noFill/>
                </a:ln>
                <a:effectLst/>
              </a:rPr>
              <a:t>Key Steps:</a:t>
            </a:r>
            <a:endParaRPr kumimoji="0" lang="en-US" altLang="en-US" sz="1500" b="0" i="0" u="none" strike="noStrike" cap="none" normalizeH="0" baseline="0" dirty="0">
              <a:ln>
                <a:noFill/>
              </a:ln>
              <a:effectLst/>
            </a:endParaRPr>
          </a:p>
          <a:p>
            <a:pPr>
              <a:spcAft>
                <a:spcPts val="600"/>
              </a:spcAft>
              <a:buClrTx/>
            </a:pPr>
            <a:r>
              <a:rPr kumimoji="0" lang="en-US" altLang="en-US" sz="1500" b="1" i="0" u="none" strike="noStrike" cap="none" normalizeH="0" baseline="0" dirty="0">
                <a:ln>
                  <a:noFill/>
                </a:ln>
                <a:effectLst/>
              </a:rPr>
              <a:t>ZIP Code:</a:t>
            </a:r>
            <a:r>
              <a:rPr kumimoji="0" lang="en-US" altLang="en-US" sz="1500" b="0" i="0" u="none" strike="noStrike" cap="none" normalizeH="0" baseline="0" dirty="0">
                <a:ln>
                  <a:noFill/>
                </a:ln>
                <a:effectLst/>
              </a:rPr>
              <a:t> Standardized to 5-digit numeric format; removed invalid and non-NYC entries.</a:t>
            </a:r>
          </a:p>
          <a:p>
            <a:pPr>
              <a:spcAft>
                <a:spcPts val="600"/>
              </a:spcAft>
              <a:buClrTx/>
            </a:pPr>
            <a:r>
              <a:rPr kumimoji="0" lang="en-US" altLang="en-US" sz="1500" b="1" i="0" u="none" strike="noStrike" cap="none" normalizeH="0" baseline="0" dirty="0">
                <a:ln>
                  <a:noFill/>
                </a:ln>
                <a:effectLst/>
              </a:rPr>
              <a:t>Borough:</a:t>
            </a:r>
            <a:r>
              <a:rPr kumimoji="0" lang="en-US" altLang="en-US" sz="1500" b="0" i="0" u="none" strike="noStrike" cap="none" normalizeH="0" baseline="0" dirty="0">
                <a:ln>
                  <a:noFill/>
                </a:ln>
                <a:effectLst/>
              </a:rPr>
              <a:t> Filled missing values using ZIP-to-Borough mapping.</a:t>
            </a:r>
          </a:p>
          <a:p>
            <a:pPr>
              <a:spcAft>
                <a:spcPts val="600"/>
              </a:spcAft>
              <a:buClrTx/>
            </a:pPr>
            <a:r>
              <a:rPr kumimoji="0" lang="en-US" altLang="en-US" sz="1500" b="1" i="0" u="none" strike="noStrike" cap="none" normalizeH="0" baseline="0" dirty="0">
                <a:ln>
                  <a:noFill/>
                </a:ln>
                <a:effectLst/>
              </a:rPr>
              <a:t>NTA:</a:t>
            </a:r>
            <a:r>
              <a:rPr kumimoji="0" lang="en-US" altLang="en-US" sz="1500" b="0" i="0" u="none" strike="noStrike" cap="none" normalizeH="0" baseline="0" dirty="0">
                <a:ln>
                  <a:noFill/>
                </a:ln>
                <a:effectLst/>
              </a:rPr>
              <a:t> Imputed using ZIP-to-NTA relationships derived from valid records.</a:t>
            </a:r>
          </a:p>
          <a:p>
            <a:pPr>
              <a:spcAft>
                <a:spcPts val="600"/>
              </a:spcAft>
              <a:buClrTx/>
            </a:pPr>
            <a:r>
              <a:rPr kumimoji="0" lang="en-US" altLang="en-US" sz="1500" b="1" i="0" u="none" strike="noStrike" cap="none" normalizeH="0" baseline="0" dirty="0">
                <a:ln>
                  <a:noFill/>
                </a:ln>
                <a:effectLst/>
              </a:rPr>
              <a:t>Latitude &amp; Longitude:</a:t>
            </a:r>
            <a:r>
              <a:rPr kumimoji="0" lang="en-US" altLang="en-US" sz="1500" b="0" i="0" u="none" strike="noStrike" cap="none" normalizeH="0" baseline="0" dirty="0">
                <a:ln>
                  <a:noFill/>
                </a:ln>
                <a:effectLst/>
              </a:rPr>
              <a:t> Retained as targets for regression prediction.</a:t>
            </a:r>
          </a:p>
          <a:p>
            <a:pPr marL="0" marR="0" lvl="0" indent="0" defTabSz="914400" rtl="0" eaLnBrk="0" fontAlgn="base" latinLnBrk="0" hangingPunct="0">
              <a:spcBef>
                <a:spcPct val="0"/>
              </a:spcBef>
              <a:spcAft>
                <a:spcPts val="600"/>
              </a:spcAft>
              <a:buClrTx/>
              <a:buSzTx/>
              <a:buFontTx/>
              <a:buNone/>
              <a:tabLst/>
            </a:pPr>
            <a:endParaRPr kumimoji="0" lang="en-US" altLang="en-US" sz="1500" b="1"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r>
              <a:rPr kumimoji="0" lang="en-US" altLang="en-US" sz="1500" b="1" i="0" u="none" strike="noStrike" cap="none" normalizeH="0" baseline="0" dirty="0">
                <a:ln>
                  <a:noFill/>
                </a:ln>
                <a:effectLst/>
              </a:rPr>
              <a:t>Result:</a:t>
            </a:r>
            <a:endParaRPr kumimoji="0" lang="en-US" altLang="en-US" sz="1500" b="0" i="0" u="none" strike="noStrike" cap="none" normalizeH="0" baseline="0" dirty="0">
              <a:ln>
                <a:noFill/>
              </a:ln>
              <a:effectLst/>
            </a:endParaRPr>
          </a:p>
          <a:p>
            <a:pPr>
              <a:spcAft>
                <a:spcPts val="600"/>
              </a:spcAft>
              <a:buClrTx/>
            </a:pPr>
            <a:r>
              <a:rPr kumimoji="0" lang="en-US" altLang="en-US" sz="1500" b="0" i="0" u="none" strike="noStrike" cap="none" normalizeH="0" baseline="0" dirty="0">
                <a:ln>
                  <a:noFill/>
                </a:ln>
                <a:effectLst/>
              </a:rPr>
              <a:t>Dataset refined from </a:t>
            </a:r>
            <a:r>
              <a:rPr kumimoji="0" lang="en-US" altLang="en-US" sz="1500" b="1" i="0" u="none" strike="noStrike" cap="none" normalizeH="0" baseline="0" dirty="0">
                <a:ln>
                  <a:noFill/>
                </a:ln>
                <a:effectLst/>
              </a:rPr>
              <a:t>66,670 → ~56,000 records</a:t>
            </a:r>
            <a:r>
              <a:rPr kumimoji="0" lang="en-US" altLang="en-US" sz="1500" b="0" i="0" u="none" strike="noStrike" cap="none" normalizeH="0" baseline="0" dirty="0">
                <a:ln>
                  <a:noFill/>
                </a:ln>
                <a:effectLst/>
              </a:rPr>
              <a:t> (NYC-only).</a:t>
            </a:r>
          </a:p>
          <a:p>
            <a:pPr>
              <a:spcAft>
                <a:spcPts val="600"/>
              </a:spcAft>
              <a:buClrTx/>
            </a:pPr>
            <a:r>
              <a:rPr kumimoji="0" lang="en-US" altLang="en-US" sz="1500" b="0" i="0" u="none" strike="noStrike" cap="none" normalizeH="0" baseline="0" dirty="0">
                <a:ln>
                  <a:noFill/>
                </a:ln>
                <a:effectLst/>
              </a:rPr>
              <a:t>All categorical fields cleaned and spatial hierarchy (ZIP → Borough → NTA) restored.</a:t>
            </a:r>
          </a:p>
          <a:p>
            <a:pPr>
              <a:spcAft>
                <a:spcPts val="600"/>
              </a:spcAft>
              <a:buClrTx/>
            </a:pPr>
            <a:r>
              <a:rPr kumimoji="0" lang="en-US" altLang="en-US" sz="1500" b="0" i="0" u="none" strike="noStrike" cap="none" normalizeH="0" baseline="0" dirty="0">
                <a:ln>
                  <a:noFill/>
                </a:ln>
                <a:effectLst/>
              </a:rPr>
              <a:t>Remaining missing values limited to coordinates for the regression task.</a:t>
            </a:r>
          </a:p>
          <a:p>
            <a:pPr marL="0" marR="0" lvl="0" indent="0" defTabSz="914400" rtl="0" eaLnBrk="0" fontAlgn="base" latinLnBrk="0" hangingPunct="0">
              <a:spcBef>
                <a:spcPct val="0"/>
              </a:spcBef>
              <a:spcAft>
                <a:spcPts val="600"/>
              </a:spcAft>
              <a:buClrTx/>
              <a:buSzTx/>
              <a:buFontTx/>
              <a:buNone/>
              <a:tabLst/>
            </a:pPr>
            <a:endParaRPr kumimoji="0" lang="en-US" altLang="en-US" sz="1500" b="0" i="0" u="none" strike="noStrike" cap="none" normalizeH="0" baseline="0" dirty="0">
              <a:ln>
                <a:noFill/>
              </a:ln>
              <a:effectLst/>
            </a:endParaRPr>
          </a:p>
        </p:txBody>
      </p:sp>
    </p:spTree>
    <p:extLst>
      <p:ext uri="{BB962C8B-B14F-4D97-AF65-F5344CB8AC3E}">
        <p14:creationId xmlns:p14="http://schemas.microsoft.com/office/powerpoint/2010/main" val="1679936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descr="A graph showing a distribution of business data&#10;&#10;AI-generated content may be incorrect.">
            <a:extLst>
              <a:ext uri="{FF2B5EF4-FFF2-40B4-BE49-F238E27FC236}">
                <a16:creationId xmlns:a16="http://schemas.microsoft.com/office/drawing/2014/main" id="{4EDE3CC4-3086-162A-1C4B-A0F0CEF91943}"/>
              </a:ext>
            </a:extLst>
          </p:cNvPr>
          <p:cNvPicPr>
            <a:picLocks noChangeAspect="1"/>
          </p:cNvPicPr>
          <p:nvPr/>
        </p:nvPicPr>
        <p:blipFill>
          <a:blip r:embed="rId3">
            <a:extLst>
              <a:ext uri="{28A0092B-C50C-407E-A947-70E740481C1C}">
                <a14:useLocalDpi xmlns:a14="http://schemas.microsoft.com/office/drawing/2010/main" val="0"/>
              </a:ext>
            </a:extLst>
          </a:blip>
          <a:srcRect l="6427" r="23795" b="-1"/>
          <a:stretch>
            <a:fillRect/>
          </a:stretch>
        </p:blipFill>
        <p:spPr>
          <a:xfrm>
            <a:off x="0" y="10"/>
            <a:ext cx="12192000" cy="6857990"/>
          </a:xfrm>
          <a:prstGeom prst="rect">
            <a:avLst/>
          </a:prstGeom>
          <a:noFill/>
        </p:spPr>
      </p:pic>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243159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aph with numbers and a number of objects&#10;&#10;AI-generated content may be incorrect.">
            <a:extLst>
              <a:ext uri="{FF2B5EF4-FFF2-40B4-BE49-F238E27FC236}">
                <a16:creationId xmlns:a16="http://schemas.microsoft.com/office/drawing/2014/main" id="{4E2178F2-0333-784D-6A1A-A2030ED3A8A9}"/>
              </a:ext>
            </a:extLst>
          </p:cNvPr>
          <p:cNvPicPr>
            <a:picLocks noChangeAspect="1"/>
          </p:cNvPicPr>
          <p:nvPr/>
        </p:nvPicPr>
        <p:blipFill>
          <a:blip r:embed="rId2">
            <a:extLst>
              <a:ext uri="{28A0092B-C50C-407E-A947-70E740481C1C}">
                <a14:useLocalDpi xmlns:a14="http://schemas.microsoft.com/office/drawing/2010/main" val="0"/>
              </a:ext>
            </a:extLst>
          </a:blip>
          <a:srcRect l="2241" r="10192"/>
          <a:stretch>
            <a:fillRect/>
          </a:stretch>
        </p:blipFill>
        <p:spPr>
          <a:xfrm>
            <a:off x="120650" y="68263"/>
            <a:ext cx="11950700" cy="6721475"/>
          </a:xfrm>
          <a:prstGeom prst="rect">
            <a:avLst/>
          </a:prstGeom>
          <a:noFill/>
        </p:spPr>
      </p:pic>
    </p:spTree>
    <p:extLst>
      <p:ext uri="{BB962C8B-B14F-4D97-AF65-F5344CB8AC3E}">
        <p14:creationId xmlns:p14="http://schemas.microsoft.com/office/powerpoint/2010/main" val="4081711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hart with a green and blue rectangle&#10;&#10;AI-generated content may be incorrect.">
            <a:extLst>
              <a:ext uri="{FF2B5EF4-FFF2-40B4-BE49-F238E27FC236}">
                <a16:creationId xmlns:a16="http://schemas.microsoft.com/office/drawing/2014/main" id="{2E0DD532-428B-F026-8849-7CB08F104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16" y="170481"/>
            <a:ext cx="11610836" cy="6059838"/>
          </a:xfrm>
          <a:prstGeom prst="rect">
            <a:avLst/>
          </a:prstGeom>
        </p:spPr>
      </p:pic>
    </p:spTree>
    <p:extLst>
      <p:ext uri="{BB962C8B-B14F-4D97-AF65-F5344CB8AC3E}">
        <p14:creationId xmlns:p14="http://schemas.microsoft.com/office/powerpoint/2010/main" val="4036694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A32C7-119F-7638-FEE4-54E5017E958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7CF01C-8E8D-C41B-104A-C6F9FC1BB9C1}"/>
              </a:ext>
            </a:extLst>
          </p:cNvPr>
          <p:cNvPicPr>
            <a:picLocks noChangeAspect="1"/>
          </p:cNvPicPr>
          <p:nvPr/>
        </p:nvPicPr>
        <p:blipFill>
          <a:blip r:embed="rId2"/>
          <a:stretch>
            <a:fillRect/>
          </a:stretch>
        </p:blipFill>
        <p:spPr>
          <a:xfrm>
            <a:off x="508011" y="171109"/>
            <a:ext cx="10922216" cy="6515781"/>
          </a:xfrm>
          <a:prstGeom prst="rect">
            <a:avLst/>
          </a:prstGeom>
        </p:spPr>
      </p:pic>
    </p:spTree>
    <p:extLst>
      <p:ext uri="{BB962C8B-B14F-4D97-AF65-F5344CB8AC3E}">
        <p14:creationId xmlns:p14="http://schemas.microsoft.com/office/powerpoint/2010/main" val="2025144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showing a distribution of borough&#10;&#10;AI-generated content may be incorrect.">
            <a:extLst>
              <a:ext uri="{FF2B5EF4-FFF2-40B4-BE49-F238E27FC236}">
                <a16:creationId xmlns:a16="http://schemas.microsoft.com/office/drawing/2014/main" id="{68398A28-0AB1-F0B1-6CA2-5141438DD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174" y="263471"/>
            <a:ext cx="11701651" cy="5972401"/>
          </a:xfrm>
          <a:prstGeom prst="rect">
            <a:avLst/>
          </a:prstGeom>
        </p:spPr>
      </p:pic>
    </p:spTree>
    <p:extLst>
      <p:ext uri="{BB962C8B-B14F-4D97-AF65-F5344CB8AC3E}">
        <p14:creationId xmlns:p14="http://schemas.microsoft.com/office/powerpoint/2010/main" val="154432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2">
            <a:extLst>
              <a:ext uri="{FF2B5EF4-FFF2-40B4-BE49-F238E27FC236}">
                <a16:creationId xmlns:a16="http://schemas.microsoft.com/office/drawing/2014/main" id="{4922EF1C-FB46-121F-A422-19C0DFC1932B}"/>
              </a:ext>
            </a:extLst>
          </p:cNvPr>
          <p:cNvSpPr txBox="1"/>
          <p:nvPr/>
        </p:nvSpPr>
        <p:spPr>
          <a:xfrm>
            <a:off x="257959" y="283088"/>
            <a:ext cx="11201400" cy="989502"/>
          </a:xfrm>
          <a:prstGeom prst="rect">
            <a:avLst/>
          </a:prstGeom>
        </p:spPr>
        <p:txBody>
          <a:bodyPr lIns="0" tIns="0" rIns="0" bIns="0" rtlCol="0" anchor="t">
            <a:spAutoFit/>
          </a:bodyPr>
          <a:lstStyle/>
          <a:p>
            <a:pPr marL="0" lvl="0" indent="0" algn="l">
              <a:lnSpc>
                <a:spcPts val="8000"/>
              </a:lnSpc>
              <a:spcBef>
                <a:spcPct val="0"/>
              </a:spcBef>
            </a:pPr>
            <a:r>
              <a:rPr lang="en-US" sz="6500" u="none" strike="noStrike" spc="-240" dirty="0">
                <a:solidFill>
                  <a:srgbClr val="6C757D"/>
                </a:solidFill>
                <a:latin typeface="ITC Avant Garde Gothic"/>
                <a:ea typeface="ITC Avant Garde Gothic"/>
                <a:cs typeface="ITC Avant Garde Gothic"/>
                <a:sym typeface="ITC Avant Garde Gothic"/>
              </a:rPr>
              <a:t>City Value Insights</a:t>
            </a:r>
          </a:p>
        </p:txBody>
      </p:sp>
      <p:sp>
        <p:nvSpPr>
          <p:cNvPr id="11" name="TextBox 10">
            <a:extLst>
              <a:ext uri="{FF2B5EF4-FFF2-40B4-BE49-F238E27FC236}">
                <a16:creationId xmlns:a16="http://schemas.microsoft.com/office/drawing/2014/main" id="{2B590AB9-D9E5-4830-38BA-56F59C723C3E}"/>
              </a:ext>
            </a:extLst>
          </p:cNvPr>
          <p:cNvSpPr txBox="1"/>
          <p:nvPr/>
        </p:nvSpPr>
        <p:spPr>
          <a:xfrm>
            <a:off x="257959" y="1272590"/>
            <a:ext cx="6277086" cy="559384"/>
          </a:xfrm>
          <a:prstGeom prst="rect">
            <a:avLst/>
          </a:prstGeom>
          <a:noFill/>
        </p:spPr>
        <p:txBody>
          <a:bodyPr wrap="square">
            <a:spAutoFit/>
          </a:bodyPr>
          <a:lstStyle/>
          <a:p>
            <a:pPr marL="0" lvl="0" indent="0" algn="l">
              <a:lnSpc>
                <a:spcPts val="3839"/>
              </a:lnSpc>
            </a:pPr>
            <a:r>
              <a:rPr lang="en-US" sz="3000" u="none" strike="noStrike" spc="-95" dirty="0">
                <a:solidFill>
                  <a:srgbClr val="6C757D"/>
                </a:solidFill>
                <a:latin typeface="TT Fors"/>
                <a:ea typeface="TT Fors"/>
                <a:cs typeface="TT Fors"/>
                <a:sym typeface="TT Fors"/>
              </a:rPr>
              <a:t>Practical Applications of Data</a:t>
            </a:r>
          </a:p>
        </p:txBody>
      </p:sp>
      <p:grpSp>
        <p:nvGrpSpPr>
          <p:cNvPr id="19" name="Group 2">
            <a:extLst>
              <a:ext uri="{FF2B5EF4-FFF2-40B4-BE49-F238E27FC236}">
                <a16:creationId xmlns:a16="http://schemas.microsoft.com/office/drawing/2014/main" id="{DEC09749-ED3B-D44A-6122-44D150BB1D2A}"/>
              </a:ext>
            </a:extLst>
          </p:cNvPr>
          <p:cNvGrpSpPr/>
          <p:nvPr/>
        </p:nvGrpSpPr>
        <p:grpSpPr>
          <a:xfrm>
            <a:off x="257959" y="2749610"/>
            <a:ext cx="3937395" cy="3057090"/>
            <a:chOff x="0" y="-104775"/>
            <a:chExt cx="5346700" cy="4457013"/>
          </a:xfrm>
        </p:grpSpPr>
        <p:sp>
          <p:nvSpPr>
            <p:cNvPr id="20" name="TextBox 3">
              <a:extLst>
                <a:ext uri="{FF2B5EF4-FFF2-40B4-BE49-F238E27FC236}">
                  <a16:creationId xmlns:a16="http://schemas.microsoft.com/office/drawing/2014/main" id="{B77791B6-CB6E-B7D5-0109-681CE1D63E34}"/>
                </a:ext>
              </a:extLst>
            </p:cNvPr>
            <p:cNvSpPr txBox="1"/>
            <p:nvPr/>
          </p:nvSpPr>
          <p:spPr>
            <a:xfrm>
              <a:off x="0" y="1155700"/>
              <a:ext cx="5346700" cy="3196538"/>
            </a:xfrm>
            <a:prstGeom prst="rect">
              <a:avLst/>
            </a:prstGeom>
          </p:spPr>
          <p:txBody>
            <a:bodyPr lIns="0" tIns="0" rIns="0" bIns="0" rtlCol="0" anchor="t">
              <a:spAutoFit/>
            </a:bodyPr>
            <a:lstStyle/>
            <a:p>
              <a:pPr marL="0" lvl="0" indent="0" algn="l">
                <a:lnSpc>
                  <a:spcPts val="2940"/>
                </a:lnSpc>
              </a:pPr>
              <a:r>
                <a:rPr lang="en-US" sz="1600" dirty="0">
                  <a:solidFill>
                    <a:srgbClr val="6C757D"/>
                  </a:solidFill>
                  <a:latin typeface="TT Fors"/>
                  <a:ea typeface="TT Fors"/>
                  <a:cs typeface="TT Fors"/>
                  <a:sym typeface="TT Fors"/>
                </a:rPr>
                <a:t>Data-driven approaches allow for </a:t>
              </a:r>
            </a:p>
            <a:p>
              <a:pPr marL="0" lvl="0" indent="0" algn="l">
                <a:lnSpc>
                  <a:spcPts val="2940"/>
                </a:lnSpc>
              </a:pPr>
              <a:r>
                <a:rPr lang="en-US" sz="1600" b="1" dirty="0">
                  <a:solidFill>
                    <a:srgbClr val="6C757D"/>
                  </a:solidFill>
                  <a:latin typeface="TT Fors Bold"/>
                  <a:ea typeface="TT Fors Bold"/>
                  <a:cs typeface="TT Fors Bold"/>
                  <a:sym typeface="TT Fors Bold"/>
                </a:rPr>
                <a:t>seamless auto-filling</a:t>
              </a:r>
              <a:r>
                <a:rPr lang="en-US" sz="1600" dirty="0">
                  <a:solidFill>
                    <a:srgbClr val="6C757D"/>
                  </a:solidFill>
                  <a:latin typeface="TT Fors"/>
                  <a:ea typeface="TT Fors"/>
                  <a:cs typeface="TT Fors"/>
                  <a:sym typeface="TT Fors"/>
                </a:rPr>
                <a:t> of business records, reducing manual entry errors and </a:t>
              </a:r>
            </a:p>
            <a:p>
              <a:pPr marL="0" lvl="0" indent="0" algn="l">
                <a:lnSpc>
                  <a:spcPts val="2940"/>
                </a:lnSpc>
              </a:pPr>
              <a:r>
                <a:rPr lang="en-US" sz="1600" dirty="0">
                  <a:solidFill>
                    <a:srgbClr val="6C757D"/>
                  </a:solidFill>
                  <a:latin typeface="TT Fors"/>
                  <a:ea typeface="TT Fors"/>
                  <a:cs typeface="TT Fors"/>
                  <a:sym typeface="TT Fors"/>
                </a:rPr>
                <a:t>improving efficiency, ultimately enhancing </a:t>
              </a:r>
            </a:p>
            <a:p>
              <a:pPr marL="0" lvl="0" indent="0" algn="l">
                <a:lnSpc>
                  <a:spcPts val="2940"/>
                </a:lnSpc>
              </a:pPr>
              <a:r>
                <a:rPr lang="en-US" sz="1600" dirty="0">
                  <a:solidFill>
                    <a:srgbClr val="6C757D"/>
                  </a:solidFill>
                  <a:latin typeface="TT Fors"/>
                  <a:ea typeface="TT Fors"/>
                  <a:cs typeface="TT Fors"/>
                  <a:sym typeface="TT Fors"/>
                </a:rPr>
                <a:t>the accuracy of city databases for better resource allocation.</a:t>
              </a:r>
            </a:p>
          </p:txBody>
        </p:sp>
        <p:sp>
          <p:nvSpPr>
            <p:cNvPr id="21" name="TextBox 4">
              <a:extLst>
                <a:ext uri="{FF2B5EF4-FFF2-40B4-BE49-F238E27FC236}">
                  <a16:creationId xmlns:a16="http://schemas.microsoft.com/office/drawing/2014/main" id="{59DF8D20-8D70-1896-0A73-93DEAA8AA6B4}"/>
                </a:ext>
              </a:extLst>
            </p:cNvPr>
            <p:cNvSpPr txBox="1"/>
            <p:nvPr/>
          </p:nvSpPr>
          <p:spPr>
            <a:xfrm>
              <a:off x="0" y="-104775"/>
              <a:ext cx="5346700" cy="633062"/>
            </a:xfrm>
            <a:prstGeom prst="rect">
              <a:avLst/>
            </a:prstGeom>
          </p:spPr>
          <p:txBody>
            <a:bodyPr lIns="0" tIns="0" rIns="0" bIns="0" rtlCol="0" anchor="t">
              <a:spAutoFit/>
            </a:bodyPr>
            <a:lstStyle/>
            <a:p>
              <a:pPr marL="0" lvl="0" indent="0" algn="l">
                <a:lnSpc>
                  <a:spcPts val="3640"/>
                </a:lnSpc>
                <a:spcBef>
                  <a:spcPct val="0"/>
                </a:spcBef>
              </a:pPr>
              <a:r>
                <a:rPr lang="en-US" sz="2600" u="sng" strike="noStrike" spc="-78" dirty="0">
                  <a:solidFill>
                    <a:srgbClr val="6C757D"/>
                  </a:solidFill>
                  <a:latin typeface="ITC Avant Garde Gothic"/>
                  <a:ea typeface="ITC Avant Garde Gothic"/>
                  <a:cs typeface="ITC Avant Garde Gothic"/>
                  <a:sym typeface="ITC Avant Garde Gothic"/>
                </a:rPr>
                <a:t>Auto-filling Records</a:t>
              </a:r>
            </a:p>
          </p:txBody>
        </p:sp>
      </p:grpSp>
      <p:grpSp>
        <p:nvGrpSpPr>
          <p:cNvPr id="22" name="Group 5">
            <a:extLst>
              <a:ext uri="{FF2B5EF4-FFF2-40B4-BE49-F238E27FC236}">
                <a16:creationId xmlns:a16="http://schemas.microsoft.com/office/drawing/2014/main" id="{C301CE17-3112-C0A9-714E-429449E95F61}"/>
              </a:ext>
            </a:extLst>
          </p:cNvPr>
          <p:cNvGrpSpPr/>
          <p:nvPr/>
        </p:nvGrpSpPr>
        <p:grpSpPr>
          <a:xfrm>
            <a:off x="4195354" y="2749610"/>
            <a:ext cx="3937395" cy="3057090"/>
            <a:chOff x="0" y="-104775"/>
            <a:chExt cx="5346700" cy="4457013"/>
          </a:xfrm>
        </p:grpSpPr>
        <p:sp>
          <p:nvSpPr>
            <p:cNvPr id="23" name="TextBox 6">
              <a:extLst>
                <a:ext uri="{FF2B5EF4-FFF2-40B4-BE49-F238E27FC236}">
                  <a16:creationId xmlns:a16="http://schemas.microsoft.com/office/drawing/2014/main" id="{654808B7-0BAC-489F-4950-306B9C074B8E}"/>
                </a:ext>
              </a:extLst>
            </p:cNvPr>
            <p:cNvSpPr txBox="1"/>
            <p:nvPr/>
          </p:nvSpPr>
          <p:spPr>
            <a:xfrm>
              <a:off x="0" y="1155700"/>
              <a:ext cx="5346700" cy="3196538"/>
            </a:xfrm>
            <a:prstGeom prst="rect">
              <a:avLst/>
            </a:prstGeom>
          </p:spPr>
          <p:txBody>
            <a:bodyPr lIns="0" tIns="0" rIns="0" bIns="0" rtlCol="0" anchor="t">
              <a:spAutoFit/>
            </a:bodyPr>
            <a:lstStyle/>
            <a:p>
              <a:pPr marL="0" lvl="0" indent="0" algn="l">
                <a:lnSpc>
                  <a:spcPts val="2940"/>
                </a:lnSpc>
              </a:pPr>
              <a:r>
                <a:rPr lang="en-US" sz="1600" dirty="0">
                  <a:solidFill>
                    <a:srgbClr val="6C757D"/>
                  </a:solidFill>
                  <a:latin typeface="TT Fors"/>
                  <a:ea typeface="TT Fors"/>
                  <a:cs typeface="TT Fors"/>
                  <a:sym typeface="TT Fors"/>
                </a:rPr>
                <a:t>Analyzing license data aids urban planners </a:t>
              </a:r>
            </a:p>
            <a:p>
              <a:pPr marL="0" lvl="0" indent="0" algn="l">
                <a:lnSpc>
                  <a:spcPts val="2940"/>
                </a:lnSpc>
              </a:pPr>
              <a:r>
                <a:rPr lang="en-US" sz="1600" dirty="0">
                  <a:solidFill>
                    <a:srgbClr val="6C757D"/>
                  </a:solidFill>
                  <a:latin typeface="TT Fors"/>
                  <a:ea typeface="TT Fors"/>
                  <a:cs typeface="TT Fors"/>
                  <a:sym typeface="TT Fors"/>
                </a:rPr>
                <a:t>in identifying </a:t>
              </a:r>
              <a:r>
                <a:rPr lang="en-US" sz="1600" b="1" dirty="0">
                  <a:solidFill>
                    <a:srgbClr val="6C757D"/>
                  </a:solidFill>
                  <a:latin typeface="TT Fors Bold"/>
                  <a:ea typeface="TT Fors Bold"/>
                  <a:cs typeface="TT Fors Bold"/>
                  <a:sym typeface="TT Fors Bold"/>
                </a:rPr>
                <a:t>growth areas</a:t>
              </a:r>
              <a:r>
                <a:rPr lang="en-US" sz="1600" dirty="0">
                  <a:solidFill>
                    <a:srgbClr val="6C757D"/>
                  </a:solidFill>
                  <a:latin typeface="TT Fors"/>
                  <a:ea typeface="TT Fors"/>
                  <a:cs typeface="TT Fors"/>
                  <a:sym typeface="TT Fors"/>
                </a:rPr>
                <a:t> and optimizing infrastructure development, ensuring </a:t>
              </a:r>
            </a:p>
            <a:p>
              <a:pPr marL="0" lvl="0" indent="0" algn="l">
                <a:lnSpc>
                  <a:spcPts val="2940"/>
                </a:lnSpc>
              </a:pPr>
              <a:r>
                <a:rPr lang="en-US" sz="1600" dirty="0">
                  <a:solidFill>
                    <a:srgbClr val="6C757D"/>
                  </a:solidFill>
                  <a:latin typeface="TT Fors"/>
                  <a:ea typeface="TT Fors"/>
                  <a:cs typeface="TT Fors"/>
                  <a:sym typeface="TT Fors"/>
                </a:rPr>
                <a:t>that resources are allocated where they </a:t>
              </a:r>
            </a:p>
            <a:p>
              <a:pPr marL="0" lvl="0" indent="0" algn="l">
                <a:lnSpc>
                  <a:spcPts val="2940"/>
                </a:lnSpc>
              </a:pPr>
              <a:r>
                <a:rPr lang="en-US" sz="1600" dirty="0">
                  <a:solidFill>
                    <a:srgbClr val="6C757D"/>
                  </a:solidFill>
                  <a:latin typeface="TT Fors"/>
                  <a:ea typeface="TT Fors"/>
                  <a:cs typeface="TT Fors"/>
                  <a:sym typeface="TT Fors"/>
                </a:rPr>
                <a:t>are most needed to support community growth.</a:t>
              </a:r>
            </a:p>
          </p:txBody>
        </p:sp>
        <p:sp>
          <p:nvSpPr>
            <p:cNvPr id="24" name="TextBox 7">
              <a:extLst>
                <a:ext uri="{FF2B5EF4-FFF2-40B4-BE49-F238E27FC236}">
                  <a16:creationId xmlns:a16="http://schemas.microsoft.com/office/drawing/2014/main" id="{C2599819-2508-7917-1928-427A4464C58D}"/>
                </a:ext>
              </a:extLst>
            </p:cNvPr>
            <p:cNvSpPr txBox="1"/>
            <p:nvPr/>
          </p:nvSpPr>
          <p:spPr>
            <a:xfrm>
              <a:off x="0" y="-104775"/>
              <a:ext cx="5346700" cy="633062"/>
            </a:xfrm>
            <a:prstGeom prst="rect">
              <a:avLst/>
            </a:prstGeom>
          </p:spPr>
          <p:txBody>
            <a:bodyPr lIns="0" tIns="0" rIns="0" bIns="0" rtlCol="0" anchor="t">
              <a:spAutoFit/>
            </a:bodyPr>
            <a:lstStyle/>
            <a:p>
              <a:pPr marL="0" lvl="0" indent="0" algn="l">
                <a:lnSpc>
                  <a:spcPts val="3640"/>
                </a:lnSpc>
                <a:spcBef>
                  <a:spcPct val="0"/>
                </a:spcBef>
              </a:pPr>
              <a:r>
                <a:rPr lang="en-US" sz="2600" u="sng" strike="noStrike" spc="-78" dirty="0">
                  <a:solidFill>
                    <a:srgbClr val="6C757D"/>
                  </a:solidFill>
                  <a:latin typeface="ITC Avant Garde Gothic"/>
                  <a:ea typeface="ITC Avant Garde Gothic"/>
                  <a:cs typeface="ITC Avant Garde Gothic"/>
                  <a:sym typeface="ITC Avant Garde Gothic"/>
                </a:rPr>
                <a:t>Urban Planning</a:t>
              </a:r>
            </a:p>
          </p:txBody>
        </p:sp>
      </p:grpSp>
      <p:grpSp>
        <p:nvGrpSpPr>
          <p:cNvPr id="25" name="Group 8">
            <a:extLst>
              <a:ext uri="{FF2B5EF4-FFF2-40B4-BE49-F238E27FC236}">
                <a16:creationId xmlns:a16="http://schemas.microsoft.com/office/drawing/2014/main" id="{792DE930-1967-BB13-739F-0F2A16570A8A}"/>
              </a:ext>
            </a:extLst>
          </p:cNvPr>
          <p:cNvGrpSpPr/>
          <p:nvPr/>
        </p:nvGrpSpPr>
        <p:grpSpPr>
          <a:xfrm>
            <a:off x="8132749" y="2749610"/>
            <a:ext cx="3937395" cy="3057089"/>
            <a:chOff x="0" y="-104775"/>
            <a:chExt cx="5346700" cy="4457013"/>
          </a:xfrm>
        </p:grpSpPr>
        <p:sp>
          <p:nvSpPr>
            <p:cNvPr id="26" name="TextBox 9">
              <a:extLst>
                <a:ext uri="{FF2B5EF4-FFF2-40B4-BE49-F238E27FC236}">
                  <a16:creationId xmlns:a16="http://schemas.microsoft.com/office/drawing/2014/main" id="{7E88C867-1FA4-41E0-12E7-19A59EC94887}"/>
                </a:ext>
              </a:extLst>
            </p:cNvPr>
            <p:cNvSpPr txBox="1"/>
            <p:nvPr/>
          </p:nvSpPr>
          <p:spPr>
            <a:xfrm>
              <a:off x="0" y="1155700"/>
              <a:ext cx="5346700" cy="3196538"/>
            </a:xfrm>
            <a:prstGeom prst="rect">
              <a:avLst/>
            </a:prstGeom>
          </p:spPr>
          <p:txBody>
            <a:bodyPr lIns="0" tIns="0" rIns="0" bIns="0" rtlCol="0" anchor="t">
              <a:spAutoFit/>
            </a:bodyPr>
            <a:lstStyle/>
            <a:p>
              <a:pPr marL="0" lvl="0" indent="0" algn="l">
                <a:lnSpc>
                  <a:spcPts val="2940"/>
                </a:lnSpc>
              </a:pPr>
              <a:r>
                <a:rPr lang="en-US" sz="1600" dirty="0">
                  <a:solidFill>
                    <a:srgbClr val="6C757D"/>
                  </a:solidFill>
                  <a:latin typeface="TT Fors"/>
                  <a:ea typeface="TT Fors"/>
                  <a:cs typeface="TT Fors"/>
                  <a:sym typeface="TT Fors"/>
                </a:rPr>
                <a:t>Leveraging insights from business patterns enables targeted outreach strategies, allowing city officials to connect </a:t>
              </a:r>
              <a:r>
                <a:rPr lang="en-US" sz="1600" b="1" dirty="0">
                  <a:solidFill>
                    <a:srgbClr val="6C757D"/>
                  </a:solidFill>
                  <a:latin typeface="TT Fors Bold"/>
                  <a:ea typeface="TT Fors Bold"/>
                  <a:cs typeface="TT Fors Bold"/>
                  <a:sym typeface="TT Fors Bold"/>
                </a:rPr>
                <a:t>effectively</a:t>
              </a:r>
              <a:r>
                <a:rPr lang="en-US" sz="1600" dirty="0">
                  <a:solidFill>
                    <a:srgbClr val="6C757D"/>
                  </a:solidFill>
                  <a:latin typeface="TT Fors"/>
                  <a:ea typeface="TT Fors"/>
                  <a:cs typeface="TT Fors"/>
                  <a:sym typeface="TT Fors"/>
                </a:rPr>
                <a:t> with entrepreneurs, fostering a supportive environment for new and existing businesses in NYC.</a:t>
              </a:r>
            </a:p>
          </p:txBody>
        </p:sp>
        <p:sp>
          <p:nvSpPr>
            <p:cNvPr id="27" name="TextBox 10">
              <a:extLst>
                <a:ext uri="{FF2B5EF4-FFF2-40B4-BE49-F238E27FC236}">
                  <a16:creationId xmlns:a16="http://schemas.microsoft.com/office/drawing/2014/main" id="{147F4FEB-2623-5E5E-B1A1-029C69CDB32E}"/>
                </a:ext>
              </a:extLst>
            </p:cNvPr>
            <p:cNvSpPr txBox="1"/>
            <p:nvPr/>
          </p:nvSpPr>
          <p:spPr>
            <a:xfrm>
              <a:off x="0" y="-104775"/>
              <a:ext cx="5346700" cy="633063"/>
            </a:xfrm>
            <a:prstGeom prst="rect">
              <a:avLst/>
            </a:prstGeom>
          </p:spPr>
          <p:txBody>
            <a:bodyPr lIns="0" tIns="0" rIns="0" bIns="0" rtlCol="0" anchor="t">
              <a:spAutoFit/>
            </a:bodyPr>
            <a:lstStyle/>
            <a:p>
              <a:pPr marL="0" lvl="0" indent="0" algn="l">
                <a:lnSpc>
                  <a:spcPts val="3640"/>
                </a:lnSpc>
                <a:spcBef>
                  <a:spcPct val="0"/>
                </a:spcBef>
              </a:pPr>
              <a:r>
                <a:rPr lang="en-US" sz="2600" u="sng" strike="noStrike" spc="-78" dirty="0">
                  <a:solidFill>
                    <a:srgbClr val="6C757D"/>
                  </a:solidFill>
                  <a:latin typeface="ITC Avant Garde Gothic"/>
                  <a:ea typeface="ITC Avant Garde Gothic"/>
                  <a:cs typeface="ITC Avant Garde Gothic"/>
                  <a:sym typeface="ITC Avant Garde Gothic"/>
                </a:rPr>
                <a:t>Targeted Outreach</a:t>
              </a:r>
            </a:p>
          </p:txBody>
        </p:sp>
      </p:grpSp>
    </p:spTree>
    <p:extLst>
      <p:ext uri="{BB962C8B-B14F-4D97-AF65-F5344CB8AC3E}">
        <p14:creationId xmlns:p14="http://schemas.microsoft.com/office/powerpoint/2010/main" val="2956390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365760"/>
            <a:ext cx="10515600" cy="1325880"/>
          </a:xfrm>
        </p:spPr>
        <p:txBody>
          <a:bodyPr vert="horz" lIns="91440" tIns="45720" rIns="91440" bIns="45720" rtlCol="0" anchor="ctr" anchorCtr="0">
            <a:normAutofit/>
          </a:bodyPr>
          <a:lstStyle/>
          <a:p>
            <a:r>
              <a:rPr lang="en-US" kern="1200" cap="all" spc="300" baseline="0" dirty="0">
                <a:latin typeface="+mj-lt"/>
                <a:ea typeface="+mj-ea"/>
                <a:cs typeface="+mj-cs"/>
              </a:rPr>
              <a:t>Task 1-classification</a:t>
            </a:r>
          </a:p>
        </p:txBody>
      </p:sp>
      <p:sp>
        <p:nvSpPr>
          <p:cNvPr id="9" name="TextBox 8">
            <a:extLst>
              <a:ext uri="{FF2B5EF4-FFF2-40B4-BE49-F238E27FC236}">
                <a16:creationId xmlns:a16="http://schemas.microsoft.com/office/drawing/2014/main" id="{16DC7ADF-A18F-C899-D09F-8301C4BC9113}"/>
              </a:ext>
            </a:extLst>
          </p:cNvPr>
          <p:cNvSpPr txBox="1"/>
          <p:nvPr/>
        </p:nvSpPr>
        <p:spPr>
          <a:xfrm>
            <a:off x="6459795" y="2024780"/>
            <a:ext cx="4894006" cy="4137189"/>
          </a:xfrm>
          <a:prstGeom prst="rect">
            <a:avLst/>
          </a:prstGeom>
        </p:spPr>
        <p:txBody>
          <a:bodyPr vert="horz" lIns="91440" tIns="45720" rIns="91440" bIns="45720" rtlCol="0">
            <a:normAutofit lnSpcReduction="10000"/>
          </a:bodyPr>
          <a:lstStyle/>
          <a:p>
            <a:pPr>
              <a:lnSpc>
                <a:spcPct val="90000"/>
              </a:lnSpc>
              <a:spcBef>
                <a:spcPts val="1000"/>
              </a:spcBef>
              <a:buClr>
                <a:schemeClr val="accent2"/>
              </a:buClr>
              <a:buFont typeface="Wingdings" panose="05000000000000000000" pitchFamily="2" charset="2"/>
            </a:pPr>
            <a:r>
              <a:rPr lang="en-US" sz="1700" dirty="0"/>
              <a:t>🧩 Dataset Overview</a:t>
            </a:r>
          </a:p>
          <a:p>
            <a:pPr>
              <a:lnSpc>
                <a:spcPct val="90000"/>
              </a:lnSpc>
              <a:spcBef>
                <a:spcPts val="1000"/>
              </a:spcBef>
              <a:buClr>
                <a:schemeClr val="accent2"/>
              </a:buClr>
              <a:buFont typeface="Wingdings" panose="05000000000000000000" pitchFamily="2" charset="2"/>
            </a:pPr>
            <a:endParaRPr lang="en-US" sz="1700" dirty="0"/>
          </a:p>
          <a:p>
            <a:pPr marL="285750" indent="-285750">
              <a:lnSpc>
                <a:spcPct val="90000"/>
              </a:lnSpc>
              <a:spcBef>
                <a:spcPts val="1000"/>
              </a:spcBef>
              <a:buClr>
                <a:schemeClr val="accent2"/>
              </a:buClr>
              <a:buFont typeface="Arial" panose="020B0604020202020204" pitchFamily="34" charset="0"/>
              <a:buChar char="•"/>
            </a:pPr>
            <a:r>
              <a:rPr lang="en-US" sz="1700" dirty="0"/>
              <a:t>Data Source: NYC Open Data — DCWP Issued Licenses</a:t>
            </a:r>
          </a:p>
          <a:p>
            <a:pPr marL="285750" indent="-285750">
              <a:lnSpc>
                <a:spcPct val="90000"/>
              </a:lnSpc>
              <a:spcBef>
                <a:spcPts val="1000"/>
              </a:spcBef>
              <a:buClr>
                <a:schemeClr val="accent2"/>
              </a:buClr>
              <a:buFont typeface="Arial" panose="020B0604020202020204" pitchFamily="34" charset="0"/>
              <a:buChar char="•"/>
            </a:pPr>
            <a:r>
              <a:rPr lang="en-US" sz="1700" dirty="0"/>
              <a:t>Key Features Used:</a:t>
            </a:r>
          </a:p>
          <a:p>
            <a:pPr marL="285750" indent="-285750">
              <a:lnSpc>
                <a:spcPct val="90000"/>
              </a:lnSpc>
              <a:spcBef>
                <a:spcPts val="1000"/>
              </a:spcBef>
              <a:buClr>
                <a:schemeClr val="accent2"/>
              </a:buClr>
              <a:buFont typeface="Arial" panose="020B0604020202020204" pitchFamily="34" charset="0"/>
              <a:buChar char="•"/>
            </a:pPr>
            <a:r>
              <a:rPr lang="en-US" sz="1700" dirty="0"/>
              <a:t>Business Category → industry sector of the licensee</a:t>
            </a:r>
          </a:p>
          <a:p>
            <a:pPr marL="285750" indent="-285750">
              <a:lnSpc>
                <a:spcPct val="90000"/>
              </a:lnSpc>
              <a:spcBef>
                <a:spcPts val="1000"/>
              </a:spcBef>
              <a:buClr>
                <a:schemeClr val="accent2"/>
              </a:buClr>
              <a:buFont typeface="Arial" panose="020B0604020202020204" pitchFamily="34" charset="0"/>
              <a:buChar char="•"/>
            </a:pPr>
            <a:r>
              <a:rPr lang="en-US" sz="1700" dirty="0"/>
              <a:t>Borough → geographic region</a:t>
            </a:r>
          </a:p>
          <a:p>
            <a:pPr marL="285750" indent="-285750">
              <a:lnSpc>
                <a:spcPct val="90000"/>
              </a:lnSpc>
              <a:spcBef>
                <a:spcPts val="1000"/>
              </a:spcBef>
              <a:buClr>
                <a:schemeClr val="accent2"/>
              </a:buClr>
              <a:buFont typeface="Arial" panose="020B0604020202020204" pitchFamily="34" charset="0"/>
              <a:buChar char="•"/>
            </a:pPr>
            <a:r>
              <a:rPr lang="en-US" sz="1700" dirty="0" err="1"/>
              <a:t>License_Duration</a:t>
            </a:r>
            <a:r>
              <a:rPr lang="en-US" sz="1700" dirty="0"/>
              <a:t> → calculated from Initial Issuance Date to Expiration Date (in days)</a:t>
            </a:r>
          </a:p>
          <a:p>
            <a:pPr marL="285750" indent="-285750">
              <a:lnSpc>
                <a:spcPct val="90000"/>
              </a:lnSpc>
              <a:spcBef>
                <a:spcPts val="1000"/>
              </a:spcBef>
              <a:buClr>
                <a:schemeClr val="accent2"/>
              </a:buClr>
              <a:buFont typeface="Arial" panose="020B0604020202020204" pitchFamily="34" charset="0"/>
              <a:buChar char="•"/>
            </a:pPr>
            <a:r>
              <a:rPr lang="en-US" sz="1700" dirty="0"/>
              <a:t>Target Variable: Lapsed (1 = license not renewed)</a:t>
            </a:r>
          </a:p>
          <a:p>
            <a:pPr marL="285750" indent="-285750">
              <a:lnSpc>
                <a:spcPct val="90000"/>
              </a:lnSpc>
              <a:spcBef>
                <a:spcPts val="1000"/>
              </a:spcBef>
              <a:buClr>
                <a:schemeClr val="accent2"/>
              </a:buClr>
              <a:buFont typeface="Arial" panose="020B0604020202020204" pitchFamily="34" charset="0"/>
              <a:buChar char="•"/>
            </a:pPr>
            <a:r>
              <a:rPr lang="en-US" sz="1700" dirty="0"/>
              <a:t>Size: 56,000+ records after cleaning and transformation.</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11" name="Content Placeholder 3">
            <a:extLst>
              <a:ext uri="{FF2B5EF4-FFF2-40B4-BE49-F238E27FC236}">
                <a16:creationId xmlns:a16="http://schemas.microsoft.com/office/drawing/2014/main" id="{0FA08359-6198-FDA1-76C8-CDE611CDE7A2}"/>
              </a:ext>
            </a:extLst>
          </p:cNvPr>
          <p:cNvGraphicFramePr>
            <a:graphicFrameLocks noGrp="1"/>
          </p:cNvGraphicFramePr>
          <p:nvPr>
            <p:ph sz="quarter" idx="13"/>
            <p:extLst>
              <p:ext uri="{D42A27DB-BD31-4B8C-83A1-F6EECF244321}">
                <p14:modId xmlns:p14="http://schemas.microsoft.com/office/powerpoint/2010/main" val="4012386804"/>
              </p:ext>
            </p:extLst>
          </p:nvPr>
        </p:nvGraphicFramePr>
        <p:xfrm>
          <a:off x="838199" y="2024781"/>
          <a:ext cx="5212079" cy="41371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9609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B21034-561B-4669-72F0-E6AB763A5E78}"/>
              </a:ext>
            </a:extLst>
          </p:cNvPr>
          <p:cNvSpPr txBox="1"/>
          <p:nvPr/>
        </p:nvSpPr>
        <p:spPr>
          <a:xfrm>
            <a:off x="5242425" y="466344"/>
            <a:ext cx="6241651" cy="1710354"/>
          </a:xfrm>
          <a:prstGeom prst="rect">
            <a:avLst/>
          </a:prstGeom>
        </p:spPr>
        <p:txBody>
          <a:bodyPr vert="horz" lIns="91440" tIns="45720" rIns="91440" bIns="0" rtlCol="0" anchor="ctr" anchorCtr="0">
            <a:normAutofit/>
          </a:bodyPr>
          <a:lstStyle/>
          <a:p>
            <a:pPr>
              <a:lnSpc>
                <a:spcPct val="90000"/>
              </a:lnSpc>
              <a:spcBef>
                <a:spcPct val="0"/>
              </a:spcBef>
              <a:spcAft>
                <a:spcPts val="600"/>
              </a:spcAft>
            </a:pPr>
            <a:r>
              <a:rPr lang="en-US" sz="2700" b="1" kern="1200" cap="all" spc="300" baseline="0" dirty="0">
                <a:latin typeface="+mj-lt"/>
                <a:ea typeface="+mj-ea"/>
                <a:cs typeface="+mj-cs"/>
              </a:rPr>
              <a:t>Models Trained</a:t>
            </a:r>
          </a:p>
          <a:p>
            <a:pPr>
              <a:lnSpc>
                <a:spcPct val="90000"/>
              </a:lnSpc>
              <a:spcBef>
                <a:spcPct val="0"/>
              </a:spcBef>
              <a:spcAft>
                <a:spcPts val="600"/>
              </a:spcAft>
            </a:pPr>
            <a:endParaRPr lang="en-US" sz="2700" kern="1200" cap="all" spc="300" baseline="0" dirty="0">
              <a:latin typeface="+mj-lt"/>
              <a:ea typeface="+mj-ea"/>
              <a:cs typeface="+mj-cs"/>
            </a:endParaRPr>
          </a:p>
          <a:p>
            <a:pPr>
              <a:lnSpc>
                <a:spcPct val="90000"/>
              </a:lnSpc>
              <a:spcBef>
                <a:spcPct val="0"/>
              </a:spcBef>
              <a:spcAft>
                <a:spcPts val="600"/>
              </a:spcAft>
            </a:pPr>
            <a:r>
              <a:rPr lang="en-US" sz="2700" kern="1200" cap="all" spc="300" baseline="0" dirty="0">
                <a:latin typeface="+mj-lt"/>
                <a:ea typeface="+mj-ea"/>
                <a:cs typeface="+mj-cs"/>
              </a:rPr>
              <a:t>Two tree-based models were implemented and compared:</a:t>
            </a:r>
          </a:p>
        </p:txBody>
      </p:sp>
      <p:pic>
        <p:nvPicPr>
          <p:cNvPr id="7" name="Picture 6">
            <a:extLst>
              <a:ext uri="{FF2B5EF4-FFF2-40B4-BE49-F238E27FC236}">
                <a16:creationId xmlns:a16="http://schemas.microsoft.com/office/drawing/2014/main" id="{2D5D3C1C-15B0-647A-1409-5BF32F4563DE}"/>
              </a:ext>
            </a:extLst>
          </p:cNvPr>
          <p:cNvPicPr>
            <a:picLocks noChangeAspect="1"/>
          </p:cNvPicPr>
          <p:nvPr/>
        </p:nvPicPr>
        <p:blipFill>
          <a:blip r:embed="rId2"/>
          <a:stretch>
            <a:fillRect/>
          </a:stretch>
        </p:blipFill>
        <p:spPr>
          <a:xfrm>
            <a:off x="95092" y="0"/>
            <a:ext cx="4097654" cy="6858000"/>
          </a:xfrm>
          <a:prstGeom prst="rect">
            <a:avLst/>
          </a:prstGeom>
          <a:noFill/>
        </p:spPr>
      </p:pic>
      <p:graphicFrame>
        <p:nvGraphicFramePr>
          <p:cNvPr id="6" name="Table 5">
            <a:extLst>
              <a:ext uri="{FF2B5EF4-FFF2-40B4-BE49-F238E27FC236}">
                <a16:creationId xmlns:a16="http://schemas.microsoft.com/office/drawing/2014/main" id="{C1EEED7F-657A-146D-B6CB-921C57F5C7F2}"/>
              </a:ext>
            </a:extLst>
          </p:cNvPr>
          <p:cNvGraphicFramePr>
            <a:graphicFrameLocks noGrp="1"/>
          </p:cNvGraphicFramePr>
          <p:nvPr>
            <p:extLst>
              <p:ext uri="{D42A27DB-BD31-4B8C-83A1-F6EECF244321}">
                <p14:modId xmlns:p14="http://schemas.microsoft.com/office/powerpoint/2010/main" val="3928902155"/>
              </p:ext>
            </p:extLst>
          </p:nvPr>
        </p:nvGraphicFramePr>
        <p:xfrm>
          <a:off x="5242426" y="2328336"/>
          <a:ext cx="6241651" cy="3390050"/>
        </p:xfrm>
        <a:graphic>
          <a:graphicData uri="http://schemas.openxmlformats.org/drawingml/2006/table">
            <a:tbl>
              <a:tblPr firstRow="1" bandRow="1">
                <a:tableStyleId>{7E9639D4-E3E2-4D34-9284-5A2195B3D0D7}</a:tableStyleId>
              </a:tblPr>
              <a:tblGrid>
                <a:gridCol w="2743550">
                  <a:extLst>
                    <a:ext uri="{9D8B030D-6E8A-4147-A177-3AD203B41FA5}">
                      <a16:colId xmlns:a16="http://schemas.microsoft.com/office/drawing/2014/main" val="2101811378"/>
                    </a:ext>
                  </a:extLst>
                </a:gridCol>
                <a:gridCol w="3498101">
                  <a:extLst>
                    <a:ext uri="{9D8B030D-6E8A-4147-A177-3AD203B41FA5}">
                      <a16:colId xmlns:a16="http://schemas.microsoft.com/office/drawing/2014/main" val="782725877"/>
                    </a:ext>
                  </a:extLst>
                </a:gridCol>
              </a:tblGrid>
              <a:tr h="478084">
                <a:tc>
                  <a:txBody>
                    <a:bodyPr/>
                    <a:lstStyle/>
                    <a:p>
                      <a:r>
                        <a:rPr lang="en-US" sz="2100" dirty="0"/>
                        <a:t>Model</a:t>
                      </a:r>
                    </a:p>
                  </a:txBody>
                  <a:tcPr marL="108655" marR="108655" marT="54328" marB="54328"/>
                </a:tc>
                <a:tc>
                  <a:txBody>
                    <a:bodyPr/>
                    <a:lstStyle/>
                    <a:p>
                      <a:r>
                        <a:rPr lang="en-US" sz="2100"/>
                        <a:t>Key Characteristics</a:t>
                      </a:r>
                    </a:p>
                  </a:txBody>
                  <a:tcPr marL="108655" marR="108655" marT="54328" marB="54328"/>
                </a:tc>
                <a:extLst>
                  <a:ext uri="{0D108BD9-81ED-4DB2-BD59-A6C34878D82A}">
                    <a16:rowId xmlns:a16="http://schemas.microsoft.com/office/drawing/2014/main" val="2846404977"/>
                  </a:ext>
                </a:extLst>
              </a:tr>
              <a:tr h="1455983">
                <a:tc>
                  <a:txBody>
                    <a:bodyPr/>
                    <a:lstStyle/>
                    <a:p>
                      <a:r>
                        <a:rPr lang="en-US" sz="2100" b="1" i="0" u="none" strike="noStrike" kern="1200">
                          <a:solidFill>
                            <a:schemeClr val="tx1"/>
                          </a:solidFill>
                          <a:effectLst/>
                          <a:latin typeface="+mn-lt"/>
                          <a:ea typeface="+mn-ea"/>
                          <a:cs typeface="+mn-cs"/>
                        </a:rPr>
                        <a:t>Gradient Boosting Classifier</a:t>
                      </a:r>
                      <a:endParaRPr lang="en-US" sz="2100"/>
                    </a:p>
                  </a:txBody>
                  <a:tcPr marL="108655" marR="108655" marT="54328" marB="54328"/>
                </a:tc>
                <a:tc>
                  <a:txBody>
                    <a:bodyPr/>
                    <a:lstStyle/>
                    <a:p>
                      <a:r>
                        <a:rPr lang="en-US" sz="2100" b="0" i="0" u="none" strike="noStrike" kern="1200">
                          <a:solidFill>
                            <a:schemeClr val="tx1"/>
                          </a:solidFill>
                          <a:effectLst/>
                          <a:latin typeface="+mn-lt"/>
                          <a:ea typeface="+mn-ea"/>
                          <a:cs typeface="+mn-cs"/>
                        </a:rPr>
                        <a:t>Sequentially builds weak trees, focusing on difficult samples; well-calibrated and strong generalization.</a:t>
                      </a:r>
                      <a:endParaRPr lang="en-US" sz="2100"/>
                    </a:p>
                  </a:txBody>
                  <a:tcPr marL="108655" marR="108655" marT="54328" marB="54328"/>
                </a:tc>
                <a:extLst>
                  <a:ext uri="{0D108BD9-81ED-4DB2-BD59-A6C34878D82A}">
                    <a16:rowId xmlns:a16="http://schemas.microsoft.com/office/drawing/2014/main" val="2083849248"/>
                  </a:ext>
                </a:extLst>
              </a:tr>
              <a:tr h="1455983">
                <a:tc>
                  <a:txBody>
                    <a:bodyPr/>
                    <a:lstStyle/>
                    <a:p>
                      <a:r>
                        <a:rPr lang="en-US" sz="2100" b="1" i="0" u="none" strike="noStrike" kern="1200">
                          <a:solidFill>
                            <a:schemeClr val="tx1"/>
                          </a:solidFill>
                          <a:effectLst/>
                          <a:latin typeface="+mn-lt"/>
                          <a:ea typeface="+mn-ea"/>
                          <a:cs typeface="+mn-cs"/>
                        </a:rPr>
                        <a:t>Random Forest Classifier</a:t>
                      </a:r>
                      <a:endParaRPr lang="en-US" sz="2100"/>
                    </a:p>
                  </a:txBody>
                  <a:tcPr marL="108655" marR="108655" marT="54328" marB="54328"/>
                </a:tc>
                <a:tc>
                  <a:txBody>
                    <a:bodyPr/>
                    <a:lstStyle/>
                    <a:p>
                      <a:r>
                        <a:rPr lang="en-US" sz="2100" b="0" i="0" u="none" strike="noStrike" kern="1200" dirty="0">
                          <a:solidFill>
                            <a:schemeClr val="tx1"/>
                          </a:solidFill>
                          <a:effectLst/>
                          <a:latin typeface="+mn-lt"/>
                          <a:ea typeface="+mn-ea"/>
                          <a:cs typeface="+mn-cs"/>
                        </a:rPr>
                        <a:t>Ensemble of independent trees (bagging); robust, slightly higher recall, minor overfitting risk.</a:t>
                      </a:r>
                      <a:endParaRPr lang="en-US" sz="2100" dirty="0"/>
                    </a:p>
                  </a:txBody>
                  <a:tcPr marL="108655" marR="108655" marT="54328" marB="54328"/>
                </a:tc>
                <a:extLst>
                  <a:ext uri="{0D108BD9-81ED-4DB2-BD59-A6C34878D82A}">
                    <a16:rowId xmlns:a16="http://schemas.microsoft.com/office/drawing/2014/main" val="309487272"/>
                  </a:ext>
                </a:extLst>
              </a:tr>
            </a:tbl>
          </a:graphicData>
        </a:graphic>
      </p:graphicFrame>
    </p:spTree>
    <p:extLst>
      <p:ext uri="{BB962C8B-B14F-4D97-AF65-F5344CB8AC3E}">
        <p14:creationId xmlns:p14="http://schemas.microsoft.com/office/powerpoint/2010/main" val="1318944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omparison of a comparison of a number and a true label&#10;&#10;AI-generated content may be incorrect.">
            <a:extLst>
              <a:ext uri="{FF2B5EF4-FFF2-40B4-BE49-F238E27FC236}">
                <a16:creationId xmlns:a16="http://schemas.microsoft.com/office/drawing/2014/main" id="{979885AB-5FFF-2CDC-F110-2B5F65765C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141" y="1478797"/>
            <a:ext cx="8616576" cy="3712328"/>
          </a:xfrm>
          <a:prstGeom prst="rect">
            <a:avLst/>
          </a:prstGeom>
        </p:spPr>
      </p:pic>
      <p:sp>
        <p:nvSpPr>
          <p:cNvPr id="7" name="TextBox 6">
            <a:extLst>
              <a:ext uri="{FF2B5EF4-FFF2-40B4-BE49-F238E27FC236}">
                <a16:creationId xmlns:a16="http://schemas.microsoft.com/office/drawing/2014/main" id="{8432FE0F-51BA-BE26-2E03-E539866CA03E}"/>
              </a:ext>
            </a:extLst>
          </p:cNvPr>
          <p:cNvSpPr txBox="1"/>
          <p:nvPr/>
        </p:nvSpPr>
        <p:spPr>
          <a:xfrm>
            <a:off x="4726298" y="586304"/>
            <a:ext cx="2801921" cy="492443"/>
          </a:xfrm>
          <a:prstGeom prst="rect">
            <a:avLst/>
          </a:prstGeom>
          <a:noFill/>
        </p:spPr>
        <p:txBody>
          <a:bodyPr wrap="none" rtlCol="0">
            <a:spAutoFit/>
          </a:bodyPr>
          <a:lstStyle/>
          <a:p>
            <a:r>
              <a:rPr lang="en-US" sz="2600" b="1" u="sng" dirty="0"/>
              <a:t>TRAINING RESULTS</a:t>
            </a:r>
          </a:p>
        </p:txBody>
      </p:sp>
    </p:spTree>
    <p:extLst>
      <p:ext uri="{BB962C8B-B14F-4D97-AF65-F5344CB8AC3E}">
        <p14:creationId xmlns:p14="http://schemas.microsoft.com/office/powerpoint/2010/main" val="3000169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7876FD-9514-8B20-4453-6866799FCF57}"/>
              </a:ext>
            </a:extLst>
          </p:cNvPr>
          <p:cNvPicPr>
            <a:picLocks noChangeAspect="1"/>
          </p:cNvPicPr>
          <p:nvPr/>
        </p:nvPicPr>
        <p:blipFill>
          <a:blip r:embed="rId2"/>
          <a:stretch>
            <a:fillRect/>
          </a:stretch>
        </p:blipFill>
        <p:spPr>
          <a:xfrm>
            <a:off x="1126628" y="931306"/>
            <a:ext cx="6981786" cy="2065223"/>
          </a:xfrm>
          <a:prstGeom prst="rect">
            <a:avLst/>
          </a:prstGeom>
        </p:spPr>
      </p:pic>
      <p:sp>
        <p:nvSpPr>
          <p:cNvPr id="8" name="TextBox 7">
            <a:extLst>
              <a:ext uri="{FF2B5EF4-FFF2-40B4-BE49-F238E27FC236}">
                <a16:creationId xmlns:a16="http://schemas.microsoft.com/office/drawing/2014/main" id="{04A9FAE8-E49D-668B-7ED2-C9877DCA6FA2}"/>
              </a:ext>
            </a:extLst>
          </p:cNvPr>
          <p:cNvSpPr txBox="1"/>
          <p:nvPr/>
        </p:nvSpPr>
        <p:spPr>
          <a:xfrm>
            <a:off x="1047750" y="561975"/>
            <a:ext cx="6098272" cy="369332"/>
          </a:xfrm>
          <a:prstGeom prst="rect">
            <a:avLst/>
          </a:prstGeom>
          <a:noFill/>
        </p:spPr>
        <p:txBody>
          <a:bodyPr wrap="none" rtlCol="0">
            <a:spAutoFit/>
          </a:bodyPr>
          <a:lstStyle/>
          <a:p>
            <a:r>
              <a:rPr lang="en-US" dirty="0"/>
              <a:t>Taking 10 random samples from the dataset to test the model:-</a:t>
            </a:r>
          </a:p>
        </p:txBody>
      </p:sp>
      <p:pic>
        <p:nvPicPr>
          <p:cNvPr id="9" name="Picture 8" descr="A graph of different colored bars&#10;&#10;AI-generated content may be incorrect.">
            <a:extLst>
              <a:ext uri="{FF2B5EF4-FFF2-40B4-BE49-F238E27FC236}">
                <a16:creationId xmlns:a16="http://schemas.microsoft.com/office/drawing/2014/main" id="{BFF010BF-8B0D-9245-2E13-466546FADF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6665" y="3060478"/>
            <a:ext cx="6544631" cy="3235547"/>
          </a:xfrm>
          <a:prstGeom prst="rect">
            <a:avLst/>
          </a:prstGeom>
        </p:spPr>
      </p:pic>
      <p:pic>
        <p:nvPicPr>
          <p:cNvPr id="10" name="Picture 9">
            <a:extLst>
              <a:ext uri="{FF2B5EF4-FFF2-40B4-BE49-F238E27FC236}">
                <a16:creationId xmlns:a16="http://schemas.microsoft.com/office/drawing/2014/main" id="{011176D2-228C-907F-47D2-247FA2102C27}"/>
              </a:ext>
            </a:extLst>
          </p:cNvPr>
          <p:cNvPicPr>
            <a:picLocks noChangeAspect="1"/>
          </p:cNvPicPr>
          <p:nvPr/>
        </p:nvPicPr>
        <p:blipFill>
          <a:blip r:embed="rId4"/>
          <a:stretch>
            <a:fillRect/>
          </a:stretch>
        </p:blipFill>
        <p:spPr>
          <a:xfrm>
            <a:off x="8680450" y="931306"/>
            <a:ext cx="2463800" cy="2324100"/>
          </a:xfrm>
          <a:prstGeom prst="rect">
            <a:avLst/>
          </a:prstGeom>
        </p:spPr>
      </p:pic>
      <p:pic>
        <p:nvPicPr>
          <p:cNvPr id="11" name="Picture 10">
            <a:extLst>
              <a:ext uri="{FF2B5EF4-FFF2-40B4-BE49-F238E27FC236}">
                <a16:creationId xmlns:a16="http://schemas.microsoft.com/office/drawing/2014/main" id="{E084E12B-E066-6BDF-5B13-451F7A7806A8}"/>
              </a:ext>
            </a:extLst>
          </p:cNvPr>
          <p:cNvPicPr>
            <a:picLocks noChangeAspect="1"/>
          </p:cNvPicPr>
          <p:nvPr/>
        </p:nvPicPr>
        <p:blipFill>
          <a:blip r:embed="rId5"/>
          <a:stretch>
            <a:fillRect/>
          </a:stretch>
        </p:blipFill>
        <p:spPr>
          <a:xfrm>
            <a:off x="8554751" y="3516201"/>
            <a:ext cx="2463800" cy="2324100"/>
          </a:xfrm>
          <a:prstGeom prst="rect">
            <a:avLst/>
          </a:prstGeom>
        </p:spPr>
      </p:pic>
    </p:spTree>
    <p:extLst>
      <p:ext uri="{BB962C8B-B14F-4D97-AF65-F5344CB8AC3E}">
        <p14:creationId xmlns:p14="http://schemas.microsoft.com/office/powerpoint/2010/main" val="3515783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87AE6-73F5-52C7-678E-FA0D5CB42D75}"/>
              </a:ext>
            </a:extLst>
          </p:cNvPr>
          <p:cNvSpPr>
            <a:spLocks noGrp="1"/>
          </p:cNvSpPr>
          <p:nvPr>
            <p:ph type="title"/>
          </p:nvPr>
        </p:nvSpPr>
        <p:spPr>
          <a:xfrm>
            <a:off x="2657376" y="292559"/>
            <a:ext cx="6877248" cy="1355288"/>
          </a:xfrm>
        </p:spPr>
        <p:txBody>
          <a:bodyPr/>
          <a:lstStyle/>
          <a:p>
            <a:r>
              <a:rPr lang="en-US" dirty="0"/>
              <a:t>Final Insights-classification</a:t>
            </a:r>
            <a:endParaRPr lang="en-IN" dirty="0"/>
          </a:p>
        </p:txBody>
      </p:sp>
      <p:sp>
        <p:nvSpPr>
          <p:cNvPr id="4" name="Content Placeholder 3">
            <a:extLst>
              <a:ext uri="{FF2B5EF4-FFF2-40B4-BE49-F238E27FC236}">
                <a16:creationId xmlns:a16="http://schemas.microsoft.com/office/drawing/2014/main" id="{58D4025D-D79B-B15B-DF00-80BEC4C25263}"/>
              </a:ext>
            </a:extLst>
          </p:cNvPr>
          <p:cNvSpPr>
            <a:spLocks noGrp="1"/>
          </p:cNvSpPr>
          <p:nvPr>
            <p:ph idx="1"/>
          </p:nvPr>
        </p:nvSpPr>
        <p:spPr>
          <a:xfrm>
            <a:off x="5242426" y="1534332"/>
            <a:ext cx="6241650" cy="4226388"/>
          </a:xfrm>
        </p:spPr>
        <p:txBody>
          <a:bodyPr>
            <a:normAutofit/>
          </a:bodyPr>
          <a:lstStyle/>
          <a:p>
            <a:r>
              <a:rPr lang="en-US" sz="1600" b="1" dirty="0"/>
              <a:t>Conclusion:</a:t>
            </a:r>
            <a:r>
              <a:rPr lang="en-US" sz="1600" dirty="0"/>
              <a:t> Both models generalize well and are suitable for deployment.</a:t>
            </a:r>
          </a:p>
          <a:p>
            <a:r>
              <a:rPr lang="en-US" sz="1600" dirty="0"/>
              <a:t>Gradient Boosting is ideal for </a:t>
            </a:r>
            <a:r>
              <a:rPr lang="en-US" sz="1600" b="1" dirty="0"/>
              <a:t>policy or compliance insight</a:t>
            </a:r>
            <a:r>
              <a:rPr lang="en-US" sz="1600" dirty="0"/>
              <a:t>, while Random Forest suits </a:t>
            </a:r>
            <a:r>
              <a:rPr lang="en-US" sz="1600" b="1" dirty="0"/>
              <a:t>renewal prediction and outreach</a:t>
            </a:r>
            <a:r>
              <a:rPr lang="en-US" sz="1600" dirty="0"/>
              <a:t>.</a:t>
            </a:r>
          </a:p>
          <a:p>
            <a:pPr marL="0" indent="0">
              <a:buNone/>
            </a:pPr>
            <a:r>
              <a:rPr lang="en-US" sz="1600" b="1" dirty="0"/>
              <a:t>Interpretation &amp; Impact</a:t>
            </a:r>
            <a:endParaRPr lang="en-US" sz="1600" dirty="0"/>
          </a:p>
          <a:p>
            <a:pPr marL="0" indent="0">
              <a:buNone/>
            </a:pPr>
            <a:r>
              <a:rPr lang="en-US" sz="1600" b="1" dirty="0"/>
              <a:t>License Duration</a:t>
            </a:r>
            <a:r>
              <a:rPr lang="en-US" sz="1600" dirty="0"/>
              <a:t> is a key predictive factor; shorter durations correlate with higher lapse risk.</a:t>
            </a:r>
          </a:p>
          <a:p>
            <a:pPr marL="0" indent="0">
              <a:buNone/>
            </a:pPr>
            <a:r>
              <a:rPr lang="en-US" sz="1600" b="1" dirty="0"/>
              <a:t>Business Category</a:t>
            </a:r>
            <a:r>
              <a:rPr lang="en-US" sz="1600" dirty="0"/>
              <a:t> and </a:t>
            </a:r>
            <a:r>
              <a:rPr lang="en-US" sz="1600" b="1" dirty="0"/>
              <a:t>Borough </a:t>
            </a:r>
            <a:r>
              <a:rPr lang="en-US" sz="1600" dirty="0"/>
              <a:t>influence renewal patterns, hinting at geographic-sector renewal behavior.</a:t>
            </a:r>
          </a:p>
          <a:p>
            <a:pPr marL="0" indent="0">
              <a:buNone/>
            </a:pPr>
            <a:r>
              <a:rPr lang="en-US" sz="1600" dirty="0"/>
              <a:t>Models provide a reliable basis for </a:t>
            </a:r>
            <a:r>
              <a:rPr lang="en-US" sz="1600" b="1" dirty="0"/>
              <a:t>renewal outreach prioritization</a:t>
            </a:r>
            <a:r>
              <a:rPr lang="en-US" sz="1600" dirty="0"/>
              <a:t>, allowing DCWP to focus on at-risk licenses.</a:t>
            </a:r>
          </a:p>
          <a:p>
            <a:endParaRPr lang="en-IN" sz="1600" dirty="0"/>
          </a:p>
        </p:txBody>
      </p:sp>
      <p:pic>
        <p:nvPicPr>
          <p:cNvPr id="6" name="Picture 5">
            <a:extLst>
              <a:ext uri="{FF2B5EF4-FFF2-40B4-BE49-F238E27FC236}">
                <a16:creationId xmlns:a16="http://schemas.microsoft.com/office/drawing/2014/main" id="{B9CC5FF8-091E-C464-9A8B-1A92AA0E051D}"/>
              </a:ext>
            </a:extLst>
          </p:cNvPr>
          <p:cNvPicPr>
            <a:picLocks noChangeAspect="1"/>
          </p:cNvPicPr>
          <p:nvPr/>
        </p:nvPicPr>
        <p:blipFill>
          <a:blip r:embed="rId2"/>
          <a:stretch>
            <a:fillRect/>
          </a:stretch>
        </p:blipFill>
        <p:spPr>
          <a:xfrm>
            <a:off x="113466" y="2286000"/>
            <a:ext cx="4722006" cy="1563977"/>
          </a:xfrm>
          <a:prstGeom prst="rect">
            <a:avLst/>
          </a:prstGeom>
        </p:spPr>
      </p:pic>
    </p:spTree>
    <p:extLst>
      <p:ext uri="{BB962C8B-B14F-4D97-AF65-F5344CB8AC3E}">
        <p14:creationId xmlns:p14="http://schemas.microsoft.com/office/powerpoint/2010/main" val="1348265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E9A70-AA28-3B22-6EBC-30D5FD2EB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0DCAC-D5A7-2231-8D6B-70650F80AB07}"/>
              </a:ext>
            </a:extLst>
          </p:cNvPr>
          <p:cNvSpPr>
            <a:spLocks noGrp="1"/>
          </p:cNvSpPr>
          <p:nvPr>
            <p:ph type="title"/>
          </p:nvPr>
        </p:nvSpPr>
        <p:spPr>
          <a:xfrm>
            <a:off x="838200" y="365125"/>
            <a:ext cx="10515600" cy="1325563"/>
          </a:xfrm>
        </p:spPr>
        <p:txBody>
          <a:bodyPr vert="horz" lIns="91440" tIns="45720" rIns="91440" bIns="45720" rtlCol="0" anchor="ctr" anchorCtr="0">
            <a:normAutofit/>
          </a:bodyPr>
          <a:lstStyle/>
          <a:p>
            <a:r>
              <a:rPr lang="en-US" b="1" u="sng" kern="1200" cap="all" spc="300" baseline="0" dirty="0"/>
              <a:t>Task </a:t>
            </a:r>
            <a:r>
              <a:rPr lang="en-US" b="1" u="sng" dirty="0"/>
              <a:t>2</a:t>
            </a:r>
            <a:r>
              <a:rPr lang="en-US" b="1" u="sng" kern="1200" cap="all" spc="300" baseline="0" dirty="0"/>
              <a:t>-REGRESSIOn</a:t>
            </a:r>
          </a:p>
        </p:txBody>
      </p:sp>
      <p:sp>
        <p:nvSpPr>
          <p:cNvPr id="5" name="Rectangle 4">
            <a:extLst>
              <a:ext uri="{FF2B5EF4-FFF2-40B4-BE49-F238E27FC236}">
                <a16:creationId xmlns:a16="http://schemas.microsoft.com/office/drawing/2014/main" id="{E821E5DA-B78C-511B-B9D7-FC66AC54C859}"/>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aphicFrame>
        <p:nvGraphicFramePr>
          <p:cNvPr id="7" name="Content Placeholder 3">
            <a:extLst>
              <a:ext uri="{FF2B5EF4-FFF2-40B4-BE49-F238E27FC236}">
                <a16:creationId xmlns:a16="http://schemas.microsoft.com/office/drawing/2014/main" id="{C051554C-BD6E-298B-A3D8-17054A1A13A0}"/>
              </a:ext>
            </a:extLst>
          </p:cNvPr>
          <p:cNvGraphicFramePr>
            <a:graphicFrameLocks noGrp="1"/>
          </p:cNvGraphicFramePr>
          <p:nvPr>
            <p:ph type="tbl" sz="quarter" idx="13"/>
            <p:extLst>
              <p:ext uri="{D42A27DB-BD31-4B8C-83A1-F6EECF244321}">
                <p14:modId xmlns:p14="http://schemas.microsoft.com/office/powerpoint/2010/main" val="1286377806"/>
              </p:ext>
            </p:extLst>
          </p:nvPr>
        </p:nvGraphicFramePr>
        <p:xfrm>
          <a:off x="613186" y="2107800"/>
          <a:ext cx="10965628" cy="3920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6763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B98F5-AF54-480A-F9E9-CC73AC70DE1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6041C0-97AC-0270-8DE6-9C84B50B96D9}"/>
              </a:ext>
            </a:extLst>
          </p:cNvPr>
          <p:cNvSpPr txBox="1"/>
          <p:nvPr/>
        </p:nvSpPr>
        <p:spPr>
          <a:xfrm>
            <a:off x="5242425" y="466344"/>
            <a:ext cx="6241651" cy="1710354"/>
          </a:xfrm>
          <a:prstGeom prst="rect">
            <a:avLst/>
          </a:prstGeom>
        </p:spPr>
        <p:txBody>
          <a:bodyPr vert="horz" lIns="91440" tIns="45720" rIns="91440" bIns="0" rtlCol="0" anchor="ctr" anchorCtr="0">
            <a:normAutofit/>
          </a:bodyPr>
          <a:lstStyle/>
          <a:p>
            <a:pPr>
              <a:lnSpc>
                <a:spcPct val="90000"/>
              </a:lnSpc>
              <a:spcBef>
                <a:spcPct val="0"/>
              </a:spcBef>
              <a:spcAft>
                <a:spcPts val="600"/>
              </a:spcAft>
            </a:pPr>
            <a:r>
              <a:rPr lang="en-US" sz="2700" b="1" kern="1200" cap="all" spc="300" baseline="0" dirty="0">
                <a:latin typeface="+mj-lt"/>
                <a:ea typeface="+mj-ea"/>
                <a:cs typeface="+mj-cs"/>
              </a:rPr>
              <a:t>Models Trained</a:t>
            </a:r>
          </a:p>
          <a:p>
            <a:pPr>
              <a:lnSpc>
                <a:spcPct val="90000"/>
              </a:lnSpc>
              <a:spcBef>
                <a:spcPct val="0"/>
              </a:spcBef>
              <a:spcAft>
                <a:spcPts val="600"/>
              </a:spcAft>
            </a:pPr>
            <a:endParaRPr lang="en-US" sz="2700" kern="1200" cap="all" spc="300" baseline="0" dirty="0">
              <a:latin typeface="+mj-lt"/>
              <a:ea typeface="+mj-ea"/>
              <a:cs typeface="+mj-cs"/>
            </a:endParaRPr>
          </a:p>
          <a:p>
            <a:pPr>
              <a:lnSpc>
                <a:spcPct val="90000"/>
              </a:lnSpc>
              <a:spcBef>
                <a:spcPct val="0"/>
              </a:spcBef>
              <a:spcAft>
                <a:spcPts val="600"/>
              </a:spcAft>
            </a:pPr>
            <a:r>
              <a:rPr lang="en-US" sz="2700" kern="1200" cap="all" spc="300" baseline="0" dirty="0">
                <a:latin typeface="+mj-lt"/>
                <a:ea typeface="+mj-ea"/>
                <a:cs typeface="+mj-cs"/>
              </a:rPr>
              <a:t>Two tree-based models were implemented and compared:</a:t>
            </a:r>
          </a:p>
        </p:txBody>
      </p:sp>
      <p:pic>
        <p:nvPicPr>
          <p:cNvPr id="7" name="Picture 6">
            <a:extLst>
              <a:ext uri="{FF2B5EF4-FFF2-40B4-BE49-F238E27FC236}">
                <a16:creationId xmlns:a16="http://schemas.microsoft.com/office/drawing/2014/main" id="{65ED7B06-C3CE-0237-7C84-E3F0D2D5374D}"/>
              </a:ext>
            </a:extLst>
          </p:cNvPr>
          <p:cNvPicPr>
            <a:picLocks noChangeAspect="1"/>
          </p:cNvPicPr>
          <p:nvPr/>
        </p:nvPicPr>
        <p:blipFill>
          <a:blip r:embed="rId2"/>
          <a:stretch>
            <a:fillRect/>
          </a:stretch>
        </p:blipFill>
        <p:spPr>
          <a:xfrm>
            <a:off x="95092" y="0"/>
            <a:ext cx="4097654" cy="6858000"/>
          </a:xfrm>
          <a:prstGeom prst="rect">
            <a:avLst/>
          </a:prstGeom>
          <a:noFill/>
        </p:spPr>
      </p:pic>
      <p:graphicFrame>
        <p:nvGraphicFramePr>
          <p:cNvPr id="6" name="Table 5">
            <a:extLst>
              <a:ext uri="{FF2B5EF4-FFF2-40B4-BE49-F238E27FC236}">
                <a16:creationId xmlns:a16="http://schemas.microsoft.com/office/drawing/2014/main" id="{187C9A2A-DF48-D0B3-2647-2508DB7060BE}"/>
              </a:ext>
            </a:extLst>
          </p:cNvPr>
          <p:cNvGraphicFramePr>
            <a:graphicFrameLocks noGrp="1"/>
          </p:cNvGraphicFramePr>
          <p:nvPr>
            <p:extLst>
              <p:ext uri="{D42A27DB-BD31-4B8C-83A1-F6EECF244321}">
                <p14:modId xmlns:p14="http://schemas.microsoft.com/office/powerpoint/2010/main" val="660359793"/>
              </p:ext>
            </p:extLst>
          </p:nvPr>
        </p:nvGraphicFramePr>
        <p:xfrm>
          <a:off x="5242426" y="2328336"/>
          <a:ext cx="6241651" cy="3460043"/>
        </p:xfrm>
        <a:graphic>
          <a:graphicData uri="http://schemas.openxmlformats.org/drawingml/2006/table">
            <a:tbl>
              <a:tblPr firstRow="1" bandRow="1">
                <a:tableStyleId>{7E9639D4-E3E2-4D34-9284-5A2195B3D0D7}</a:tableStyleId>
              </a:tblPr>
              <a:tblGrid>
                <a:gridCol w="2743550">
                  <a:extLst>
                    <a:ext uri="{9D8B030D-6E8A-4147-A177-3AD203B41FA5}">
                      <a16:colId xmlns:a16="http://schemas.microsoft.com/office/drawing/2014/main" val="2101811378"/>
                    </a:ext>
                  </a:extLst>
                </a:gridCol>
                <a:gridCol w="3498101">
                  <a:extLst>
                    <a:ext uri="{9D8B030D-6E8A-4147-A177-3AD203B41FA5}">
                      <a16:colId xmlns:a16="http://schemas.microsoft.com/office/drawing/2014/main" val="782725877"/>
                    </a:ext>
                  </a:extLst>
                </a:gridCol>
              </a:tblGrid>
              <a:tr h="478084">
                <a:tc>
                  <a:txBody>
                    <a:bodyPr/>
                    <a:lstStyle/>
                    <a:p>
                      <a:r>
                        <a:rPr lang="en-US" sz="2100"/>
                        <a:t>Model</a:t>
                      </a:r>
                      <a:endParaRPr lang="en-US" sz="2100" dirty="0"/>
                    </a:p>
                  </a:txBody>
                  <a:tcPr marL="108655" marR="108655" marT="54328" marB="54328"/>
                </a:tc>
                <a:tc>
                  <a:txBody>
                    <a:bodyPr/>
                    <a:lstStyle/>
                    <a:p>
                      <a:r>
                        <a:rPr lang="en-US" sz="2100"/>
                        <a:t>Key Characteristics</a:t>
                      </a:r>
                    </a:p>
                  </a:txBody>
                  <a:tcPr marL="108655" marR="108655" marT="54328" marB="54328"/>
                </a:tc>
                <a:extLst>
                  <a:ext uri="{0D108BD9-81ED-4DB2-BD59-A6C34878D82A}">
                    <a16:rowId xmlns:a16="http://schemas.microsoft.com/office/drawing/2014/main" val="2846404977"/>
                  </a:ext>
                </a:extLst>
              </a:tr>
              <a:tr h="1455983">
                <a:tc>
                  <a:txBody>
                    <a:bodyPr/>
                    <a:lstStyle/>
                    <a:p>
                      <a:r>
                        <a:rPr lang="en-US" sz="1800" b="1" i="0" u="none" strike="noStrike" kern="1200" dirty="0">
                          <a:solidFill>
                            <a:schemeClr val="tx1"/>
                          </a:solidFill>
                          <a:effectLst/>
                          <a:latin typeface="+mn-lt"/>
                          <a:ea typeface="+mn-ea"/>
                          <a:cs typeface="+mn-cs"/>
                        </a:rPr>
                        <a:t>Random Forest Regressor</a:t>
                      </a:r>
                      <a:endParaRPr lang="en-US" sz="2100" b="1" dirty="0"/>
                    </a:p>
                  </a:txBody>
                  <a:tcPr marL="108655" marR="108655" marT="54328" marB="54328"/>
                </a:tc>
                <a:tc>
                  <a:txBody>
                    <a:bodyPr/>
                    <a:lstStyle/>
                    <a:p>
                      <a:r>
                        <a:rPr lang="en-US" sz="1800" b="0" i="0" u="none" strike="noStrike" kern="1200" dirty="0">
                          <a:solidFill>
                            <a:schemeClr val="tx1"/>
                          </a:solidFill>
                          <a:effectLst/>
                          <a:latin typeface="+mn-lt"/>
                          <a:ea typeface="+mn-ea"/>
                          <a:cs typeface="+mn-cs"/>
                        </a:rPr>
                        <a:t>Best performance, high stability, interpretable feature importances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tx1"/>
                          </a:solidFill>
                          <a:effectLst/>
                          <a:latin typeface="+mn-lt"/>
                          <a:ea typeface="+mn-ea"/>
                          <a:cs typeface="+mn-cs"/>
                        </a:rPr>
                        <a:t>-RMSE (≈ 0.037)</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tx1"/>
                          </a:solidFill>
                          <a:effectLst/>
                          <a:latin typeface="+mn-lt"/>
                          <a:ea typeface="+mn-ea"/>
                          <a:cs typeface="+mn-cs"/>
                        </a:rPr>
                        <a:t>-R² (≈ 0.8115)</a:t>
                      </a:r>
                    </a:p>
                  </a:txBody>
                  <a:tcPr marL="108655" marR="108655" marT="54328" marB="54328"/>
                </a:tc>
                <a:extLst>
                  <a:ext uri="{0D108BD9-81ED-4DB2-BD59-A6C34878D82A}">
                    <a16:rowId xmlns:a16="http://schemas.microsoft.com/office/drawing/2014/main" val="2083849248"/>
                  </a:ext>
                </a:extLst>
              </a:tr>
              <a:tr h="1455983">
                <a:tc>
                  <a:txBody>
                    <a:bodyPr/>
                    <a:lstStyle/>
                    <a:p>
                      <a:r>
                        <a:rPr lang="en-US" sz="1800" b="1" i="0" u="none" strike="noStrike" kern="1200" dirty="0">
                          <a:solidFill>
                            <a:schemeClr val="tx1"/>
                          </a:solidFill>
                          <a:effectLst/>
                          <a:latin typeface="+mn-lt"/>
                          <a:ea typeface="+mn-ea"/>
                          <a:cs typeface="+mn-cs"/>
                        </a:rPr>
                        <a:t>Gradient Boosting Regressor</a:t>
                      </a:r>
                      <a:endParaRPr lang="en-US" sz="2100" b="1" dirty="0"/>
                    </a:p>
                  </a:txBody>
                  <a:tcPr marL="108655" marR="108655" marT="54328" marB="54328"/>
                </a:tc>
                <a:tc>
                  <a:txBody>
                    <a:bodyPr/>
                    <a:lstStyle/>
                    <a:p>
                      <a:r>
                        <a:rPr lang="en-US" sz="1800" b="0" i="0" u="none" strike="noStrike" kern="1200" dirty="0">
                          <a:solidFill>
                            <a:schemeClr val="tx1"/>
                          </a:solidFill>
                          <a:effectLst/>
                          <a:latin typeface="+mn-lt"/>
                          <a:ea typeface="+mn-ea"/>
                          <a:cs typeface="+mn-cs"/>
                        </a:rPr>
                        <a:t>Comparable accuracy with finer calibration potential</a:t>
                      </a:r>
                    </a:p>
                    <a:p>
                      <a:r>
                        <a:rPr lang="en-US" sz="1800" b="0" i="0" u="none" strike="noStrike" kern="1200" dirty="0">
                          <a:solidFill>
                            <a:schemeClr val="tx1"/>
                          </a:solidFill>
                          <a:effectLst/>
                          <a:latin typeface="+mn-lt"/>
                          <a:ea typeface="+mn-ea"/>
                          <a:cs typeface="+mn-cs"/>
                        </a:rPr>
                        <a:t>-Identical RMSE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a:t>
                      </a:r>
                      <a:r>
                        <a:rPr lang="en-IN" sz="1800" b="0" kern="1200" dirty="0">
                          <a:solidFill>
                            <a:schemeClr val="tx1"/>
                          </a:solidFill>
                          <a:effectLst/>
                          <a:latin typeface="+mn-lt"/>
                          <a:ea typeface="+mn-ea"/>
                          <a:cs typeface="+mn-cs"/>
                        </a:rPr>
                        <a:t>stable spatial pattern</a:t>
                      </a:r>
                    </a:p>
                    <a:p>
                      <a:endParaRPr lang="en-US" sz="2100" dirty="0"/>
                    </a:p>
                  </a:txBody>
                  <a:tcPr marL="108655" marR="108655" marT="54328" marB="54328"/>
                </a:tc>
                <a:extLst>
                  <a:ext uri="{0D108BD9-81ED-4DB2-BD59-A6C34878D82A}">
                    <a16:rowId xmlns:a16="http://schemas.microsoft.com/office/drawing/2014/main" val="309487272"/>
                  </a:ext>
                </a:extLst>
              </a:tr>
            </a:tbl>
          </a:graphicData>
        </a:graphic>
      </p:graphicFrame>
    </p:spTree>
    <p:extLst>
      <p:ext uri="{BB962C8B-B14F-4D97-AF65-F5344CB8AC3E}">
        <p14:creationId xmlns:p14="http://schemas.microsoft.com/office/powerpoint/2010/main" val="1548493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EB24C-8269-12FA-3889-19CF48A53B8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24B5F1-42D3-27DF-ADCD-6DC9845CBA3E}"/>
              </a:ext>
            </a:extLst>
          </p:cNvPr>
          <p:cNvSpPr txBox="1"/>
          <p:nvPr/>
        </p:nvSpPr>
        <p:spPr>
          <a:xfrm>
            <a:off x="4726298" y="586304"/>
            <a:ext cx="2801921" cy="492443"/>
          </a:xfrm>
          <a:prstGeom prst="rect">
            <a:avLst/>
          </a:prstGeom>
          <a:noFill/>
        </p:spPr>
        <p:txBody>
          <a:bodyPr wrap="none" rtlCol="0">
            <a:spAutoFit/>
          </a:bodyPr>
          <a:lstStyle/>
          <a:p>
            <a:r>
              <a:rPr lang="en-US" sz="2600" b="1" u="sng" dirty="0"/>
              <a:t>TRAINING RESULTS</a:t>
            </a:r>
          </a:p>
        </p:txBody>
      </p:sp>
      <p:sp>
        <p:nvSpPr>
          <p:cNvPr id="2" name="TextBox 1">
            <a:extLst>
              <a:ext uri="{FF2B5EF4-FFF2-40B4-BE49-F238E27FC236}">
                <a16:creationId xmlns:a16="http://schemas.microsoft.com/office/drawing/2014/main" id="{120E87F6-D858-390D-43D8-7147B79C3142}"/>
              </a:ext>
            </a:extLst>
          </p:cNvPr>
          <p:cNvSpPr txBox="1"/>
          <p:nvPr/>
        </p:nvSpPr>
        <p:spPr>
          <a:xfrm>
            <a:off x="178623" y="1078747"/>
            <a:ext cx="8642626" cy="5016758"/>
          </a:xfrm>
          <a:prstGeom prst="rect">
            <a:avLst/>
          </a:prstGeom>
          <a:noFill/>
        </p:spPr>
        <p:txBody>
          <a:bodyPr wrap="square" rtlCol="0">
            <a:spAutoFit/>
          </a:bodyPr>
          <a:lstStyle/>
          <a:p>
            <a:r>
              <a:rPr lang="en-US" sz="2000" b="1" u="sng" dirty="0"/>
              <a:t>Random Forest Results </a:t>
            </a:r>
            <a:r>
              <a:rPr lang="en-US" sz="2000" b="1" dirty="0"/>
              <a:t>:-</a:t>
            </a:r>
          </a:p>
          <a:p>
            <a:endParaRPr lang="en-US" sz="2000" dirty="0"/>
          </a:p>
          <a:p>
            <a:r>
              <a:rPr lang="en-US" sz="2000" dirty="0"/>
              <a:t>Train — R²: 0.8060, RMSE: 0.03763, MAE: 0.02847 </a:t>
            </a:r>
          </a:p>
          <a:p>
            <a:r>
              <a:rPr lang="en-US" sz="2000" dirty="0"/>
              <a:t>Test — R²: 0.8115, RMSE: 0.03717, MAE: 0.02826 </a:t>
            </a:r>
          </a:p>
          <a:p>
            <a:r>
              <a:rPr lang="en-US" sz="2000" dirty="0"/>
              <a:t>Valid — R²: 0.8097, RMSE: 0.03723, MAE: 0.02837 </a:t>
            </a:r>
          </a:p>
          <a:p>
            <a:endParaRPr lang="en-US" sz="2000" dirty="0"/>
          </a:p>
          <a:p>
            <a:endParaRPr lang="en-US" sz="2000" dirty="0"/>
          </a:p>
          <a:p>
            <a:r>
              <a:rPr lang="en-US" sz="2000" b="1" u="sng" dirty="0"/>
              <a:t>Gradient Boosting Results</a:t>
            </a:r>
            <a:r>
              <a:rPr lang="en-US" sz="2000" b="1" dirty="0"/>
              <a:t>:-</a:t>
            </a:r>
            <a:r>
              <a:rPr lang="en-US" sz="2000" dirty="0"/>
              <a:t> </a:t>
            </a:r>
          </a:p>
          <a:p>
            <a:endParaRPr lang="en-US" sz="2000" dirty="0"/>
          </a:p>
          <a:p>
            <a:r>
              <a:rPr lang="en-US" sz="2000" dirty="0"/>
              <a:t>Train — R²: 0.8059, RMSE: 0.03764, MAE: 0.02852 </a:t>
            </a:r>
          </a:p>
          <a:p>
            <a:r>
              <a:rPr lang="en-US" sz="2000" dirty="0"/>
              <a:t>Test — R²: 0.8115, RMSE: 0.03717, MAE: 0.02830 </a:t>
            </a:r>
          </a:p>
          <a:p>
            <a:r>
              <a:rPr lang="en-US" sz="2000" dirty="0"/>
              <a:t>Valid — R²: 0.8098, RMSE: 0.03722, MAE: 0.02841</a:t>
            </a:r>
          </a:p>
          <a:p>
            <a:endParaRPr lang="en-US" sz="2000" b="1" u="sng" dirty="0"/>
          </a:p>
          <a:p>
            <a:r>
              <a:rPr lang="en-US" sz="2000" b="1" u="sng" dirty="0"/>
              <a:t>Conclusion</a:t>
            </a:r>
          </a:p>
          <a:p>
            <a:r>
              <a:rPr lang="en-US" sz="2000" dirty="0"/>
              <a:t>Both models perform identically, with little difference across the three phases of model training </a:t>
            </a:r>
            <a:endParaRPr lang="en-IN" sz="2000" dirty="0"/>
          </a:p>
        </p:txBody>
      </p:sp>
      <p:sp>
        <p:nvSpPr>
          <p:cNvPr id="3" name="TextBox 2">
            <a:extLst>
              <a:ext uri="{FF2B5EF4-FFF2-40B4-BE49-F238E27FC236}">
                <a16:creationId xmlns:a16="http://schemas.microsoft.com/office/drawing/2014/main" id="{7695CF04-2A66-ADC3-DA31-0CEE82B63BB7}"/>
              </a:ext>
            </a:extLst>
          </p:cNvPr>
          <p:cNvSpPr txBox="1"/>
          <p:nvPr/>
        </p:nvSpPr>
        <p:spPr>
          <a:xfrm>
            <a:off x="5681747" y="1443841"/>
            <a:ext cx="6279004" cy="3970318"/>
          </a:xfrm>
          <a:prstGeom prst="rect">
            <a:avLst/>
          </a:prstGeom>
          <a:noFill/>
        </p:spPr>
        <p:txBody>
          <a:bodyPr wrap="square" rtlCol="0">
            <a:spAutoFit/>
          </a:bodyPr>
          <a:lstStyle/>
          <a:p>
            <a:r>
              <a:rPr lang="en-IN" b="1" dirty="0"/>
              <a:t>Performance Summary</a:t>
            </a:r>
            <a:endParaRPr lang="en-IN" dirty="0"/>
          </a:p>
          <a:p>
            <a:r>
              <a:rPr lang="en-IN" b="1" dirty="0"/>
              <a:t>Models tested:</a:t>
            </a:r>
          </a:p>
          <a:p>
            <a:r>
              <a:rPr lang="en-IN" dirty="0"/>
              <a:t> Random Forest &amp; Gradient Boosting (multi-output regression).</a:t>
            </a:r>
          </a:p>
          <a:p>
            <a:endParaRPr lang="en-IN" b="1" dirty="0"/>
          </a:p>
          <a:p>
            <a:r>
              <a:rPr lang="en-IN" b="1" dirty="0"/>
              <a:t>Metrics (Average across splits):</a:t>
            </a:r>
            <a:endParaRPr lang="en-IN" dirty="0"/>
          </a:p>
          <a:p>
            <a:r>
              <a:rPr lang="en-IN" dirty="0"/>
              <a:t>  -R² ≈ </a:t>
            </a:r>
            <a:r>
              <a:rPr lang="en-IN" b="1" dirty="0"/>
              <a:t>0.81</a:t>
            </a:r>
            <a:r>
              <a:rPr lang="en-IN" dirty="0"/>
              <a:t> — strong predictive accuracy</a:t>
            </a:r>
          </a:p>
          <a:p>
            <a:r>
              <a:rPr lang="en-IN" dirty="0"/>
              <a:t>  -RMSE ≈ </a:t>
            </a:r>
            <a:r>
              <a:rPr lang="en-IN" b="1" dirty="0"/>
              <a:t>0.037°</a:t>
            </a:r>
            <a:r>
              <a:rPr lang="en-IN" dirty="0"/>
              <a:t> → ≈ </a:t>
            </a:r>
            <a:r>
              <a:rPr lang="en-IN" b="1" dirty="0"/>
              <a:t>3–4 km</a:t>
            </a:r>
            <a:r>
              <a:rPr lang="en-IN" dirty="0"/>
              <a:t> spatial deviation</a:t>
            </a:r>
          </a:p>
          <a:p>
            <a:r>
              <a:rPr lang="en-IN" dirty="0"/>
              <a:t>  -MAE ≈ </a:t>
            </a:r>
            <a:r>
              <a:rPr lang="en-IN" b="1" dirty="0"/>
              <a:t>0.028</a:t>
            </a:r>
            <a:r>
              <a:rPr lang="en-IN" dirty="0"/>
              <a:t> — low average error</a:t>
            </a:r>
          </a:p>
          <a:p>
            <a:endParaRPr lang="en-IN" dirty="0"/>
          </a:p>
          <a:p>
            <a:r>
              <a:rPr lang="en-IN" dirty="0"/>
              <a:t>Minimal difference between </a:t>
            </a:r>
            <a:r>
              <a:rPr lang="en-IN" b="1" dirty="0"/>
              <a:t>train, test, and validation</a:t>
            </a:r>
            <a:r>
              <a:rPr lang="en-IN" dirty="0"/>
              <a:t> → no overfitting.</a:t>
            </a:r>
          </a:p>
          <a:p>
            <a:br>
              <a:rPr lang="en-IN" dirty="0"/>
            </a:br>
            <a:endParaRPr lang="en-IN" dirty="0"/>
          </a:p>
          <a:p>
            <a:endParaRPr lang="en-US" dirty="0"/>
          </a:p>
        </p:txBody>
      </p:sp>
    </p:spTree>
    <p:extLst>
      <p:ext uri="{BB962C8B-B14F-4D97-AF65-F5344CB8AC3E}">
        <p14:creationId xmlns:p14="http://schemas.microsoft.com/office/powerpoint/2010/main" val="36597218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85916-A1CA-4A41-29D4-2E42580E850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C9F7F0D-FCC8-8D3B-91FD-67068A2AD2EC}"/>
              </a:ext>
            </a:extLst>
          </p:cNvPr>
          <p:cNvSpPr txBox="1"/>
          <p:nvPr/>
        </p:nvSpPr>
        <p:spPr>
          <a:xfrm>
            <a:off x="154298" y="322832"/>
            <a:ext cx="2801921" cy="492443"/>
          </a:xfrm>
          <a:prstGeom prst="rect">
            <a:avLst/>
          </a:prstGeom>
          <a:noFill/>
        </p:spPr>
        <p:txBody>
          <a:bodyPr wrap="none" rtlCol="0">
            <a:spAutoFit/>
          </a:bodyPr>
          <a:lstStyle/>
          <a:p>
            <a:r>
              <a:rPr lang="en-US" sz="2600" b="1" u="sng" dirty="0"/>
              <a:t>TRAINING RESULTS</a:t>
            </a:r>
          </a:p>
        </p:txBody>
      </p:sp>
      <p:pic>
        <p:nvPicPr>
          <p:cNvPr id="4" name="Picture 3">
            <a:extLst>
              <a:ext uri="{FF2B5EF4-FFF2-40B4-BE49-F238E27FC236}">
                <a16:creationId xmlns:a16="http://schemas.microsoft.com/office/drawing/2014/main" id="{C41A05D3-FBF6-1E07-8F9E-91E3687DEEFA}"/>
              </a:ext>
            </a:extLst>
          </p:cNvPr>
          <p:cNvPicPr>
            <a:picLocks noChangeAspect="1"/>
          </p:cNvPicPr>
          <p:nvPr/>
        </p:nvPicPr>
        <p:blipFill>
          <a:blip r:embed="rId2"/>
          <a:stretch>
            <a:fillRect/>
          </a:stretch>
        </p:blipFill>
        <p:spPr>
          <a:xfrm>
            <a:off x="4104306" y="322832"/>
            <a:ext cx="7222372" cy="2973917"/>
          </a:xfrm>
          <a:prstGeom prst="rect">
            <a:avLst/>
          </a:prstGeom>
        </p:spPr>
      </p:pic>
      <p:pic>
        <p:nvPicPr>
          <p:cNvPr id="6" name="Picture 5">
            <a:extLst>
              <a:ext uri="{FF2B5EF4-FFF2-40B4-BE49-F238E27FC236}">
                <a16:creationId xmlns:a16="http://schemas.microsoft.com/office/drawing/2014/main" id="{1BDCA510-B014-8845-38BF-8298C4CED83A}"/>
              </a:ext>
            </a:extLst>
          </p:cNvPr>
          <p:cNvPicPr>
            <a:picLocks noChangeAspect="1"/>
          </p:cNvPicPr>
          <p:nvPr/>
        </p:nvPicPr>
        <p:blipFill>
          <a:blip r:embed="rId3"/>
          <a:stretch>
            <a:fillRect/>
          </a:stretch>
        </p:blipFill>
        <p:spPr>
          <a:xfrm>
            <a:off x="4104306" y="3700583"/>
            <a:ext cx="7222372" cy="2973918"/>
          </a:xfrm>
          <a:prstGeom prst="rect">
            <a:avLst/>
          </a:prstGeom>
        </p:spPr>
      </p:pic>
      <p:sp>
        <p:nvSpPr>
          <p:cNvPr id="8" name="TextBox 7">
            <a:extLst>
              <a:ext uri="{FF2B5EF4-FFF2-40B4-BE49-F238E27FC236}">
                <a16:creationId xmlns:a16="http://schemas.microsoft.com/office/drawing/2014/main" id="{2707A2CB-E5C4-2B01-EDB0-18EA254D0FAF}"/>
              </a:ext>
            </a:extLst>
          </p:cNvPr>
          <p:cNvSpPr txBox="1"/>
          <p:nvPr/>
        </p:nvSpPr>
        <p:spPr>
          <a:xfrm>
            <a:off x="836908" y="1797803"/>
            <a:ext cx="2294731" cy="461665"/>
          </a:xfrm>
          <a:prstGeom prst="rect">
            <a:avLst/>
          </a:prstGeom>
          <a:noFill/>
        </p:spPr>
        <p:txBody>
          <a:bodyPr wrap="none" rtlCol="0">
            <a:spAutoFit/>
          </a:bodyPr>
          <a:lstStyle/>
          <a:p>
            <a:r>
              <a:rPr lang="en-US" sz="2400" b="1" dirty="0"/>
              <a:t>Random Forest:-</a:t>
            </a:r>
            <a:endParaRPr lang="en-IN" sz="2400" b="1" dirty="0"/>
          </a:p>
        </p:txBody>
      </p:sp>
      <p:sp>
        <p:nvSpPr>
          <p:cNvPr id="10" name="TextBox 9">
            <a:extLst>
              <a:ext uri="{FF2B5EF4-FFF2-40B4-BE49-F238E27FC236}">
                <a16:creationId xmlns:a16="http://schemas.microsoft.com/office/drawing/2014/main" id="{F2133042-5FEC-55F9-ECDE-51EBD4B1EFBF}"/>
              </a:ext>
            </a:extLst>
          </p:cNvPr>
          <p:cNvSpPr txBox="1"/>
          <p:nvPr/>
        </p:nvSpPr>
        <p:spPr>
          <a:xfrm>
            <a:off x="651344" y="4598533"/>
            <a:ext cx="2665858" cy="461665"/>
          </a:xfrm>
          <a:prstGeom prst="rect">
            <a:avLst/>
          </a:prstGeom>
          <a:noFill/>
        </p:spPr>
        <p:txBody>
          <a:bodyPr wrap="none" rtlCol="0">
            <a:spAutoFit/>
          </a:bodyPr>
          <a:lstStyle/>
          <a:p>
            <a:r>
              <a:rPr lang="en-US" sz="2400" b="1" dirty="0"/>
              <a:t>Gradient Boosting:-</a:t>
            </a:r>
            <a:endParaRPr lang="en-IN" sz="2400" b="1" dirty="0"/>
          </a:p>
        </p:txBody>
      </p:sp>
      <p:sp>
        <p:nvSpPr>
          <p:cNvPr id="11" name="TextBox 10">
            <a:extLst>
              <a:ext uri="{FF2B5EF4-FFF2-40B4-BE49-F238E27FC236}">
                <a16:creationId xmlns:a16="http://schemas.microsoft.com/office/drawing/2014/main" id="{A6C27ECA-8B09-154F-AAFC-8A5B58C33D0D}"/>
              </a:ext>
            </a:extLst>
          </p:cNvPr>
          <p:cNvSpPr txBox="1"/>
          <p:nvPr/>
        </p:nvSpPr>
        <p:spPr>
          <a:xfrm>
            <a:off x="651344" y="2919288"/>
            <a:ext cx="3695884" cy="1477328"/>
          </a:xfrm>
          <a:prstGeom prst="rect">
            <a:avLst/>
          </a:prstGeom>
          <a:noFill/>
        </p:spPr>
        <p:txBody>
          <a:bodyPr wrap="none" rtlCol="0">
            <a:spAutoFit/>
          </a:bodyPr>
          <a:lstStyle/>
          <a:p>
            <a:r>
              <a:rPr lang="en-US" dirty="0"/>
              <a:t>Red line : Line of “Perfect Prediction”.</a:t>
            </a:r>
          </a:p>
          <a:p>
            <a:r>
              <a:rPr lang="en-US" dirty="0"/>
              <a:t>Blue Dots: (test, pred) dots.</a:t>
            </a:r>
          </a:p>
          <a:p>
            <a:r>
              <a:rPr lang="en-US" dirty="0"/>
              <a:t>The vertical distance from any point </a:t>
            </a:r>
          </a:p>
          <a:p>
            <a:r>
              <a:rPr lang="en-US" dirty="0"/>
              <a:t>to the line is the "error" for that </a:t>
            </a:r>
          </a:p>
          <a:p>
            <a:r>
              <a:rPr lang="en-US" dirty="0"/>
              <a:t>single prediction.</a:t>
            </a:r>
            <a:endParaRPr lang="en-IN" dirty="0"/>
          </a:p>
        </p:txBody>
      </p:sp>
    </p:spTree>
    <p:extLst>
      <p:ext uri="{BB962C8B-B14F-4D97-AF65-F5344CB8AC3E}">
        <p14:creationId xmlns:p14="http://schemas.microsoft.com/office/powerpoint/2010/main" val="2279300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2D302-1D0E-94A5-97D1-7DCAF0F33D3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E6A3540-A12D-0B08-4FF8-C8FFCF44DEF6}"/>
              </a:ext>
            </a:extLst>
          </p:cNvPr>
          <p:cNvSpPr txBox="1"/>
          <p:nvPr/>
        </p:nvSpPr>
        <p:spPr>
          <a:xfrm>
            <a:off x="1047750" y="561975"/>
            <a:ext cx="6098272" cy="369332"/>
          </a:xfrm>
          <a:prstGeom prst="rect">
            <a:avLst/>
          </a:prstGeom>
          <a:noFill/>
        </p:spPr>
        <p:txBody>
          <a:bodyPr wrap="none" rtlCol="0">
            <a:spAutoFit/>
          </a:bodyPr>
          <a:lstStyle/>
          <a:p>
            <a:r>
              <a:rPr lang="en-US" dirty="0"/>
              <a:t>Taking 10 random samples from the dataset to test the model:-</a:t>
            </a:r>
          </a:p>
        </p:txBody>
      </p:sp>
      <p:pic>
        <p:nvPicPr>
          <p:cNvPr id="3" name="Picture 2">
            <a:extLst>
              <a:ext uri="{FF2B5EF4-FFF2-40B4-BE49-F238E27FC236}">
                <a16:creationId xmlns:a16="http://schemas.microsoft.com/office/drawing/2014/main" id="{18AB410A-CFCF-FB52-361C-9C4947355F35}"/>
              </a:ext>
            </a:extLst>
          </p:cNvPr>
          <p:cNvPicPr>
            <a:picLocks noChangeAspect="1"/>
          </p:cNvPicPr>
          <p:nvPr/>
        </p:nvPicPr>
        <p:blipFill>
          <a:blip r:embed="rId2"/>
          <a:stretch>
            <a:fillRect/>
          </a:stretch>
        </p:blipFill>
        <p:spPr>
          <a:xfrm>
            <a:off x="302628" y="963719"/>
            <a:ext cx="7728668" cy="2096759"/>
          </a:xfrm>
          <a:prstGeom prst="rect">
            <a:avLst/>
          </a:prstGeom>
        </p:spPr>
      </p:pic>
      <p:pic>
        <p:nvPicPr>
          <p:cNvPr id="6" name="Picture 5">
            <a:extLst>
              <a:ext uri="{FF2B5EF4-FFF2-40B4-BE49-F238E27FC236}">
                <a16:creationId xmlns:a16="http://schemas.microsoft.com/office/drawing/2014/main" id="{227E107E-9697-B7B7-1914-6CFE6D4C34FE}"/>
              </a:ext>
            </a:extLst>
          </p:cNvPr>
          <p:cNvPicPr>
            <a:picLocks noChangeAspect="1"/>
          </p:cNvPicPr>
          <p:nvPr/>
        </p:nvPicPr>
        <p:blipFill>
          <a:blip r:embed="rId3"/>
          <a:stretch>
            <a:fillRect/>
          </a:stretch>
        </p:blipFill>
        <p:spPr>
          <a:xfrm>
            <a:off x="0" y="3282677"/>
            <a:ext cx="8198603" cy="2686937"/>
          </a:xfrm>
          <a:prstGeom prst="rect">
            <a:avLst/>
          </a:prstGeom>
        </p:spPr>
      </p:pic>
      <p:pic>
        <p:nvPicPr>
          <p:cNvPr id="12" name="Picture 11">
            <a:extLst>
              <a:ext uri="{FF2B5EF4-FFF2-40B4-BE49-F238E27FC236}">
                <a16:creationId xmlns:a16="http://schemas.microsoft.com/office/drawing/2014/main" id="{06BD3E19-1123-44A8-99D7-4B18325D3970}"/>
              </a:ext>
            </a:extLst>
          </p:cNvPr>
          <p:cNvPicPr>
            <a:picLocks noChangeAspect="1"/>
          </p:cNvPicPr>
          <p:nvPr/>
        </p:nvPicPr>
        <p:blipFill>
          <a:blip r:embed="rId4"/>
          <a:stretch>
            <a:fillRect/>
          </a:stretch>
        </p:blipFill>
        <p:spPr>
          <a:xfrm>
            <a:off x="8198603" y="373541"/>
            <a:ext cx="3366924" cy="2686937"/>
          </a:xfrm>
          <a:prstGeom prst="rect">
            <a:avLst/>
          </a:prstGeom>
        </p:spPr>
      </p:pic>
      <p:pic>
        <p:nvPicPr>
          <p:cNvPr id="14" name="Picture 13">
            <a:extLst>
              <a:ext uri="{FF2B5EF4-FFF2-40B4-BE49-F238E27FC236}">
                <a16:creationId xmlns:a16="http://schemas.microsoft.com/office/drawing/2014/main" id="{96F57799-A722-DAFC-5C19-EB2E2D87C055}"/>
              </a:ext>
            </a:extLst>
          </p:cNvPr>
          <p:cNvPicPr>
            <a:picLocks noChangeAspect="1"/>
          </p:cNvPicPr>
          <p:nvPr/>
        </p:nvPicPr>
        <p:blipFill>
          <a:blip r:embed="rId5"/>
          <a:stretch>
            <a:fillRect/>
          </a:stretch>
        </p:blipFill>
        <p:spPr>
          <a:xfrm>
            <a:off x="8365910" y="3060478"/>
            <a:ext cx="3366924" cy="2916571"/>
          </a:xfrm>
          <a:prstGeom prst="rect">
            <a:avLst/>
          </a:prstGeom>
        </p:spPr>
      </p:pic>
    </p:spTree>
    <p:extLst>
      <p:ext uri="{BB962C8B-B14F-4D97-AF65-F5344CB8AC3E}">
        <p14:creationId xmlns:p14="http://schemas.microsoft.com/office/powerpoint/2010/main" val="38121794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10FD1-2322-7F08-E467-FFE1FAD1408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075C16-12D8-C4FA-5D63-781F9B84873C}"/>
              </a:ext>
            </a:extLst>
          </p:cNvPr>
          <p:cNvSpPr txBox="1"/>
          <p:nvPr/>
        </p:nvSpPr>
        <p:spPr>
          <a:xfrm>
            <a:off x="201479" y="595704"/>
            <a:ext cx="11406751" cy="4955203"/>
          </a:xfrm>
          <a:prstGeom prst="rect">
            <a:avLst/>
          </a:prstGeom>
          <a:noFill/>
        </p:spPr>
        <p:txBody>
          <a:bodyPr wrap="square" rtlCol="0">
            <a:spAutoFit/>
          </a:bodyPr>
          <a:lstStyle/>
          <a:p>
            <a:r>
              <a:rPr lang="en-US" sz="2800" dirty="0"/>
              <a:t>🗺️ Geospatial Prediction Visualization — Actual vs Predicted</a:t>
            </a:r>
          </a:p>
          <a:p>
            <a:endParaRPr lang="en-US" dirty="0"/>
          </a:p>
          <a:p>
            <a:r>
              <a:rPr lang="en-US" dirty="0"/>
              <a:t>🔍 Arrow Map (Actual → Predicted) :-</a:t>
            </a:r>
          </a:p>
          <a:p>
            <a:endParaRPr lang="en-US" dirty="0"/>
          </a:p>
          <a:p>
            <a:r>
              <a:rPr lang="en-US" dirty="0"/>
              <a:t>- Each arrow starts at the </a:t>
            </a:r>
            <a:r>
              <a:rPr lang="en-US" b="1" dirty="0"/>
              <a:t>actual business location</a:t>
            </a:r>
            <a:r>
              <a:rPr lang="en-US" dirty="0"/>
              <a:t> and points toward the </a:t>
            </a:r>
            <a:r>
              <a:rPr lang="en-US" b="1" dirty="0"/>
              <a:t>predicted coordinate</a:t>
            </a:r>
            <a:r>
              <a:rPr lang="en-US" dirty="0"/>
              <a:t>.</a:t>
            </a:r>
          </a:p>
          <a:p>
            <a:r>
              <a:rPr lang="en-US" dirty="0"/>
              <a:t>- The </a:t>
            </a:r>
            <a:r>
              <a:rPr lang="en-US" b="1" dirty="0"/>
              <a:t>arrow length</a:t>
            </a:r>
            <a:r>
              <a:rPr lang="en-US" dirty="0"/>
              <a:t> indicates how far off the prediction was — </a:t>
            </a:r>
            <a:r>
              <a:rPr lang="en-US" b="1" dirty="0"/>
              <a:t>longer arrows = larger spatial error</a:t>
            </a:r>
            <a:r>
              <a:rPr lang="en-US" dirty="0"/>
              <a:t>.</a:t>
            </a:r>
          </a:p>
          <a:p>
            <a:r>
              <a:rPr lang="en-US" dirty="0"/>
              <a:t>- Most arrows are short and closely aligned, meaning both Random Forest and Gradient Boosting models predicted very close to true coordinates.</a:t>
            </a:r>
          </a:p>
          <a:p>
            <a:r>
              <a:rPr lang="en-US" dirty="0"/>
              <a:t>- A few longer arrows (e.g., 5–9 km range) indicate outliers where model uncertainty was higher, often within dense boroughs (Queens or Manhattan).</a:t>
            </a:r>
          </a:p>
          <a:p>
            <a:endParaRPr lang="en-US" dirty="0"/>
          </a:p>
          <a:p>
            <a:r>
              <a:rPr lang="en-US" dirty="0"/>
              <a:t>📏 Error Table (in km)</a:t>
            </a:r>
          </a:p>
          <a:p>
            <a:r>
              <a:rPr lang="en-US" dirty="0"/>
              <a:t>- The table quantifies the per-record prediction error.- Average prediction error across models ≈</a:t>
            </a:r>
            <a:r>
              <a:rPr lang="en-US" b="1" dirty="0"/>
              <a:t> 3–4 km</a:t>
            </a:r>
            <a:r>
              <a:rPr lang="en-US" dirty="0"/>
              <a:t>, confirming consistent accuracy.</a:t>
            </a:r>
          </a:p>
          <a:p>
            <a:r>
              <a:rPr lang="en-US" dirty="0"/>
              <a:t>- Both models perform nearly identically, with </a:t>
            </a:r>
            <a:r>
              <a:rPr lang="en-US" b="1" dirty="0"/>
              <a:t>Random Forest slightly more stable</a:t>
            </a:r>
            <a:r>
              <a:rPr lang="en-US" dirty="0"/>
              <a:t> on average.</a:t>
            </a:r>
          </a:p>
          <a:p>
            <a:r>
              <a:rPr lang="en-US" dirty="0"/>
              <a:t>- </a:t>
            </a:r>
            <a:r>
              <a:rPr lang="en-US" u="sng" dirty="0"/>
              <a:t>Higher errors occur where ZIP Code or Business Category data were sparse</a:t>
            </a:r>
            <a:r>
              <a:rPr lang="en-US" dirty="0"/>
              <a:t> — suggesting feature enrichment (like street-level clusters) could further improve performance.</a:t>
            </a:r>
            <a:endParaRPr lang="en-IN" dirty="0"/>
          </a:p>
        </p:txBody>
      </p:sp>
    </p:spTree>
    <p:extLst>
      <p:ext uri="{BB962C8B-B14F-4D97-AF65-F5344CB8AC3E}">
        <p14:creationId xmlns:p14="http://schemas.microsoft.com/office/powerpoint/2010/main" val="2402583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FB5BC-74A1-62C2-73F0-1260F6E5D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0214B-F5E6-FCB3-FCD8-99BA825E0A13}"/>
              </a:ext>
            </a:extLst>
          </p:cNvPr>
          <p:cNvSpPr>
            <a:spLocks noGrp="1"/>
          </p:cNvSpPr>
          <p:nvPr>
            <p:ph type="title"/>
          </p:nvPr>
        </p:nvSpPr>
        <p:spPr>
          <a:xfrm>
            <a:off x="2657376" y="292559"/>
            <a:ext cx="6877248" cy="1355288"/>
          </a:xfrm>
        </p:spPr>
        <p:txBody>
          <a:bodyPr/>
          <a:lstStyle/>
          <a:p>
            <a:r>
              <a:rPr lang="en-US" dirty="0"/>
              <a:t>Final Insights-regression</a:t>
            </a:r>
            <a:endParaRPr lang="en-IN" dirty="0"/>
          </a:p>
        </p:txBody>
      </p:sp>
      <p:sp>
        <p:nvSpPr>
          <p:cNvPr id="4" name="Content Placeholder 3">
            <a:extLst>
              <a:ext uri="{FF2B5EF4-FFF2-40B4-BE49-F238E27FC236}">
                <a16:creationId xmlns:a16="http://schemas.microsoft.com/office/drawing/2014/main" id="{2CA071B5-F1B7-4F04-E654-FB9B531A7421}"/>
              </a:ext>
            </a:extLst>
          </p:cNvPr>
          <p:cNvSpPr>
            <a:spLocks noGrp="1"/>
          </p:cNvSpPr>
          <p:nvPr>
            <p:ph idx="1"/>
          </p:nvPr>
        </p:nvSpPr>
        <p:spPr>
          <a:xfrm>
            <a:off x="964894" y="1647847"/>
            <a:ext cx="7869140" cy="4226388"/>
          </a:xfrm>
        </p:spPr>
        <p:txBody>
          <a:bodyPr>
            <a:normAutofit/>
          </a:bodyPr>
          <a:lstStyle/>
          <a:p>
            <a:pPr marL="0" indent="0">
              <a:buNone/>
            </a:pPr>
            <a:r>
              <a:rPr lang="en-US" dirty="0"/>
              <a:t>- Enables </a:t>
            </a:r>
            <a:r>
              <a:rPr lang="en-US" b="1" dirty="0"/>
              <a:t>accurate geolocation recovery</a:t>
            </a:r>
            <a:r>
              <a:rPr lang="en-US" dirty="0"/>
              <a:t> for incomplete records.</a:t>
            </a:r>
          </a:p>
          <a:p>
            <a:pPr marL="0" indent="0">
              <a:buNone/>
            </a:pPr>
            <a:r>
              <a:rPr lang="en-US" dirty="0"/>
              <a:t>- Supports </a:t>
            </a:r>
            <a:r>
              <a:rPr lang="en-US" b="1" dirty="0"/>
              <a:t>spatial mapping, clustering, and zoning analysis</a:t>
            </a:r>
            <a:r>
              <a:rPr lang="en-US" dirty="0"/>
              <a:t>.</a:t>
            </a:r>
          </a:p>
          <a:p>
            <a:pPr marL="0" indent="0">
              <a:buNone/>
            </a:pPr>
            <a:r>
              <a:rPr lang="en-US" dirty="0"/>
              <a:t>- Improves </a:t>
            </a:r>
            <a:r>
              <a:rPr lang="en-US" b="1" dirty="0"/>
              <a:t>data completeness and quality</a:t>
            </a:r>
            <a:r>
              <a:rPr lang="en-US" dirty="0"/>
              <a:t> for DCWP licensing analytics.</a:t>
            </a:r>
          </a:p>
          <a:p>
            <a:pPr marL="0" indent="0">
              <a:buNone/>
            </a:pPr>
            <a:r>
              <a:rPr lang="en-US" b="1" dirty="0"/>
              <a:t>Recommended model: Random Forest Regressor</a:t>
            </a:r>
            <a:r>
              <a:rPr lang="en-US" dirty="0"/>
              <a:t> — best balance of speed, stability, and precision.</a:t>
            </a:r>
          </a:p>
        </p:txBody>
      </p:sp>
    </p:spTree>
    <p:extLst>
      <p:ext uri="{BB962C8B-B14F-4D97-AF65-F5344CB8AC3E}">
        <p14:creationId xmlns:p14="http://schemas.microsoft.com/office/powerpoint/2010/main" val="1247641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191956" y="1314885"/>
            <a:ext cx="9467127" cy="2527911"/>
          </a:xfrm>
        </p:spPr>
        <p:txBody>
          <a:bodyPr/>
          <a:lstStyle/>
          <a:p>
            <a:r>
              <a:rPr lang="en-US" sz="6600" dirty="0"/>
              <a:t>THANK YOU</a:t>
            </a:r>
          </a:p>
        </p:txBody>
      </p:sp>
    </p:spTree>
    <p:extLst>
      <p:ext uri="{BB962C8B-B14F-4D97-AF65-F5344CB8AC3E}">
        <p14:creationId xmlns:p14="http://schemas.microsoft.com/office/powerpoint/2010/main" val="2184472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Custom</Template>
  <TotalTime>284</TotalTime>
  <Words>1393</Words>
  <Application>Microsoft Macintosh PowerPoint</Application>
  <PresentationFormat>Widescreen</PresentationFormat>
  <Paragraphs>163</Paragraphs>
  <Slides>29</Slides>
  <Notes>7</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Aptos</vt:lpstr>
      <vt:lpstr>Arial</vt:lpstr>
      <vt:lpstr>Calibri</vt:lpstr>
      <vt:lpstr>Calibri Light</vt:lpstr>
      <vt:lpstr>ITC Avant Garde Gothic</vt:lpstr>
      <vt:lpstr>TT Fors</vt:lpstr>
      <vt:lpstr>TT Fors Bold</vt:lpstr>
      <vt:lpstr>Wingdings</vt:lpstr>
      <vt:lpstr>Custom</vt:lpstr>
      <vt:lpstr>A Dual Analysis of NYC Business Licenses</vt:lpstr>
      <vt:lpstr>Introduction</vt:lpstr>
      <vt:lpstr>PowerPoint Presentation</vt:lpstr>
      <vt:lpstr>PowerPoint Presentation</vt:lpstr>
      <vt:lpstr>Dataset Overview</vt:lpstr>
      <vt:lpstr>Data preprocessing &amp; cleaning </vt:lpstr>
      <vt:lpstr>PowerPoint Presentation</vt:lpstr>
      <vt:lpstr>ONE HOT ENCODED COLUMNS</vt:lpstr>
      <vt:lpstr>PowerPoint Presentation</vt:lpstr>
      <vt:lpstr>Impute missing value with median and mode</vt:lpstr>
      <vt:lpstr>PowerPoint Presentation</vt:lpstr>
      <vt:lpstr>PowerPoint Presentation</vt:lpstr>
      <vt:lpstr>PowerPoint Presentation</vt:lpstr>
      <vt:lpstr>PowerPoint Presentation</vt:lpstr>
      <vt:lpstr>PowerPoint Presentation</vt:lpstr>
      <vt:lpstr>PowerPoint Presentation</vt:lpstr>
      <vt:lpstr>Task 1-classification</vt:lpstr>
      <vt:lpstr>PowerPoint Presentation</vt:lpstr>
      <vt:lpstr>PowerPoint Presentation</vt:lpstr>
      <vt:lpstr>PowerPoint Presentation</vt:lpstr>
      <vt:lpstr>Final Insights-classification</vt:lpstr>
      <vt:lpstr>Task 2-REGRESSIOn</vt:lpstr>
      <vt:lpstr>PowerPoint Presentation</vt:lpstr>
      <vt:lpstr>PowerPoint Presentation</vt:lpstr>
      <vt:lpstr>PowerPoint Presentation</vt:lpstr>
      <vt:lpstr>PowerPoint Presentation</vt:lpstr>
      <vt:lpstr>PowerPoint Presentation</vt:lpstr>
      <vt:lpstr>Final Insights-regression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Shergill, Mr. Sajan</dc:creator>
  <cp:lastModifiedBy>Shergill, Mr. Sajan</cp:lastModifiedBy>
  <cp:revision>18</cp:revision>
  <dcterms:created xsi:type="dcterms:W3CDTF">2025-11-04T00:58:13Z</dcterms:created>
  <dcterms:modified xsi:type="dcterms:W3CDTF">2025-11-05T21:44:06Z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