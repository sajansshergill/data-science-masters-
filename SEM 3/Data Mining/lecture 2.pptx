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76"/>
  </p:notesMasterIdLst>
  <p:sldIdLst>
    <p:sldId id="256" r:id="rId2"/>
    <p:sldId id="599" r:id="rId3"/>
    <p:sldId id="517" r:id="rId4"/>
    <p:sldId id="548" r:id="rId5"/>
    <p:sldId id="1021" r:id="rId6"/>
    <p:sldId id="1024" r:id="rId7"/>
    <p:sldId id="525" r:id="rId8"/>
    <p:sldId id="604" r:id="rId9"/>
    <p:sldId id="605" r:id="rId10"/>
    <p:sldId id="606" r:id="rId11"/>
    <p:sldId id="1025" r:id="rId12"/>
    <p:sldId id="600" r:id="rId13"/>
    <p:sldId id="624" r:id="rId14"/>
    <p:sldId id="572" r:id="rId15"/>
    <p:sldId id="768" r:id="rId16"/>
    <p:sldId id="769" r:id="rId17"/>
    <p:sldId id="785" r:id="rId18"/>
    <p:sldId id="770" r:id="rId19"/>
    <p:sldId id="771" r:id="rId20"/>
    <p:sldId id="772" r:id="rId21"/>
    <p:sldId id="773" r:id="rId22"/>
    <p:sldId id="779" r:id="rId23"/>
    <p:sldId id="774" r:id="rId24"/>
    <p:sldId id="796" r:id="rId25"/>
    <p:sldId id="775" r:id="rId26"/>
    <p:sldId id="776" r:id="rId27"/>
    <p:sldId id="777" r:id="rId28"/>
    <p:sldId id="795" r:id="rId29"/>
    <p:sldId id="783" r:id="rId30"/>
    <p:sldId id="818" r:id="rId31"/>
    <p:sldId id="1054" r:id="rId32"/>
    <p:sldId id="1055" r:id="rId33"/>
    <p:sldId id="897" r:id="rId34"/>
    <p:sldId id="973" r:id="rId35"/>
    <p:sldId id="819" r:id="rId36"/>
    <p:sldId id="802" r:id="rId37"/>
    <p:sldId id="803" r:id="rId38"/>
    <p:sldId id="804" r:id="rId39"/>
    <p:sldId id="805" r:id="rId40"/>
    <p:sldId id="814" r:id="rId41"/>
    <p:sldId id="815" r:id="rId42"/>
    <p:sldId id="809" r:id="rId43"/>
    <p:sldId id="953" r:id="rId44"/>
    <p:sldId id="811" r:id="rId45"/>
    <p:sldId id="813" r:id="rId46"/>
    <p:sldId id="955" r:id="rId47"/>
    <p:sldId id="954" r:id="rId48"/>
    <p:sldId id="1056" r:id="rId49"/>
    <p:sldId id="663" r:id="rId50"/>
    <p:sldId id="521" r:id="rId51"/>
    <p:sldId id="520" r:id="rId52"/>
    <p:sldId id="522" r:id="rId53"/>
    <p:sldId id="523" r:id="rId54"/>
    <p:sldId id="527" r:id="rId55"/>
    <p:sldId id="528" r:id="rId56"/>
    <p:sldId id="531" r:id="rId57"/>
    <p:sldId id="529" r:id="rId58"/>
    <p:sldId id="607" r:id="rId59"/>
    <p:sldId id="532" r:id="rId60"/>
    <p:sldId id="678" r:id="rId61"/>
    <p:sldId id="550" r:id="rId62"/>
    <p:sldId id="534" r:id="rId63"/>
    <p:sldId id="873" r:id="rId64"/>
    <p:sldId id="662" r:id="rId65"/>
    <p:sldId id="1031" r:id="rId66"/>
    <p:sldId id="1032" r:id="rId67"/>
    <p:sldId id="1033" r:id="rId68"/>
    <p:sldId id="874" r:id="rId69"/>
    <p:sldId id="840" r:id="rId70"/>
    <p:sldId id="864" r:id="rId71"/>
    <p:sldId id="1036" r:id="rId72"/>
    <p:sldId id="1042" r:id="rId73"/>
    <p:sldId id="552" r:id="rId74"/>
    <p:sldId id="1057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2177"/>
  </p:normalViewPr>
  <p:slideViewPr>
    <p:cSldViewPr snapToGrid="0">
      <p:cViewPr varScale="1">
        <p:scale>
          <a:sx n="117" d="100"/>
          <a:sy n="117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158420-2805-45F4-B5F0-B095131566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1DC5AB-78C3-48A3-BF55-8AAFD54ECCF1}">
      <dgm:prSet/>
      <dgm:spPr/>
      <dgm:t>
        <a:bodyPr/>
        <a:lstStyle/>
        <a:p>
          <a:r>
            <a:rPr lang="en-US"/>
            <a:t>Attributes and Objects</a:t>
          </a:r>
        </a:p>
      </dgm:t>
    </dgm:pt>
    <dgm:pt modelId="{C62D2175-2E38-4763-9694-BD9D0DF1C092}" type="parTrans" cxnId="{53E6174C-2254-4386-B256-8B374917B502}">
      <dgm:prSet/>
      <dgm:spPr/>
      <dgm:t>
        <a:bodyPr/>
        <a:lstStyle/>
        <a:p>
          <a:endParaRPr lang="en-US"/>
        </a:p>
      </dgm:t>
    </dgm:pt>
    <dgm:pt modelId="{8C3CDBEF-A746-4B5B-A970-E8783B6774BB}" type="sibTrans" cxnId="{53E6174C-2254-4386-B256-8B374917B502}">
      <dgm:prSet/>
      <dgm:spPr/>
      <dgm:t>
        <a:bodyPr/>
        <a:lstStyle/>
        <a:p>
          <a:endParaRPr lang="en-US"/>
        </a:p>
      </dgm:t>
    </dgm:pt>
    <dgm:pt modelId="{D2C9D1F1-3D1E-4C88-BBAF-4FE459786585}">
      <dgm:prSet/>
      <dgm:spPr/>
      <dgm:t>
        <a:bodyPr/>
        <a:lstStyle/>
        <a:p>
          <a:r>
            <a:rPr lang="en-US"/>
            <a:t>Types of Data</a:t>
          </a:r>
        </a:p>
      </dgm:t>
    </dgm:pt>
    <dgm:pt modelId="{856860E4-1E00-4A9E-81EA-22681920DC4B}" type="parTrans" cxnId="{0FEAD0BA-2736-498C-AB5F-691961701547}">
      <dgm:prSet/>
      <dgm:spPr/>
      <dgm:t>
        <a:bodyPr/>
        <a:lstStyle/>
        <a:p>
          <a:endParaRPr lang="en-US"/>
        </a:p>
      </dgm:t>
    </dgm:pt>
    <dgm:pt modelId="{ACC18927-E958-4604-8B04-84B0563FB1E3}" type="sibTrans" cxnId="{0FEAD0BA-2736-498C-AB5F-691961701547}">
      <dgm:prSet/>
      <dgm:spPr/>
      <dgm:t>
        <a:bodyPr/>
        <a:lstStyle/>
        <a:p>
          <a:endParaRPr lang="en-US"/>
        </a:p>
      </dgm:t>
    </dgm:pt>
    <dgm:pt modelId="{87D6A3D6-708E-472B-B150-9577E2E05356}">
      <dgm:prSet/>
      <dgm:spPr/>
      <dgm:t>
        <a:bodyPr/>
        <a:lstStyle/>
        <a:p>
          <a:r>
            <a:rPr lang="en-US"/>
            <a:t>Data Quality</a:t>
          </a:r>
        </a:p>
      </dgm:t>
    </dgm:pt>
    <dgm:pt modelId="{86374955-0672-48C4-9743-835B0E830612}" type="parTrans" cxnId="{589CEFE1-BE71-4E4A-B1CC-390BB8726BBA}">
      <dgm:prSet/>
      <dgm:spPr/>
      <dgm:t>
        <a:bodyPr/>
        <a:lstStyle/>
        <a:p>
          <a:endParaRPr lang="en-US"/>
        </a:p>
      </dgm:t>
    </dgm:pt>
    <dgm:pt modelId="{06AB2BB3-BA65-4C04-9B08-4A672486B9B3}" type="sibTrans" cxnId="{589CEFE1-BE71-4E4A-B1CC-390BB8726BBA}">
      <dgm:prSet/>
      <dgm:spPr/>
      <dgm:t>
        <a:bodyPr/>
        <a:lstStyle/>
        <a:p>
          <a:endParaRPr lang="en-US"/>
        </a:p>
      </dgm:t>
    </dgm:pt>
    <dgm:pt modelId="{FF7306AB-981B-4D6F-92A8-86E9DD2C60AE}">
      <dgm:prSet/>
      <dgm:spPr/>
      <dgm:t>
        <a:bodyPr/>
        <a:lstStyle/>
        <a:p>
          <a:r>
            <a:rPr lang="en-US"/>
            <a:t>Similarity and Distance</a:t>
          </a:r>
        </a:p>
      </dgm:t>
    </dgm:pt>
    <dgm:pt modelId="{AA5175E7-B43C-4386-9337-484CA90456C7}" type="parTrans" cxnId="{D87AD6D6-929B-4B56-9933-00EDFDFA4AD5}">
      <dgm:prSet/>
      <dgm:spPr/>
      <dgm:t>
        <a:bodyPr/>
        <a:lstStyle/>
        <a:p>
          <a:endParaRPr lang="en-US"/>
        </a:p>
      </dgm:t>
    </dgm:pt>
    <dgm:pt modelId="{CB2784FE-CA2F-4F8F-97A9-3F0AA4364140}" type="sibTrans" cxnId="{D87AD6D6-929B-4B56-9933-00EDFDFA4AD5}">
      <dgm:prSet/>
      <dgm:spPr/>
      <dgm:t>
        <a:bodyPr/>
        <a:lstStyle/>
        <a:p>
          <a:endParaRPr lang="en-US"/>
        </a:p>
      </dgm:t>
    </dgm:pt>
    <dgm:pt modelId="{364E8E47-345E-4DA7-AB34-9DF3A1A5A5F5}">
      <dgm:prSet/>
      <dgm:spPr/>
      <dgm:t>
        <a:bodyPr/>
        <a:lstStyle/>
        <a:p>
          <a:r>
            <a:rPr lang="en-US"/>
            <a:t>Data Preprocessing</a:t>
          </a:r>
        </a:p>
      </dgm:t>
    </dgm:pt>
    <dgm:pt modelId="{853F0DCE-648D-4D63-9AFC-C3D452146B23}" type="parTrans" cxnId="{3CBE6B3D-C7D0-48A0-90BC-C2CD7EB45B27}">
      <dgm:prSet/>
      <dgm:spPr/>
      <dgm:t>
        <a:bodyPr/>
        <a:lstStyle/>
        <a:p>
          <a:endParaRPr lang="en-US"/>
        </a:p>
      </dgm:t>
    </dgm:pt>
    <dgm:pt modelId="{354BCEBB-EE05-40BC-9EA0-8D04C25A5E91}" type="sibTrans" cxnId="{3CBE6B3D-C7D0-48A0-90BC-C2CD7EB45B27}">
      <dgm:prSet/>
      <dgm:spPr/>
      <dgm:t>
        <a:bodyPr/>
        <a:lstStyle/>
        <a:p>
          <a:endParaRPr lang="en-US"/>
        </a:p>
      </dgm:t>
    </dgm:pt>
    <dgm:pt modelId="{A9144806-37D0-8243-9372-83E58359BBF2}" type="pres">
      <dgm:prSet presAssocID="{10158420-2805-45F4-B5F0-B0951315660F}" presName="linear" presStyleCnt="0">
        <dgm:presLayoutVars>
          <dgm:animLvl val="lvl"/>
          <dgm:resizeHandles val="exact"/>
        </dgm:presLayoutVars>
      </dgm:prSet>
      <dgm:spPr/>
    </dgm:pt>
    <dgm:pt modelId="{D9AFFA49-F0C8-B44B-A3EC-D9C85C7C5D8F}" type="pres">
      <dgm:prSet presAssocID="{971DC5AB-78C3-48A3-BF55-8AAFD54ECCF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0860BE-B82D-3C41-AD0A-2D1592420BC0}" type="pres">
      <dgm:prSet presAssocID="{8C3CDBEF-A746-4B5B-A970-E8783B6774BB}" presName="spacer" presStyleCnt="0"/>
      <dgm:spPr/>
    </dgm:pt>
    <dgm:pt modelId="{21E7D228-EC25-014F-976E-8DCE1AA02280}" type="pres">
      <dgm:prSet presAssocID="{D2C9D1F1-3D1E-4C88-BBAF-4FE45978658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CEBCE1-20C2-4443-AAC0-AA4253F50F7F}" type="pres">
      <dgm:prSet presAssocID="{ACC18927-E958-4604-8B04-84B0563FB1E3}" presName="spacer" presStyleCnt="0"/>
      <dgm:spPr/>
    </dgm:pt>
    <dgm:pt modelId="{6D34CEA2-C1BC-334B-9217-048DB082B83B}" type="pres">
      <dgm:prSet presAssocID="{87D6A3D6-708E-472B-B150-9577E2E0535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931D106-9F43-9447-B7C6-AEAF5015339A}" type="pres">
      <dgm:prSet presAssocID="{06AB2BB3-BA65-4C04-9B08-4A672486B9B3}" presName="spacer" presStyleCnt="0"/>
      <dgm:spPr/>
    </dgm:pt>
    <dgm:pt modelId="{19D20E75-8258-CB4C-84A7-BECC018C8140}" type="pres">
      <dgm:prSet presAssocID="{FF7306AB-981B-4D6F-92A8-86E9DD2C60A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6EE7D3D-1CC4-294F-B7F6-0E1C83CBE288}" type="pres">
      <dgm:prSet presAssocID="{CB2784FE-CA2F-4F8F-97A9-3F0AA4364140}" presName="spacer" presStyleCnt="0"/>
      <dgm:spPr/>
    </dgm:pt>
    <dgm:pt modelId="{56A4F904-A61F-8741-A190-AFBC2F23A411}" type="pres">
      <dgm:prSet presAssocID="{364E8E47-345E-4DA7-AB34-9DF3A1A5A5F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03A2A1F-81F1-784E-94AF-4F65089CD24F}" type="presOf" srcId="{364E8E47-345E-4DA7-AB34-9DF3A1A5A5F5}" destId="{56A4F904-A61F-8741-A190-AFBC2F23A411}" srcOrd="0" destOrd="0" presId="urn:microsoft.com/office/officeart/2005/8/layout/vList2"/>
    <dgm:cxn modelId="{3CBE6B3D-C7D0-48A0-90BC-C2CD7EB45B27}" srcId="{10158420-2805-45F4-B5F0-B0951315660F}" destId="{364E8E47-345E-4DA7-AB34-9DF3A1A5A5F5}" srcOrd="4" destOrd="0" parTransId="{853F0DCE-648D-4D63-9AFC-C3D452146B23}" sibTransId="{354BCEBB-EE05-40BC-9EA0-8D04C25A5E91}"/>
    <dgm:cxn modelId="{53E6174C-2254-4386-B256-8B374917B502}" srcId="{10158420-2805-45F4-B5F0-B0951315660F}" destId="{971DC5AB-78C3-48A3-BF55-8AAFD54ECCF1}" srcOrd="0" destOrd="0" parTransId="{C62D2175-2E38-4763-9694-BD9D0DF1C092}" sibTransId="{8C3CDBEF-A746-4B5B-A970-E8783B6774BB}"/>
    <dgm:cxn modelId="{FCB36E68-08F3-A44E-8E50-2C07B6128324}" type="presOf" srcId="{87D6A3D6-708E-472B-B150-9577E2E05356}" destId="{6D34CEA2-C1BC-334B-9217-048DB082B83B}" srcOrd="0" destOrd="0" presId="urn:microsoft.com/office/officeart/2005/8/layout/vList2"/>
    <dgm:cxn modelId="{EBF81AAC-BD1A-C147-8AD8-466E9CB5A390}" type="presOf" srcId="{10158420-2805-45F4-B5F0-B0951315660F}" destId="{A9144806-37D0-8243-9372-83E58359BBF2}" srcOrd="0" destOrd="0" presId="urn:microsoft.com/office/officeart/2005/8/layout/vList2"/>
    <dgm:cxn modelId="{0FEAD0BA-2736-498C-AB5F-691961701547}" srcId="{10158420-2805-45F4-B5F0-B0951315660F}" destId="{D2C9D1F1-3D1E-4C88-BBAF-4FE459786585}" srcOrd="1" destOrd="0" parTransId="{856860E4-1E00-4A9E-81EA-22681920DC4B}" sibTransId="{ACC18927-E958-4604-8B04-84B0563FB1E3}"/>
    <dgm:cxn modelId="{123AA8D5-1BAD-1B46-A933-08EC68792176}" type="presOf" srcId="{FF7306AB-981B-4D6F-92A8-86E9DD2C60AE}" destId="{19D20E75-8258-CB4C-84A7-BECC018C8140}" srcOrd="0" destOrd="0" presId="urn:microsoft.com/office/officeart/2005/8/layout/vList2"/>
    <dgm:cxn modelId="{D87AD6D6-929B-4B56-9933-00EDFDFA4AD5}" srcId="{10158420-2805-45F4-B5F0-B0951315660F}" destId="{FF7306AB-981B-4D6F-92A8-86E9DD2C60AE}" srcOrd="3" destOrd="0" parTransId="{AA5175E7-B43C-4386-9337-484CA90456C7}" sibTransId="{CB2784FE-CA2F-4F8F-97A9-3F0AA4364140}"/>
    <dgm:cxn modelId="{EC10ECD7-C6D9-DE49-A136-BB4F166C17D3}" type="presOf" srcId="{971DC5AB-78C3-48A3-BF55-8AAFD54ECCF1}" destId="{D9AFFA49-F0C8-B44B-A3EC-D9C85C7C5D8F}" srcOrd="0" destOrd="0" presId="urn:microsoft.com/office/officeart/2005/8/layout/vList2"/>
    <dgm:cxn modelId="{B52483D8-781F-8B49-98BD-5F20092681E7}" type="presOf" srcId="{D2C9D1F1-3D1E-4C88-BBAF-4FE459786585}" destId="{21E7D228-EC25-014F-976E-8DCE1AA02280}" srcOrd="0" destOrd="0" presId="urn:microsoft.com/office/officeart/2005/8/layout/vList2"/>
    <dgm:cxn modelId="{589CEFE1-BE71-4E4A-B1CC-390BB8726BBA}" srcId="{10158420-2805-45F4-B5F0-B0951315660F}" destId="{87D6A3D6-708E-472B-B150-9577E2E05356}" srcOrd="2" destOrd="0" parTransId="{86374955-0672-48C4-9743-835B0E830612}" sibTransId="{06AB2BB3-BA65-4C04-9B08-4A672486B9B3}"/>
    <dgm:cxn modelId="{A041C241-6DD7-304C-9978-E0F6295B3743}" type="presParOf" srcId="{A9144806-37D0-8243-9372-83E58359BBF2}" destId="{D9AFFA49-F0C8-B44B-A3EC-D9C85C7C5D8F}" srcOrd="0" destOrd="0" presId="urn:microsoft.com/office/officeart/2005/8/layout/vList2"/>
    <dgm:cxn modelId="{77F2F5FF-A279-AD44-B0F8-15E311DF089F}" type="presParOf" srcId="{A9144806-37D0-8243-9372-83E58359BBF2}" destId="{600860BE-B82D-3C41-AD0A-2D1592420BC0}" srcOrd="1" destOrd="0" presId="urn:microsoft.com/office/officeart/2005/8/layout/vList2"/>
    <dgm:cxn modelId="{35CFEDF4-A6C6-3543-871C-7FD0FF141AF2}" type="presParOf" srcId="{A9144806-37D0-8243-9372-83E58359BBF2}" destId="{21E7D228-EC25-014F-976E-8DCE1AA02280}" srcOrd="2" destOrd="0" presId="urn:microsoft.com/office/officeart/2005/8/layout/vList2"/>
    <dgm:cxn modelId="{F8E0CC97-5823-FA4F-A245-F02B3A60D19A}" type="presParOf" srcId="{A9144806-37D0-8243-9372-83E58359BBF2}" destId="{52CEBCE1-20C2-4443-AAC0-AA4253F50F7F}" srcOrd="3" destOrd="0" presId="urn:microsoft.com/office/officeart/2005/8/layout/vList2"/>
    <dgm:cxn modelId="{BDBA5433-8B25-DA42-BAF4-2F52DDF36AC1}" type="presParOf" srcId="{A9144806-37D0-8243-9372-83E58359BBF2}" destId="{6D34CEA2-C1BC-334B-9217-048DB082B83B}" srcOrd="4" destOrd="0" presId="urn:microsoft.com/office/officeart/2005/8/layout/vList2"/>
    <dgm:cxn modelId="{32A76813-5DC7-CD48-9EDD-B7AF9F01446C}" type="presParOf" srcId="{A9144806-37D0-8243-9372-83E58359BBF2}" destId="{D931D106-9F43-9447-B7C6-AEAF5015339A}" srcOrd="5" destOrd="0" presId="urn:microsoft.com/office/officeart/2005/8/layout/vList2"/>
    <dgm:cxn modelId="{CA4BDB33-9F5D-A344-91AE-A412072AAA6B}" type="presParOf" srcId="{A9144806-37D0-8243-9372-83E58359BBF2}" destId="{19D20E75-8258-CB4C-84A7-BECC018C8140}" srcOrd="6" destOrd="0" presId="urn:microsoft.com/office/officeart/2005/8/layout/vList2"/>
    <dgm:cxn modelId="{E53FB05A-6922-AE4B-BD9F-B2A313E5E3CB}" type="presParOf" srcId="{A9144806-37D0-8243-9372-83E58359BBF2}" destId="{96EE7D3D-1CC4-294F-B7F6-0E1C83CBE288}" srcOrd="7" destOrd="0" presId="urn:microsoft.com/office/officeart/2005/8/layout/vList2"/>
    <dgm:cxn modelId="{DC18ECE1-2C25-C94D-ADE8-BDF80D1141A7}" type="presParOf" srcId="{A9144806-37D0-8243-9372-83E58359BBF2}" destId="{56A4F904-A61F-8741-A190-AFBC2F23A41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2F4D56-3249-5547-A924-FFCD66CB9FC8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0"/>
      <dgm:spPr/>
    </dgm:pt>
    <dgm:pt modelId="{31CC75B0-071D-B245-81F4-6EE7DED69FE7}">
      <dgm:prSet phldrT="[Text]" phldr="1"/>
      <dgm:spPr/>
      <dgm:t>
        <a:bodyPr/>
        <a:lstStyle/>
        <a:p>
          <a:endParaRPr lang="en-US"/>
        </a:p>
      </dgm:t>
    </dgm:pt>
    <dgm:pt modelId="{14469482-518B-4B41-826D-97C4D6758BE0}" type="parTrans" cxnId="{049AC3BB-08A8-4043-AE80-E86B290A477B}">
      <dgm:prSet/>
      <dgm:spPr/>
    </dgm:pt>
    <dgm:pt modelId="{9AB66B6C-C1AF-754B-9454-3937C17FDEB7}" type="sibTrans" cxnId="{049AC3BB-08A8-4043-AE80-E86B290A477B}">
      <dgm:prSet/>
      <dgm:spPr/>
    </dgm:pt>
    <dgm:pt modelId="{CBE0B2E1-3AE7-AB49-8005-DB015725AA5E}">
      <dgm:prSet phldrT="[Text]" phldr="1"/>
      <dgm:spPr/>
      <dgm:t>
        <a:bodyPr/>
        <a:lstStyle/>
        <a:p>
          <a:endParaRPr lang="en-US"/>
        </a:p>
      </dgm:t>
    </dgm:pt>
    <dgm:pt modelId="{1F90742B-8CF2-1B44-A255-03843D7FA45C}" type="parTrans" cxnId="{2690FF14-3F09-1542-8809-6DCBC97E6B5D}">
      <dgm:prSet/>
      <dgm:spPr/>
    </dgm:pt>
    <dgm:pt modelId="{3B83A1EC-62C5-344B-BB98-9AF55BC6B704}" type="sibTrans" cxnId="{2690FF14-3F09-1542-8809-6DCBC97E6B5D}">
      <dgm:prSet/>
      <dgm:spPr/>
    </dgm:pt>
    <dgm:pt modelId="{E28F1E35-4FAC-D843-B79D-47E7999677DC}">
      <dgm:prSet phldrT="[Text]" phldr="1"/>
      <dgm:spPr/>
      <dgm:t>
        <a:bodyPr/>
        <a:lstStyle/>
        <a:p>
          <a:endParaRPr lang="en-US"/>
        </a:p>
      </dgm:t>
    </dgm:pt>
    <dgm:pt modelId="{568CB45F-A7C9-3A41-BF33-4663E872709A}" type="parTrans" cxnId="{25CF1F9F-C267-C941-BFF3-19BE78EE1EE8}">
      <dgm:prSet/>
      <dgm:spPr/>
    </dgm:pt>
    <dgm:pt modelId="{4FCC930B-5F1E-4842-A459-9E436C9EFF60}" type="sibTrans" cxnId="{25CF1F9F-C267-C941-BFF3-19BE78EE1EE8}">
      <dgm:prSet/>
      <dgm:spPr/>
    </dgm:pt>
    <dgm:pt modelId="{D97D6B8E-BE1A-6742-923E-1D57F95C3B08}" type="pres">
      <dgm:prSet presAssocID="{D82F4D56-3249-5547-A924-FFCD66CB9FC8}" presName="Name0" presStyleCnt="0">
        <dgm:presLayoutVars>
          <dgm:dir/>
          <dgm:animLvl val="lvl"/>
          <dgm:resizeHandles val="exact"/>
        </dgm:presLayoutVars>
      </dgm:prSet>
      <dgm:spPr/>
    </dgm:pt>
    <dgm:pt modelId="{14CD8F0A-9E3B-B043-9087-F87329F15A17}" type="pres">
      <dgm:prSet presAssocID="{31CC75B0-071D-B245-81F4-6EE7DED69FE7}" presName="Name8" presStyleCnt="0"/>
      <dgm:spPr/>
    </dgm:pt>
    <dgm:pt modelId="{5BA2C652-2D6E-F642-8025-F1B914EA591A}" type="pres">
      <dgm:prSet presAssocID="{31CC75B0-071D-B245-81F4-6EE7DED69FE7}" presName="level" presStyleLbl="node1" presStyleIdx="0" presStyleCnt="3">
        <dgm:presLayoutVars>
          <dgm:chMax val="1"/>
          <dgm:bulletEnabled val="1"/>
        </dgm:presLayoutVars>
      </dgm:prSet>
      <dgm:spPr/>
    </dgm:pt>
    <dgm:pt modelId="{392D5775-EB37-DA45-97B5-B6F22CEF1C55}" type="pres">
      <dgm:prSet presAssocID="{31CC75B0-071D-B245-81F4-6EE7DED69FE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0F1AE4F-228F-774C-B9C3-4066E9755797}" type="pres">
      <dgm:prSet presAssocID="{CBE0B2E1-3AE7-AB49-8005-DB015725AA5E}" presName="Name8" presStyleCnt="0"/>
      <dgm:spPr/>
    </dgm:pt>
    <dgm:pt modelId="{758C5165-D552-9A4D-970F-193F0D88B3ED}" type="pres">
      <dgm:prSet presAssocID="{CBE0B2E1-3AE7-AB49-8005-DB015725AA5E}" presName="level" presStyleLbl="node1" presStyleIdx="1" presStyleCnt="3">
        <dgm:presLayoutVars>
          <dgm:chMax val="1"/>
          <dgm:bulletEnabled val="1"/>
        </dgm:presLayoutVars>
      </dgm:prSet>
      <dgm:spPr/>
    </dgm:pt>
    <dgm:pt modelId="{9796FC45-01CD-9A45-AE3C-35323EBEDBB4}" type="pres">
      <dgm:prSet presAssocID="{CBE0B2E1-3AE7-AB49-8005-DB015725AA5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28A9722-E028-F549-A103-48CEC5BC2899}" type="pres">
      <dgm:prSet presAssocID="{E28F1E35-4FAC-D843-B79D-47E7999677DC}" presName="Name8" presStyleCnt="0"/>
      <dgm:spPr/>
    </dgm:pt>
    <dgm:pt modelId="{5E1EC565-4201-4244-B052-0535C3B40BA3}" type="pres">
      <dgm:prSet presAssocID="{E28F1E35-4FAC-D843-B79D-47E7999677DC}" presName="level" presStyleLbl="node1" presStyleIdx="2" presStyleCnt="3">
        <dgm:presLayoutVars>
          <dgm:chMax val="1"/>
          <dgm:bulletEnabled val="1"/>
        </dgm:presLayoutVars>
      </dgm:prSet>
      <dgm:spPr/>
    </dgm:pt>
    <dgm:pt modelId="{E38DC6C0-7890-F944-BCEA-EAC98CC8757E}" type="pres">
      <dgm:prSet presAssocID="{E28F1E35-4FAC-D843-B79D-47E7999677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E2C680E-8695-6945-9850-23A37463BE7C}" type="presOf" srcId="{31CC75B0-071D-B245-81F4-6EE7DED69FE7}" destId="{5BA2C652-2D6E-F642-8025-F1B914EA591A}" srcOrd="0" destOrd="0" presId="urn:microsoft.com/office/officeart/2005/8/layout/pyramid1"/>
    <dgm:cxn modelId="{EA84630F-DBA8-B945-A58F-DD8DD2884525}" type="presOf" srcId="{E28F1E35-4FAC-D843-B79D-47E7999677DC}" destId="{5E1EC565-4201-4244-B052-0535C3B40BA3}" srcOrd="0" destOrd="0" presId="urn:microsoft.com/office/officeart/2005/8/layout/pyramid1"/>
    <dgm:cxn modelId="{2690FF14-3F09-1542-8809-6DCBC97E6B5D}" srcId="{D82F4D56-3249-5547-A924-FFCD66CB9FC8}" destId="{CBE0B2E1-3AE7-AB49-8005-DB015725AA5E}" srcOrd="1" destOrd="0" parTransId="{1F90742B-8CF2-1B44-A255-03843D7FA45C}" sibTransId="{3B83A1EC-62C5-344B-BB98-9AF55BC6B704}"/>
    <dgm:cxn modelId="{DB37B14E-D2DD-A347-B6D6-A010ACE7D4E7}" type="presOf" srcId="{CBE0B2E1-3AE7-AB49-8005-DB015725AA5E}" destId="{758C5165-D552-9A4D-970F-193F0D88B3ED}" srcOrd="0" destOrd="0" presId="urn:microsoft.com/office/officeart/2005/8/layout/pyramid1"/>
    <dgm:cxn modelId="{95133558-5C63-D549-BC96-7E2F495B8988}" type="presOf" srcId="{D82F4D56-3249-5547-A924-FFCD66CB9FC8}" destId="{D97D6B8E-BE1A-6742-923E-1D57F95C3B08}" srcOrd="0" destOrd="0" presId="urn:microsoft.com/office/officeart/2005/8/layout/pyramid1"/>
    <dgm:cxn modelId="{84E8CE9D-E67F-9547-95BB-B8863EBA3363}" type="presOf" srcId="{CBE0B2E1-3AE7-AB49-8005-DB015725AA5E}" destId="{9796FC45-01CD-9A45-AE3C-35323EBEDBB4}" srcOrd="1" destOrd="0" presId="urn:microsoft.com/office/officeart/2005/8/layout/pyramid1"/>
    <dgm:cxn modelId="{25CF1F9F-C267-C941-BFF3-19BE78EE1EE8}" srcId="{D82F4D56-3249-5547-A924-FFCD66CB9FC8}" destId="{E28F1E35-4FAC-D843-B79D-47E7999677DC}" srcOrd="2" destOrd="0" parTransId="{568CB45F-A7C9-3A41-BF33-4663E872709A}" sibTransId="{4FCC930B-5F1E-4842-A459-9E436C9EFF60}"/>
    <dgm:cxn modelId="{049AC3BB-08A8-4043-AE80-E86B290A477B}" srcId="{D82F4D56-3249-5547-A924-FFCD66CB9FC8}" destId="{31CC75B0-071D-B245-81F4-6EE7DED69FE7}" srcOrd="0" destOrd="0" parTransId="{14469482-518B-4B41-826D-97C4D6758BE0}" sibTransId="{9AB66B6C-C1AF-754B-9454-3937C17FDEB7}"/>
    <dgm:cxn modelId="{41DCF2F5-FCB5-7742-8FF6-53AA231CDA50}" type="presOf" srcId="{E28F1E35-4FAC-D843-B79D-47E7999677DC}" destId="{E38DC6C0-7890-F944-BCEA-EAC98CC8757E}" srcOrd="1" destOrd="0" presId="urn:microsoft.com/office/officeart/2005/8/layout/pyramid1"/>
    <dgm:cxn modelId="{D0782EF7-3F42-1F4F-90E3-A5D58D26EE0F}" type="presOf" srcId="{31CC75B0-071D-B245-81F4-6EE7DED69FE7}" destId="{392D5775-EB37-DA45-97B5-B6F22CEF1C55}" srcOrd="1" destOrd="0" presId="urn:microsoft.com/office/officeart/2005/8/layout/pyramid1"/>
    <dgm:cxn modelId="{C2D99C32-3BAF-364A-B24C-D8894557E62E}" type="presParOf" srcId="{D97D6B8E-BE1A-6742-923E-1D57F95C3B08}" destId="{14CD8F0A-9E3B-B043-9087-F87329F15A17}" srcOrd="0" destOrd="0" presId="urn:microsoft.com/office/officeart/2005/8/layout/pyramid1"/>
    <dgm:cxn modelId="{320FD3CE-42F3-3445-A970-96AD909F91A0}" type="presParOf" srcId="{14CD8F0A-9E3B-B043-9087-F87329F15A17}" destId="{5BA2C652-2D6E-F642-8025-F1B914EA591A}" srcOrd="0" destOrd="0" presId="urn:microsoft.com/office/officeart/2005/8/layout/pyramid1"/>
    <dgm:cxn modelId="{D1C02533-4FB8-0D4B-8AA1-9AF1C21137AD}" type="presParOf" srcId="{14CD8F0A-9E3B-B043-9087-F87329F15A17}" destId="{392D5775-EB37-DA45-97B5-B6F22CEF1C55}" srcOrd="1" destOrd="0" presId="urn:microsoft.com/office/officeart/2005/8/layout/pyramid1"/>
    <dgm:cxn modelId="{529A8CEF-608F-2148-8A13-4C6BA20E6C7A}" type="presParOf" srcId="{D97D6B8E-BE1A-6742-923E-1D57F95C3B08}" destId="{80F1AE4F-228F-774C-B9C3-4066E9755797}" srcOrd="1" destOrd="0" presId="urn:microsoft.com/office/officeart/2005/8/layout/pyramid1"/>
    <dgm:cxn modelId="{E3A5959B-6CDB-074A-AD8C-20E5E46910A7}" type="presParOf" srcId="{80F1AE4F-228F-774C-B9C3-4066E9755797}" destId="{758C5165-D552-9A4D-970F-193F0D88B3ED}" srcOrd="0" destOrd="0" presId="urn:microsoft.com/office/officeart/2005/8/layout/pyramid1"/>
    <dgm:cxn modelId="{F6D03501-5DAB-DF4D-A86A-DBBEB192852E}" type="presParOf" srcId="{80F1AE4F-228F-774C-B9C3-4066E9755797}" destId="{9796FC45-01CD-9A45-AE3C-35323EBEDBB4}" srcOrd="1" destOrd="0" presId="urn:microsoft.com/office/officeart/2005/8/layout/pyramid1"/>
    <dgm:cxn modelId="{693A6DCA-F735-2D4D-9FCE-14B0224DA40C}" type="presParOf" srcId="{D97D6B8E-BE1A-6742-923E-1D57F95C3B08}" destId="{D28A9722-E028-F549-A103-48CEC5BC2899}" srcOrd="2" destOrd="0" presId="urn:microsoft.com/office/officeart/2005/8/layout/pyramid1"/>
    <dgm:cxn modelId="{63FE6169-6049-8F4D-BC03-A6BF40090CBD}" type="presParOf" srcId="{D28A9722-E028-F549-A103-48CEC5BC2899}" destId="{5E1EC565-4201-4244-B052-0535C3B40BA3}" srcOrd="0" destOrd="0" presId="urn:microsoft.com/office/officeart/2005/8/layout/pyramid1"/>
    <dgm:cxn modelId="{64568958-0177-E942-9B21-552230530BEA}" type="presParOf" srcId="{D28A9722-E028-F549-A103-48CEC5BC2899}" destId="{E38DC6C0-7890-F944-BCEA-EAC98CC8757E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FFA49-F0C8-B44B-A3EC-D9C85C7C5D8F}">
      <dsp:nvSpPr>
        <dsp:cNvPr id="0" name=""/>
        <dsp:cNvSpPr/>
      </dsp:nvSpPr>
      <dsp:spPr>
        <a:xfrm>
          <a:off x="0" y="1528"/>
          <a:ext cx="6949440" cy="10553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Attributes and Objects</a:t>
          </a:r>
        </a:p>
      </dsp:txBody>
      <dsp:txXfrm>
        <a:off x="51517" y="53045"/>
        <a:ext cx="6846406" cy="952306"/>
      </dsp:txXfrm>
    </dsp:sp>
    <dsp:sp modelId="{21E7D228-EC25-014F-976E-8DCE1AA02280}">
      <dsp:nvSpPr>
        <dsp:cNvPr id="0" name=""/>
        <dsp:cNvSpPr/>
      </dsp:nvSpPr>
      <dsp:spPr>
        <a:xfrm>
          <a:off x="0" y="1183588"/>
          <a:ext cx="6949440" cy="1055340"/>
        </a:xfrm>
        <a:prstGeom prst="roundRect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Types of Data</a:t>
          </a:r>
        </a:p>
      </dsp:txBody>
      <dsp:txXfrm>
        <a:off x="51517" y="1235105"/>
        <a:ext cx="6846406" cy="952306"/>
      </dsp:txXfrm>
    </dsp:sp>
    <dsp:sp modelId="{6D34CEA2-C1BC-334B-9217-048DB082B83B}">
      <dsp:nvSpPr>
        <dsp:cNvPr id="0" name=""/>
        <dsp:cNvSpPr/>
      </dsp:nvSpPr>
      <dsp:spPr>
        <a:xfrm>
          <a:off x="0" y="2365649"/>
          <a:ext cx="6949440" cy="105534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Data Quality</a:t>
          </a:r>
        </a:p>
      </dsp:txBody>
      <dsp:txXfrm>
        <a:off x="51517" y="2417166"/>
        <a:ext cx="6846406" cy="952306"/>
      </dsp:txXfrm>
    </dsp:sp>
    <dsp:sp modelId="{19D20E75-8258-CB4C-84A7-BECC018C8140}">
      <dsp:nvSpPr>
        <dsp:cNvPr id="0" name=""/>
        <dsp:cNvSpPr/>
      </dsp:nvSpPr>
      <dsp:spPr>
        <a:xfrm>
          <a:off x="0" y="3547709"/>
          <a:ext cx="6949440" cy="1055340"/>
        </a:xfrm>
        <a:prstGeom prst="roundRect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Similarity and Distance</a:t>
          </a:r>
        </a:p>
      </dsp:txBody>
      <dsp:txXfrm>
        <a:off x="51517" y="3599226"/>
        <a:ext cx="6846406" cy="952306"/>
      </dsp:txXfrm>
    </dsp:sp>
    <dsp:sp modelId="{56A4F904-A61F-8741-A190-AFBC2F23A411}">
      <dsp:nvSpPr>
        <dsp:cNvPr id="0" name=""/>
        <dsp:cNvSpPr/>
      </dsp:nvSpPr>
      <dsp:spPr>
        <a:xfrm>
          <a:off x="0" y="4729769"/>
          <a:ext cx="6949440" cy="105534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Data Preprocessing</a:t>
          </a:r>
        </a:p>
      </dsp:txBody>
      <dsp:txXfrm>
        <a:off x="51517" y="4781286"/>
        <a:ext cx="6846406" cy="9523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2C652-2D6E-F642-8025-F1B914EA591A}">
      <dsp:nvSpPr>
        <dsp:cNvPr id="0" name=""/>
        <dsp:cNvSpPr/>
      </dsp:nvSpPr>
      <dsp:spPr>
        <a:xfrm>
          <a:off x="127000" y="0"/>
          <a:ext cx="127000" cy="77787"/>
        </a:xfrm>
        <a:prstGeom prst="trapezoid">
          <a:avLst>
            <a:gd name="adj" fmla="val 816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000" y="0"/>
        <a:ext cx="127000" cy="77787"/>
      </dsp:txXfrm>
    </dsp:sp>
    <dsp:sp modelId="{758C5165-D552-9A4D-970F-193F0D88B3ED}">
      <dsp:nvSpPr>
        <dsp:cNvPr id="0" name=""/>
        <dsp:cNvSpPr/>
      </dsp:nvSpPr>
      <dsp:spPr>
        <a:xfrm>
          <a:off x="63500" y="77787"/>
          <a:ext cx="254000" cy="77787"/>
        </a:xfrm>
        <a:prstGeom prst="trapezoid">
          <a:avLst>
            <a:gd name="adj" fmla="val 816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7950" y="77787"/>
        <a:ext cx="165100" cy="77787"/>
      </dsp:txXfrm>
    </dsp:sp>
    <dsp:sp modelId="{5E1EC565-4201-4244-B052-0535C3B40BA3}">
      <dsp:nvSpPr>
        <dsp:cNvPr id="0" name=""/>
        <dsp:cNvSpPr/>
      </dsp:nvSpPr>
      <dsp:spPr>
        <a:xfrm>
          <a:off x="0" y="155575"/>
          <a:ext cx="381000" cy="77787"/>
        </a:xfrm>
        <a:prstGeom prst="trapezoid">
          <a:avLst>
            <a:gd name="adj" fmla="val 816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675" y="155575"/>
        <a:ext cx="247650" cy="77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F4B5E-830F-604F-831B-CD174245CD3F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45E4B-1DEB-8147-BEBA-FAE0E548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8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solidFill>
            <a:srgbClr val="FFFFFF"/>
          </a:solidFill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22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5A6AC99-2C36-FF09-F059-EFE91BD812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E2E3AA9-CB1C-034A-A4F8-C459F9C69626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59DCD723-ABD2-0722-5987-E659A9BAE6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849FD20-7CEB-D903-7EBB-44E19957D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40086644-36D2-DBDB-2F44-69D419C22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7AAC74D-FDB6-4E43-A4B0-555E2C06A637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121455E7-9686-7BC3-C77B-22E3DEA6F4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D30D222-A5EC-BFBE-30A1-3673B1E7C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7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82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654F05AE-3A71-43A2-6EEE-408B306013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8297C92-F057-ED42-906F-D9D8FBD8240E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35FE1D80-D672-A535-DF6A-ED86C94F5A8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567910F-F8C7-2A8D-80D6-6AF2E30279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45E4B-1DEB-8147-BEBA-FAE0E54811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20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35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F6A11E19-06D6-9487-B865-7277A925B7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07FE18A-32B4-B744-89AC-F071025F2156}" type="slidenum">
              <a:rPr lang="en-US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98C2D26A-791C-E64D-E153-8D96002A26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8B91FC90-CA09-487C-348A-35708C38C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75F677EC-F8B0-5941-0945-71D5C3ABC9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5589114-DCB8-114C-8FE9-8CE5C3E8337E}" type="slidenum">
              <a:rPr lang="en-US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2347697D-2EA6-5BD7-DE74-01F9E50EFC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75C36EB6-C1A4-70F0-C037-1ECCE23B3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1B9FDA3C-5356-6A99-BB98-5CD1F2F745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1338374-64F7-1140-92C7-1CB6D669AA37}" type="slidenum">
              <a:rPr lang="en-US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0EE8A904-8990-0B69-5D0F-6DC397A8DC2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9DC9EFD-7B17-A0CC-DB46-77279935B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B7FC7F0E-9DC1-2996-D262-D2B26C2958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0196D5-2BF7-3543-A805-8610F715E9BB}" type="slidenum">
              <a:rPr lang="en-US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B8783C6-5000-310E-1BB2-2941B4E98D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1F1D82A-87D0-F1D7-2B0B-7EFF52072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47582444-B464-BAB9-308F-0B8D6A8BE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77EAA6B-CB9C-DF46-B348-41FE8EEB65C9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2C0BDDFD-81D9-E654-B115-100DF72F196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E3D880CD-AE1A-3D92-3BCD-EE436A4D3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A8DBC6A0-FEBF-8F4F-1699-6FE4AB465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CAD4152-6BD7-7249-9318-10397371BD15}" type="slidenum">
              <a:rPr lang="en-US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33B7172-3EF8-8A1D-3CD0-E092CD08022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D557E740-E0E7-EAE7-F4AC-383703039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8B99D97F-E173-5ACB-73E3-F8D1F82BBA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30FCC2C-B8D0-844F-A130-949EB4229C70}" type="slidenum">
              <a:rPr lang="en-US" altLang="en-US" sz="1200">
                <a:latin typeface="Times New Roman" panose="02020603050405020304" pitchFamily="18" charset="0"/>
              </a:rPr>
              <a:pPr/>
              <a:t>21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8CF32F56-D34F-3D2E-D7EC-543D5EEFF6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A458CD5B-ED61-12B7-5345-3F71DD849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F1262757-8992-C2F8-536F-70B066766A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B3216EE-DD22-4649-B428-8DD7BA93F463}" type="slidenum">
              <a:rPr lang="en-US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A6BCAE0E-D915-58C2-CF27-62A2034426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27F2FF5C-CE55-264E-238E-A3D690545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13B74D1B-D27C-2E30-1DB8-D35E15295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C1E0DCE-E824-A049-849D-246068BBD3E1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E04FBD02-1DD9-3994-7014-906743A5DD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910484E5-2288-A86B-F216-960D698D6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0759CE9F-F655-4823-19EB-F2E5341A7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62CE052-E31D-8A4F-92F6-068AE4BEAE5B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50EBE6DB-39FE-4FF6-0E7D-1BABA392A41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CD8664F-75CC-6D4C-4D44-3C3FF7F013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D8F726AB-9AED-EB69-B462-44FFDEF87D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B0C6ED2-90B8-F649-B1F2-51F72DE4F6AA}" type="slidenum">
              <a:rPr lang="en-US" altLang="en-US" sz="120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24A18DF-4A0F-81AB-9D8E-AEB6F56068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67D0E26-9687-0390-241C-83302D0CA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4147E525-8D78-EF55-E902-D88DFC623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CC17978-B951-8B4F-A1B0-F3E9329CB653}" type="slidenum">
              <a:rPr lang="en-US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6E52711F-EB9C-ADE6-E8C8-095EDD89A36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345B8968-CA80-393F-33E7-083B4F29A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Note: We need to </a:t>
            </a:r>
            <a:r>
              <a:rPr lang="en-US" altLang="en-US" b="1"/>
              <a:t>label</a:t>
            </a:r>
            <a:r>
              <a:rPr lang="en-US" altLang="en-US"/>
              <a:t> the dark plotted points as </a:t>
            </a:r>
            <a:r>
              <a:rPr lang="en-US" altLang="en-US" b="1"/>
              <a:t>Q1, Median, Q3</a:t>
            </a:r>
            <a:r>
              <a:rPr lang="en-US" altLang="en-US"/>
              <a:t> – that would help in understanding this graph.</a:t>
            </a:r>
          </a:p>
          <a:p>
            <a:r>
              <a:rPr lang="en-US" altLang="en-US"/>
              <a:t>Tell audience: There is a shift in distribution of branch 1 WRT branch 2 in that the unit prices of items sold at branch 1 tend to be lower than those at branch 2.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10020E3-9AB7-3E8A-8B4B-13F14D356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1B3DEAD-9C4B-9048-9682-1E78DD1E4448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04180F0-EA49-8268-7FFE-36239FF374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B3E0AA1-4323-C2B8-12EC-14772049B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ADB92FC2-6E93-C85A-256E-36CB131A6A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C70171D-BA7F-104A-82F9-8D1F0D4E2B55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AA2075E9-366C-5EBC-19B6-691BB3F174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D0BB80FD-D869-F6F9-155F-76D9D3FB6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454ED62-DF01-FDD3-F88E-B85358977A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EEC189-9CA8-7E45-9279-04F67CB98872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7AFB1FB7-98B8-5D4A-B7D0-6203F0BDEE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8D87CF20-B37F-6371-920B-333096EB8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23086843-D02B-6AEC-5212-FFBD124D63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2BCA5C6-7384-B642-9476-D0F6DD47268D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B699C500-EFDA-D2EF-FF2F-4193E73CD6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9BE0FDA7-B59C-6C8B-41A1-963628888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50166815-C473-5B27-B1B8-192FD7D1BB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8533D023-EE5D-FB4E-B565-69F64E15CA47}" type="slidenum">
              <a:rPr lang="en-US" altLang="en-US" sz="1200">
                <a:latin typeface="Times New Roman" panose="02020603050405020304" pitchFamily="18" charset="0"/>
              </a:rPr>
              <a:pPr algn="r"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21324A3C-B972-5EBA-284B-B360133212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9D55F319-3B2A-0A19-0510-5D05E6629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508F55C2-47EB-013C-CDB4-EC4042D58C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B45F188C-83AA-6543-B016-8390A149B486}" type="slidenum">
              <a:rPr lang="en-US" altLang="en-US" sz="1200">
                <a:latin typeface="Times New Roman" panose="02020603050405020304" pitchFamily="18" charset="0"/>
              </a:rPr>
              <a:pPr algn="r"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02F16D21-1D1E-A2EB-3994-0CAAB6C5F21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090D3CDE-9B1E-A82C-C78B-636BE99CE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9563B36-C94B-59F7-E289-BA9FAD72BA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E149DD6-7B32-FE4B-AC9E-C853D6953843}" type="slidenum">
              <a:rPr lang="en-US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59F91571-18D6-6A4E-D55A-AC4E3E7D028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909E6D26-C168-7226-8C79-0264BCB18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1280C8A2-FD89-EA07-4DCF-6A9E60316B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8EE3828-F6C2-3C43-8B70-5267FCF6B303}" type="slidenum">
              <a:rPr lang="en-US" altLang="en-US" sz="1200">
                <a:latin typeface="Times New Roman" panose="02020603050405020304" pitchFamily="18" charset="0"/>
              </a:rPr>
              <a:pPr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3F8AFF78-5371-6AD0-8E07-E21997E9E22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8E87D7C8-FDE1-5847-26AF-309F766E4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http://books.elsevier.com/companions/1558606890/pictures/Chapter_01/fig1-6b.gif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FB0054A2-4C3F-7380-D5F1-37ADD9D688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66ADC5F-B84F-F64D-8A5C-F6BF1541C76E}" type="slidenum">
              <a:rPr lang="en-US" altLang="en-US" sz="1200">
                <a:latin typeface="Times New Roman" panose="02020603050405020304" pitchFamily="18" charset="0"/>
              </a:rPr>
              <a:pPr/>
              <a:t>35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8811AFD-725B-BC88-B267-27D8AD0BECF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9D70F7E2-36EE-1A36-B590-948C2CE77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5785FF0E-21C5-D0D0-110C-40D3C3164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86D0887-1F4B-E74E-8447-4EE906BE656E}" type="slidenum">
              <a:rPr lang="en-US" altLang="en-US" sz="1200">
                <a:latin typeface="Times New Roman" panose="02020603050405020304" pitchFamily="18" charset="0"/>
              </a:rPr>
              <a:pPr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8A69CB80-9019-EF2F-3CC0-FC225C602B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4B4A066F-F2FF-7A8E-DBDD-7DDD13845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F6992529-5299-4A15-8E61-4F91CEA873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ECF135-64A7-3F4A-9A5F-AF9B2CCD4E6F}" type="slidenum">
              <a:rPr lang="en-US" altLang="en-US" sz="1200">
                <a:latin typeface="Times New Roman" panose="02020603050405020304" pitchFamily="18" charset="0"/>
              </a:rPr>
              <a:pPr/>
              <a:t>37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2B3D26C0-84FA-609D-8C5B-27B2AFA5F4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3B686140-179F-6299-9847-40D70885D8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827B99E8-1D92-ACCD-EA37-8DFD6E85F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27AB265-E910-D44C-8E31-A7A7F73A3012}" type="slidenum">
              <a:rPr lang="en-US" altLang="en-US" sz="1200">
                <a:latin typeface="Times New Roman" panose="02020603050405020304" pitchFamily="18" charset="0"/>
              </a:rPr>
              <a:pPr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7781B27-B620-7D4B-3AE4-8C2A29D7AF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32A90A9-7054-66A8-1593-33375E0E9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F83E66F4-F7F9-7436-CE47-83B69548A3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2FF438B-6D90-B148-90F5-A6165638D8DE}" type="slidenum">
              <a:rPr lang="en-US" altLang="en-US" sz="1200">
                <a:latin typeface="Times New Roman" panose="02020603050405020304" pitchFamily="18" charset="0"/>
              </a:rPr>
              <a:pPr/>
              <a:t>39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36CC6775-39E6-CE89-E870-201D569E30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439C15B1-DEBB-D3E4-1A40-2E7F49DAE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3B7EABFC-0EED-708B-A2A5-D8D9FF714C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37EB75B-E2E2-3940-A031-1F6087BB3467}" type="slidenum">
              <a:rPr lang="en-US" altLang="en-US" sz="1200"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D36801A3-C075-940B-E480-CCF93253F3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127E8C34-5533-3C7E-DBBE-484F6F525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4CFBB81A-5D46-14FF-ADBA-994B494CE7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2A60E47-DCEF-D84B-8BBB-D5301A08ED5F}" type="slidenum">
              <a:rPr lang="en-US" altLang="en-US" sz="1200">
                <a:latin typeface="Times New Roman" panose="02020603050405020304" pitchFamily="18" charset="0"/>
              </a:rPr>
              <a:pPr/>
              <a:t>41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7FF3505-E78E-9397-C81A-1B1D71A452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DBF7F2A-122A-A243-5A94-90519821F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36EBC4B7-DE41-B2D4-404A-C86051D839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1CC8BB5-11D7-7541-9AC9-5F09B7239A26}" type="slidenum">
              <a:rPr lang="en-US" altLang="en-US" sz="1200">
                <a:latin typeface="Times New Roman" panose="02020603050405020304" pitchFamily="18" charset="0"/>
              </a:rPr>
              <a:pPr/>
              <a:t>42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E178E3A0-38D2-D099-5B0C-3EFBA5A389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F3EF481C-6E98-DCC3-4C71-9D843EBCD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5F41AEDD-8C7B-A093-9702-10B166518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9CD4C24-14F3-2546-82EE-F71510ADBDB6}" type="slidenum">
              <a:rPr lang="en-US" altLang="en-US" sz="1200">
                <a:latin typeface="Times New Roman" panose="02020603050405020304" pitchFamily="18" charset="0"/>
              </a:rPr>
              <a:pPr/>
              <a:t>43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1786F45B-FDC4-4F96-F01E-A50A73F730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6F902ECB-C1A8-56C2-CB43-0BCC998F0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5C9578C-9DE5-7591-6613-D9140B77F8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A75BCCB-7E7F-5842-B55E-3E0E4A848DB4}" type="slidenum">
              <a:rPr lang="en-US" altLang="en-US" sz="1200">
                <a:latin typeface="Times New Roman" panose="02020603050405020304" pitchFamily="18" charset="0"/>
              </a:rPr>
              <a:pPr/>
              <a:t>44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1379F28B-CE98-3C2F-BA96-570B015E13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2F68337D-C791-9BA6-B5F3-6C82F8759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84D50EC5-525C-025E-B76A-E493D2293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450FD8B-7F6E-A14C-BEA0-33D600DAF53B}" type="slidenum">
              <a:rPr lang="en-US" altLang="en-US" sz="1200">
                <a:latin typeface="Times New Roman" panose="02020603050405020304" pitchFamily="18" charset="0"/>
              </a:rPr>
              <a:pPr/>
              <a:t>45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38C5765E-6D4D-E790-4424-4D9E15D978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8409D2B6-BB6B-DD76-74C1-7A63A072F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A303E1DC-675D-340F-E9DA-C18EB36A67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28EA21F-7737-2D48-87EF-3B16CEB0BC83}" type="slidenum">
              <a:rPr lang="en-US" altLang="en-US" sz="1200">
                <a:latin typeface="Times New Roman" panose="02020603050405020304" pitchFamily="18" charset="0"/>
              </a:rPr>
              <a:pPr/>
              <a:t>46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16765ED6-8135-9415-D12B-AEBB1E4669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30B0F3ED-662B-13E2-497A-989D01B84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F803A30E-B149-EF60-9F60-1F99E5C1C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0111020-A72C-8945-A011-829EE44FD1E9}" type="slidenum">
              <a:rPr lang="en-US" altLang="en-US" sz="1200">
                <a:latin typeface="Times New Roman" panose="02020603050405020304" pitchFamily="18" charset="0"/>
              </a:rPr>
              <a:pPr/>
              <a:t>47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2BA40135-080E-720A-52A2-50E351B4D89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F177F95C-8E95-B292-7022-A2AB07BD8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530F929F-40A4-3310-765F-FBDFAA1ECA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E81F10E6-015A-2C59-CEBF-8EE85AAFE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607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3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115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705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230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787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360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69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666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808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7625" cy="3598863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83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8142C0B5-C817-19C4-B202-5280A95ED0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097FB22-2035-7A48-BCE3-A3754686F052}" type="slidenum">
              <a:rPr lang="en-US" altLang="en-US" sz="1200">
                <a:latin typeface="Times New Roman" panose="02020603050405020304" pitchFamily="18" charset="0"/>
              </a:rPr>
              <a:pPr/>
              <a:t>63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D59FF436-7290-C58C-F631-DE568BCB3CE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8088" y="700088"/>
            <a:ext cx="4598987" cy="3449637"/>
          </a:xfrm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F826AFDE-D80B-9E30-8148-9DCCC6B4C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85A98CAA-9549-6ECB-3E94-8FC11A5DCB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000C30-7B03-744D-AE76-BB99CAD654BE}" type="slidenum">
              <a:rPr lang="en-US" altLang="en-US" sz="1200">
                <a:latin typeface="Times New Roman" panose="02020603050405020304" pitchFamily="18" charset="0"/>
              </a:rPr>
              <a:pPr/>
              <a:t>65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5A630829-1AF1-DC34-9C36-C175555C23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A54CCAC6-614E-9FFC-F162-E9F0A9D6D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FE25DCB9-E4C9-A313-55C0-42512FCCD0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9A0A62E-FF6F-6846-B829-677794D41D39}" type="slidenum">
              <a:rPr lang="en-US" altLang="en-US" sz="1200">
                <a:latin typeface="Times New Roman" panose="02020603050405020304" pitchFamily="18" charset="0"/>
              </a:rPr>
              <a:pPr/>
              <a:t>66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D01EEA47-E5DB-26EB-E0EE-9A8D2FB252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04FE092-8EDE-32EA-B583-C780C6796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B5D3C2B1-EB51-3287-57D5-8A5A148FE5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0C0BCB6-3460-DF42-B99A-414F10E41E89}" type="slidenum">
              <a:rPr lang="en-US" altLang="en-US" sz="1200">
                <a:latin typeface="Times New Roman" panose="02020603050405020304" pitchFamily="18" charset="0"/>
              </a:rPr>
              <a:pPr/>
              <a:t>67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495EA7AD-84EB-EBEC-BC7E-2C82865F494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30A819A5-0E50-4A40-9082-1FBA22E02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B07E5848-C807-7016-F77B-995A7295C6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7B9F63-F2F5-9644-8C2B-BED81A80AC9A}" type="slidenum">
              <a:rPr lang="en-US" altLang="en-US" sz="1200">
                <a:latin typeface="Times New Roman" panose="02020603050405020304" pitchFamily="18" charset="0"/>
              </a:rPr>
              <a:pPr/>
              <a:t>68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61D0B598-1FA1-85F6-F18D-E26E9FD1A9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4249F054-4B9D-3BA2-815A-A02951803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7187C12A-4B69-088D-E20C-369B3BD6E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A7C6BFD-21A5-494A-A3C1-650076FE789F}" type="slidenum">
              <a:rPr lang="en-US" altLang="en-US" sz="1200">
                <a:latin typeface="Times New Roman" panose="02020603050405020304" pitchFamily="18" charset="0"/>
              </a:rPr>
              <a:pPr/>
              <a:t>69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A9C924EB-365E-8E6C-5A20-9D974A8C28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7A17B16F-D192-7EBC-DD24-52D462B2D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 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5EDDCB56-2E14-5366-6B12-FA1ADC950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D2DF790-08B1-F94A-B4F2-E93B346DE99C}" type="slidenum">
              <a:rPr lang="en-US" altLang="en-US" sz="1200">
                <a:latin typeface="Times New Roman" panose="02020603050405020304" pitchFamily="18" charset="0"/>
              </a:rPr>
              <a:pPr/>
              <a:t>70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386BA411-1D37-F77E-2176-3EFDC69070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8088" y="700088"/>
            <a:ext cx="4598987" cy="3449637"/>
          </a:xfrm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09E8FB6D-49E5-C6AA-2FD6-8F9186473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F704D182-A7B5-18BE-49B7-44A0ACB500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E46971D-419D-964E-A398-CD3D80ADABE5}" type="slidenum">
              <a:rPr lang="en-US" altLang="en-US" sz="1200">
                <a:latin typeface="Times New Roman" panose="02020603050405020304" pitchFamily="18" charset="0"/>
              </a:rPr>
              <a:pPr/>
              <a:t>71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E29A5AC8-1034-C41D-0247-09927942E7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95E31CDA-780C-3355-8614-4ABD72811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D31E0CFE-68C2-8981-A4B4-1554585653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7682D9D-046E-5F48-90A4-A8494F6A7EAE}" type="slidenum">
              <a:rPr lang="en-US" altLang="en-US" sz="1200">
                <a:latin typeface="Times New Roman" panose="02020603050405020304" pitchFamily="18" charset="0"/>
              </a:rPr>
              <a:pPr/>
              <a:t>72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7FC24087-956C-6676-9B81-9332744BCC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AC257F06-744A-721A-0BF4-33D8AA777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0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7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8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7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4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3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1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9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6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525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AD005998-58E8-C318-13A2-A58B90CD9C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B1820B-57B8-F74C-9069-F7DCC156F3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2011663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365070BE-F1FD-7A0C-1C5D-328812A8CA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29871D-3512-094D-BD40-267A43B80D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836261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64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064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0862146D-C861-DCC6-3BAD-2B39516CBA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BB73C-6B61-694E-8ADE-21C8D366EB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773929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4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  <p:sldLayoutId id="2147483700" r:id="rId12"/>
    <p:sldLayoutId id="2147483701" r:id="rId13"/>
    <p:sldLayoutId id="2147483702" r:id="rId14"/>
    <p:sldLayoutId id="214748370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0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56.w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emf"/></Relationships>
</file>

<file path=ppt/slides/_rels/slide6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6.jpeg"/><Relationship Id="rId7" Type="http://schemas.openxmlformats.org/officeDocument/2006/relationships/diagramColors" Target="../diagrams/colors2.xml"/><Relationship Id="rId12" Type="http://schemas.openxmlformats.org/officeDocument/2006/relationships/image" Target="../media/image70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69.jpeg"/><Relationship Id="rId5" Type="http://schemas.openxmlformats.org/officeDocument/2006/relationships/diagramLayout" Target="../diagrams/layout2.xml"/><Relationship Id="rId10" Type="http://schemas.openxmlformats.org/officeDocument/2006/relationships/image" Target="../media/image68.jpeg"/><Relationship Id="rId4" Type="http://schemas.openxmlformats.org/officeDocument/2006/relationships/diagramData" Target="../diagrams/data2.xml"/><Relationship Id="rId9" Type="http://schemas.openxmlformats.org/officeDocument/2006/relationships/image" Target="../media/image67.jpe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74.emf"/><Relationship Id="rId4" Type="http://schemas.openxmlformats.org/officeDocument/2006/relationships/image" Target="../media/image71.emf"/><Relationship Id="rId9" Type="http://schemas.openxmlformats.org/officeDocument/2006/relationships/oleObject" Target="../embeddings/oleObject25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78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76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83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82.emf"/><Relationship Id="rId4" Type="http://schemas.openxmlformats.org/officeDocument/2006/relationships/image" Target="../media/image79.emf"/><Relationship Id="rId9" Type="http://schemas.openxmlformats.org/officeDocument/2006/relationships/oleObject" Target="../embeddings/oleObject31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84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23DE2FC8-D675-D1EA-B028-154F932E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44" r="1" b="1"/>
          <a:stretch>
            <a:fillRect/>
          </a:stretch>
        </p:blipFill>
        <p:spPr>
          <a:xfrm>
            <a:off x="20" y="3048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56AB6-D4BE-B365-50D4-16CC84521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4786" y="898373"/>
            <a:ext cx="5048977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6000" dirty="0"/>
              <a:t>Data Mining</a:t>
            </a: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468AC-25BA-1AFC-AA9A-C2AD200F6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400" dirty="0"/>
              <a:t>Data</a:t>
            </a:r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57142-41D1-CE52-6202-FBC0A50F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95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Outline</a:t>
            </a:r>
          </a:p>
        </p:txBody>
      </p:sp>
      <p:graphicFrame>
        <p:nvGraphicFramePr>
          <p:cNvPr id="3077" name="Rectangle 3">
            <a:extLst>
              <a:ext uri="{FF2B5EF4-FFF2-40B4-BE49-F238E27FC236}">
                <a16:creationId xmlns:a16="http://schemas.microsoft.com/office/drawing/2014/main" id="{DFF6A33B-6A5B-B71F-C894-AC99FD2B2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83716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F17C9-7952-0C2B-6D79-131DAB08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Data?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840828" y="1143000"/>
            <a:ext cx="5255172" cy="51816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Collection of </a:t>
            </a:r>
            <a:r>
              <a:rPr lang="en-US" sz="2400" b="1" i="1" dirty="0">
                <a:solidFill>
                  <a:srgbClr val="CC6600"/>
                </a:solidFill>
              </a:rPr>
              <a:t>data objects </a:t>
            </a:r>
            <a:r>
              <a:rPr lang="en-US" sz="2400" dirty="0"/>
              <a:t>and their </a:t>
            </a:r>
            <a:r>
              <a:rPr lang="en-US" sz="2400" b="1" i="1" dirty="0">
                <a:solidFill>
                  <a:srgbClr val="CC6600"/>
                </a:solidFill>
              </a:rPr>
              <a:t>attributes</a:t>
            </a:r>
          </a:p>
          <a:p>
            <a:pPr lvl="4"/>
            <a:endParaRPr lang="en-US" sz="600" dirty="0"/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CC6600"/>
                </a:solidFill>
              </a:rPr>
              <a:t>attribute</a:t>
            </a:r>
            <a:r>
              <a:rPr lang="en-US" sz="2400" dirty="0"/>
              <a:t> is a property or characteristic of an object</a:t>
            </a:r>
          </a:p>
          <a:p>
            <a:pPr lvl="1"/>
            <a:r>
              <a:rPr lang="en-US" sz="2000" dirty="0"/>
              <a:t>Examples: eye color of a person, temperature, etc.</a:t>
            </a:r>
          </a:p>
          <a:p>
            <a:pPr lvl="1"/>
            <a:r>
              <a:rPr lang="en-US" sz="2000" dirty="0"/>
              <a:t>Attribute is also known as variable, field, characteristic, dimension, or feature</a:t>
            </a:r>
          </a:p>
          <a:p>
            <a:r>
              <a:rPr lang="en-US" sz="2400" dirty="0"/>
              <a:t>A collection of attributes describe an </a:t>
            </a:r>
            <a:r>
              <a:rPr lang="en-US" sz="2400" b="1" i="1" dirty="0">
                <a:solidFill>
                  <a:srgbClr val="CC6600"/>
                </a:solidFill>
              </a:rPr>
              <a:t>object</a:t>
            </a:r>
          </a:p>
          <a:p>
            <a:pPr lvl="1"/>
            <a:r>
              <a:rPr lang="en-US" sz="2000" dirty="0"/>
              <a:t>Object is also known as record, point, case, sample, entity, or instance</a:t>
            </a:r>
          </a:p>
          <a:p>
            <a:pPr lvl="4"/>
            <a:endParaRPr lang="en-US" dirty="0"/>
          </a:p>
        </p:txBody>
      </p:sp>
      <p:grpSp>
        <p:nvGrpSpPr>
          <p:cNvPr id="4100" name="Group 16"/>
          <p:cNvGrpSpPr>
            <a:grpSpLocks/>
          </p:cNvGrpSpPr>
          <p:nvPr/>
        </p:nvGrpSpPr>
        <p:grpSpPr bwMode="auto">
          <a:xfrm>
            <a:off x="7154864" y="1601788"/>
            <a:ext cx="3513137" cy="5027612"/>
            <a:chOff x="3403" y="1104"/>
            <a:chExt cx="2213" cy="2640"/>
          </a:xfrm>
        </p:grpSpPr>
        <p:graphicFrame>
          <p:nvGraphicFramePr>
            <p:cNvPr id="4107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5405628" imgH="5779008" progId="Word.Document.8">
                    <p:embed/>
                  </p:oleObj>
                </mc:Choice>
                <mc:Fallback>
                  <p:oleObj name="Document" r:id="rId3" imgW="5405628" imgH="5779008" progId="Word.Document.8">
                    <p:embed/>
                    <p:pic>
                      <p:nvPicPr>
                        <p:cNvPr id="410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8001000" y="1069976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Attributes</a:t>
            </a:r>
          </a:p>
        </p:txBody>
      </p:sp>
      <p:sp>
        <p:nvSpPr>
          <p:cNvPr id="4102" name="AutoShape 15"/>
          <p:cNvSpPr>
            <a:spLocks/>
          </p:cNvSpPr>
          <p:nvPr/>
        </p:nvSpPr>
        <p:spPr bwMode="auto">
          <a:xfrm>
            <a:off x="6781800" y="2517776"/>
            <a:ext cx="381000" cy="3808413"/>
          </a:xfrm>
          <a:prstGeom prst="leftBrace">
            <a:avLst>
              <a:gd name="adj1" fmla="val 8329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 rot="16200000">
            <a:off x="5859463" y="3889376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Objects</a:t>
            </a:r>
          </a:p>
        </p:txBody>
      </p:sp>
      <p:grpSp>
        <p:nvGrpSpPr>
          <p:cNvPr id="4104" name="Group 19"/>
          <p:cNvGrpSpPr>
            <a:grpSpLocks/>
          </p:cNvGrpSpPr>
          <p:nvPr/>
        </p:nvGrpSpPr>
        <p:grpSpPr bwMode="auto">
          <a:xfrm>
            <a:off x="662151" y="761999"/>
            <a:ext cx="10005850" cy="173039"/>
            <a:chOff x="264" y="788"/>
            <a:chExt cx="5232" cy="124"/>
          </a:xfrm>
        </p:grpSpPr>
        <p:sp>
          <p:nvSpPr>
            <p:cNvPr id="4105" name="Rectangle 20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21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Values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46234" y="1143000"/>
            <a:ext cx="10519992" cy="5181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i="1" dirty="0">
                <a:solidFill>
                  <a:srgbClr val="CC6600"/>
                </a:solidFill>
              </a:rPr>
              <a:t>Attribute values</a:t>
            </a:r>
            <a:r>
              <a:rPr lang="en-US" sz="2800" b="1" i="1" dirty="0"/>
              <a:t> </a:t>
            </a:r>
            <a:r>
              <a:rPr lang="en-US" sz="2800" dirty="0"/>
              <a:t>are numbers or symbols assigned to an attribute for a particular object</a:t>
            </a:r>
          </a:p>
          <a:p>
            <a:pPr lvl="4"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Distinction between attributes and attribute values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Same attribute can be mapped to different attribute values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 Example: height can be measured in feet or meters</a:t>
            </a:r>
          </a:p>
          <a:p>
            <a:pPr lvl="4">
              <a:lnSpc>
                <a:spcPct val="90000"/>
              </a:lnSpc>
            </a:pP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800" dirty="0"/>
              <a:t>Different attributes can be mapped to the same set of values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 Example: Attribute values for ID and age are integers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 But properties of attribute can be different than the properties of the values used to represent the attribute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7C0990-94D4-5081-E1F6-1E40DC1E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10AED156-808F-33CD-6FD0-1DA2B5132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0BB2D8F-5C64-7547-A6B2-B70B4398BDA9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4561C08-6732-0B29-19FB-52DF725ED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Attribute Types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6B97779-F335-1808-070E-687EBE4CC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292100" indent="-292100">
              <a:lnSpc>
                <a:spcPct val="90000"/>
              </a:lnSpc>
            </a:pPr>
            <a:r>
              <a:rPr lang="en-US" altLang="en-US" b="1" dirty="0"/>
              <a:t>Nominal:</a:t>
            </a:r>
            <a:r>
              <a:rPr lang="en-US" altLang="en-US" dirty="0"/>
              <a:t> categories, states, or “names of things”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altLang="en-US" sz="2000" i="1" dirty="0" err="1"/>
              <a:t>Hair_color</a:t>
            </a:r>
            <a:r>
              <a:rPr lang="en-US" altLang="en-US" sz="2000" i="1" dirty="0"/>
              <a:t> = </a:t>
            </a:r>
            <a:r>
              <a:rPr lang="en-US" altLang="en-US" sz="2000" dirty="0"/>
              <a:t>{</a:t>
            </a:r>
            <a:r>
              <a:rPr lang="en-US" altLang="en-US" sz="2000" i="1" dirty="0"/>
              <a:t>auburn, black, blond, brown, grey, red, white</a:t>
            </a:r>
            <a:r>
              <a:rPr lang="en-US" altLang="en-US" sz="2000" dirty="0"/>
              <a:t>}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altLang="en-US" sz="2000" dirty="0"/>
              <a:t>marital status, occupation, ID numbers, zip codes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sz="2000" dirty="0"/>
              <a:t>Examples: ID numbers, eye color, zip codes</a:t>
            </a:r>
          </a:p>
          <a:p>
            <a:pPr marL="40640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292100" indent="-292100">
              <a:lnSpc>
                <a:spcPct val="90000"/>
              </a:lnSpc>
            </a:pPr>
            <a:r>
              <a:rPr lang="en-US" altLang="en-US" b="1" dirty="0"/>
              <a:t>Binary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altLang="en-US" sz="2000" dirty="0"/>
              <a:t>Nominal attribute with only 2 states (0 and 1)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altLang="en-US" sz="2000" u="sng" dirty="0"/>
              <a:t>Symmetric binary</a:t>
            </a:r>
            <a:r>
              <a:rPr lang="en-US" altLang="en-US" sz="2000" dirty="0"/>
              <a:t>: both outcomes equally important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sz="2000" dirty="0"/>
              <a:t>e.g., gender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altLang="en-US" sz="2000" u="sng" dirty="0"/>
              <a:t>Asymmetric binary</a:t>
            </a:r>
            <a:r>
              <a:rPr lang="en-US" altLang="en-US" sz="2000" dirty="0"/>
              <a:t>: outcomes not equally important.  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sz="2000" dirty="0"/>
              <a:t>e.g., medical test (positive vs. negative)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sz="2000" dirty="0"/>
              <a:t>Convention: assign 1 to most important outcome (e.g., HIV positive)</a:t>
            </a:r>
          </a:p>
          <a:p>
            <a:pPr marL="292100" indent="-292100">
              <a:lnSpc>
                <a:spcPct val="90000"/>
              </a:lnSpc>
            </a:pPr>
            <a:r>
              <a:rPr lang="en-US" altLang="en-US" b="1" dirty="0"/>
              <a:t>Ordinal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altLang="en-US" sz="2000" dirty="0"/>
              <a:t>Values have a meaningful order (ranking) but magnitude between successive values is not known.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altLang="en-US" sz="2000" i="1" dirty="0"/>
              <a:t>Size = </a:t>
            </a:r>
            <a:r>
              <a:rPr lang="en-US" altLang="en-US" sz="2000" dirty="0"/>
              <a:t>{</a:t>
            </a:r>
            <a:r>
              <a:rPr lang="en-US" altLang="en-US" sz="2000" i="1" dirty="0"/>
              <a:t>small, medium, large</a:t>
            </a:r>
            <a:r>
              <a:rPr lang="en-US" altLang="en-US" sz="2000" dirty="0"/>
              <a:t>}</a:t>
            </a:r>
            <a:r>
              <a:rPr lang="en-US" altLang="en-US" sz="2000" i="1" dirty="0"/>
              <a:t>,</a:t>
            </a:r>
            <a:r>
              <a:rPr lang="en-US" altLang="en-US" sz="2000" dirty="0"/>
              <a:t> grades, army rankings</a:t>
            </a:r>
          </a:p>
          <a:p>
            <a:pPr marL="749300" lvl="1" indent="-342900">
              <a:lnSpc>
                <a:spcPct val="90000"/>
              </a:lnSpc>
            </a:pPr>
            <a:r>
              <a:rPr lang="en-US" sz="2000" dirty="0"/>
              <a:t>Examples: rankings (e.g., taste of potato chips on a scale from 1-10), grades, height {tall, medium, short}</a:t>
            </a:r>
          </a:p>
          <a:p>
            <a:pPr marL="749300" lvl="1" indent="-342900"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3DC515F1-C12A-D369-5B8E-43F36CC3F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E052DC3-0FA0-1046-B15D-244CA9B3F5D3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75CEDE9-47F7-B2A9-9191-6A027665F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Numeric Attribute Types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BB39508-2B4C-AEE6-EDB5-771DE5916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0828" y="1295400"/>
            <a:ext cx="10268606" cy="5257800"/>
          </a:xfrm>
        </p:spPr>
        <p:txBody>
          <a:bodyPr/>
          <a:lstStyle/>
          <a:p>
            <a:pPr marL="292100" indent="-292100">
              <a:lnSpc>
                <a:spcPct val="90000"/>
              </a:lnSpc>
            </a:pPr>
            <a:r>
              <a:rPr lang="en-US" altLang="en-US" sz="2400" dirty="0"/>
              <a:t>Quantity (integer or real-valued)</a:t>
            </a:r>
          </a:p>
          <a:p>
            <a:pPr marL="292100" indent="-292100">
              <a:lnSpc>
                <a:spcPct val="90000"/>
              </a:lnSpc>
            </a:pPr>
            <a:r>
              <a:rPr lang="en-US" altLang="en-US" sz="2400" b="1" dirty="0"/>
              <a:t>Interval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dirty="0"/>
              <a:t>Measured on a scale of </a:t>
            </a:r>
            <a:r>
              <a:rPr lang="en-US" altLang="en-US" b="1" dirty="0"/>
              <a:t>equal-sized units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dirty="0"/>
              <a:t>Values have order</a:t>
            </a:r>
          </a:p>
          <a:p>
            <a:pPr marL="1714500" lvl="3" indent="-393700">
              <a:lnSpc>
                <a:spcPct val="90000"/>
              </a:lnSpc>
            </a:pPr>
            <a:r>
              <a:rPr lang="en-US" altLang="en-US" sz="2400" dirty="0"/>
              <a:t>E.g., </a:t>
            </a:r>
            <a:r>
              <a:rPr lang="en-US" altLang="en-US" sz="2400" i="1" dirty="0"/>
              <a:t>temperature in </a:t>
            </a:r>
            <a:r>
              <a:rPr lang="en-US" altLang="en-US" sz="2400" i="1" dirty="0" err="1"/>
              <a:t>C</a:t>
            </a:r>
            <a:r>
              <a:rPr lang="en-US" altLang="en-US" sz="2400" i="1" dirty="0" err="1">
                <a:cs typeface="Tahoma" panose="020B0604030504040204" pitchFamily="34" charset="0"/>
              </a:rPr>
              <a:t>˚</a:t>
            </a:r>
            <a:r>
              <a:rPr lang="en-US" altLang="en-US" sz="2400" i="1" dirty="0" err="1"/>
              <a:t>or</a:t>
            </a:r>
            <a:r>
              <a:rPr lang="en-US" altLang="en-US" sz="2400" i="1" dirty="0"/>
              <a:t> F</a:t>
            </a:r>
            <a:r>
              <a:rPr lang="en-US" altLang="en-US" sz="2400" i="1" dirty="0">
                <a:cs typeface="Tahoma" panose="020B0604030504040204" pitchFamily="34" charset="0"/>
              </a:rPr>
              <a:t>˚</a:t>
            </a:r>
            <a:r>
              <a:rPr lang="en-US" altLang="en-US" sz="2400" i="1" dirty="0"/>
              <a:t>, calendar dates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dirty="0"/>
              <a:t>No true zero-point</a:t>
            </a:r>
          </a:p>
          <a:p>
            <a:pPr marL="292100" indent="-292100">
              <a:lnSpc>
                <a:spcPct val="90000"/>
              </a:lnSpc>
            </a:pPr>
            <a:r>
              <a:rPr lang="en-US" altLang="en-US" sz="2400" b="1" dirty="0"/>
              <a:t>Ratio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dirty="0"/>
              <a:t>Inherent </a:t>
            </a:r>
            <a:r>
              <a:rPr lang="en-US" altLang="en-US" b="1" dirty="0"/>
              <a:t>zero-point</a:t>
            </a:r>
          </a:p>
          <a:p>
            <a:pPr marL="1257300" lvl="2" indent="-393700">
              <a:lnSpc>
                <a:spcPct val="90000"/>
              </a:lnSpc>
            </a:pPr>
            <a:r>
              <a:rPr lang="en-US" altLang="en-US" dirty="0"/>
              <a:t>We can speak of values as being an order of magnitude larger than the unit of measurement (10 K</a:t>
            </a:r>
            <a:r>
              <a:rPr lang="en-US" altLang="en-US" dirty="0">
                <a:cs typeface="Tahoma" panose="020B0604030504040204" pitchFamily="34" charset="0"/>
              </a:rPr>
              <a:t>˚</a:t>
            </a:r>
            <a:r>
              <a:rPr lang="en-US" altLang="en-US" dirty="0"/>
              <a:t> is twice as high as 5 K</a:t>
            </a:r>
            <a:r>
              <a:rPr lang="en-US" altLang="en-US" dirty="0">
                <a:cs typeface="Tahoma" panose="020B0604030504040204" pitchFamily="34" charset="0"/>
              </a:rPr>
              <a:t>˚</a:t>
            </a:r>
            <a:r>
              <a:rPr lang="en-US" altLang="en-US" dirty="0"/>
              <a:t>).</a:t>
            </a:r>
          </a:p>
          <a:p>
            <a:pPr marL="1714500" lvl="3" indent="-393700">
              <a:lnSpc>
                <a:spcPct val="90000"/>
              </a:lnSpc>
            </a:pPr>
            <a:r>
              <a:rPr lang="en-US" altLang="en-US" sz="2400" dirty="0"/>
              <a:t>e.g., </a:t>
            </a:r>
            <a:r>
              <a:rPr lang="en-US" altLang="en-US" sz="2400" i="1" dirty="0"/>
              <a:t>temperature in Kelvin, length, counts, monetary quantities</a:t>
            </a:r>
            <a:endParaRPr lang="en-US" altLang="en-US" sz="18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Attribute Values 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type of an attribute depends on which of the following properties/operations it possesses:</a:t>
            </a:r>
          </a:p>
          <a:p>
            <a:pPr lvl="1"/>
            <a:r>
              <a:rPr lang="en-US" dirty="0"/>
              <a:t>Distinctness:  		</a:t>
            </a:r>
            <a:r>
              <a:rPr lang="en-US" sz="2800" dirty="0"/>
              <a:t>=  </a:t>
            </a:r>
            <a:r>
              <a:rPr lang="en-US" sz="2800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		</a:t>
            </a:r>
            <a:endParaRPr lang="en-US" dirty="0"/>
          </a:p>
          <a:p>
            <a:pPr lvl="1"/>
            <a:r>
              <a:rPr lang="en-US" dirty="0"/>
              <a:t>Order:  			</a:t>
            </a:r>
            <a:r>
              <a:rPr lang="en-US" sz="2800" dirty="0"/>
              <a:t>&lt;  &gt;</a:t>
            </a:r>
            <a:r>
              <a:rPr lang="en-US" dirty="0"/>
              <a:t>  		</a:t>
            </a:r>
          </a:p>
          <a:p>
            <a:pPr lvl="1"/>
            <a:r>
              <a:rPr lang="en-US" dirty="0"/>
              <a:t>Differences are		</a:t>
            </a:r>
            <a:r>
              <a:rPr lang="en-US" sz="2800" dirty="0"/>
              <a:t>+  -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meaningful : 		</a:t>
            </a:r>
          </a:p>
          <a:p>
            <a:pPr lvl="1"/>
            <a:r>
              <a:rPr lang="en-US" dirty="0"/>
              <a:t>Ratios are  		 </a:t>
            </a:r>
            <a:r>
              <a:rPr lang="en-US" sz="2800" dirty="0"/>
              <a:t>*  /</a:t>
            </a:r>
            <a:br>
              <a:rPr lang="en-US" sz="2800" dirty="0"/>
            </a:br>
            <a:r>
              <a:rPr lang="en-US" dirty="0"/>
              <a:t>meaningful</a:t>
            </a:r>
          </a:p>
          <a:p>
            <a:pPr lvl="4"/>
            <a:endParaRPr lang="en-US" sz="1400" dirty="0"/>
          </a:p>
          <a:p>
            <a:pPr lvl="1"/>
            <a:r>
              <a:rPr lang="en-US" dirty="0"/>
              <a:t>Nominal attribute: distinctness</a:t>
            </a:r>
          </a:p>
          <a:p>
            <a:pPr lvl="1"/>
            <a:r>
              <a:rPr lang="en-US" dirty="0"/>
              <a:t>Ordinal attribute: distinctness &amp; order</a:t>
            </a:r>
          </a:p>
          <a:p>
            <a:pPr lvl="1"/>
            <a:r>
              <a:rPr lang="en-US" dirty="0"/>
              <a:t>Interval attribute: distinctness, order &amp; meaningful differences</a:t>
            </a:r>
          </a:p>
          <a:p>
            <a:pPr lvl="1"/>
            <a:r>
              <a:rPr lang="en-US" dirty="0"/>
              <a:t>Ratio attribute: all 4 properties/operations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B8A2E-D382-F7CC-CCFB-957AE810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Between Ratio and Interval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5163" y="1066800"/>
            <a:ext cx="8318500" cy="5181600"/>
          </a:xfrm>
        </p:spPr>
        <p:txBody>
          <a:bodyPr/>
          <a:lstStyle/>
          <a:p>
            <a:r>
              <a:rPr lang="en-US" dirty="0"/>
              <a:t>Is it physically meaningful to say that a temperature of 10 </a:t>
            </a:r>
            <a:r>
              <a:rPr lang="en-US" dirty="0">
                <a:latin typeface="Sylfaen" pitchFamily="18" charset="0"/>
              </a:rPr>
              <a:t>°</a:t>
            </a:r>
            <a:r>
              <a:rPr lang="en-US" dirty="0"/>
              <a:t> is twice that of 5</a:t>
            </a:r>
            <a:r>
              <a:rPr lang="en-US" dirty="0">
                <a:latin typeface="Sylfaen" pitchFamily="18" charset="0"/>
              </a:rPr>
              <a:t>° </a:t>
            </a:r>
            <a:r>
              <a:rPr lang="en-US" dirty="0"/>
              <a:t>on </a:t>
            </a:r>
          </a:p>
          <a:p>
            <a:pPr lvl="1"/>
            <a:r>
              <a:rPr lang="en-US" dirty="0"/>
              <a:t>the Celsius scale?</a:t>
            </a:r>
          </a:p>
          <a:p>
            <a:pPr lvl="1"/>
            <a:r>
              <a:rPr lang="en-US" dirty="0"/>
              <a:t>the Fahrenheit scale?</a:t>
            </a:r>
          </a:p>
          <a:p>
            <a:pPr lvl="1"/>
            <a:r>
              <a:rPr lang="en-US" dirty="0"/>
              <a:t>the Kelvin scale?</a:t>
            </a:r>
          </a:p>
          <a:p>
            <a:pPr lvl="1"/>
            <a:endParaRPr lang="en-US" dirty="0"/>
          </a:p>
          <a:p>
            <a:r>
              <a:rPr lang="en-US" dirty="0"/>
              <a:t>Consider measuring the height above average</a:t>
            </a:r>
          </a:p>
          <a:p>
            <a:pPr lvl="1"/>
            <a:r>
              <a:rPr lang="en-US" dirty="0"/>
              <a:t>If Bill’s height is three inches above average and Bob’s height is six inches above average, then would we say that Bob is twice as tall as Bill?</a:t>
            </a:r>
          </a:p>
          <a:p>
            <a:pPr lvl="1"/>
            <a:r>
              <a:rPr lang="en-US" dirty="0"/>
              <a:t>Is this situation analogous to that of temperature?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BA27AE-60B4-5C07-FA52-00291DF0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33"/>
          <p:cNvGraphicFramePr>
            <a:graphicFrameLocks noChangeAspect="1"/>
          </p:cNvGraphicFramePr>
          <p:nvPr/>
        </p:nvGraphicFramePr>
        <p:xfrm>
          <a:off x="1808163" y="538163"/>
          <a:ext cx="8585200" cy="536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572080" imgH="5375817" progId="Word.Document.8">
                  <p:embed/>
                </p:oleObj>
              </mc:Choice>
              <mc:Fallback>
                <p:oleObj name="Document" r:id="rId2" imgW="8572080" imgH="5375817" progId="Word.Document.8">
                  <p:embed/>
                  <p:pic>
                    <p:nvPicPr>
                      <p:cNvPr id="10242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538163"/>
                        <a:ext cx="8585200" cy="536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1034"/>
          <p:cNvSpPr txBox="1">
            <a:spLocks noChangeArrowheads="1"/>
          </p:cNvSpPr>
          <p:nvPr/>
        </p:nvSpPr>
        <p:spPr bwMode="auto">
          <a:xfrm>
            <a:off x="2590800" y="6248401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This categorization of attributes is due to S. S. Stevens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C5392-345E-F3BE-D768-E585A226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82"/>
          <p:cNvGraphicFramePr>
            <a:graphicFrameLocks noChangeAspect="1"/>
          </p:cNvGraphicFramePr>
          <p:nvPr/>
        </p:nvGraphicFramePr>
        <p:xfrm>
          <a:off x="1866900" y="533400"/>
          <a:ext cx="8128000" cy="505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464646" imgH="5274525" progId="Word.Document.8">
                  <p:embed/>
                </p:oleObj>
              </mc:Choice>
              <mc:Fallback>
                <p:oleObj name="Document" r:id="rId2" imgW="8464646" imgH="5274525" progId="Word.Document.8">
                  <p:embed/>
                  <p:pic>
                    <p:nvPicPr>
                      <p:cNvPr id="11266" name="Object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533400"/>
                        <a:ext cx="8128000" cy="505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183"/>
          <p:cNvSpPr txBox="1">
            <a:spLocks noChangeArrowheads="1"/>
          </p:cNvSpPr>
          <p:nvPr/>
        </p:nvSpPr>
        <p:spPr bwMode="auto">
          <a:xfrm>
            <a:off x="2590800" y="6248401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This categorization of attributes is due to S. S. Stevens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5EB070-E5E5-4F3E-00FC-9FEDCE82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881DE791-353E-1F63-5057-20F2881B5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C3A8DDF-B3B9-D544-99A2-A47958E89C9A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1ED0FFA-E37F-5DFD-8A20-88F070C62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Discrete vs. Continuous Attributes 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532FC09-1507-1699-4A9B-23128104A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0221" y="1219200"/>
            <a:ext cx="9869213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 dirty="0"/>
              <a:t>Discrete</a:t>
            </a:r>
            <a:r>
              <a:rPr lang="en-US" altLang="en-US" sz="2400" dirty="0"/>
              <a:t> </a:t>
            </a:r>
            <a:r>
              <a:rPr lang="en-US" altLang="en-US" sz="2400" b="1" dirty="0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Has only a finite or countably infinite set of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E.g., zip codes, profession, or the set of words in a collection of documents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Sometimes, represented as integer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Note: Binary attributes are a special case of discrete attributes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/>
              <a:t>Continuous</a:t>
            </a:r>
            <a:r>
              <a:rPr lang="en-US" altLang="en-US" sz="2400" dirty="0"/>
              <a:t> </a:t>
            </a:r>
            <a:r>
              <a:rPr lang="en-US" altLang="en-US" sz="2400" b="1" dirty="0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Has real numbers as attribute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E.g., temperature, height, or weight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Practically, real values can only be measured and represented using a finite number of digits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Continuous attributes are typically represented as floating-point 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Asymmetric Attributes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35164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Only presence (a non-zero attribute value) is regarded as important</a:t>
            </a:r>
          </a:p>
          <a:p>
            <a:pPr marL="1311275" lvl="2" indent="-396875"/>
            <a:r>
              <a:rPr lang="en-US" sz="1800" dirty="0"/>
              <a:t>Words present in documents</a:t>
            </a:r>
          </a:p>
          <a:p>
            <a:pPr marL="1311275" lvl="2" indent="-396875"/>
            <a:r>
              <a:rPr lang="en-US" sz="1800" dirty="0"/>
              <a:t>Items present in customer transactions</a:t>
            </a:r>
          </a:p>
          <a:p>
            <a:pPr marL="1311275" lvl="2" indent="-396875"/>
            <a:endParaRPr lang="en-US" sz="1800" dirty="0"/>
          </a:p>
          <a:p>
            <a:r>
              <a:rPr lang="en-US" sz="2400" dirty="0"/>
              <a:t>If we met a friend in the grocery store would we ever say the following?</a:t>
            </a:r>
            <a:br>
              <a:rPr lang="en-US" sz="2400" dirty="0"/>
            </a:br>
            <a:br>
              <a:rPr lang="en-US" sz="1000" dirty="0"/>
            </a:br>
            <a:r>
              <a:rPr lang="en-US" sz="2400" i="1" dirty="0">
                <a:latin typeface="Times New Roman" pitchFamily="18" charset="0"/>
              </a:rPr>
              <a:t>“I see our purchases are very similar since we didn’t buy most of the same things.” </a:t>
            </a:r>
          </a:p>
          <a:p>
            <a:endParaRPr lang="en-US" sz="2400" i="1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Critiques of the attribute categorization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35164" y="1066800"/>
            <a:ext cx="8428037" cy="5181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Incomplete </a:t>
            </a:r>
          </a:p>
          <a:p>
            <a:pPr lvl="1"/>
            <a:r>
              <a:rPr lang="en-US" sz="2000" dirty="0"/>
              <a:t>Asymmetric binary</a:t>
            </a:r>
          </a:p>
          <a:p>
            <a:pPr lvl="1"/>
            <a:r>
              <a:rPr lang="en-US" sz="2000" dirty="0"/>
              <a:t>Cyclical</a:t>
            </a:r>
          </a:p>
          <a:p>
            <a:pPr lvl="1"/>
            <a:r>
              <a:rPr lang="en-US" sz="2000" dirty="0"/>
              <a:t>Multivariate</a:t>
            </a:r>
          </a:p>
          <a:p>
            <a:pPr lvl="1"/>
            <a:r>
              <a:rPr lang="en-US" sz="2000" dirty="0"/>
              <a:t>Partially ordered</a:t>
            </a:r>
          </a:p>
          <a:p>
            <a:pPr lvl="1"/>
            <a:r>
              <a:rPr lang="en-US" sz="2000" dirty="0"/>
              <a:t>Partial membership</a:t>
            </a:r>
          </a:p>
          <a:p>
            <a:pPr lvl="1"/>
            <a:r>
              <a:rPr lang="en-US" sz="2000" dirty="0"/>
              <a:t>Relationships between the data</a:t>
            </a:r>
          </a:p>
          <a:p>
            <a:pPr lvl="1"/>
            <a:endParaRPr lang="en-US" sz="2000" dirty="0"/>
          </a:p>
          <a:p>
            <a:r>
              <a:rPr lang="en-US" sz="2400" dirty="0"/>
              <a:t>Real data is approximate and noisy</a:t>
            </a:r>
          </a:p>
          <a:p>
            <a:pPr lvl="1"/>
            <a:r>
              <a:rPr lang="en-US" sz="2000" dirty="0"/>
              <a:t>This can complicate recognition of the proper attribute type</a:t>
            </a:r>
          </a:p>
          <a:p>
            <a:pPr lvl="1"/>
            <a:r>
              <a:rPr lang="en-US" sz="2000" dirty="0"/>
              <a:t>Treating one attribute type as another may be approximately correct</a:t>
            </a:r>
          </a:p>
          <a:p>
            <a:pPr lvl="1"/>
            <a:endParaRPr lang="en-US" sz="2000" dirty="0"/>
          </a:p>
          <a:p>
            <a:pPr lvl="1" indent="0">
              <a:buNone/>
            </a:pPr>
            <a:endParaRPr lang="en-US" sz="2000" dirty="0"/>
          </a:p>
          <a:p>
            <a:pPr lvl="2" indent="233363"/>
            <a:endParaRPr lang="en-US" dirty="0"/>
          </a:p>
          <a:p>
            <a:pPr lvl="2" indent="233363"/>
            <a:endParaRPr lang="en-US" dirty="0"/>
          </a:p>
          <a:p>
            <a:pPr lvl="1"/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2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64931" y="304800"/>
            <a:ext cx="8585200" cy="685800"/>
          </a:xfrm>
        </p:spPr>
        <p:txBody>
          <a:bodyPr/>
          <a:lstStyle/>
          <a:p>
            <a:r>
              <a:rPr lang="en-US" sz="2800" dirty="0"/>
              <a:t>Important Characteristics of Data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4097" y="990600"/>
            <a:ext cx="8950653" cy="5029200"/>
          </a:xfrm>
          <a:noFill/>
        </p:spPr>
        <p:txBody>
          <a:bodyPr>
            <a:normAutofit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Dimensionality (number of attributes)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High dimensional data brings a number of challenges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 err="1"/>
              <a:t>Sparsity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Only presence counts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Resolution</a:t>
            </a:r>
          </a:p>
          <a:p>
            <a:pPr lvl="2" indent="-342900">
              <a:lnSpc>
                <a:spcPct val="105000"/>
              </a:lnSpc>
              <a:spcBef>
                <a:spcPct val="20000"/>
              </a:spcBef>
            </a:pPr>
            <a:r>
              <a:rPr lang="en-US" sz="2400" dirty="0"/>
              <a:t> Patterns depend on the scale 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Size</a:t>
            </a:r>
          </a:p>
          <a:p>
            <a:pPr lvl="2" indent="-342900">
              <a:lnSpc>
                <a:spcPct val="115000"/>
              </a:lnSpc>
              <a:spcBef>
                <a:spcPct val="20000"/>
              </a:spcBef>
            </a:pPr>
            <a:r>
              <a:rPr lang="en-US" sz="2400" dirty="0"/>
              <a:t>Type of analysis may depend on size of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65E82-591E-BEA7-F9F5-E0CAF25B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5D2B927F-EA28-ED50-F4A8-3930B79BE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030F18A-ED51-AD48-B855-D351EF047591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B883AF2-CB45-C4FF-CEE6-63F11DB4F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Basic Statistical Descriptions of Data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ED58F23-0EF4-B8BD-BB7E-B6E4FA7B1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10326414" cy="5257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SzPct val="80000"/>
            </a:pPr>
            <a:r>
              <a:rPr lang="en-US" altLang="en-US" sz="2400" u="sng" dirty="0"/>
              <a:t>Motivation</a:t>
            </a:r>
          </a:p>
          <a:p>
            <a:pPr lvl="1" eaLnBrk="1" hangingPunct="1">
              <a:buSzPct val="80000"/>
            </a:pPr>
            <a:r>
              <a:rPr lang="en-US" altLang="en-US" sz="2400" dirty="0"/>
              <a:t>To better understand the data: central tendency, variation and spread</a:t>
            </a:r>
          </a:p>
          <a:p>
            <a:pPr eaLnBrk="1" hangingPunct="1">
              <a:buSzPct val="80000"/>
            </a:pPr>
            <a:r>
              <a:rPr lang="en-US" altLang="en-US" sz="2400" u="sng" dirty="0"/>
              <a:t>Data dispersion characteristics</a:t>
            </a:r>
            <a:r>
              <a:rPr lang="en-US" altLang="en-US" sz="2400" dirty="0"/>
              <a:t> </a:t>
            </a:r>
          </a:p>
          <a:p>
            <a:pPr lvl="1" eaLnBrk="1" hangingPunct="1">
              <a:buSzPct val="80000"/>
            </a:pPr>
            <a:r>
              <a:rPr lang="en-US" altLang="en-US" sz="2400" dirty="0"/>
              <a:t>median, max, min, quantiles, outliers, variance, etc.</a:t>
            </a:r>
          </a:p>
          <a:p>
            <a:pPr eaLnBrk="1" hangingPunct="1">
              <a:buSzPct val="80000"/>
            </a:pPr>
            <a:r>
              <a:rPr lang="en-US" altLang="en-US" sz="2400" u="sng" dirty="0"/>
              <a:t>Numerical dimensions</a:t>
            </a:r>
            <a:r>
              <a:rPr lang="en-US" altLang="en-US" sz="2400" dirty="0"/>
              <a:t> correspond to sorted intervals</a:t>
            </a:r>
          </a:p>
          <a:p>
            <a:pPr lvl="1" eaLnBrk="1" hangingPunct="1">
              <a:buSzPct val="80000"/>
            </a:pPr>
            <a:r>
              <a:rPr lang="en-US" altLang="en-US" sz="2400" dirty="0"/>
              <a:t>Data dispersion: analyzed with multiple granularities of precision</a:t>
            </a:r>
          </a:p>
          <a:p>
            <a:pPr lvl="1" eaLnBrk="1" hangingPunct="1">
              <a:buSzPct val="80000"/>
            </a:pPr>
            <a:r>
              <a:rPr lang="en-US" altLang="en-US" sz="2400" dirty="0"/>
              <a:t>Boxplot or quantile analysis on sorted intervals</a:t>
            </a:r>
          </a:p>
          <a:p>
            <a:pPr eaLnBrk="1" hangingPunct="1">
              <a:buSzPct val="80000"/>
            </a:pPr>
            <a:r>
              <a:rPr lang="en-US" altLang="en-US" sz="2400" u="sng" dirty="0"/>
              <a:t>Dispersion analysis on computed measures</a:t>
            </a:r>
          </a:p>
          <a:p>
            <a:pPr lvl="1">
              <a:buSzPct val="80000"/>
            </a:pPr>
            <a:r>
              <a:rPr lang="en-US" sz="2200" dirty="0"/>
              <a:t>Refers to examining how much </a:t>
            </a:r>
            <a:r>
              <a:rPr lang="en-US" sz="2200" b="1" dirty="0"/>
              <a:t>variation or spread</a:t>
            </a:r>
            <a:r>
              <a:rPr lang="en-US" sz="2200" dirty="0"/>
              <a:t> exists</a:t>
            </a:r>
            <a:endParaRPr lang="en-US" altLang="en-US" sz="2200" dirty="0"/>
          </a:p>
          <a:p>
            <a:pPr lvl="1" eaLnBrk="1" hangingPunct="1">
              <a:buSzPct val="80000"/>
            </a:pPr>
            <a:r>
              <a:rPr lang="en-US" altLang="en-US" sz="2400" dirty="0"/>
              <a:t>Folding measures into numerical dimensions</a:t>
            </a:r>
          </a:p>
          <a:p>
            <a:pPr lvl="1" eaLnBrk="1" hangingPunct="1">
              <a:buSzPct val="80000"/>
            </a:pPr>
            <a:r>
              <a:rPr lang="en-US" altLang="en-US" sz="2400" dirty="0"/>
              <a:t>Boxplot or quantile analysis on the transformed cube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>
            <a:extLst>
              <a:ext uri="{FF2B5EF4-FFF2-40B4-BE49-F238E27FC236}">
                <a16:creationId xmlns:a16="http://schemas.microsoft.com/office/drawing/2014/main" id="{153DA18C-252B-C388-D012-A0D5E3E57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DC2EDCCE-0CA3-C341-B104-5034C6383D6F}" type="slidenum">
              <a:rPr lang="en-US" altLang="en-US" smtClean="0"/>
              <a:pPr eaLnBrk="1" hangingPunct="1"/>
              <a:t>16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847E3C3-D9A0-F8DE-379D-5BA9E09FB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Measuring the Central Tendency</a:t>
            </a:r>
            <a:endParaRPr lang="en-US" altLang="en-US" sz="4000">
              <a:solidFill>
                <a:srgbClr val="170981"/>
              </a:solidFill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430EAA14-3AD0-353E-B333-13BCCBF0F5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143000"/>
            <a:ext cx="6477000" cy="5029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dirty="0"/>
              <a:t>Mean (algebraic measure) (sample vs. population):</a:t>
            </a:r>
          </a:p>
          <a:p>
            <a:pPr lvl="1" eaLnBrk="1" hangingPunct="1">
              <a:lnSpc>
                <a:spcPct val="130000"/>
              </a:lnSpc>
              <a:buSzPct val="80000"/>
              <a:buFont typeface="Wingdings" pitchFamily="2" charset="2"/>
              <a:buNone/>
            </a:pPr>
            <a:r>
              <a:rPr lang="en-US" altLang="en-US" dirty="0"/>
              <a:t>Note: </a:t>
            </a:r>
            <a:r>
              <a:rPr lang="en-US" altLang="en-US" i="1" dirty="0"/>
              <a:t>n</a:t>
            </a:r>
            <a:r>
              <a:rPr lang="en-US" altLang="en-US" dirty="0"/>
              <a:t> is sample size and </a:t>
            </a:r>
            <a:r>
              <a:rPr lang="en-US" altLang="en-US" i="1" dirty="0"/>
              <a:t>N</a:t>
            </a:r>
            <a:r>
              <a:rPr lang="en-US" altLang="en-US" dirty="0"/>
              <a:t> is population size.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dirty="0"/>
              <a:t>Weighted arithmetic mean: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dirty="0"/>
              <a:t>Trimmed mean: chopping extreme values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dirty="0"/>
              <a:t>Median</a:t>
            </a:r>
            <a:r>
              <a:rPr lang="en-US" altLang="en-US" sz="1800" dirty="0"/>
              <a:t>: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dirty="0"/>
              <a:t>Middle value if odd number of values, or average of the middle two values otherwise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dirty="0"/>
              <a:t>Estimated by interpolation (for </a:t>
            </a:r>
            <a:r>
              <a:rPr lang="en-US" altLang="en-US" i="1" dirty="0">
                <a:solidFill>
                  <a:schemeClr val="tx2"/>
                </a:solidFill>
              </a:rPr>
              <a:t>grouped data</a:t>
            </a:r>
            <a:r>
              <a:rPr lang="en-US" altLang="en-US" dirty="0"/>
              <a:t>):</a:t>
            </a:r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u="sng" dirty="0"/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dirty="0"/>
              <a:t>Mode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dirty="0"/>
              <a:t>Value that occurs most frequently in the data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dirty="0"/>
              <a:t>Unimodal, bimodal, trimodal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dirty="0"/>
              <a:t>Empirical formula:</a:t>
            </a:r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dirty="0"/>
          </a:p>
        </p:txBody>
      </p:sp>
      <p:graphicFrame>
        <p:nvGraphicFramePr>
          <p:cNvPr id="15365" name="Object 4">
            <a:extLst>
              <a:ext uri="{FF2B5EF4-FFF2-40B4-BE49-F238E27FC236}">
                <a16:creationId xmlns:a16="http://schemas.microsoft.com/office/drawing/2014/main" id="{DB343097-617C-695B-618F-118E13527E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1143000"/>
          <a:ext cx="17526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3" imgW="16383000" imgH="9944100" progId="Equation.3">
                  <p:embed/>
                </p:oleObj>
              </mc:Choice>
              <mc:Fallback>
                <p:oleObj name="Microsoft Equation 3.0" r:id="rId3" imgW="16383000" imgH="9944100" progId="Equation.3">
                  <p:embed/>
                  <p:pic>
                    <p:nvPicPr>
                      <p:cNvPr id="15365" name="Object 4">
                        <a:extLst>
                          <a:ext uri="{FF2B5EF4-FFF2-40B4-BE49-F238E27FC236}">
                            <a16:creationId xmlns:a16="http://schemas.microsoft.com/office/drawing/2014/main" id="{DB343097-617C-695B-618F-118E13527E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143000"/>
                        <a:ext cx="175260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>
            <a:extLst>
              <a:ext uri="{FF2B5EF4-FFF2-40B4-BE49-F238E27FC236}">
                <a16:creationId xmlns:a16="http://schemas.microsoft.com/office/drawing/2014/main" id="{87FBAF45-22B6-B7A3-464A-D41EE83AF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1981200"/>
          <a:ext cx="1600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59300" imgH="19304000" progId="Equation.3">
                  <p:embed/>
                </p:oleObj>
              </mc:Choice>
              <mc:Fallback>
                <p:oleObj name="Equation" r:id="rId5" imgW="17259300" imgH="19304000" progId="Equation.3">
                  <p:embed/>
                  <p:pic>
                    <p:nvPicPr>
                      <p:cNvPr id="15366" name="Object 5">
                        <a:extLst>
                          <a:ext uri="{FF2B5EF4-FFF2-40B4-BE49-F238E27FC236}">
                            <a16:creationId xmlns:a16="http://schemas.microsoft.com/office/drawing/2014/main" id="{87FBAF45-22B6-B7A3-464A-D41EE83AF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981200"/>
                        <a:ext cx="16002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>
            <a:extLst>
              <a:ext uri="{FF2B5EF4-FFF2-40B4-BE49-F238E27FC236}">
                <a16:creationId xmlns:a16="http://schemas.microsoft.com/office/drawing/2014/main" id="{F7949087-87B9-3E87-5A23-40FDCEFB94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573195"/>
              </p:ext>
            </p:extLst>
          </p:nvPr>
        </p:nvGraphicFramePr>
        <p:xfrm>
          <a:off x="3390900" y="4092521"/>
          <a:ext cx="4648200" cy="83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003700" imgH="10820400" progId="Equation.3">
                  <p:embed/>
                </p:oleObj>
              </mc:Choice>
              <mc:Fallback>
                <p:oleObj name="Equation" r:id="rId7" imgW="55003700" imgH="10820400" progId="Equation.3">
                  <p:embed/>
                  <p:pic>
                    <p:nvPicPr>
                      <p:cNvPr id="15367" name="Object 6">
                        <a:extLst>
                          <a:ext uri="{FF2B5EF4-FFF2-40B4-BE49-F238E27FC236}">
                            <a16:creationId xmlns:a16="http://schemas.microsoft.com/office/drawing/2014/main" id="{F7949087-87B9-3E87-5A23-40FDCEFB9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4092521"/>
                        <a:ext cx="4648200" cy="832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7">
            <a:extLst>
              <a:ext uri="{FF2B5EF4-FFF2-40B4-BE49-F238E27FC236}">
                <a16:creationId xmlns:a16="http://schemas.microsoft.com/office/drawing/2014/main" id="{4ABAFF28-9137-5F14-7629-BA0F447CF4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1" y="6096000"/>
          <a:ext cx="44497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609500" imgH="4686300" progId="Equation.3">
                  <p:embed/>
                </p:oleObj>
              </mc:Choice>
              <mc:Fallback>
                <p:oleObj name="Equation" r:id="rId9" imgW="50609500" imgH="4686300" progId="Equation.3">
                  <p:embed/>
                  <p:pic>
                    <p:nvPicPr>
                      <p:cNvPr id="15368" name="Object 7">
                        <a:extLst>
                          <a:ext uri="{FF2B5EF4-FFF2-40B4-BE49-F238E27FC236}">
                            <a16:creationId xmlns:a16="http://schemas.microsoft.com/office/drawing/2014/main" id="{4ABAFF28-9137-5F14-7629-BA0F447CF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6096000"/>
                        <a:ext cx="44497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8">
            <a:extLst>
              <a:ext uri="{FF2B5EF4-FFF2-40B4-BE49-F238E27FC236}">
                <a16:creationId xmlns:a16="http://schemas.microsoft.com/office/drawing/2014/main" id="{D22F9617-92F4-06AC-04D2-6884C7645B0C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9525000" y="1130301"/>
          <a:ext cx="10668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54100" imgH="9944100" progId="Equation.3">
                  <p:embed/>
                </p:oleObj>
              </mc:Choice>
              <mc:Fallback>
                <p:oleObj name="Equation" r:id="rId11" imgW="13754100" imgH="9944100" progId="Equation.3">
                  <p:embed/>
                  <p:pic>
                    <p:nvPicPr>
                      <p:cNvPr id="15369" name="Object 8">
                        <a:extLst>
                          <a:ext uri="{FF2B5EF4-FFF2-40B4-BE49-F238E27FC236}">
                            <a16:creationId xmlns:a16="http://schemas.microsoft.com/office/drawing/2014/main" id="{D22F9617-92F4-06AC-04D2-6884C7645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0" y="1130301"/>
                        <a:ext cx="10668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70" name="Picture 12">
            <a:extLst>
              <a:ext uri="{FF2B5EF4-FFF2-40B4-BE49-F238E27FC236}">
                <a16:creationId xmlns:a16="http://schemas.microsoft.com/office/drawing/2014/main" id="{A28A91BC-B94E-579C-39B8-C90935CC6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1" y="3505200"/>
            <a:ext cx="2316163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7">
            <a:extLst>
              <a:ext uri="{FF2B5EF4-FFF2-40B4-BE49-F238E27FC236}">
                <a16:creationId xmlns:a16="http://schemas.microsoft.com/office/drawing/2014/main" id="{A52B5198-DE4B-6249-C506-B433F14EF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28CAD9A-E517-244D-8593-F2219BCCA012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0697790C-AE36-520D-A98C-6D130A58A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5867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 </a:t>
            </a:r>
            <a:r>
              <a:rPr lang="en-US" altLang="en-US"/>
              <a:t>Symmetric vs. Skewed Data</a:t>
            </a:r>
            <a:endParaRPr lang="en-US" altLang="en-US" sz="3200"/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8A2EBEF4-C7F2-9243-CF0A-B07C28F4D38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1"/>
            <a:ext cx="5334000" cy="125571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tx2"/>
                </a:solidFill>
              </a:rPr>
              <a:t>Median, mean and mode of symmetric, positively and negatively skewed data</a:t>
            </a:r>
          </a:p>
        </p:txBody>
      </p:sp>
      <p:pic>
        <p:nvPicPr>
          <p:cNvPr id="16391" name="Picture 6" descr="rightskewed">
            <a:extLst>
              <a:ext uri="{FF2B5EF4-FFF2-40B4-BE49-F238E27FC236}">
                <a16:creationId xmlns:a16="http://schemas.microsoft.com/office/drawing/2014/main" id="{E53D207C-694E-9384-16C3-3C88C93B5726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67400" y="2819401"/>
            <a:ext cx="4800600" cy="4048125"/>
          </a:xfrm>
          <a:noFill/>
        </p:spPr>
      </p:pic>
      <p:pic>
        <p:nvPicPr>
          <p:cNvPr id="16392" name="Picture 8" descr="leftskewed">
            <a:extLst>
              <a:ext uri="{FF2B5EF4-FFF2-40B4-BE49-F238E27FC236}">
                <a16:creationId xmlns:a16="http://schemas.microsoft.com/office/drawing/2014/main" id="{ABFC5194-D685-BB1F-8152-06D463DFDFCD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3086100"/>
            <a:ext cx="4876800" cy="3771900"/>
          </a:xfrm>
          <a:noFill/>
        </p:spPr>
      </p:pic>
      <p:pic>
        <p:nvPicPr>
          <p:cNvPr id="16393" name="Picture 10" descr="ha02skew1">
            <a:extLst>
              <a:ext uri="{FF2B5EF4-FFF2-40B4-BE49-F238E27FC236}">
                <a16:creationId xmlns:a16="http://schemas.microsoft.com/office/drawing/2014/main" id="{E0348E5D-654D-7FD0-5494-992AD7788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-9525"/>
            <a:ext cx="3810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>
            <a:extLst>
              <a:ext uri="{FF2B5EF4-FFF2-40B4-BE49-F238E27FC236}">
                <a16:creationId xmlns:a16="http://schemas.microsoft.com/office/drawing/2014/main" id="{44EEBB07-2306-2C3B-7A41-B8F8565C0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1816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positively skewed</a:t>
            </a:r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2B617D03-61B0-3A3A-33A7-03AB73BD9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1816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negatively skewed</a:t>
            </a:r>
          </a:p>
        </p:txBody>
      </p:sp>
      <p:sp>
        <p:nvSpPr>
          <p:cNvPr id="16396" name="Rectangle 13">
            <a:extLst>
              <a:ext uri="{FF2B5EF4-FFF2-40B4-BE49-F238E27FC236}">
                <a16:creationId xmlns:a16="http://schemas.microsoft.com/office/drawing/2014/main" id="{60B032D9-EF69-F58E-AFB8-EDD756396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4478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symmetric</a:t>
            </a: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>
            <a:extLst>
              <a:ext uri="{FF2B5EF4-FFF2-40B4-BE49-F238E27FC236}">
                <a16:creationId xmlns:a16="http://schemas.microsoft.com/office/drawing/2014/main" id="{766DD8CA-6B2E-8ECC-0FEF-C7A5BC0FC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DC2EDCCE-0CA3-C341-B104-5034C6383D6F}" type="slidenum">
              <a:rPr lang="en-US" altLang="en-US" smtClean="0"/>
              <a:pPr eaLnBrk="1" hangingPunct="1"/>
              <a:t>18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B87AB98-913D-08F5-CD7C-8DF23A2B3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Measuring the Dispersion of Data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6563B2BA-7CC0-6D26-5767-135D4D1A7B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6106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/>
              <a:t>Quartiles, outliers and boxplots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b="1"/>
              <a:t>Quartiles</a:t>
            </a:r>
            <a:r>
              <a:rPr lang="en-US" altLang="en-US"/>
              <a:t>: Q</a:t>
            </a:r>
            <a:r>
              <a:rPr lang="en-US" altLang="en-US" baseline="-25000"/>
              <a:t>1</a:t>
            </a:r>
            <a:r>
              <a:rPr lang="en-US" altLang="en-US"/>
              <a:t> (25</a:t>
            </a:r>
            <a:r>
              <a:rPr lang="en-US" altLang="en-US" baseline="30000"/>
              <a:t>th</a:t>
            </a:r>
            <a:r>
              <a:rPr lang="en-US" altLang="en-US"/>
              <a:t> percentile), Q</a:t>
            </a:r>
            <a:r>
              <a:rPr lang="en-US" altLang="en-US" baseline="-25000"/>
              <a:t>3</a:t>
            </a:r>
            <a:r>
              <a:rPr lang="en-US" altLang="en-US"/>
              <a:t> (75</a:t>
            </a:r>
            <a:r>
              <a:rPr lang="en-US" altLang="en-US" baseline="30000"/>
              <a:t>th</a:t>
            </a:r>
            <a:r>
              <a:rPr lang="en-US" altLang="en-US"/>
              <a:t> percentile)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b="1"/>
              <a:t>Inter-quartile range</a:t>
            </a:r>
            <a:r>
              <a:rPr lang="en-US" altLang="en-US"/>
              <a:t>: IQR = Q</a:t>
            </a:r>
            <a:r>
              <a:rPr lang="en-US" altLang="en-US" baseline="-25000"/>
              <a:t>3 </a:t>
            </a:r>
            <a:r>
              <a:rPr lang="en-US" altLang="en-US"/>
              <a:t>–</a:t>
            </a:r>
            <a:r>
              <a:rPr lang="en-US" altLang="en-US" baseline="-25000"/>
              <a:t> </a:t>
            </a:r>
            <a:r>
              <a:rPr lang="en-US" altLang="en-US"/>
              <a:t>Q</a:t>
            </a:r>
            <a:r>
              <a:rPr lang="en-US" altLang="en-US" baseline="-25000"/>
              <a:t>1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b="1"/>
              <a:t>Five number summary</a:t>
            </a:r>
            <a:r>
              <a:rPr lang="en-US" altLang="en-US"/>
              <a:t>: min, Q</a:t>
            </a:r>
            <a:r>
              <a:rPr lang="en-US" altLang="en-US" baseline="-25000"/>
              <a:t>1</a:t>
            </a:r>
            <a:r>
              <a:rPr lang="en-US" altLang="en-US"/>
              <a:t>, median,</a:t>
            </a:r>
            <a:r>
              <a:rPr lang="en-US" altLang="en-US" baseline="-25000"/>
              <a:t> </a:t>
            </a:r>
            <a:r>
              <a:rPr lang="en-US" altLang="en-US"/>
              <a:t>Q</a:t>
            </a:r>
            <a:r>
              <a:rPr lang="en-US" altLang="en-US" baseline="-25000"/>
              <a:t>3</a:t>
            </a:r>
            <a:r>
              <a:rPr lang="en-US" altLang="en-US"/>
              <a:t>, max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b="1"/>
              <a:t>Boxplot</a:t>
            </a:r>
            <a:r>
              <a:rPr lang="en-US" altLang="en-US"/>
              <a:t>: ends of the box are the quartiles; median is marked; add whiskers, and plot outliers individually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b="1"/>
              <a:t>Outlier</a:t>
            </a:r>
            <a:r>
              <a:rPr lang="en-US" altLang="en-US"/>
              <a:t>: usually, a value higher/lower than 1.5 x IQR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/>
              <a:t>Variance and standard deviation (</a:t>
            </a:r>
            <a:r>
              <a:rPr lang="en-US" altLang="en-US" sz="1800" i="1"/>
              <a:t>sample:</a:t>
            </a:r>
            <a:r>
              <a:rPr lang="en-US" altLang="en-US" sz="1800"/>
              <a:t> </a:t>
            </a:r>
            <a:r>
              <a:rPr lang="en-US" altLang="en-US" sz="1800" i="1"/>
              <a:t>s, population: </a:t>
            </a:r>
            <a:r>
              <a:rPr lang="el-GR" altLang="en-US" sz="1800" i="1"/>
              <a:t>σ</a:t>
            </a:r>
            <a:r>
              <a:rPr lang="en-US" altLang="en-US" sz="1800" i="1"/>
              <a:t>)</a:t>
            </a:r>
            <a:endParaRPr lang="en-US" altLang="en-US" sz="1800"/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b="1"/>
              <a:t>Variance</a:t>
            </a:r>
            <a:r>
              <a:rPr lang="en-US" altLang="en-US"/>
              <a:t>: (algebraic, scalable computation)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endParaRPr lang="en-US" altLang="en-US"/>
          </a:p>
          <a:p>
            <a:pPr lvl="1" eaLnBrk="1" hangingPunct="1">
              <a:lnSpc>
                <a:spcPct val="130000"/>
              </a:lnSpc>
              <a:buSzPct val="80000"/>
            </a:pPr>
            <a:endParaRPr lang="en-US" altLang="en-US"/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b="1"/>
              <a:t>Standard deviation</a:t>
            </a:r>
            <a:r>
              <a:rPr lang="en-US" altLang="en-US" i="1"/>
              <a:t> s (or </a:t>
            </a:r>
            <a:r>
              <a:rPr lang="el-GR" altLang="en-US" i="1"/>
              <a:t>σ</a:t>
            </a:r>
            <a:r>
              <a:rPr lang="en-US" altLang="en-US" i="1"/>
              <a:t>) </a:t>
            </a:r>
            <a:r>
              <a:rPr lang="en-US" altLang="en-US"/>
              <a:t>is the square root of variance </a:t>
            </a:r>
            <a:r>
              <a:rPr lang="en-US" altLang="en-US" i="1"/>
              <a:t>s</a:t>
            </a:r>
            <a:r>
              <a:rPr lang="en-US" altLang="en-US" i="1" baseline="30000"/>
              <a:t>2 (</a:t>
            </a:r>
            <a:r>
              <a:rPr lang="en-US" altLang="en-US" i="1"/>
              <a:t>or</a:t>
            </a:r>
            <a:r>
              <a:rPr lang="en-US" altLang="en-US" i="1" baseline="30000"/>
              <a:t> </a:t>
            </a:r>
            <a:r>
              <a:rPr lang="el-GR" altLang="en-US" i="1"/>
              <a:t>σ</a:t>
            </a:r>
            <a:r>
              <a:rPr lang="en-US" altLang="en-US" i="1" baseline="30000"/>
              <a:t>2)</a:t>
            </a:r>
          </a:p>
        </p:txBody>
      </p:sp>
      <p:graphicFrame>
        <p:nvGraphicFramePr>
          <p:cNvPr id="17413" name="Object 10">
            <a:extLst>
              <a:ext uri="{FF2B5EF4-FFF2-40B4-BE49-F238E27FC236}">
                <a16:creationId xmlns:a16="http://schemas.microsoft.com/office/drawing/2014/main" id="{C9D1E5F6-7B10-C5DF-1C79-D91FC21FF3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018088"/>
          <a:ext cx="42672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173600" imgH="9944100" progId="Equation.3">
                  <p:embed/>
                </p:oleObj>
              </mc:Choice>
              <mc:Fallback>
                <p:oleObj name="Equation" r:id="rId3" imgW="68173600" imgH="9944100" progId="Equation.3">
                  <p:embed/>
                  <p:pic>
                    <p:nvPicPr>
                      <p:cNvPr id="17413" name="Object 10">
                        <a:extLst>
                          <a:ext uri="{FF2B5EF4-FFF2-40B4-BE49-F238E27FC236}">
                            <a16:creationId xmlns:a16="http://schemas.microsoft.com/office/drawing/2014/main" id="{C9D1E5F6-7B10-C5DF-1C79-D91FC21FF3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018088"/>
                        <a:ext cx="42672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1">
            <a:extLst>
              <a:ext uri="{FF2B5EF4-FFF2-40B4-BE49-F238E27FC236}">
                <a16:creationId xmlns:a16="http://schemas.microsoft.com/office/drawing/2014/main" id="{C7515CA5-E52C-2955-E6DD-50D1FC685A45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6629400" y="5054600"/>
          <a:ext cx="36639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1498500" imgH="9944100" progId="Equation.3">
                  <p:embed/>
                </p:oleObj>
              </mc:Choice>
              <mc:Fallback>
                <p:oleObj name="Equation" r:id="rId5" imgW="51498500" imgH="9944100" progId="Equation.3">
                  <p:embed/>
                  <p:pic>
                    <p:nvPicPr>
                      <p:cNvPr id="17414" name="Object 11">
                        <a:extLst>
                          <a:ext uri="{FF2B5EF4-FFF2-40B4-BE49-F238E27FC236}">
                            <a16:creationId xmlns:a16="http://schemas.microsoft.com/office/drawing/2014/main" id="{C7515CA5-E52C-2955-E6DD-50D1FC685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054600"/>
                        <a:ext cx="36639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>
            <a:extLst>
              <a:ext uri="{FF2B5EF4-FFF2-40B4-BE49-F238E27FC236}">
                <a16:creationId xmlns:a16="http://schemas.microsoft.com/office/drawing/2014/main" id="{9299114A-5D3B-DA60-C4CE-31D9A63BFB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DC2EDCCE-0CA3-C341-B104-5034C6383D6F}" type="slidenum">
              <a:rPr lang="en-US" altLang="en-US" smtClean="0"/>
              <a:pPr eaLnBrk="1" hangingPunct="1"/>
              <a:t>19</a:t>
            </a:fld>
            <a:endParaRPr lang="en-US" altLang="en-US" sz="1200"/>
          </a:p>
        </p:txBody>
      </p:sp>
      <p:pic>
        <p:nvPicPr>
          <p:cNvPr id="18435" name="Picture 1035" descr="box plot">
            <a:extLst>
              <a:ext uri="{FF2B5EF4-FFF2-40B4-BE49-F238E27FC236}">
                <a16:creationId xmlns:a16="http://schemas.microsoft.com/office/drawing/2014/main" id="{FAA244FA-585E-26B2-847D-D6A311CBE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288" y="2362200"/>
            <a:ext cx="283051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2">
            <a:extLst>
              <a:ext uri="{FF2B5EF4-FFF2-40B4-BE49-F238E27FC236}">
                <a16:creationId xmlns:a16="http://schemas.microsoft.com/office/drawing/2014/main" id="{6BD655FC-37DB-6F50-4D14-B5391778A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51816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 </a:t>
            </a:r>
            <a:r>
              <a:rPr lang="en-US" altLang="en-US"/>
              <a:t>Boxplot Analysis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B618122C-7232-FA59-2A15-0E990F209B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371600"/>
            <a:ext cx="60960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b="1"/>
              <a:t>Five-number summary</a:t>
            </a:r>
            <a:r>
              <a:rPr lang="en-US" altLang="en-US"/>
              <a:t> of a distribution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Minimum, Q1, Median, Q3, Maximum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b="1"/>
              <a:t>Boxplot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Data is represented with a box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The ends of the box are at the first and third quartiles, i.e., the height of the box is IQR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The median is marked by a line within the box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Whiskers: two lines outside the box extended to Minimum and Maximum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Outliers: points beyond a specified outlier threshold, plotted individually</a:t>
            </a:r>
          </a:p>
        </p:txBody>
      </p:sp>
      <p:pic>
        <p:nvPicPr>
          <p:cNvPr id="18438" name="Picture 1038" descr="three">
            <a:extLst>
              <a:ext uri="{FF2B5EF4-FFF2-40B4-BE49-F238E27FC236}">
                <a16:creationId xmlns:a16="http://schemas.microsoft.com/office/drawing/2014/main" id="{C2FCEE31-92EE-B52A-8AA1-5104C0467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176" y="114300"/>
            <a:ext cx="393382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52C4D893-767F-D8F0-DEF3-B9DEF4A37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744496-E803-964B-B0BD-CDB62DD41C21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622E0AE4-5EFB-391F-5479-72FF8D32F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Visualization of Data Dispersion: 3-D Boxplots</a:t>
            </a:r>
            <a:endParaRPr lang="en-US" altLang="en-US"/>
          </a:p>
        </p:txBody>
      </p:sp>
      <p:pic>
        <p:nvPicPr>
          <p:cNvPr id="19462" name="Picture 3" descr="1">
            <a:extLst>
              <a:ext uri="{FF2B5EF4-FFF2-40B4-BE49-F238E27FC236}">
                <a16:creationId xmlns:a16="http://schemas.microsoft.com/office/drawing/2014/main" id="{6CF16E29-BDD9-226E-9376-A55556418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944" y="1295400"/>
            <a:ext cx="8692055" cy="537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7">
            <a:extLst>
              <a:ext uri="{FF2B5EF4-FFF2-40B4-BE49-F238E27FC236}">
                <a16:creationId xmlns:a16="http://schemas.microsoft.com/office/drawing/2014/main" id="{1D61C8B3-FA5C-07D8-A595-25EBE6663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068794A-8851-3B47-916A-544ED4EF53FE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926C2BE-36E5-AD47-EC25-0C2551222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Properties of Normal Distribution Curve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82E2D40-845B-9070-0736-94040B1147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447800"/>
            <a:ext cx="8686800" cy="2514600"/>
          </a:xfrm>
        </p:spPr>
        <p:txBody>
          <a:bodyPr/>
          <a:lstStyle/>
          <a:p>
            <a:pPr eaLnBrk="1" hangingPunct="1"/>
            <a:r>
              <a:rPr lang="en-US" altLang="en-US" sz="2400">
                <a:solidFill>
                  <a:schemeClr val="tx2"/>
                </a:solidFill>
              </a:rPr>
              <a:t>The normal (distribution) curve</a:t>
            </a:r>
          </a:p>
          <a:p>
            <a:pPr lvl="1" eaLnBrk="1" hangingPunct="1"/>
            <a:r>
              <a:rPr lang="en-US" altLang="en-US" sz="2400">
                <a:solidFill>
                  <a:schemeClr val="tx2"/>
                </a:solidFill>
              </a:rPr>
              <a:t>From </a:t>
            </a:r>
            <a:r>
              <a:rPr lang="el-GR" altLang="en-US" sz="2400">
                <a:solidFill>
                  <a:schemeClr val="tx2"/>
                </a:solidFill>
              </a:rPr>
              <a:t>μ</a:t>
            </a:r>
            <a:r>
              <a:rPr lang="en-US" altLang="en-US" sz="2400">
                <a:solidFill>
                  <a:schemeClr val="tx2"/>
                </a:solidFill>
              </a:rPr>
              <a:t>–</a:t>
            </a:r>
            <a:r>
              <a:rPr lang="el-GR" altLang="en-US" sz="2400">
                <a:solidFill>
                  <a:schemeClr val="tx2"/>
                </a:solidFill>
              </a:rPr>
              <a:t>σ</a:t>
            </a:r>
            <a:r>
              <a:rPr lang="en-US" altLang="en-US" sz="2400">
                <a:solidFill>
                  <a:schemeClr val="tx2"/>
                </a:solidFill>
              </a:rPr>
              <a:t> to </a:t>
            </a:r>
            <a:r>
              <a:rPr lang="el-GR" altLang="en-US" sz="2400">
                <a:solidFill>
                  <a:schemeClr val="tx2"/>
                </a:solidFill>
              </a:rPr>
              <a:t>μ</a:t>
            </a:r>
            <a:r>
              <a:rPr lang="en-US" altLang="en-US" sz="2400">
                <a:solidFill>
                  <a:schemeClr val="tx2"/>
                </a:solidFill>
              </a:rPr>
              <a:t>+</a:t>
            </a:r>
            <a:r>
              <a:rPr lang="el-GR" altLang="en-US" sz="2400">
                <a:solidFill>
                  <a:schemeClr val="tx2"/>
                </a:solidFill>
              </a:rPr>
              <a:t>σ</a:t>
            </a:r>
            <a:r>
              <a:rPr lang="en-US" altLang="en-US" sz="2400">
                <a:solidFill>
                  <a:schemeClr val="tx2"/>
                </a:solidFill>
              </a:rPr>
              <a:t>: contains about 68% of the measurements  (</a:t>
            </a:r>
            <a:r>
              <a:rPr lang="el-GR" altLang="en-US" sz="2400">
                <a:solidFill>
                  <a:schemeClr val="tx2"/>
                </a:solidFill>
              </a:rPr>
              <a:t>μ</a:t>
            </a:r>
            <a:r>
              <a:rPr lang="en-US" altLang="en-US" sz="2400">
                <a:solidFill>
                  <a:schemeClr val="tx2"/>
                </a:solidFill>
              </a:rPr>
              <a:t>: mean, </a:t>
            </a:r>
            <a:r>
              <a:rPr lang="el-GR" altLang="en-US" sz="2400">
                <a:solidFill>
                  <a:schemeClr val="tx2"/>
                </a:solidFill>
              </a:rPr>
              <a:t>σ</a:t>
            </a:r>
            <a:r>
              <a:rPr lang="en-US" altLang="en-US" sz="2400">
                <a:solidFill>
                  <a:schemeClr val="tx2"/>
                </a:solidFill>
              </a:rPr>
              <a:t>: standard deviation)</a:t>
            </a:r>
          </a:p>
          <a:p>
            <a:pPr lvl="1" eaLnBrk="1" hangingPunct="1"/>
            <a:r>
              <a:rPr lang="en-US" altLang="en-US" sz="2400">
                <a:solidFill>
                  <a:schemeClr val="tx2"/>
                </a:solidFill>
              </a:rPr>
              <a:t> From </a:t>
            </a:r>
            <a:r>
              <a:rPr lang="el-GR" altLang="en-US" sz="2400">
                <a:solidFill>
                  <a:schemeClr val="tx2"/>
                </a:solidFill>
              </a:rPr>
              <a:t>μ</a:t>
            </a:r>
            <a:r>
              <a:rPr lang="en-US" altLang="en-US" sz="2400">
                <a:solidFill>
                  <a:schemeClr val="tx2"/>
                </a:solidFill>
              </a:rPr>
              <a:t>–2</a:t>
            </a:r>
            <a:r>
              <a:rPr lang="el-GR" altLang="en-US" sz="2400">
                <a:solidFill>
                  <a:schemeClr val="tx2"/>
                </a:solidFill>
              </a:rPr>
              <a:t>σ</a:t>
            </a:r>
            <a:r>
              <a:rPr lang="en-US" altLang="en-US" sz="2400">
                <a:solidFill>
                  <a:schemeClr val="tx2"/>
                </a:solidFill>
              </a:rPr>
              <a:t> to </a:t>
            </a:r>
            <a:r>
              <a:rPr lang="el-GR" altLang="en-US" sz="2400">
                <a:solidFill>
                  <a:schemeClr val="tx2"/>
                </a:solidFill>
              </a:rPr>
              <a:t>μ</a:t>
            </a:r>
            <a:r>
              <a:rPr lang="en-US" altLang="en-US" sz="2400">
                <a:solidFill>
                  <a:schemeClr val="tx2"/>
                </a:solidFill>
              </a:rPr>
              <a:t>+2</a:t>
            </a:r>
            <a:r>
              <a:rPr lang="el-GR" altLang="en-US" sz="2400">
                <a:solidFill>
                  <a:schemeClr val="tx2"/>
                </a:solidFill>
              </a:rPr>
              <a:t>σ</a:t>
            </a:r>
            <a:r>
              <a:rPr lang="en-US" altLang="en-US" sz="2400">
                <a:solidFill>
                  <a:schemeClr val="tx2"/>
                </a:solidFill>
              </a:rPr>
              <a:t>: contains about 95% of it</a:t>
            </a:r>
          </a:p>
          <a:p>
            <a:pPr lvl="1" eaLnBrk="1" hangingPunct="1"/>
            <a:r>
              <a:rPr lang="en-US" altLang="en-US" sz="2400">
                <a:solidFill>
                  <a:schemeClr val="tx2"/>
                </a:solidFill>
              </a:rPr>
              <a:t>From </a:t>
            </a:r>
            <a:r>
              <a:rPr lang="el-GR" altLang="en-US" sz="2400">
                <a:solidFill>
                  <a:schemeClr val="tx2"/>
                </a:solidFill>
              </a:rPr>
              <a:t>μ</a:t>
            </a:r>
            <a:r>
              <a:rPr lang="en-US" altLang="en-US" sz="2400">
                <a:solidFill>
                  <a:schemeClr val="tx2"/>
                </a:solidFill>
              </a:rPr>
              <a:t>–3</a:t>
            </a:r>
            <a:r>
              <a:rPr lang="el-GR" altLang="en-US" sz="2400">
                <a:solidFill>
                  <a:schemeClr val="tx2"/>
                </a:solidFill>
              </a:rPr>
              <a:t>σ</a:t>
            </a:r>
            <a:r>
              <a:rPr lang="en-US" altLang="en-US" sz="2400">
                <a:solidFill>
                  <a:schemeClr val="tx2"/>
                </a:solidFill>
              </a:rPr>
              <a:t> to </a:t>
            </a:r>
            <a:r>
              <a:rPr lang="el-GR" altLang="en-US" sz="2400">
                <a:solidFill>
                  <a:schemeClr val="tx2"/>
                </a:solidFill>
              </a:rPr>
              <a:t>μ</a:t>
            </a:r>
            <a:r>
              <a:rPr lang="en-US" altLang="en-US" sz="2400">
                <a:solidFill>
                  <a:schemeClr val="tx2"/>
                </a:solidFill>
              </a:rPr>
              <a:t>+3</a:t>
            </a:r>
            <a:r>
              <a:rPr lang="el-GR" altLang="en-US" sz="2400">
                <a:solidFill>
                  <a:schemeClr val="tx2"/>
                </a:solidFill>
              </a:rPr>
              <a:t>σ</a:t>
            </a:r>
            <a:r>
              <a:rPr lang="en-US" altLang="en-US" sz="2400">
                <a:solidFill>
                  <a:schemeClr val="tx2"/>
                </a:solidFill>
              </a:rPr>
              <a:t>: contains about 99.7% of it</a:t>
            </a:r>
          </a:p>
          <a:p>
            <a:pPr lvl="1" eaLnBrk="1" hangingPunct="1"/>
            <a:endParaRPr lang="en-US" altLang="en-US" sz="240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solidFill>
                <a:schemeClr val="hlink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/>
          </a:p>
        </p:txBody>
      </p:sp>
      <p:pic>
        <p:nvPicPr>
          <p:cNvPr id="20485" name="Picture 5" descr="normal1-95">
            <a:extLst>
              <a:ext uri="{FF2B5EF4-FFF2-40B4-BE49-F238E27FC236}">
                <a16:creationId xmlns:a16="http://schemas.microsoft.com/office/drawing/2014/main" id="{6CC5C26C-0518-2122-4D84-DCDD17200F5D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729038"/>
            <a:ext cx="2895600" cy="2590800"/>
          </a:xfrm>
          <a:noFill/>
        </p:spPr>
      </p:pic>
      <p:pic>
        <p:nvPicPr>
          <p:cNvPr id="20486" name="Picture 7" descr="normal1-68">
            <a:extLst>
              <a:ext uri="{FF2B5EF4-FFF2-40B4-BE49-F238E27FC236}">
                <a16:creationId xmlns:a16="http://schemas.microsoft.com/office/drawing/2014/main" id="{C7030C85-523C-386F-0EB6-29115D7CB5BB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3886200"/>
            <a:ext cx="2986088" cy="2438400"/>
          </a:xfrm>
          <a:noFill/>
        </p:spPr>
      </p:pic>
      <p:pic>
        <p:nvPicPr>
          <p:cNvPr id="20487" name="Picture 9" descr="normal1-99">
            <a:extLst>
              <a:ext uri="{FF2B5EF4-FFF2-40B4-BE49-F238E27FC236}">
                <a16:creationId xmlns:a16="http://schemas.microsoft.com/office/drawing/2014/main" id="{CAF64BE5-4069-AE82-8DFA-32E6DB6BD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4" y="3810000"/>
            <a:ext cx="29860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28DFF160-FF0E-0708-2989-B7D69E8D4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EE3F0AD-683C-9D48-9D86-7C313F120FDD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B3F2185-3C98-32EE-6507-65C28723C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Graphic Displays of Basic Statistical Descriptions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B5876C9-E93D-3AF5-E058-484022750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Boxplot</a:t>
            </a:r>
            <a:r>
              <a:rPr lang="en-US" altLang="en-US" sz="2400"/>
              <a:t>: graphic display of five-number summary</a:t>
            </a:r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Histogram</a:t>
            </a:r>
            <a:r>
              <a:rPr lang="en-US" altLang="en-US" sz="2400"/>
              <a:t>: x-axis are values, y-axis repres. frequencies </a:t>
            </a:r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Quantile plot</a:t>
            </a:r>
            <a:r>
              <a:rPr lang="en-US" altLang="en-US" sz="2400"/>
              <a:t>:  each value </a:t>
            </a:r>
            <a:r>
              <a:rPr lang="en-US" altLang="en-US" sz="2400" i="1"/>
              <a:t>x</a:t>
            </a:r>
            <a:r>
              <a:rPr lang="en-US" altLang="en-US" sz="2400" i="1" baseline="-25000"/>
              <a:t>i</a:t>
            </a:r>
            <a:r>
              <a:rPr lang="en-US" altLang="en-US" sz="2400" baseline="-25000"/>
              <a:t>  </a:t>
            </a:r>
            <a:r>
              <a:rPr lang="en-US" altLang="en-US" sz="2400"/>
              <a:t>is paired with </a:t>
            </a:r>
            <a:r>
              <a:rPr lang="en-US" altLang="en-US" sz="2400" i="1"/>
              <a:t>f</a:t>
            </a:r>
            <a:r>
              <a:rPr lang="en-US" altLang="en-US" sz="2400" i="1" baseline="-25000"/>
              <a:t>i </a:t>
            </a:r>
            <a:r>
              <a:rPr lang="en-US" altLang="en-US" sz="2400"/>
              <a:t> indicating that approximately 100 </a:t>
            </a:r>
            <a:r>
              <a:rPr lang="en-US" altLang="en-US" sz="2400" i="1"/>
              <a:t>f</a:t>
            </a:r>
            <a:r>
              <a:rPr lang="en-US" altLang="en-US" sz="2400" i="1" baseline="-25000"/>
              <a:t>i </a:t>
            </a:r>
            <a:r>
              <a:rPr lang="en-US" altLang="en-US" sz="2400"/>
              <a:t>% of data  are </a:t>
            </a:r>
            <a:r>
              <a:rPr lang="en-US" altLang="en-US" sz="2400">
                <a:sym typeface="Symbol" pitchFamily="2" charset="2"/>
              </a:rPr>
              <a:t></a:t>
            </a:r>
            <a:r>
              <a:rPr lang="en-US" altLang="en-US" sz="2400"/>
              <a:t> </a:t>
            </a:r>
            <a:r>
              <a:rPr lang="en-US" altLang="en-US" sz="2400" i="1"/>
              <a:t>x</a:t>
            </a:r>
            <a:r>
              <a:rPr lang="en-US" altLang="en-US" sz="2400" i="1" baseline="-25000"/>
              <a:t>i</a:t>
            </a:r>
            <a:r>
              <a:rPr lang="en-US" altLang="en-US" sz="2400" baseline="-25000"/>
              <a:t> </a:t>
            </a:r>
            <a:endParaRPr lang="en-US" altLang="en-US" sz="2400"/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Quantile-quantile (q-q) plot</a:t>
            </a:r>
            <a:r>
              <a:rPr lang="en-US" altLang="en-US" sz="2400"/>
              <a:t>: graphs the quantiles of one univariant distribution against the corresponding quantiles of another</a:t>
            </a:r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Scatter plot</a:t>
            </a:r>
            <a:r>
              <a:rPr lang="en-US" altLang="en-US" sz="2400"/>
              <a:t>: each pair of values is a pair of coordinates and plotted as points in the plane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6">
            <a:extLst>
              <a:ext uri="{FF2B5EF4-FFF2-40B4-BE49-F238E27FC236}">
                <a16:creationId xmlns:a16="http://schemas.microsoft.com/office/drawing/2014/main" id="{4FFF71C4-6469-B903-FEB4-627DC463E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AD1BFF-C4EB-5446-B957-549318EC8CA9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  <p:sp>
        <p:nvSpPr>
          <p:cNvPr id="22531" name="Rectangle 1026">
            <a:extLst>
              <a:ext uri="{FF2B5EF4-FFF2-40B4-BE49-F238E27FC236}">
                <a16:creationId xmlns:a16="http://schemas.microsoft.com/office/drawing/2014/main" id="{D96A6226-A177-4365-EB79-0CFD202EF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Histogram Analysis</a:t>
            </a:r>
          </a:p>
        </p:txBody>
      </p:sp>
      <p:sp>
        <p:nvSpPr>
          <p:cNvPr id="22532" name="Rectangle 1027">
            <a:extLst>
              <a:ext uri="{FF2B5EF4-FFF2-40B4-BE49-F238E27FC236}">
                <a16:creationId xmlns:a16="http://schemas.microsoft.com/office/drawing/2014/main" id="{F15C0E6C-A50E-E9F9-B5F0-FB3CD24791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4648200" cy="518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Histogram: Graph display of tabulated frequencies, shown as bars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It shows what proportion of cases fall into each of several categories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Differs from a bar chart in that it is the </a:t>
            </a:r>
            <a:r>
              <a:rPr lang="en-US" altLang="en-US" i="1"/>
              <a:t>area</a:t>
            </a:r>
            <a:r>
              <a:rPr lang="en-US" altLang="en-US"/>
              <a:t> of the bar that denotes the value, not the height as in bar charts, a crucial distinction when the categories are not of uniform width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The categories are usually specified as non-overlapping intervals of some variable. The categories (bars) must be adjacent</a:t>
            </a:r>
          </a:p>
          <a:p>
            <a:pPr eaLnBrk="1" hangingPunct="1">
              <a:lnSpc>
                <a:spcPct val="110000"/>
              </a:lnSpc>
            </a:pPr>
            <a:endParaRPr lang="en-US" altLang="en-US" sz="1600"/>
          </a:p>
        </p:txBody>
      </p:sp>
      <p:graphicFrame>
        <p:nvGraphicFramePr>
          <p:cNvPr id="22533" name="Object 1029">
            <a:extLst>
              <a:ext uri="{FF2B5EF4-FFF2-40B4-BE49-F238E27FC236}">
                <a16:creationId xmlns:a16="http://schemas.microsoft.com/office/drawing/2014/main" id="{1BC5B3F6-A57E-1950-C0C8-771E0A7CD381}"/>
              </a:ext>
            </a:extLst>
          </p:cNvPr>
          <p:cNvGraphicFramePr>
            <a:graphicFrameLocks/>
          </p:cNvGraphicFramePr>
          <p:nvPr>
            <p:ph sz="half" idx="2"/>
          </p:nvPr>
        </p:nvGraphicFramePr>
        <p:xfrm>
          <a:off x="6096000" y="1447800"/>
          <a:ext cx="54102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924800" imgH="3860800" progId="MSGraph.Chart.8">
                  <p:embed followColorScheme="full"/>
                </p:oleObj>
              </mc:Choice>
              <mc:Fallback>
                <p:oleObj name="Chart" r:id="rId3" imgW="7924800" imgH="3860800" progId="MSGraph.Chart.8">
                  <p:embed followColorScheme="full"/>
                  <p:pic>
                    <p:nvPicPr>
                      <p:cNvPr id="22533" name="Object 1029">
                        <a:extLst>
                          <a:ext uri="{FF2B5EF4-FFF2-40B4-BE49-F238E27FC236}">
                            <a16:creationId xmlns:a16="http://schemas.microsoft.com/office/drawing/2014/main" id="{1BC5B3F6-A57E-1950-C0C8-771E0A7CD3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447800"/>
                        <a:ext cx="54102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6">
            <a:extLst>
              <a:ext uri="{FF2B5EF4-FFF2-40B4-BE49-F238E27FC236}">
                <a16:creationId xmlns:a16="http://schemas.microsoft.com/office/drawing/2014/main" id="{3503F571-971B-B8A4-E7D6-F2E2E1E4C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5C36DF0-8B51-8B47-A791-7AFDDC82313E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B91DCF8-2FF9-D091-5905-8C6178F76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152400"/>
            <a:ext cx="8839200" cy="762000"/>
          </a:xfrm>
        </p:spPr>
        <p:txBody>
          <a:bodyPr/>
          <a:lstStyle/>
          <a:p>
            <a:pPr eaLnBrk="1" hangingPunct="1"/>
            <a:r>
              <a:rPr lang="en-US" altLang="en-US" sz="3200"/>
              <a:t>Histograms Often Tell More than Boxplots</a:t>
            </a:r>
          </a:p>
        </p:txBody>
      </p:sp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818CAC0D-6701-35DA-1113-1723DE9D5548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1981200" y="1295401"/>
          <a:ext cx="3962400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3" imgW="18376900" imgH="10147300" progId="SmartDraw.2">
                  <p:embed/>
                </p:oleObj>
              </mc:Choice>
              <mc:Fallback>
                <p:oleObj name="SmartDraw" r:id="rId3" imgW="18376900" imgH="10147300" progId="SmartDraw.2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818CAC0D-6701-35DA-1113-1723DE9D5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95401"/>
                        <a:ext cx="3962400" cy="241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7">
            <a:extLst>
              <a:ext uri="{FF2B5EF4-FFF2-40B4-BE49-F238E27FC236}">
                <a16:creationId xmlns:a16="http://schemas.microsoft.com/office/drawing/2014/main" id="{625429C8-5437-E7B0-2ACE-178564EB68CF}"/>
              </a:ext>
            </a:extLst>
          </p:cNvPr>
          <p:cNvGraphicFramePr>
            <a:graphicFrameLocks noChangeAspect="1"/>
          </p:cNvGraphicFramePr>
          <p:nvPr>
            <p:ph sz="half" idx="1"/>
          </p:nvPr>
        </p:nvGraphicFramePr>
        <p:xfrm>
          <a:off x="1981200" y="4043364"/>
          <a:ext cx="3886200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5" imgW="18376900" imgH="10147300" progId="SmartDraw.2">
                  <p:embed/>
                </p:oleObj>
              </mc:Choice>
              <mc:Fallback>
                <p:oleObj name="SmartDraw" r:id="rId5" imgW="18376900" imgH="10147300" progId="SmartDraw.2">
                  <p:embed/>
                  <p:pic>
                    <p:nvPicPr>
                      <p:cNvPr id="23557" name="Object 7">
                        <a:extLst>
                          <a:ext uri="{FF2B5EF4-FFF2-40B4-BE49-F238E27FC236}">
                            <a16:creationId xmlns:a16="http://schemas.microsoft.com/office/drawing/2014/main" id="{625429C8-5437-E7B0-2ACE-178564EB68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043364"/>
                        <a:ext cx="3886200" cy="243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9">
            <a:extLst>
              <a:ext uri="{FF2B5EF4-FFF2-40B4-BE49-F238E27FC236}">
                <a16:creationId xmlns:a16="http://schemas.microsoft.com/office/drawing/2014/main" id="{2F7AC683-E504-C025-57D6-7A45AA8E0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522414"/>
            <a:ext cx="36576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/>
              <a:t>The two histograms shown in the left may have the same boxplot representation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/>
              <a:t>The same values for: min, Q1, median, Q3, max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/>
              <a:t>But they have rather different data distributions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A0C597A2-4CD7-B7A3-32CB-EE3C3D379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8D1E45E-1ECD-0447-B6EA-BB501DFD47EF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62EC86B7-43F3-33EA-2264-758BB66C4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Quantile Plot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D12B769C-CB32-F1B8-2A8A-103D7BFAE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2455" y="1331914"/>
            <a:ext cx="10941269" cy="2478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Displays all of the data (allowing the user to assess both the overall behavior and unusual occurrences)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Plots </a:t>
            </a:r>
            <a:r>
              <a:rPr lang="en-US" altLang="en-US" sz="2400" b="1" dirty="0"/>
              <a:t>quantile</a:t>
            </a:r>
            <a:r>
              <a:rPr lang="en-US" altLang="en-US" sz="2400" dirty="0"/>
              <a:t> information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For a data </a:t>
            </a:r>
            <a:r>
              <a:rPr lang="en-US" altLang="en-US" sz="2400" i="1" dirty="0"/>
              <a:t>x</a:t>
            </a:r>
            <a:r>
              <a:rPr lang="en-US" altLang="en-US" sz="2400" i="1" baseline="-25000" dirty="0"/>
              <a:t>i</a:t>
            </a:r>
            <a:r>
              <a:rPr lang="en-US" altLang="en-US" sz="2400" i="1" dirty="0"/>
              <a:t> </a:t>
            </a:r>
            <a:r>
              <a:rPr lang="en-US" altLang="en-US" sz="2400" dirty="0"/>
              <a:t>data sorted in increasing order,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i</a:t>
            </a:r>
            <a:r>
              <a:rPr lang="en-US" altLang="en-US" sz="2400" i="1" dirty="0"/>
              <a:t> </a:t>
            </a:r>
            <a:r>
              <a:rPr lang="en-US" altLang="en-US" sz="2400" dirty="0"/>
              <a:t>indicates that approximately 100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% of the data are below or equal to the value </a:t>
            </a:r>
            <a:r>
              <a:rPr lang="en-US" altLang="en-US" sz="2400" i="1" dirty="0"/>
              <a:t>x</a:t>
            </a:r>
            <a:r>
              <a:rPr lang="en-US" altLang="en-US" sz="2400" i="1" baseline="-25000" dirty="0"/>
              <a:t>i</a:t>
            </a:r>
          </a:p>
        </p:txBody>
      </p:sp>
      <p:pic>
        <p:nvPicPr>
          <p:cNvPr id="24582" name="Picture 8">
            <a:extLst>
              <a:ext uri="{FF2B5EF4-FFF2-40B4-BE49-F238E27FC236}">
                <a16:creationId xmlns:a16="http://schemas.microsoft.com/office/drawing/2014/main" id="{2435923F-02F4-2E44-D97E-0FB3B9354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602038"/>
            <a:ext cx="6400800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ED75F5BF-6BCB-0005-911D-C00D8C8D3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EE72B58-85E7-9240-ADCC-17226D7857FC}" type="slidenum">
              <a:rPr lang="en-US" altLang="en-US" sz="1200"/>
              <a:pPr eaLnBrk="1" hangingPunct="1"/>
              <a:t>26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45BCE6B-7DD7-D989-ABF9-D319A11CD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Quantile-Quantile (Q-Q) Plot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58D42047-71AF-A421-D495-54CBB1905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8276" y="1219200"/>
            <a:ext cx="10791076" cy="1905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Graphs the quantiles of one univariate distribution against the corresponding quantiles of another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View: Is there is a shift in going from one distribution to another?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Example shows unit price of items sold at Branch 1 vs. Branch 2 for each quantile.  Unit prices of items sold at Branch 1 tend to be lower than those at Branch 2.</a:t>
            </a:r>
          </a:p>
        </p:txBody>
      </p:sp>
      <p:pic>
        <p:nvPicPr>
          <p:cNvPr id="25605" name="Picture 8">
            <a:extLst>
              <a:ext uri="{FF2B5EF4-FFF2-40B4-BE49-F238E27FC236}">
                <a16:creationId xmlns:a16="http://schemas.microsoft.com/office/drawing/2014/main" id="{E2EBDBEC-AC7D-A68C-58D5-E8F7F29F7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6" y="3136900"/>
            <a:ext cx="6029325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F8FEF362-6A95-7D7E-B1EE-EA20D88C1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CA95647-7A23-904A-A563-EC96E396EEB4}" type="slidenum">
              <a:rPr lang="en-US" altLang="en-US" sz="1200"/>
              <a:pPr eaLnBrk="1" hangingPunct="1"/>
              <a:t>27</a:t>
            </a:fld>
            <a:endParaRPr lang="en-US" altLang="en-US" sz="1200"/>
          </a:p>
        </p:txBody>
      </p:sp>
      <p:sp>
        <p:nvSpPr>
          <p:cNvPr id="26627" name="Rectangle 1026">
            <a:extLst>
              <a:ext uri="{FF2B5EF4-FFF2-40B4-BE49-F238E27FC236}">
                <a16:creationId xmlns:a16="http://schemas.microsoft.com/office/drawing/2014/main" id="{0DCF2A0A-0E5F-7CB8-FB39-6CF462066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Scatter plot</a:t>
            </a:r>
          </a:p>
        </p:txBody>
      </p:sp>
      <p:sp>
        <p:nvSpPr>
          <p:cNvPr id="26628" name="Rectangle 1027">
            <a:extLst>
              <a:ext uri="{FF2B5EF4-FFF2-40B4-BE49-F238E27FC236}">
                <a16:creationId xmlns:a16="http://schemas.microsoft.com/office/drawing/2014/main" id="{9C8A7248-49CB-C05C-E320-82A8C1DFA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382000" cy="1779588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400"/>
              <a:t>Provides a first look at bivariate data to see clusters of points, outliers, etc</a:t>
            </a:r>
          </a:p>
          <a:p>
            <a:pPr eaLnBrk="1" hangingPunct="1"/>
            <a:r>
              <a:rPr lang="en-US" altLang="en-US" sz="2400"/>
              <a:t>Each pair of values is treated as a pair of coordinates and plotted as points in the plane</a:t>
            </a:r>
          </a:p>
        </p:txBody>
      </p:sp>
      <p:pic>
        <p:nvPicPr>
          <p:cNvPr id="26629" name="Picture 8">
            <a:extLst>
              <a:ext uri="{FF2B5EF4-FFF2-40B4-BE49-F238E27FC236}">
                <a16:creationId xmlns:a16="http://schemas.microsoft.com/office/drawing/2014/main" id="{52836C01-8336-7C7A-4C3E-B3C2C6BA0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971801"/>
            <a:ext cx="7391400" cy="354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AA15F6FD-6886-9A65-BBCD-7E20EE02D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B78B60-A97B-2A4A-9FEF-F9871C72BE0C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7936FAF-2C46-22F6-1F8C-34CAD48B7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9144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Positively and Negatively Correlated Data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1F75A1A-9D5A-E28F-8F2A-852290CF1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0" y="4906964"/>
            <a:ext cx="4267200" cy="14128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en-US" sz="1800"/>
              <a:t>The left half fragment is positively correlated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/>
              <a:t>The right half is negative correlated</a:t>
            </a:r>
            <a:endParaRPr lang="en-US" altLang="en-US" sz="1800">
              <a:solidFill>
                <a:schemeClr val="hlink"/>
              </a:solidFill>
            </a:endParaRPr>
          </a:p>
        </p:txBody>
      </p:sp>
      <p:pic>
        <p:nvPicPr>
          <p:cNvPr id="27653" name="Picture 4" descr="ha02correl1">
            <a:extLst>
              <a:ext uri="{FF2B5EF4-FFF2-40B4-BE49-F238E27FC236}">
                <a16:creationId xmlns:a16="http://schemas.microsoft.com/office/drawing/2014/main" id="{78795B0E-CD07-02BC-EC2B-C92A23D6B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95400"/>
            <a:ext cx="3365500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5" descr="ha02correl2">
            <a:extLst>
              <a:ext uri="{FF2B5EF4-FFF2-40B4-BE49-F238E27FC236}">
                <a16:creationId xmlns:a16="http://schemas.microsoft.com/office/drawing/2014/main" id="{0F2BF854-2BD0-2D06-4DE8-FAE694C1D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219200"/>
            <a:ext cx="3810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6" descr="fig46">
            <a:extLst>
              <a:ext uri="{FF2B5EF4-FFF2-40B4-BE49-F238E27FC236}">
                <a16:creationId xmlns:a16="http://schemas.microsoft.com/office/drawing/2014/main" id="{A877A2F2-1D73-235D-A10F-0D4CCE491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114800"/>
            <a:ext cx="3505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Rectangle 7">
            <a:extLst>
              <a:ext uri="{FF2B5EF4-FFF2-40B4-BE49-F238E27FC236}">
                <a16:creationId xmlns:a16="http://schemas.microsoft.com/office/drawing/2014/main" id="{8280ED42-3F79-7D0F-246D-A9CBA04EF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953000"/>
            <a:ext cx="4267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8">
            <a:extLst>
              <a:ext uri="{FF2B5EF4-FFF2-40B4-BE49-F238E27FC236}">
                <a16:creationId xmlns:a16="http://schemas.microsoft.com/office/drawing/2014/main" id="{1A04E27F-6E64-E358-34F3-33EC3A281B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61FA487-4855-DF42-9EF6-50CC17873A3A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pic>
        <p:nvPicPr>
          <p:cNvPr id="28675" name="Picture 3" descr="fig18-1">
            <a:extLst>
              <a:ext uri="{FF2B5EF4-FFF2-40B4-BE49-F238E27FC236}">
                <a16:creationId xmlns:a16="http://schemas.microsoft.com/office/drawing/2014/main" id="{6B6E478B-6CAA-420E-0874-7012163E1608}"/>
              </a:ext>
            </a:extLst>
          </p:cNvPr>
          <p:cNvPicPr>
            <a:picLocks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4600" y="0"/>
            <a:ext cx="4038600" cy="3733800"/>
          </a:xfrm>
          <a:noFill/>
        </p:spPr>
      </p:pic>
      <p:pic>
        <p:nvPicPr>
          <p:cNvPr id="28676" name="Picture 4" descr="fig18-2">
            <a:extLst>
              <a:ext uri="{FF2B5EF4-FFF2-40B4-BE49-F238E27FC236}">
                <a16:creationId xmlns:a16="http://schemas.microsoft.com/office/drawing/2014/main" id="{2940F70F-A388-270E-8408-114BFD74875C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4600" y="3352800"/>
            <a:ext cx="4191000" cy="3505200"/>
          </a:xfrm>
          <a:noFill/>
        </p:spPr>
      </p:pic>
      <p:pic>
        <p:nvPicPr>
          <p:cNvPr id="28677" name="Picture 5" descr="fig18-3">
            <a:extLst>
              <a:ext uri="{FF2B5EF4-FFF2-40B4-BE49-F238E27FC236}">
                <a16:creationId xmlns:a16="http://schemas.microsoft.com/office/drawing/2014/main" id="{3C2F869E-0B49-1677-F264-0DDA1633A046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2001838"/>
            <a:ext cx="4267200" cy="3606800"/>
          </a:xfrm>
          <a:noFill/>
        </p:spPr>
      </p:pic>
      <p:sp>
        <p:nvSpPr>
          <p:cNvPr id="28678" name="Rectangle 2">
            <a:extLst>
              <a:ext uri="{FF2B5EF4-FFF2-40B4-BE49-F238E27FC236}">
                <a16:creationId xmlns:a16="http://schemas.microsoft.com/office/drawing/2014/main" id="{D20B3F88-AE38-DD71-6AE2-00092FC354AB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 Uncorrelated Data</a:t>
            </a: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E59DC65D-3B50-4ED2-63BB-751C00FE1B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3CB44E8-529B-4049-89F7-340ACFCF64B2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5C03289-2570-C5B2-39C1-A744AB9D0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Data Visualization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DAC88418-65EA-067A-99A2-2886EC7EC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4607" y="1295400"/>
            <a:ext cx="10415752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/>
              <a:t>Why data visualization?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olidFill>
                  <a:schemeClr val="tx2"/>
                </a:solidFill>
              </a:rPr>
              <a:t>Gain insight</a:t>
            </a:r>
            <a:r>
              <a:rPr lang="en-US" altLang="en-US" dirty="0"/>
              <a:t> into an information space by mapping data onto graphical primitives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olidFill>
                  <a:schemeClr val="tx2"/>
                </a:solidFill>
              </a:rPr>
              <a:t>Provide qualitative overview</a:t>
            </a:r>
            <a:r>
              <a:rPr lang="en-US" altLang="en-US" dirty="0"/>
              <a:t> of large data sets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olidFill>
                  <a:schemeClr val="tx2"/>
                </a:solidFill>
              </a:rPr>
              <a:t>Search</a:t>
            </a:r>
            <a:r>
              <a:rPr lang="en-US" altLang="en-US" dirty="0"/>
              <a:t> for patterns, trends, structure, irregularities, relationships among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olidFill>
                  <a:schemeClr val="tx2"/>
                </a:solidFill>
              </a:rPr>
              <a:t>Help find interesting regions and suitable parameters</a:t>
            </a:r>
            <a:r>
              <a:rPr lang="en-US" altLang="en-US" dirty="0"/>
              <a:t> for further quantitative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olidFill>
                  <a:schemeClr val="tx2"/>
                </a:solidFill>
              </a:rPr>
              <a:t>Provide a visual proof</a:t>
            </a:r>
            <a:r>
              <a:rPr lang="en-US" altLang="en-US" dirty="0"/>
              <a:t> of computer representations derived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/>
              <a:t>Categorization of visualization methods: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Pixel-oriented visualization techniques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Geometric projection visualization techniques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Icon-based visualization techniques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Hierarchical visualization techniques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Visualizing complex data and relations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0EA9C6CA-844C-BC5D-41B6-56FBD471011D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A3D919C-96F8-1144-84C5-194E38BBAE51}" type="slidenum">
              <a:rPr lang="en-US" altLang="en-US" sz="1200"/>
              <a:pPr algn="r" eaLnBrk="1" hangingPunct="1"/>
              <a:t>31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8027B49-0A1D-3FDC-E804-206A46ED74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Pixel-Oriented Visualization Techniques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B4E7CBC-6591-D93E-318B-2752F00040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295400"/>
            <a:ext cx="8534400" cy="1905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For a data set of m dimensions, create m windows on the screen, one for each dimension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The m dimension values of a record are mapped to m pixels at the corresponding positions in the windows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The colors of the pixels reflect the corresponding values</a:t>
            </a:r>
          </a:p>
        </p:txBody>
      </p:sp>
      <p:pic>
        <p:nvPicPr>
          <p:cNvPr id="31749" name="Picture 5">
            <a:extLst>
              <a:ext uri="{FF2B5EF4-FFF2-40B4-BE49-F238E27FC236}">
                <a16:creationId xmlns:a16="http://schemas.microsoft.com/office/drawing/2014/main" id="{EB06FF06-8143-7BBA-02C8-913608997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3352800"/>
            <a:ext cx="8613775" cy="290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50" name="Text Box 6">
            <a:extLst>
              <a:ext uri="{FF2B5EF4-FFF2-40B4-BE49-F238E27FC236}">
                <a16:creationId xmlns:a16="http://schemas.microsoft.com/office/drawing/2014/main" id="{69EE3F1B-00B2-4C52-A64A-EC83483A1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172201"/>
            <a:ext cx="175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lphaLcParenBoth"/>
            </a:pPr>
            <a:r>
              <a:rPr lang="en-US" altLang="en-US" sz="2000"/>
              <a:t>Income</a:t>
            </a:r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73F3926C-C9ED-10D1-AC85-E12B106BF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1"/>
            <a:ext cx="190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(b) Credit Limit</a:t>
            </a:r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id="{4B49C735-7ADD-6E7C-280F-28DC27853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1"/>
            <a:ext cx="2819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(c) transaction volume</a:t>
            </a:r>
          </a:p>
        </p:txBody>
      </p:sp>
      <p:sp>
        <p:nvSpPr>
          <p:cNvPr id="31753" name="Text Box 9">
            <a:extLst>
              <a:ext uri="{FF2B5EF4-FFF2-40B4-BE49-F238E27FC236}">
                <a16:creationId xmlns:a16="http://schemas.microsoft.com/office/drawing/2014/main" id="{382FCF66-3E2C-9DCF-038E-C1B884FA4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6156326"/>
            <a:ext cx="190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(d) 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6EF279-5A17-A154-4B81-1647386D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A95D365E-5F3D-5117-9FDB-4369BC4CB396}"/>
              </a:ext>
            </a:extLst>
          </p:cNvPr>
          <p:cNvSpPr txBox="1">
            <a:spLocks noGrp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D581697B-1DC3-6043-B3FD-5E95DF386EE3}" type="slidenum">
              <a:rPr lang="en-US" altLang="en-US" sz="1200"/>
              <a:pPr algn="r" eaLnBrk="1" hangingPunct="1"/>
              <a:t>32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934962B-99B0-E92D-1076-8FA6B70AF7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Laying Out Pixels in Circle Segments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B357536-2712-FA4F-DFC2-52A0E2BC94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295400"/>
            <a:ext cx="8534400" cy="8382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To save space and show the connections among multiple dimensions, space filling is often done in a circle segment</a:t>
            </a:r>
          </a:p>
        </p:txBody>
      </p:sp>
      <p:sp>
        <p:nvSpPr>
          <p:cNvPr id="32773" name="Text Box 6">
            <a:extLst>
              <a:ext uri="{FF2B5EF4-FFF2-40B4-BE49-F238E27FC236}">
                <a16:creationId xmlns:a16="http://schemas.microsoft.com/office/drawing/2014/main" id="{57DD8477-A3B2-38F1-3889-2F26BDE06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851526"/>
            <a:ext cx="3886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AutoNum type="alphaLcParenBoth"/>
            </a:pPr>
            <a:r>
              <a:rPr lang="en-US" altLang="en-US" sz="2000"/>
              <a:t>Representing a data record in circle segment</a:t>
            </a:r>
          </a:p>
        </p:txBody>
      </p:sp>
      <p:sp>
        <p:nvSpPr>
          <p:cNvPr id="32774" name="Text Box 7">
            <a:extLst>
              <a:ext uri="{FF2B5EF4-FFF2-40B4-BE49-F238E27FC236}">
                <a16:creationId xmlns:a16="http://schemas.microsoft.com/office/drawing/2014/main" id="{DA7AD05D-61AC-FD18-EF07-4AD5133E5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019801"/>
            <a:ext cx="449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(b) Laying out pixels in circle segment</a:t>
            </a:r>
          </a:p>
        </p:txBody>
      </p:sp>
      <p:pic>
        <p:nvPicPr>
          <p:cNvPr id="32775" name="Picture 10">
            <a:extLst>
              <a:ext uri="{FF2B5EF4-FFF2-40B4-BE49-F238E27FC236}">
                <a16:creationId xmlns:a16="http://schemas.microsoft.com/office/drawing/2014/main" id="{1420E160-1F3E-9274-0438-D8A29A2F4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498726"/>
            <a:ext cx="3757613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6" name="Picture 11">
            <a:extLst>
              <a:ext uri="{FF2B5EF4-FFF2-40B4-BE49-F238E27FC236}">
                <a16:creationId xmlns:a16="http://schemas.microsoft.com/office/drawing/2014/main" id="{1ED7C3D3-A2CC-1AD1-E603-7F2B8EAD8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82814"/>
            <a:ext cx="4078288" cy="376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3C02FC-3B47-9D55-12D3-4FB62EB3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B87FE124-4A27-5EAE-5818-F72BC12B1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14D90B4-02C0-3241-B8EE-42B6D479B84F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2C18A38-9FE9-8300-F191-020318938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Geometric Projection Visualization Techniques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8213C29-8357-2B9D-BDE9-E0032898D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7255" y="1295400"/>
            <a:ext cx="9595945" cy="5334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de-DE" altLang="en-US" sz="2400" dirty="0" err="1"/>
              <a:t>Visualization</a:t>
            </a:r>
            <a:r>
              <a:rPr lang="de-DE" altLang="en-US" sz="2400" dirty="0"/>
              <a:t> </a:t>
            </a:r>
            <a:r>
              <a:rPr lang="de-DE" altLang="en-US" sz="2400" dirty="0" err="1"/>
              <a:t>of</a:t>
            </a:r>
            <a:r>
              <a:rPr lang="de-DE" altLang="en-US" sz="2400" dirty="0"/>
              <a:t> </a:t>
            </a:r>
            <a:r>
              <a:rPr lang="de-DE" altLang="en-US" sz="2400" dirty="0" err="1"/>
              <a:t>geometric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transformations</a:t>
            </a:r>
            <a:r>
              <a:rPr lang="de-DE" altLang="en-US" sz="2400" dirty="0"/>
              <a:t> and </a:t>
            </a:r>
            <a:r>
              <a:rPr lang="de-DE" altLang="en-US" sz="2400" dirty="0" err="1"/>
              <a:t>projections</a:t>
            </a:r>
            <a:r>
              <a:rPr lang="de-DE" altLang="en-US" sz="2400" dirty="0"/>
              <a:t> </a:t>
            </a:r>
            <a:r>
              <a:rPr lang="de-DE" altLang="en-US" sz="2400" dirty="0" err="1"/>
              <a:t>of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the</a:t>
            </a:r>
            <a:r>
              <a:rPr lang="de-DE" altLang="en-US" sz="2400" dirty="0"/>
              <a:t> </a:t>
            </a:r>
            <a:r>
              <a:rPr lang="de-DE" altLang="en-US" sz="2400" dirty="0" err="1"/>
              <a:t>data</a:t>
            </a:r>
            <a:endParaRPr lang="de-DE" altLang="en-US" sz="2400" dirty="0"/>
          </a:p>
          <a:p>
            <a:pPr eaLnBrk="1" hangingPunct="1">
              <a:lnSpc>
                <a:spcPct val="110000"/>
              </a:lnSpc>
            </a:pPr>
            <a:r>
              <a:rPr lang="de-DE" altLang="en-US" sz="2400" dirty="0"/>
              <a:t>Methods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 err="1"/>
              <a:t>Direct</a:t>
            </a:r>
            <a:r>
              <a:rPr lang="de-DE" altLang="en-US" sz="2400" dirty="0"/>
              <a:t> </a:t>
            </a:r>
            <a:r>
              <a:rPr lang="de-DE" altLang="en-US" sz="2400" dirty="0" err="1"/>
              <a:t>visualization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/>
              <a:t>Scatterplot and </a:t>
            </a:r>
            <a:r>
              <a:rPr lang="de-DE" altLang="en-US" sz="2400" dirty="0" err="1"/>
              <a:t>scatterplot</a:t>
            </a:r>
            <a:r>
              <a:rPr lang="de-DE" altLang="en-US" sz="2400" dirty="0"/>
              <a:t> </a:t>
            </a:r>
            <a:r>
              <a:rPr lang="de-DE" altLang="en-US" sz="2400" dirty="0" err="1"/>
              <a:t>matrices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 err="1"/>
              <a:t>Landscapes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 err="1"/>
              <a:t>Projection</a:t>
            </a:r>
            <a:r>
              <a:rPr lang="de-DE" altLang="en-US" sz="2400" dirty="0"/>
              <a:t> </a:t>
            </a:r>
            <a:r>
              <a:rPr lang="de-DE" altLang="en-US" sz="2400" dirty="0" err="1"/>
              <a:t>pursuit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technique</a:t>
            </a:r>
            <a:r>
              <a:rPr lang="de-DE" altLang="en-US" sz="2400" dirty="0"/>
              <a:t>: Help </a:t>
            </a:r>
            <a:r>
              <a:rPr lang="de-DE" altLang="en-US" sz="2400" dirty="0" err="1"/>
              <a:t>users</a:t>
            </a:r>
            <a:r>
              <a:rPr lang="de-DE" altLang="en-US" sz="2400" dirty="0"/>
              <a:t> find </a:t>
            </a:r>
            <a:r>
              <a:rPr lang="de-DE" altLang="en-US" sz="2400" dirty="0" err="1"/>
              <a:t>meaningful</a:t>
            </a:r>
            <a:r>
              <a:rPr lang="de-DE" altLang="en-US" sz="2400" dirty="0"/>
              <a:t> </a:t>
            </a:r>
            <a:r>
              <a:rPr lang="de-DE" altLang="en-US" sz="2400" dirty="0" err="1"/>
              <a:t>projections</a:t>
            </a:r>
            <a:r>
              <a:rPr lang="de-DE" altLang="en-US" sz="2400" dirty="0"/>
              <a:t> </a:t>
            </a:r>
            <a:r>
              <a:rPr lang="de-DE" altLang="en-US" sz="2400" dirty="0" err="1"/>
              <a:t>of</a:t>
            </a:r>
            <a:r>
              <a:rPr lang="de-DE" altLang="en-US" sz="2400" dirty="0"/>
              <a:t> multidimensional </a:t>
            </a:r>
            <a:r>
              <a:rPr lang="de-DE" altLang="en-US" sz="2400" dirty="0" err="1"/>
              <a:t>data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 err="1"/>
              <a:t>Prosection</a:t>
            </a:r>
            <a:r>
              <a:rPr lang="de-DE" altLang="en-US" sz="2400" dirty="0"/>
              <a:t> </a:t>
            </a:r>
            <a:r>
              <a:rPr lang="de-DE" altLang="en-US" sz="2400" dirty="0" err="1"/>
              <a:t>views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/>
              <a:t>Hyperslice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/>
              <a:t>Parallel </a:t>
            </a:r>
            <a:r>
              <a:rPr lang="de-DE" altLang="en-US" sz="2400" dirty="0" err="1"/>
              <a:t>coordinates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4">
            <a:extLst>
              <a:ext uri="{FF2B5EF4-FFF2-40B4-BE49-F238E27FC236}">
                <a16:creationId xmlns:a16="http://schemas.microsoft.com/office/drawing/2014/main" id="{C8B93D60-B380-D9FB-B6D5-684EFC876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6041ACB-02BA-3049-89DA-684F236B72D5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256FFDBE-6CA3-768A-F391-3AD8027FA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 Data Visualization</a:t>
            </a:r>
          </a:p>
        </p:txBody>
      </p:sp>
      <p:pic>
        <p:nvPicPr>
          <p:cNvPr id="34821" name="Picture 3" descr="fig1-6b">
            <a:extLst>
              <a:ext uri="{FF2B5EF4-FFF2-40B4-BE49-F238E27FC236}">
                <a16:creationId xmlns:a16="http://schemas.microsoft.com/office/drawing/2014/main" id="{D6CC1E73-0922-6F62-25FF-B7038CF2A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219200"/>
            <a:ext cx="7315200" cy="488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 Box 4">
            <a:extLst>
              <a:ext uri="{FF2B5EF4-FFF2-40B4-BE49-F238E27FC236}">
                <a16:creationId xmlns:a16="http://schemas.microsoft.com/office/drawing/2014/main" id="{887CD205-0A24-A6F4-1F31-B5F3BFC2F48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31788" y="3630613"/>
            <a:ext cx="5083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Ribbons with Twists Based on Vorticity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5CFAFE4F-EF04-DCE6-6E51-FB17A715C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1141CB-B9C8-494F-9D46-A18F78D3F4D6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9B79DA5-2880-381C-A9BC-0CBBDEA47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8763000" cy="609600"/>
          </a:xfrm>
        </p:spPr>
        <p:txBody>
          <a:bodyPr/>
          <a:lstStyle/>
          <a:p>
            <a:pPr eaLnBrk="1" hangingPunct="1"/>
            <a:r>
              <a:rPr lang="de-DE" altLang="en-US" sz="3200">
                <a:latin typeface="Arial" panose="020B0604020202020204" pitchFamily="34" charset="0"/>
              </a:rPr>
              <a:t>Scatterplot Matrices</a:t>
            </a:r>
            <a:endParaRPr lang="en-US" altLang="en-US" sz="3200">
              <a:latin typeface="Arial" panose="020B0604020202020204" pitchFamily="34" charset="0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E2235A1-6823-6465-E02D-8049A288C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6172200"/>
            <a:ext cx="8382000" cy="3048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600"/>
              <a:t>Matrix </a:t>
            </a:r>
            <a:r>
              <a:rPr lang="de-DE" altLang="en-US" sz="1600"/>
              <a:t>of scatterplots (x-y-diagrams) of the k-dim. data [total of (k2/2-k) scatterplots]</a:t>
            </a:r>
            <a:endParaRPr lang="en-US" altLang="en-US" sz="1600"/>
          </a:p>
        </p:txBody>
      </p:sp>
      <p:pic>
        <p:nvPicPr>
          <p:cNvPr id="35845" name="Picture 4" descr="scatplot">
            <a:extLst>
              <a:ext uri="{FF2B5EF4-FFF2-40B4-BE49-F238E27FC236}">
                <a16:creationId xmlns:a16="http://schemas.microsoft.com/office/drawing/2014/main" id="{06B2D7F6-F4D2-47EC-B778-24E715200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806451"/>
            <a:ext cx="5410200" cy="5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Text Box 5">
            <a:extLst>
              <a:ext uri="{FF2B5EF4-FFF2-40B4-BE49-F238E27FC236}">
                <a16:creationId xmlns:a16="http://schemas.microsoft.com/office/drawing/2014/main" id="{C1EFE654-0C80-3055-F38D-81861C1C7C9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54944" y="3421856"/>
            <a:ext cx="3155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en-US" sz="800">
                <a:solidFill>
                  <a:schemeClr val="accent1"/>
                </a:solidFill>
                <a:latin typeface="Arial" panose="020B0604020202020204" pitchFamily="34" charset="0"/>
              </a:rPr>
              <a:t>Used by</a:t>
            </a:r>
            <a:r>
              <a:rPr lang="de-DE" altLang="en-US" sz="800" u="sng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de-DE" altLang="en-US" sz="800">
                <a:solidFill>
                  <a:schemeClr val="accent1"/>
                </a:solidFill>
                <a:latin typeface="Arial" panose="020B0604020202020204" pitchFamily="34" charset="0"/>
              </a:rPr>
              <a:t>ermission of M. Ward, Worcester Polytechnic</a:t>
            </a:r>
            <a:r>
              <a:rPr lang="de-DE" altLang="en-US" sz="120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de-DE" altLang="en-US" sz="800">
                <a:solidFill>
                  <a:schemeClr val="accent1"/>
                </a:solidFill>
                <a:latin typeface="Arial" panose="020B0604020202020204" pitchFamily="34" charset="0"/>
              </a:rPr>
              <a:t>Institute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4D7F7B11-2A0B-5B1B-0F00-FE628A8A2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76C5F11-EF86-F64C-BD6D-12E3A1E690BD}" type="slidenum">
              <a:rPr lang="en-US" altLang="en-US" sz="1200"/>
              <a:pPr eaLnBrk="1" hangingPunct="1"/>
              <a:t>36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A7CDA6B1-67B3-81CE-CBAA-7D53E8386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410201"/>
            <a:ext cx="89916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1044575" indent="-1588" eaLnBrk="0" hangingPunct="0"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de-DE" altLang="en-US" sz="2000" b="1" u="sng">
              <a:latin typeface="Arial" panose="020B0604020202020204" pitchFamily="34" charset="0"/>
            </a:endParaRP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C755B8CD-BFA9-DD7A-F99A-3BDD876F8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76" y="2590800"/>
            <a:ext cx="145732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en-US" sz="1400">
                <a:solidFill>
                  <a:schemeClr val="tx2"/>
                </a:solidFill>
                <a:latin typeface="Arial" panose="020B0604020202020204" pitchFamily="34" charset="0"/>
              </a:rPr>
              <a:t>news articles</a:t>
            </a:r>
            <a:br>
              <a:rPr lang="de-DE" altLang="en-US" sz="140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de-DE" altLang="en-US" sz="1400">
                <a:solidFill>
                  <a:schemeClr val="tx2"/>
                </a:solidFill>
                <a:latin typeface="Arial" panose="020B0604020202020204" pitchFamily="34" charset="0"/>
              </a:rPr>
              <a:t>visualized as</a:t>
            </a:r>
            <a:br>
              <a:rPr lang="de-DE" altLang="en-US" sz="140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de-DE" altLang="en-US" sz="1400">
                <a:solidFill>
                  <a:schemeClr val="tx2"/>
                </a:solidFill>
                <a:latin typeface="Arial" panose="020B0604020202020204" pitchFamily="34" charset="0"/>
              </a:rPr>
              <a:t>a landscape</a:t>
            </a:r>
          </a:p>
        </p:txBody>
      </p:sp>
      <p:pic>
        <p:nvPicPr>
          <p:cNvPr id="36869" name="Picture 4" descr="Landscape">
            <a:extLst>
              <a:ext uri="{FF2B5EF4-FFF2-40B4-BE49-F238E27FC236}">
                <a16:creationId xmlns:a16="http://schemas.microsoft.com/office/drawing/2014/main" id="{9F7EA2AF-0A35-7E78-0A7F-0DF895616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117601"/>
            <a:ext cx="56388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 Box 5">
            <a:extLst>
              <a:ext uri="{FF2B5EF4-FFF2-40B4-BE49-F238E27FC236}">
                <a16:creationId xmlns:a16="http://schemas.microsoft.com/office/drawing/2014/main" id="{E00E7140-23C4-F9C4-B884-1B988D7869B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081088" y="3351213"/>
            <a:ext cx="37211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en-US" sz="1000">
                <a:solidFill>
                  <a:schemeClr val="accent1"/>
                </a:solidFill>
                <a:latin typeface="Arial" panose="020B0604020202020204" pitchFamily="34" charset="0"/>
              </a:rPr>
              <a:t>Used by permission of B. Wright, Visible Decisions Inc.</a:t>
            </a: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54FC95DC-B575-329F-58FB-28856753C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>
                <a:latin typeface="Arial" panose="020B0604020202020204" pitchFamily="34" charset="0"/>
              </a:rPr>
              <a:t>Landscapes</a:t>
            </a:r>
            <a:endParaRPr lang="en-US" altLang="en-US" sz="4800">
              <a:latin typeface="Arial" panose="020B0604020202020204" pitchFamily="34" charset="0"/>
            </a:endParaRP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0DD5F78B-863E-91E0-61F3-FE125CEAD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5486400"/>
            <a:ext cx="8382000" cy="1066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de-DE" altLang="en-US"/>
              <a:t>Visualization of the data as perspective landscape</a:t>
            </a:r>
            <a:endParaRPr lang="de-DE" altLang="en-US" b="1"/>
          </a:p>
          <a:p>
            <a:pPr eaLnBrk="1" hangingPunct="1">
              <a:lnSpc>
                <a:spcPct val="90000"/>
              </a:lnSpc>
            </a:pPr>
            <a:r>
              <a:rPr lang="de-DE" altLang="en-US"/>
              <a:t>The data needs to be transformed into a (possibly artificial) 2D spatial representation which preserves the characteristics of the data 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0081D792-383A-4612-74C6-BFB8E9D76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DD703A3-E7BB-D042-A8AF-A0A6897B0C9C}" type="slidenum">
              <a:rPr lang="en-US" altLang="en-US" sz="1200"/>
              <a:pPr eaLnBrk="1" hangingPunct="1"/>
              <a:t>37</a:t>
            </a:fld>
            <a:endParaRPr lang="en-US" altLang="en-US" sz="1200"/>
          </a:p>
        </p:txBody>
      </p:sp>
      <p:pic>
        <p:nvPicPr>
          <p:cNvPr id="37891" name="Picture 3">
            <a:extLst>
              <a:ext uri="{FF2B5EF4-FFF2-40B4-BE49-F238E27FC236}">
                <a16:creationId xmlns:a16="http://schemas.microsoft.com/office/drawing/2014/main" id="{B8CB94FD-7BE6-A2AA-90D1-BA56438F2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86201"/>
            <a:ext cx="6553200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4">
            <a:extLst>
              <a:ext uri="{FF2B5EF4-FFF2-40B4-BE49-F238E27FC236}">
                <a16:creationId xmlns:a16="http://schemas.microsoft.com/office/drawing/2014/main" id="{2A568918-890F-B190-065F-D00FA62D4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/>
              <a:t>Parallel Coordinates</a:t>
            </a:r>
            <a:endParaRPr lang="en-US" altLang="en-US" sz="4000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62A7FB66-F640-F175-423C-3BD9F945C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0"/>
            <a:ext cx="8458200" cy="22860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de-DE" altLang="en-US"/>
              <a:t>n equidistant axes which are parallel to one of the screen axes and correspond to the attributes </a:t>
            </a:r>
          </a:p>
          <a:p>
            <a:pPr eaLnBrk="1" hangingPunct="1"/>
            <a:r>
              <a:rPr lang="de-DE" altLang="en-US"/>
              <a:t>The axes are scaled to the [minimum, maximum]: range of the corresponding attribute</a:t>
            </a:r>
          </a:p>
          <a:p>
            <a:pPr eaLnBrk="1" hangingPunct="1"/>
            <a:r>
              <a:rPr lang="de-DE" altLang="en-US"/>
              <a:t>Every data item corresponds to a polygonal line which intersects each of the axes at the point which corresponds to the value for the attribute</a:t>
            </a: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>
            <a:extLst>
              <a:ext uri="{FF2B5EF4-FFF2-40B4-BE49-F238E27FC236}">
                <a16:creationId xmlns:a16="http://schemas.microsoft.com/office/drawing/2014/main" id="{263E2049-3A7F-2685-15AB-9E212B0926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9641B36-246C-6840-B5E8-493C5312B6AF}" type="slidenum">
              <a:rPr lang="en-US" altLang="en-US" sz="1200"/>
              <a:pPr eaLnBrk="1" hangingPunct="1"/>
              <a:t>38</a:t>
            </a:fld>
            <a:endParaRPr lang="en-US" altLang="en-US" sz="1200"/>
          </a:p>
        </p:txBody>
      </p:sp>
      <p:pic>
        <p:nvPicPr>
          <p:cNvPr id="38915" name="Picture 2" descr="ParCoord_KapIIb">
            <a:extLst>
              <a:ext uri="{FF2B5EF4-FFF2-40B4-BE49-F238E27FC236}">
                <a16:creationId xmlns:a16="http://schemas.microsoft.com/office/drawing/2014/main" id="{A4C96870-5ECC-3678-0B93-60949EAE3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392238"/>
            <a:ext cx="7467600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Rectangle 3">
            <a:extLst>
              <a:ext uri="{FF2B5EF4-FFF2-40B4-BE49-F238E27FC236}">
                <a16:creationId xmlns:a16="http://schemas.microsoft.com/office/drawing/2014/main" id="{97CE3E83-71EF-B9FA-DA36-1D90C8B5EA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Parallel Coordinates of a Data Set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3EEEFBC0-5DD8-4BA5-59A9-161B645B1E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AB6CCE5-B8E9-1541-8772-C793B14491C3}" type="slidenum">
              <a:rPr lang="en-US" altLang="en-US" sz="1200"/>
              <a:pPr eaLnBrk="1" hangingPunct="1"/>
              <a:t>39</a:t>
            </a:fld>
            <a:endParaRPr lang="en-US" altLang="en-US" sz="120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359F6BB-23E2-BF79-A8BB-F81DB30D9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>
                <a:solidFill>
                  <a:srgbClr val="170981"/>
                </a:solidFill>
              </a:rPr>
              <a:t>Icon-Based Visualization Techniques</a:t>
            </a:r>
            <a:endParaRPr lang="en-US" altLang="en-US">
              <a:solidFill>
                <a:srgbClr val="170981"/>
              </a:solidFill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4C108909-9E69-09BD-71F4-3E662EAE2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6648" y="1447800"/>
            <a:ext cx="9120352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de-DE" altLang="en-US" sz="2400" dirty="0" err="1"/>
              <a:t>Visualization</a:t>
            </a:r>
            <a:r>
              <a:rPr lang="de-DE" altLang="en-US" sz="2400" dirty="0"/>
              <a:t> </a:t>
            </a:r>
            <a:r>
              <a:rPr lang="de-DE" altLang="en-US" sz="2400" dirty="0" err="1"/>
              <a:t>of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the</a:t>
            </a:r>
            <a:r>
              <a:rPr lang="de-DE" altLang="en-US" sz="2400" dirty="0"/>
              <a:t> </a:t>
            </a:r>
            <a:r>
              <a:rPr lang="de-DE" altLang="en-US" sz="2400" dirty="0" err="1"/>
              <a:t>data</a:t>
            </a:r>
            <a:r>
              <a:rPr lang="de-DE" altLang="en-US" sz="2400" dirty="0"/>
              <a:t> </a:t>
            </a:r>
            <a:r>
              <a:rPr lang="de-DE" altLang="en-US" sz="2400" dirty="0" err="1"/>
              <a:t>values</a:t>
            </a:r>
            <a:r>
              <a:rPr lang="de-DE" altLang="en-US" sz="2400" dirty="0"/>
              <a:t> </a:t>
            </a:r>
            <a:r>
              <a:rPr lang="de-DE" altLang="en-US" sz="2400" dirty="0" err="1"/>
              <a:t>as</a:t>
            </a:r>
            <a:r>
              <a:rPr lang="de-DE" altLang="en-US" sz="2400" dirty="0"/>
              <a:t> </a:t>
            </a:r>
            <a:r>
              <a:rPr lang="de-DE" altLang="en-US" sz="2400" dirty="0" err="1"/>
              <a:t>features</a:t>
            </a:r>
            <a:r>
              <a:rPr lang="de-DE" altLang="en-US" sz="2400" dirty="0"/>
              <a:t> </a:t>
            </a:r>
            <a:r>
              <a:rPr lang="de-DE" altLang="en-US" sz="2400" dirty="0" err="1"/>
              <a:t>of</a:t>
            </a:r>
            <a:r>
              <a:rPr lang="de-DE" altLang="en-US" sz="2400" dirty="0"/>
              <a:t> </a:t>
            </a:r>
            <a:r>
              <a:rPr lang="de-DE" altLang="en-US" sz="2400" dirty="0" err="1"/>
              <a:t>icons</a:t>
            </a:r>
            <a:endParaRPr lang="de-DE" altLang="en-US" sz="2400" dirty="0"/>
          </a:p>
          <a:p>
            <a:pPr eaLnBrk="1" hangingPunct="1">
              <a:lnSpc>
                <a:spcPct val="110000"/>
              </a:lnSpc>
            </a:pPr>
            <a:r>
              <a:rPr lang="de-DE" altLang="en-US" sz="2400" dirty="0" err="1"/>
              <a:t>Typical</a:t>
            </a:r>
            <a:r>
              <a:rPr lang="de-DE" altLang="en-US" sz="2400" dirty="0"/>
              <a:t> </a:t>
            </a:r>
            <a:r>
              <a:rPr lang="de-DE" altLang="en-US" sz="2400" dirty="0" err="1"/>
              <a:t>visualization</a:t>
            </a:r>
            <a:r>
              <a:rPr lang="de-DE" altLang="en-US" sz="2400" dirty="0"/>
              <a:t> </a:t>
            </a:r>
            <a:r>
              <a:rPr lang="de-DE" altLang="en-US" sz="2400" dirty="0" err="1"/>
              <a:t>methods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 err="1"/>
              <a:t>Chernoff</a:t>
            </a:r>
            <a:r>
              <a:rPr lang="de-DE" altLang="en-US" sz="2400" dirty="0"/>
              <a:t> Faces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/>
              <a:t>Stick </a:t>
            </a:r>
            <a:r>
              <a:rPr lang="de-DE" altLang="en-US" sz="2400" dirty="0" err="1"/>
              <a:t>Figures</a:t>
            </a:r>
            <a:endParaRPr lang="de-DE" altLang="en-US" sz="2400" dirty="0"/>
          </a:p>
          <a:p>
            <a:pPr eaLnBrk="1" hangingPunct="1">
              <a:lnSpc>
                <a:spcPct val="110000"/>
              </a:lnSpc>
            </a:pPr>
            <a:r>
              <a:rPr lang="de-DE" altLang="en-US" sz="2400" dirty="0"/>
              <a:t>General </a:t>
            </a:r>
            <a:r>
              <a:rPr lang="de-DE" altLang="en-US" sz="2400" dirty="0" err="1"/>
              <a:t>techniques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/>
              <a:t>Shape </a:t>
            </a:r>
            <a:r>
              <a:rPr lang="de-DE" altLang="en-US" sz="2400" dirty="0" err="1"/>
              <a:t>coding</a:t>
            </a:r>
            <a:r>
              <a:rPr lang="de-DE" altLang="en-US" sz="2400" dirty="0"/>
              <a:t>: Use </a:t>
            </a:r>
            <a:r>
              <a:rPr lang="de-DE" altLang="en-US" sz="2400" dirty="0" err="1"/>
              <a:t>shape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to</a:t>
            </a:r>
            <a:r>
              <a:rPr lang="de-DE" altLang="en-US" sz="2400" dirty="0"/>
              <a:t> </a:t>
            </a:r>
            <a:r>
              <a:rPr lang="de-DE" altLang="en-US" sz="2400" dirty="0" err="1"/>
              <a:t>represent</a:t>
            </a:r>
            <a:r>
              <a:rPr lang="de-DE" altLang="en-US" sz="2400" dirty="0"/>
              <a:t> </a:t>
            </a:r>
            <a:r>
              <a:rPr lang="de-DE" altLang="en-US" sz="2400" dirty="0" err="1"/>
              <a:t>certain</a:t>
            </a:r>
            <a:r>
              <a:rPr lang="de-DE" altLang="en-US" sz="2400" dirty="0"/>
              <a:t> </a:t>
            </a:r>
            <a:r>
              <a:rPr lang="de-DE" altLang="en-US" sz="2400" dirty="0" err="1"/>
              <a:t>information</a:t>
            </a:r>
            <a:r>
              <a:rPr lang="de-DE" altLang="en-US" sz="2400" dirty="0"/>
              <a:t> </a:t>
            </a:r>
            <a:r>
              <a:rPr lang="de-DE" altLang="en-US" sz="2400" dirty="0" err="1"/>
              <a:t>encoding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/>
              <a:t>Color </a:t>
            </a:r>
            <a:r>
              <a:rPr lang="de-DE" altLang="en-US" sz="2400" dirty="0" err="1"/>
              <a:t>icons</a:t>
            </a:r>
            <a:r>
              <a:rPr lang="de-DE" altLang="en-US" sz="2400" dirty="0"/>
              <a:t>: Use </a:t>
            </a:r>
            <a:r>
              <a:rPr lang="de-DE" altLang="en-US" sz="2400" dirty="0" err="1"/>
              <a:t>color</a:t>
            </a:r>
            <a:r>
              <a:rPr lang="de-DE" altLang="en-US" sz="2400" dirty="0"/>
              <a:t> </a:t>
            </a:r>
            <a:r>
              <a:rPr lang="de-DE" altLang="en-US" sz="2400" dirty="0" err="1"/>
              <a:t>icons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to</a:t>
            </a:r>
            <a:r>
              <a:rPr lang="de-DE" altLang="en-US" sz="2400" dirty="0"/>
              <a:t> </a:t>
            </a:r>
            <a:r>
              <a:rPr lang="de-DE" altLang="en-US" sz="2400" dirty="0" err="1"/>
              <a:t>encode</a:t>
            </a:r>
            <a:r>
              <a:rPr lang="de-DE" altLang="en-US" sz="2400" dirty="0"/>
              <a:t> </a:t>
            </a:r>
            <a:r>
              <a:rPr lang="de-DE" altLang="en-US" sz="2400" dirty="0" err="1"/>
              <a:t>more</a:t>
            </a:r>
            <a:r>
              <a:rPr lang="de-DE" altLang="en-US" sz="2400" dirty="0"/>
              <a:t> </a:t>
            </a:r>
            <a:r>
              <a:rPr lang="de-DE" altLang="en-US" sz="2400" dirty="0" err="1"/>
              <a:t>information</a:t>
            </a:r>
            <a:endParaRPr lang="de-DE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de-DE" altLang="en-US" sz="2400" dirty="0" err="1"/>
              <a:t>Tile</a:t>
            </a:r>
            <a:r>
              <a:rPr lang="de-DE" altLang="en-US" sz="2400" dirty="0"/>
              <a:t> </a:t>
            </a:r>
            <a:r>
              <a:rPr lang="de-DE" altLang="en-US" sz="2400" dirty="0" err="1"/>
              <a:t>bars</a:t>
            </a:r>
            <a:r>
              <a:rPr lang="de-DE" altLang="en-US" sz="2400" dirty="0"/>
              <a:t>: Use </a:t>
            </a:r>
            <a:r>
              <a:rPr lang="de-DE" altLang="en-US" sz="2400" dirty="0" err="1"/>
              <a:t>small</a:t>
            </a:r>
            <a:r>
              <a:rPr lang="de-DE" altLang="en-US" sz="2400" dirty="0"/>
              <a:t> </a:t>
            </a:r>
            <a:r>
              <a:rPr lang="de-DE" altLang="en-US" sz="2400" dirty="0" err="1"/>
              <a:t>icons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to</a:t>
            </a:r>
            <a:r>
              <a:rPr lang="de-DE" altLang="en-US" sz="2400" dirty="0"/>
              <a:t> </a:t>
            </a:r>
            <a:r>
              <a:rPr lang="de-DE" altLang="en-US" sz="2400" dirty="0" err="1"/>
              <a:t>represent</a:t>
            </a:r>
            <a:r>
              <a:rPr lang="de-DE" altLang="en-US" sz="2400" dirty="0"/>
              <a:t> </a:t>
            </a:r>
            <a:r>
              <a:rPr lang="de-DE" altLang="en-US" sz="2400" dirty="0" err="1"/>
              <a:t>the</a:t>
            </a:r>
            <a:r>
              <a:rPr lang="de-DE" altLang="en-US" sz="2400" dirty="0"/>
              <a:t> relevant feature </a:t>
            </a:r>
            <a:r>
              <a:rPr lang="de-DE" altLang="en-US" sz="2400" dirty="0" err="1"/>
              <a:t>vectors</a:t>
            </a:r>
            <a:r>
              <a:rPr lang="de-DE" altLang="en-US" sz="2400" dirty="0"/>
              <a:t> in </a:t>
            </a:r>
            <a:r>
              <a:rPr lang="de-DE" altLang="en-US" sz="2400" dirty="0" err="1"/>
              <a:t>document</a:t>
            </a:r>
            <a:r>
              <a:rPr lang="de-DE" altLang="en-US" sz="2400" dirty="0"/>
              <a:t> </a:t>
            </a:r>
            <a:r>
              <a:rPr lang="de-DE" altLang="en-US" sz="2400" dirty="0" err="1"/>
              <a:t>retrieval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7D0EABA1-4AAF-45E1-4023-5D69747D0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AA04554-2025-CC44-9654-CE36F55DD88C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BBFB69A-D217-87BE-5C57-69489CC97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 sz="3200">
                <a:solidFill>
                  <a:srgbClr val="170981"/>
                </a:solidFill>
              </a:rPr>
              <a:t>Hierarchical Visualization Techniques</a:t>
            </a:r>
            <a:endParaRPr lang="en-US" altLang="en-US" sz="3200">
              <a:solidFill>
                <a:srgbClr val="170981"/>
              </a:solidFill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0EFEAE1-A799-7E95-0E25-6B5EA66E34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de-DE" altLang="en-US"/>
              <a:t>Visualization of the data using a hierarchical partitioning into subspaces</a:t>
            </a:r>
          </a:p>
          <a:p>
            <a:pPr eaLnBrk="1" hangingPunct="1">
              <a:lnSpc>
                <a:spcPct val="110000"/>
              </a:lnSpc>
            </a:pPr>
            <a:r>
              <a:rPr lang="de-DE" altLang="en-US"/>
              <a:t>Methods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/>
              <a:t>Dimensional Stacking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/>
              <a:t>Worlds-within-Worlds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/>
              <a:t>Tree-Map 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/>
              <a:t>Cone Trees</a:t>
            </a:r>
          </a:p>
          <a:p>
            <a:pPr lvl="1" eaLnBrk="1" hangingPunct="1">
              <a:lnSpc>
                <a:spcPct val="110000"/>
              </a:lnSpc>
            </a:pPr>
            <a:r>
              <a:rPr lang="de-DE" altLang="en-US"/>
              <a:t>InfoCube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>
            <a:extLst>
              <a:ext uri="{FF2B5EF4-FFF2-40B4-BE49-F238E27FC236}">
                <a16:creationId xmlns:a16="http://schemas.microsoft.com/office/drawing/2014/main" id="{2D19F975-5536-E063-AAB9-B8EAF7E29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3489C66-6A16-D446-9D3D-1AF751312370}" type="slidenum">
              <a:rPr lang="en-US" altLang="en-US" sz="1200"/>
              <a:pPr eaLnBrk="1" hangingPunct="1"/>
              <a:t>41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6FD0994-C5B2-6914-6D95-37E6A33AA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Dimensional Stacking</a:t>
            </a: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63003244-EBF3-9F26-29BE-CBA5C7A95FC7}"/>
              </a:ext>
            </a:extLst>
          </p:cNvPr>
          <p:cNvPicPr>
            <a:picLocks noChangeAspect="1" noChangeArrowheads="1"/>
          </p:cNvPicPr>
          <p:nvPr>
            <p:ph type="body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295401"/>
            <a:ext cx="8153400" cy="2125663"/>
          </a:xfrm>
          <a:noFill/>
        </p:spPr>
      </p:pic>
      <p:sp>
        <p:nvSpPr>
          <p:cNvPr id="44037" name="Rectangle 5">
            <a:extLst>
              <a:ext uri="{FF2B5EF4-FFF2-40B4-BE49-F238E27FC236}">
                <a16:creationId xmlns:a16="http://schemas.microsoft.com/office/drawing/2014/main" id="{EB977AFA-934D-3ECA-0BFA-332A0B5EB9E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828800" y="3581400"/>
            <a:ext cx="8610600" cy="28194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de-DE" altLang="en-US" sz="2400"/>
              <a:t>Partitioning of the n-dimensional attribute space in 2-D subspaces, which are ‘stacked’ into each other</a:t>
            </a:r>
          </a:p>
          <a:p>
            <a:pPr eaLnBrk="1" hangingPunct="1"/>
            <a:r>
              <a:rPr lang="de-DE" altLang="en-US" sz="2400"/>
              <a:t>Partitioning of the attribute value ranges into classes.  The important attributes should be used on the outer levels.</a:t>
            </a:r>
            <a:endParaRPr lang="de-DE" altLang="en-US" sz="2400" b="1"/>
          </a:p>
          <a:p>
            <a:pPr eaLnBrk="1" hangingPunct="1"/>
            <a:r>
              <a:rPr lang="de-DE" altLang="en-US" sz="2400"/>
              <a:t>Adequate for data with ordinal attributes of low cardinality</a:t>
            </a:r>
          </a:p>
          <a:p>
            <a:pPr eaLnBrk="1" hangingPunct="1"/>
            <a:r>
              <a:rPr lang="en-US" altLang="en-US" sz="2400"/>
              <a:t>But, difficult to display more than nine dimensions</a:t>
            </a:r>
          </a:p>
          <a:p>
            <a:pPr eaLnBrk="1" hangingPunct="1"/>
            <a:r>
              <a:rPr lang="en-US" altLang="en-US" sz="2400"/>
              <a:t>Important to map dimensions appropriately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0CCE2FE0-1A04-D684-0224-FA59C6E6E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3339CB7-F506-484F-AA2F-1ECF8F9472BB}" type="slidenum">
              <a:rPr lang="en-US" altLang="en-US" sz="1200"/>
              <a:pPr eaLnBrk="1" hangingPunct="1"/>
              <a:t>42</a:t>
            </a:fld>
            <a:endParaRPr lang="en-US" altLang="en-US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7F3735D-85E3-472A-28DA-5E2238374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219201"/>
            <a:ext cx="7581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381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2">
              <a:spcBef>
                <a:spcPts val="1900"/>
              </a:spcBef>
              <a:spcAft>
                <a:spcPts val="1500"/>
              </a:spcAft>
            </a:pPr>
            <a:r>
              <a:rPr lang="de-DE" altLang="en-US" sz="1000">
                <a:solidFill>
                  <a:schemeClr val="accent1"/>
                </a:solidFill>
                <a:latin typeface="Arial" panose="020B0604020202020204" pitchFamily="34" charset="0"/>
              </a:rPr>
              <a:t>Used by permission of M. Ward, Worcester Polytechnic Institute</a:t>
            </a:r>
          </a:p>
        </p:txBody>
      </p:sp>
      <p:pic>
        <p:nvPicPr>
          <p:cNvPr id="45060" name="Picture 3" descr="dimstack">
            <a:extLst>
              <a:ext uri="{FF2B5EF4-FFF2-40B4-BE49-F238E27FC236}">
                <a16:creationId xmlns:a16="http://schemas.microsoft.com/office/drawing/2014/main" id="{1ECC174C-9E34-FCFA-DB89-20EE8656B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460500"/>
            <a:ext cx="7419975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Text Box 4">
            <a:extLst>
              <a:ext uri="{FF2B5EF4-FFF2-40B4-BE49-F238E27FC236}">
                <a16:creationId xmlns:a16="http://schemas.microsoft.com/office/drawing/2014/main" id="{C4CF56D8-EA94-31CA-8CA6-1AFC6D5DB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15001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e-DE" altLang="en-US" sz="2000">
                <a:latin typeface="Arial" panose="020B0604020202020204" pitchFamily="34" charset="0"/>
              </a:rPr>
              <a:t>Visualization of oil mining data with longitude and latitude mapped to the outer x-, y-axes and ore grade and depth mapped to the inner x-, y-axes</a:t>
            </a: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281C85AC-94E7-858D-7039-744DA7C345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Dimensional Stacking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6">
            <a:extLst>
              <a:ext uri="{FF2B5EF4-FFF2-40B4-BE49-F238E27FC236}">
                <a16:creationId xmlns:a16="http://schemas.microsoft.com/office/drawing/2014/main" id="{5AF2AC32-DDA5-CFF5-A76E-66ED4C298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28CF4E7-3016-6A4F-B64F-03B52A4E8CE5}" type="slidenum">
              <a:rPr lang="en-US" altLang="en-US" sz="1200"/>
              <a:pPr eaLnBrk="1" hangingPunct="1"/>
              <a:t>43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8CE63BD-4A65-5F96-9067-807B4DBB5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/>
              <a:t>Worlds-within-Worlds</a:t>
            </a:r>
            <a:endParaRPr lang="en-US" altLang="en-US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A62EC1E-50FA-0740-8826-7BBDDD8E5C7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1295400"/>
            <a:ext cx="8839200" cy="19812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10000"/>
              </a:lnSpc>
            </a:pPr>
            <a:r>
              <a:rPr lang="de-DE" altLang="en-US"/>
              <a:t>Assign </a:t>
            </a:r>
            <a:r>
              <a:rPr lang="en-US" altLang="en-US"/>
              <a:t>the function and two most important parameters to innermost world 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en-US"/>
              <a:t>Fix all other parameters at constant values - draw other (1 or 2 or 3 dimensional worlds choosing these as the axes)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en-US"/>
              <a:t>Software that uses this paradigm</a:t>
            </a:r>
          </a:p>
          <a:p>
            <a:pPr marL="457200" indent="-457200">
              <a:lnSpc>
                <a:spcPct val="110000"/>
              </a:lnSpc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E3F7229-BCD9-95B9-5943-58B4C4AABB0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447800" y="3276600"/>
            <a:ext cx="3810000" cy="3200400"/>
          </a:xfrm>
        </p:spPr>
        <p:txBody>
          <a:bodyPr>
            <a:normAutofit fontScale="92500" lnSpcReduction="20000"/>
          </a:bodyPr>
          <a:lstStyle/>
          <a:p>
            <a:pPr marL="800100" lvl="1" indent="-342900"/>
            <a:r>
              <a:rPr lang="en-US" altLang="en-US" sz="2000"/>
              <a:t>N–vision: Dynamic interaction through data glove and stereo displays, including  rotation, scaling (inner) and translation (inner/outer) </a:t>
            </a:r>
          </a:p>
          <a:p>
            <a:pPr marL="800100" lvl="1" indent="-342900"/>
            <a:r>
              <a:rPr lang="en-US" altLang="en-US" sz="2000"/>
              <a:t>Auto Visual: Static interaction by means of queries</a:t>
            </a:r>
          </a:p>
        </p:txBody>
      </p:sp>
      <p:pic>
        <p:nvPicPr>
          <p:cNvPr id="46086" name="Picture 4" descr="pic1">
            <a:extLst>
              <a:ext uri="{FF2B5EF4-FFF2-40B4-BE49-F238E27FC236}">
                <a16:creationId xmlns:a16="http://schemas.microsoft.com/office/drawing/2014/main" id="{480E4853-3C1B-537F-E616-8792C1BEA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552" y="2891472"/>
            <a:ext cx="5562600" cy="34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>
            <a:extLst>
              <a:ext uri="{FF2B5EF4-FFF2-40B4-BE49-F238E27FC236}">
                <a16:creationId xmlns:a16="http://schemas.microsoft.com/office/drawing/2014/main" id="{F8807C00-F356-6BA8-25BC-79E9261E7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CB3015D-D019-0547-858D-4CF871E91A19}" type="slidenum">
              <a:rPr lang="en-US" altLang="en-US" sz="1200"/>
              <a:pPr eaLnBrk="1" hangingPunct="1"/>
              <a:t>44</a:t>
            </a:fld>
            <a:endParaRPr lang="en-US" altLang="en-US" sz="1200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F309522-2617-0328-94E5-E7FA3E9F3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Tree-Map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1685F212-B9B8-E9FC-F1A7-32C2673EB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610600" cy="1676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de-DE" altLang="en-US" sz="2400"/>
              <a:t>Screen-filling method which uses a hierarchical partitioning of the screen into regions depending on the attribute values</a:t>
            </a:r>
            <a:endParaRPr lang="de-DE" altLang="en-US" sz="2400" b="1"/>
          </a:p>
          <a:p>
            <a:pPr eaLnBrk="1" hangingPunct="1"/>
            <a:r>
              <a:rPr lang="de-DE" altLang="en-US" sz="2400"/>
              <a:t>The x- and y-dimension of the screen are partitioned alternately according to the attribute values (classes)</a:t>
            </a:r>
            <a:endParaRPr lang="en-US" altLang="en-US" sz="2400"/>
          </a:p>
        </p:txBody>
      </p:sp>
      <p:pic>
        <p:nvPicPr>
          <p:cNvPr id="47109" name="Picture 4" descr="all102001">
            <a:extLst>
              <a:ext uri="{FF2B5EF4-FFF2-40B4-BE49-F238E27FC236}">
                <a16:creationId xmlns:a16="http://schemas.microsoft.com/office/drawing/2014/main" id="{EFA68D43-BAF2-31A3-B341-8054B036C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048000"/>
            <a:ext cx="5334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Text Box 5">
            <a:extLst>
              <a:ext uri="{FF2B5EF4-FFF2-40B4-BE49-F238E27FC236}">
                <a16:creationId xmlns:a16="http://schemas.microsoft.com/office/drawing/2014/main" id="{DAEC21A7-225F-4899-8736-5E716A7C8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4419600"/>
            <a:ext cx="290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MSR Netscan Image</a:t>
            </a:r>
          </a:p>
        </p:txBody>
      </p:sp>
      <p:sp>
        <p:nvSpPr>
          <p:cNvPr id="47111" name="Rectangle 1">
            <a:extLst>
              <a:ext uri="{FF2B5EF4-FFF2-40B4-BE49-F238E27FC236}">
                <a16:creationId xmlns:a16="http://schemas.microsoft.com/office/drawing/2014/main" id="{25205512-8A3B-58E2-2467-1AFBAC4F8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6553201"/>
            <a:ext cx="457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/>
              <a:t>Ack.: http://www.cs.umd.edu/hcil/treemap-history/all102001.jpg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52B05B75-AD1F-57F5-D6D4-F7E54FE15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D0C95C4-A7B1-8B4B-AB22-BE7436100F3E}" type="slidenum">
              <a:rPr lang="en-US" altLang="en-US" sz="1200"/>
              <a:pPr eaLnBrk="1" hangingPunct="1"/>
              <a:t>45</a:t>
            </a:fld>
            <a:endParaRPr lang="en-US" altLang="en-US" sz="1200"/>
          </a:p>
        </p:txBody>
      </p:sp>
      <p:pic>
        <p:nvPicPr>
          <p:cNvPr id="48131" name="Picture 2">
            <a:extLst>
              <a:ext uri="{FF2B5EF4-FFF2-40B4-BE49-F238E27FC236}">
                <a16:creationId xmlns:a16="http://schemas.microsoft.com/office/drawing/2014/main" id="{3B49D47C-B13A-3B34-731B-39619471E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95400"/>
            <a:ext cx="7543800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Rectangle 4">
            <a:extLst>
              <a:ext uri="{FF2B5EF4-FFF2-40B4-BE49-F238E27FC236}">
                <a16:creationId xmlns:a16="http://schemas.microsoft.com/office/drawing/2014/main" id="{32FA853B-6954-5209-9F68-78858A11C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0"/>
              <a:t>Tree-Map of a File System (Schneiderman)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4E9F1A29-49AD-1C6D-337D-DDA327AAA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DC196CB-C0E5-0A47-A2FC-FB2A93C9EDC0}" type="slidenum">
              <a:rPr lang="en-US" altLang="en-US" sz="1200"/>
              <a:pPr eaLnBrk="1" hangingPunct="1"/>
              <a:t>46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7AA3C21-A967-4A27-ECC4-1CD17B8F0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en-US"/>
              <a:t>InfoCube</a:t>
            </a:r>
            <a:endParaRPr lang="en-US" altLang="en-US"/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89CA668-BBDF-E42F-E97E-EC6895970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686800" cy="4953000"/>
          </a:xfrm>
        </p:spPr>
        <p:txBody>
          <a:bodyPr/>
          <a:lstStyle/>
          <a:p>
            <a:pPr eaLnBrk="1" hangingPunct="1"/>
            <a:r>
              <a:rPr lang="de-DE" altLang="en-US"/>
              <a:t>A 3-D visualization technique where hierarchical information is displayed as nested semi-transparent cubes </a:t>
            </a:r>
          </a:p>
          <a:p>
            <a:pPr eaLnBrk="1" hangingPunct="1"/>
            <a:r>
              <a:rPr lang="de-DE" altLang="en-US"/>
              <a:t>The outermost cubes correspond to the top level data, while the subnodes or the lower level data are represented as smaller cubes inside the outermost cubes, and so on</a:t>
            </a:r>
          </a:p>
        </p:txBody>
      </p:sp>
      <p:pic>
        <p:nvPicPr>
          <p:cNvPr id="49157" name="Picture 11" descr="http://www.csl.sony.co.jp/person/rekimoto/cube/cube.gif">
            <a:extLst>
              <a:ext uri="{FF2B5EF4-FFF2-40B4-BE49-F238E27FC236}">
                <a16:creationId xmlns:a16="http://schemas.microsoft.com/office/drawing/2014/main" id="{D5B14E4C-C1B4-8029-E5F3-4AD9FC38D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612" y="3607501"/>
            <a:ext cx="36004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68040554-7081-ED69-228F-5BD92999D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7C07967-41A2-F846-A741-7139F757257E}" type="slidenum">
              <a:rPr lang="en-US" altLang="en-US" sz="1200"/>
              <a:pPr eaLnBrk="1" hangingPunct="1"/>
              <a:t>47</a:t>
            </a:fld>
            <a:endParaRPr lang="en-US" altLang="en-US" sz="1200"/>
          </a:p>
        </p:txBody>
      </p:sp>
      <p:pic>
        <p:nvPicPr>
          <p:cNvPr id="50179" name="Picture 6" descr="GraphVis_ExConeTree_15_den_top">
            <a:extLst>
              <a:ext uri="{FF2B5EF4-FFF2-40B4-BE49-F238E27FC236}">
                <a16:creationId xmlns:a16="http://schemas.microsoft.com/office/drawing/2014/main" id="{90F145DA-D95C-69BE-A011-0C00E32D1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3276600"/>
            <a:ext cx="31051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5" descr="GraphVis_ExConeTree_15_den">
            <a:extLst>
              <a:ext uri="{FF2B5EF4-FFF2-40B4-BE49-F238E27FC236}">
                <a16:creationId xmlns:a16="http://schemas.microsoft.com/office/drawing/2014/main" id="{6ECF707E-957F-3C2B-CEF0-515B1A3E7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152400"/>
            <a:ext cx="47625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Rectangle 2">
            <a:extLst>
              <a:ext uri="{FF2B5EF4-FFF2-40B4-BE49-F238E27FC236}">
                <a16:creationId xmlns:a16="http://schemas.microsoft.com/office/drawing/2014/main" id="{D12A0274-657D-30B3-B816-CEF45D75D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7391400" cy="609600"/>
          </a:xfrm>
        </p:spPr>
        <p:txBody>
          <a:bodyPr/>
          <a:lstStyle/>
          <a:p>
            <a:pPr eaLnBrk="1" hangingPunct="1"/>
            <a:r>
              <a:rPr lang="de-DE" altLang="en-US" dirty="0" err="1"/>
              <a:t>Three</a:t>
            </a:r>
            <a:r>
              <a:rPr lang="de-DE" altLang="en-US" dirty="0"/>
              <a:t>-D </a:t>
            </a:r>
            <a:r>
              <a:rPr lang="de-DE" altLang="en-US" dirty="0" err="1"/>
              <a:t>Cone</a:t>
            </a:r>
            <a:r>
              <a:rPr lang="de-DE" altLang="en-US" dirty="0"/>
              <a:t> </a:t>
            </a:r>
            <a:r>
              <a:rPr lang="de-DE" altLang="en-US" dirty="0" err="1"/>
              <a:t>Trees</a:t>
            </a:r>
            <a:endParaRPr lang="en-US" altLang="en-US" dirty="0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ED1C95DD-3EF8-4004-695D-BDFA17908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5410200" cy="518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i="1"/>
              <a:t>3D</a:t>
            </a:r>
            <a:r>
              <a:rPr lang="en-US" altLang="en-US"/>
              <a:t> </a:t>
            </a:r>
            <a:r>
              <a:rPr lang="en-US" altLang="en-US" i="1"/>
              <a:t>cone tree</a:t>
            </a:r>
            <a:r>
              <a:rPr lang="en-US" altLang="en-US"/>
              <a:t> visualization technique works well for up to a thousand nodes or so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First build a </a:t>
            </a:r>
            <a:r>
              <a:rPr lang="en-US" altLang="en-US" i="1"/>
              <a:t>2D</a:t>
            </a:r>
            <a:r>
              <a:rPr lang="en-US" altLang="en-US"/>
              <a:t> </a:t>
            </a:r>
            <a:r>
              <a:rPr lang="en-US" altLang="en-US" i="1"/>
              <a:t>circle tree</a:t>
            </a:r>
            <a:r>
              <a:rPr lang="en-US" altLang="en-US"/>
              <a:t> that arranges its nodes in concentric circles centered on the root node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Cannot avoid overlaps when projected to 2D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G. Robertson, J. Mackinlay, S. Card. “Cone Trees: Animated 3D Visualizations of Hierarchical Information”, </a:t>
            </a:r>
            <a:r>
              <a:rPr lang="en-US" altLang="en-US" i="1"/>
              <a:t>ACM SIGCHI'91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Graph from Nadeau Software Consulting website: Visualize a social network data set that models the way an infection spreads from one person to the next </a:t>
            </a:r>
            <a:endParaRPr lang="de-DE" altLang="en-US"/>
          </a:p>
        </p:txBody>
      </p:sp>
      <p:sp>
        <p:nvSpPr>
          <p:cNvPr id="50183" name="TextBox 1">
            <a:extLst>
              <a:ext uri="{FF2B5EF4-FFF2-40B4-BE49-F238E27FC236}">
                <a16:creationId xmlns:a16="http://schemas.microsoft.com/office/drawing/2014/main" id="{E5E2C6D3-DC65-6F7B-A2F9-EE65398D9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6381751"/>
            <a:ext cx="4464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/>
              <a:t>Ack.: http://nadeausoftware.com/articles/visualization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6FB07C6-74AC-7D07-BF73-84BE0E34E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Visualizing Complex Data and Relations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57344F8-E9A6-762F-A33F-9535B3061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0"/>
            <a:ext cx="86106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Visualizing non-numerical data: text and social networks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Tag cloud: visualizing user-generated tags</a:t>
            </a:r>
          </a:p>
        </p:txBody>
      </p:sp>
      <p:pic>
        <p:nvPicPr>
          <p:cNvPr id="51204" name="Picture 4">
            <a:extLst>
              <a:ext uri="{FF2B5EF4-FFF2-40B4-BE49-F238E27FC236}">
                <a16:creationId xmlns:a16="http://schemas.microsoft.com/office/drawing/2014/main" id="{B5DE2C2B-FAAF-5C10-098F-E893539F2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184400"/>
            <a:ext cx="5105400" cy="421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05" name="Rectangle 5">
            <a:extLst>
              <a:ext uri="{FF2B5EF4-FFF2-40B4-BE49-F238E27FC236}">
                <a16:creationId xmlns:a16="http://schemas.microsoft.com/office/drawing/2014/main" id="{41CBA392-A86F-722E-31D1-1674BC5C7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133600"/>
            <a:ext cx="3581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/>
              <a:t>The importance of tag is represented by font size/color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/>
              <a:t>Besides text data, there are also methods to visualize relationships, such as visualizing social networks</a:t>
            </a:r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557F3956-858E-9B11-4518-C730ED547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324601"/>
            <a:ext cx="480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Newsmap: Google News Stories in 2005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344E42-88F1-1101-BCDE-3A468784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12076" y="152400"/>
            <a:ext cx="8585200" cy="685800"/>
          </a:xfrm>
        </p:spPr>
        <p:txBody>
          <a:bodyPr/>
          <a:lstStyle/>
          <a:p>
            <a:r>
              <a:rPr lang="en-US" dirty="0"/>
              <a:t>Types of data sets </a:t>
            </a:r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Record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Data Matrix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Document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Transaction Data</a:t>
            </a:r>
            <a:endParaRPr lang="en-US" dirty="0"/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Graph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World Wide Web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Molecular Structures</a:t>
            </a:r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Ordered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Spatial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Temporal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Sequential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Genetic Sequence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CF85C-F521-A3F8-379C-0464EB88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04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Record Data </a:t>
            </a:r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935163" y="1143000"/>
            <a:ext cx="8318500" cy="990600"/>
          </a:xfrm>
        </p:spPr>
        <p:txBody>
          <a:bodyPr>
            <a:normAutofit/>
          </a:bodyPr>
          <a:lstStyle/>
          <a:p>
            <a:r>
              <a:rPr lang="en-US" dirty="0"/>
              <a:t>Data that consists of a collection of records, each of which consists of a fixed set of attributes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3733800" y="2209800"/>
          <a:ext cx="38481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05628" imgH="5779008" progId="Word.Document.8">
                  <p:embed/>
                </p:oleObj>
              </mc:Choice>
              <mc:Fallback>
                <p:oleObj name="Document" r:id="rId3" imgW="5405628" imgH="5779008" progId="Word.Document.8">
                  <p:embed/>
                  <p:pic>
                    <p:nvPicPr>
                      <p:cNvPr id="1638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209800"/>
                        <a:ext cx="38481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AEAAA2-B402-DDCB-49D5-702255D2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Matrix 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935163" y="1143000"/>
            <a:ext cx="8318500" cy="31242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If data objects have the same fixed set of numeric attributes, then the data objects can be thought of as points in a multi-dimensional space, where each dimension represents a distinct attribute </a:t>
            </a:r>
          </a:p>
          <a:p>
            <a:pPr lvl="4"/>
            <a:endParaRPr lang="en-US" sz="1800" dirty="0"/>
          </a:p>
          <a:p>
            <a:r>
              <a:rPr lang="en-US" sz="2400" dirty="0"/>
              <a:t>Such a data set can be represented by an </a:t>
            </a:r>
            <a:r>
              <a:rPr lang="en-US" sz="2400" i="1" dirty="0"/>
              <a:t>m</a:t>
            </a:r>
            <a:r>
              <a:rPr lang="en-US" sz="2400" dirty="0"/>
              <a:t> by </a:t>
            </a:r>
            <a:r>
              <a:rPr lang="en-US" sz="2400" i="1" dirty="0"/>
              <a:t>n</a:t>
            </a:r>
            <a:r>
              <a:rPr lang="en-US" sz="2400" dirty="0"/>
              <a:t> matrix, where there are </a:t>
            </a:r>
            <a:r>
              <a:rPr lang="en-US" sz="2400" i="1" dirty="0"/>
              <a:t>m</a:t>
            </a:r>
            <a:r>
              <a:rPr lang="en-US" sz="2400" dirty="0"/>
              <a:t> rows, one for each object, and </a:t>
            </a:r>
            <a:r>
              <a:rPr lang="en-US" sz="2400" i="1" dirty="0"/>
              <a:t>n</a:t>
            </a:r>
            <a:r>
              <a:rPr lang="en-US" sz="2400" dirty="0"/>
              <a:t> columns, one for each attribute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2286000" y="4314826"/>
          <a:ext cx="7761288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06222" imgH="1480748" progId="Visio.Drawing.6">
                  <p:embed/>
                </p:oleObj>
              </mc:Choice>
              <mc:Fallback>
                <p:oleObj name="VISIO" r:id="rId3" imgW="5706222" imgH="1480748" progId="Visio.Drawing.6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14826"/>
                        <a:ext cx="7761288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1AB420-C03E-5A3D-33D2-7EE9EF34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Data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document becomes a ‘term’ vector </a:t>
            </a:r>
          </a:p>
          <a:p>
            <a:pPr lvl="1"/>
            <a:r>
              <a:rPr lang="en-US" dirty="0"/>
              <a:t>Each term is a component (attribute) of the vector</a:t>
            </a:r>
          </a:p>
          <a:p>
            <a:pPr lvl="1"/>
            <a:r>
              <a:rPr lang="en-US" dirty="0"/>
              <a:t>The value of each component is the number of times the corresponding term occurs in the document.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2209801" y="3048001"/>
          <a:ext cx="7038975" cy="319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25718" imgH="2693902" progId="Visio.Drawing.6">
                  <p:embed/>
                </p:oleObj>
              </mc:Choice>
              <mc:Fallback>
                <p:oleObj name="Visio" r:id="rId3" imgW="5925718" imgH="2693902" progId="Visio.Drawing.6">
                  <p:embed/>
                  <p:pic>
                    <p:nvPicPr>
                      <p:cNvPr id="184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3048001"/>
                        <a:ext cx="7038975" cy="319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5C4368-15AD-8084-C344-5BECBAC1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 Data</a:t>
            </a:r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935163" y="1143000"/>
            <a:ext cx="8318500" cy="23622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A special type of data, where </a:t>
            </a:r>
          </a:p>
          <a:p>
            <a:pPr lvl="1"/>
            <a:r>
              <a:rPr lang="en-US" sz="2000" dirty="0"/>
              <a:t>Each transaction involves a set of items.  </a:t>
            </a:r>
          </a:p>
          <a:p>
            <a:pPr lvl="1"/>
            <a:r>
              <a:rPr lang="en-US" sz="2000" dirty="0"/>
              <a:t>For example, consider a grocery store.  The set of products purchased by a customer during one shopping trip constitute a transaction, while the individual products that were purchased are the items.</a:t>
            </a:r>
          </a:p>
          <a:p>
            <a:pPr lvl="1"/>
            <a:r>
              <a:rPr lang="en-US" sz="2000" dirty="0"/>
              <a:t>Can represent transaction data as record data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3276601" y="3641726"/>
          <a:ext cx="5421313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823716" imgH="1999488" progId="Word.Document.8">
                  <p:embed/>
                </p:oleObj>
              </mc:Choice>
              <mc:Fallback>
                <p:oleObj name="Document" r:id="rId3" imgW="3823716" imgH="1999488" progId="Word.Document.8">
                  <p:embed/>
                  <p:pic>
                    <p:nvPicPr>
                      <p:cNvPr id="194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641726"/>
                        <a:ext cx="5421313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E070F-B236-4012-087D-1369308F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Data </a:t>
            </a: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935163" y="1066800"/>
            <a:ext cx="8318500" cy="5181600"/>
          </a:xfrm>
        </p:spPr>
        <p:txBody>
          <a:bodyPr/>
          <a:lstStyle/>
          <a:p>
            <a:r>
              <a:rPr lang="en-US" sz="2500" dirty="0"/>
              <a:t>Examples: Generic graph, a molecule, and webpages </a:t>
            </a:r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1676400" y="1676401"/>
          <a:ext cx="29797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9724" imgH="646176" progId="Visio.Drawing.6">
                  <p:embed/>
                </p:oleObj>
              </mc:Choice>
              <mc:Fallback>
                <p:oleObj name="VISIO" r:id="rId3" imgW="839724" imgH="646176" progId="Visio.Drawing.6">
                  <p:embed/>
                  <p:pic>
                    <p:nvPicPr>
                      <p:cNvPr id="2048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76401"/>
                        <a:ext cx="29797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1" y="1600201"/>
            <a:ext cx="5959475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6" name="Object 10"/>
          <p:cNvGraphicFramePr>
            <a:graphicFrameLocks noChangeAspect="1"/>
          </p:cNvGraphicFramePr>
          <p:nvPr/>
        </p:nvGraphicFramePr>
        <p:xfrm>
          <a:off x="1905001" y="4191001"/>
          <a:ext cx="196532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792724" imgH="5411724" progId="Visio.Drawing.6">
                  <p:embed/>
                </p:oleObj>
              </mc:Choice>
              <mc:Fallback>
                <p:oleObj name="VISIO" r:id="rId6" imgW="5792724" imgH="5411724" progId="Visio.Drawing.6">
                  <p:embed/>
                  <p:pic>
                    <p:nvPicPr>
                      <p:cNvPr id="204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4191001"/>
                        <a:ext cx="196532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1524001" y="5943600"/>
            <a:ext cx="32040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sz="2000"/>
              <a:t>Benzene Molecule: C6H6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12B2E-6AEC-82D6-CB8C-95F83A66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</a:p>
        </p:txBody>
      </p:sp>
      <p:sp>
        <p:nvSpPr>
          <p:cNvPr id="21507" name="Rectangle 1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Sequences of transactions</a:t>
            </a:r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726" y="2408238"/>
            <a:ext cx="5121275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3946526" y="5486401"/>
            <a:ext cx="26828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An element of the sequence</a:t>
            </a:r>
          </a:p>
        </p:txBody>
      </p:sp>
      <p:sp>
        <p:nvSpPr>
          <p:cNvPr id="21510" name="AutoShape 8"/>
          <p:cNvSpPr>
            <a:spLocks/>
          </p:cNvSpPr>
          <p:nvPr/>
        </p:nvSpPr>
        <p:spPr bwMode="auto">
          <a:xfrm rot="-5400000">
            <a:off x="4518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Text Box 9"/>
          <p:cNvSpPr txBox="1">
            <a:spLocks noChangeArrowheads="1"/>
          </p:cNvSpPr>
          <p:nvPr/>
        </p:nvSpPr>
        <p:spPr bwMode="auto">
          <a:xfrm>
            <a:off x="4038600" y="18288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Items/Events</a:t>
            </a:r>
          </a:p>
        </p:txBody>
      </p:sp>
      <p:sp>
        <p:nvSpPr>
          <p:cNvPr id="21512" name="Line 10"/>
          <p:cNvSpPr>
            <a:spLocks noChangeShapeType="1"/>
          </p:cNvSpPr>
          <p:nvPr/>
        </p:nvSpPr>
        <p:spPr bwMode="auto">
          <a:xfrm>
            <a:off x="4648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11"/>
          <p:cNvSpPr>
            <a:spLocks noChangeShapeType="1"/>
          </p:cNvSpPr>
          <p:nvPr/>
        </p:nvSpPr>
        <p:spPr bwMode="auto">
          <a:xfrm>
            <a:off x="5105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4784B6-0DD8-4DF6-541F-74D50E1E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Genomic sequence data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3124201" y="1676401"/>
          <a:ext cx="53562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0196" imgH="1991868" progId="Visio.Drawing.6">
                  <p:embed/>
                </p:oleObj>
              </mc:Choice>
              <mc:Fallback>
                <p:oleObj name="VISIO" r:id="rId3" imgW="2330196" imgH="1991868" progId="Visio.Drawing.6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1676401"/>
                        <a:ext cx="53562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062FF9-383F-615A-DE8B-8F62735B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2400" y="1427164"/>
            <a:ext cx="6629400" cy="4973637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Ordered Data</a:t>
            </a:r>
          </a:p>
        </p:txBody>
      </p:sp>
      <p:sp>
        <p:nvSpPr>
          <p:cNvPr id="23556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Spatio-Temporal Data</a:t>
            </a:r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4191000" y="2667000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1981200" y="2955926"/>
            <a:ext cx="2667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Average Monthly Temperature of land and ocean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8D086A-261B-9C94-CB7B-18008DB1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Poor data quality negatively affects many data processing efforts</a:t>
            </a:r>
          </a:p>
          <a:p>
            <a:pPr>
              <a:buFont typeface="Monotype Sorts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buFont typeface="Monotype Sorts" charset="2"/>
              <a:buNone/>
            </a:pPr>
            <a:endParaRPr lang="en-US" sz="900" dirty="0">
              <a:latin typeface="Times New Roman" pitchFamily="18" charset="0"/>
            </a:endParaRPr>
          </a:p>
          <a:p>
            <a:r>
              <a:rPr lang="en-US" sz="2400" dirty="0"/>
              <a:t>Data mining example: a classification model for detecting people who are loan risks is built using poor data</a:t>
            </a:r>
          </a:p>
          <a:p>
            <a:pPr lvl="1"/>
            <a:r>
              <a:rPr lang="en-US" sz="2200" dirty="0"/>
              <a:t>Some credit-worthy candidates are denied loans</a:t>
            </a:r>
          </a:p>
          <a:p>
            <a:pPr lvl="1"/>
            <a:r>
              <a:rPr lang="en-US" sz="2200" dirty="0"/>
              <a:t>More loans are given to individuals that default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112831-0E3B-93A3-465C-195E409B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…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kinds of data quality problems?</a:t>
            </a:r>
          </a:p>
          <a:p>
            <a:r>
              <a:rPr lang="en-US" dirty="0"/>
              <a:t>How can we detect problems with the data? </a:t>
            </a:r>
          </a:p>
          <a:p>
            <a:r>
              <a:rPr lang="en-US" dirty="0"/>
              <a:t>What can we do about these problems? 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Examples of data quality problems: </a:t>
            </a:r>
          </a:p>
          <a:p>
            <a:pPr lvl="1"/>
            <a:r>
              <a:rPr lang="en-US" dirty="0"/>
              <a:t>Noise and outliers </a:t>
            </a:r>
          </a:p>
          <a:p>
            <a:pPr lvl="1"/>
            <a:r>
              <a:rPr lang="en-US" dirty="0"/>
              <a:t>Wrong data </a:t>
            </a:r>
          </a:p>
          <a:p>
            <a:pPr lvl="1"/>
            <a:r>
              <a:rPr lang="en-US" dirty="0"/>
              <a:t>Fake data </a:t>
            </a:r>
          </a:p>
          <a:p>
            <a:pPr lvl="1"/>
            <a:r>
              <a:rPr lang="en-US" dirty="0"/>
              <a:t>Missing values </a:t>
            </a:r>
          </a:p>
          <a:p>
            <a:pPr lvl="1"/>
            <a:r>
              <a:rPr lang="en-US" dirty="0"/>
              <a:t>Duplicate data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AC1F3-4779-7A94-05DF-333F14CF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935163" y="1143000"/>
            <a:ext cx="8318500" cy="2362200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>
                <a:latin typeface="+mj-lt"/>
              </a:rPr>
              <a:t>For objects, noise is an extraneous object</a:t>
            </a:r>
          </a:p>
          <a:p>
            <a:r>
              <a:rPr lang="en-US" sz="2600" dirty="0">
                <a:latin typeface="+mj-lt"/>
              </a:rPr>
              <a:t>For attributes, noise refers to modification of original values</a:t>
            </a:r>
          </a:p>
          <a:p>
            <a:pPr lvl="1"/>
            <a:r>
              <a:rPr lang="en-US" sz="2100" dirty="0">
                <a:latin typeface="+mj-lt"/>
              </a:rPr>
              <a:t>Examples: distortion of a person’s voice when talking on a poor phone and “snow” on television screen</a:t>
            </a:r>
          </a:p>
          <a:p>
            <a:pPr lvl="1"/>
            <a:r>
              <a:rPr lang="en-US" sz="2100" dirty="0">
                <a:latin typeface="+mj-lt"/>
              </a:rPr>
              <a:t>The figures below show two sine waves of the same magnitude and different frequencies, the waves combined, and the two sine waves with random noise</a:t>
            </a:r>
          </a:p>
          <a:p>
            <a:pPr lvl="2"/>
            <a:r>
              <a:rPr lang="en-US" sz="1700" dirty="0">
                <a:latin typeface="+mj-lt"/>
              </a:rPr>
              <a:t> The magnitude and shape of the original signal is distorted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54409-6EE6-4A1C-9D0B-7CD3AF6E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3733800"/>
            <a:ext cx="3045649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1AF5E1-14E2-4B56-A568-ADB4A465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682" y="3733800"/>
            <a:ext cx="3045649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86DA59-19B3-4F8E-A616-32746CC70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882" y="3733800"/>
            <a:ext cx="3045649" cy="2286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9AEED-3314-D034-8DD4-F52FB539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967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C6600"/>
                </a:solidFill>
              </a:rPr>
              <a:t>Outliers</a:t>
            </a:r>
            <a:r>
              <a:rPr lang="en-US" dirty="0"/>
              <a:t> are data objects with characteristics that are considerably different than most of the other data objects in the data set</a:t>
            </a:r>
          </a:p>
          <a:p>
            <a:pPr lvl="1"/>
            <a:r>
              <a:rPr lang="en-US" b="1" dirty="0"/>
              <a:t>Case 1:</a:t>
            </a:r>
            <a:r>
              <a:rPr lang="en-US" dirty="0"/>
              <a:t> Outliers are </a:t>
            </a:r>
            <a:br>
              <a:rPr lang="en-US" dirty="0"/>
            </a:br>
            <a:r>
              <a:rPr lang="en-US" dirty="0"/>
              <a:t>noise that interferes</a:t>
            </a:r>
            <a:br>
              <a:rPr lang="en-US" dirty="0"/>
            </a:br>
            <a:r>
              <a:rPr lang="en-US" dirty="0"/>
              <a:t>with data analysis </a:t>
            </a:r>
            <a:br>
              <a:rPr lang="en-US" dirty="0"/>
            </a:br>
            <a:endParaRPr lang="en-US" sz="1200" dirty="0"/>
          </a:p>
          <a:p>
            <a:pPr lvl="1"/>
            <a:r>
              <a:rPr lang="en-US" b="1" dirty="0"/>
              <a:t>Case 2: </a:t>
            </a:r>
            <a:r>
              <a:rPr lang="en-US" dirty="0"/>
              <a:t>Outliers are </a:t>
            </a:r>
            <a:br>
              <a:rPr lang="en-US" dirty="0"/>
            </a:br>
            <a:r>
              <a:rPr lang="en-US" dirty="0"/>
              <a:t>the goal of our analysis</a:t>
            </a:r>
          </a:p>
          <a:p>
            <a:pPr lvl="2"/>
            <a:r>
              <a:rPr lang="en-US" dirty="0"/>
              <a:t> </a:t>
            </a:r>
            <a:r>
              <a:rPr lang="en-US" sz="2200" dirty="0"/>
              <a:t>Credit card fraud</a:t>
            </a:r>
          </a:p>
          <a:p>
            <a:pPr lvl="2"/>
            <a:r>
              <a:rPr lang="en-US" sz="2200" dirty="0"/>
              <a:t> Intrusion detection</a:t>
            </a:r>
            <a:r>
              <a:rPr lang="en-US" dirty="0"/>
              <a:t> </a:t>
            </a:r>
          </a:p>
          <a:p>
            <a:pPr lvl="2"/>
            <a:endParaRPr lang="en-US" sz="1200" dirty="0"/>
          </a:p>
          <a:p>
            <a:r>
              <a:rPr lang="en-US" dirty="0"/>
              <a:t>Causes?</a:t>
            </a:r>
          </a:p>
        </p:txBody>
      </p:sp>
      <p:grpSp>
        <p:nvGrpSpPr>
          <p:cNvPr id="27651" name="Group 4"/>
          <p:cNvGrpSpPr>
            <a:grpSpLocks/>
          </p:cNvGrpSpPr>
          <p:nvPr/>
        </p:nvGrpSpPr>
        <p:grpSpPr bwMode="auto">
          <a:xfrm>
            <a:off x="6019800" y="2439988"/>
            <a:ext cx="4267200" cy="3884612"/>
            <a:chOff x="3648" y="2448"/>
            <a:chExt cx="2112" cy="1872"/>
          </a:xfrm>
        </p:grpSpPr>
        <p:pic>
          <p:nvPicPr>
            <p:cNvPr id="276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00905-2FED-03F0-BC9D-008CD70D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Reasons for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Information is not collected </a:t>
            </a:r>
            <a:br>
              <a:rPr lang="en-US" dirty="0"/>
            </a:br>
            <a:r>
              <a:rPr lang="en-US" dirty="0"/>
              <a:t>(e.g., people decline to give their age and weight)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Attributes may not be applicable to all cases </a:t>
            </a:r>
            <a:br>
              <a:rPr lang="en-US" dirty="0"/>
            </a:br>
            <a:r>
              <a:rPr lang="en-US" dirty="0"/>
              <a:t>(e.g., annual income is not applicable to children)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Handling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Eliminate data objects or variables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Estimate missing values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time series of temperature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census results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Ignore the missing value during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A2D9C7-6A7E-1C20-8771-976EEA6F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7BFFA899-73C8-3579-AF35-228626CAF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30C2FBF-0469-6B41-B948-E0947C107F2B}" type="slidenum">
              <a:rPr lang="en-US" altLang="en-US" sz="1200"/>
              <a:pPr eaLnBrk="1" hangingPunct="1"/>
              <a:t>63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59A7F5F5-341A-EC22-1EE8-37EB31EF8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Similarity and Dissimilarity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71CA7DEE-A5EA-A128-1FC9-9129F2949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534400" cy="51816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sz="2400" b="1"/>
              <a:t>Similarity</a:t>
            </a:r>
          </a:p>
          <a:p>
            <a:pPr lvl="1" eaLnBrk="1" hangingPunct="1"/>
            <a:r>
              <a:rPr lang="en-US" altLang="en-US" sz="2400"/>
              <a:t>Numerical measure of how alike two data objects are</a:t>
            </a:r>
          </a:p>
          <a:p>
            <a:pPr lvl="1" eaLnBrk="1" hangingPunct="1"/>
            <a:r>
              <a:rPr lang="en-US" altLang="en-US" sz="2400"/>
              <a:t>Value is higher when objects are more alike</a:t>
            </a:r>
          </a:p>
          <a:p>
            <a:pPr lvl="1" eaLnBrk="1" hangingPunct="1"/>
            <a:r>
              <a:rPr lang="en-US" altLang="en-US" sz="2400"/>
              <a:t>Often falls in the range [0,1]</a:t>
            </a:r>
          </a:p>
          <a:p>
            <a:pPr eaLnBrk="1" hangingPunct="1"/>
            <a:r>
              <a:rPr lang="en-US" altLang="en-US" sz="2400" b="1"/>
              <a:t>Dissimilarity</a:t>
            </a:r>
            <a:r>
              <a:rPr lang="en-US" altLang="en-US" sz="2400"/>
              <a:t> (e.g., distance)</a:t>
            </a:r>
          </a:p>
          <a:p>
            <a:pPr lvl="1" eaLnBrk="1" hangingPunct="1"/>
            <a:r>
              <a:rPr lang="en-US" altLang="en-US" sz="2400"/>
              <a:t>Numerical measure of how different two data objects are</a:t>
            </a:r>
          </a:p>
          <a:p>
            <a:pPr lvl="1" eaLnBrk="1" hangingPunct="1"/>
            <a:r>
              <a:rPr lang="en-US" altLang="en-US" sz="2400"/>
              <a:t>Lower when objects are more alike</a:t>
            </a:r>
          </a:p>
          <a:p>
            <a:pPr lvl="1" eaLnBrk="1" hangingPunct="1"/>
            <a:r>
              <a:rPr lang="en-US" altLang="en-US" sz="2400"/>
              <a:t>Minimum dissimilarity is often 0</a:t>
            </a:r>
          </a:p>
          <a:p>
            <a:pPr lvl="1" eaLnBrk="1" hangingPunct="1"/>
            <a:r>
              <a:rPr lang="en-US" altLang="en-US" sz="2400"/>
              <a:t>Upper limit varies</a:t>
            </a:r>
          </a:p>
          <a:p>
            <a:pPr eaLnBrk="1" hangingPunct="1"/>
            <a:r>
              <a:rPr lang="en-US" altLang="en-US" sz="2400" b="1"/>
              <a:t>Proximity</a:t>
            </a:r>
            <a:r>
              <a:rPr lang="en-US" altLang="en-US" sz="2400"/>
              <a:t> refers to a similarity or dissimilarity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Similarity/Dissimilarity for Simple Attributes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1752600" y="1143001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0" dirty="0"/>
              <a:t>The following table shows the similarity and dissimilarity between two objects,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/>
              <a:t> and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</a:t>
            </a:r>
            <a:r>
              <a:rPr lang="en-US" sz="2400" b="0" dirty="0"/>
              <a:t> with respect to a single, simple attribute.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92750"/>
            <a:ext cx="9144000" cy="274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167ED3-6A9F-5A38-89CE-2E577D0B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591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184A74AD-14E9-6436-7302-57C37056AC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72A2CDF-5881-A345-AE48-5F8C0276DD8B}" type="slidenum">
              <a:rPr lang="en-US" altLang="en-US" sz="1200"/>
              <a:pPr eaLnBrk="1" hangingPunct="1"/>
              <a:t>65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1C9A0AA-10CF-D739-6501-D922D45BC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8763000" cy="782638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Proximity Measure for Nominal Attributes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7E2A16F8-92CD-CAA3-6893-29BDD0960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447800"/>
            <a:ext cx="8458200" cy="46482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/>
              <a:t>Can take 2 or more states, e.g., red, yellow, blue, green (generalization of a binary attribute)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u="sng"/>
              <a:t>Method 1</a:t>
            </a:r>
            <a:r>
              <a:rPr lang="en-US" altLang="en-US"/>
              <a:t>: Simple matching</a:t>
            </a:r>
            <a:endParaRPr lang="en-US" altLang="en-US" i="1"/>
          </a:p>
          <a:p>
            <a:pPr lvl="1" eaLnBrk="1" hangingPunct="1">
              <a:lnSpc>
                <a:spcPct val="120000"/>
              </a:lnSpc>
            </a:pPr>
            <a:r>
              <a:rPr lang="en-US" altLang="en-US" i="1"/>
              <a:t>m</a:t>
            </a:r>
            <a:r>
              <a:rPr lang="en-US" altLang="en-US"/>
              <a:t>: # of matches,</a:t>
            </a:r>
            <a:r>
              <a:rPr lang="en-US" altLang="en-US" i="1"/>
              <a:t> p</a:t>
            </a:r>
            <a:r>
              <a:rPr lang="en-US" altLang="en-US"/>
              <a:t>: total # of variables</a:t>
            </a:r>
          </a:p>
          <a:p>
            <a:pPr eaLnBrk="1" hangingPunct="1">
              <a:lnSpc>
                <a:spcPct val="120000"/>
              </a:lnSpc>
            </a:pPr>
            <a:endParaRPr lang="en-US" altLang="en-US"/>
          </a:p>
          <a:p>
            <a:pPr eaLnBrk="1" hangingPunct="1">
              <a:lnSpc>
                <a:spcPct val="120000"/>
              </a:lnSpc>
            </a:pPr>
            <a:r>
              <a:rPr lang="en-US" altLang="en-US" u="sng"/>
              <a:t>Method 2</a:t>
            </a:r>
            <a:r>
              <a:rPr lang="en-US" altLang="en-US"/>
              <a:t>: Use a large number of binary attributes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creating a new binary attribute for each of the </a:t>
            </a:r>
            <a:r>
              <a:rPr lang="en-US" altLang="en-US" i="1"/>
              <a:t>M</a:t>
            </a:r>
            <a:r>
              <a:rPr lang="en-US" altLang="en-US"/>
              <a:t> nominal states</a:t>
            </a:r>
          </a:p>
        </p:txBody>
      </p:sp>
      <p:graphicFrame>
        <p:nvGraphicFramePr>
          <p:cNvPr id="55301" name="Object 4">
            <a:extLst>
              <a:ext uri="{FF2B5EF4-FFF2-40B4-BE49-F238E27FC236}">
                <a16:creationId xmlns:a16="http://schemas.microsoft.com/office/drawing/2014/main" id="{58C37875-F78A-2163-4B60-EB72340A83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854216"/>
              </p:ext>
            </p:extLst>
          </p:nvPr>
        </p:nvGraphicFramePr>
        <p:xfrm>
          <a:off x="4615543" y="5076825"/>
          <a:ext cx="2667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89700" imgH="10820400" progId="Equation.3">
                  <p:embed/>
                </p:oleObj>
              </mc:Choice>
              <mc:Fallback>
                <p:oleObj name="Equation" r:id="rId3" imgW="31889700" imgH="10820400" progId="Equation.3">
                  <p:embed/>
                  <p:pic>
                    <p:nvPicPr>
                      <p:cNvPr id="55301" name="Object 4">
                        <a:extLst>
                          <a:ext uri="{FF2B5EF4-FFF2-40B4-BE49-F238E27FC236}">
                            <a16:creationId xmlns:a16="http://schemas.microsoft.com/office/drawing/2014/main" id="{58C37875-F78A-2163-4B60-EB72340A8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5543" y="5076825"/>
                        <a:ext cx="2667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7">
            <a:extLst>
              <a:ext uri="{FF2B5EF4-FFF2-40B4-BE49-F238E27FC236}">
                <a16:creationId xmlns:a16="http://schemas.microsoft.com/office/drawing/2014/main" id="{B86D7046-9FA7-2522-7FEB-29AB76C84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16AD254-0460-1449-A140-7EEF135C3F75}" type="slidenum">
              <a:rPr lang="en-US" altLang="en-US" sz="1200"/>
              <a:pPr eaLnBrk="1" hangingPunct="1"/>
              <a:t>66</a:t>
            </a:fld>
            <a:endParaRPr lang="en-US" altLang="en-US" sz="1200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F70463B3-DB37-735B-DF40-08C493D52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8610600" cy="6096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Proximity Measure for Binary Attributes</a:t>
            </a: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4CB2C84C-696A-9892-8FE0-4F148621AE3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295400"/>
            <a:ext cx="4648200" cy="3810000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/>
              <a:t>A contingency table for binary data</a:t>
            </a:r>
          </a:p>
          <a:p>
            <a:pPr eaLnBrk="1" hangingPunct="1">
              <a:lnSpc>
                <a:spcPct val="130000"/>
              </a:lnSpc>
            </a:pPr>
            <a:endParaRPr lang="en-US" altLang="en-US"/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Distance measure for symmetric binary variables: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Distance measure for asymmetric binary variables: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Jaccard coefficient (</a:t>
            </a:r>
            <a:r>
              <a:rPr lang="en-US" altLang="en-US" i="1">
                <a:solidFill>
                  <a:schemeClr val="hlink"/>
                </a:solidFill>
              </a:rPr>
              <a:t>similarity</a:t>
            </a:r>
            <a:r>
              <a:rPr lang="en-US" altLang="en-US"/>
              <a:t> measure for </a:t>
            </a:r>
            <a:r>
              <a:rPr lang="en-US" altLang="en-US" i="1"/>
              <a:t>asymmetric </a:t>
            </a:r>
            <a:r>
              <a:rPr lang="en-US" altLang="en-US"/>
              <a:t>binary variables): </a:t>
            </a:r>
          </a:p>
        </p:txBody>
      </p:sp>
      <p:sp>
        <p:nvSpPr>
          <p:cNvPr id="1031" name="Rectangle 15">
            <a:extLst>
              <a:ext uri="{FF2B5EF4-FFF2-40B4-BE49-F238E27FC236}">
                <a16:creationId xmlns:a16="http://schemas.microsoft.com/office/drawing/2014/main" id="{898DCAA1-800D-DAFC-7325-EB6EF2081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181600"/>
            <a:ext cx="853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000"/>
              <a:t>Note: Jaccard coefficient is the same as “coherence”:</a:t>
            </a:r>
          </a:p>
        </p:txBody>
      </p:sp>
      <p:pic>
        <p:nvPicPr>
          <p:cNvPr id="1032" name="Picture 18" descr="eqjaccard">
            <a:extLst>
              <a:ext uri="{FF2B5EF4-FFF2-40B4-BE49-F238E27FC236}">
                <a16:creationId xmlns:a16="http://schemas.microsoft.com/office/drawing/2014/main" id="{6A7121EE-9406-4849-EDBC-220C926C7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267201"/>
            <a:ext cx="43434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079CF98-E03A-283C-9A5C-15D0B5FACF16}"/>
              </a:ext>
            </a:extLst>
          </p:cNvPr>
          <p:cNvGraphicFramePr/>
          <p:nvPr/>
        </p:nvGraphicFramePr>
        <p:xfrm>
          <a:off x="8001000" y="2413001"/>
          <a:ext cx="381000" cy="233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33" name="Picture 30" descr="eqbinarysym">
            <a:extLst>
              <a:ext uri="{FF2B5EF4-FFF2-40B4-BE49-F238E27FC236}">
                <a16:creationId xmlns:a16="http://schemas.microsoft.com/office/drawing/2014/main" id="{73153E90-967C-6A9C-ACC7-27562E001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14601"/>
            <a:ext cx="3429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31" descr="eqbinaryasym">
            <a:extLst>
              <a:ext uri="{FF2B5EF4-FFF2-40B4-BE49-F238E27FC236}">
                <a16:creationId xmlns:a16="http://schemas.microsoft.com/office/drawing/2014/main" id="{E79BC9DA-E40E-B811-FDD7-87CE98E63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505201"/>
            <a:ext cx="29718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35" descr="eqcoherence">
            <a:extLst>
              <a:ext uri="{FF2B5EF4-FFF2-40B4-BE49-F238E27FC236}">
                <a16:creationId xmlns:a16="http://schemas.microsoft.com/office/drawing/2014/main" id="{8567619F-4467-87C8-F74E-0DEB60AD47EA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5638800"/>
            <a:ext cx="8305800" cy="731838"/>
          </a:xfrm>
          <a:noFill/>
        </p:spPr>
      </p:pic>
      <p:pic>
        <p:nvPicPr>
          <p:cNvPr id="1036" name="Picture 36" descr="eqcontingency2">
            <a:extLst>
              <a:ext uri="{FF2B5EF4-FFF2-40B4-BE49-F238E27FC236}">
                <a16:creationId xmlns:a16="http://schemas.microsoft.com/office/drawing/2014/main" id="{226B11D2-CB22-C1DD-442A-3D436873D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76350"/>
            <a:ext cx="39624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Text Box 37">
            <a:extLst>
              <a:ext uri="{FF2B5EF4-FFF2-40B4-BE49-F238E27FC236}">
                <a16:creationId xmlns:a16="http://schemas.microsoft.com/office/drawing/2014/main" id="{39EB09FF-FCA8-D7F4-F600-A5879949E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1690688"/>
            <a:ext cx="963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Object </a:t>
            </a:r>
            <a:r>
              <a:rPr lang="en-US" altLang="en-US" sz="1800" i="1"/>
              <a:t>i</a:t>
            </a:r>
            <a:endParaRPr lang="en-US" altLang="en-US" sz="1800"/>
          </a:p>
        </p:txBody>
      </p:sp>
      <p:sp>
        <p:nvSpPr>
          <p:cNvPr id="1038" name="Text Box 38">
            <a:extLst>
              <a:ext uri="{FF2B5EF4-FFF2-40B4-BE49-F238E27FC236}">
                <a16:creationId xmlns:a16="http://schemas.microsoft.com/office/drawing/2014/main" id="{EE21ACB7-5559-F1A8-94D8-A83E8592C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1" y="928688"/>
            <a:ext cx="976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Object </a:t>
            </a:r>
            <a:r>
              <a:rPr lang="en-US" altLang="en-US" sz="1800" i="1"/>
              <a:t>j</a:t>
            </a:r>
            <a:endParaRPr lang="en-US" altLang="en-US" sz="1800"/>
          </a:p>
        </p:txBody>
      </p:sp>
    </p:spTree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6">
            <a:extLst>
              <a:ext uri="{FF2B5EF4-FFF2-40B4-BE49-F238E27FC236}">
                <a16:creationId xmlns:a16="http://schemas.microsoft.com/office/drawing/2014/main" id="{5898F210-17CF-6803-E6E1-E631D9002C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DC2EDCCE-0CA3-C341-B104-5034C6383D6F}" type="slidenum">
              <a:rPr lang="en-US" altLang="en-US" smtClean="0"/>
              <a:pPr eaLnBrk="1" hangingPunct="1"/>
              <a:t>67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555C18E-E6C9-C507-1BB4-97FAAF6DB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Standardizing Numeric Data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474F160C-1995-6580-637F-64DF856F86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382000" cy="518160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Z-score: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X: raw score to be standardized, </a:t>
            </a:r>
            <a:r>
              <a:rPr lang="el-GR" altLang="en-US" sz="2000">
                <a:cs typeface="Tahoma" panose="020B0604030504040204" pitchFamily="34" charset="0"/>
              </a:rPr>
              <a:t>μ</a:t>
            </a:r>
            <a:r>
              <a:rPr lang="en-US" altLang="en-US" sz="2000">
                <a:cs typeface="Tahoma" panose="020B0604030504040204" pitchFamily="34" charset="0"/>
              </a:rPr>
              <a:t>: mean of the population, </a:t>
            </a:r>
            <a:r>
              <a:rPr lang="el-GR" altLang="en-US" sz="2000">
                <a:cs typeface="Tahoma" panose="020B0604030504040204" pitchFamily="34" charset="0"/>
              </a:rPr>
              <a:t>σ</a:t>
            </a:r>
            <a:r>
              <a:rPr lang="en-US" altLang="en-US" sz="2000">
                <a:cs typeface="Tahoma" panose="020B0604030504040204" pitchFamily="34" charset="0"/>
              </a:rPr>
              <a:t>: standard deviation</a:t>
            </a:r>
            <a:endParaRPr lang="el-GR" altLang="en-US" sz="2000">
              <a:cs typeface="Tahoma" panose="020B060403050404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the distance between the raw score and the population mean in units of the standard deviation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>
                <a:cs typeface="Tahoma" panose="020B0604030504040204" pitchFamily="34" charset="0"/>
              </a:rPr>
              <a:t>negative </a:t>
            </a:r>
            <a:r>
              <a:rPr lang="en-US" altLang="en-US" sz="2000"/>
              <a:t>when the raw score is below the mean, “+” when above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An alternative way: Calculate the mean absolute deviation</a:t>
            </a:r>
          </a:p>
          <a:p>
            <a:pPr eaLnBrk="1" hangingPunct="1">
              <a:lnSpc>
                <a:spcPct val="110000"/>
              </a:lnSpc>
            </a:pPr>
            <a:endParaRPr lang="en-US" altLang="en-US"/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000"/>
              <a:t>where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sz="2000"/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standardized measure (</a:t>
            </a:r>
            <a:r>
              <a:rPr lang="en-US" altLang="en-US" sz="2000" i="1"/>
              <a:t>z-score</a:t>
            </a:r>
            <a:r>
              <a:rPr lang="en-US" altLang="en-US" sz="2000"/>
              <a:t>):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/>
              <a:t>Using mean absolute deviation is more robust than using standard deviation </a:t>
            </a:r>
          </a:p>
        </p:txBody>
      </p:sp>
      <p:graphicFrame>
        <p:nvGraphicFramePr>
          <p:cNvPr id="57349" name="Object 4">
            <a:extLst>
              <a:ext uri="{FF2B5EF4-FFF2-40B4-BE49-F238E27FC236}">
                <a16:creationId xmlns:a16="http://schemas.microsoft.com/office/drawing/2014/main" id="{A5282448-82E5-26B4-FCB4-8BE7D6E1B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4419600"/>
          <a:ext cx="2819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711600" imgH="9652000" progId="Equation.3">
                  <p:embed/>
                </p:oleObj>
              </mc:Choice>
              <mc:Fallback>
                <p:oleObj name="Equation" r:id="rId3" imgW="54711600" imgH="9652000" progId="Equation.3">
                  <p:embed/>
                  <p:pic>
                    <p:nvPicPr>
                      <p:cNvPr id="57349" name="Object 4">
                        <a:extLst>
                          <a:ext uri="{FF2B5EF4-FFF2-40B4-BE49-F238E27FC236}">
                            <a16:creationId xmlns:a16="http://schemas.microsoft.com/office/drawing/2014/main" id="{A5282448-82E5-26B4-FCB4-8BE7D6E1B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419600"/>
                        <a:ext cx="2819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5">
            <a:extLst>
              <a:ext uri="{FF2B5EF4-FFF2-40B4-BE49-F238E27FC236}">
                <a16:creationId xmlns:a16="http://schemas.microsoft.com/office/drawing/2014/main" id="{7D0E1A5A-7302-D087-E65E-272902CF7C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3962400"/>
          <a:ext cx="5334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063300" imgH="9359900" progId="Equation.3">
                  <p:embed/>
                </p:oleObj>
              </mc:Choice>
              <mc:Fallback>
                <p:oleObj name="Equation" r:id="rId5" imgW="100063300" imgH="9359900" progId="Equation.3">
                  <p:embed/>
                  <p:pic>
                    <p:nvPicPr>
                      <p:cNvPr id="57350" name="Object 5">
                        <a:extLst>
                          <a:ext uri="{FF2B5EF4-FFF2-40B4-BE49-F238E27FC236}">
                            <a16:creationId xmlns:a16="http://schemas.microsoft.com/office/drawing/2014/main" id="{7D0E1A5A-7302-D087-E65E-272902CF7C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962400"/>
                        <a:ext cx="53340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6">
            <a:extLst>
              <a:ext uri="{FF2B5EF4-FFF2-40B4-BE49-F238E27FC236}">
                <a16:creationId xmlns:a16="http://schemas.microsoft.com/office/drawing/2014/main" id="{11A70E59-3067-61B0-D044-3CB12007F5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4724401"/>
          <a:ext cx="19050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473900" imgH="15214600" progId="Equation.3">
                  <p:embed/>
                </p:oleObj>
              </mc:Choice>
              <mc:Fallback>
                <p:oleObj name="Equation" r:id="rId7" imgW="32473900" imgH="15214600" progId="Equation.3">
                  <p:embed/>
                  <p:pic>
                    <p:nvPicPr>
                      <p:cNvPr id="57351" name="Object 6">
                        <a:extLst>
                          <a:ext uri="{FF2B5EF4-FFF2-40B4-BE49-F238E27FC236}">
                            <a16:creationId xmlns:a16="http://schemas.microsoft.com/office/drawing/2014/main" id="{11A70E59-3067-61B0-D044-3CB12007F5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724401"/>
                        <a:ext cx="19050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7">
            <a:extLst>
              <a:ext uri="{FF2B5EF4-FFF2-40B4-BE49-F238E27FC236}">
                <a16:creationId xmlns:a16="http://schemas.microsoft.com/office/drawing/2014/main" id="{F02DC487-A2B6-9F79-101E-F0C7117F150B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505200" y="1143001"/>
          <a:ext cx="14097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945600" imgH="9359900" progId="Equation.3">
                  <p:embed/>
                </p:oleObj>
              </mc:Choice>
              <mc:Fallback>
                <p:oleObj name="Equation" r:id="rId9" imgW="21945600" imgH="9359900" progId="Equation.3">
                  <p:embed/>
                  <p:pic>
                    <p:nvPicPr>
                      <p:cNvPr id="57352" name="Object 7">
                        <a:extLst>
                          <a:ext uri="{FF2B5EF4-FFF2-40B4-BE49-F238E27FC236}">
                            <a16:creationId xmlns:a16="http://schemas.microsoft.com/office/drawing/2014/main" id="{F02DC487-A2B6-9F79-101E-F0C7117F15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143001"/>
                        <a:ext cx="14097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9F1AACD3-7C56-26FF-0027-6F52A9EDD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BD52867-81AB-7345-B37C-E090607E3C46}" type="slidenum">
              <a:rPr lang="en-US" altLang="en-US" sz="1200"/>
              <a:pPr eaLnBrk="1" hangingPunct="1"/>
              <a:t>68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97B3A63-6DC5-4FE3-FBF0-2A8A87707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Distance on Numeric Data: Minkowski Distance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2EABEE9-A384-5B7F-6874-49CEE6232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0"/>
            <a:ext cx="8458200" cy="5029200"/>
          </a:xfrm>
        </p:spPr>
        <p:txBody>
          <a:bodyPr>
            <a:normAutofit fontScale="92500" lnSpcReduction="20000"/>
          </a:bodyPr>
          <a:lstStyle/>
          <a:p>
            <a:pPr marL="381000" indent="-38100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i="1">
                <a:solidFill>
                  <a:schemeClr val="hlink"/>
                </a:solidFill>
              </a:rPr>
              <a:t>Minkowski distance</a:t>
            </a:r>
            <a:r>
              <a:rPr lang="en-US" altLang="en-US" sz="2400"/>
              <a:t>: A popular distance measure</a:t>
            </a:r>
          </a:p>
          <a:p>
            <a:pPr marL="381000" indent="-381000">
              <a:spcBef>
                <a:spcPts val="600"/>
              </a:spcBef>
              <a:spcAft>
                <a:spcPts val="600"/>
              </a:spcAft>
            </a:pPr>
            <a:endParaRPr lang="en-US" altLang="en-US" sz="2400"/>
          </a:p>
          <a:p>
            <a:pPr marL="838200" lvl="1" indent="-381000"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2400"/>
          </a:p>
          <a:p>
            <a:pPr marL="838200" lvl="1" indent="-38100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/>
              <a:t>where  </a:t>
            </a:r>
            <a:r>
              <a:rPr lang="en-US" altLang="en-US" sz="2400" i="1"/>
              <a:t>i</a:t>
            </a:r>
            <a:r>
              <a:rPr lang="en-US" altLang="en-US" sz="2400"/>
              <a:t> = (</a:t>
            </a:r>
            <a:r>
              <a:rPr lang="en-US" altLang="en-US" sz="2400" i="1"/>
              <a:t>x</a:t>
            </a:r>
            <a:r>
              <a:rPr lang="en-US" altLang="en-US" sz="2400" baseline="-25000"/>
              <a:t>i1</a:t>
            </a:r>
            <a:r>
              <a:rPr lang="en-US" altLang="en-US" sz="2400"/>
              <a:t>, </a:t>
            </a:r>
            <a:r>
              <a:rPr lang="en-US" altLang="en-US" sz="2400" i="1"/>
              <a:t>x</a:t>
            </a:r>
            <a:r>
              <a:rPr lang="en-US" altLang="en-US" sz="2400" baseline="-25000"/>
              <a:t>i2</a:t>
            </a:r>
            <a:r>
              <a:rPr lang="en-US" altLang="en-US" sz="2400"/>
              <a:t>, …, </a:t>
            </a:r>
            <a:r>
              <a:rPr lang="en-US" altLang="en-US" sz="2400" i="1"/>
              <a:t>x</a:t>
            </a:r>
            <a:r>
              <a:rPr lang="en-US" altLang="en-US" sz="2400" baseline="-25000"/>
              <a:t>ip</a:t>
            </a:r>
            <a:r>
              <a:rPr lang="en-US" altLang="en-US" sz="2400"/>
              <a:t>) and</a:t>
            </a:r>
            <a:r>
              <a:rPr lang="en-US" altLang="en-US" sz="2400" i="1"/>
              <a:t> j</a:t>
            </a:r>
            <a:r>
              <a:rPr lang="en-US" altLang="en-US" sz="2400"/>
              <a:t> = (</a:t>
            </a:r>
            <a:r>
              <a:rPr lang="en-US" altLang="en-US" sz="2400" i="1"/>
              <a:t>x</a:t>
            </a:r>
            <a:r>
              <a:rPr lang="en-US" altLang="en-US" sz="2400" baseline="-25000"/>
              <a:t>j1</a:t>
            </a:r>
            <a:r>
              <a:rPr lang="en-US" altLang="en-US" sz="2400"/>
              <a:t>, </a:t>
            </a:r>
            <a:r>
              <a:rPr lang="en-US" altLang="en-US" sz="2400" i="1"/>
              <a:t>x</a:t>
            </a:r>
            <a:r>
              <a:rPr lang="en-US" altLang="en-US" sz="2400" baseline="-25000"/>
              <a:t>j2</a:t>
            </a:r>
            <a:r>
              <a:rPr lang="en-US" altLang="en-US" sz="2400"/>
              <a:t>, …, </a:t>
            </a:r>
            <a:r>
              <a:rPr lang="en-US" altLang="en-US" sz="2400" i="1"/>
              <a:t>x</a:t>
            </a:r>
            <a:r>
              <a:rPr lang="en-US" altLang="en-US" sz="2400" baseline="-25000"/>
              <a:t>jp</a:t>
            </a:r>
            <a:r>
              <a:rPr lang="en-US" altLang="en-US" sz="2400"/>
              <a:t>) are two </a:t>
            </a:r>
            <a:r>
              <a:rPr lang="en-US" altLang="en-US" sz="2400" i="1"/>
              <a:t>p</a:t>
            </a:r>
            <a:r>
              <a:rPr lang="en-US" altLang="en-US" sz="2400"/>
              <a:t>-dimensional data objects, and </a:t>
            </a:r>
            <a:r>
              <a:rPr lang="en-US" altLang="en-US" sz="2400" i="1"/>
              <a:t>h</a:t>
            </a:r>
            <a:r>
              <a:rPr lang="en-US" altLang="en-US" sz="2400"/>
              <a:t> is the order (the distance so defined is also called L-</a:t>
            </a:r>
            <a:r>
              <a:rPr lang="en-US" altLang="en-US" sz="2400" i="1"/>
              <a:t>h</a:t>
            </a:r>
            <a:r>
              <a:rPr lang="en-US" altLang="en-US" sz="2400"/>
              <a:t> norm)</a:t>
            </a:r>
          </a:p>
          <a:p>
            <a:pPr marL="381000" indent="-38100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/>
              <a:t>Properties</a:t>
            </a:r>
          </a:p>
          <a:p>
            <a:pPr marL="838200" lvl="1" indent="-38100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/>
              <a:t>d(i, j) </a:t>
            </a:r>
            <a:r>
              <a:rPr lang="en-US" altLang="en-US" sz="2400">
                <a:sym typeface="Symbol" pitchFamily="2" charset="2"/>
              </a:rPr>
              <a:t>&gt; 0 if i </a:t>
            </a:r>
            <a:r>
              <a:rPr lang="en-US" altLang="en-US" sz="2400">
                <a:cs typeface="Tahoma" panose="020B0604030504040204" pitchFamily="34" charset="0"/>
                <a:sym typeface="Symbol" pitchFamily="2" charset="2"/>
              </a:rPr>
              <a:t>≠ j</a:t>
            </a:r>
            <a:r>
              <a:rPr lang="en-US" altLang="en-US" sz="2400">
                <a:cs typeface="Tahoma" panose="020B0604030504040204" pitchFamily="34" charset="0"/>
              </a:rPr>
              <a:t>, and </a:t>
            </a:r>
            <a:r>
              <a:rPr lang="en-US" altLang="en-US" sz="2400"/>
              <a:t>d(i, i) </a:t>
            </a:r>
            <a:r>
              <a:rPr lang="en-US" altLang="en-US" sz="2400">
                <a:sym typeface="Symbol" pitchFamily="2" charset="2"/>
              </a:rPr>
              <a:t>= 0 </a:t>
            </a:r>
            <a:r>
              <a:rPr lang="en-US" altLang="en-US" sz="2400"/>
              <a:t>(Positive definiteness)</a:t>
            </a:r>
          </a:p>
          <a:p>
            <a:pPr marL="838200" lvl="1" indent="-38100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/>
              <a:t>d(i, j) </a:t>
            </a:r>
            <a:r>
              <a:rPr lang="en-US" altLang="en-US" sz="2400">
                <a:sym typeface="Symbol" pitchFamily="2" charset="2"/>
              </a:rPr>
              <a:t>= </a:t>
            </a:r>
            <a:r>
              <a:rPr lang="en-US" altLang="en-US" sz="2400"/>
              <a:t>d(j, i)</a:t>
            </a:r>
            <a:r>
              <a:rPr lang="en-US" altLang="en-US" sz="2400" i="1"/>
              <a:t>  </a:t>
            </a:r>
            <a:r>
              <a:rPr lang="en-US" altLang="en-US" sz="2400"/>
              <a:t>(Symmetry)</a:t>
            </a:r>
          </a:p>
          <a:p>
            <a:pPr marL="838200" lvl="1" indent="-38100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/>
              <a:t>d(i, j) </a:t>
            </a:r>
            <a:r>
              <a:rPr lang="en-US" altLang="en-US" sz="2400">
                <a:sym typeface="Symbol" pitchFamily="2" charset="2"/>
              </a:rPr>
              <a:t> </a:t>
            </a:r>
            <a:r>
              <a:rPr lang="en-US" altLang="en-US" sz="2400"/>
              <a:t>d(i, k) </a:t>
            </a:r>
            <a:r>
              <a:rPr lang="en-US" altLang="en-US" sz="2400">
                <a:sym typeface="Symbol" pitchFamily="2" charset="2"/>
              </a:rPr>
              <a:t>+ </a:t>
            </a:r>
            <a:r>
              <a:rPr lang="en-US" altLang="en-US" sz="2400"/>
              <a:t>d(k, j)</a:t>
            </a:r>
            <a:r>
              <a:rPr lang="en-US" altLang="en-US" sz="2400" i="1"/>
              <a:t>  </a:t>
            </a:r>
            <a:r>
              <a:rPr lang="en-US" altLang="en-US" sz="2400"/>
              <a:t>(Triangle Inequality)</a:t>
            </a:r>
            <a:endParaRPr lang="en-US" altLang="en-US" sz="2400" i="1"/>
          </a:p>
          <a:p>
            <a:pPr marL="381000" indent="-38100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/>
              <a:t>A distance that satisfies these properties is a </a:t>
            </a:r>
            <a:r>
              <a:rPr lang="en-US" altLang="en-US" sz="2400">
                <a:solidFill>
                  <a:srgbClr val="FF0000"/>
                </a:solidFill>
              </a:rPr>
              <a:t>metric</a:t>
            </a:r>
          </a:p>
        </p:txBody>
      </p:sp>
      <p:pic>
        <p:nvPicPr>
          <p:cNvPr id="59397" name="Picture 7" descr="eqminkowski">
            <a:extLst>
              <a:ext uri="{FF2B5EF4-FFF2-40B4-BE49-F238E27FC236}">
                <a16:creationId xmlns:a16="http://schemas.microsoft.com/office/drawing/2014/main" id="{2DA819D9-E9DE-22D1-D5E6-1984A778D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828800"/>
            <a:ext cx="6400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6">
            <a:extLst>
              <a:ext uri="{FF2B5EF4-FFF2-40B4-BE49-F238E27FC236}">
                <a16:creationId xmlns:a16="http://schemas.microsoft.com/office/drawing/2014/main" id="{A2005B59-DD31-EB31-2775-3630860ED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DC2EDCCE-0CA3-C341-B104-5034C6383D6F}" type="slidenum">
              <a:rPr lang="en-US" altLang="en-US" smtClean="0"/>
              <a:pPr eaLnBrk="1" hangingPunct="1"/>
              <a:t>69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B329BE2-F6F1-9CF8-B806-C73121910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Special Cases of Minkowski Distance</a:t>
            </a:r>
            <a:endParaRPr lang="en-US" altLang="en-US"/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8A4AFD3-73B1-AEB2-BA26-BF7711A8CC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077200" cy="5181600"/>
          </a:xfrm>
        </p:spPr>
        <p:txBody>
          <a:bodyPr/>
          <a:lstStyle/>
          <a:p>
            <a:pPr eaLnBrk="1" hangingPunct="1"/>
            <a:r>
              <a:rPr lang="en-US" altLang="en-US" i="1" dirty="0">
                <a:latin typeface="Arial" panose="020B0604020202020204" pitchFamily="34" charset="0"/>
                <a:cs typeface="Times New Roman" panose="02020603050405020304" pitchFamily="18" charset="0"/>
              </a:rPr>
              <a:t>h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= 1:  </a:t>
            </a:r>
            <a:r>
              <a:rPr lang="en-US" altLang="en-US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Manhattan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(city block, L</a:t>
            </a:r>
            <a:r>
              <a:rPr lang="en-US" altLang="en-US" baseline="-30000" dirty="0">
                <a:latin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norm)</a:t>
            </a:r>
            <a:r>
              <a:rPr lang="en-US" altLang="en-US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distance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en-US" altLang="en-US" sz="2000" dirty="0">
                <a:latin typeface="Arial" panose="020B0604020202020204" pitchFamily="34" charset="0"/>
                <a:cs typeface="Times New Roman" panose="02020603050405020304" pitchFamily="18" charset="0"/>
              </a:rPr>
              <a:t>E.g., the Hamming distance: the number of bits that are different between two binary vectors</a:t>
            </a:r>
          </a:p>
          <a:p>
            <a:pPr marL="0" indent="0" eaLnBrk="1" hangingPunct="1">
              <a:buNone/>
            </a:pPr>
            <a:endParaRPr lang="en-US" altLang="en-US" i="1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i="1" dirty="0">
                <a:latin typeface="Arial" panose="020B0604020202020204" pitchFamily="34" charset="0"/>
                <a:cs typeface="Times New Roman" panose="02020603050405020304" pitchFamily="18" charset="0"/>
              </a:rPr>
              <a:t>h 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= 2:  (L</a:t>
            </a:r>
            <a:r>
              <a:rPr lang="en-US" altLang="en-US" baseline="-25000" dirty="0">
                <a:latin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norm) </a:t>
            </a:r>
            <a:r>
              <a:rPr lang="en-US" altLang="en-US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Euclidean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distance</a:t>
            </a:r>
          </a:p>
          <a:p>
            <a:pPr lvl="4" eaLnBrk="1" hangingPunct="1"/>
            <a:endParaRPr lang="en-US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i="1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i="1" dirty="0">
                <a:latin typeface="Arial" panose="020B0604020202020204" pitchFamily="34" charset="0"/>
                <a:cs typeface="Times New Roman" panose="02020603050405020304" pitchFamily="18" charset="0"/>
              </a:rPr>
              <a:t>h 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  <a:sym typeface="Symbol" pitchFamily="2" charset="2"/>
              </a:rPr>
              <a:t>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.  </a:t>
            </a:r>
            <a:r>
              <a:rPr lang="en-US" altLang="en-US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“supremum”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en-US" altLang="en-US" baseline="-30000" dirty="0" err="1">
                <a:latin typeface="Arial" panose="020B0604020202020204" pitchFamily="34" charset="0"/>
                <a:cs typeface="Times New Roman" panose="02020603050405020304" pitchFamily="18" charset="0"/>
              </a:rPr>
              <a:t>max</a:t>
            </a:r>
            <a:r>
              <a:rPr lang="en-US" altLang="en-US" baseline="-30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norm, L</a:t>
            </a:r>
            <a:r>
              <a:rPr lang="en-US" altLang="en-US" baseline="-30000" dirty="0">
                <a:latin typeface="Arial" panose="020B0604020202020204" pitchFamily="34" charset="0"/>
                <a:cs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en-US" baseline="-30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norm) distance. </a:t>
            </a:r>
          </a:p>
          <a:p>
            <a:pPr lvl="1" eaLnBrk="1" hangingPunct="1"/>
            <a:r>
              <a:rPr lang="en-US" altLang="en-US" sz="2000" dirty="0">
                <a:latin typeface="Arial" panose="020B0604020202020204" pitchFamily="34" charset="0"/>
                <a:cs typeface="Times New Roman" panose="02020603050405020304" pitchFamily="18" charset="0"/>
              </a:rPr>
              <a:t>This is the maximum difference between any component (attribute) of the vectors</a:t>
            </a:r>
          </a:p>
          <a:p>
            <a:pPr lvl="1" eaLnBrk="1" hangingPunct="1"/>
            <a:endParaRPr lang="en-US" altLang="en-US" sz="20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0421" name="Object 4">
            <a:extLst>
              <a:ext uri="{FF2B5EF4-FFF2-40B4-BE49-F238E27FC236}">
                <a16:creationId xmlns:a16="http://schemas.microsoft.com/office/drawing/2014/main" id="{7FF2CB85-2F0D-CE7B-2FF4-B1C9F4447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203772"/>
              </p:ext>
            </p:extLst>
          </p:nvPr>
        </p:nvGraphicFramePr>
        <p:xfrm>
          <a:off x="3517106" y="3637757"/>
          <a:ext cx="500538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277900" imgH="13462000" progId="Equation.3">
                  <p:embed/>
                </p:oleObj>
              </mc:Choice>
              <mc:Fallback>
                <p:oleObj name="Equation" r:id="rId3" imgW="115277900" imgH="13462000" progId="Equation.3">
                  <p:embed/>
                  <p:pic>
                    <p:nvPicPr>
                      <p:cNvPr id="60421" name="Object 4">
                        <a:extLst>
                          <a:ext uri="{FF2B5EF4-FFF2-40B4-BE49-F238E27FC236}">
                            <a16:creationId xmlns:a16="http://schemas.microsoft.com/office/drawing/2014/main" id="{7FF2CB85-2F0D-CE7B-2FF4-B1C9F4447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106" y="3637757"/>
                        <a:ext cx="5005388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5">
            <a:extLst>
              <a:ext uri="{FF2B5EF4-FFF2-40B4-BE49-F238E27FC236}">
                <a16:creationId xmlns:a16="http://schemas.microsoft.com/office/drawing/2014/main" id="{CB0107F2-B0C1-38F2-A255-07B3D2D47A50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962400" y="2514600"/>
          <a:ext cx="4114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5" imgW="98894900" imgH="9944100" progId="Equation.3">
                  <p:embed/>
                </p:oleObj>
              </mc:Choice>
              <mc:Fallback>
                <p:oleObj name="Microsoft Equation 3.0" r:id="rId5" imgW="98894900" imgH="9944100" progId="Equation.3">
                  <p:embed/>
                  <p:pic>
                    <p:nvPicPr>
                      <p:cNvPr id="60422" name="Object 5">
                        <a:extLst>
                          <a:ext uri="{FF2B5EF4-FFF2-40B4-BE49-F238E27FC236}">
                            <a16:creationId xmlns:a16="http://schemas.microsoft.com/office/drawing/2014/main" id="{CB0107F2-B0C1-38F2-A255-07B3D2D47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514600"/>
                        <a:ext cx="41148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23" name="Picture 10">
            <a:extLst>
              <a:ext uri="{FF2B5EF4-FFF2-40B4-BE49-F238E27FC236}">
                <a16:creationId xmlns:a16="http://schemas.microsoft.com/office/drawing/2014/main" id="{326FF043-15FC-795A-BC77-858A3BA59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366" y="5480050"/>
            <a:ext cx="60198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F918C6F4-AD52-29ED-D7F7-B97BE4590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C2431E1-57E7-414C-8C53-AA89BCC47C6F}" type="slidenum">
              <a:rPr lang="en-US" altLang="en-US" sz="1200"/>
              <a:pPr eaLnBrk="1" hangingPunct="1"/>
              <a:t>70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E998425-48AD-8CEC-52FF-1368E5FAA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Minkowski Distance</a:t>
            </a:r>
          </a:p>
        </p:txBody>
      </p:sp>
      <p:sp>
        <p:nvSpPr>
          <p:cNvPr id="61444" name="Text Box 3">
            <a:extLst>
              <a:ext uri="{FF2B5EF4-FFF2-40B4-BE49-F238E27FC236}">
                <a16:creationId xmlns:a16="http://schemas.microsoft.com/office/drawing/2014/main" id="{7E4FFB5F-D977-140A-1822-C29134E0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838201"/>
            <a:ext cx="2895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Dissimilarity Matrices</a:t>
            </a:r>
          </a:p>
        </p:txBody>
      </p:sp>
      <p:graphicFrame>
        <p:nvGraphicFramePr>
          <p:cNvPr id="61445" name="Object 4">
            <a:extLst>
              <a:ext uri="{FF2B5EF4-FFF2-40B4-BE49-F238E27FC236}">
                <a16:creationId xmlns:a16="http://schemas.microsoft.com/office/drawing/2014/main" id="{E5618438-FDE0-0410-E8EA-0976A30B9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1" y="1219201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854200" imgH="825500" progId="Excel.Sheet.8">
                  <p:embed/>
                </p:oleObj>
              </mc:Choice>
              <mc:Fallback>
                <p:oleObj name="Worksheet" r:id="rId3" imgW="1854200" imgH="825500" progId="Excel.Sheet.8">
                  <p:embed/>
                  <p:pic>
                    <p:nvPicPr>
                      <p:cNvPr id="61445" name="Object 4">
                        <a:extLst>
                          <a:ext uri="{FF2B5EF4-FFF2-40B4-BE49-F238E27FC236}">
                            <a16:creationId xmlns:a16="http://schemas.microsoft.com/office/drawing/2014/main" id="{E5618438-FDE0-0410-E8EA-0976A30B9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219201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5">
            <a:extLst>
              <a:ext uri="{FF2B5EF4-FFF2-40B4-BE49-F238E27FC236}">
                <a16:creationId xmlns:a16="http://schemas.microsoft.com/office/drawing/2014/main" id="{F9F8025F-C699-8950-4933-2C07A95012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1600200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073400" imgH="825500" progId="Excel.Sheet.8">
                  <p:embed/>
                </p:oleObj>
              </mc:Choice>
              <mc:Fallback>
                <p:oleObj name="Worksheet" r:id="rId5" imgW="3073400" imgH="825500" progId="Excel.Sheet.8">
                  <p:embed/>
                  <p:pic>
                    <p:nvPicPr>
                      <p:cNvPr id="61446" name="Object 5">
                        <a:extLst>
                          <a:ext uri="{FF2B5EF4-FFF2-40B4-BE49-F238E27FC236}">
                            <a16:creationId xmlns:a16="http://schemas.microsoft.com/office/drawing/2014/main" id="{F9F8025F-C699-8950-4933-2C07A9501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00200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6">
            <a:extLst>
              <a:ext uri="{FF2B5EF4-FFF2-40B4-BE49-F238E27FC236}">
                <a16:creationId xmlns:a16="http://schemas.microsoft.com/office/drawing/2014/main" id="{59BCDD65-1D69-1605-1BA5-98EC6ACFD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3429000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073400" imgH="825500" progId="Excel.Sheet.8">
                  <p:embed/>
                </p:oleObj>
              </mc:Choice>
              <mc:Fallback>
                <p:oleObj name="Worksheet" r:id="rId7" imgW="3073400" imgH="825500" progId="Excel.Sheet.8">
                  <p:embed/>
                  <p:pic>
                    <p:nvPicPr>
                      <p:cNvPr id="61447" name="Object 6">
                        <a:extLst>
                          <a:ext uri="{FF2B5EF4-FFF2-40B4-BE49-F238E27FC236}">
                            <a16:creationId xmlns:a16="http://schemas.microsoft.com/office/drawing/2014/main" id="{59BCDD65-1D69-1605-1BA5-98EC6ACFDF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429000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7">
            <a:extLst>
              <a:ext uri="{FF2B5EF4-FFF2-40B4-BE49-F238E27FC236}">
                <a16:creationId xmlns:a16="http://schemas.microsoft.com/office/drawing/2014/main" id="{591DD882-0B7F-826C-D6EC-4F8B04FE65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5254626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3073400" imgH="850900" progId="Excel.Sheet.8">
                  <p:embed/>
                </p:oleObj>
              </mc:Choice>
              <mc:Fallback>
                <p:oleObj name="Worksheet" r:id="rId9" imgW="3073400" imgH="850900" progId="Excel.Sheet.8">
                  <p:embed/>
                  <p:pic>
                    <p:nvPicPr>
                      <p:cNvPr id="61448" name="Object 7">
                        <a:extLst>
                          <a:ext uri="{FF2B5EF4-FFF2-40B4-BE49-F238E27FC236}">
                            <a16:creationId xmlns:a16="http://schemas.microsoft.com/office/drawing/2014/main" id="{591DD882-0B7F-826C-D6EC-4F8B04FE65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254626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Rectangle 16">
            <a:extLst>
              <a:ext uri="{FF2B5EF4-FFF2-40B4-BE49-F238E27FC236}">
                <a16:creationId xmlns:a16="http://schemas.microsoft.com/office/drawing/2014/main" id="{E53C5EFA-BF24-8B1B-F027-248AAD8C3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1066800"/>
            <a:ext cx="2576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/>
              <a:t>Manhattan (L</a:t>
            </a:r>
            <a:r>
              <a:rPr lang="en-US" altLang="en-US" b="1" baseline="-25000"/>
              <a:t>1</a:t>
            </a:r>
            <a:r>
              <a:rPr lang="en-US" altLang="en-US" b="1"/>
              <a:t>)</a:t>
            </a:r>
          </a:p>
        </p:txBody>
      </p:sp>
      <p:sp>
        <p:nvSpPr>
          <p:cNvPr id="61450" name="Rectangle 17">
            <a:extLst>
              <a:ext uri="{FF2B5EF4-FFF2-40B4-BE49-F238E27FC236}">
                <a16:creationId xmlns:a16="http://schemas.microsoft.com/office/drawing/2014/main" id="{719DC557-9C76-F733-4243-70EF13DEA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895600"/>
            <a:ext cx="2332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/>
              <a:t>Euclidean (L</a:t>
            </a:r>
            <a:r>
              <a:rPr lang="en-US" altLang="en-US" b="1" baseline="-25000"/>
              <a:t>2</a:t>
            </a:r>
            <a:r>
              <a:rPr lang="en-US" altLang="en-US" b="1"/>
              <a:t>)</a:t>
            </a:r>
          </a:p>
        </p:txBody>
      </p:sp>
      <p:sp>
        <p:nvSpPr>
          <p:cNvPr id="61451" name="Rectangle 18">
            <a:extLst>
              <a:ext uri="{FF2B5EF4-FFF2-40B4-BE49-F238E27FC236}">
                <a16:creationId xmlns:a16="http://schemas.microsoft.com/office/drawing/2014/main" id="{C9B7C149-3949-076E-C1E4-A4431CAE7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00600"/>
            <a:ext cx="1943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/>
              <a:t>Supremum </a:t>
            </a:r>
          </a:p>
        </p:txBody>
      </p:sp>
      <p:graphicFrame>
        <p:nvGraphicFramePr>
          <p:cNvPr id="61452" name="Object 19">
            <a:extLst>
              <a:ext uri="{FF2B5EF4-FFF2-40B4-BE49-F238E27FC236}">
                <a16:creationId xmlns:a16="http://schemas.microsoft.com/office/drawing/2014/main" id="{CC19E6B1-6406-08D3-7F22-EEA8D4EC3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4" y="2819400"/>
          <a:ext cx="300672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11" imgW="26276300" imgH="33312100" progId="SmartDraw.2">
                  <p:embed/>
                </p:oleObj>
              </mc:Choice>
              <mc:Fallback>
                <p:oleObj name="SmartDraw" r:id="rId11" imgW="26276300" imgH="33312100" progId="SmartDraw.2">
                  <p:embed/>
                  <p:pic>
                    <p:nvPicPr>
                      <p:cNvPr id="61452" name="Object 19">
                        <a:extLst>
                          <a:ext uri="{FF2B5EF4-FFF2-40B4-BE49-F238E27FC236}">
                            <a16:creationId xmlns:a16="http://schemas.microsoft.com/office/drawing/2014/main" id="{CC19E6B1-6406-08D3-7F22-EEA8D4EC3F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4" y="2819400"/>
                        <a:ext cx="3006725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7">
            <a:extLst>
              <a:ext uri="{FF2B5EF4-FFF2-40B4-BE49-F238E27FC236}">
                <a16:creationId xmlns:a16="http://schemas.microsoft.com/office/drawing/2014/main" id="{52F6BBD6-B964-4D72-0FF3-445DE5F88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741666A-868A-B645-AE5E-13C05FA97471}" type="slidenum">
              <a:rPr lang="en-US" altLang="en-US" sz="1200"/>
              <a:pPr eaLnBrk="1" hangingPunct="1"/>
              <a:t>71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3613430C-D78C-50EA-115A-D9254D15A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Attributes of Mixed Type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43AE1A1-BEDC-108E-DCCF-EBEEC71062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534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 database may contain all attribute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Nominal, symmetric binary, asymmetric binary, numeric, ordinal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One may use a weighted formula to combine their effects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 i="1"/>
          </a:p>
          <a:p>
            <a:pPr lvl="1" eaLnBrk="1" hangingPunct="1">
              <a:lnSpc>
                <a:spcPct val="90000"/>
              </a:lnSpc>
            </a:pPr>
            <a:endParaRPr lang="en-US" altLang="en-US" sz="2400" i="1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i="1"/>
              <a:t>f</a:t>
            </a:r>
            <a:r>
              <a:rPr lang="en-US" altLang="en-US" sz="2400"/>
              <a:t>  is binary or nominal: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cs typeface="Tahoma" panose="020B0604030504040204" pitchFamily="34" charset="0"/>
              </a:rPr>
              <a:t>d</a:t>
            </a:r>
            <a:r>
              <a:rPr lang="en-US" altLang="en-US" baseline="-25000"/>
              <a:t>ij</a:t>
            </a:r>
            <a:r>
              <a:rPr lang="en-US" altLang="en-US" baseline="30000"/>
              <a:t>(f)</a:t>
            </a:r>
            <a:r>
              <a:rPr lang="en-US" altLang="en-US"/>
              <a:t> = 0  if x</a:t>
            </a:r>
            <a:r>
              <a:rPr lang="en-US" altLang="en-US" baseline="-25000"/>
              <a:t>if </a:t>
            </a:r>
            <a:r>
              <a:rPr lang="en-US" altLang="en-US"/>
              <a:t>= x</a:t>
            </a:r>
            <a:r>
              <a:rPr lang="en-US" altLang="en-US" baseline="-25000"/>
              <a:t>jf</a:t>
            </a:r>
            <a:r>
              <a:rPr lang="en-US" altLang="en-US"/>
              <a:t> , or </a:t>
            </a:r>
            <a:r>
              <a:rPr lang="en-US" altLang="en-US">
                <a:cs typeface="Tahoma" panose="020B0604030504040204" pitchFamily="34" charset="0"/>
              </a:rPr>
              <a:t>d</a:t>
            </a:r>
            <a:r>
              <a:rPr lang="en-US" altLang="en-US" baseline="-25000"/>
              <a:t>ij</a:t>
            </a:r>
            <a:r>
              <a:rPr lang="en-US" altLang="en-US" baseline="30000"/>
              <a:t>(f)</a:t>
            </a:r>
            <a:r>
              <a:rPr lang="en-US" altLang="en-US"/>
              <a:t> = 1 otherwise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i="1"/>
              <a:t>f</a:t>
            </a:r>
            <a:r>
              <a:rPr lang="en-US" altLang="en-US" sz="2400"/>
              <a:t>  is numeric: use the normalized distance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i="1"/>
              <a:t>f</a:t>
            </a:r>
            <a:r>
              <a:rPr lang="en-US" altLang="en-US" sz="2400"/>
              <a:t>  is ordinal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Compute ranks r</a:t>
            </a:r>
            <a:r>
              <a:rPr lang="en-US" altLang="en-US" baseline="-25000"/>
              <a:t>if</a:t>
            </a:r>
            <a:r>
              <a:rPr lang="en-US" altLang="en-US"/>
              <a:t> and 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Treat z</a:t>
            </a:r>
            <a:r>
              <a:rPr lang="en-US" altLang="en-US" baseline="-25000"/>
              <a:t>if</a:t>
            </a:r>
            <a:r>
              <a:rPr lang="en-US" altLang="en-US"/>
              <a:t> as interval-scaled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63493" name="Object 4">
            <a:extLst>
              <a:ext uri="{FF2B5EF4-FFF2-40B4-BE49-F238E27FC236}">
                <a16:creationId xmlns:a16="http://schemas.microsoft.com/office/drawing/2014/main" id="{D7292736-37F2-6EA5-CA08-478CD52ADDA5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038600" y="2895601"/>
          <a:ext cx="32766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564800" imgH="16967200" progId="Equation.3">
                  <p:embed/>
                </p:oleObj>
              </mc:Choice>
              <mc:Fallback>
                <p:oleObj name="Equation" r:id="rId3" imgW="48564800" imgH="16967200" progId="Equation.3">
                  <p:embed/>
                  <p:pic>
                    <p:nvPicPr>
                      <p:cNvPr id="63493" name="Object 4">
                        <a:extLst>
                          <a:ext uri="{FF2B5EF4-FFF2-40B4-BE49-F238E27FC236}">
                            <a16:creationId xmlns:a16="http://schemas.microsoft.com/office/drawing/2014/main" id="{D7292736-37F2-6EA5-CA08-478CD52ADD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895601"/>
                        <a:ext cx="32766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5">
            <a:extLst>
              <a:ext uri="{FF2B5EF4-FFF2-40B4-BE49-F238E27FC236}">
                <a16:creationId xmlns:a16="http://schemas.microsoft.com/office/drawing/2014/main" id="{D91C2236-7A62-F6AD-14BA-B150B995101A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7315200" y="5748338"/>
          <a:ext cx="13716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114000" imgH="12293600" progId="Equation.3">
                  <p:embed/>
                </p:oleObj>
              </mc:Choice>
              <mc:Fallback>
                <p:oleObj name="Equation" r:id="rId5" imgW="23114000" imgH="12293600" progId="Equation.3">
                  <p:embed/>
                  <p:pic>
                    <p:nvPicPr>
                      <p:cNvPr id="63494" name="Object 5">
                        <a:extLst>
                          <a:ext uri="{FF2B5EF4-FFF2-40B4-BE49-F238E27FC236}">
                            <a16:creationId xmlns:a16="http://schemas.microsoft.com/office/drawing/2014/main" id="{D91C2236-7A62-F6AD-14BA-B150B99510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748338"/>
                        <a:ext cx="13716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>
            <a:extLst>
              <a:ext uri="{FF2B5EF4-FFF2-40B4-BE49-F238E27FC236}">
                <a16:creationId xmlns:a16="http://schemas.microsoft.com/office/drawing/2014/main" id="{D5A4BAC1-99B7-47D3-93CB-2E295891A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B13D8E-81FB-CE41-9B80-CC3656BED4C7}" type="slidenum">
              <a:rPr lang="en-US" altLang="en-US" sz="1200"/>
              <a:pPr eaLnBrk="1" hangingPunct="1"/>
              <a:t>72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B74EFD2E-F652-E1CB-9908-97100E220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6475" y="304800"/>
            <a:ext cx="7626350" cy="6096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>
                <a:solidFill>
                  <a:srgbClr val="170981"/>
                </a:solidFill>
              </a:rPr>
              <a:t> Cosine Similarity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8D6A0EF-6B83-B18B-C436-40A24E5A6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066800"/>
            <a:ext cx="8763000" cy="5257800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</a:t>
            </a:r>
            <a:r>
              <a:rPr lang="en-US" altLang="en-US" b="1"/>
              <a:t>document</a:t>
            </a:r>
            <a:r>
              <a:rPr lang="en-US" altLang="en-US"/>
              <a:t> can be represented by thousands of attributes, each recording the </a:t>
            </a:r>
            <a:r>
              <a:rPr lang="en-US" altLang="en-US" i="1"/>
              <a:t>frequency</a:t>
            </a:r>
            <a:r>
              <a:rPr lang="en-US" altLang="en-US"/>
              <a:t> of a particular word (such as keywords) or phrase in the document.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Other vector objects: gene features in micro-arrays,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Applications: information retrieval, biologic taxonomy, gene feature mapping, ...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Cosine measure: </a:t>
            </a:r>
            <a:r>
              <a:rPr lang="en-US" altLang="en-US">
                <a:cs typeface="Times New Roman" panose="02020603050405020304" pitchFamily="18" charset="0"/>
              </a:rPr>
              <a:t>If </a:t>
            </a:r>
            <a:r>
              <a:rPr lang="en-US" altLang="en-US" i="1">
                <a:cs typeface="Times New Roman" panose="02020603050405020304" pitchFamily="18" charset="0"/>
              </a:rPr>
              <a:t>d</a:t>
            </a:r>
            <a:r>
              <a:rPr lang="en-US" altLang="en-US" i="1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 and </a:t>
            </a:r>
            <a:r>
              <a:rPr lang="en-US" altLang="en-US" i="1">
                <a:cs typeface="Times New Roman" panose="02020603050405020304" pitchFamily="18" charset="0"/>
              </a:rPr>
              <a:t>d</a:t>
            </a:r>
            <a:r>
              <a:rPr lang="en-US" altLang="en-US" i="1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 are two vectors (e.g., term-frequency vectors), then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             cos(</a:t>
            </a:r>
            <a:r>
              <a:rPr lang="en-US" altLang="en-US" i="1">
                <a:cs typeface="Times New Roman" panose="02020603050405020304" pitchFamily="18" charset="0"/>
              </a:rPr>
              <a:t>d</a:t>
            </a:r>
            <a:r>
              <a:rPr lang="en-US" altLang="en-US" i="1" baseline="-30000">
                <a:cs typeface="Times New Roman" panose="02020603050405020304" pitchFamily="18" charset="0"/>
              </a:rPr>
              <a:t>1</a:t>
            </a:r>
            <a:r>
              <a:rPr lang="en-US" altLang="en-US" i="1">
                <a:cs typeface="Times New Roman" panose="02020603050405020304" pitchFamily="18" charset="0"/>
              </a:rPr>
              <a:t>, d</a:t>
            </a:r>
            <a:r>
              <a:rPr lang="en-US" altLang="en-US" i="1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) =  (</a:t>
            </a:r>
            <a:r>
              <a:rPr lang="en-US" altLang="en-US" i="1">
                <a:cs typeface="Times New Roman" panose="02020603050405020304" pitchFamily="18" charset="0"/>
              </a:rPr>
              <a:t>d</a:t>
            </a:r>
            <a:r>
              <a:rPr lang="en-US" altLang="en-US" i="1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>
                <a:cs typeface="Times New Roman" panose="02020603050405020304" pitchFamily="18" charset="0"/>
                <a:sym typeface="Symbol" pitchFamily="2" charset="2"/>
              </a:rPr>
              <a:t>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i="1">
                <a:cs typeface="Times New Roman" panose="02020603050405020304" pitchFamily="18" charset="0"/>
              </a:rPr>
              <a:t>d</a:t>
            </a:r>
            <a:r>
              <a:rPr lang="en-US" altLang="en-US" i="1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) /||</a:t>
            </a:r>
            <a:r>
              <a:rPr lang="en-US" altLang="en-US" i="1">
                <a:cs typeface="Times New Roman" panose="02020603050405020304" pitchFamily="18" charset="0"/>
              </a:rPr>
              <a:t>d</a:t>
            </a:r>
            <a:r>
              <a:rPr lang="en-US" altLang="en-US" i="1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|| ||</a:t>
            </a:r>
            <a:r>
              <a:rPr lang="en-US" altLang="en-US" i="1">
                <a:cs typeface="Times New Roman" panose="02020603050405020304" pitchFamily="18" charset="0"/>
              </a:rPr>
              <a:t>d</a:t>
            </a:r>
            <a:r>
              <a:rPr lang="en-US" altLang="en-US" i="1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   where </a:t>
            </a:r>
            <a:r>
              <a:rPr lang="en-US" altLang="en-US" sz="2000">
                <a:cs typeface="Times New Roman" panose="02020603050405020304" pitchFamily="18" charset="0"/>
                <a:sym typeface="Symbol" pitchFamily="2" charset="2"/>
              </a:rPr>
              <a:t></a:t>
            </a:r>
            <a:r>
              <a:rPr lang="en-US" altLang="en-US" sz="2000">
                <a:cs typeface="Times New Roman" panose="02020603050405020304" pitchFamily="18" charset="0"/>
              </a:rPr>
              <a:t> indicates vector dot product, 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>
                <a:cs typeface="Times New Roman" panose="02020603050405020304" pitchFamily="18" charset="0"/>
              </a:rPr>
              <a:t>||: the length of vector 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</a:p>
        </p:txBody>
      </p:sp>
      <p:pic>
        <p:nvPicPr>
          <p:cNvPr id="64517" name="Picture 4" descr="eqtable">
            <a:extLst>
              <a:ext uri="{FF2B5EF4-FFF2-40B4-BE49-F238E27FC236}">
                <a16:creationId xmlns:a16="http://schemas.microsoft.com/office/drawing/2014/main" id="{0CE5C57A-8D25-8F42-AF25-FD3F81A12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362200"/>
            <a:ext cx="8229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Duplicate Data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set may include data objects that are duplicates, or almost duplicates of one another</a:t>
            </a:r>
          </a:p>
          <a:p>
            <a:pPr lvl="1"/>
            <a:r>
              <a:rPr lang="en-US" dirty="0"/>
              <a:t>Major issue when merging data from heterogeneous sources</a:t>
            </a:r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Same person with multiple email addresses</a:t>
            </a:r>
          </a:p>
          <a:p>
            <a:pPr lvl="1"/>
            <a:endParaRPr lang="en-US" dirty="0"/>
          </a:p>
          <a:p>
            <a:r>
              <a:rPr lang="en-US" dirty="0"/>
              <a:t>Data cleaning</a:t>
            </a:r>
          </a:p>
          <a:p>
            <a:pPr lvl="1"/>
            <a:r>
              <a:rPr lang="en-US" dirty="0"/>
              <a:t>Process of dealing with duplicate data issues</a:t>
            </a:r>
          </a:p>
          <a:p>
            <a:pPr lvl="1"/>
            <a:endParaRPr lang="en-US" dirty="0"/>
          </a:p>
          <a:p>
            <a:r>
              <a:rPr lang="en-US" dirty="0"/>
              <a:t>When should duplicate data not be removed?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FF711-5423-DDD2-DB1B-5E445349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Food on a table">
            <a:extLst>
              <a:ext uri="{FF2B5EF4-FFF2-40B4-BE49-F238E27FC236}">
                <a16:creationId xmlns:a16="http://schemas.microsoft.com/office/drawing/2014/main" id="{DC94EE2B-79FB-DABF-143E-8AB3D6B4A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67" r="-1" b="-1"/>
          <a:stretch>
            <a:fillRect/>
          </a:stretch>
        </p:blipFill>
        <p:spPr>
          <a:xfrm>
            <a:off x="42339" y="-39863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52C05-358A-C397-4982-B814F169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Thanks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BB93D-0ED0-C8C5-9670-85C65A9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7832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4135</Words>
  <Application>Microsoft Macintosh PowerPoint</Application>
  <PresentationFormat>Widescreen</PresentationFormat>
  <Paragraphs>625</Paragraphs>
  <Slides>74</Slides>
  <Notes>62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91" baseType="lpstr">
      <vt:lpstr>Aptos</vt:lpstr>
      <vt:lpstr>Arial</vt:lpstr>
      <vt:lpstr>Monotype Sorts</vt:lpstr>
      <vt:lpstr>Neue Haas Grotesk Text Pro</vt:lpstr>
      <vt:lpstr>Sylfaen</vt:lpstr>
      <vt:lpstr>Symbol</vt:lpstr>
      <vt:lpstr>Tahoma</vt:lpstr>
      <vt:lpstr>Times New Roman</vt:lpstr>
      <vt:lpstr>Wingdings</vt:lpstr>
      <vt:lpstr>VanillaVTI</vt:lpstr>
      <vt:lpstr>Document</vt:lpstr>
      <vt:lpstr>VISIO</vt:lpstr>
      <vt:lpstr>Visio</vt:lpstr>
      <vt:lpstr>Microsoft Equation 3.0</vt:lpstr>
      <vt:lpstr>Microsoft Graph 2000 Chart</vt:lpstr>
      <vt:lpstr>SmartDraw Drawing</vt:lpstr>
      <vt:lpstr>Microsoft Office Excel Worksheet</vt:lpstr>
      <vt:lpstr>Data Mining</vt:lpstr>
      <vt:lpstr>Outline</vt:lpstr>
      <vt:lpstr>What is Data?</vt:lpstr>
      <vt:lpstr>Attribute Values</vt:lpstr>
      <vt:lpstr>Attribute Types </vt:lpstr>
      <vt:lpstr>Numeric Attribute Types </vt:lpstr>
      <vt:lpstr>Properties of Attribute Values </vt:lpstr>
      <vt:lpstr>Difference Between Ratio and Interval </vt:lpstr>
      <vt:lpstr>PowerPoint Presentation</vt:lpstr>
      <vt:lpstr>PowerPoint Presentation</vt:lpstr>
      <vt:lpstr>Discrete vs. Continuous Attributes </vt:lpstr>
      <vt:lpstr>Asymmetric Attributes</vt:lpstr>
      <vt:lpstr>Critiques of the attribute categorization </vt:lpstr>
      <vt:lpstr>Important Characteristics of Data</vt:lpstr>
      <vt:lpstr>Basic Statistical Descriptions of Data</vt:lpstr>
      <vt:lpstr>Measuring the Central Tendency</vt:lpstr>
      <vt:lpstr> Symmetric vs. Skewed Data</vt:lpstr>
      <vt:lpstr>Measuring the Dispersion of Data</vt:lpstr>
      <vt:lpstr> Boxplot Analysis</vt:lpstr>
      <vt:lpstr>Visualization of Data Dispersion: 3-D Boxplots</vt:lpstr>
      <vt:lpstr>Properties of Normal Distribution Curve</vt:lpstr>
      <vt:lpstr>Graphic Displays of Basic Statistical Descriptions</vt:lpstr>
      <vt:lpstr>Histogram Analysis</vt:lpstr>
      <vt:lpstr>Histograms Often Tell More than Boxplots</vt:lpstr>
      <vt:lpstr>Quantile Plot</vt:lpstr>
      <vt:lpstr>Quantile-Quantile (Q-Q) Plot</vt:lpstr>
      <vt:lpstr>Scatter plot</vt:lpstr>
      <vt:lpstr>Positively and Negatively Correlated Data</vt:lpstr>
      <vt:lpstr> Uncorrelated Data</vt:lpstr>
      <vt:lpstr>Data Visualization</vt:lpstr>
      <vt:lpstr>Pixel-Oriented Visualization Techniques</vt:lpstr>
      <vt:lpstr>Laying Out Pixels in Circle Segments</vt:lpstr>
      <vt:lpstr>Geometric Projection Visualization Techniques</vt:lpstr>
      <vt:lpstr>Direct Data Visualization</vt:lpstr>
      <vt:lpstr>Scatterplot Matrices</vt:lpstr>
      <vt:lpstr>Landscapes</vt:lpstr>
      <vt:lpstr>Parallel Coordinates</vt:lpstr>
      <vt:lpstr>Parallel Coordinates of a Data Set</vt:lpstr>
      <vt:lpstr>Icon-Based Visualization Techniques</vt:lpstr>
      <vt:lpstr>Hierarchical Visualization Techniques</vt:lpstr>
      <vt:lpstr>Dimensional Stacking</vt:lpstr>
      <vt:lpstr>Dimensional Stacking</vt:lpstr>
      <vt:lpstr>Worlds-within-Worlds</vt:lpstr>
      <vt:lpstr>Tree-Map</vt:lpstr>
      <vt:lpstr>Tree-Map of a File System (Schneiderman)</vt:lpstr>
      <vt:lpstr>InfoCube</vt:lpstr>
      <vt:lpstr>Three-D Cone Trees</vt:lpstr>
      <vt:lpstr>Visualizing Complex Data and Relations</vt:lpstr>
      <vt:lpstr>Types of data sets </vt:lpstr>
      <vt:lpstr>Record Data </vt:lpstr>
      <vt:lpstr>Data Matrix </vt:lpstr>
      <vt:lpstr>Document Data</vt:lpstr>
      <vt:lpstr>Transaction Data</vt:lpstr>
      <vt:lpstr>Graph Data </vt:lpstr>
      <vt:lpstr>Ordered Data </vt:lpstr>
      <vt:lpstr>Ordered Data </vt:lpstr>
      <vt:lpstr>Ordered Data</vt:lpstr>
      <vt:lpstr>Data Quality </vt:lpstr>
      <vt:lpstr>Data Quality …</vt:lpstr>
      <vt:lpstr>Noise</vt:lpstr>
      <vt:lpstr>Outliers</vt:lpstr>
      <vt:lpstr>Missing Values</vt:lpstr>
      <vt:lpstr>Similarity and Dissimilarity</vt:lpstr>
      <vt:lpstr>Similarity/Dissimilarity for Simple Attributes</vt:lpstr>
      <vt:lpstr>Proximity Measure for Nominal Attributes</vt:lpstr>
      <vt:lpstr>Proximity Measure for Binary Attributes</vt:lpstr>
      <vt:lpstr>Standardizing Numeric Data</vt:lpstr>
      <vt:lpstr>Distance on Numeric Data: Minkowski Distance</vt:lpstr>
      <vt:lpstr>Special Cases of Minkowski Distance</vt:lpstr>
      <vt:lpstr>Example: Minkowski Distance</vt:lpstr>
      <vt:lpstr>Attributes of Mixed Type</vt:lpstr>
      <vt:lpstr> Cosine Similarity</vt:lpstr>
      <vt:lpstr>Duplicate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Omar</dc:creator>
  <cp:lastModifiedBy>Mostafa Omar</cp:lastModifiedBy>
  <cp:revision>4</cp:revision>
  <dcterms:created xsi:type="dcterms:W3CDTF">2025-09-09T17:26:12Z</dcterms:created>
  <dcterms:modified xsi:type="dcterms:W3CDTF">2025-09-09T21:44:46Z</dcterms:modified>
</cp:coreProperties>
</file>