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ITC Avant Garde Gothic" charset="1" panose="020B0502020202020204"/>
      <p:regular r:id="rId22"/>
    </p:embeddedFont>
    <p:embeddedFont>
      <p:font typeface="TT Fors" charset="1" panose="020B0003030001020000"/>
      <p:regular r:id="rId23"/>
    </p:embeddedFont>
    <p:embeddedFont>
      <p:font typeface="TT Fors Bold" charset="1" panose="020B0003030001020000"/>
      <p:regular r:id="rId24"/>
    </p:embeddedFont>
    <p:embeddedFont>
      <p:font typeface="Proxima Nova" charset="1" panose="02000506030000020004"/>
      <p:regular r:id="rId25"/>
    </p:embeddedFont>
    <p:embeddedFont>
      <p:font typeface="Proxima Nova Bold" charset="1" panose="02000506030000020004"/>
      <p:regular r:id="rId26"/>
    </p:embeddedFont>
    <p:embeddedFont>
      <p:font typeface="Poppins Bold" charset="1" panose="000008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68150" y="0"/>
            <a:ext cx="6419850" cy="10287000"/>
            <a:chOff x="0" y="0"/>
            <a:chExt cx="994603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4603" cy="1593725"/>
            </a:xfrm>
            <a:custGeom>
              <a:avLst/>
              <a:gdLst/>
              <a:ahLst/>
              <a:cxnLst/>
              <a:rect r="r" b="b" t="t" l="l"/>
              <a:pathLst>
                <a:path h="1593725" w="994603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126" r="0" b="-126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1424187"/>
            <a:ext cx="8259291" cy="2683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59"/>
              </a:lnSpc>
            </a:pPr>
            <a:r>
              <a:rPr lang="en-US" sz="9659" spc="-289">
                <a:solidFill>
                  <a:srgbClr val="6C757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NYC Business Licenses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7781290"/>
            <a:ext cx="7194651" cy="181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6C757D"/>
                </a:solidFill>
                <a:latin typeface="TT Fors"/>
                <a:ea typeface="TT Fors"/>
                <a:cs typeface="TT Fors"/>
                <a:sym typeface="TT Fors"/>
              </a:rPr>
              <a:t>Team #8</a:t>
            </a:r>
          </a:p>
          <a:p>
            <a:pPr algn="l" marL="0" indent="0" lvl="0">
              <a:lnSpc>
                <a:spcPts val="3640"/>
              </a:lnSpc>
            </a:pPr>
            <a:r>
              <a:rPr lang="en-US" sz="2600">
                <a:solidFill>
                  <a:srgbClr val="6C757D"/>
                </a:solidFill>
                <a:latin typeface="TT Fors"/>
                <a:ea typeface="TT Fors"/>
                <a:cs typeface="TT Fors"/>
                <a:sym typeface="TT Fors"/>
              </a:rPr>
              <a:t>Ronak Pipaliya</a:t>
            </a:r>
          </a:p>
          <a:p>
            <a:pPr algn="l" marL="0" indent="0" lvl="0">
              <a:lnSpc>
                <a:spcPts val="3640"/>
              </a:lnSpc>
            </a:pPr>
            <a:r>
              <a:rPr lang="en-US" sz="2600">
                <a:solidFill>
                  <a:srgbClr val="6C757D"/>
                </a:solidFill>
                <a:latin typeface="TT Fors"/>
                <a:ea typeface="TT Fors"/>
                <a:cs typeface="TT Fors"/>
                <a:sym typeface="TT Fors"/>
              </a:rPr>
              <a:t>Sajan Shergill</a:t>
            </a:r>
          </a:p>
          <a:p>
            <a:pPr algn="l" marL="0" indent="0" lvl="0">
              <a:lnSpc>
                <a:spcPts val="3640"/>
              </a:lnSpc>
            </a:pPr>
            <a:r>
              <a:rPr lang="en-US" sz="2600">
                <a:solidFill>
                  <a:srgbClr val="6C757D"/>
                </a:solidFill>
                <a:latin typeface="TT Fors"/>
                <a:ea typeface="TT Fors"/>
                <a:cs typeface="TT Fors"/>
                <a:sym typeface="TT Fors"/>
              </a:rPr>
              <a:t>Darpan Gorasiya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444829" y="7829550"/>
            <a:ext cx="4846643" cy="1791955"/>
            <a:chOff x="0" y="0"/>
            <a:chExt cx="6462190" cy="23892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66750" y="4577337"/>
            <a:ext cx="10565555" cy="113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  <a:spcBef>
                <a:spcPct val="0"/>
              </a:spcBef>
            </a:pPr>
            <a:r>
              <a:rPr lang="en-US" sz="4079" spc="-12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Patterns, Gaps &amp; Opportunities for Smarter Policy &amp; Enforcement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1201400" cy="5225389"/>
            <a:chOff x="0" y="0"/>
            <a:chExt cx="14935200" cy="6967185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49352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004B7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Importance of Business Licenses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775164"/>
              <a:ext cx="11099800" cy="21920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399">
                  <a:solidFill>
                    <a:srgbClr val="6C757D"/>
                  </a:solidFill>
                  <a:latin typeface="TT Fors"/>
                  <a:ea typeface="TT Fors"/>
                  <a:cs typeface="TT Fors"/>
                  <a:sym typeface="TT Fors"/>
                </a:rPr>
                <a:t>Understanding the </a:t>
              </a:r>
              <a:r>
                <a:rPr lang="en-US" b="true" sz="2399">
                  <a:solidFill>
                    <a:srgbClr val="6C757D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high volume</a:t>
              </a:r>
              <a:r>
                <a:rPr lang="en-US" sz="2399">
                  <a:solidFill>
                    <a:srgbClr val="6C757D"/>
                  </a:solidFill>
                  <a:latin typeface="TT Fors"/>
                  <a:ea typeface="TT Fors"/>
                  <a:cs typeface="TT Fors"/>
                  <a:sym typeface="TT Fors"/>
                </a:rPr>
                <a:t> of business licenses in NYC reveals critical economic insights, supporting smarter city growth and enhancing decision-making for urban planning and resource allocation.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581400"/>
              <a:ext cx="130175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b="true" sz="3199" spc="-95" strike="noStrike" u="none">
                  <a:solidFill>
                    <a:srgbClr val="6C757D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Unlocking Economic Insights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441357" y="7829550"/>
            <a:ext cx="4846643" cy="1791955"/>
            <a:chOff x="0" y="0"/>
            <a:chExt cx="6462190" cy="23892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66750" y="6323681"/>
            <a:ext cx="8477250" cy="2401846"/>
            <a:chOff x="0" y="0"/>
            <a:chExt cx="11303000" cy="3202461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1010441"/>
              <a:ext cx="11303000" cy="21920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6C757D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Business licenses are crucial for </a:t>
              </a:r>
              <a:r>
                <a:rPr lang="en-US" b="true" sz="2400">
                  <a:solidFill>
                    <a:srgbClr val="6C757D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efficient inspections</a:t>
              </a:r>
              <a:r>
                <a:rPr lang="en-US" sz="2400">
                  <a:solidFill>
                    <a:srgbClr val="6C757D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, compliance, and equitable policy application, directly impacting public safety and fostering a thriving economic environment in NYC.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66675"/>
              <a:ext cx="1130300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6C757D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Enhancing City Operations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83413" y="7772430"/>
            <a:ext cx="4846643" cy="1791955"/>
            <a:chOff x="0" y="0"/>
            <a:chExt cx="6462190" cy="23892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32242" y="3010671"/>
            <a:ext cx="13095550" cy="6842425"/>
          </a:xfrm>
          <a:custGeom>
            <a:avLst/>
            <a:gdLst/>
            <a:ahLst/>
            <a:cxnLst/>
            <a:rect r="r" b="b" t="t" l="l"/>
            <a:pathLst>
              <a:path h="6842425" w="13095550">
                <a:moveTo>
                  <a:pt x="0" y="0"/>
                </a:moveTo>
                <a:lnTo>
                  <a:pt x="13095550" y="0"/>
                </a:lnTo>
                <a:lnTo>
                  <a:pt x="13095550" y="6842425"/>
                </a:lnTo>
                <a:lnTo>
                  <a:pt x="0" y="6842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66750" y="666750"/>
            <a:ext cx="11201400" cy="2162175"/>
            <a:chOff x="0" y="0"/>
            <a:chExt cx="14935200" cy="28829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9525"/>
              <a:ext cx="149352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6C757D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Data Distribution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235200"/>
              <a:ext cx="130175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6C757D"/>
                  </a:solidFill>
                  <a:latin typeface="TT Fors"/>
                  <a:ea typeface="TT Fors"/>
                  <a:cs typeface="TT Fors"/>
                  <a:sym typeface="TT Fors"/>
                </a:rPr>
                <a:t>NYC Business License Density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2953088" cy="3133725"/>
            <a:chOff x="0" y="0"/>
            <a:chExt cx="17270784" cy="41783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7270784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004B7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Core Research Questions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235200"/>
              <a:ext cx="15053191" cy="1943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>
                  <a:solidFill>
                    <a:srgbClr val="6C757D"/>
                  </a:solidFill>
                  <a:latin typeface="TT Fors"/>
                  <a:ea typeface="TT Fors"/>
                  <a:cs typeface="TT Fors"/>
                  <a:sym typeface="TT Fors"/>
                </a:rPr>
                <a:t>Investigate how the concentration and com</a:t>
              </a:r>
              <a:r>
                <a:rPr lang="en-US" sz="3199" spc="-95" strike="noStrike" u="none">
                  <a:solidFill>
                    <a:srgbClr val="6C757D"/>
                  </a:solidFill>
                  <a:latin typeface="TT Fors"/>
                  <a:ea typeface="TT Fors"/>
                  <a:cs typeface="TT Fors"/>
                  <a:sym typeface="TT Fors"/>
                </a:rPr>
                <a:t>pl</a:t>
              </a:r>
              <a:r>
                <a:rPr lang="en-US" sz="3199" spc="-95" strike="noStrike" u="none">
                  <a:solidFill>
                    <a:srgbClr val="6C757D"/>
                  </a:solidFill>
                  <a:latin typeface="TT Fors"/>
                  <a:ea typeface="TT Fors"/>
                  <a:cs typeface="TT Fors"/>
                  <a:sym typeface="TT Fors"/>
                </a:rPr>
                <a:t>eteness </a:t>
              </a:r>
              <a:r>
                <a:rPr lang="en-US" sz="3199" spc="-95" strike="noStrike" u="none">
                  <a:solidFill>
                    <a:srgbClr val="6C757D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3199" spc="-95" strike="noStrike" u="none">
                  <a:solidFill>
                    <a:srgbClr val="6C757D"/>
                  </a:solidFill>
                  <a:latin typeface="TT Fors"/>
                  <a:ea typeface="TT Fors"/>
                  <a:cs typeface="TT Fors"/>
                  <a:sym typeface="TT Fors"/>
                </a:rPr>
                <a:t>f bus</a:t>
              </a:r>
              <a:r>
                <a:rPr lang="en-US" sz="3199" spc="-95" strike="noStrike" u="none">
                  <a:solidFill>
                    <a:srgbClr val="6C757D"/>
                  </a:solidFill>
                  <a:latin typeface="TT Fors"/>
                  <a:ea typeface="TT Fors"/>
                  <a:cs typeface="TT Fors"/>
                  <a:sym typeface="TT Fors"/>
                </a:rPr>
                <a:t>in</a:t>
              </a:r>
              <a:r>
                <a:rPr lang="en-US" sz="3199" spc="-95" strike="noStrike" u="none">
                  <a:solidFill>
                    <a:srgbClr val="6C757D"/>
                  </a:solidFill>
                  <a:latin typeface="TT Fors"/>
                  <a:ea typeface="TT Fors"/>
                  <a:cs typeface="TT Fors"/>
                  <a:sym typeface="TT Fors"/>
                </a:rPr>
                <a:t>ess</a:t>
              </a:r>
              <a:r>
                <a:rPr lang="en-US" sz="3199" spc="-95" strike="noStrike" u="none">
                  <a:solidFill>
                    <a:srgbClr val="6C757D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199" spc="-95" strike="noStrike" u="none">
                  <a:solidFill>
                    <a:srgbClr val="6C757D"/>
                  </a:solidFill>
                  <a:latin typeface="TT Fors"/>
                  <a:ea typeface="TT Fors"/>
                  <a:cs typeface="TT Fors"/>
                  <a:sym typeface="TT Fors"/>
                </a:rPr>
                <a:t>l</a:t>
              </a:r>
              <a:r>
                <a:rPr lang="en-US" sz="3199" spc="-95" strike="noStrike" u="none">
                  <a:solidFill>
                    <a:srgbClr val="6C757D"/>
                  </a:solidFill>
                  <a:latin typeface="TT Fors"/>
                  <a:ea typeface="TT Fors"/>
                  <a:cs typeface="TT Fors"/>
                  <a:sym typeface="TT Fors"/>
                </a:rPr>
                <a:t>icense </a:t>
              </a:r>
              <a:r>
                <a:rPr lang="en-US" sz="3199" spc="-95" strike="noStrike" u="none">
                  <a:solidFill>
                    <a:srgbClr val="6C757D"/>
                  </a:solidFill>
                  <a:latin typeface="TT Fors"/>
                  <a:ea typeface="TT Fors"/>
                  <a:cs typeface="TT Fors"/>
                  <a:sym typeface="TT Fors"/>
                </a:rPr>
                <a:t>data reveal p</a:t>
              </a:r>
              <a:r>
                <a:rPr lang="en-US" sz="3199" spc="-95" strike="noStrike" u="none">
                  <a:solidFill>
                    <a:srgbClr val="6C757D"/>
                  </a:solidFill>
                  <a:latin typeface="TT Fors"/>
                  <a:ea typeface="TT Fors"/>
                  <a:cs typeface="TT Fors"/>
                  <a:sym typeface="TT Fors"/>
                </a:rPr>
                <a:t>atterns</a:t>
              </a:r>
              <a:r>
                <a:rPr lang="en-US" sz="3199" spc="-95" strike="noStrike" u="none">
                  <a:solidFill>
                    <a:srgbClr val="6C757D"/>
                  </a:solidFill>
                  <a:latin typeface="TT Fors"/>
                  <a:ea typeface="TT Fors"/>
                  <a:cs typeface="TT Fors"/>
                  <a:sym typeface="TT Fors"/>
                </a:rPr>
                <a:t> in NYC’s economic and spatial structure.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66750" y="4126422"/>
            <a:ext cx="13562370" cy="524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2599" spc="-77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Key Research Questi</a:t>
            </a:r>
            <a:r>
              <a:rPr lang="en-US" sz="2599" spc="-77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ons: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</a:p>
          <a:p>
            <a:pPr algn="l" marL="561337" indent="-280669" lvl="1">
              <a:lnSpc>
                <a:spcPts val="2599"/>
              </a:lnSpc>
              <a:spcBef>
                <a:spcPct val="0"/>
              </a:spcBef>
              <a:buAutoNum type="arabicPeriod" startAt="1"/>
            </a:pPr>
            <a:r>
              <a:rPr lang="en-US" sz="2599" spc="-77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Where are licenses concentrated by Business Category?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2599" spc="-77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 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2599" spc="-77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   2. Do certain license types cluster in specific neighborhoods?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</a:p>
          <a:p>
            <a:pPr algn="l">
              <a:lnSpc>
                <a:spcPts val="2599"/>
              </a:lnSpc>
              <a:spcBef>
                <a:spcPct val="0"/>
              </a:spcBef>
            </a:pP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2599" spc="-77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   3. How does missing latitude/longitude data vary by license type? What are the implications for data quality?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</a:p>
          <a:p>
            <a:pPr algn="l">
              <a:lnSpc>
                <a:spcPts val="2599"/>
              </a:lnSpc>
              <a:spcBef>
                <a:spcPct val="0"/>
              </a:spcBef>
            </a:pP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2599" spc="-77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   4. Can spatial imputation improve mapping accuracy for each license category?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2599" spc="-77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        → Test how well neighborhood and ZIP-level trends help recover missing geolocations.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57488" y="2998029"/>
            <a:ext cx="7472136" cy="5582630"/>
          </a:xfrm>
          <a:custGeom>
            <a:avLst/>
            <a:gdLst/>
            <a:ahLst/>
            <a:cxnLst/>
            <a:rect r="r" b="b" t="t" l="l"/>
            <a:pathLst>
              <a:path h="5582630" w="7472136">
                <a:moveTo>
                  <a:pt x="0" y="0"/>
                </a:moveTo>
                <a:lnTo>
                  <a:pt x="7472135" y="0"/>
                </a:lnTo>
                <a:lnTo>
                  <a:pt x="7472135" y="5582630"/>
                </a:lnTo>
                <a:lnTo>
                  <a:pt x="0" y="55826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2737" y="412750"/>
            <a:ext cx="12722423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  <a:spcBef>
                <a:spcPct val="0"/>
              </a:spcBef>
            </a:pPr>
            <a:r>
              <a:rPr lang="en-US" sz="8000" spc="-24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</a:t>
            </a:r>
            <a:r>
              <a:rPr lang="en-US" sz="8000" spc="-24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op 10 Business Categories: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3285" y="1751391"/>
            <a:ext cx="1828800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spc="-89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→ C</a:t>
            </a:r>
            <a:r>
              <a:rPr lang="en-US" sz="3000" spc="-89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ompare the distribution of Premises Licenses (brick-and-mortar) vs. Individual Licenses (service professionals) across boroughs.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07725" y="3759971"/>
            <a:ext cx="11545787" cy="6162564"/>
          </a:xfrm>
          <a:custGeom>
            <a:avLst/>
            <a:gdLst/>
            <a:ahLst/>
            <a:cxnLst/>
            <a:rect r="r" b="b" t="t" l="l"/>
            <a:pathLst>
              <a:path h="6162564" w="11545787">
                <a:moveTo>
                  <a:pt x="0" y="0"/>
                </a:moveTo>
                <a:lnTo>
                  <a:pt x="11545787" y="0"/>
                </a:lnTo>
                <a:lnTo>
                  <a:pt x="11545787" y="6162563"/>
                </a:lnTo>
                <a:lnTo>
                  <a:pt x="0" y="61625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0316" y="143760"/>
            <a:ext cx="17649815" cy="223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  <a:spcBef>
                <a:spcPct val="0"/>
              </a:spcBef>
            </a:pPr>
            <a:r>
              <a:rPr lang="en-US" sz="8000" spc="-24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Whe</a:t>
            </a:r>
            <a:r>
              <a:rPr lang="en-US" sz="8000" spc="-24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 are licenses concentrated by Business Category?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2483752"/>
            <a:ext cx="1828800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3000" spc="-89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3000" spc="-89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→ Identify whether c</a:t>
            </a:r>
            <a:r>
              <a:rPr lang="en-US" sz="3000" spc="-89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ommercial areas (e.g., Midtown, Downtown Brooklyn) show higher premises density versus dispersed individual registrations.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766886"/>
            <a:ext cx="10307929" cy="6146103"/>
          </a:xfrm>
          <a:custGeom>
            <a:avLst/>
            <a:gdLst/>
            <a:ahLst/>
            <a:cxnLst/>
            <a:rect r="r" b="b" t="t" l="l"/>
            <a:pathLst>
              <a:path h="6146103" w="10307929">
                <a:moveTo>
                  <a:pt x="0" y="0"/>
                </a:moveTo>
                <a:lnTo>
                  <a:pt x="10307929" y="0"/>
                </a:lnTo>
                <a:lnTo>
                  <a:pt x="10307929" y="6146103"/>
                </a:lnTo>
                <a:lnTo>
                  <a:pt x="0" y="61461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2803" y="247280"/>
            <a:ext cx="16174789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  <a:spcBef>
                <a:spcPct val="0"/>
              </a:spcBef>
            </a:pPr>
            <a:r>
              <a:rPr lang="en-US" sz="8000" spc="-24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Why Missing Location Data Matters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307929" y="3988938"/>
            <a:ext cx="7980071" cy="4572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1"/>
              </a:lnSpc>
            </a:pPr>
            <a:r>
              <a:rPr lang="en-US" sz="2390" spc="-7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What this means:</a:t>
            </a:r>
          </a:p>
          <a:p>
            <a:pPr algn="l" marL="516016" indent="-258008" lvl="1">
              <a:lnSpc>
                <a:spcPts val="3011"/>
              </a:lnSpc>
              <a:buFont typeface="Arial"/>
              <a:buChar char="•"/>
            </a:pPr>
            <a:r>
              <a:rPr lang="en-US" sz="2390" spc="-7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We can </a:t>
            </a:r>
            <a:r>
              <a:rPr lang="en-US" sz="2390" spc="-7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reliably map and monitor storefront businesses</a:t>
            </a:r>
          </a:p>
          <a:p>
            <a:pPr algn="l" marL="516016" indent="-258008" lvl="1">
              <a:lnSpc>
                <a:spcPts val="3011"/>
              </a:lnSpc>
              <a:buFont typeface="Arial"/>
              <a:buChar char="•"/>
            </a:pPr>
            <a:r>
              <a:rPr lang="en-US" sz="2390" spc="-7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We can not locate individual business operators</a:t>
            </a:r>
          </a:p>
          <a:p>
            <a:pPr algn="l">
              <a:lnSpc>
                <a:spcPts val="2633"/>
              </a:lnSpc>
            </a:pPr>
          </a:p>
          <a:p>
            <a:pPr algn="l" marL="516016" indent="-258008" lvl="1">
              <a:lnSpc>
                <a:spcPts val="3011"/>
              </a:lnSpc>
              <a:buFont typeface="Arial"/>
              <a:buChar char="•"/>
            </a:pPr>
            <a:r>
              <a:rPr lang="en-US" sz="2390" spc="-7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</a:t>
            </a:r>
            <a:r>
              <a:rPr lang="en-US" sz="2390" spc="-7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his limits DCWP’s ability to:</a:t>
            </a:r>
          </a:p>
          <a:p>
            <a:pPr algn="l">
              <a:lnSpc>
                <a:spcPts val="3011"/>
              </a:lnSpc>
            </a:pPr>
            <a:r>
              <a:rPr lang="en-US" sz="2390" spc="-7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           - Plan inspections</a:t>
            </a:r>
          </a:p>
          <a:p>
            <a:pPr algn="l">
              <a:lnSpc>
                <a:spcPts val="3011"/>
              </a:lnSpc>
            </a:pPr>
            <a:r>
              <a:rPr lang="en-US" sz="2390" spc="-7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           - Detect unlicensed hotspots</a:t>
            </a:r>
          </a:p>
          <a:p>
            <a:pPr algn="l">
              <a:lnSpc>
                <a:spcPts val="3011"/>
              </a:lnSpc>
            </a:pPr>
            <a:r>
              <a:rPr lang="en-US" sz="2390" spc="-7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           - Enforce rules fairly</a:t>
            </a:r>
          </a:p>
          <a:p>
            <a:pPr algn="l">
              <a:lnSpc>
                <a:spcPts val="3011"/>
              </a:lnSpc>
            </a:pPr>
          </a:p>
          <a:p>
            <a:pPr algn="l" marL="516016" indent="-258008" lvl="1">
              <a:lnSpc>
                <a:spcPts val="3011"/>
              </a:lnSpc>
              <a:buFont typeface="Arial"/>
              <a:buChar char="•"/>
            </a:pPr>
            <a:r>
              <a:rPr lang="en-US" sz="2390" spc="-7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Fixing this requires better address collection during licensing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422" y="1770668"/>
            <a:ext cx="9841811" cy="74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3236" indent="-236618" lvl="1">
              <a:lnSpc>
                <a:spcPts val="2805"/>
              </a:lnSpc>
              <a:buFont typeface="Arial"/>
              <a:buChar char="•"/>
            </a:pPr>
            <a:r>
              <a:rPr lang="en-US" sz="2191" spc="-65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Right n</a:t>
            </a:r>
            <a:r>
              <a:rPr lang="en-US" sz="2191" spc="-65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ow, 99% of individual licenses are invisible on the map.</a:t>
            </a:r>
          </a:p>
          <a:p>
            <a:pPr algn="just" marL="473236" indent="-236618" lvl="1">
              <a:lnSpc>
                <a:spcPts val="2805"/>
              </a:lnSpc>
              <a:buFont typeface="Arial"/>
              <a:buChar char="•"/>
            </a:pPr>
            <a:r>
              <a:rPr lang="en-US" sz="2191" spc="-65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We can map storefronts — we can’t map individual licenses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-1794526"/>
            <a:ext cx="8324850" cy="13876052"/>
            <a:chOff x="0" y="0"/>
            <a:chExt cx="11099800" cy="18501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7401602"/>
              <a:ext cx="11099800" cy="11099800"/>
            </a:xfrm>
            <a:custGeom>
              <a:avLst/>
              <a:gdLst/>
              <a:ahLst/>
              <a:cxnLst/>
              <a:rect r="r" b="b" t="t" l="l"/>
              <a:pathLst>
                <a:path h="11099800" w="11099800">
                  <a:moveTo>
                    <a:pt x="0" y="0"/>
                  </a:moveTo>
                  <a:lnTo>
                    <a:pt x="11099800" y="0"/>
                  </a:lnTo>
                  <a:lnTo>
                    <a:pt x="11099800" y="11099800"/>
                  </a:lnTo>
                  <a:lnTo>
                    <a:pt x="0" y="1109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99800" cy="11099800"/>
            </a:xfrm>
            <a:custGeom>
              <a:avLst/>
              <a:gdLst/>
              <a:ahLst/>
              <a:cxnLst/>
              <a:rect r="r" b="b" t="t" l="l"/>
              <a:pathLst>
                <a:path h="11099800" w="11099800">
                  <a:moveTo>
                    <a:pt x="0" y="0"/>
                  </a:moveTo>
                  <a:lnTo>
                    <a:pt x="11099800" y="0"/>
                  </a:lnTo>
                  <a:lnTo>
                    <a:pt x="11099800" y="11099800"/>
                  </a:lnTo>
                  <a:lnTo>
                    <a:pt x="0" y="1109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734675" y="2240280"/>
            <a:ext cx="54483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004B70"/>
                </a:solidFill>
                <a:latin typeface="Proxima Nova"/>
                <a:ea typeface="Proxima Nova"/>
                <a:cs typeface="Proxima Nova"/>
                <a:sym typeface="Proxima Nova"/>
              </a:rPr>
              <a:t>Physical locations and premises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34675" y="4716780"/>
            <a:ext cx="5448300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004B70"/>
                </a:solidFill>
                <a:latin typeface="Proxima Nova"/>
                <a:ea typeface="Proxima Nova"/>
                <a:cs typeface="Proxima Nova"/>
                <a:sym typeface="Proxima Nova"/>
              </a:rPr>
              <a:t>Subject to local regulations and inspections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34675" y="7608543"/>
            <a:ext cx="54483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004B70"/>
                </a:solidFill>
                <a:latin typeface="Proxima Nova"/>
                <a:ea typeface="Proxima Nova"/>
                <a:cs typeface="Proxima Nova"/>
                <a:sym typeface="Proxima Nova"/>
              </a:rPr>
              <a:t>Individual operators and mobile licenses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66750" y="666750"/>
            <a:ext cx="6886575" cy="4082334"/>
            <a:chOff x="0" y="0"/>
            <a:chExt cx="9182100" cy="5443112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3251092"/>
              <a:ext cx="9182100" cy="21920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004B7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Understanding the differences between premises and individual business licenses is crucial for effective policy-making and compliance tracking in NYC's diverse business landscape.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9182100" cy="3116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b="true" sz="8000">
                  <a:solidFill>
                    <a:srgbClr val="004B7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License Categories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316694" y="7829550"/>
            <a:ext cx="4846643" cy="1791955"/>
            <a:chOff x="0" y="0"/>
            <a:chExt cx="6462190" cy="23892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66750" y="666750"/>
            <a:ext cx="11201400" cy="4032858"/>
            <a:chOff x="0" y="0"/>
            <a:chExt cx="14935200" cy="537714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"/>
              <a:ext cx="149352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6C757D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Records Analysed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428964"/>
              <a:ext cx="110998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6C757D"/>
                  </a:solidFill>
                  <a:latin typeface="TT Fors"/>
                  <a:ea typeface="TT Fors"/>
                  <a:cs typeface="TT Fors"/>
                  <a:sym typeface="TT Fors"/>
                </a:rPr>
                <a:t>Our data comprises of </a:t>
              </a:r>
              <a:r>
                <a:rPr lang="en-US" b="true" sz="2100">
                  <a:solidFill>
                    <a:srgbClr val="6C757D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over 66,000 records</a:t>
              </a:r>
              <a:r>
                <a:rPr lang="en-US" sz="2100">
                  <a:solidFill>
                    <a:srgbClr val="6C757D"/>
                  </a:solidFill>
                  <a:latin typeface="TT Fors"/>
                  <a:ea typeface="TT Fors"/>
                  <a:cs typeface="TT Fors"/>
                  <a:sym typeface="TT Fors"/>
                </a:rPr>
                <a:t> from various boroughs in NYC, capturing essential fields such as business type, location, dates, and status to facilitate comprehensive analysis and insights.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30959" y="752281"/>
            <a:ext cx="2190291" cy="809819"/>
            <a:chOff x="0" y="0"/>
            <a:chExt cx="2920388" cy="10797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920315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84063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9144000" y="3000940"/>
            <a:ext cx="8967785" cy="4573570"/>
          </a:xfrm>
          <a:custGeom>
            <a:avLst/>
            <a:gdLst/>
            <a:ahLst/>
            <a:cxnLst/>
            <a:rect r="r" b="b" t="t" l="l"/>
            <a:pathLst>
              <a:path h="4573570" w="8967785">
                <a:moveTo>
                  <a:pt x="0" y="0"/>
                </a:moveTo>
                <a:lnTo>
                  <a:pt x="8967785" y="0"/>
                </a:lnTo>
                <a:lnTo>
                  <a:pt x="8967785" y="4573571"/>
                </a:lnTo>
                <a:lnTo>
                  <a:pt x="0" y="4573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3000940"/>
            <a:ext cx="8906345" cy="5199079"/>
          </a:xfrm>
          <a:custGeom>
            <a:avLst/>
            <a:gdLst/>
            <a:ahLst/>
            <a:cxnLst/>
            <a:rect r="r" b="b" t="t" l="l"/>
            <a:pathLst>
              <a:path h="5199079" w="8906345">
                <a:moveTo>
                  <a:pt x="0" y="0"/>
                </a:moveTo>
                <a:lnTo>
                  <a:pt x="8906345" y="0"/>
                </a:lnTo>
                <a:lnTo>
                  <a:pt x="8906345" y="5199079"/>
                </a:lnTo>
                <a:lnTo>
                  <a:pt x="0" y="51990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43865" y="162144"/>
            <a:ext cx="14077950" cy="798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00"/>
              </a:lnSpc>
              <a:spcBef>
                <a:spcPct val="0"/>
              </a:spcBef>
            </a:pPr>
            <a:r>
              <a:rPr lang="en-US" sz="5200" spc="-156">
                <a:solidFill>
                  <a:srgbClr val="6C757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Wh</a:t>
            </a:r>
            <a:r>
              <a:rPr lang="en-US" sz="5200" spc="-156">
                <a:solidFill>
                  <a:srgbClr val="6C757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at the NYC Licensing Landscape Looks Like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79312" y="1864662"/>
            <a:ext cx="8427033" cy="901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3"/>
              </a:lnSpc>
              <a:spcBef>
                <a:spcPct val="0"/>
              </a:spcBef>
            </a:pPr>
            <a:r>
              <a:rPr lang="en-US" sz="3253" spc="-97">
                <a:solidFill>
                  <a:srgbClr val="6C757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</a:t>
            </a:r>
            <a:r>
              <a:rPr lang="en-US" sz="3253" spc="-97">
                <a:solidFill>
                  <a:srgbClr val="6C757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op 10 Licensed Business Types</a:t>
            </a:r>
          </a:p>
          <a:p>
            <a:pPr algn="ctr">
              <a:lnSpc>
                <a:spcPts val="3253"/>
              </a:lnSpc>
              <a:spcBef>
                <a:spcPct val="0"/>
              </a:spcBef>
            </a:pPr>
            <a:r>
              <a:rPr lang="en-US" sz="3253" spc="-97">
                <a:solidFill>
                  <a:srgbClr val="6C757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(72% of all licenses)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64181" y="1864662"/>
            <a:ext cx="7595119" cy="901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5"/>
              </a:lnSpc>
              <a:spcBef>
                <a:spcPct val="0"/>
              </a:spcBef>
            </a:pPr>
            <a:r>
              <a:rPr lang="en-US" sz="3255" spc="-97">
                <a:solidFill>
                  <a:srgbClr val="6C757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Where These B</a:t>
            </a:r>
            <a:r>
              <a:rPr lang="en-US" sz="3255" spc="-97">
                <a:solidFill>
                  <a:srgbClr val="6C757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usinesses Are Located </a:t>
            </a:r>
          </a:p>
          <a:p>
            <a:pPr algn="ctr">
              <a:lnSpc>
                <a:spcPts val="3255"/>
              </a:lnSpc>
              <a:spcBef>
                <a:spcPct val="0"/>
              </a:spcBef>
            </a:pPr>
            <a:r>
              <a:rPr lang="en-US" sz="3255" spc="-97">
                <a:solidFill>
                  <a:srgbClr val="6C757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(by borough)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33267" y="8397835"/>
            <a:ext cx="10850904" cy="1720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2361" indent="-351181" lvl="1">
              <a:lnSpc>
                <a:spcPts val="3253"/>
              </a:lnSpc>
              <a:buFont typeface="Arial"/>
              <a:buChar char="•"/>
            </a:pPr>
            <a:r>
              <a:rPr lang="en-US" sz="3253" spc="-97">
                <a:solidFill>
                  <a:srgbClr val="6C757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Targeting the t</a:t>
            </a:r>
            <a:r>
              <a:rPr lang="en-US" sz="3253" spc="-97">
                <a:solidFill>
                  <a:srgbClr val="6C757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op 10 business types gives ~70% coverage</a:t>
            </a:r>
          </a:p>
          <a:p>
            <a:pPr algn="l" marL="702361" indent="-351181" lvl="1">
              <a:lnSpc>
                <a:spcPts val="3253"/>
              </a:lnSpc>
              <a:buFont typeface="Arial"/>
              <a:buChar char="•"/>
            </a:pPr>
            <a:r>
              <a:rPr lang="en-US" sz="3253" spc="-97">
                <a:solidFill>
                  <a:srgbClr val="6C757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Borough-level clustering helps DCWP focus inspection routes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5194740"/>
            <a:chOff x="0" y="0"/>
            <a:chExt cx="11099800" cy="692632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10998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6C757D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Location Prediction Insights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09665"/>
              <a:ext cx="110998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6C757D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Estimating Missing Coordinates in NYC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4978140"/>
              <a:ext cx="91821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6C757D"/>
                  </a:solidFill>
                  <a:latin typeface="TT Fors"/>
                  <a:ea typeface="TT Fors"/>
                  <a:cs typeface="TT Fors"/>
                  <a:sym typeface="TT Fors"/>
                </a:rPr>
                <a:t>By analyzing neighborhood and ZIP patterns, we can estimate </a:t>
              </a:r>
              <a:r>
                <a:rPr lang="en-US" b="true" sz="2100" strike="noStrike" u="none">
                  <a:solidFill>
                    <a:srgbClr val="6C757D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missing coordinates</a:t>
              </a:r>
              <a:r>
                <a:rPr lang="en-US" sz="2100" strike="noStrike" u="none">
                  <a:solidFill>
                    <a:srgbClr val="6C757D"/>
                  </a:solidFill>
                  <a:latin typeface="TT Fors"/>
                  <a:ea typeface="TT Fors"/>
                  <a:cs typeface="TT Fors"/>
                  <a:sym typeface="TT Fors"/>
                </a:rPr>
                <a:t>, achieving an accuracy range of 3–4 km. This enhances our ability to visualize business locations across the city.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4733925"/>
            <a:ext cx="6886575" cy="4886325"/>
            <a:chOff x="0" y="0"/>
            <a:chExt cx="815850" cy="578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5850" cy="578881"/>
            </a:xfrm>
            <a:custGeom>
              <a:avLst/>
              <a:gdLst/>
              <a:ahLst/>
              <a:cxnLst/>
              <a:rect r="r" b="b" t="t" l="l"/>
              <a:pathLst>
                <a:path h="578881" w="815850">
                  <a:moveTo>
                    <a:pt x="0" y="0"/>
                  </a:moveTo>
                  <a:lnTo>
                    <a:pt x="815850" y="0"/>
                  </a:lnTo>
                  <a:lnTo>
                    <a:pt x="815850" y="578881"/>
                  </a:lnTo>
                  <a:lnTo>
                    <a:pt x="0" y="578881"/>
                  </a:lnTo>
                  <a:close/>
                </a:path>
              </a:pathLst>
            </a:custGeom>
            <a:blipFill>
              <a:blip r:embed="rId2"/>
              <a:stretch>
                <a:fillRect l="-144" t="0" r="-14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4699635"/>
            <a:chOff x="0" y="0"/>
            <a:chExt cx="11099800" cy="626618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10998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6C757D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Renewal Rates by Borough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514725"/>
              <a:ext cx="110998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6C757D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Analyzing License Trends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48133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6C757D"/>
                  </a:solidFill>
                  <a:latin typeface="TT Fors"/>
                  <a:ea typeface="TT Fors"/>
                  <a:cs typeface="TT Fors"/>
                  <a:sym typeface="TT Fors"/>
                </a:rPr>
                <a:t>This section reveals significant differences in licensing trends and their implications for local businesses and economic health.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0525027" y="368667"/>
            <a:ext cx="7305871" cy="4365258"/>
          </a:xfrm>
          <a:custGeom>
            <a:avLst/>
            <a:gdLst/>
            <a:ahLst/>
            <a:cxnLst/>
            <a:rect r="r" b="b" t="t" l="l"/>
            <a:pathLst>
              <a:path h="4365258" w="7305871">
                <a:moveTo>
                  <a:pt x="0" y="0"/>
                </a:moveTo>
                <a:lnTo>
                  <a:pt x="7305871" y="0"/>
                </a:lnTo>
                <a:lnTo>
                  <a:pt x="7305871" y="4365258"/>
                </a:lnTo>
                <a:lnTo>
                  <a:pt x="0" y="436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66750" y="5495255"/>
            <a:ext cx="8324850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6C757D"/>
                </a:solidFill>
                <a:latin typeface="TT Fors"/>
                <a:ea typeface="TT Fors"/>
                <a:cs typeface="TT Fors"/>
                <a:sym typeface="TT Fors"/>
              </a:rPr>
              <a:t>Understanding these correlations can improve city planning </a:t>
            </a:r>
          </a:p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6C757D"/>
                </a:solidFill>
                <a:latin typeface="TT Fors"/>
                <a:ea typeface="TT Fors"/>
                <a:cs typeface="TT Fors"/>
                <a:sym typeface="TT Fors"/>
              </a:rPr>
              <a:t>and resource allocation strategies.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8324850" cy="456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b="true" sz="8000">
                <a:solidFill>
                  <a:srgbClr val="004B70"/>
                </a:solidFill>
                <a:latin typeface="Poppins Bold"/>
                <a:ea typeface="Poppins Bold"/>
                <a:cs typeface="Poppins Bold"/>
                <a:sym typeface="Poppins Bold"/>
              </a:rPr>
              <a:t>Enforcement Implications of Geographic Patterns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6038850"/>
            <a:ext cx="6886575" cy="2820946"/>
            <a:chOff x="0" y="0"/>
            <a:chExt cx="9182100" cy="376126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010441"/>
              <a:ext cx="9182100" cy="27508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4B7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Understanding the </a:t>
              </a:r>
              <a:r>
                <a:rPr lang="en-US" b="true" sz="2400">
                  <a:solidFill>
                    <a:srgbClr val="004B7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geographic distribution</a:t>
              </a:r>
              <a:r>
                <a:rPr lang="en-US" sz="2400">
                  <a:solidFill>
                    <a:srgbClr val="004B7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of licenses informs targeted enforcement strategies. Focused inspections in high-density areas enhance compliance and operational efficiency for city regulators.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66675"/>
              <a:ext cx="918210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4B7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Insights for Effective Strategies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143500"/>
            <a:ext cx="4010025" cy="3074933"/>
            <a:chOff x="0" y="0"/>
            <a:chExt cx="5346700" cy="4099911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02230"/>
              <a:ext cx="5346700" cy="29976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05"/>
                </a:lnSpc>
              </a:pPr>
              <a:r>
                <a:rPr lang="en-US" sz="1860">
                  <a:solidFill>
                    <a:srgbClr val="6C757D"/>
                  </a:solidFill>
                  <a:latin typeface="TT Fors"/>
                  <a:ea typeface="TT Fors"/>
                  <a:cs typeface="TT Fors"/>
                  <a:sym typeface="TT Fors"/>
                </a:rPr>
                <a:t>The analysis reveals significant </a:t>
              </a:r>
              <a:r>
                <a:rPr lang="en-US" b="true" sz="1860">
                  <a:solidFill>
                    <a:srgbClr val="6C757D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industry clusters</a:t>
              </a:r>
              <a:r>
                <a:rPr lang="en-US" sz="1860">
                  <a:solidFill>
                    <a:srgbClr val="6C757D"/>
                  </a:solidFill>
                  <a:latin typeface="TT Fors"/>
                  <a:ea typeface="TT Fors"/>
                  <a:cs typeface="TT Fors"/>
                  <a:sym typeface="TT Fors"/>
                </a:rPr>
                <a:t> throughout NYC, highlighting areas with high concentrations of specific businesses, which can inform targeted economic development strategies and resource allocation.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95250"/>
              <a:ext cx="5346700" cy="5633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25"/>
                </a:lnSpc>
                <a:spcBef>
                  <a:spcPct val="0"/>
                </a:spcBef>
              </a:pPr>
              <a:r>
                <a:rPr lang="en-US" sz="2303" spc="-69" strike="noStrike" u="none">
                  <a:solidFill>
                    <a:srgbClr val="6C757D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Industry Clusters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5143500"/>
            <a:ext cx="4010025" cy="2751083"/>
            <a:chOff x="0" y="0"/>
            <a:chExt cx="5346700" cy="366811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02230"/>
              <a:ext cx="5346700" cy="25658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05"/>
                </a:lnSpc>
              </a:pPr>
              <a:r>
                <a:rPr lang="en-US" sz="1860">
                  <a:solidFill>
                    <a:srgbClr val="6C757D"/>
                  </a:solidFill>
                  <a:latin typeface="TT Fors"/>
                  <a:ea typeface="TT Fors"/>
                  <a:cs typeface="TT Fors"/>
                  <a:sym typeface="TT Fors"/>
                </a:rPr>
                <a:t>The higher the </a:t>
              </a:r>
              <a:r>
                <a:rPr lang="en-US" b="true" sz="1860">
                  <a:solidFill>
                    <a:srgbClr val="6C757D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license duration, </a:t>
              </a:r>
              <a:r>
                <a:rPr lang="en-US" sz="1860">
                  <a:solidFill>
                    <a:srgbClr val="6C757D"/>
                  </a:solidFill>
                  <a:latin typeface="TT Fors"/>
                  <a:ea typeface="TT Fors"/>
                  <a:cs typeface="TT Fors"/>
                  <a:sym typeface="TT Fors"/>
                </a:rPr>
                <a:t>the higher the probability of renewal rate of that particular business.</a:t>
              </a:r>
              <a:r>
                <a:rPr lang="en-US" sz="1860">
                  <a:solidFill>
                    <a:srgbClr val="6C757D"/>
                  </a:solidFill>
                  <a:latin typeface="TT Fors"/>
                  <a:ea typeface="TT Fors"/>
                  <a:cs typeface="TT Fors"/>
                  <a:sym typeface="TT Fors"/>
                </a:rPr>
                <a:t> This reveals insights into business stability and potential growth areas across different boroughs.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95250"/>
              <a:ext cx="5346700" cy="5633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25"/>
                </a:lnSpc>
                <a:spcBef>
                  <a:spcPct val="0"/>
                </a:spcBef>
              </a:pPr>
              <a:r>
                <a:rPr lang="en-US" sz="2303" spc="-69" strike="noStrike" u="none">
                  <a:solidFill>
                    <a:srgbClr val="6C757D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License Duration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5143500"/>
            <a:ext cx="4010025" cy="3398783"/>
            <a:chOff x="0" y="0"/>
            <a:chExt cx="5346700" cy="4531711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02230"/>
              <a:ext cx="5346700" cy="3429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05"/>
                </a:lnSpc>
              </a:pPr>
              <a:r>
                <a:rPr lang="en-US" sz="1860">
                  <a:solidFill>
                    <a:srgbClr val="6C757D"/>
                  </a:solidFill>
                  <a:latin typeface="TT Fors"/>
                  <a:ea typeface="TT Fors"/>
                  <a:cs typeface="TT Fors"/>
                  <a:sym typeface="TT Fors"/>
                </a:rPr>
                <a:t>Because w</a:t>
              </a:r>
              <a:r>
                <a:rPr lang="en-US" sz="1860">
                  <a:solidFill>
                    <a:srgbClr val="6C757D"/>
                  </a:solidFill>
                  <a:latin typeface="TT Fors"/>
                  <a:ea typeface="TT Fors"/>
                  <a:cs typeface="TT Fors"/>
                  <a:sym typeface="TT Fors"/>
                </a:rPr>
                <a:t>e can </a:t>
              </a:r>
              <a:r>
                <a:rPr lang="en-US" sz="1860">
                  <a:solidFill>
                    <a:srgbClr val="6C757D"/>
                  </a:solidFill>
                  <a:latin typeface="TT Fors"/>
                  <a:ea typeface="TT Fors"/>
                  <a:cs typeface="TT Fors"/>
                  <a:sym typeface="TT Fors"/>
                </a:rPr>
                <a:t>predict </a:t>
              </a:r>
              <a:r>
                <a:rPr lang="en-US" sz="1860">
                  <a:solidFill>
                    <a:srgbClr val="6C757D"/>
                  </a:solidFill>
                  <a:latin typeface="TT Fors"/>
                  <a:ea typeface="TT Fors"/>
                  <a:cs typeface="TT Fors"/>
                  <a:sym typeface="TT Fors"/>
                </a:rPr>
                <a:t>l</a:t>
              </a:r>
              <a:r>
                <a:rPr lang="en-US" sz="1860">
                  <a:solidFill>
                    <a:srgbClr val="6C757D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1860">
                  <a:solidFill>
                    <a:srgbClr val="6C757D"/>
                  </a:solidFill>
                  <a:latin typeface="TT Fors"/>
                  <a:ea typeface="TT Fors"/>
                  <a:cs typeface="TT Fors"/>
                  <a:sym typeface="TT Fors"/>
                </a:rPr>
                <a:t>cat</a:t>
              </a:r>
              <a:r>
                <a:rPr lang="en-US" sz="1860">
                  <a:solidFill>
                    <a:srgbClr val="6C757D"/>
                  </a:solidFill>
                  <a:latin typeface="TT Fors"/>
                  <a:ea typeface="TT Fors"/>
                  <a:cs typeface="TT Fors"/>
                  <a:sym typeface="TT Fors"/>
                </a:rPr>
                <a:t>io</a:t>
              </a:r>
              <a:r>
                <a:rPr lang="en-US" sz="1860">
                  <a:solidFill>
                    <a:srgbClr val="6C757D"/>
                  </a:solidFill>
                  <a:latin typeface="TT Fors"/>
                  <a:ea typeface="TT Fors"/>
                  <a:cs typeface="TT Fors"/>
                  <a:sym typeface="TT Fors"/>
                </a:rPr>
                <a:t>ns well using neighborhood and ZIP code information, we can fill in missing address details more accurately. This improved location data then helps a lot with planning cities and making important policy decisions.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95250"/>
              <a:ext cx="5346700" cy="5633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25"/>
                </a:lnSpc>
                <a:spcBef>
                  <a:spcPct val="0"/>
                </a:spcBef>
              </a:pPr>
              <a:r>
                <a:rPr lang="en-US" sz="2303" spc="-69" strike="noStrike" u="none">
                  <a:solidFill>
                    <a:srgbClr val="6C757D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Geo Information Predictability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666750"/>
            <a:ext cx="14382357" cy="3171825"/>
            <a:chOff x="0" y="0"/>
            <a:chExt cx="19176476" cy="42291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19176476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6C757D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What the Data T</a:t>
              </a:r>
              <a:r>
                <a:rPr lang="en-US" sz="8000" spc="-240" strike="noStrike" u="none">
                  <a:solidFill>
                    <a:srgbClr val="6C757D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</a:t>
              </a:r>
              <a:r>
                <a:rPr lang="en-US" sz="8000" spc="-240" strike="noStrike" u="none">
                  <a:solidFill>
                    <a:srgbClr val="6C757D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lls Us About</a:t>
              </a:r>
              <a:r>
                <a:rPr lang="en-US" sz="8000" spc="-240" strike="noStrike" u="none">
                  <a:solidFill>
                    <a:srgbClr val="6C757D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 </a:t>
              </a:r>
              <a:r>
                <a:rPr lang="en-US" sz="8000" spc="-240" strike="noStrike" u="none">
                  <a:solidFill>
                    <a:srgbClr val="6C757D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NYC Bu</a:t>
              </a:r>
              <a:r>
                <a:rPr lang="en-US" sz="8000" spc="-240" strike="noStrike" u="none">
                  <a:solidFill>
                    <a:srgbClr val="6C757D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si</a:t>
              </a:r>
              <a:r>
                <a:rPr lang="en-US" sz="8000" spc="-240" strike="noStrike" u="none">
                  <a:solidFill>
                    <a:srgbClr val="6C757D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nesse</a:t>
              </a:r>
              <a:r>
                <a:rPr lang="en-US" sz="8000" spc="-240" strike="noStrike" u="none">
                  <a:solidFill>
                    <a:srgbClr val="6C757D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3581400"/>
              <a:ext cx="17235999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</a:pPr>
              <a:r>
                <a:rPr lang="en-US" sz="3199" spc="-95">
                  <a:solidFill>
                    <a:srgbClr val="6C757D"/>
                  </a:solidFill>
                  <a:latin typeface="TT Fors"/>
                  <a:ea typeface="TT Fors"/>
                  <a:cs typeface="TT Fors"/>
                  <a:sym typeface="TT Fors"/>
                </a:rPr>
                <a:t>Key Insights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87553" y="1028700"/>
            <a:ext cx="11936005" cy="6008316"/>
            <a:chOff x="0" y="0"/>
            <a:chExt cx="15914673" cy="801108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543300"/>
              <a:ext cx="15889192" cy="1308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b="true" sz="3000">
                  <a:solidFill>
                    <a:srgbClr val="6C757D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Leveraging Data for Improved Operations in the Department of Consumer and Worker Protection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949878"/>
              <a:ext cx="15914673" cy="2061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b="true" sz="2400" strike="noStrike" u="none">
                  <a:solidFill>
                    <a:srgbClr val="6C757D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Streamlined inspection routing</a:t>
              </a:r>
              <a:r>
                <a:rPr lang="en-US" sz="2400" strike="noStrike" u="none">
                  <a:solidFill>
                    <a:srgbClr val="6C757D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for efficient resource allocation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b="true" sz="2400" strike="noStrike" u="none">
                  <a:solidFill>
                    <a:srgbClr val="6C757D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Targeted renewal outreach</a:t>
              </a:r>
              <a:r>
                <a:rPr lang="en-US" sz="2400" strike="noStrike" u="none">
                  <a:solidFill>
                    <a:srgbClr val="6C757D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based on predictive analytics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6C757D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Enhancing </a:t>
              </a:r>
              <a:r>
                <a:rPr lang="en-US" b="true" sz="2400" strike="noStrike" u="none">
                  <a:solidFill>
                    <a:srgbClr val="6C757D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neighborhood equity</a:t>
              </a:r>
              <a:r>
                <a:rPr lang="en-US" sz="2400" strike="noStrike" u="none">
                  <a:solidFill>
                    <a:srgbClr val="6C757D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through data-driven decision making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6C757D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Implementing </a:t>
              </a:r>
              <a:r>
                <a:rPr lang="en-US" b="true" sz="2400" strike="noStrike" u="none">
                  <a:solidFill>
                    <a:srgbClr val="6C757D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fraud detection</a:t>
              </a:r>
              <a:r>
                <a:rPr lang="en-US" sz="2400" strike="noStrike" u="none">
                  <a:solidFill>
                    <a:srgbClr val="6C757D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mechanisms to ensure compliance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5902444" cy="3116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b="true" sz="8000">
                  <a:solidFill>
                    <a:srgbClr val="6C757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Key T</a:t>
              </a:r>
              <a:r>
                <a:rPr lang="en-US" b="true" sz="8000">
                  <a:solidFill>
                    <a:srgbClr val="6C757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akeaways and Conclusion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29875" y="0"/>
            <a:ext cx="7858125" cy="10287000"/>
            <a:chOff x="0" y="0"/>
            <a:chExt cx="1764443" cy="23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64443" cy="2309817"/>
            </a:xfrm>
            <a:custGeom>
              <a:avLst/>
              <a:gdLst/>
              <a:ahLst/>
              <a:cxnLst/>
              <a:rect r="r" b="b" t="t" l="l"/>
              <a:pathLst>
                <a:path h="2309817" w="1764443">
                  <a:moveTo>
                    <a:pt x="0" y="0"/>
                  </a:moveTo>
                  <a:lnTo>
                    <a:pt x="1764443" y="0"/>
                  </a:lnTo>
                  <a:lnTo>
                    <a:pt x="1764443" y="2309817"/>
                  </a:lnTo>
                  <a:lnTo>
                    <a:pt x="0" y="2309817"/>
                  </a:lnTo>
                  <a:close/>
                </a:path>
              </a:pathLst>
            </a:custGeom>
            <a:blipFill>
              <a:blip r:embed="rId2"/>
              <a:stretch>
                <a:fillRect l="0" t="-255" r="0" b="-25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3171825"/>
            <a:chOff x="0" y="0"/>
            <a:chExt cx="11099800" cy="42291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10998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6C757D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Thank You for Your Attention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514725"/>
              <a:ext cx="11068284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6C757D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Team #8: Data tells the city’s story.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NYC Business Licenses</dc:description>
  <dc:identifier>DAG3zJq7w8Y</dc:identifier>
  <dcterms:modified xsi:type="dcterms:W3CDTF">2011-08-01T06:04:30Z</dcterms:modified>
  <cp:revision>1</cp:revision>
  <dc:title>Presentation - NYC Business Licenses</dc:title>
</cp:coreProperties>
</file>